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777240"/>
            <a:ext cx="128016" cy="5303520"/>
          </a:xfrm>
          <a:prstGeom prst="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60120" y="804672"/>
            <a:ext cx="4754880" cy="420624"/>
          </a:xfrm>
          <a:prstGeom prst="round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B365D"/>
                </a:solidFill>
                <a:latin typeface="Times New Roman"/>
              </a:defRPr>
            </a:pPr>
            <a:r>
              <a:t>DỰ ÁN IRIS EXP  |  CÔNG ĐOẠN ĐIỀU CHỈNH</a:t>
            </a:r>
          </a:p>
        </p:txBody>
      </p:sp>
      <p:sp>
        <p:nvSpPr>
          <p:cNvPr id="6" name="TextBox 5"/>
          <p:cNvSpPr txBox="1"/>
          <p:nvPr/>
        </p:nvSpPr>
        <p:spPr>
          <a:xfrm>
            <a:off x="960120" y="1417320"/>
            <a:ext cx="10424160" cy="1737360"/>
          </a:xfrm>
          <a:prstGeom prst="rect">
            <a:avLst/>
          </a:prstGeom>
          <a:noFill/>
        </p:spPr>
        <p:txBody>
          <a:bodyPr wrap="square">
            <a:spAutoFit/>
          </a:bodyPr>
          <a:lstStyle/>
          <a:p>
            <a:pPr>
              <a:spcAft>
                <a:spcPts val="1200"/>
              </a:spcAft>
              <a:defRPr sz="3200" b="1">
                <a:solidFill>
                  <a:srgbClr val="1B365D"/>
                </a:solidFill>
                <a:latin typeface="Times New Roman"/>
              </a:defRPr>
            </a:pPr>
            <a:r>
              <a:t>BÁO CÁO ĐỀ ÁN CẢI TIẾN</a:t>
            </a:r>
            <a:br/>
            <a:r>
              <a:t>CÔNG ĐOẠN ĐIỀU CHỈNH IRIS EXP</a:t>
            </a:r>
          </a:p>
          <a:p>
            <a:pPr>
              <a:defRPr sz="1650" b="1">
                <a:solidFill>
                  <a:srgbClr val="D96B27"/>
                </a:solidFill>
                <a:latin typeface="Times New Roman"/>
              </a:defRPr>
            </a:pPr>
            <a:r>
              <a:t>Tăng gấp đôi năng suất — Đảm bảo sản xuất IrisEXP trên Line Iris2024 hiện tại</a:t>
            </a:r>
          </a:p>
        </p:txBody>
      </p:sp>
      <p:sp>
        <p:nvSpPr>
          <p:cNvPr id="7" name="Rounded Rectangle 6"/>
          <p:cNvSpPr/>
          <p:nvPr/>
        </p:nvSpPr>
        <p:spPr>
          <a:xfrm>
            <a:off x="960120" y="3520440"/>
            <a:ext cx="2505456" cy="1691640"/>
          </a:xfrm>
          <a:prstGeom prst="roundRect">
            <a:avLst/>
          </a:prstGeom>
          <a:solidFill>
            <a:srgbClr val="FFFFFF"/>
          </a:solidFill>
          <a:ln w="1905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60120" y="3520440"/>
            <a:ext cx="2505456" cy="38404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imes New Roman"/>
              </a:defRPr>
            </a:pPr>
            <a:r>
              <a:t>PHẦN 01: NẮM BẮT HIỆN TRẠNG</a:t>
            </a:r>
          </a:p>
        </p:txBody>
      </p:sp>
      <p:sp>
        <p:nvSpPr>
          <p:cNvPr id="9" name="TextBox 8"/>
          <p:cNvSpPr txBox="1"/>
          <p:nvPr/>
        </p:nvSpPr>
        <p:spPr>
          <a:xfrm>
            <a:off x="1051560" y="4005072"/>
            <a:ext cx="2322576" cy="1115568"/>
          </a:xfrm>
          <a:prstGeom prst="rect">
            <a:avLst/>
          </a:prstGeom>
          <a:noFill/>
        </p:spPr>
        <p:txBody>
          <a:bodyPr wrap="square">
            <a:spAutoFit/>
          </a:bodyPr>
          <a:lstStyle/>
          <a:p>
            <a:pPr>
              <a:defRPr sz="1200">
                <a:solidFill>
                  <a:srgbClr val="1E242B"/>
                </a:solidFill>
                <a:latin typeface="Times New Roman"/>
              </a:defRPr>
            </a:pPr>
            <a:r>
              <a:t>Iris2024 (16 người, 243 máy/ngày)</a:t>
            </a:r>
            <a:br/>
            <a:r>
              <a:t>&amp; Bài toán nhịp Takt 97s IrisEXP</a:t>
            </a:r>
          </a:p>
        </p:txBody>
      </p:sp>
      <p:sp>
        <p:nvSpPr>
          <p:cNvPr id="10" name="Rounded Rectangle 9"/>
          <p:cNvSpPr/>
          <p:nvPr/>
        </p:nvSpPr>
        <p:spPr>
          <a:xfrm>
            <a:off x="3630168" y="3520440"/>
            <a:ext cx="2505456" cy="1691640"/>
          </a:xfrm>
          <a:prstGeom prst="roundRect">
            <a:avLst/>
          </a:prstGeom>
          <a:solidFill>
            <a:srgbClr val="FFFFFF"/>
          </a:solidFill>
          <a:ln w="19050">
            <a:solidFill>
              <a:srgbClr val="1E6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30168" y="3520440"/>
            <a:ext cx="2505456" cy="384048"/>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imes New Roman"/>
              </a:defRPr>
            </a:pPr>
            <a:r>
              <a:t>PHẦN 02: MỤC TIÊU PHÁT TRIỂN</a:t>
            </a:r>
          </a:p>
        </p:txBody>
      </p:sp>
      <p:sp>
        <p:nvSpPr>
          <p:cNvPr id="12" name="TextBox 11"/>
          <p:cNvSpPr txBox="1"/>
          <p:nvPr/>
        </p:nvSpPr>
        <p:spPr>
          <a:xfrm>
            <a:off x="3721607" y="4005072"/>
            <a:ext cx="2322576" cy="1115568"/>
          </a:xfrm>
          <a:prstGeom prst="rect">
            <a:avLst/>
          </a:prstGeom>
          <a:noFill/>
        </p:spPr>
        <p:txBody>
          <a:bodyPr wrap="square">
            <a:spAutoFit/>
          </a:bodyPr>
          <a:lstStyle/>
          <a:p>
            <a:pPr>
              <a:defRPr sz="1200">
                <a:solidFill>
                  <a:srgbClr val="1E242B"/>
                </a:solidFill>
                <a:latin typeface="Times New Roman"/>
              </a:defRPr>
            </a:pPr>
            <a:r>
              <a:t>Tăng gấp đôi năng suất (≥30,4 máy)</a:t>
            </a:r>
            <a:br/>
            <a:r>
              <a:t>Giảm 50% thời gian &amp; số tờ in</a:t>
            </a:r>
          </a:p>
        </p:txBody>
      </p:sp>
      <p:sp>
        <p:nvSpPr>
          <p:cNvPr id="13" name="Rounded Rectangle 12"/>
          <p:cNvSpPr/>
          <p:nvPr/>
        </p:nvSpPr>
        <p:spPr>
          <a:xfrm>
            <a:off x="6300216" y="3520440"/>
            <a:ext cx="2505456" cy="1691640"/>
          </a:xfrm>
          <a:prstGeom prst="roundRect">
            <a:avLst/>
          </a:prstGeom>
          <a:solidFill>
            <a:srgbClr val="FFFFFF"/>
          </a:solidFill>
          <a:ln w="1905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0216" y="3520440"/>
            <a:ext cx="2505456" cy="384048"/>
          </a:xfrm>
          <a:prstGeom prst="rect">
            <a:avLst/>
          </a:prstGeom>
          <a:solidFill>
            <a:srgbClr val="2B5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imes New Roman"/>
              </a:defRPr>
            </a:pPr>
            <a:r>
              <a:t>PHẦN 03: PHƯƠNG CHÂM 3 CỨ ĐIỂM</a:t>
            </a:r>
          </a:p>
        </p:txBody>
      </p:sp>
      <p:sp>
        <p:nvSpPr>
          <p:cNvPr id="15" name="TextBox 14"/>
          <p:cNvSpPr txBox="1"/>
          <p:nvPr/>
        </p:nvSpPr>
        <p:spPr>
          <a:xfrm>
            <a:off x="6391655" y="4005072"/>
            <a:ext cx="2322576" cy="1115568"/>
          </a:xfrm>
          <a:prstGeom prst="rect">
            <a:avLst/>
          </a:prstGeom>
          <a:noFill/>
        </p:spPr>
        <p:txBody>
          <a:bodyPr wrap="square">
            <a:spAutoFit/>
          </a:bodyPr>
          <a:lstStyle/>
          <a:p>
            <a:pPr>
              <a:defRPr sz="1200">
                <a:solidFill>
                  <a:srgbClr val="1E242B"/>
                </a:solidFill>
                <a:latin typeface="Times New Roman"/>
              </a:defRPr>
            </a:pPr>
            <a:r>
              <a:t>JP định hướng — VN &amp; CN chủ động</a:t>
            </a:r>
            <a:br/>
            <a:r>
              <a:t>Phối hợp định kỳ cùng giải quyết</a:t>
            </a:r>
          </a:p>
        </p:txBody>
      </p:sp>
      <p:sp>
        <p:nvSpPr>
          <p:cNvPr id="16" name="Rounded Rectangle 15"/>
          <p:cNvSpPr/>
          <p:nvPr/>
        </p:nvSpPr>
        <p:spPr>
          <a:xfrm>
            <a:off x="8970264" y="3520440"/>
            <a:ext cx="2505456" cy="1691640"/>
          </a:xfrm>
          <a:prstGeom prst="roundRect">
            <a:avLst/>
          </a:prstGeom>
          <a:solidFill>
            <a:srgbClr val="FFFFFF"/>
          </a:solidFill>
          <a:ln w="19050">
            <a:solidFill>
              <a:srgbClr val="D96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70264" y="3520440"/>
            <a:ext cx="2505456" cy="384048"/>
          </a:xfrm>
          <a:prstGeom prst="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imes New Roman"/>
              </a:defRPr>
            </a:pPr>
            <a:r>
              <a:t>PHẦN 04: ĐỀ ÁN TỰ ĐỘNG HÓA VN</a:t>
            </a:r>
          </a:p>
        </p:txBody>
      </p:sp>
      <p:sp>
        <p:nvSpPr>
          <p:cNvPr id="18" name="TextBox 17"/>
          <p:cNvSpPr txBox="1"/>
          <p:nvPr/>
        </p:nvSpPr>
        <p:spPr>
          <a:xfrm>
            <a:off x="9061704" y="4005072"/>
            <a:ext cx="2322576" cy="1115568"/>
          </a:xfrm>
          <a:prstGeom prst="rect">
            <a:avLst/>
          </a:prstGeom>
          <a:noFill/>
        </p:spPr>
        <p:txBody>
          <a:bodyPr wrap="square">
            <a:spAutoFit/>
          </a:bodyPr>
          <a:lstStyle/>
          <a:p>
            <a:pPr>
              <a:defRPr sz="1200">
                <a:solidFill>
                  <a:srgbClr val="1E242B"/>
                </a:solidFill>
                <a:latin typeface="Times New Roman"/>
              </a:defRPr>
            </a:pPr>
            <a:r>
              <a:t>Chi tiết 20 đề án cải tiến tại KDTVN</a:t>
            </a:r>
            <a:br/>
            <a:r>
              <a:t>&amp; Dự toán đầu tư (Tham khảo 38 ĐA)</a:t>
            </a:r>
          </a:p>
        </p:txBody>
      </p:sp>
      <p:sp>
        <p:nvSpPr>
          <p:cNvPr id="19" name="Rectangle 18"/>
          <p:cNvSpPr/>
          <p:nvPr/>
        </p:nvSpPr>
        <p:spPr>
          <a:xfrm>
            <a:off x="960120" y="5532120"/>
            <a:ext cx="10424160" cy="566928"/>
          </a:xfrm>
          <a:prstGeom prst="rect">
            <a:avLst/>
          </a:prstGeom>
          <a:solidFill>
            <a:srgbClr val="E8EEF5"/>
          </a:solidFill>
          <a:ln w="1016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300" b="1">
                <a:solidFill>
                  <a:srgbClr val="1B365D"/>
                </a:solidFill>
                <a:latin typeface="Times New Roman"/>
              </a:defRPr>
            </a:pPr>
            <a:r>
              <a:t>Bộ phận Kỹ thuật Sản xuất KDTVN   |   Người trình bày: Bùi Đức Vinh   |   Tháng 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1. NẮM BẮT HIỆN TRẠNG</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Hiện trạng sản xuất dòng máy Iris2024 và bài toán năng lực khi chuyển sang IrisEXP</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2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 Hiện trạng 16 người làm 243 máy/ngày (15,19 máy/người). Sang IrisEXP (Takt 97s, 300 máy/ngày), giữ quy trình cũ cần 18 người — Line hiện tại không thể đáp ứng.</a:t>
            </a:r>
          </a:p>
        </p:txBody>
      </p:sp>
      <p:graphicFrame>
        <p:nvGraphicFramePr>
          <p:cNvPr id="7" name="Table 6"/>
          <p:cNvGraphicFramePr>
            <a:graphicFrameLocks noGrp="1"/>
          </p:cNvGraphicFramePr>
          <p:nvPr/>
        </p:nvGraphicFramePr>
        <p:xfrm>
          <a:off x="256032" y="1234440"/>
          <a:ext cx="5989320" cy="5120640"/>
        </p:xfrm>
        <a:graphic>
          <a:graphicData uri="http://schemas.openxmlformats.org/drawingml/2006/table">
            <a:tbl>
              <a:tblPr firstRow="1" bandRow="1">
                <a:tableStyleId>{5C22544A-7EE6-4342-B048-85BDC9FD1C3A}</a:tableStyleId>
              </a:tblPr>
              <a:tblGrid>
                <a:gridCol w="1783080"/>
                <a:gridCol w="1371600"/>
                <a:gridCol w="1417320"/>
                <a:gridCol w="1417320"/>
              </a:tblGrid>
              <a:tr h="640080">
                <a:tc>
                  <a:txBody>
                    <a:bodyPr wrap="square"/>
                    <a:lstStyle/>
                    <a:p>
                      <a:pPr algn="ctr">
                        <a:defRPr sz="1250" b="1">
                          <a:solidFill>
                            <a:srgbClr val="FFFFFF"/>
                          </a:solidFill>
                          <a:latin typeface="Times New Roman"/>
                        </a:defRPr>
                      </a:pPr>
                      <a:r>
                        <a:t>Chỉ tiêu sản xuất</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Hiện trạng Iris2024</a:t>
                      </a:r>
                      <a:br/>
                      <a:r>
                        <a:t>(Line hiện tại)</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Khi sang IrisEXP</a:t>
                      </a:r>
                      <a:br/>
                      <a:r>
                        <a:t>(Chưa cải tiến)</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Đánh giá khả năng</a:t>
                      </a:r>
                      <a:br/>
                      <a:r>
                        <a:t>đáp ứng trên Line</a:t>
                      </a:r>
                    </a:p>
                  </a:txBody>
                  <a:tcPr anchor="ctr" marL="36576" marR="36576" marT="13716" marB="13716">
                    <a:solidFill>
                      <a:srgbClr val="1B365D"/>
                    </a:solidFill>
                  </a:tcPr>
                </a:tc>
              </a:tr>
              <a:tr h="640080">
                <a:tc>
                  <a:txBody>
                    <a:bodyPr wrap="square"/>
                    <a:lstStyle/>
                    <a:p>
                      <a:pPr algn="l">
                        <a:defRPr sz="1200" b="1">
                          <a:solidFill>
                            <a:srgbClr val="1E242B"/>
                          </a:solidFill>
                          <a:latin typeface="Times New Roman"/>
                        </a:defRPr>
                      </a:pPr>
                      <a:r>
                        <a:t>Thời gian thao tác chuẩn</a:t>
                      </a:r>
                      <a:br/>
                      <a:r>
                        <a:t>(Mã hàng cao nhất)</a:t>
                      </a:r>
                    </a:p>
                  </a:txBody>
                  <a:tcPr anchor="ctr" marL="36576" marR="36576" marT="13716" marB="13716">
                    <a:solidFill>
                      <a:srgbClr val="E8EEF5"/>
                    </a:solidFill>
                  </a:tcPr>
                </a:tc>
                <a:tc>
                  <a:txBody>
                    <a:bodyPr wrap="square"/>
                    <a:lstStyle/>
                    <a:p>
                      <a:pPr algn="ctr">
                        <a:defRPr sz="1200">
                          <a:solidFill>
                            <a:srgbClr val="1E242B"/>
                          </a:solidFill>
                          <a:latin typeface="Times New Roman"/>
                        </a:defRPr>
                      </a:pPr>
                      <a:r>
                        <a:t>1.083s / máy</a:t>
                      </a:r>
                      <a:br/>
                      <a:r>
                        <a:t>(Gross: 2.350s)</a:t>
                      </a:r>
                    </a:p>
                  </a:txBody>
                  <a:tcPr anchor="ctr" marL="36576" marR="36576" marT="13716" marB="13716">
                    <a:solidFill>
                      <a:srgbClr val="E8EEF5"/>
                    </a:solidFill>
                  </a:tcPr>
                </a:tc>
                <a:tc>
                  <a:txBody>
                    <a:bodyPr wrap="square"/>
                    <a:lstStyle/>
                    <a:p>
                      <a:pPr algn="ctr">
                        <a:defRPr sz="1200">
                          <a:solidFill>
                            <a:srgbClr val="1E242B"/>
                          </a:solidFill>
                          <a:latin typeface="Times New Roman"/>
                        </a:defRPr>
                      </a:pPr>
                      <a:r>
                        <a:t>1.260,7s / máy</a:t>
                      </a:r>
                      <a:br/>
                      <a:r>
                        <a:t>(+89s bù quét U413)</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Thao tác thủ công dài,</a:t>
                      </a:r>
                      <a:br/>
                      <a:r>
                        <a:t>phát sinh bước U413</a:t>
                      </a:r>
                    </a:p>
                  </a:txBody>
                  <a:tcPr anchor="ctr" marL="36576" marR="36576" marT="13716" marB="13716">
                    <a:solidFill>
                      <a:srgbClr val="E8EEF5"/>
                    </a:solidFill>
                  </a:tcPr>
                </a:tc>
              </a:tr>
              <a:tr h="640080">
                <a:tc>
                  <a:txBody>
                    <a:bodyPr wrap="square"/>
                    <a:lstStyle/>
                    <a:p>
                      <a:pPr algn="l">
                        <a:defRPr sz="1200" b="1">
                          <a:solidFill>
                            <a:srgbClr val="1E242B"/>
                          </a:solidFill>
                          <a:latin typeface="Times New Roman"/>
                        </a:defRPr>
                      </a:pPr>
                      <a:r>
                        <a:t>Takt Time công đoạn</a:t>
                      </a:r>
                      <a:br/>
                      <a:r>
                        <a:t>(Nhịp sản xuất)</a:t>
                      </a:r>
                    </a:p>
                  </a:txBody>
                  <a:tcPr anchor="ctr" marL="36576" marR="36576" marT="13716" marB="13716">
                    <a:solidFill>
                      <a:srgbClr val="FEF7E6"/>
                    </a:solidFill>
                  </a:tcPr>
                </a:tc>
                <a:tc>
                  <a:txBody>
                    <a:bodyPr wrap="square"/>
                    <a:lstStyle/>
                    <a:p>
                      <a:pPr algn="ctr">
                        <a:defRPr sz="1200">
                          <a:solidFill>
                            <a:srgbClr val="1E242B"/>
                          </a:solidFill>
                          <a:latin typeface="Times New Roman"/>
                        </a:defRPr>
                      </a:pPr>
                      <a:r>
                        <a:t>114 giây / máy</a:t>
                      </a:r>
                    </a:p>
                  </a:txBody>
                  <a:tcPr anchor="ctr" marL="36576" marR="36576" marT="13716" marB="13716">
                    <a:solidFill>
                      <a:srgbClr val="FEF7E6"/>
                    </a:solidFill>
                  </a:tcPr>
                </a:tc>
                <a:tc>
                  <a:txBody>
                    <a:bodyPr wrap="square"/>
                    <a:lstStyle/>
                    <a:p>
                      <a:pPr algn="ctr">
                        <a:defRPr sz="1200">
                          <a:solidFill>
                            <a:srgbClr val="1E242B"/>
                          </a:solidFill>
                          <a:latin typeface="Times New Roman"/>
                        </a:defRPr>
                      </a:pPr>
                      <a:r>
                        <a:t>97 giây / máy</a:t>
                      </a:r>
                      <a:br/>
                      <a:r>
                        <a:t>(Nhanh hơn 17s/máy)</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Nhịp chuyền yêu cầu</a:t>
                      </a:r>
                      <a:br/>
                      <a:r>
                        <a:t>tăng tốc 17,5%</a:t>
                      </a:r>
                    </a:p>
                  </a:txBody>
                  <a:tcPr anchor="ctr" marL="36576" marR="36576" marT="13716" marB="13716">
                    <a:solidFill>
                      <a:srgbClr val="FEF7E6"/>
                    </a:solidFill>
                  </a:tcPr>
                </a:tc>
              </a:tr>
              <a:tr h="640080">
                <a:tc>
                  <a:txBody>
                    <a:bodyPr wrap="square"/>
                    <a:lstStyle/>
                    <a:p>
                      <a:pPr algn="l">
                        <a:defRPr sz="1200" b="1">
                          <a:solidFill>
                            <a:srgbClr val="1E242B"/>
                          </a:solidFill>
                          <a:latin typeface="Times New Roman"/>
                        </a:defRPr>
                      </a:pPr>
                      <a:r>
                        <a:t>Sản lượng 1 ngày</a:t>
                      </a:r>
                      <a:br/>
                      <a:r>
                        <a:t>(Trên 1 Line)</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243 máy / ngày</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300 máy / ngày</a:t>
                      </a:r>
                      <a:br/>
                      <a:r>
                        <a:t>(16.000 máy/tháng)</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Tăng sản lượng +23,5%</a:t>
                      </a:r>
                      <a:br/>
                      <a:r>
                        <a:t>(+57 máy/ngày)</a:t>
                      </a:r>
                    </a:p>
                  </a:txBody>
                  <a:tcPr anchor="ctr" marL="36576" marR="36576" marT="13716" marB="13716">
                    <a:solidFill>
                      <a:srgbClr val="FFFFFF"/>
                    </a:solidFill>
                  </a:tcPr>
                </a:tc>
              </a:tr>
              <a:tr h="640080">
                <a:tc>
                  <a:txBody>
                    <a:bodyPr wrap="square"/>
                    <a:lstStyle/>
                    <a:p>
                      <a:pPr algn="l">
                        <a:defRPr sz="1200" b="1">
                          <a:solidFill>
                            <a:srgbClr val="1E242B"/>
                          </a:solidFill>
                          <a:latin typeface="Times New Roman"/>
                        </a:defRPr>
                      </a:pPr>
                      <a:r>
                        <a:t>Nhân sự ĐIỀU CHỈNH</a:t>
                      </a:r>
                      <a:br/>
                      <a:r>
                        <a:t>(K1 ~ K4)</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7 người thao tác</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9 người thao tác</a:t>
                      </a:r>
                      <a:br/>
                      <a:r>
                        <a:t>(Nếu giữ cách cũ)</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Thiếu 2 người thao tác</a:t>
                      </a:r>
                      <a:br/>
                      <a:r>
                        <a:t>và thiếu vị trí đứng máy</a:t>
                      </a:r>
                    </a:p>
                  </a:txBody>
                  <a:tcPr anchor="ctr" marL="36576" marR="36576" marT="13716" marB="13716">
                    <a:solidFill>
                      <a:srgbClr val="F7F9FC"/>
                    </a:solidFill>
                  </a:tcPr>
                </a:tc>
              </a:tr>
              <a:tr h="640080">
                <a:tc>
                  <a:txBody>
                    <a:bodyPr wrap="square"/>
                    <a:lstStyle/>
                    <a:p>
                      <a:pPr algn="l">
                        <a:defRPr sz="1200" b="1">
                          <a:solidFill>
                            <a:srgbClr val="1E242B"/>
                          </a:solidFill>
                          <a:latin typeface="Times New Roman"/>
                        </a:defRPr>
                      </a:pPr>
                      <a:r>
                        <a:t>Nhân sự HÌNH ẢNH</a:t>
                      </a:r>
                      <a:br/>
                      <a:r>
                        <a:t>(K5 ~ K8)</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9 người thao tác</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9 người thao tác</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Nghẽn cụm in &amp; đo ảnh</a:t>
                      </a:r>
                      <a:br/>
                      <a:r>
                        <a:t>(17 tờ Print + 2 tờ Copy)</a:t>
                      </a:r>
                    </a:p>
                  </a:txBody>
                  <a:tcPr anchor="ctr" marL="36576" marR="36576" marT="13716" marB="13716">
                    <a:solidFill>
                      <a:srgbClr val="FFFFFF"/>
                    </a:solidFill>
                  </a:tcPr>
                </a:tc>
              </a:tr>
              <a:tr h="640080">
                <a:tc>
                  <a:txBody>
                    <a:bodyPr wrap="square"/>
                    <a:lstStyle/>
                    <a:p>
                      <a:pPr algn="l">
                        <a:defRPr sz="1200" b="1">
                          <a:solidFill>
                            <a:srgbClr val="1E242B"/>
                          </a:solidFill>
                          <a:latin typeface="Times New Roman"/>
                        </a:defRPr>
                      </a:pPr>
                      <a:r>
                        <a:t>TỔNG SỐ NGƯỜI</a:t>
                      </a:r>
                    </a:p>
                  </a:txBody>
                  <a:tcPr anchor="ctr" marL="36576" marR="36576" marT="13716" marB="13716">
                    <a:solidFill>
                      <a:srgbClr val="FDEDEC"/>
                    </a:solidFill>
                  </a:tcPr>
                </a:tc>
                <a:tc>
                  <a:txBody>
                    <a:bodyPr wrap="square"/>
                    <a:lstStyle/>
                    <a:p>
                      <a:pPr algn="ctr">
                        <a:defRPr sz="1200">
                          <a:solidFill>
                            <a:srgbClr val="1E242B"/>
                          </a:solidFill>
                          <a:latin typeface="Times New Roman"/>
                        </a:defRPr>
                      </a:pPr>
                      <a:r>
                        <a:t>16 người thao tác</a:t>
                      </a:r>
                      <a:br/>
                      <a:r>
                        <a:t>(7 ĐC + 9 Hình ảnh)</a:t>
                      </a:r>
                    </a:p>
                  </a:txBody>
                  <a:tcPr anchor="ctr" marL="36576" marR="36576" marT="13716" marB="13716">
                    <a:solidFill>
                      <a:srgbClr val="FDEDEC"/>
                    </a:solidFill>
                  </a:tcPr>
                </a:tc>
                <a:tc>
                  <a:txBody>
                    <a:bodyPr wrap="square"/>
                    <a:lstStyle/>
                    <a:p>
                      <a:pPr algn="ctr">
                        <a:defRPr sz="1200">
                          <a:solidFill>
                            <a:srgbClr val="1E242B"/>
                          </a:solidFill>
                          <a:latin typeface="Times New Roman"/>
                        </a:defRPr>
                      </a:pPr>
                      <a:r>
                        <a:t>Cần 18 người</a:t>
                      </a:r>
                      <a:br/>
                      <a:r>
                        <a:t>(Theo Takt 97s)</a:t>
                      </a:r>
                    </a:p>
                  </a:txBody>
                  <a:tcPr anchor="ctr" marL="36576" marR="36576" marT="13716" marB="13716">
                    <a:solidFill>
                      <a:srgbClr val="FDEDEC"/>
                    </a:solidFill>
                  </a:tcPr>
                </a:tc>
                <a:tc>
                  <a:txBody>
                    <a:bodyPr wrap="square"/>
                    <a:lstStyle/>
                    <a:p>
                      <a:pPr algn="l">
                        <a:defRPr sz="1200">
                          <a:solidFill>
                            <a:srgbClr val="1E242B"/>
                          </a:solidFill>
                          <a:latin typeface="Times New Roman"/>
                        </a:defRPr>
                      </a:pPr>
                      <a:r>
                        <a:t>Line hiện tại chỉ đủ chỗ</a:t>
                      </a:r>
                      <a:br/>
                      <a:r>
                        <a:t>cho tối đa 16 người</a:t>
                      </a:r>
                    </a:p>
                  </a:txBody>
                  <a:tcPr anchor="ctr" marL="36576" marR="36576" marT="13716" marB="13716">
                    <a:solidFill>
                      <a:srgbClr val="FDEDEC"/>
                    </a:solidFill>
                  </a:tcPr>
                </a:tc>
              </a:tr>
              <a:tr h="640080">
                <a:tc>
                  <a:txBody>
                    <a:bodyPr wrap="square"/>
                    <a:lstStyle/>
                    <a:p>
                      <a:pPr algn="l">
                        <a:defRPr sz="1200" b="1">
                          <a:solidFill>
                            <a:srgbClr val="1E242B"/>
                          </a:solidFill>
                          <a:latin typeface="Times New Roman"/>
                        </a:defRPr>
                      </a:pPr>
                      <a:r>
                        <a:t>Năng suất 1 người / ngày</a:t>
                      </a:r>
                    </a:p>
                  </a:txBody>
                  <a:tcPr anchor="ctr" marL="36576" marR="36576" marT="13716" marB="13716">
                    <a:solidFill>
                      <a:srgbClr val="FDEDEC"/>
                    </a:solidFill>
                  </a:tcPr>
                </a:tc>
                <a:tc>
                  <a:txBody>
                    <a:bodyPr wrap="square"/>
                    <a:lstStyle/>
                    <a:p>
                      <a:pPr algn="ctr">
                        <a:defRPr sz="1200">
                          <a:solidFill>
                            <a:srgbClr val="1E242B"/>
                          </a:solidFill>
                          <a:latin typeface="Times New Roman"/>
                        </a:defRPr>
                      </a:pPr>
                      <a:r>
                        <a:t>15,19 máy / ngày</a:t>
                      </a:r>
                      <a:br/>
                      <a:r>
                        <a:t>(243 máy ÷ 16 người)</a:t>
                      </a:r>
                    </a:p>
                  </a:txBody>
                  <a:tcPr anchor="ctr" marL="36576" marR="36576" marT="13716" marB="13716">
                    <a:solidFill>
                      <a:srgbClr val="FDEDEC"/>
                    </a:solidFill>
                  </a:tcPr>
                </a:tc>
                <a:tc>
                  <a:txBody>
                    <a:bodyPr wrap="square"/>
                    <a:lstStyle/>
                    <a:p>
                      <a:pPr algn="ctr">
                        <a:defRPr sz="1200">
                          <a:solidFill>
                            <a:srgbClr val="1E242B"/>
                          </a:solidFill>
                          <a:latin typeface="Times New Roman"/>
                        </a:defRPr>
                      </a:pPr>
                      <a:r>
                        <a:t>16,67 máy / ngày</a:t>
                      </a:r>
                      <a:br/>
                      <a:r>
                        <a:t>(300 máy ÷ 18 người)</a:t>
                      </a:r>
                    </a:p>
                  </a:txBody>
                  <a:tcPr anchor="ctr" marL="36576" marR="36576" marT="13716" marB="13716">
                    <a:solidFill>
                      <a:srgbClr val="FDEDEC"/>
                    </a:solidFill>
                  </a:tcPr>
                </a:tc>
                <a:tc>
                  <a:txBody>
                    <a:bodyPr wrap="square"/>
                    <a:lstStyle/>
                    <a:p>
                      <a:pPr algn="l">
                        <a:defRPr sz="1200">
                          <a:solidFill>
                            <a:srgbClr val="1E242B"/>
                          </a:solidFill>
                          <a:latin typeface="Times New Roman"/>
                        </a:defRPr>
                      </a:pPr>
                      <a:r>
                        <a:t>Line hiện tại không thể</a:t>
                      </a:r>
                      <a:br/>
                      <a:r>
                        <a:t>đáp ứng sản xuất</a:t>
                      </a:r>
                    </a:p>
                  </a:txBody>
                  <a:tcPr anchor="ctr" marL="36576" marR="36576" marT="13716" marB="13716">
                    <a:solidFill>
                      <a:srgbClr val="FDEDEC"/>
                    </a:solidFill>
                  </a:tcPr>
                </a:tc>
              </a:tr>
            </a:tbl>
          </a:graphicData>
        </a:graphic>
      </p:graphicFrame>
      <p:pic>
        <p:nvPicPr>
          <p:cNvPr id="8" name="Picture 7" descr="chart_s1_status_vn.png"/>
          <p:cNvPicPr>
            <a:picLocks noChangeAspect="1"/>
          </p:cNvPicPr>
          <p:nvPr/>
        </p:nvPicPr>
        <p:blipFill>
          <a:blip r:embed="rId2"/>
          <a:stretch>
            <a:fillRect/>
          </a:stretch>
        </p:blipFill>
        <p:spPr>
          <a:xfrm>
            <a:off x="6382512" y="1234440"/>
            <a:ext cx="5532120" cy="2370909"/>
          </a:xfrm>
          <a:prstGeom prst="rect">
            <a:avLst/>
          </a:prstGeom>
        </p:spPr>
      </p:pic>
      <p:sp>
        <p:nvSpPr>
          <p:cNvPr id="9" name="Rectangle 8"/>
          <p:cNvSpPr/>
          <p:nvPr/>
        </p:nvSpPr>
        <p:spPr>
          <a:xfrm>
            <a:off x="6382512" y="3566160"/>
            <a:ext cx="5532120" cy="2926080"/>
          </a:xfrm>
          <a:prstGeom prst="rect">
            <a:avLst/>
          </a:prstGeom>
          <a:solidFill>
            <a:srgbClr val="FDEDEC"/>
          </a:solidFill>
          <a:ln w="12700">
            <a:solidFill>
              <a:srgbClr val="B82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82512" y="3566160"/>
            <a:ext cx="5532120" cy="347472"/>
          </a:xfrm>
          <a:prstGeom prst="rect">
            <a:avLst/>
          </a:prstGeom>
          <a:solidFill>
            <a:srgbClr val="B8292F"/>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KẾT LUẬN VỀ NĂNG LỰC HIỆN TẠI TRÊN LINE IRIS2024</a:t>
            </a:r>
          </a:p>
        </p:txBody>
      </p:sp>
      <p:sp>
        <p:nvSpPr>
          <p:cNvPr id="11" name="TextBox 10"/>
          <p:cNvSpPr txBox="1"/>
          <p:nvPr/>
        </p:nvSpPr>
        <p:spPr>
          <a:xfrm>
            <a:off x="6473952" y="3950208"/>
            <a:ext cx="5349240" cy="2505456"/>
          </a:xfrm>
          <a:prstGeom prst="rect">
            <a:avLst/>
          </a:prstGeom>
          <a:noFill/>
        </p:spPr>
        <p:txBody>
          <a:bodyPr wrap="square" lIns="36576" rIns="36576" tIns="18288" bIns="18288">
            <a:spAutoFit/>
          </a:bodyPr>
          <a:lstStyle/>
          <a:p>
            <a:pPr>
              <a:spcAft>
                <a:spcPts val="300"/>
              </a:spcAft>
              <a:defRPr sz="1200" b="1">
                <a:solidFill>
                  <a:srgbClr val="1E242B"/>
                </a:solidFill>
                <a:latin typeface="Times New Roman"/>
              </a:defRPr>
            </a:pPr>
            <a:r>
              <a:t>⚠ 1. Hụt sản lượng: Năng lực hiện tại (15,19 máy/người/ngày) với 16 người chỉ làm được 243 máy/ngày, hụt 57 máy/ngày so với yêu cầu Takt 97s (300 máy/ngày).</a:t>
            </a:r>
          </a:p>
          <a:p>
            <a:pPr>
              <a:spcAft>
                <a:spcPts val="300"/>
              </a:spcAft>
              <a:defRPr sz="1200" b="1">
                <a:solidFill>
                  <a:srgbClr val="1E242B"/>
                </a:solidFill>
                <a:latin typeface="Times New Roman"/>
              </a:defRPr>
            </a:pPr>
            <a:r>
              <a:t>⚠ 2. Quá tải diện tích Line: Nếu giữ cách cũ cần 18 người thao tác, vượt quá diện tích và số bàn kiểm tra trên Line Iris2024 (chỉ đủ chỗ cho 16 người).</a:t>
            </a:r>
          </a:p>
          <a:p>
            <a:pPr>
              <a:spcAft>
                <a:spcPts val="300"/>
              </a:spcAft>
              <a:defRPr sz="1200" b="1">
                <a:solidFill>
                  <a:srgbClr val="1E242B"/>
                </a:solidFill>
                <a:latin typeface="Times New Roman"/>
              </a:defRPr>
            </a:pPr>
            <a:r>
              <a:t>⚠ 3. Nghẽn tại cụm Hình ảnh: In 17 tờ Print + 2 tờ Copy và đo nồng độ thủ công mất 192s, 9 người thao tác không thể theo kịp nhịp Takt 97s.</a:t>
            </a:r>
          </a:p>
          <a:p>
            <a:pPr>
              <a:spcAft>
                <a:spcPts val="300"/>
              </a:spcAft>
              <a:defRPr sz="1200" b="1">
                <a:solidFill>
                  <a:srgbClr val="1E242B"/>
                </a:solidFill>
                <a:latin typeface="Times New Roman"/>
              </a:defRPr>
            </a:pPr>
            <a:r>
              <a:t>■ 4. Giải pháp bắt buộc: Tăng gấp đôi năng suất (lên ≥30,38 máy/người/ngày), giảm nhân sự xuống 8~9 người để sản xuất ngay trên Line hiện tại.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1. NẮM BẮT HIỆN TRẠNG</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Layout thực tế Line Điều chỉnh Iris2024 (A1 ~ A11: Dài 57m × Rộng 2,7m | 1 người 3 Cell)</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3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 Line Iris2024 gồm 11 trạm A1~A11 (16 người thao tác). Diện tích mặt bằng đã tối ưu sát giới hạn xưởng (57m x 2,7m), không thể mở rộng hay tăng người.</a:t>
            </a:r>
          </a:p>
        </p:txBody>
      </p:sp>
      <p:sp>
        <p:nvSpPr>
          <p:cNvPr id="7" name="Rectangle 6"/>
          <p:cNvSpPr/>
          <p:nvPr/>
        </p:nvSpPr>
        <p:spPr>
          <a:xfrm>
            <a:off x="256032" y="1234440"/>
            <a:ext cx="11679631" cy="3108960"/>
          </a:xfrm>
          <a:prstGeom prst="rect">
            <a:avLst/>
          </a:prstGeom>
          <a:solidFill>
            <a:srgbClr val="FFFFFF"/>
          </a:solidFill>
          <a:ln w="127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1234440"/>
            <a:ext cx="11679631" cy="329184"/>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imes New Roman"/>
              </a:defRPr>
            </a:pPr>
            <a:r>
              <a:t>  BẢN VẼ LAYOUT LINE ĐIỀU CHỈNH IRIS2024 THỰC TẾ (Iris2024 PRT 調整工程: A1 ~ A11)</a:t>
            </a:r>
          </a:p>
        </p:txBody>
      </p:sp>
      <p:pic>
        <p:nvPicPr>
          <p:cNvPr id="9" name="Picture 8" descr="layout_iris2024_vn.png"/>
          <p:cNvPicPr>
            <a:picLocks noChangeAspect="1"/>
          </p:cNvPicPr>
          <p:nvPr/>
        </p:nvPicPr>
        <p:blipFill>
          <a:blip r:embed="rId2"/>
          <a:stretch>
            <a:fillRect/>
          </a:stretch>
        </p:blipFill>
        <p:spPr>
          <a:xfrm>
            <a:off x="329184" y="1591056"/>
            <a:ext cx="11521440" cy="3109942"/>
          </a:xfrm>
          <a:prstGeom prst="rect">
            <a:avLst/>
          </a:prstGeom>
        </p:spPr>
      </p:pic>
      <p:sp>
        <p:nvSpPr>
          <p:cNvPr id="10" name="Rectangle 9"/>
          <p:cNvSpPr/>
          <p:nvPr/>
        </p:nvSpPr>
        <p:spPr>
          <a:xfrm>
            <a:off x="256032" y="4462272"/>
            <a:ext cx="3767328" cy="2029968"/>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4462272"/>
            <a:ext cx="3767328" cy="34747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1. CỤM ĐIỀU CHỈNH 1 (Line thủ công: A1 ~ A4)</a:t>
            </a:r>
          </a:p>
        </p:txBody>
      </p:sp>
      <p:sp>
        <p:nvSpPr>
          <p:cNvPr id="12" name="TextBox 11"/>
          <p:cNvSpPr txBox="1"/>
          <p:nvPr/>
        </p:nvSpPr>
        <p:spPr>
          <a:xfrm>
            <a:off x="347472" y="4846320"/>
            <a:ext cx="3584448" cy="1609344"/>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 Bố trí: Dọc chuyền đẩy tay đầu Line (7 người thao tác).</a:t>
            </a:r>
          </a:p>
          <a:p>
            <a:pPr>
              <a:spcAft>
                <a:spcPts val="300"/>
              </a:spcAft>
              <a:defRPr sz="1200">
                <a:solidFill>
                  <a:srgbClr val="1E242B"/>
                </a:solidFill>
                <a:latin typeface="Times New Roman"/>
              </a:defRPr>
            </a:pPr>
            <a:r>
              <a:t>• Thao tác: Nạp soft, gá mực, TLBĐ, U155, Option, lắp 6 vỏ ngoài, đo chịu áp.</a:t>
            </a:r>
          </a:p>
          <a:p>
            <a:pPr>
              <a:spcAft>
                <a:spcPts val="300"/>
              </a:spcAft>
              <a:defRPr sz="1200">
                <a:solidFill>
                  <a:srgbClr val="1E242B"/>
                </a:solidFill>
                <a:latin typeface="Times New Roman"/>
              </a:defRPr>
            </a:pPr>
            <a:r>
              <a:t>• Bất cập: Cắm/rút cáp 11 lần, tháo lắp đồ gá nhiều lần; mất 48s~90s lắp vỏ ngoài.</a:t>
            </a:r>
          </a:p>
        </p:txBody>
      </p:sp>
      <p:sp>
        <p:nvSpPr>
          <p:cNvPr id="13" name="Rectangle 12"/>
          <p:cNvSpPr/>
          <p:nvPr/>
        </p:nvSpPr>
        <p:spPr>
          <a:xfrm>
            <a:off x="4206240" y="4462272"/>
            <a:ext cx="3767328" cy="2029968"/>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06240" y="4462272"/>
            <a:ext cx="3767328" cy="347472"/>
          </a:xfrm>
          <a:prstGeom prst="rect">
            <a:avLst/>
          </a:prstGeom>
          <a:solidFill>
            <a:srgbClr val="2B547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2. CỤM ĐIỀU CHỈNH 2 (Line tự động: A5 ~ A7)</a:t>
            </a:r>
          </a:p>
        </p:txBody>
      </p:sp>
      <p:sp>
        <p:nvSpPr>
          <p:cNvPr id="15" name="TextBox 14"/>
          <p:cNvSpPr txBox="1"/>
          <p:nvPr/>
        </p:nvSpPr>
        <p:spPr>
          <a:xfrm>
            <a:off x="4297679" y="4846320"/>
            <a:ext cx="3584448" cy="1609344"/>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 Bố trí: Trên băng tải tự động trước và trong khu vực Aging.</a:t>
            </a:r>
          </a:p>
          <a:p>
            <a:pPr>
              <a:spcAft>
                <a:spcPts val="300"/>
              </a:spcAft>
              <a:defRPr sz="1200">
                <a:solidFill>
                  <a:srgbClr val="1E242B"/>
                </a:solidFill>
                <a:latin typeface="Times New Roman"/>
              </a:defRPr>
            </a:pPr>
            <a:r>
              <a:t>• Thao tác: Nhận diện giấy, chỉnh ISU U411, Scan SITC-2, U201, Aging U950 (285s).</a:t>
            </a:r>
          </a:p>
          <a:p>
            <a:pPr>
              <a:spcAft>
                <a:spcPts val="300"/>
              </a:spcAft>
              <a:defRPr sz="1200">
                <a:solidFill>
                  <a:srgbClr val="1E242B"/>
                </a:solidFill>
                <a:latin typeface="Times New Roman"/>
              </a:defRPr>
            </a:pPr>
            <a:r>
              <a:t>• Bất cập: Mở nắp kính đặt 3 bản thảo thủ công (110s); chu kỳ Aging 285s gây nghẽn.</a:t>
            </a:r>
          </a:p>
        </p:txBody>
      </p:sp>
      <p:sp>
        <p:nvSpPr>
          <p:cNvPr id="16" name="Rectangle 15"/>
          <p:cNvSpPr/>
          <p:nvPr/>
        </p:nvSpPr>
        <p:spPr>
          <a:xfrm>
            <a:off x="8156448" y="4462272"/>
            <a:ext cx="3779215" cy="2029968"/>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56448" y="4462272"/>
            <a:ext cx="3779215" cy="347472"/>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3. CỤM HÌNH ẢNH &amp; XUẤT (Cell Line: A8 ~ A11)</a:t>
            </a:r>
          </a:p>
        </p:txBody>
      </p:sp>
      <p:sp>
        <p:nvSpPr>
          <p:cNvPr id="18" name="TextBox 17"/>
          <p:cNvSpPr txBox="1"/>
          <p:nvPr/>
        </p:nvSpPr>
        <p:spPr>
          <a:xfrm>
            <a:off x="8247888" y="4846320"/>
            <a:ext cx="3596335" cy="1609344"/>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 Bố trí: Cell 2 bên (1 người 3 Cell), buồng âm A9, 5 Cell xuất hàng A11.</a:t>
            </a:r>
          </a:p>
          <a:p>
            <a:pPr>
              <a:spcAft>
                <a:spcPts val="300"/>
              </a:spcAft>
              <a:defRPr sz="1200">
                <a:solidFill>
                  <a:srgbClr val="1E242B"/>
                </a:solidFill>
                <a:latin typeface="Times New Roman"/>
              </a:defRPr>
            </a:pPr>
            <a:r>
              <a:t>• Thao tác: In 17 tờ Print + 2 tờ Copy, đo nồng độ tay mất 192s, thiết lập xuất hàng.</a:t>
            </a:r>
          </a:p>
          <a:p>
            <a:pPr>
              <a:spcAft>
                <a:spcPts val="300"/>
              </a:spcAft>
              <a:defRPr sz="1200">
                <a:solidFill>
                  <a:srgbClr val="1E242B"/>
                </a:solidFill>
                <a:latin typeface="Times New Roman"/>
              </a:defRPr>
            </a:pPr>
            <a:r>
              <a:t>• Bất cập: Quá tải cụm in/đo; Cell A11 đã giảm từ 6-&gt;5 Cell, không còn chỗ tăng người.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2. MỤC TIÊU PHÁT TRIỂN</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Mục tiêu phát triển Công đoạn điều chỉnh thân máy IrisEXP (Theo tài liệu của bác Goto)</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4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 Tăng gấp đôi năng suất (1 người làm ≥30,38 máy/ngày), giảm 50% thời gian thao tác &amp; nhân sự để đảm bảo sản xuất 300 máy/ngày (Takt 97s) ngay trên Line Iris2024 hiện tại.</a:t>
            </a:r>
          </a:p>
        </p:txBody>
      </p:sp>
      <p:sp>
        <p:nvSpPr>
          <p:cNvPr id="7" name="Rectangle 6"/>
          <p:cNvSpPr/>
          <p:nvPr/>
        </p:nvSpPr>
        <p:spPr>
          <a:xfrm>
            <a:off x="256032" y="1234440"/>
            <a:ext cx="3767328" cy="2423160"/>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1234440"/>
            <a:ext cx="3767328" cy="34747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PHƯƠNG CHÂM 1: BẢO CHỨNG MODULE</a:t>
            </a:r>
          </a:p>
        </p:txBody>
      </p:sp>
      <p:sp>
        <p:nvSpPr>
          <p:cNvPr id="9" name="TextBox 8"/>
          <p:cNvSpPr txBox="1"/>
          <p:nvPr/>
        </p:nvSpPr>
        <p:spPr>
          <a:xfrm>
            <a:off x="347472" y="1618488"/>
            <a:ext cx="3584448" cy="2002536"/>
          </a:xfrm>
          <a:prstGeom prst="rect">
            <a:avLst/>
          </a:prstGeom>
          <a:noFill/>
        </p:spPr>
        <p:txBody>
          <a:bodyPr wrap="square" lIns="36576" rIns="36576" tIns="18288" bIns="18288">
            <a:spAutoFit/>
          </a:bodyPr>
          <a:lstStyle/>
          <a:p>
            <a:pPr>
              <a:spcAft>
                <a:spcPts val="300"/>
              </a:spcAft>
              <a:defRPr sz="1200" b="1">
                <a:solidFill>
                  <a:srgbClr val="1E242B"/>
                </a:solidFill>
                <a:latin typeface="Times New Roman"/>
              </a:defRPr>
            </a:pPr>
            <a:r>
              <a:t>■ Định hướng thiết kế:</a:t>
            </a:r>
          </a:p>
          <a:p>
            <a:pPr>
              <a:spcAft>
                <a:spcPts val="300"/>
              </a:spcAft>
              <a:defRPr sz="1200">
                <a:solidFill>
                  <a:srgbClr val="1E242B"/>
                </a:solidFill>
                <a:latin typeface="Times New Roman"/>
              </a:defRPr>
            </a:pPr>
            <a:r>
              <a:t>• Thiết lập bảo chứng theo từng MODULE, chuyển thao tác kiểm tra về thượng nguồn.</a:t>
            </a:r>
          </a:p>
          <a:p>
            <a:pPr>
              <a:spcAft>
                <a:spcPts val="300"/>
              </a:spcAft>
              <a:defRPr sz="1200" b="1">
                <a:solidFill>
                  <a:srgbClr val="1E242B"/>
                </a:solidFill>
                <a:latin typeface="Times New Roman"/>
              </a:defRPr>
            </a:pPr>
            <a:r>
              <a:t>■ Mục tiêu cụ thể:</a:t>
            </a:r>
          </a:p>
          <a:p>
            <a:pPr>
              <a:spcAft>
                <a:spcPts val="300"/>
              </a:spcAft>
              <a:defRPr sz="1200">
                <a:solidFill>
                  <a:srgbClr val="1E242B"/>
                </a:solidFill>
                <a:latin typeface="Times New Roman"/>
              </a:defRPr>
            </a:pPr>
            <a:r>
              <a:t>• Hủy bỏ hoặc giảm 1/2 công sức ≥ 3 hạng mục:</a:t>
            </a:r>
          </a:p>
          <a:p>
            <a:pPr>
              <a:spcAft>
                <a:spcPts val="300"/>
              </a:spcAft>
              <a:defRPr sz="1200">
                <a:solidFill>
                  <a:srgbClr val="1E242B"/>
                </a:solidFill>
                <a:latin typeface="Times New Roman"/>
              </a:defRPr>
            </a:pPr>
            <a:r>
              <a:t>  - Bỏ cài đặt ngưỡng mực thải WTB U155.</a:t>
            </a:r>
          </a:p>
          <a:p>
            <a:pPr>
              <a:spcAft>
                <a:spcPts val="300"/>
              </a:spcAft>
              <a:defRPr sz="1200">
                <a:solidFill>
                  <a:srgbClr val="1E242B"/>
                </a:solidFill>
                <a:latin typeface="Times New Roman"/>
              </a:defRPr>
            </a:pPr>
            <a:r>
              <a:t>  - Bỏ đo độ lệch Belt trung chuyển.</a:t>
            </a:r>
          </a:p>
          <a:p>
            <a:pPr>
              <a:spcAft>
                <a:spcPts val="300"/>
              </a:spcAft>
              <a:defRPr sz="1200">
                <a:solidFill>
                  <a:srgbClr val="1E242B"/>
                </a:solidFill>
                <a:latin typeface="Times New Roman"/>
              </a:defRPr>
            </a:pPr>
            <a:r>
              <a:t>  - Tự động hóa kiểm tra an toàn điện (No.22).</a:t>
            </a:r>
          </a:p>
        </p:txBody>
      </p:sp>
      <p:sp>
        <p:nvSpPr>
          <p:cNvPr id="10" name="Rectangle 9"/>
          <p:cNvSpPr/>
          <p:nvPr/>
        </p:nvSpPr>
        <p:spPr>
          <a:xfrm>
            <a:off x="4206240" y="1234440"/>
            <a:ext cx="3767328" cy="2423160"/>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06240" y="1234440"/>
            <a:ext cx="3767328" cy="347472"/>
          </a:xfrm>
          <a:prstGeom prst="rect">
            <a:avLst/>
          </a:prstGeom>
          <a:solidFill>
            <a:srgbClr val="2B547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PHƯƠNG CHÂM 2: GIẢM THỜI GIAN &amp; TỜ IN</a:t>
            </a:r>
          </a:p>
        </p:txBody>
      </p:sp>
      <p:sp>
        <p:nvSpPr>
          <p:cNvPr id="12" name="TextBox 11"/>
          <p:cNvSpPr txBox="1"/>
          <p:nvPr/>
        </p:nvSpPr>
        <p:spPr>
          <a:xfrm>
            <a:off x="4297679" y="1618488"/>
            <a:ext cx="3584448" cy="2002536"/>
          </a:xfrm>
          <a:prstGeom prst="rect">
            <a:avLst/>
          </a:prstGeom>
          <a:noFill/>
        </p:spPr>
        <p:txBody>
          <a:bodyPr wrap="square" lIns="36576" rIns="36576" tIns="18288" bIns="18288">
            <a:spAutoFit/>
          </a:bodyPr>
          <a:lstStyle/>
          <a:p>
            <a:pPr>
              <a:spcAft>
                <a:spcPts val="300"/>
              </a:spcAft>
              <a:defRPr sz="1200" b="1">
                <a:solidFill>
                  <a:srgbClr val="1E242B"/>
                </a:solidFill>
                <a:latin typeface="Times New Roman"/>
              </a:defRPr>
            </a:pPr>
            <a:r>
              <a:t>■ Cắt giảm thời gian tiêu chuẩn:</a:t>
            </a:r>
          </a:p>
          <a:p>
            <a:pPr>
              <a:spcAft>
                <a:spcPts val="300"/>
              </a:spcAft>
              <a:defRPr sz="1200">
                <a:solidFill>
                  <a:srgbClr val="1E242B"/>
                </a:solidFill>
                <a:latin typeface="Times New Roman"/>
              </a:defRPr>
            </a:pPr>
            <a:r>
              <a:t>• Giảm 50% thời gian thao tác tiêu chuẩn (1.083s -&gt; ≤ 541s/máy; gross: 2.350s -&gt; ≤ 1.175s).</a:t>
            </a:r>
          </a:p>
          <a:p>
            <a:pPr>
              <a:spcAft>
                <a:spcPts val="300"/>
              </a:spcAft>
              <a:defRPr sz="1200" b="1">
                <a:solidFill>
                  <a:srgbClr val="1E242B"/>
                </a:solidFill>
                <a:latin typeface="Times New Roman"/>
              </a:defRPr>
            </a:pPr>
            <a:r>
              <a:t>■ Giảm một nửa số tờ in kiểm tra:</a:t>
            </a:r>
          </a:p>
          <a:p>
            <a:pPr>
              <a:spcAft>
                <a:spcPts val="300"/>
              </a:spcAft>
              <a:defRPr sz="1200">
                <a:solidFill>
                  <a:srgbClr val="1E242B"/>
                </a:solidFill>
                <a:latin typeface="Times New Roman"/>
              </a:defRPr>
            </a:pPr>
            <a:r>
              <a:t>• Bản in Print: Cắt giảm từ 17 tờ → 9 tờ.</a:t>
            </a:r>
          </a:p>
          <a:p>
            <a:pPr>
              <a:spcAft>
                <a:spcPts val="300"/>
              </a:spcAft>
              <a:defRPr sz="1200">
                <a:solidFill>
                  <a:srgbClr val="1E242B"/>
                </a:solidFill>
                <a:latin typeface="Times New Roman"/>
              </a:defRPr>
            </a:pPr>
            <a:r>
              <a:t>• Bản in Copy: Cắt giảm từ 2 tờ → 1 tờ.</a:t>
            </a:r>
          </a:p>
          <a:p>
            <a:pPr>
              <a:spcAft>
                <a:spcPts val="300"/>
              </a:spcAft>
              <a:defRPr sz="1200">
                <a:solidFill>
                  <a:srgbClr val="1E242B"/>
                </a:solidFill>
                <a:latin typeface="Times New Roman"/>
              </a:defRPr>
            </a:pPr>
            <a:r>
              <a:t>• Ứng dụng AI phân tích video thao tác.</a:t>
            </a:r>
          </a:p>
        </p:txBody>
      </p:sp>
      <p:sp>
        <p:nvSpPr>
          <p:cNvPr id="13" name="Rectangle 12"/>
          <p:cNvSpPr/>
          <p:nvPr/>
        </p:nvSpPr>
        <p:spPr>
          <a:xfrm>
            <a:off x="8156448" y="1234440"/>
            <a:ext cx="3779215" cy="2423160"/>
          </a:xfrm>
          <a:prstGeom prst="rect">
            <a:avLst/>
          </a:prstGeom>
          <a:solidFill>
            <a:srgbClr val="EAF7EE"/>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56448" y="1234440"/>
            <a:ext cx="3779215" cy="347472"/>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PHƯƠNG CHÂM 3: TỰ ĐỘNG HÓA &amp; X2 NĂNG SUẤT</a:t>
            </a:r>
          </a:p>
        </p:txBody>
      </p:sp>
      <p:sp>
        <p:nvSpPr>
          <p:cNvPr id="15" name="TextBox 14"/>
          <p:cNvSpPr txBox="1"/>
          <p:nvPr/>
        </p:nvSpPr>
        <p:spPr>
          <a:xfrm>
            <a:off x="8247888" y="1618488"/>
            <a:ext cx="3596335" cy="2002536"/>
          </a:xfrm>
          <a:prstGeom prst="rect">
            <a:avLst/>
          </a:prstGeom>
          <a:noFill/>
        </p:spPr>
        <p:txBody>
          <a:bodyPr wrap="square" lIns="36576" rIns="36576" tIns="18288" bIns="18288">
            <a:spAutoFit/>
          </a:bodyPr>
          <a:lstStyle/>
          <a:p>
            <a:pPr>
              <a:spcAft>
                <a:spcPts val="300"/>
              </a:spcAft>
              <a:defRPr sz="1200" b="1">
                <a:solidFill>
                  <a:srgbClr val="1E242B"/>
                </a:solidFill>
                <a:latin typeface="Times New Roman"/>
              </a:defRPr>
            </a:pPr>
            <a:r>
              <a:t>■ Tự động hóa công đoạn:</a:t>
            </a:r>
          </a:p>
          <a:p>
            <a:pPr>
              <a:spcAft>
                <a:spcPts val="300"/>
              </a:spcAft>
              <a:defRPr sz="1200">
                <a:solidFill>
                  <a:srgbClr val="1E242B"/>
                </a:solidFill>
                <a:latin typeface="Times New Roman"/>
              </a:defRPr>
            </a:pPr>
            <a:r>
              <a:t>• Tự động hóa 7 cụm thao tác lớn (JIG, Camera, khay nạp DP, phần mềm mạng Spica).</a:t>
            </a:r>
          </a:p>
          <a:p>
            <a:pPr>
              <a:spcAft>
                <a:spcPts val="300"/>
              </a:spcAft>
              <a:defRPr sz="1200" b="1">
                <a:solidFill>
                  <a:srgbClr val="1E242B"/>
                </a:solidFill>
                <a:latin typeface="Times New Roman"/>
              </a:defRPr>
            </a:pPr>
            <a:r>
              <a:t>■ Mục tiêu cốt lõi tại KDTVN:</a:t>
            </a:r>
          </a:p>
          <a:p>
            <a:pPr>
              <a:spcAft>
                <a:spcPts val="300"/>
              </a:spcAft>
              <a:defRPr sz="1200">
                <a:solidFill>
                  <a:srgbClr val="1E242B"/>
                </a:solidFill>
                <a:latin typeface="Times New Roman"/>
              </a:defRPr>
            </a:pPr>
            <a:r>
              <a:t>• Năng suất 1 người tăng x2: 15,19 → ≥ 30,38 máy/ngày.</a:t>
            </a:r>
          </a:p>
          <a:p>
            <a:pPr>
              <a:spcAft>
                <a:spcPts val="300"/>
              </a:spcAft>
              <a:defRPr sz="1200">
                <a:solidFill>
                  <a:srgbClr val="1E242B"/>
                </a:solidFill>
                <a:latin typeface="Times New Roman"/>
              </a:defRPr>
            </a:pPr>
            <a:r>
              <a:t>• Giảm 50% người thao tác: từ 16~18 người xuống 8~9 người, đảm bảo sản xuất trên Line hiện tại.</a:t>
            </a:r>
          </a:p>
        </p:txBody>
      </p:sp>
      <p:graphicFrame>
        <p:nvGraphicFramePr>
          <p:cNvPr id="16" name="Table 15"/>
          <p:cNvGraphicFramePr>
            <a:graphicFrameLocks noGrp="1"/>
          </p:cNvGraphicFramePr>
          <p:nvPr/>
        </p:nvGraphicFramePr>
        <p:xfrm>
          <a:off x="256032" y="3794760"/>
          <a:ext cx="11679631" cy="2697480"/>
        </p:xfrm>
        <a:graphic>
          <a:graphicData uri="http://schemas.openxmlformats.org/drawingml/2006/table">
            <a:tbl>
              <a:tblPr firstRow="1" bandRow="1">
                <a:tableStyleId>{5C22544A-7EE6-4342-B048-85BDC9FD1C3A}</a:tableStyleId>
              </a:tblPr>
              <a:tblGrid>
                <a:gridCol w="2926080"/>
                <a:gridCol w="4114800"/>
                <a:gridCol w="4638751"/>
              </a:tblGrid>
              <a:tr h="674370">
                <a:tc>
                  <a:txBody>
                    <a:bodyPr wrap="square"/>
                    <a:lstStyle/>
                    <a:p>
                      <a:pPr algn="ctr">
                        <a:defRPr sz="1250" b="1">
                          <a:solidFill>
                            <a:srgbClr val="FFFFFF"/>
                          </a:solidFill>
                          <a:latin typeface="Times New Roman"/>
                        </a:defRPr>
                      </a:pPr>
                      <a:r>
                        <a:t>Mục tiêu định lượng</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Hoạt động phát triển cơ bản</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Đề án triển khai trọng tâm tại Việt Nam (Theo Sheet VN1)</a:t>
                      </a:r>
                    </a:p>
                  </a:txBody>
                  <a:tcPr anchor="ctr" marL="36576" marR="36576" marT="13716" marB="13716">
                    <a:solidFill>
                      <a:srgbClr val="1B365D"/>
                    </a:solidFill>
                  </a:tcPr>
                </a:tc>
              </a:tr>
              <a:tr h="674370">
                <a:tc>
                  <a:txBody>
                    <a:bodyPr wrap="square"/>
                    <a:lstStyle/>
                    <a:p>
                      <a:pPr algn="l">
                        <a:defRPr sz="1200" b="1">
                          <a:solidFill>
                            <a:srgbClr val="1E242B"/>
                          </a:solidFill>
                          <a:latin typeface="Times New Roman"/>
                        </a:defRPr>
                      </a:pPr>
                      <a:r>
                        <a:t>Tăng x2 năng suất</a:t>
                      </a:r>
                      <a:br/>
                      <a:r>
                        <a:t>(≥ 30,38 máy/người/ngày)</a:t>
                      </a:r>
                      <a:br/>
                      <a:r>
                        <a:t>Giảm 50% số người (còn 8~9)</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1. Thiết kế lại Line &amp; Bảo chứng Module:</a:t>
                      </a:r>
                      <a:br/>
                      <a:r>
                        <a:t>Chuyển việc kiểm tra về Unit/Sub-Assy hoặc xóa bỏ thao tác thừa</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 Áp dụng hệ Host PC ~ Spica Mini PC, gom 8 trạm thành 4 cụm A-1 ~ A-4.</a:t>
                      </a:r>
                      <a:br/>
                      <a:r>
                        <a:t>• Bỏ cài đặt WTB U155; bỏ bấm tay U201; chuyển 6 tấm vỏ về Lắp ráp.</a:t>
                      </a:r>
                    </a:p>
                  </a:txBody>
                  <a:tcPr anchor="ctr" marL="36576" marR="36576" marT="13716" marB="13716">
                    <a:solidFill>
                      <a:srgbClr val="E8EEF5"/>
                    </a:solidFill>
                  </a:tcPr>
                </a:tc>
              </a:tr>
              <a:tr h="674370">
                <a:tc>
                  <a:txBody>
                    <a:bodyPr wrap="square"/>
                    <a:lstStyle/>
                    <a:p>
                      <a:pPr algn="l">
                        <a:defRPr sz="1200" b="1">
                          <a:solidFill>
                            <a:srgbClr val="1E242B"/>
                          </a:solidFill>
                          <a:latin typeface="Times New Roman"/>
                        </a:defRPr>
                      </a:pPr>
                      <a:r>
                        <a:t>Giảm 50% thời gian thao tác</a:t>
                      </a:r>
                      <a:br/>
                      <a:r>
                        <a:t>(1.083s -&gt; ≤ 541s)</a:t>
                      </a:r>
                      <a:br/>
                      <a:r>
                        <a:t>Giảm tờ in: Print 17-&gt;9, Copy 2-&gt;1</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2. Giảm số bản in test &amp; Bỏ bước lặp:</a:t>
                      </a:r>
                      <a:br/>
                      <a:r>
                        <a:t>Tích hợp các tờ in kiểm tra và gộp câu lệnh phần mềm</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 Hủy in RCG trước U950; gộp RCG Ledger &amp; LSU Skew vào Color Regist.</a:t>
                      </a:r>
                      <a:br/>
                      <a:r>
                        <a:t>• Gộp Calibration U410 thành 1 lệnh; gộp Mono vào Check Black; gộp Copy DC-1 + Gray.</a:t>
                      </a:r>
                    </a:p>
                  </a:txBody>
                  <a:tcPr anchor="ctr" marL="36576" marR="36576" marT="13716" marB="13716">
                    <a:solidFill>
                      <a:srgbClr val="FFFFFF"/>
                    </a:solidFill>
                  </a:tcPr>
                </a:tc>
              </a:tr>
              <a:tr h="674370">
                <a:tc>
                  <a:txBody>
                    <a:bodyPr wrap="square"/>
                    <a:lstStyle/>
                    <a:p>
                      <a:pPr algn="l">
                        <a:defRPr sz="1200" b="1">
                          <a:solidFill>
                            <a:srgbClr val="1E242B"/>
                          </a:solidFill>
                          <a:latin typeface="Times New Roman"/>
                        </a:defRPr>
                      </a:pPr>
                      <a:r>
                        <a:t>Tự động hóa 7 cụm thao tác</a:t>
                      </a:r>
                      <a:br/>
                      <a:r>
                        <a:t>Cpk công đoạn khi MP ≥ 1,33</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3. Tự động hóa bằng Đồ gá, Camera, DP:</a:t>
                      </a:r>
                      <a:br/>
                      <a:r>
                        <a:t>Thu thập dữ liệu liên kết chất lượng Module với ảnh</a:t>
                      </a:r>
                    </a:p>
                  </a:txBody>
                  <a:tcPr anchor="ctr" marL="36576" marR="36576" marT="13716" marB="13716">
                    <a:solidFill>
                      <a:srgbClr val="EAF7EE"/>
                    </a:solidFill>
                  </a:tcPr>
                </a:tc>
                <a:tc>
                  <a:txBody>
                    <a:bodyPr wrap="square"/>
                    <a:lstStyle/>
                    <a:p>
                      <a:pPr algn="l">
                        <a:defRPr sz="1200" b="1">
                          <a:solidFill>
                            <a:srgbClr val="1E6E3E"/>
                          </a:solidFill>
                          <a:latin typeface="Times New Roman"/>
                        </a:defRPr>
                      </a:pPr>
                      <a:r>
                        <a:t>• Gá kết nối nhanh Option (No.21); JIG tự động đo an toàn điện No.22 (101,69 tr VNĐ).</a:t>
                      </a:r>
                      <a:br/>
                      <a:r>
                        <a:t>• Quét liên tục bằng khay DP (No.25); Camera HIKROBOT đo nồng độ &amp; lề (No.27).</a:t>
                      </a:r>
                    </a:p>
                  </a:txBody>
                  <a:tcPr anchor="ctr" marL="36576" marR="36576" marT="13716" marB="13716">
                    <a:solidFill>
                      <a:srgbClr val="EAF7EE"/>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3. PHƯƠNG CHÂM THỰC HIỆN</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Phương châm thực hiện của 3 cứ điểm (JP - CN - VN) và Vai trò trọng tâm của Việt Nam</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5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 Nhật Bản định hướng &amp; điều phối kỹ thuật — Việt Nam &amp; Trung Quốc chủ động tại hiện trường — Ba cứ điểm phối hợp giải quyết trên tài liệu chung.</a:t>
            </a:r>
          </a:p>
        </p:txBody>
      </p:sp>
      <p:sp>
        <p:nvSpPr>
          <p:cNvPr id="7" name="Rounded Rectangle 6"/>
          <p:cNvSpPr/>
          <p:nvPr/>
        </p:nvSpPr>
        <p:spPr>
          <a:xfrm>
            <a:off x="256032" y="1234440"/>
            <a:ext cx="11679631" cy="777240"/>
          </a:xfrm>
          <a:prstGeom prst="roundRect">
            <a:avLst/>
          </a:prstGeom>
          <a:solidFill>
            <a:srgbClr val="1B365D"/>
          </a:solidFill>
          <a:ln w="25400">
            <a:solidFill>
              <a:srgbClr val="D96B27"/>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550" b="1">
                <a:solidFill>
                  <a:srgbClr val="F5B041"/>
                </a:solidFill>
                <a:latin typeface="Times New Roman"/>
              </a:defRPr>
            </a:pPr>
            <a:r>
              <a:t>SLOGAN: "ĐỊNH HƯỚNG TỔNG THỂ — CHỦ ĐỘNG HIỆN TRƯỜNG — ĐỒNG BỘ BA CỨ ĐIỂM"</a:t>
            </a:r>
          </a:p>
          <a:p>
            <a:pPr algn="ctr">
              <a:defRPr sz="1200">
                <a:solidFill>
                  <a:srgbClr val="FFFFFF"/>
                </a:solidFill>
                <a:latin typeface="Times New Roman"/>
              </a:defRPr>
            </a:pPr>
            <a:r>
              <a:t>JP định hướng &amp; điều phối  |  VN &amp; CN chủ động giải pháp tại xưởng  |  Họp định kỳ hàng tuần cùng chia sẻ &amp; giải quyết</a:t>
            </a:r>
          </a:p>
        </p:txBody>
      </p:sp>
      <p:sp>
        <p:nvSpPr>
          <p:cNvPr id="8" name="Rectangle 7"/>
          <p:cNvSpPr/>
          <p:nvPr/>
        </p:nvSpPr>
        <p:spPr>
          <a:xfrm>
            <a:off x="256032" y="2103120"/>
            <a:ext cx="3767328" cy="2103120"/>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2103120"/>
            <a:ext cx="3767328" cy="34747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1. NHẬT BẢN (KDC): ĐỊNH HƯỚNG &amp; REVIEW</a:t>
            </a:r>
          </a:p>
        </p:txBody>
      </p:sp>
      <p:sp>
        <p:nvSpPr>
          <p:cNvPr id="10" name="TextBox 9"/>
          <p:cNvSpPr txBox="1"/>
          <p:nvPr/>
        </p:nvSpPr>
        <p:spPr>
          <a:xfrm>
            <a:off x="347472" y="2487168"/>
            <a:ext cx="3584448" cy="1682495"/>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 Định hướng thiết kế tổng thể: Xây dựng cấu trúc chuẩn công đoạn Bảo chứng thân máy và lộ trình kỹ thuật.</a:t>
            </a:r>
          </a:p>
          <a:p>
            <a:pPr>
              <a:spcAft>
                <a:spcPts val="300"/>
              </a:spcAft>
              <a:defRPr sz="1200">
                <a:solidFill>
                  <a:srgbClr val="1E242B"/>
                </a:solidFill>
                <a:latin typeface="Times New Roman"/>
              </a:defRPr>
            </a:pPr>
            <a:r>
              <a:t>• Review &amp; phê duyệt: Đánh giá tính khả thi và phê duyệt thiết kế/QA cho các đề án từ các nhà máy.</a:t>
            </a:r>
          </a:p>
          <a:p>
            <a:pPr>
              <a:spcAft>
                <a:spcPts val="300"/>
              </a:spcAft>
              <a:defRPr sz="1200">
                <a:solidFill>
                  <a:srgbClr val="1E242B"/>
                </a:solidFill>
                <a:latin typeface="Times New Roman"/>
              </a:defRPr>
            </a:pPr>
            <a:r>
              <a:t>• Điều phối kỹ thuật: Phối hợp giữa Thiết kế, Phần mềm, QA và PE xử lý vướng mắc.</a:t>
            </a:r>
          </a:p>
        </p:txBody>
      </p:sp>
      <p:sp>
        <p:nvSpPr>
          <p:cNvPr id="11" name="Rectangle 10"/>
          <p:cNvSpPr/>
          <p:nvPr/>
        </p:nvSpPr>
        <p:spPr>
          <a:xfrm>
            <a:off x="4206240" y="2103120"/>
            <a:ext cx="3767328" cy="2103120"/>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06240" y="2103120"/>
            <a:ext cx="3767328" cy="347472"/>
          </a:xfrm>
          <a:prstGeom prst="rect">
            <a:avLst/>
          </a:prstGeom>
          <a:solidFill>
            <a:srgbClr val="2B547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2. TRUNG QUỐC &amp; VIỆT NAM: CHỦ ĐỘNG TẠI XƯỞNG</a:t>
            </a:r>
          </a:p>
        </p:txBody>
      </p:sp>
      <p:sp>
        <p:nvSpPr>
          <p:cNvPr id="13" name="TextBox 12"/>
          <p:cNvSpPr txBox="1"/>
          <p:nvPr/>
        </p:nvSpPr>
        <p:spPr>
          <a:xfrm>
            <a:off x="4297679" y="2487168"/>
            <a:ext cx="3584448" cy="1682495"/>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 Chủ động tìm vấn đề: Bấm giờ, quay video phân tích thao tác và bóc tách điểm nghẽn thực tế trên chuyền.</a:t>
            </a:r>
          </a:p>
          <a:p>
            <a:pPr>
              <a:spcAft>
                <a:spcPts val="300"/>
              </a:spcAft>
              <a:defRPr sz="1200">
                <a:solidFill>
                  <a:srgbClr val="1E242B"/>
                </a:solidFill>
                <a:latin typeface="Times New Roman"/>
              </a:defRPr>
            </a:pPr>
            <a:r>
              <a:t>• Tự xây dựng đề án: Thiết kế đồ gá, chọn thiết bị tự động hóa và lập bảng tính ROI sát thực tế nhà máy.</a:t>
            </a:r>
          </a:p>
          <a:p>
            <a:pPr>
              <a:spcAft>
                <a:spcPts val="300"/>
              </a:spcAft>
              <a:defRPr sz="1200">
                <a:solidFill>
                  <a:srgbClr val="1E242B"/>
                </a:solidFill>
                <a:latin typeface="Times New Roman"/>
              </a:defRPr>
            </a:pPr>
            <a:r>
              <a:t>• Tự thúc đẩy triển khai: Đo kiểm năng lực công đoạn và áp dụng ngay các mục đã được phê duyệt.</a:t>
            </a:r>
          </a:p>
        </p:txBody>
      </p:sp>
      <p:sp>
        <p:nvSpPr>
          <p:cNvPr id="14" name="Rectangle 13"/>
          <p:cNvSpPr/>
          <p:nvPr/>
        </p:nvSpPr>
        <p:spPr>
          <a:xfrm>
            <a:off x="8156448" y="2103120"/>
            <a:ext cx="3779215" cy="2103120"/>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56448" y="2103120"/>
            <a:ext cx="3779215" cy="347472"/>
          </a:xfrm>
          <a:prstGeom prst="rect">
            <a:avLst/>
          </a:prstGeom>
          <a:solidFill>
            <a:srgbClr val="007A78"/>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3. BA CỨ ĐIỂM: CHIA SẺ &amp; PHỐI HỢP</a:t>
            </a:r>
          </a:p>
        </p:txBody>
      </p:sp>
      <p:sp>
        <p:nvSpPr>
          <p:cNvPr id="16" name="TextBox 15"/>
          <p:cNvSpPr txBox="1"/>
          <p:nvPr/>
        </p:nvSpPr>
        <p:spPr>
          <a:xfrm>
            <a:off x="8247888" y="2487168"/>
            <a:ext cx="3596335" cy="1682495"/>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 Quản lý tập trung: Toàn bộ 38 đề án (JP: 7, CN: 11, VN: 20) theo dõi thống nhất trên một file chung.</a:t>
            </a:r>
          </a:p>
          <a:p>
            <a:pPr>
              <a:spcAft>
                <a:spcPts val="300"/>
              </a:spcAft>
              <a:defRPr sz="1200">
                <a:solidFill>
                  <a:srgbClr val="1E242B"/>
                </a:solidFill>
                <a:latin typeface="Times New Roman"/>
              </a:defRPr>
            </a:pPr>
            <a:r>
              <a:t>• Họp định kỳ hàng tuần: Chia sẻ tiến độ, kết quả thực nghiệm và khó khăn phát sinh để cùng tháo gỡ.</a:t>
            </a:r>
          </a:p>
          <a:p>
            <a:pPr>
              <a:spcAft>
                <a:spcPts val="300"/>
              </a:spcAft>
              <a:defRPr sz="1200">
                <a:solidFill>
                  <a:srgbClr val="1E242B"/>
                </a:solidFill>
                <a:latin typeface="Times New Roman"/>
              </a:defRPr>
            </a:pPr>
            <a:r>
              <a:t>• Triển khai ngang: Đề án thành công tại một nhà máy được chia sẻ dữ liệu áp dụng cho cả 3 cứ điểm.</a:t>
            </a:r>
          </a:p>
        </p:txBody>
      </p:sp>
      <p:sp>
        <p:nvSpPr>
          <p:cNvPr id="17" name="Rectangle 16"/>
          <p:cNvSpPr/>
          <p:nvPr/>
        </p:nvSpPr>
        <p:spPr>
          <a:xfrm>
            <a:off x="256032" y="4315968"/>
            <a:ext cx="2852928" cy="2176272"/>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6032" y="4315968"/>
            <a:ext cx="2852928" cy="347472"/>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BƯỚC 1: PHÂN TÍCH &amp; ĐỀ XUẤT</a:t>
            </a:r>
          </a:p>
        </p:txBody>
      </p:sp>
      <p:sp>
        <p:nvSpPr>
          <p:cNvPr id="19" name="TextBox 18"/>
          <p:cNvSpPr txBox="1"/>
          <p:nvPr/>
        </p:nvSpPr>
        <p:spPr>
          <a:xfrm>
            <a:off x="347472" y="4700016"/>
            <a:ext cx="2670048" cy="1755648"/>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Phân tích thực tế Line Iris2024 (16 người, 1.083s); chủ động đề xuất 20 giải pháp cải tiến (chiếm 20/38 đề án).</a:t>
            </a:r>
          </a:p>
        </p:txBody>
      </p:sp>
      <p:sp>
        <p:nvSpPr>
          <p:cNvPr id="20" name="Rectangle 19"/>
          <p:cNvSpPr/>
          <p:nvPr/>
        </p:nvSpPr>
        <p:spPr>
          <a:xfrm>
            <a:off x="3209544" y="4315968"/>
            <a:ext cx="2852928" cy="2176272"/>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09544" y="4315968"/>
            <a:ext cx="2852928" cy="347472"/>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BƯỚC 2: PHỐI HỢP KIỂM CHỨNG</a:t>
            </a:r>
          </a:p>
        </p:txBody>
      </p:sp>
      <p:sp>
        <p:nvSpPr>
          <p:cNvPr id="22" name="TextBox 21"/>
          <p:cNvSpPr txBox="1"/>
          <p:nvPr/>
        </p:nvSpPr>
        <p:spPr>
          <a:xfrm>
            <a:off x="3300984" y="4700016"/>
            <a:ext cx="2670048" cy="1755648"/>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Làm việc trực tiếp với Lắp ráp, QA, Thiết kế và Nhà cung cấp để thực nghiệm, kiểm chứng khả thi và lập BOM chi tiết.</a:t>
            </a:r>
          </a:p>
        </p:txBody>
      </p:sp>
      <p:sp>
        <p:nvSpPr>
          <p:cNvPr id="23" name="Rectangle 22"/>
          <p:cNvSpPr/>
          <p:nvPr/>
        </p:nvSpPr>
        <p:spPr>
          <a:xfrm>
            <a:off x="6163056" y="4315968"/>
            <a:ext cx="2852928" cy="2176272"/>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63056" y="4315968"/>
            <a:ext cx="2852928" cy="347472"/>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BƯỚC 3: TỰ THEO DÕI TIẾN ĐỘ</a:t>
            </a:r>
          </a:p>
        </p:txBody>
      </p:sp>
      <p:sp>
        <p:nvSpPr>
          <p:cNvPr id="25" name="TextBox 24"/>
          <p:cNvSpPr txBox="1"/>
          <p:nvPr/>
        </p:nvSpPr>
        <p:spPr>
          <a:xfrm>
            <a:off x="6254496" y="4700016"/>
            <a:ext cx="2670048" cy="1755648"/>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Tự quản lý tiến độ hàng tháng theo biểu mục tiêu chất lượng PDCA (KDTVN-PE-3), đưa ngay các mục đã chốt vào SOP.</a:t>
            </a:r>
          </a:p>
        </p:txBody>
      </p:sp>
      <p:sp>
        <p:nvSpPr>
          <p:cNvPr id="26" name="Rectangle 25"/>
          <p:cNvSpPr/>
          <p:nvPr/>
        </p:nvSpPr>
        <p:spPr>
          <a:xfrm>
            <a:off x="9116567" y="4315968"/>
            <a:ext cx="2852928" cy="2176272"/>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16567" y="4315968"/>
            <a:ext cx="2852928" cy="347472"/>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BƯỚC 4: CẬP NHẬT &amp; BÁO CÁO</a:t>
            </a:r>
          </a:p>
        </p:txBody>
      </p:sp>
      <p:sp>
        <p:nvSpPr>
          <p:cNvPr id="28" name="TextBox 27"/>
          <p:cNvSpPr txBox="1"/>
          <p:nvPr/>
        </p:nvSpPr>
        <p:spPr>
          <a:xfrm>
            <a:off x="9208007" y="4700016"/>
            <a:ext cx="2670048" cy="1755648"/>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Cập nhật đầy đủ kết quả, rủi ro và kiến nghị hỗ trợ vào file chung; báo cáo tại cuộc họp định kỳ 3 cứ điểm.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4.1 ĐỀ ÁN VIỆT NAM</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Tổng quan 20 đề án cải tiến của Việt Nam (No.18 ~ No.37) và 4 hạng mục tự động hóa</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6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 Việt Nam chủ động đề xuất 20 đề án cải tiến; trong đó 3 đề án tự động hóa trong file Iris EXPのVN提案.xlsx có tổng dự toán 855,69 triệu VNĐ (32.911,15 USD).</a:t>
            </a:r>
          </a:p>
        </p:txBody>
      </p:sp>
      <p:pic>
        <p:nvPicPr>
          <p:cNvPr id="7" name="Picture 6" descr="chart_s5_overview.png"/>
          <p:cNvPicPr>
            <a:picLocks noChangeAspect="1"/>
          </p:cNvPicPr>
          <p:nvPr/>
        </p:nvPicPr>
        <p:blipFill>
          <a:blip r:embed="rId2"/>
          <a:stretch>
            <a:fillRect/>
          </a:stretch>
        </p:blipFill>
        <p:spPr>
          <a:xfrm>
            <a:off x="256032" y="1234440"/>
            <a:ext cx="5257800" cy="2289687"/>
          </a:xfrm>
          <a:prstGeom prst="rect">
            <a:avLst/>
          </a:prstGeom>
        </p:spPr>
      </p:pic>
      <p:graphicFrame>
        <p:nvGraphicFramePr>
          <p:cNvPr id="8" name="Table 7"/>
          <p:cNvGraphicFramePr>
            <a:graphicFrameLocks noGrp="1"/>
          </p:cNvGraphicFramePr>
          <p:nvPr/>
        </p:nvGraphicFramePr>
        <p:xfrm>
          <a:off x="5623560" y="1234440"/>
          <a:ext cx="6309360" cy="2560320"/>
        </p:xfrm>
        <a:graphic>
          <a:graphicData uri="http://schemas.openxmlformats.org/drawingml/2006/table">
            <a:tbl>
              <a:tblPr firstRow="1" bandRow="1">
                <a:tableStyleId>{5C22544A-7EE6-4342-B048-85BDC9FD1C3A}</a:tableStyleId>
              </a:tblPr>
              <a:tblGrid>
                <a:gridCol w="1417320"/>
                <a:gridCol w="1554480"/>
                <a:gridCol w="1600200"/>
                <a:gridCol w="1737360"/>
              </a:tblGrid>
              <a:tr h="426720">
                <a:tc>
                  <a:txBody>
                    <a:bodyPr wrap="square"/>
                    <a:lstStyle/>
                    <a:p>
                      <a:pPr algn="ctr">
                        <a:defRPr sz="1250" b="1">
                          <a:solidFill>
                            <a:srgbClr val="FFFFFF"/>
                          </a:solidFill>
                          <a:latin typeface="Times New Roman"/>
                        </a:defRPr>
                      </a:pPr>
                      <a:r>
                        <a:t>Cụm trạm</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Mã đề án VN</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Thời gian giảm</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Kinh phí dự toán</a:t>
                      </a:r>
                    </a:p>
                  </a:txBody>
                  <a:tcPr anchor="ctr" marL="36576" marR="36576" marT="13716" marB="13716">
                    <a:solidFill>
                      <a:srgbClr val="1B365D"/>
                    </a:solidFill>
                  </a:tcPr>
                </a:tc>
              </a:tr>
              <a:tr h="426720">
                <a:tc>
                  <a:txBody>
                    <a:bodyPr wrap="square"/>
                    <a:lstStyle/>
                    <a:p>
                      <a:pPr algn="l">
                        <a:defRPr sz="1200" b="1">
                          <a:solidFill>
                            <a:srgbClr val="1E242B"/>
                          </a:solidFill>
                          <a:latin typeface="Times New Roman"/>
                        </a:defRPr>
                      </a:pPr>
                      <a:r>
                        <a:t>A-1 (Nạp FW, TLBĐ)</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No.18, 19, 20, 29, 30</a:t>
                      </a:r>
                      <a:br/>
                      <a:r>
                        <a:t>+ FW Partner</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-112,5s ~ -124,5s</a:t>
                      </a:r>
                      <a:br/>
                      <a:r>
                        <a:t>(Giảm 1 người)</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3 Đang lấy báo giá</a:t>
                      </a:r>
                      <a:br/>
                      <a:r>
                        <a:t>2 Cải tiến 0đ thiết kế</a:t>
                      </a:r>
                    </a:p>
                  </a:txBody>
                  <a:tcPr anchor="ctr" marL="36576" marR="36576" marT="13716" marB="13716">
                    <a:solidFill>
                      <a:srgbClr val="FFFFFF"/>
                    </a:solidFill>
                  </a:tcPr>
                </a:tc>
              </a:tr>
              <a:tr h="426720">
                <a:tc>
                  <a:txBody>
                    <a:bodyPr wrap="square"/>
                    <a:lstStyle/>
                    <a:p>
                      <a:pPr algn="l">
                        <a:defRPr sz="1200" b="1">
                          <a:solidFill>
                            <a:srgbClr val="1E242B"/>
                          </a:solidFill>
                          <a:latin typeface="Times New Roman"/>
                        </a:defRPr>
                      </a:pPr>
                      <a:r>
                        <a:t>A-2 (Option, Scan)</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No.21, 23, 24, 25, 31</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-154,0s ~ -170,0s</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Thay Robot bằng khay DP</a:t>
                      </a:r>
                      <a:br/>
                      <a:r>
                        <a:t>Tiết kiệm 754 triệu VNĐ</a:t>
                      </a:r>
                    </a:p>
                  </a:txBody>
                  <a:tcPr anchor="ctr" marL="36576" marR="36576" marT="13716" marB="13716">
                    <a:solidFill>
                      <a:srgbClr val="F7F9FC"/>
                    </a:solidFill>
                  </a:tcPr>
                </a:tc>
              </a:tr>
              <a:tr h="426720">
                <a:tc>
                  <a:txBody>
                    <a:bodyPr wrap="square"/>
                    <a:lstStyle/>
                    <a:p>
                      <a:pPr algn="l">
                        <a:defRPr sz="1200" b="1">
                          <a:solidFill>
                            <a:srgbClr val="1E242B"/>
                          </a:solidFill>
                          <a:latin typeface="Times New Roman"/>
                        </a:defRPr>
                      </a:pPr>
                      <a:r>
                        <a:t>A-3 (An toàn điện)</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No.22, 33, 34</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-158,3s ~ -200,0s</a:t>
                      </a:r>
                    </a:p>
                  </a:txBody>
                  <a:tcPr anchor="ctr" marL="36576" marR="36576" marT="13716" marB="13716">
                    <a:solidFill>
                      <a:srgbClr val="EAF7EE"/>
                    </a:solidFill>
                  </a:tcPr>
                </a:tc>
                <a:tc>
                  <a:txBody>
                    <a:bodyPr wrap="square"/>
                    <a:lstStyle/>
                    <a:p>
                      <a:pPr algn="l">
                        <a:defRPr sz="1200" b="1">
                          <a:solidFill>
                            <a:srgbClr val="1E6E3E"/>
                          </a:solidFill>
                          <a:latin typeface="Times New Roman"/>
                        </a:defRPr>
                      </a:pPr>
                      <a:r>
                        <a:t>No.22: 101,69 triệu VNĐ</a:t>
                      </a:r>
                      <a:br/>
                      <a:r>
                        <a:t>(3.911 USD / BOM 25 mục)</a:t>
                      </a:r>
                    </a:p>
                  </a:txBody>
                  <a:tcPr anchor="ctr" marL="36576" marR="36576" marT="13716" marB="13716">
                    <a:solidFill>
                      <a:srgbClr val="EAF7EE"/>
                    </a:solidFill>
                  </a:tcPr>
                </a:tc>
              </a:tr>
              <a:tr h="426720">
                <a:tc>
                  <a:txBody>
                    <a:bodyPr wrap="square"/>
                    <a:lstStyle/>
                    <a:p>
                      <a:pPr algn="l">
                        <a:defRPr sz="1200" b="1">
                          <a:solidFill>
                            <a:srgbClr val="1E242B"/>
                          </a:solidFill>
                          <a:latin typeface="Times New Roman"/>
                        </a:defRPr>
                      </a:pPr>
                      <a:r>
                        <a:t>A-4 (Ảnh, Âm, Xuất)</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No.26, 27, 28, 35, 37</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-227,0s ~ -265,0s</a:t>
                      </a:r>
                      <a:br/>
                      <a:r>
                        <a:t>(Giảm ~2 người)</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Camera No.27 (-177s)</a:t>
                      </a:r>
                      <a:br/>
                      <a:r>
                        <a:t>Xuất qua mạng (-50s)</a:t>
                      </a:r>
                    </a:p>
                  </a:txBody>
                  <a:tcPr anchor="ctr" marL="36576" marR="36576" marT="13716" marB="13716">
                    <a:solidFill>
                      <a:srgbClr val="F7F9FC"/>
                    </a:solidFill>
                  </a:tcPr>
                </a:tc>
              </a:tr>
              <a:tr h="426720">
                <a:tc>
                  <a:txBody>
                    <a:bodyPr wrap="square"/>
                    <a:lstStyle/>
                    <a:p>
                      <a:pPr algn="l">
                        <a:defRPr sz="1200" b="1">
                          <a:solidFill>
                            <a:srgbClr val="1E242B"/>
                          </a:solidFill>
                          <a:latin typeface="Times New Roman"/>
                        </a:defRPr>
                      </a:pPr>
                      <a:r>
                        <a:t>TỔNG CỘNG VN</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20 Đề án (No.18 ~ 37)</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Giảm ~600s (-50%)</a:t>
                      </a:r>
                      <a:br/>
                      <a:r>
                        <a:t>Đạt mục tiêu x2 NS</a:t>
                      </a:r>
                    </a:p>
                  </a:txBody>
                  <a:tcPr anchor="ctr" marL="36576" marR="36576" marT="13716" marB="13716">
                    <a:solidFill>
                      <a:srgbClr val="E8EEF5"/>
                    </a:solidFill>
                  </a:tcPr>
                </a:tc>
                <a:tc>
                  <a:txBody>
                    <a:bodyPr wrap="square"/>
                    <a:lstStyle/>
                    <a:p>
                      <a:pPr algn="l">
                        <a:defRPr sz="1200" b="1">
                          <a:solidFill>
                            <a:srgbClr val="1E6E3E"/>
                          </a:solidFill>
                          <a:latin typeface="Times New Roman"/>
                        </a:defRPr>
                      </a:pPr>
                      <a:r>
                        <a:t>3 ĐA: 855,69 triệu VNĐ</a:t>
                      </a:r>
                      <a:br/>
                      <a:r>
                        <a:t>(Duyệt No.22: 101,69 tr)</a:t>
                      </a:r>
                    </a:p>
                  </a:txBody>
                  <a:tcPr anchor="ctr" marL="36576" marR="36576" marT="13716" marB="13716">
                    <a:solidFill>
                      <a:srgbClr val="E8EEF5"/>
                    </a:solidFill>
                  </a:tcPr>
                </a:tc>
              </a:tr>
            </a:tbl>
          </a:graphicData>
        </a:graphic>
      </p:graphicFrame>
      <p:sp>
        <p:nvSpPr>
          <p:cNvPr id="9" name="Rectangle 8"/>
          <p:cNvSpPr/>
          <p:nvPr/>
        </p:nvSpPr>
        <p:spPr>
          <a:xfrm>
            <a:off x="256032" y="3977639"/>
            <a:ext cx="11679631" cy="2514600"/>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 y="3977639"/>
            <a:ext cx="11679631" cy="34747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CƠ CẤU 4 HẠNG MỤC TỰ ĐỘNG HÓA TRONG FILE DỰ TOÁN IRIS EXPのVN提案.xlsx (TỶ GIÁ 26.000 VNĐ/USD)</a:t>
            </a:r>
          </a:p>
        </p:txBody>
      </p:sp>
      <p:sp>
        <p:nvSpPr>
          <p:cNvPr id="11" name="TextBox 10"/>
          <p:cNvSpPr txBox="1"/>
          <p:nvPr/>
        </p:nvSpPr>
        <p:spPr>
          <a:xfrm>
            <a:off x="347472" y="4361688"/>
            <a:ext cx="11496751" cy="2093976"/>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 Đề án 1 (No.22 - Tự động đo an toàn điện, 30s): Chế tạo JIG tự động PLC FX5U + SMC đo khi đóng kín nắp máy, giảm 30s/máy, tiết kiệm 29,6 triệu VNĐ/năm. Đã có báo giá BOM 25 mục: 101.690.000 VNĐ (3.911,15 USD; làm tròn: 4.000 USD).</a:t>
            </a:r>
          </a:p>
          <a:p>
            <a:pPr>
              <a:spcAft>
                <a:spcPts val="300"/>
              </a:spcAft>
              <a:defRPr sz="1200">
                <a:solidFill>
                  <a:srgbClr val="1E242B"/>
                </a:solidFill>
                <a:latin typeface="Times New Roman"/>
              </a:defRPr>
            </a:pPr>
            <a:r>
              <a:t>• Đề án 2 (No.23 - Tự động đặt bản thảo ISU, 110s): Báo giá Robot 650 triệu VNĐ (25.000 USD). DR4 thống nhất hủy Robot đắt tiền, chuyển sang dùng khay nạp bản gốc DP (No.25) quét liên tục với chi phí thấp.</a:t>
            </a:r>
          </a:p>
          <a:p>
            <a:pPr>
              <a:spcAft>
                <a:spcPts val="300"/>
              </a:spcAft>
              <a:defRPr sz="1200">
                <a:solidFill>
                  <a:srgbClr val="1E242B"/>
                </a:solidFill>
                <a:latin typeface="Times New Roman"/>
              </a:defRPr>
            </a:pPr>
            <a:r>
              <a:t>• Đề án 3 (No.24 - Kiểm tra USB &amp; tọa độ U201, 30s): Báo giá Robot 104 triệu VNĐ (4.000 USD). Đề xuất hủy Robot, thay bằng đọc log U201 qua Host PC (JP No.3) và xác nhận USB khi nạp FW (JP No.6) với chi phí 0 đồng.</a:t>
            </a:r>
          </a:p>
          <a:p>
            <a:pPr>
              <a:spcAft>
                <a:spcPts val="300"/>
              </a:spcAft>
              <a:defRPr sz="1200">
                <a:solidFill>
                  <a:srgbClr val="1E242B"/>
                </a:solidFill>
                <a:latin typeface="Times New Roman"/>
              </a:defRPr>
            </a:pPr>
            <a:r>
              <a:t>• Đề án 4 (No.25 - Bổ sung khay DP vào máy thực nghiệm): Kéo quét bản in liên tục thay cho đặt tay từng tờ, gửi ảnh về PC tự động chấm điểm.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4.2 ĐỀ ÁN VN (CỤM ĐẦU)</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Chi tiết các đề án tự động hóa của Việt Nam: Cụm A-1, A-2, A-3 (No.18 ~ No.22 &amp; Nạp FW)</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7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 Các đề án cụm đầu giúp giảm ~173s-185s/máy và giảm 1 người trạm A-1; Đề án No.22 đã có báo giá BOM 25 mục là 101.690.000 VNĐ (3.911,15 USD).</a:t>
            </a:r>
          </a:p>
        </p:txBody>
      </p:sp>
      <p:graphicFrame>
        <p:nvGraphicFramePr>
          <p:cNvPr id="7" name="Table 6"/>
          <p:cNvGraphicFramePr>
            <a:graphicFrameLocks noGrp="1"/>
          </p:cNvGraphicFramePr>
          <p:nvPr/>
        </p:nvGraphicFramePr>
        <p:xfrm>
          <a:off x="256032" y="1234440"/>
          <a:ext cx="11679631" cy="5257800"/>
        </p:xfrm>
        <a:graphic>
          <a:graphicData uri="http://schemas.openxmlformats.org/drawingml/2006/table">
            <a:tbl>
              <a:tblPr firstRow="1" bandRow="1">
                <a:tableStyleId>{5C22544A-7EE6-4342-B048-85BDC9FD1C3A}</a:tableStyleId>
              </a:tblPr>
              <a:tblGrid>
                <a:gridCol w="1280160"/>
                <a:gridCol w="2468880"/>
                <a:gridCol w="4023360"/>
                <a:gridCol w="2103120"/>
                <a:gridCol w="1804111"/>
              </a:tblGrid>
              <a:tr h="751114">
                <a:tc>
                  <a:txBody>
                    <a:bodyPr wrap="square"/>
                    <a:lstStyle/>
                    <a:p>
                      <a:pPr algn="ctr">
                        <a:defRPr sz="1250" b="1">
                          <a:solidFill>
                            <a:srgbClr val="FFFFFF"/>
                          </a:solidFill>
                          <a:latin typeface="Times New Roman"/>
                        </a:defRPr>
                      </a:pPr>
                      <a:r>
                        <a:t>Mã đề án</a:t>
                      </a:r>
                      <a:br/>
                      <a:r>
                        <a:t>(Trạm)</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Tên đề án cải tiến</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Nội dung kỹ thuật &amp; Phương án thống nhất</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Hiệu quả đạt được</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Kinh phí &amp; Tiến độ</a:t>
                      </a:r>
                    </a:p>
                  </a:txBody>
                  <a:tcPr anchor="ctr" marL="36576" marR="36576" marT="13716" marB="13716">
                    <a:solidFill>
                      <a:srgbClr val="1B365D"/>
                    </a:solidFill>
                  </a:tcPr>
                </a:tc>
              </a:tr>
              <a:tr h="751114">
                <a:tc>
                  <a:txBody>
                    <a:bodyPr wrap="square"/>
                    <a:lstStyle/>
                    <a:p>
                      <a:pPr algn="ctr">
                        <a:defRPr sz="1200" b="1">
                          <a:solidFill>
                            <a:srgbClr val="1E242B"/>
                          </a:solidFill>
                          <a:latin typeface="Times New Roman"/>
                        </a:defRPr>
                      </a:pPr>
                      <a:r>
                        <a:t>No.18</a:t>
                      </a:r>
                      <a:br/>
                      <a:r>
                        <a:t>(K1 -&gt; A-1)</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Tự động nạp Firmware /</a:t>
                      </a:r>
                      <a:br/>
                      <a:r>
                        <a:t>Nạp đồng thời 4 máy</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Thiết kế trạm A-1 cho 1 người vận hành nạp FW đồng thời 4 máy; tạm giữ cắm 2 USB song song theo kết luận DR4.</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Giảm thời gian đứng chờ nạp FW;</a:t>
                      </a:r>
                      <a:br/>
                      <a:r>
                        <a:t>Tăng năng suất trạm A-1</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Đang báo giá</a:t>
                      </a:r>
                      <a:br/>
                      <a:r>
                        <a:t>(Thiết kế chuẩn trạm A-1)</a:t>
                      </a:r>
                    </a:p>
                  </a:txBody>
                  <a:tcPr anchor="ctr" marL="36576" marR="36576" marT="13716" marB="13716">
                    <a:solidFill>
                      <a:srgbClr val="FFFFFF"/>
                    </a:solidFill>
                  </a:tcPr>
                </a:tc>
              </a:tr>
              <a:tr h="751114">
                <a:tc>
                  <a:txBody>
                    <a:bodyPr wrap="square"/>
                    <a:lstStyle/>
                    <a:p>
                      <a:pPr algn="ctr">
                        <a:defRPr sz="1200" b="1">
                          <a:solidFill>
                            <a:srgbClr val="1E242B"/>
                          </a:solidFill>
                          <a:latin typeface="Times New Roman"/>
                        </a:defRPr>
                      </a:pPr>
                      <a:r>
                        <a:t>Đề án FW</a:t>
                      </a:r>
                      <a:br/>
                      <a:r>
                        <a:t>(Trạm A-1)</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Bỏ nạp lại soft trên Line /</a:t>
                      </a:r>
                      <a:br/>
                      <a:r>
                        <a:t>Nạp sẵn tại Partner</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Chỉ nạp lại soft khi có phiên bản mới cập nhật sau xuất xưởng; bình thường Skip và đối chiếu Version qua Set Serial.</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Giảm 13s ~ 25s thao tác tay;</a:t>
                      </a:r>
                      <a:br/>
                      <a:r>
                        <a:t>Giảm 1 người tại trạm A-1</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0 VNĐ thiết bị</a:t>
                      </a:r>
                      <a:br/>
                      <a:r>
                        <a:t>(Đang chốt với Thiết kế JP)</a:t>
                      </a:r>
                    </a:p>
                  </a:txBody>
                  <a:tcPr anchor="ctr" marL="36576" marR="36576" marT="13716" marB="13716">
                    <a:solidFill>
                      <a:srgbClr val="E8EEF5"/>
                    </a:solidFill>
                  </a:tcPr>
                </a:tc>
              </a:tr>
              <a:tr h="751114">
                <a:tc>
                  <a:txBody>
                    <a:bodyPr wrap="square"/>
                    <a:lstStyle/>
                    <a:p>
                      <a:pPr algn="ctr">
                        <a:defRPr sz="1200" b="1">
                          <a:solidFill>
                            <a:srgbClr val="1E242B"/>
                          </a:solidFill>
                          <a:latin typeface="Times New Roman"/>
                        </a:defRPr>
                      </a:pPr>
                      <a:r>
                        <a:t>No.19</a:t>
                      </a:r>
                      <a:br/>
                      <a:r>
                        <a:t>(K1 -&gt; A-1)</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Không tháo lắp nắp &amp; gá FW;</a:t>
                      </a:r>
                      <a:br/>
                      <a:r>
                        <a:t>Tự động đổi tiếng Anh</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Tích hợp script tự động đổi tiếng Anh sau thiết lập ban đầu (JP đã đồng ý); tận dụng 12 bộ gá hộp mực hiện có để giảm tháo lắp.</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Giảm 55s/máy tại trạm K1;</a:t>
                      </a:r>
                      <a:br/>
                      <a:r>
                        <a:t>Giảm 11 lần cắm/rút cáp</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Đang báo giá</a:t>
                      </a:r>
                      <a:br/>
                      <a:r>
                        <a:t>(Đổi tiếng Anh: Làm ngay)</a:t>
                      </a:r>
                    </a:p>
                  </a:txBody>
                  <a:tcPr anchor="ctr" marL="36576" marR="36576" marT="13716" marB="13716">
                    <a:solidFill>
                      <a:srgbClr val="FFFFFF"/>
                    </a:solidFill>
                  </a:tcPr>
                </a:tc>
              </a:tr>
              <a:tr h="751114">
                <a:tc>
                  <a:txBody>
                    <a:bodyPr wrap="square"/>
                    <a:lstStyle/>
                    <a:p>
                      <a:pPr algn="ctr">
                        <a:defRPr sz="1200" b="1">
                          <a:solidFill>
                            <a:srgbClr val="1E242B"/>
                          </a:solidFill>
                          <a:latin typeface="Times New Roman"/>
                        </a:defRPr>
                      </a:pPr>
                      <a:r>
                        <a:t>No.20</a:t>
                      </a:r>
                      <a:br/>
                      <a:r>
                        <a:t>(K1 -&gt; A-1)</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Truyền log qua mạng LAN &amp;</a:t>
                      </a:r>
                      <a:br/>
                      <a:r>
                        <a:t>Bỏ test khay không tải</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Truyền trực tiếp file log kiểm tra về Host PC qua mạng nội bộ; nộp dữ liệu độ bền bản lề xin QA duyệt bỏ test khay không tải.</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Giảm 10s lấy log USB;</a:t>
                      </a:r>
                      <a:br/>
                      <a:r>
                        <a:t>Giảm 5s thử khay không tải</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Đang báo giá</a:t>
                      </a:r>
                      <a:br/>
                      <a:r>
                        <a:t>(Tích hợp mạng Spica)</a:t>
                      </a:r>
                    </a:p>
                  </a:txBody>
                  <a:tcPr anchor="ctr" marL="36576" marR="36576" marT="13716" marB="13716">
                    <a:solidFill>
                      <a:srgbClr val="F7F9FC"/>
                    </a:solidFill>
                  </a:tcPr>
                </a:tc>
              </a:tr>
              <a:tr h="751114">
                <a:tc>
                  <a:txBody>
                    <a:bodyPr wrap="square"/>
                    <a:lstStyle/>
                    <a:p>
                      <a:pPr algn="ctr">
                        <a:defRPr sz="1200" b="1">
                          <a:solidFill>
                            <a:srgbClr val="1E242B"/>
                          </a:solidFill>
                          <a:latin typeface="Times New Roman"/>
                        </a:defRPr>
                      </a:pPr>
                      <a:r>
                        <a:t>No.21</a:t>
                      </a:r>
                      <a:br/>
                      <a:r>
                        <a:t>(K2 -&gt; A-2)</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Đồ gá kết nối nhanh Option</a:t>
                      </a:r>
                      <a:br/>
                      <a:r>
                        <a:t>(1 chạm / nam châm)</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Hủy ý tưởng dùng Robot cắm giắc; chuyển sang làm đồ gá 1 chạm / nam châm định vị giúp thao tác cắm cổng Option trong 40s.</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Giảm 45s ~ 50s/máy;</a:t>
                      </a:r>
                      <a:br/>
                      <a:r>
                        <a:t>Chống gãy chân giắc Option</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Đang báo giá</a:t>
                      </a:r>
                      <a:br/>
                      <a:r>
                        <a:t>(Đang chế tạo thử nghiệm)</a:t>
                      </a:r>
                    </a:p>
                  </a:txBody>
                  <a:tcPr anchor="ctr" marL="36576" marR="36576" marT="13716" marB="13716">
                    <a:solidFill>
                      <a:srgbClr val="FFFFFF"/>
                    </a:solidFill>
                  </a:tcPr>
                </a:tc>
              </a:tr>
              <a:tr h="751116">
                <a:tc>
                  <a:txBody>
                    <a:bodyPr wrap="square"/>
                    <a:lstStyle/>
                    <a:p>
                      <a:pPr algn="ctr">
                        <a:defRPr sz="1200" b="1">
                          <a:solidFill>
                            <a:srgbClr val="1E242B"/>
                          </a:solidFill>
                          <a:latin typeface="Times New Roman"/>
                        </a:defRPr>
                      </a:pPr>
                      <a:r>
                        <a:t>No.22</a:t>
                      </a:r>
                      <a:br/>
                      <a:r>
                        <a:t>(K3 -&gt; A-3)</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Tự động kiểm tra an toàn điện</a:t>
                      </a:r>
                      <a:br/>
                      <a:r>
                        <a:t>(Đo khi đóng kín nắp)</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Chế tạo JIG tự động PLC FX5U + SMC đo thông mạch tiếp đất và chịu áp cách điện ở trạng thái ĐÃ ĐÓNG KÍN VỎ MÁY theo chuẩn DR4.</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Giảm 30s/máy;</a:t>
                      </a:r>
                      <a:br/>
                      <a:r>
                        <a:t>Tiết kiệm 29,6 triệu VNĐ/năm;</a:t>
                      </a:r>
                      <a:br/>
                      <a:r>
                        <a:t>Chống sót bước an toàn điện</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101.690.000 VNĐ</a:t>
                      </a:r>
                      <a:br/>
                      <a:r>
                        <a:t>(3.911,15 USD / BOM 25 mục)</a:t>
                      </a:r>
                      <a:br/>
                      <a:r>
                        <a:t>[Đề nghị duyệt Đợt 1]</a:t>
                      </a:r>
                    </a:p>
                  </a:txBody>
                  <a:tcPr anchor="ctr" marL="36576" marR="36576" marT="13716" marB="13716">
                    <a:solidFill>
                      <a:srgbClr val="EAF7EE"/>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4.3 ĐỀ ÁN VN (HÌNH ẢNH)</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Chi tiết các đề án tự động hóa của Việt Nam: Cụm Hình ảnh &amp; Xuất hàng (No.23 ~ No.28)</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8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 Giải quyết nút thắt lớn nhất tại cụm Hình ảnh bằng Quét DP liên tục (No.25 thay Robot No.23) và Camera HIKROBOT đo nồng độ/lề (No.27, giảm 177s~215s/máy).</a:t>
            </a:r>
          </a:p>
        </p:txBody>
      </p:sp>
      <p:graphicFrame>
        <p:nvGraphicFramePr>
          <p:cNvPr id="7" name="Table 6"/>
          <p:cNvGraphicFramePr>
            <a:graphicFrameLocks noGrp="1"/>
          </p:cNvGraphicFramePr>
          <p:nvPr/>
        </p:nvGraphicFramePr>
        <p:xfrm>
          <a:off x="256032" y="1234440"/>
          <a:ext cx="11679631" cy="3931920"/>
        </p:xfrm>
        <a:graphic>
          <a:graphicData uri="http://schemas.openxmlformats.org/drawingml/2006/table">
            <a:tbl>
              <a:tblPr firstRow="1" bandRow="1">
                <a:tableStyleId>{5C22544A-7EE6-4342-B048-85BDC9FD1C3A}</a:tableStyleId>
              </a:tblPr>
              <a:tblGrid>
                <a:gridCol w="1280160"/>
                <a:gridCol w="2468880"/>
                <a:gridCol w="4023360"/>
                <a:gridCol w="2103120"/>
                <a:gridCol w="1804111"/>
              </a:tblGrid>
              <a:tr h="655320">
                <a:tc>
                  <a:txBody>
                    <a:bodyPr wrap="square"/>
                    <a:lstStyle/>
                    <a:p>
                      <a:pPr algn="ctr">
                        <a:defRPr sz="1250" b="1">
                          <a:solidFill>
                            <a:srgbClr val="FFFFFF"/>
                          </a:solidFill>
                          <a:latin typeface="Times New Roman"/>
                        </a:defRPr>
                      </a:pPr>
                      <a:r>
                        <a:t>Mã đề án</a:t>
                      </a:r>
                      <a:br/>
                      <a:r>
                        <a:t>(Trạm)</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Tên đề án tự động hóa</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Nội dung kỹ thuật &amp; Phương án tối ưu chi phí sau DR4</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Hiệu quả đạt được</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Kinh phí &amp; Đánh giá</a:t>
                      </a:r>
                    </a:p>
                  </a:txBody>
                  <a:tcPr anchor="ctr" marL="36576" marR="36576" marT="13716" marB="13716">
                    <a:solidFill>
                      <a:srgbClr val="1B365D"/>
                    </a:solidFill>
                  </a:tcPr>
                </a:tc>
              </a:tr>
              <a:tr h="655320">
                <a:tc>
                  <a:txBody>
                    <a:bodyPr wrap="square"/>
                    <a:lstStyle/>
                    <a:p>
                      <a:pPr algn="ctr">
                        <a:defRPr sz="1200" b="1">
                          <a:solidFill>
                            <a:srgbClr val="1E242B"/>
                          </a:solidFill>
                          <a:latin typeface="Times New Roman"/>
                        </a:defRPr>
                      </a:pPr>
                      <a:r>
                        <a:t>No.23</a:t>
                      </a:r>
                      <a:br/>
                      <a:r>
                        <a:t>(K4 -&gt; A-2)</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Tự động nạp bản thảo ISU</a:t>
                      </a:r>
                      <a:br/>
                      <a:r>
                        <a:t>(Robot ISU -&gt; Đổi sang DP)</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Hủy phương án Robot đặt bản thảo lên kính (650 triệu / 25.000 USD) vì đắt và thu hồi vốn lâu; chuyển sang dùng khay nạp DP kéo quét liên tục.</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Giảm 110s đặt bản thảo;</a:t>
                      </a:r>
                      <a:br/>
                      <a:r>
                        <a:t>Tiết kiệm 108,5 triệu VNĐ/năm</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Báo giá Robot: 650 tr VNĐ</a:t>
                      </a:r>
                      <a:br/>
                      <a:r>
                        <a:t>-&gt; Đổi sang dùng khay DP</a:t>
                      </a:r>
                    </a:p>
                  </a:txBody>
                  <a:tcPr anchor="ctr" marL="36576" marR="36576" marT="13716" marB="13716">
                    <a:solidFill>
                      <a:srgbClr val="E8EEF5"/>
                    </a:solidFill>
                  </a:tcPr>
                </a:tc>
              </a:tr>
              <a:tr h="655320">
                <a:tc>
                  <a:txBody>
                    <a:bodyPr wrap="square"/>
                    <a:lstStyle/>
                    <a:p>
                      <a:pPr algn="ctr">
                        <a:defRPr sz="1200" b="1">
                          <a:solidFill>
                            <a:srgbClr val="1E242B"/>
                          </a:solidFill>
                          <a:latin typeface="Times New Roman"/>
                        </a:defRPr>
                      </a:pPr>
                      <a:r>
                        <a:t>No.24</a:t>
                      </a:r>
                      <a:br/>
                      <a:r>
                        <a:t>(K4 -&gt; A-2)</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Kiểm tra nhận diện USB &amp;</a:t>
                      </a:r>
                      <a:br/>
                      <a:r>
                        <a:t>Tọa độ U201 trên Panel</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Hủy đầu tư Robot USB + chấm U201 (104 triệu / 4.000 USD); thay bằng đọc log U201 qua Host PC (JP No.3) và xác nhận USB khi nạp FW đầu chuyền.</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Giảm 30s/máy;</a:t>
                      </a:r>
                      <a:br/>
                      <a:r>
                        <a:t>Tiết kiệm 29,6 triệu VNĐ/năm</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Báo giá Robot: 104 tr VNĐ</a:t>
                      </a:r>
                      <a:br/>
                      <a:r>
                        <a:t>-&gt; Thay bằng Host PC (0đ)</a:t>
                      </a:r>
                    </a:p>
                  </a:txBody>
                  <a:tcPr anchor="ctr" marL="36576" marR="36576" marT="13716" marB="13716">
                    <a:solidFill>
                      <a:srgbClr val="E8EEF5"/>
                    </a:solidFill>
                  </a:tcPr>
                </a:tc>
              </a:tr>
              <a:tr h="655320">
                <a:tc>
                  <a:txBody>
                    <a:bodyPr wrap="square"/>
                    <a:lstStyle/>
                    <a:p>
                      <a:pPr algn="ctr">
                        <a:defRPr sz="1200" b="1">
                          <a:solidFill>
                            <a:srgbClr val="1E242B"/>
                          </a:solidFill>
                          <a:latin typeface="Times New Roman"/>
                        </a:defRPr>
                      </a:pPr>
                      <a:r>
                        <a:t>No.25</a:t>
                      </a:r>
                      <a:br/>
                      <a:r>
                        <a:t>(K4/5 -&gt; A-2)</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Lắp khay DP vào máy test</a:t>
                      </a:r>
                      <a:br/>
                      <a:r>
                        <a:t>để quét liên tục + PC chấm</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Lắp bổ sung bộ nạp DP lên máy thực nghiệm; đặt cả xấp bản in vào khay DP để máy tự kéo quét liên tục, gửi ảnh về PC tự động chấm điểm.</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Giảm 110s đặt bản thảo K5;</a:t>
                      </a:r>
                      <a:br/>
                      <a:r>
                        <a:t>Rút ngắn mạnh cụm 6 người</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Đang lấy báo giá</a:t>
                      </a:r>
                      <a:br/>
                      <a:r>
                        <a:t>(Đang kiểm chứng độ nét)</a:t>
                      </a:r>
                    </a:p>
                  </a:txBody>
                  <a:tcPr anchor="ctr" marL="36576" marR="36576" marT="13716" marB="13716">
                    <a:solidFill>
                      <a:srgbClr val="EAF7EE"/>
                    </a:solidFill>
                  </a:tcPr>
                </a:tc>
              </a:tr>
              <a:tr h="655320">
                <a:tc>
                  <a:txBody>
                    <a:bodyPr wrap="square"/>
                    <a:lstStyle/>
                    <a:p>
                      <a:pPr algn="ctr">
                        <a:defRPr sz="1200" b="1">
                          <a:solidFill>
                            <a:srgbClr val="1E242B"/>
                          </a:solidFill>
                          <a:latin typeface="Times New Roman"/>
                        </a:defRPr>
                      </a:pPr>
                      <a:r>
                        <a:t>No.27</a:t>
                      </a:r>
                      <a:br/>
                      <a:r>
                        <a:t>(K6/7 -&gt; A-3)</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Camera HIKROBOT đo nồng</a:t>
                      </a:r>
                      <a:br/>
                      <a:r>
                        <a:t>độ màu, đo lề bản in &amp; PPT</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Buồng chụp Camera công nghiệp: Chụp và phân tích nồng độ 3 tờ trong 15s (thay vì đo tay 192s); tích hợp thuật toán tự động đo lề bản in (-28s).</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Giảm 177s đo nồng độ;</a:t>
                      </a:r>
                      <a:br/>
                      <a:r>
                        <a:t>Giảm 205s~215s khi gộp đo lề;</a:t>
                      </a:r>
                      <a:br/>
                      <a:r>
                        <a:t>Giảm ~2 người cụm ảnh</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Đang lấy báo giá</a:t>
                      </a:r>
                      <a:br/>
                      <a:r>
                        <a:t>(Đang chế tạo module thử)</a:t>
                      </a:r>
                    </a:p>
                  </a:txBody>
                  <a:tcPr anchor="ctr" marL="36576" marR="36576" marT="13716" marB="13716">
                    <a:solidFill>
                      <a:srgbClr val="EAF7EE"/>
                    </a:solidFill>
                  </a:tcPr>
                </a:tc>
              </a:tr>
              <a:tr h="655320">
                <a:tc>
                  <a:txBody>
                    <a:bodyPr wrap="square"/>
                    <a:lstStyle/>
                    <a:p>
                      <a:pPr algn="ctr">
                        <a:defRPr sz="1200" b="1">
                          <a:solidFill>
                            <a:srgbClr val="1E242B"/>
                          </a:solidFill>
                          <a:latin typeface="Times New Roman"/>
                        </a:defRPr>
                      </a:pPr>
                      <a:r>
                        <a:t>No.28</a:t>
                      </a:r>
                      <a:br/>
                      <a:r>
                        <a:t>(K8 -&gt; A-4)</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Thiết lập xuất hàng mạng &amp;</a:t>
                      </a:r>
                      <a:br/>
                      <a:r>
                        <a:t>AI phân tích video thao tác</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Tự động gửi lệnh thiết lập xuất hàng (FinalSetup) từ Host PC qua mạng nội bộ (-50s); dùng phần mềm AI bóc tách động tác thừa qua video.</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Giảm 50s tại trạm xuất hàng;</a:t>
                      </a:r>
                      <a:br/>
                      <a:r>
                        <a:t>Chuẩn hóa thao tác toàn chuyền</a:t>
                      </a:r>
                    </a:p>
                  </a:txBody>
                  <a:tcPr anchor="ctr" marL="36576" marR="36576" marT="13716" marB="13716">
                    <a:solidFill>
                      <a:srgbClr val="FFFFFF"/>
                    </a:solidFill>
                  </a:tcPr>
                </a:tc>
                <a:tc>
                  <a:txBody>
                    <a:bodyPr wrap="square"/>
                    <a:lstStyle/>
                    <a:p>
                      <a:pPr algn="l">
                        <a:defRPr sz="1200" b="1">
                          <a:solidFill>
                            <a:srgbClr val="1E6E3E"/>
                          </a:solidFill>
                          <a:latin typeface="Times New Roman"/>
                        </a:defRPr>
                      </a:pPr>
                      <a:r>
                        <a:t>Đang lấy báo giá</a:t>
                      </a:r>
                      <a:br/>
                      <a:r>
                        <a:t>(Triển khai ngay lệnh mạng)</a:t>
                      </a:r>
                    </a:p>
                  </a:txBody>
                  <a:tcPr anchor="ctr" marL="36576" marR="36576" marT="13716" marB="13716">
                    <a:solidFill>
                      <a:srgbClr val="FFFFFF"/>
                    </a:solidFill>
                  </a:tcPr>
                </a:tc>
              </a:tr>
            </a:tbl>
          </a:graphicData>
        </a:graphic>
      </p:graphicFrame>
      <p:sp>
        <p:nvSpPr>
          <p:cNvPr id="8" name="Rectangle 7"/>
          <p:cNvSpPr/>
          <p:nvPr/>
        </p:nvSpPr>
        <p:spPr>
          <a:xfrm>
            <a:off x="256032" y="5257800"/>
            <a:ext cx="11679631" cy="1280160"/>
          </a:xfrm>
          <a:prstGeom prst="rect">
            <a:avLst/>
          </a:prstGeom>
          <a:solidFill>
            <a:srgbClr val="EAF7EE"/>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5257800"/>
            <a:ext cx="11679631" cy="347472"/>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TỔNG KẾT TỐI ƯU CHI PHÍ SAU DR4: THAY ROBOT ĐẮT TIỀN BẰNG KHAY DP VÀ LỆNH MẠNG HOST PC</a:t>
            </a:r>
          </a:p>
        </p:txBody>
      </p:sp>
      <p:sp>
        <p:nvSpPr>
          <p:cNvPr id="10" name="TextBox 9"/>
          <p:cNvSpPr txBox="1"/>
          <p:nvPr/>
        </p:nvSpPr>
        <p:spPr>
          <a:xfrm>
            <a:off x="347472" y="5641848"/>
            <a:ext cx="11496751" cy="859536"/>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 Tổng 3 đề án có giá ban đầu: No.22 (101,69tr) + No.23 Robot ISU (650tr) + No.24 Robot USB/U201 (104tr) = 855,69 triệu VNĐ (32.911,15 USD).</a:t>
            </a:r>
          </a:p>
          <a:p>
            <a:pPr>
              <a:spcAft>
                <a:spcPts val="300"/>
              </a:spcAft>
              <a:defRPr sz="1200">
                <a:solidFill>
                  <a:srgbClr val="1E242B"/>
                </a:solidFill>
                <a:latin typeface="Times New Roman"/>
              </a:defRPr>
            </a:pPr>
            <a:r>
              <a:t>• Đề xuất tối ưu sau DR4: Hủy 2 Robot đắt tiền (No.23 &amp; No.24 = 754 triệu VNĐ), thay bằng khay nạp DP No.25 và đọc log Host PC. Đợt 1 chỉ cần duyệt trước Đề án No.22 là 101.690.000 VNĐ (3.911,15 USD) và tập trung ngân sách Đợt 2 cho Camera No.27 (-177s) cùng khay DP No.25.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4.4 ĐỀ ÁN VN BỔ SUNG</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Chi tiết 9 đề án Việt Nam bổ sung đợt 2 (No.29 ~ No.37) và Thực tích PDCA tháng 10/2026</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9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 9 đề án bổ sung tập trung cải tiến mạch/soft tự chẩn đoán và gộp các tờ in test với chi phí thấp; tháng 10/2026 đã hoàn thành xóa 4 bước thao tác trên SOP (-4,32s/máy).</a:t>
            </a:r>
          </a:p>
        </p:txBody>
      </p:sp>
      <p:graphicFrame>
        <p:nvGraphicFramePr>
          <p:cNvPr id="7" name="Table 6"/>
          <p:cNvGraphicFramePr>
            <a:graphicFrameLocks noGrp="1"/>
          </p:cNvGraphicFramePr>
          <p:nvPr/>
        </p:nvGraphicFramePr>
        <p:xfrm>
          <a:off x="256032" y="1234440"/>
          <a:ext cx="11679631" cy="5257800"/>
        </p:xfrm>
        <a:graphic>
          <a:graphicData uri="http://schemas.openxmlformats.org/drawingml/2006/table">
            <a:tbl>
              <a:tblPr firstRow="1" bandRow="1">
                <a:tableStyleId>{5C22544A-7EE6-4342-B048-85BDC9FD1C3A}</a:tableStyleId>
              </a:tblPr>
              <a:tblGrid>
                <a:gridCol w="1371600"/>
                <a:gridCol w="3108960"/>
                <a:gridCol w="4754880"/>
                <a:gridCol w="2444191"/>
              </a:tblGrid>
              <a:tr h="657225">
                <a:tc>
                  <a:txBody>
                    <a:bodyPr wrap="square"/>
                    <a:lstStyle/>
                    <a:p>
                      <a:pPr algn="ctr">
                        <a:defRPr sz="1250" b="1">
                          <a:solidFill>
                            <a:srgbClr val="FFFFFF"/>
                          </a:solidFill>
                          <a:latin typeface="Times New Roman"/>
                        </a:defRPr>
                      </a:pPr>
                      <a:r>
                        <a:t>Mã đề án</a:t>
                      </a:r>
                      <a:br/>
                      <a:r>
                        <a:t>(Trạm)</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Tên đề án bổ sung của Việt Nam</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Nội dung cải tiến &amp; Tích hợp bản in / câu lệnh</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Hiệu quả &amp; Trạng thái</a:t>
                      </a:r>
                    </a:p>
                  </a:txBody>
                  <a:tcPr anchor="ctr" marL="36576" marR="36576" marT="13716" marB="13716">
                    <a:solidFill>
                      <a:srgbClr val="1B365D"/>
                    </a:solidFill>
                  </a:tcPr>
                </a:tc>
              </a:tr>
              <a:tr h="657225">
                <a:tc>
                  <a:txBody>
                    <a:bodyPr wrap="square"/>
                    <a:lstStyle/>
                    <a:p>
                      <a:pPr algn="ctr">
                        <a:defRPr sz="1200" b="1">
                          <a:solidFill>
                            <a:srgbClr val="1E242B"/>
                          </a:solidFill>
                          <a:latin typeface="Times New Roman"/>
                        </a:defRPr>
                      </a:pPr>
                      <a:r>
                        <a:t>No.29 &amp; 30</a:t>
                      </a:r>
                      <a:br/>
                      <a:r>
                        <a:t>(A-1 / K1)</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Tự kiểm tra hộp mực (No.29) &amp;</a:t>
                      </a:r>
                      <a:br/>
                      <a:r>
                        <a:t>Đọc Barcode, bỏ WTB U155 (No.30)</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Cải tiến FW nhận diện hộp mực không cần lắp gá; tự động đọc Barcode; thêm Push Switch và đo điện trở Sub-Assy xóa hẳn cài đặt U155.</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Bỏ lắp gá mực (0đ thiết bị);</a:t>
                      </a:r>
                      <a:br/>
                      <a:r>
                        <a:t>Giảm 29s chuẩn (Đã duyệt xóa U155)</a:t>
                      </a:r>
                    </a:p>
                  </a:txBody>
                  <a:tcPr anchor="ctr" marL="36576" marR="36576" marT="13716" marB="13716">
                    <a:solidFill>
                      <a:srgbClr val="EAF7EE"/>
                    </a:solidFill>
                  </a:tcPr>
                </a:tc>
              </a:tr>
              <a:tr h="657225">
                <a:tc>
                  <a:txBody>
                    <a:bodyPr wrap="square"/>
                    <a:lstStyle/>
                    <a:p>
                      <a:pPr algn="ctr">
                        <a:defRPr sz="1200" b="1">
                          <a:solidFill>
                            <a:srgbClr val="1E242B"/>
                          </a:solidFill>
                          <a:latin typeface="Times New Roman"/>
                        </a:defRPr>
                      </a:pPr>
                      <a:r>
                        <a:t>No.31</a:t>
                      </a:r>
                      <a:br/>
                      <a:r>
                        <a:t>(A-2 / A-5)</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Tích hợp 2Way Clutch vào Color Regist</a:t>
                      </a:r>
                      <a:br/>
                      <a:r>
                        <a:t>-&gt; Hủy tờ in RCG trước U950</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Kiểm tra 2Way Clutch chung vào tờ Color Regist để xóa hẳn tờ RCG trước U950; làm cơ cấu thử tải khay giấy tự động.</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Giảm 17s~25s (Bỏ 1 tờ in RCG);</a:t>
                      </a:r>
                      <a:br/>
                      <a:r>
                        <a:t>Giảm 20s thử khay có tải</a:t>
                      </a:r>
                    </a:p>
                  </a:txBody>
                  <a:tcPr anchor="ctr" marL="36576" marR="36576" marT="13716" marB="13716">
                    <a:solidFill>
                      <a:srgbClr val="F7F9FC"/>
                    </a:solidFill>
                  </a:tcPr>
                </a:tc>
              </a:tr>
              <a:tr h="657225">
                <a:tc>
                  <a:txBody>
                    <a:bodyPr wrap="square"/>
                    <a:lstStyle/>
                    <a:p>
                      <a:pPr algn="ctr">
                        <a:defRPr sz="1200" b="1">
                          <a:solidFill>
                            <a:srgbClr val="1E242B"/>
                          </a:solidFill>
                          <a:latin typeface="Times New Roman"/>
                        </a:defRPr>
                      </a:pPr>
                      <a:r>
                        <a:t>No.32</a:t>
                      </a:r>
                      <a:br/>
                      <a:r>
                        <a:t>(A-2 / A-7)</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Rút ngắn Aging U950 (285s) &amp;</a:t>
                      </a:r>
                      <a:br/>
                      <a:r>
                        <a:t>Kiểm tra Option không cần cắm cáp</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Rà soát lại thông số kỹ thuật để rút ngắn chu kỳ Aging U950 (285s); cải tiến FW tự chẩn đoán kết nối Option không cần cắm dây.</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Rút ngắn chu kỳ chờ Aging 285s;</a:t>
                      </a:r>
                      <a:br/>
                      <a:r>
                        <a:t>Đang xem xét cùng Thiết kế JP</a:t>
                      </a:r>
                    </a:p>
                  </a:txBody>
                  <a:tcPr anchor="ctr" marL="36576" marR="36576" marT="13716" marB="13716">
                    <a:solidFill>
                      <a:srgbClr val="FFFFFF"/>
                    </a:solidFill>
                  </a:tcPr>
                </a:tc>
              </a:tr>
              <a:tr h="657225">
                <a:tc>
                  <a:txBody>
                    <a:bodyPr wrap="square"/>
                    <a:lstStyle/>
                    <a:p>
                      <a:pPr algn="ctr">
                        <a:defRPr sz="1200" b="1">
                          <a:solidFill>
                            <a:srgbClr val="1E242B"/>
                          </a:solidFill>
                          <a:latin typeface="Times New Roman"/>
                        </a:defRPr>
                      </a:pPr>
                      <a:r>
                        <a:t>No.33</a:t>
                      </a:r>
                      <a:br/>
                      <a:r>
                        <a:t>(A-3 / A-8)</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Gộp RCG Ledger vào Color Regist;</a:t>
                      </a:r>
                      <a:br/>
                      <a:r>
                        <a:t>Chuyển lắp 6 vỏ ngoài về Lắp ráp</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Gộp đo góc vuông Ledger vào tờ Color Regist để xóa tờ Ledger; chuyển nguyên công lắp 6 tấm vỏ ngoài về cuối chuyền Lắp ráp.</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Giảm 1 tờ in (RCG Ledger: -32s);</a:t>
                      </a:r>
                      <a:br/>
                      <a:r>
                        <a:t>Chuyển 48s~90s lắp vỏ về Lắp ráp</a:t>
                      </a:r>
                    </a:p>
                  </a:txBody>
                  <a:tcPr anchor="ctr" marL="36576" marR="36576" marT="13716" marB="13716">
                    <a:solidFill>
                      <a:srgbClr val="EAF7EE"/>
                    </a:solidFill>
                  </a:tcPr>
                </a:tc>
              </a:tr>
              <a:tr h="657225">
                <a:tc>
                  <a:txBody>
                    <a:bodyPr wrap="square"/>
                    <a:lstStyle/>
                    <a:p>
                      <a:pPr algn="ctr">
                        <a:defRPr sz="1200" b="1">
                          <a:solidFill>
                            <a:srgbClr val="1E242B"/>
                          </a:solidFill>
                          <a:latin typeface="Times New Roman"/>
                        </a:defRPr>
                      </a:pPr>
                      <a:r>
                        <a:t>No.34</a:t>
                      </a:r>
                      <a:br/>
                      <a:r>
                        <a:t>(A-3 / A-8)</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Gộp RCG LSU SKEW vào Color Regist;</a:t>
                      </a:r>
                      <a:br/>
                      <a:r>
                        <a:t>Tự động nhận diện khổ giấy khay 1/2</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Tích hợp mẫu đo nghiêng tia laser vào tờ Color Regist để xóa tờ LSU Skew; Host PC gửi lệnh tự động nhận diện cảm biến khổ giấy.</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Giảm 1 tờ in (LSU Skew: -37s);</a:t>
                      </a:r>
                      <a:br/>
                      <a:r>
                        <a:t>Giảm 66,7s kiểm tra khay 1/2</a:t>
                      </a:r>
                    </a:p>
                  </a:txBody>
                  <a:tcPr anchor="ctr" marL="36576" marR="36576" marT="13716" marB="13716">
                    <a:solidFill>
                      <a:srgbClr val="FFFFFF"/>
                    </a:solidFill>
                  </a:tcPr>
                </a:tc>
              </a:tr>
              <a:tr h="657225">
                <a:tc>
                  <a:txBody>
                    <a:bodyPr wrap="square"/>
                    <a:lstStyle/>
                    <a:p>
                      <a:pPr algn="ctr">
                        <a:defRPr sz="1200" b="1">
                          <a:solidFill>
                            <a:srgbClr val="1E242B"/>
                          </a:solidFill>
                          <a:latin typeface="Times New Roman"/>
                        </a:defRPr>
                      </a:pPr>
                      <a:r>
                        <a:t>No.35 &amp; 36</a:t>
                      </a:r>
                      <a:br/>
                      <a:r>
                        <a:t>(A-4 / A-8)</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Gộp Calibration U410 thành 1 lệnh;</a:t>
                      </a:r>
                      <a:br/>
                      <a:r>
                        <a:t>Gộp Halftone Mono vào Check Black</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Gộp bước Calibration vào chung 1 lệnh khi chạy Halftone U410; gộp mẫu Mono vào tờ Check Black để xóa tờ Mono; tự kiểm tra công tắc nắp.</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Giảm 1 tờ in (Mono: -110s K5);</a:t>
                      </a:r>
                      <a:br/>
                      <a:r>
                        <a:t>Giảm 8,9s kiểm tra công tắc nắp</a:t>
                      </a:r>
                    </a:p>
                  </a:txBody>
                  <a:tcPr anchor="ctr" marL="36576" marR="36576" marT="13716" marB="13716">
                    <a:solidFill>
                      <a:srgbClr val="F7F9FC"/>
                    </a:solidFill>
                  </a:tcPr>
                </a:tc>
              </a:tr>
              <a:tr h="657225">
                <a:tc>
                  <a:txBody>
                    <a:bodyPr wrap="square"/>
                    <a:lstStyle/>
                    <a:p>
                      <a:pPr algn="ctr">
                        <a:defRPr sz="1200" b="1">
                          <a:solidFill>
                            <a:srgbClr val="1E242B"/>
                          </a:solidFill>
                          <a:latin typeface="Times New Roman"/>
                        </a:defRPr>
                      </a:pPr>
                      <a:r>
                        <a:t>Thực tích</a:t>
                      </a:r>
                      <a:br/>
                      <a:r>
                        <a:t>T10/2026</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【ĐÃ HOÀN THÀNH THÁNG 10/2026】</a:t>
                      </a:r>
                      <a:br/>
                      <a:r>
                        <a:t>Xóa 4 bước thao tác trên bảng SOP</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Xóa 2 bước bấm chọn tiếng Anh (1,44s) và 2 bước nhìn chờ cảnh báo Toner (2,88s). Đã xác nhận không cần thao tác tay và xóa khỏi SOP.</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ĐÃ GIẢM THỰC TẾ: -4,32s / MÁY</a:t>
                      </a:r>
                      <a:br/>
                      <a:r>
                        <a:t>(Mục tiêu PDCA KDTVN-PE-3)</a:t>
                      </a:r>
                    </a:p>
                  </a:txBody>
                  <a:tcPr anchor="ctr" marL="36576" marR="36576" marT="13716" marB="13716">
                    <a:solidFill>
                      <a:srgbClr val="E8EEF5"/>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4.5 DỰ TOÁN &amp; PHÊ DUYỆT</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Chi tiết dự toán BOM 25 mục Đề án No.22 (101,69 triệu VNĐ) và 2 Phương án trình phê duyệt</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10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 Đề nghị phê duyệt Phương án A (Triển khai ngay Đề án No.22: 101.690.000 VNĐ / 3.911,15 USD) hoặc Phương án B (Trọn gói 3 đề án trong file: 855.690.000 VNĐ / 32.911,15 USD).</a:t>
            </a:r>
          </a:p>
        </p:txBody>
      </p:sp>
      <p:graphicFrame>
        <p:nvGraphicFramePr>
          <p:cNvPr id="7" name="Table 6"/>
          <p:cNvGraphicFramePr>
            <a:graphicFrameLocks noGrp="1"/>
          </p:cNvGraphicFramePr>
          <p:nvPr/>
        </p:nvGraphicFramePr>
        <p:xfrm>
          <a:off x="256032" y="1234440"/>
          <a:ext cx="6217920" cy="5257800"/>
        </p:xfrm>
        <a:graphic>
          <a:graphicData uri="http://schemas.openxmlformats.org/drawingml/2006/table">
            <a:tbl>
              <a:tblPr firstRow="1" bandRow="1">
                <a:tableStyleId>{5C22544A-7EE6-4342-B048-85BDC9FD1C3A}</a:tableStyleId>
              </a:tblPr>
              <a:tblGrid>
                <a:gridCol w="2103120"/>
                <a:gridCol w="1463040"/>
                <a:gridCol w="1280160"/>
                <a:gridCol w="1371600"/>
              </a:tblGrid>
              <a:tr h="657225">
                <a:tc>
                  <a:txBody>
                    <a:bodyPr wrap="square"/>
                    <a:lstStyle/>
                    <a:p>
                      <a:pPr algn="ctr">
                        <a:defRPr sz="1250" b="1">
                          <a:solidFill>
                            <a:srgbClr val="FFFFFF"/>
                          </a:solidFill>
                          <a:latin typeface="Times New Roman"/>
                        </a:defRPr>
                      </a:pPr>
                      <a:r>
                        <a:t>Nhóm linh kiện BOM No.22</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Thành tiền (VNĐ)</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Quy đổi (USD)</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Tỷ trọng BOM</a:t>
                      </a:r>
                    </a:p>
                  </a:txBody>
                  <a:tcPr anchor="ctr" marL="36576" marR="36576" marT="13716" marB="13716">
                    <a:solidFill>
                      <a:srgbClr val="1B365D"/>
                    </a:solidFill>
                  </a:tcPr>
                </a:tc>
              </a:tr>
              <a:tr h="657225">
                <a:tc>
                  <a:txBody>
                    <a:bodyPr wrap="square"/>
                    <a:lstStyle/>
                    <a:p>
                      <a:pPr algn="l">
                        <a:defRPr sz="1200" b="1">
                          <a:solidFill>
                            <a:srgbClr val="1E242B"/>
                          </a:solidFill>
                          <a:latin typeface="Times New Roman"/>
                        </a:defRPr>
                      </a:pPr>
                      <a:r>
                        <a:t>1. Khí nén SMC (Van SY5120 &amp; 6 Xylanh)</a:t>
                      </a:r>
                    </a:p>
                  </a:txBody>
                  <a:tcPr anchor="ctr" marL="36576" marR="36576" marT="13716" marB="13716">
                    <a:solidFill>
                      <a:srgbClr val="FFFFFF"/>
                    </a:solidFill>
                  </a:tcPr>
                </a:tc>
                <a:tc>
                  <a:txBody>
                    <a:bodyPr wrap="square"/>
                    <a:lstStyle/>
                    <a:p>
                      <a:pPr algn="r">
                        <a:defRPr sz="1200">
                          <a:solidFill>
                            <a:srgbClr val="1E242B"/>
                          </a:solidFill>
                          <a:latin typeface="Times New Roman"/>
                        </a:defRPr>
                      </a:pPr>
                      <a:r>
                        <a:t>37.700.000 VNĐ</a:t>
                      </a:r>
                    </a:p>
                  </a:txBody>
                  <a:tcPr anchor="ctr" marL="36576" marR="36576" marT="13716" marB="13716">
                    <a:solidFill>
                      <a:srgbClr val="FFFFFF"/>
                    </a:solidFill>
                  </a:tcPr>
                </a:tc>
                <a:tc>
                  <a:txBody>
                    <a:bodyPr wrap="square"/>
                    <a:lstStyle/>
                    <a:p>
                      <a:pPr algn="r">
                        <a:defRPr sz="1200">
                          <a:solidFill>
                            <a:srgbClr val="1E242B"/>
                          </a:solidFill>
                          <a:latin typeface="Times New Roman"/>
                        </a:defRPr>
                      </a:pPr>
                      <a:r>
                        <a:t>1.450,00 USD</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37,1% BOM</a:t>
                      </a:r>
                    </a:p>
                  </a:txBody>
                  <a:tcPr anchor="ctr" marL="36576" marR="36576" marT="13716" marB="13716">
                    <a:solidFill>
                      <a:srgbClr val="FFFFFF"/>
                    </a:solidFill>
                  </a:tcPr>
                </a:tc>
              </a:tr>
              <a:tr h="657225">
                <a:tc>
                  <a:txBody>
                    <a:bodyPr wrap="square"/>
                    <a:lstStyle/>
                    <a:p>
                      <a:pPr algn="l">
                        <a:defRPr sz="1200" b="1">
                          <a:solidFill>
                            <a:srgbClr val="1E242B"/>
                          </a:solidFill>
                          <a:latin typeface="Times New Roman"/>
                        </a:defRPr>
                      </a:pPr>
                      <a:r>
                        <a:t>2. Gia công cơ khí &amp; vật tư phụ</a:t>
                      </a:r>
                    </a:p>
                  </a:txBody>
                  <a:tcPr anchor="ctr" marL="36576" marR="36576" marT="13716" marB="13716">
                    <a:solidFill>
                      <a:srgbClr val="F7F9FC"/>
                    </a:solidFill>
                  </a:tcPr>
                </a:tc>
                <a:tc>
                  <a:txBody>
                    <a:bodyPr wrap="square"/>
                    <a:lstStyle/>
                    <a:p>
                      <a:pPr algn="r">
                        <a:defRPr sz="1200">
                          <a:solidFill>
                            <a:srgbClr val="1E242B"/>
                          </a:solidFill>
                          <a:latin typeface="Times New Roman"/>
                        </a:defRPr>
                      </a:pPr>
                      <a:r>
                        <a:t>20.000.000 VNĐ</a:t>
                      </a:r>
                    </a:p>
                  </a:txBody>
                  <a:tcPr anchor="ctr" marL="36576" marR="36576" marT="13716" marB="13716">
                    <a:solidFill>
                      <a:srgbClr val="F7F9FC"/>
                    </a:solidFill>
                  </a:tcPr>
                </a:tc>
                <a:tc>
                  <a:txBody>
                    <a:bodyPr wrap="square"/>
                    <a:lstStyle/>
                    <a:p>
                      <a:pPr algn="r">
                        <a:defRPr sz="1200">
                          <a:solidFill>
                            <a:srgbClr val="1E242B"/>
                          </a:solidFill>
                          <a:latin typeface="Times New Roman"/>
                        </a:defRPr>
                      </a:pPr>
                      <a:r>
                        <a:t>769,23 USD</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19,7% BOM</a:t>
                      </a:r>
                    </a:p>
                  </a:txBody>
                  <a:tcPr anchor="ctr" marL="36576" marR="36576" marT="13716" marB="13716">
                    <a:solidFill>
                      <a:srgbClr val="F7F9FC"/>
                    </a:solidFill>
                  </a:tcPr>
                </a:tc>
              </a:tr>
              <a:tr h="657225">
                <a:tc>
                  <a:txBody>
                    <a:bodyPr wrap="square"/>
                    <a:lstStyle/>
                    <a:p>
                      <a:pPr algn="l">
                        <a:defRPr sz="1200" b="1">
                          <a:solidFill>
                            <a:srgbClr val="1E242B"/>
                          </a:solidFill>
                          <a:latin typeface="Times New Roman"/>
                        </a:defRPr>
                      </a:pPr>
                      <a:r>
                        <a:t>3. Điều khiển PLC FX5U, HMI &amp; Cảm biến</a:t>
                      </a:r>
                    </a:p>
                  </a:txBody>
                  <a:tcPr anchor="ctr" marL="36576" marR="36576" marT="13716" marB="13716">
                    <a:solidFill>
                      <a:srgbClr val="FFFFFF"/>
                    </a:solidFill>
                  </a:tcPr>
                </a:tc>
                <a:tc>
                  <a:txBody>
                    <a:bodyPr wrap="square"/>
                    <a:lstStyle/>
                    <a:p>
                      <a:pPr algn="r">
                        <a:defRPr sz="1200">
                          <a:solidFill>
                            <a:srgbClr val="1E242B"/>
                          </a:solidFill>
                          <a:latin typeface="Times New Roman"/>
                        </a:defRPr>
                      </a:pPr>
                      <a:r>
                        <a:t>19.500.000 VNĐ</a:t>
                      </a:r>
                    </a:p>
                  </a:txBody>
                  <a:tcPr anchor="ctr" marL="36576" marR="36576" marT="13716" marB="13716">
                    <a:solidFill>
                      <a:srgbClr val="FFFFFF"/>
                    </a:solidFill>
                  </a:tcPr>
                </a:tc>
                <a:tc>
                  <a:txBody>
                    <a:bodyPr wrap="square"/>
                    <a:lstStyle/>
                    <a:p>
                      <a:pPr algn="r">
                        <a:defRPr sz="1200">
                          <a:solidFill>
                            <a:srgbClr val="1E242B"/>
                          </a:solidFill>
                          <a:latin typeface="Times New Roman"/>
                        </a:defRPr>
                      </a:pPr>
                      <a:r>
                        <a:t>750,00 USD</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19,2% BOM</a:t>
                      </a:r>
                    </a:p>
                  </a:txBody>
                  <a:tcPr anchor="ctr" marL="36576" marR="36576" marT="13716" marB="13716">
                    <a:solidFill>
                      <a:srgbClr val="FFFFFF"/>
                    </a:solidFill>
                  </a:tcPr>
                </a:tc>
              </a:tr>
              <a:tr h="657225">
                <a:tc>
                  <a:txBody>
                    <a:bodyPr wrap="square"/>
                    <a:lstStyle/>
                    <a:p>
                      <a:pPr algn="l">
                        <a:defRPr sz="1200" b="1">
                          <a:solidFill>
                            <a:srgbClr val="1E242B"/>
                          </a:solidFill>
                          <a:latin typeface="Times New Roman"/>
                        </a:defRPr>
                      </a:pPr>
                      <a:r>
                        <a:t>4. Khung nhôm Misumi &amp; phụ kiện ke/nut</a:t>
                      </a:r>
                    </a:p>
                  </a:txBody>
                  <a:tcPr anchor="ctr" marL="36576" marR="36576" marT="13716" marB="13716">
                    <a:solidFill>
                      <a:srgbClr val="F7F9FC"/>
                    </a:solidFill>
                  </a:tcPr>
                </a:tc>
                <a:tc>
                  <a:txBody>
                    <a:bodyPr wrap="square"/>
                    <a:lstStyle/>
                    <a:p>
                      <a:pPr algn="r">
                        <a:defRPr sz="1200">
                          <a:solidFill>
                            <a:srgbClr val="1E242B"/>
                          </a:solidFill>
                          <a:latin typeface="Times New Roman"/>
                        </a:defRPr>
                      </a:pPr>
                      <a:r>
                        <a:t>12.500.000 VNĐ</a:t>
                      </a:r>
                    </a:p>
                  </a:txBody>
                  <a:tcPr anchor="ctr" marL="36576" marR="36576" marT="13716" marB="13716">
                    <a:solidFill>
                      <a:srgbClr val="F7F9FC"/>
                    </a:solidFill>
                  </a:tcPr>
                </a:tc>
                <a:tc>
                  <a:txBody>
                    <a:bodyPr wrap="square"/>
                    <a:lstStyle/>
                    <a:p>
                      <a:pPr algn="r">
                        <a:defRPr sz="1200">
                          <a:solidFill>
                            <a:srgbClr val="1E242B"/>
                          </a:solidFill>
                          <a:latin typeface="Times New Roman"/>
                        </a:defRPr>
                      </a:pPr>
                      <a:r>
                        <a:t>480,77 USD</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12,3% BOM</a:t>
                      </a:r>
                    </a:p>
                  </a:txBody>
                  <a:tcPr anchor="ctr" marL="36576" marR="36576" marT="13716" marB="13716">
                    <a:solidFill>
                      <a:srgbClr val="F7F9FC"/>
                    </a:solidFill>
                  </a:tcPr>
                </a:tc>
              </a:tr>
              <a:tr h="657225">
                <a:tc>
                  <a:txBody>
                    <a:bodyPr wrap="square"/>
                    <a:lstStyle/>
                    <a:p>
                      <a:pPr algn="l">
                        <a:defRPr sz="1200" b="1">
                          <a:solidFill>
                            <a:srgbClr val="1E242B"/>
                          </a:solidFill>
                          <a:latin typeface="Times New Roman"/>
                        </a:defRPr>
                      </a:pPr>
                      <a:r>
                        <a:t>5. Tủ điện &amp; linh kiện Omron, Contactor</a:t>
                      </a:r>
                    </a:p>
                  </a:txBody>
                  <a:tcPr anchor="ctr" marL="36576" marR="36576" marT="13716" marB="13716">
                    <a:solidFill>
                      <a:srgbClr val="FFFFFF"/>
                    </a:solidFill>
                  </a:tcPr>
                </a:tc>
                <a:tc>
                  <a:txBody>
                    <a:bodyPr wrap="square"/>
                    <a:lstStyle/>
                    <a:p>
                      <a:pPr algn="r">
                        <a:defRPr sz="1200">
                          <a:solidFill>
                            <a:srgbClr val="1E242B"/>
                          </a:solidFill>
                          <a:latin typeface="Times New Roman"/>
                        </a:defRPr>
                      </a:pPr>
                      <a:r>
                        <a:t>6.990.000 VNĐ</a:t>
                      </a:r>
                    </a:p>
                  </a:txBody>
                  <a:tcPr anchor="ctr" marL="36576" marR="36576" marT="13716" marB="13716">
                    <a:solidFill>
                      <a:srgbClr val="FFFFFF"/>
                    </a:solidFill>
                  </a:tcPr>
                </a:tc>
                <a:tc>
                  <a:txBody>
                    <a:bodyPr wrap="square"/>
                    <a:lstStyle/>
                    <a:p>
                      <a:pPr algn="r">
                        <a:defRPr sz="1200">
                          <a:solidFill>
                            <a:srgbClr val="1E242B"/>
                          </a:solidFill>
                          <a:latin typeface="Times New Roman"/>
                        </a:defRPr>
                      </a:pPr>
                      <a:r>
                        <a:t>268,85 USD</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6,9% BOM</a:t>
                      </a:r>
                    </a:p>
                  </a:txBody>
                  <a:tcPr anchor="ctr" marL="36576" marR="36576" marT="13716" marB="13716">
                    <a:solidFill>
                      <a:srgbClr val="FFFFFF"/>
                    </a:solidFill>
                  </a:tcPr>
                </a:tc>
              </a:tr>
              <a:tr h="657225">
                <a:tc>
                  <a:txBody>
                    <a:bodyPr wrap="square"/>
                    <a:lstStyle/>
                    <a:p>
                      <a:pPr algn="l">
                        <a:defRPr sz="1200" b="1">
                          <a:solidFill>
                            <a:srgbClr val="1E242B"/>
                          </a:solidFill>
                          <a:latin typeface="Times New Roman"/>
                        </a:defRPr>
                      </a:pPr>
                      <a:r>
                        <a:t>6. Vỏ tủ điện điều khiển</a:t>
                      </a:r>
                    </a:p>
                  </a:txBody>
                  <a:tcPr anchor="ctr" marL="36576" marR="36576" marT="13716" marB="13716">
                    <a:solidFill>
                      <a:srgbClr val="F7F9FC"/>
                    </a:solidFill>
                  </a:tcPr>
                </a:tc>
                <a:tc>
                  <a:txBody>
                    <a:bodyPr wrap="square"/>
                    <a:lstStyle/>
                    <a:p>
                      <a:pPr algn="r">
                        <a:defRPr sz="1200">
                          <a:solidFill>
                            <a:srgbClr val="1E242B"/>
                          </a:solidFill>
                          <a:latin typeface="Times New Roman"/>
                        </a:defRPr>
                      </a:pPr>
                      <a:r>
                        <a:t>5.000.000 VNĐ</a:t>
                      </a:r>
                    </a:p>
                  </a:txBody>
                  <a:tcPr anchor="ctr" marL="36576" marR="36576" marT="13716" marB="13716">
                    <a:solidFill>
                      <a:srgbClr val="F7F9FC"/>
                    </a:solidFill>
                  </a:tcPr>
                </a:tc>
                <a:tc>
                  <a:txBody>
                    <a:bodyPr wrap="square"/>
                    <a:lstStyle/>
                    <a:p>
                      <a:pPr algn="r">
                        <a:defRPr sz="1200">
                          <a:solidFill>
                            <a:srgbClr val="1E242B"/>
                          </a:solidFill>
                          <a:latin typeface="Times New Roman"/>
                        </a:defRPr>
                      </a:pPr>
                      <a:r>
                        <a:t>192,31 USD</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4,9% BOM</a:t>
                      </a:r>
                    </a:p>
                  </a:txBody>
                  <a:tcPr anchor="ctr" marL="36576" marR="36576" marT="13716" marB="13716">
                    <a:solidFill>
                      <a:srgbClr val="F7F9FC"/>
                    </a:solidFill>
                  </a:tcPr>
                </a:tc>
              </a:tr>
              <a:tr h="657225">
                <a:tc>
                  <a:txBody>
                    <a:bodyPr wrap="square"/>
                    <a:lstStyle/>
                    <a:p>
                      <a:pPr algn="l">
                        <a:defRPr sz="1200" b="1">
                          <a:solidFill>
                            <a:srgbClr val="1E242B"/>
                          </a:solidFill>
                          <a:latin typeface="Times New Roman"/>
                        </a:defRPr>
                      </a:pPr>
                      <a:r>
                        <a:t>TỔNG ĐỀ ÁN NO.22 (PHƯƠNG ÁN A)</a:t>
                      </a:r>
                      <a:br/>
                      <a:r>
                        <a:t>(Tự động đo thông mạch &amp; chịu áp nắp kín)</a:t>
                      </a:r>
                    </a:p>
                  </a:txBody>
                  <a:tcPr anchor="ctr" marL="36576" marR="36576" marT="13716" marB="13716">
                    <a:solidFill>
                      <a:srgbClr val="EAF7EE"/>
                    </a:solidFill>
                  </a:tcPr>
                </a:tc>
                <a:tc>
                  <a:txBody>
                    <a:bodyPr wrap="square"/>
                    <a:lstStyle/>
                    <a:p>
                      <a:pPr algn="r">
                        <a:defRPr sz="1200">
                          <a:solidFill>
                            <a:srgbClr val="1E242B"/>
                          </a:solidFill>
                          <a:latin typeface="Times New Roman"/>
                        </a:defRPr>
                      </a:pPr>
                      <a:r>
                        <a:t>101.690.000 VNĐ</a:t>
                      </a:r>
                    </a:p>
                  </a:txBody>
                  <a:tcPr anchor="ctr" marL="36576" marR="36576" marT="13716" marB="13716">
                    <a:solidFill>
                      <a:srgbClr val="EAF7EE"/>
                    </a:solidFill>
                  </a:tcPr>
                </a:tc>
                <a:tc>
                  <a:txBody>
                    <a:bodyPr wrap="square"/>
                    <a:lstStyle/>
                    <a:p>
                      <a:pPr algn="r">
                        <a:defRPr sz="1200">
                          <a:solidFill>
                            <a:srgbClr val="1E242B"/>
                          </a:solidFill>
                          <a:latin typeface="Times New Roman"/>
                        </a:defRPr>
                      </a:pPr>
                      <a:r>
                        <a:t>3.911,15 USD</a:t>
                      </a:r>
                      <a:br/>
                      <a:r>
                        <a:t>(Làm tròn: 4.000$)</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Giảm 30s/máy</a:t>
                      </a:r>
                      <a:br/>
                      <a:r>
                        <a:t>Tiết kiệm 29,6tr/năm</a:t>
                      </a:r>
                    </a:p>
                  </a:txBody>
                  <a:tcPr anchor="ctr" marL="36576" marR="36576" marT="13716" marB="13716">
                    <a:solidFill>
                      <a:srgbClr val="EAF7EE"/>
                    </a:solidFill>
                  </a:tcPr>
                </a:tc>
              </a:tr>
            </a:tbl>
          </a:graphicData>
        </a:graphic>
      </p:graphicFrame>
      <p:sp>
        <p:nvSpPr>
          <p:cNvPr id="8" name="Rectangle 7"/>
          <p:cNvSpPr/>
          <p:nvPr/>
        </p:nvSpPr>
        <p:spPr>
          <a:xfrm>
            <a:off x="6629400" y="1234440"/>
            <a:ext cx="5303520" cy="2926080"/>
          </a:xfrm>
          <a:prstGeom prst="rect">
            <a:avLst/>
          </a:prstGeom>
          <a:solidFill>
            <a:srgbClr val="EAF7EE"/>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29400" y="1234440"/>
            <a:ext cx="5303520" cy="347472"/>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HAI PHƯƠNG ÁN TRÌNH PHÊ DUYỆT KINH PHÍ ĐẦU TƯ</a:t>
            </a:r>
          </a:p>
        </p:txBody>
      </p:sp>
      <p:sp>
        <p:nvSpPr>
          <p:cNvPr id="10" name="TextBox 9"/>
          <p:cNvSpPr txBox="1"/>
          <p:nvPr/>
        </p:nvSpPr>
        <p:spPr>
          <a:xfrm>
            <a:off x="6720840" y="1618488"/>
            <a:ext cx="5120640" cy="2505456"/>
          </a:xfrm>
          <a:prstGeom prst="rect">
            <a:avLst/>
          </a:prstGeom>
          <a:noFill/>
        </p:spPr>
        <p:txBody>
          <a:bodyPr wrap="square" lIns="36576" rIns="36576" tIns="18288" bIns="18288">
            <a:spAutoFit/>
          </a:bodyPr>
          <a:lstStyle/>
          <a:p>
            <a:pPr>
              <a:spcAft>
                <a:spcPts val="300"/>
              </a:spcAft>
              <a:defRPr sz="1200" b="1">
                <a:solidFill>
                  <a:srgbClr val="1E242B"/>
                </a:solidFill>
                <a:latin typeface="Times New Roman"/>
              </a:defRPr>
            </a:pPr>
            <a:r>
              <a:t>■ PHƯƠNG ÁN A (Khuyến nghị lựa chọn — Triển khai ngay No.22):</a:t>
            </a:r>
          </a:p>
          <a:p>
            <a:pPr>
              <a:spcAft>
                <a:spcPts val="300"/>
              </a:spcAft>
              <a:defRPr sz="1200">
                <a:solidFill>
                  <a:srgbClr val="1E242B"/>
                </a:solidFill>
                <a:latin typeface="Times New Roman"/>
              </a:defRPr>
            </a:pPr>
            <a:r>
              <a:t>   • Duyệt trước Đề án No.22: 101.690.000 VNĐ (3.911,15 USD).</a:t>
            </a:r>
          </a:p>
          <a:p>
            <a:pPr>
              <a:spcAft>
                <a:spcPts val="300"/>
              </a:spcAft>
              <a:defRPr sz="1200">
                <a:solidFill>
                  <a:srgbClr val="1E242B"/>
                </a:solidFill>
                <a:latin typeface="Times New Roman"/>
              </a:defRPr>
            </a:pPr>
            <a:r>
              <a:t>   • Hiệu quả: Giảm 30s/máy, tiết kiệm 29,6 triệu VNĐ/năm, hoàn vốn ~3,4 năm.</a:t>
            </a:r>
          </a:p>
          <a:p>
            <a:pPr>
              <a:spcAft>
                <a:spcPts val="300"/>
              </a:spcAft>
              <a:defRPr sz="1200">
                <a:solidFill>
                  <a:srgbClr val="1E242B"/>
                </a:solidFill>
                <a:latin typeface="Times New Roman"/>
              </a:defRPr>
            </a:pPr>
            <a:r>
              <a:t>   • Thay Robot No.23 &amp; No.24 bằng khay DP và đọc log Host PC (tiết kiệm 754 triệu VNĐ tiền Robot).</a:t>
            </a:r>
          </a:p>
          <a:p>
            <a:pPr>
              <a:spcAft>
                <a:spcPts val="300"/>
              </a:spcAft>
              <a:defRPr sz="1200">
                <a:solidFill>
                  <a:srgbClr val="1E242B"/>
                </a:solidFill>
                <a:latin typeface="Times New Roman"/>
              </a:defRPr>
            </a:pPr>
            <a:r>
              <a:t>   • Các mục Camera No.27 (-177s) và DP No.25 hoàn tất báo giá trình duyệt Đợt 2.</a:t>
            </a:r>
          </a:p>
          <a:p>
            <a:pPr>
              <a:spcAft>
                <a:spcPts val="300"/>
              </a:spcAft>
              <a:defRPr sz="1200" b="1">
                <a:solidFill>
                  <a:srgbClr val="1E242B"/>
                </a:solidFill>
                <a:latin typeface="Times New Roman"/>
              </a:defRPr>
            </a:pPr>
            <a:r>
              <a:t>■ PHƯƠNG ÁN B (Duyệt trọn gói 3 đề án có giá trong file VN提案.xlsx):</a:t>
            </a:r>
          </a:p>
          <a:p>
            <a:pPr>
              <a:spcAft>
                <a:spcPts val="300"/>
              </a:spcAft>
              <a:defRPr sz="1200">
                <a:solidFill>
                  <a:srgbClr val="1E242B"/>
                </a:solidFill>
                <a:latin typeface="Times New Roman"/>
              </a:defRPr>
            </a:pPr>
            <a:r>
              <a:t>   • No.22 (101,69tr) + No.23 Robot ISU (650tr) + No.24 Robot USB/U201 (104tr).</a:t>
            </a:r>
          </a:p>
          <a:p>
            <a:pPr>
              <a:spcAft>
                <a:spcPts val="300"/>
              </a:spcAft>
              <a:defRPr sz="1200">
                <a:solidFill>
                  <a:srgbClr val="1E242B"/>
                </a:solidFill>
                <a:latin typeface="Times New Roman"/>
              </a:defRPr>
            </a:pPr>
            <a:r>
              <a:t>   • Tổng kinh phí: 855.690.000 VNĐ (32.911,15 USD / làm tròn: 33.000 USD).</a:t>
            </a:r>
          </a:p>
        </p:txBody>
      </p:sp>
      <p:sp>
        <p:nvSpPr>
          <p:cNvPr id="11" name="Rectangle 10"/>
          <p:cNvSpPr/>
          <p:nvPr/>
        </p:nvSpPr>
        <p:spPr>
          <a:xfrm>
            <a:off x="6629400" y="4297680"/>
            <a:ext cx="5303520" cy="2194560"/>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29400" y="4297680"/>
            <a:ext cx="5303520" cy="34747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CÁC NỘI DUNG XIN Ý KIẾN CHỈ ĐẠO CỦA TRƯỞNG BỘ PHẬN</a:t>
            </a:r>
          </a:p>
        </p:txBody>
      </p:sp>
      <p:sp>
        <p:nvSpPr>
          <p:cNvPr id="13" name="TextBox 12"/>
          <p:cNvSpPr txBox="1"/>
          <p:nvPr/>
        </p:nvSpPr>
        <p:spPr>
          <a:xfrm>
            <a:off x="6720840" y="4681728"/>
            <a:ext cx="5120640" cy="1773936"/>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1. Lựa chọn Phương án ngân sách: Chọn Phương án A hay B trước ngày 15/11/2026.</a:t>
            </a:r>
          </a:p>
          <a:p>
            <a:pPr>
              <a:spcAft>
                <a:spcPts val="300"/>
              </a:spcAft>
              <a:defRPr sz="1200">
                <a:solidFill>
                  <a:srgbClr val="1E242B"/>
                </a:solidFill>
                <a:latin typeface="Times New Roman"/>
              </a:defRPr>
            </a:pPr>
            <a:r>
              <a:t>2. Chuyển nguyên công lắp 6 tấm vỏ: Chỉ đạo làm việc với bộ phận Lắp ráp và PE Nhật để chuyển bước lắp 6 vỏ ngoài về cuối chuyền Lắp ráp (No.33, chi phí 0 đồng).</a:t>
            </a:r>
          </a:p>
          <a:p>
            <a:pPr>
              <a:spcAft>
                <a:spcPts val="300"/>
              </a:spcAft>
              <a:defRPr sz="1200">
                <a:solidFill>
                  <a:srgbClr val="1E242B"/>
                </a:solidFill>
                <a:latin typeface="Times New Roman"/>
              </a:defRPr>
            </a:pPr>
            <a:r>
              <a:t>3. Chốt lịch DR công đoạn: Hỗ trợ thúc đẩy Thiết kế JP phản hồi 6 kiến nghị sửa mạch/FW của VN trong tháng 11/2026 để kịp chạy thử PMT1 (T12/2026).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4.6 LỘ TRÌNH &amp; HIỆU QUẢ</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So sánh Trước / Sau cải tiến và Lộ trình triển khai tới sản xuất hàng loạt MP (T3/2027)</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11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 Năng suất lao động tăng gấp đôi (15,19 -&gt; ≥30,38 máy/người/ngày), giảm 50% thời gian thao tác, giảm 50% số người xuống 8~9 người, đảm bảo sản xuất trên Line hiện tại.</a:t>
            </a:r>
          </a:p>
        </p:txBody>
      </p:sp>
      <p:graphicFrame>
        <p:nvGraphicFramePr>
          <p:cNvPr id="7" name="Table 6"/>
          <p:cNvGraphicFramePr>
            <a:graphicFrameLocks noGrp="1"/>
          </p:cNvGraphicFramePr>
          <p:nvPr/>
        </p:nvGraphicFramePr>
        <p:xfrm>
          <a:off x="256032" y="1234440"/>
          <a:ext cx="6217920" cy="5257800"/>
        </p:xfrm>
        <a:graphic>
          <a:graphicData uri="http://schemas.openxmlformats.org/drawingml/2006/table">
            <a:tbl>
              <a:tblPr firstRow="1" bandRow="1">
                <a:tableStyleId>{5C22544A-7EE6-4342-B048-85BDC9FD1C3A}</a:tableStyleId>
              </a:tblPr>
              <a:tblGrid>
                <a:gridCol w="1920240"/>
                <a:gridCol w="1371600"/>
                <a:gridCol w="1463040"/>
                <a:gridCol w="1463040"/>
              </a:tblGrid>
              <a:tr h="876300">
                <a:tc>
                  <a:txBody>
                    <a:bodyPr wrap="square"/>
                    <a:lstStyle/>
                    <a:p>
                      <a:pPr algn="ctr">
                        <a:defRPr sz="1250" b="1">
                          <a:solidFill>
                            <a:srgbClr val="FFFFFF"/>
                          </a:solidFill>
                          <a:latin typeface="Times New Roman"/>
                        </a:defRPr>
                      </a:pPr>
                      <a:r>
                        <a:t>Chỉ tiêu đánh giá</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Hiện trạng Iris2024</a:t>
                      </a:r>
                      <a:br/>
                      <a:r>
                        <a:t>(243 máy/ngày)</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Mục tiêu IrisEXP</a:t>
                      </a:r>
                      <a:br/>
                      <a:r>
                        <a:t>(300 máy/ngày)</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Mức cải thiện</a:t>
                      </a:r>
                    </a:p>
                  </a:txBody>
                  <a:tcPr anchor="ctr" marL="36576" marR="36576" marT="13716" marB="13716">
                    <a:solidFill>
                      <a:srgbClr val="1B365D"/>
                    </a:solidFill>
                  </a:tcPr>
                </a:tc>
              </a:tr>
              <a:tr h="876300">
                <a:tc>
                  <a:txBody>
                    <a:bodyPr wrap="square"/>
                    <a:lstStyle/>
                    <a:p>
                      <a:pPr algn="l">
                        <a:defRPr sz="1200" b="1">
                          <a:solidFill>
                            <a:srgbClr val="1E242B"/>
                          </a:solidFill>
                          <a:latin typeface="Times New Roman"/>
                        </a:defRPr>
                      </a:pPr>
                      <a:r>
                        <a:t>1. Thời gian chuẩn</a:t>
                      </a:r>
                      <a:br/>
                      <a:r>
                        <a:t>(Mã hàng cao nhất)</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1.083s / máy</a:t>
                      </a:r>
                      <a:br/>
                      <a:r>
                        <a:t>(840s ĐC + 243s data)</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 541,5s / máy</a:t>
                      </a:r>
                      <a:br/>
                      <a:r>
                        <a:t>(KDC thiết kế: 591s)</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Giảm 50% thời gian</a:t>
                      </a:r>
                      <a:br/>
                      <a:r>
                        <a:t>thao tác tiêu chuẩn</a:t>
                      </a:r>
                    </a:p>
                  </a:txBody>
                  <a:tcPr anchor="ctr" marL="36576" marR="36576" marT="13716" marB="13716">
                    <a:solidFill>
                      <a:srgbClr val="EAF7EE"/>
                    </a:solidFill>
                  </a:tcPr>
                </a:tc>
              </a:tr>
              <a:tr h="876300">
                <a:tc>
                  <a:txBody>
                    <a:bodyPr wrap="square"/>
                    <a:lstStyle/>
                    <a:p>
                      <a:pPr algn="l">
                        <a:defRPr sz="1200" b="1">
                          <a:solidFill>
                            <a:srgbClr val="1E242B"/>
                          </a:solidFill>
                          <a:latin typeface="Times New Roman"/>
                        </a:defRPr>
                      </a:pPr>
                      <a:r>
                        <a:t>2. Gross toàn công đoạn</a:t>
                      </a:r>
                      <a:br/>
                      <a:r>
                        <a:t>(Gồm chờ máy, U950)</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2.350s / máy</a:t>
                      </a:r>
                      <a:br/>
                      <a:r>
                        <a:t>(8 trạm K1 ~ K8)</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 1.175s / máy</a:t>
                      </a:r>
                      <a:br/>
                      <a:r>
                        <a:t>(Gộp 4 cụm A-1~A-4)</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Giảm ≥ 1.175s</a:t>
                      </a:r>
                      <a:br/>
                      <a:r>
                        <a:t>(Giảm ≥ 50,0%)</a:t>
                      </a:r>
                    </a:p>
                  </a:txBody>
                  <a:tcPr anchor="ctr" marL="36576" marR="36576" marT="13716" marB="13716">
                    <a:solidFill>
                      <a:srgbClr val="F7F9FC"/>
                    </a:solidFill>
                  </a:tcPr>
                </a:tc>
              </a:tr>
              <a:tr h="876300">
                <a:tc>
                  <a:txBody>
                    <a:bodyPr wrap="square"/>
                    <a:lstStyle/>
                    <a:p>
                      <a:pPr algn="l">
                        <a:defRPr sz="1200" b="1">
                          <a:solidFill>
                            <a:srgbClr val="1E242B"/>
                          </a:solidFill>
                          <a:latin typeface="Times New Roman"/>
                        </a:defRPr>
                      </a:pPr>
                      <a:r>
                        <a:t>3. Tổng số người thao tác</a:t>
                      </a:r>
                      <a:br/>
                      <a:r>
                        <a:t>trên Line</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16 người thao tác</a:t>
                      </a:r>
                      <a:br/>
                      <a:r>
                        <a:t>(7 ĐC + 9 Hình ảnh)</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8 ~ 9 người thao tác</a:t>
                      </a:r>
                      <a:br/>
                      <a:r>
                        <a:t>(Thay vì 18 người)</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Giảm 50% nhân sự</a:t>
                      </a:r>
                      <a:br/>
                      <a:r>
                        <a:t>so với chưa cải tiến</a:t>
                      </a:r>
                    </a:p>
                  </a:txBody>
                  <a:tcPr anchor="ctr" marL="36576" marR="36576" marT="13716" marB="13716">
                    <a:solidFill>
                      <a:srgbClr val="EAF7EE"/>
                    </a:solidFill>
                  </a:tcPr>
                </a:tc>
              </a:tr>
              <a:tr h="876300">
                <a:tc>
                  <a:txBody>
                    <a:bodyPr wrap="square"/>
                    <a:lstStyle/>
                    <a:p>
                      <a:pPr algn="l">
                        <a:defRPr sz="1200" b="1">
                          <a:solidFill>
                            <a:srgbClr val="1E242B"/>
                          </a:solidFill>
                          <a:latin typeface="Times New Roman"/>
                        </a:defRPr>
                      </a:pPr>
                      <a:r>
                        <a:t>4. Năng suất lao động</a:t>
                      </a:r>
                      <a:br/>
                      <a:r>
                        <a:t>(1 người / ngày)</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15,19 máy / người</a:t>
                      </a:r>
                      <a:br/>
                      <a:r>
                        <a:t>(243 máy ÷ 16 người)</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 30,38 ~ 33,33 máy</a:t>
                      </a:r>
                      <a:br/>
                      <a:r>
                        <a:t>(300 máy ÷ 9 người)</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Tăng gấp 2 lần (x2)</a:t>
                      </a:r>
                      <a:br/>
                      <a:r>
                        <a:t>Đảm bảo SX trên Line</a:t>
                      </a:r>
                    </a:p>
                  </a:txBody>
                  <a:tcPr anchor="ctr" marL="36576" marR="36576" marT="13716" marB="13716">
                    <a:solidFill>
                      <a:srgbClr val="EAF7EE"/>
                    </a:solidFill>
                  </a:tcPr>
                </a:tc>
              </a:tr>
              <a:tr h="876300">
                <a:tc>
                  <a:txBody>
                    <a:bodyPr wrap="square"/>
                    <a:lstStyle/>
                    <a:p>
                      <a:pPr algn="l">
                        <a:defRPr sz="1200" b="1">
                          <a:solidFill>
                            <a:srgbClr val="1E242B"/>
                          </a:solidFill>
                          <a:latin typeface="Times New Roman"/>
                        </a:defRPr>
                      </a:pPr>
                      <a:r>
                        <a:t>5. Số tờ in test / máy</a:t>
                      </a:r>
                      <a:br/>
                      <a:r>
                        <a:t>(Print &amp; Copy)</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Print: 17 tờ / máy</a:t>
                      </a:r>
                      <a:br/>
                      <a:r>
                        <a:t>Copy: 2 tờ / máy</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Print: 9 tờ / máy</a:t>
                      </a:r>
                      <a:br/>
                      <a:r>
                        <a:t>Copy: 1 tờ / máy</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Giảm 8 tờ Print (-47%)</a:t>
                      </a:r>
                      <a:br/>
                      <a:r>
                        <a:t>Giảm 1 tờ Copy (-50%)</a:t>
                      </a:r>
                    </a:p>
                  </a:txBody>
                  <a:tcPr anchor="ctr" marL="36576" marR="36576" marT="13716" marB="13716">
                    <a:solidFill>
                      <a:srgbClr val="FFFFFF"/>
                    </a:solidFill>
                  </a:tcPr>
                </a:tc>
              </a:tr>
            </a:tbl>
          </a:graphicData>
        </a:graphic>
      </p:graphicFrame>
      <p:graphicFrame>
        <p:nvGraphicFramePr>
          <p:cNvPr id="8" name="Table 7"/>
          <p:cNvGraphicFramePr>
            <a:graphicFrameLocks noGrp="1"/>
          </p:cNvGraphicFramePr>
          <p:nvPr/>
        </p:nvGraphicFramePr>
        <p:xfrm>
          <a:off x="6629400" y="1234440"/>
          <a:ext cx="5303518" cy="5257800"/>
        </p:xfrm>
        <a:graphic>
          <a:graphicData uri="http://schemas.openxmlformats.org/drawingml/2006/table">
            <a:tbl>
              <a:tblPr firstRow="1" bandRow="1">
                <a:tableStyleId>{5C22544A-7EE6-4342-B048-85BDC9FD1C3A}</a:tableStyleId>
              </a:tblPr>
              <a:tblGrid>
                <a:gridCol w="1554480"/>
                <a:gridCol w="1874519"/>
                <a:gridCol w="1874519"/>
              </a:tblGrid>
              <a:tr h="1051560">
                <a:tc>
                  <a:txBody>
                    <a:bodyPr wrap="square"/>
                    <a:lstStyle/>
                    <a:p>
                      <a:pPr algn="ctr">
                        <a:defRPr sz="1250" b="1">
                          <a:solidFill>
                            <a:srgbClr val="FFFFFF"/>
                          </a:solidFill>
                          <a:latin typeface="Times New Roman"/>
                        </a:defRPr>
                      </a:pPr>
                      <a:r>
                        <a:t>Giai đoạn</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Hạng mục triển khai chính</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Mục tiêu tích lũy (PE-3)</a:t>
                      </a:r>
                    </a:p>
                  </a:txBody>
                  <a:tcPr anchor="ctr" marL="36576" marR="36576" marT="13716" marB="13716">
                    <a:solidFill>
                      <a:srgbClr val="1B365D"/>
                    </a:solidFill>
                  </a:tcPr>
                </a:tc>
              </a:tr>
              <a:tr h="1051560">
                <a:tc>
                  <a:txBody>
                    <a:bodyPr wrap="square"/>
                    <a:lstStyle/>
                    <a:p>
                      <a:pPr algn="l">
                        <a:defRPr sz="1200" b="1">
                          <a:solidFill>
                            <a:srgbClr val="1E242B"/>
                          </a:solidFill>
                          <a:latin typeface="Times New Roman"/>
                        </a:defRPr>
                      </a:pPr>
                      <a:r>
                        <a:t>T8 ~ T9/2026</a:t>
                      </a:r>
                      <a:br/>
                      <a:r>
                        <a:t>(DMT1 / Đề án)</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Lập 28 -&gt; 37 đề án; khảo sát nhà cung cấp và lập dự toán đầu tư VN提案.</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KH: Giảm 1% (-23,5s)</a:t>
                      </a:r>
                      <a:br/>
                      <a:r>
                        <a:t>Chốt mục tiêu x2 năng suất</a:t>
                      </a:r>
                    </a:p>
                  </a:txBody>
                  <a:tcPr anchor="ctr" marL="36576" marR="36576" marT="13716" marB="13716">
                    <a:solidFill>
                      <a:srgbClr val="E8EEF5"/>
                    </a:solidFill>
                  </a:tcPr>
                </a:tc>
              </a:tr>
              <a:tr h="1051560">
                <a:tc>
                  <a:txBody>
                    <a:bodyPr wrap="square"/>
                    <a:lstStyle/>
                    <a:p>
                      <a:pPr algn="l">
                        <a:defRPr sz="1200" b="1">
                          <a:solidFill>
                            <a:srgbClr val="1E242B"/>
                          </a:solidFill>
                          <a:latin typeface="Times New Roman"/>
                        </a:defRPr>
                      </a:pPr>
                      <a:r>
                        <a:t>T10/2026</a:t>
                      </a:r>
                      <a:br/>
                      <a:r>
                        <a:t>(DMT2 / Báo giá)</a:t>
                      </a:r>
                    </a:p>
                  </a:txBody>
                  <a:tcPr anchor="ctr" marL="36576" marR="36576" marT="13716" marB="13716">
                    <a:solidFill>
                      <a:srgbClr val="EAF7EE"/>
                    </a:solidFill>
                  </a:tcPr>
                </a:tc>
                <a:tc>
                  <a:txBody>
                    <a:bodyPr wrap="square"/>
                    <a:lstStyle/>
                    <a:p>
                      <a:pPr algn="l">
                        <a:defRPr sz="1200" b="1">
                          <a:solidFill>
                            <a:srgbClr val="1E6E3E"/>
                          </a:solidFill>
                          <a:latin typeface="Times New Roman"/>
                        </a:defRPr>
                      </a:pPr>
                      <a:r>
                        <a:t>Hoàn tất BOM 25 mục No.22 (101,69 tr VNĐ); xóa 4 bước trên SOP (-4,32s).</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Thực tích: Đạt -4,32s</a:t>
                      </a:r>
                      <a:br/>
                      <a:r>
                        <a:t>Cập nhật 38 đề án</a:t>
                      </a:r>
                    </a:p>
                  </a:txBody>
                  <a:tcPr anchor="ctr" marL="36576" marR="36576" marT="13716" marB="13716">
                    <a:solidFill>
                      <a:srgbClr val="EAF7EE"/>
                    </a:solidFill>
                  </a:tcPr>
                </a:tc>
              </a:tr>
              <a:tr h="1051560">
                <a:tc>
                  <a:txBody>
                    <a:bodyPr wrap="square"/>
                    <a:lstStyle/>
                    <a:p>
                      <a:pPr algn="l">
                        <a:defRPr sz="1200" b="1">
                          <a:solidFill>
                            <a:srgbClr val="1E242B"/>
                          </a:solidFill>
                          <a:latin typeface="Times New Roman"/>
                        </a:defRPr>
                      </a:pPr>
                      <a:r>
                        <a:t>T11 ~ T12/2026</a:t>
                      </a:r>
                      <a:br/>
                      <a:r>
                        <a:t>(DR / PMT1 thử nghiệm)</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Chốt DR công đoạn; chế tạo JIG No.22, Camera No.27; chạy thử 4 cụm trạm A-1~A-4.</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Mục tiêu: Giảm 30%</a:t>
                      </a:r>
                      <a:br/>
                      <a:r>
                        <a:t>(Cắt giảm ≥ 705s/máy)</a:t>
                      </a:r>
                    </a:p>
                  </a:txBody>
                  <a:tcPr anchor="ctr" marL="36576" marR="36576" marT="13716" marB="13716">
                    <a:solidFill>
                      <a:srgbClr val="FFFFFF"/>
                    </a:solidFill>
                  </a:tcPr>
                </a:tc>
              </a:tr>
              <a:tr h="1051560">
                <a:tc>
                  <a:txBody>
                    <a:bodyPr wrap="square"/>
                    <a:lstStyle/>
                    <a:p>
                      <a:pPr algn="l">
                        <a:defRPr sz="1200" b="1">
                          <a:solidFill>
                            <a:srgbClr val="1E242B"/>
                          </a:solidFill>
                          <a:latin typeface="Times New Roman"/>
                        </a:defRPr>
                      </a:pPr>
                      <a:r>
                        <a:t>T1 ~ T3/2027</a:t>
                      </a:r>
                      <a:br/>
                      <a:r>
                        <a:t>(PMT2 -&gt; MP Hàng loạt)</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Nghiệm thu thiết bị Cpk ≥ 1,33; bỏ đo lệch Belt; vận hành chính thức nhịp Takt 97s.</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Hoàn thành 100% đề án</a:t>
                      </a:r>
                      <a:br/>
                      <a:r>
                        <a:t>Năng suất tăng gấp đôi</a:t>
                      </a:r>
                    </a:p>
                  </a:txBody>
                  <a:tcPr anchor="ctr" marL="36576" marR="36576" marT="13716" marB="13716">
                    <a:solidFill>
                      <a:srgbClr val="FEF7E6"/>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PHẦN THAM KHẢO (1/4)</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Tổng hợp toàn bộ 38 đề án cải tiến của 3 cứ điểm Nhật Bản (7) - Trung Quốc (11) - Việt Nam (20)</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12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 Bảng đối chiếu tổng thể số lượng đề án, thời gian giảm, nhân lực và kinh phí của cả 3 cứ điểm (JP - CN - VN) xếp ở phần tham khảo cuối bài.</a:t>
            </a:r>
          </a:p>
        </p:txBody>
      </p:sp>
      <p:graphicFrame>
        <p:nvGraphicFramePr>
          <p:cNvPr id="7" name="Table 6"/>
          <p:cNvGraphicFramePr>
            <a:graphicFrameLocks noGrp="1"/>
          </p:cNvGraphicFramePr>
          <p:nvPr/>
        </p:nvGraphicFramePr>
        <p:xfrm>
          <a:off x="256032" y="1234440"/>
          <a:ext cx="11679631" cy="5257800"/>
        </p:xfrm>
        <a:graphic>
          <a:graphicData uri="http://schemas.openxmlformats.org/drawingml/2006/table">
            <a:tbl>
              <a:tblPr firstRow="1" bandRow="1">
                <a:tableStyleId>{5C22544A-7EE6-4342-B048-85BDC9FD1C3A}</a:tableStyleId>
              </a:tblPr>
              <a:tblGrid>
                <a:gridCol w="1645920"/>
                <a:gridCol w="2286000"/>
                <a:gridCol w="2468880"/>
                <a:gridCol w="2651760"/>
                <a:gridCol w="2627071"/>
              </a:tblGrid>
              <a:tr h="876300">
                <a:tc>
                  <a:txBody>
                    <a:bodyPr wrap="square"/>
                    <a:lstStyle/>
                    <a:p>
                      <a:pPr algn="ctr">
                        <a:defRPr sz="1250" b="1">
                          <a:solidFill>
                            <a:srgbClr val="FFFFFF"/>
                          </a:solidFill>
                          <a:latin typeface="Times New Roman"/>
                        </a:defRPr>
                      </a:pPr>
                      <a:r>
                        <a:t>Chỉ tiêu đối chiếu</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Nhật Bản (JP)</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Trung Quốc (CN)</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Việt Nam (VN)</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Tổng hợp 3 cứ điểm</a:t>
                      </a:r>
                    </a:p>
                  </a:txBody>
                  <a:tcPr anchor="ctr" marL="36576" marR="36576" marT="13716" marB="13716">
                    <a:solidFill>
                      <a:srgbClr val="1B365D"/>
                    </a:solidFill>
                  </a:tcPr>
                </a:tc>
              </a:tr>
              <a:tr h="876300">
                <a:tc>
                  <a:txBody>
                    <a:bodyPr wrap="square"/>
                    <a:lstStyle/>
                    <a:p>
                      <a:pPr algn="l">
                        <a:defRPr sz="1200" b="1">
                          <a:solidFill>
                            <a:srgbClr val="1E242B"/>
                          </a:solidFill>
                          <a:latin typeface="Times New Roman"/>
                        </a:defRPr>
                      </a:pPr>
                      <a:r>
                        <a:t>1. Số lượng đề án</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7 đề án (No.1 ~ No.7)</a:t>
                      </a:r>
                      <a:br/>
                      <a:r>
                        <a:t>(Giữ nguyên từ T8 -&gt; T10)</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11 đề án (No.8 ~ No.17</a:t>
                      </a:r>
                      <a:br/>
                      <a:r>
                        <a:t>+ No.38 AI WeChat)</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20 đề án (No.18 ~ No.37</a:t>
                      </a:r>
                      <a:br/>
                      <a:r>
                        <a:t>+ Nạp FW trước)</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Toàn dự án: 38 đề án</a:t>
                      </a:r>
                      <a:br/>
                      <a:r>
                        <a:t>(JP: 7, CN: 11, VN: 20)</a:t>
                      </a:r>
                    </a:p>
                  </a:txBody>
                  <a:tcPr anchor="ctr" marL="36576" marR="36576" marT="13716" marB="13716">
                    <a:solidFill>
                      <a:srgbClr val="E8EEF5"/>
                    </a:solidFill>
                  </a:tcPr>
                </a:tc>
              </a:tr>
              <a:tr h="876300">
                <a:tc>
                  <a:txBody>
                    <a:bodyPr wrap="square"/>
                    <a:lstStyle/>
                    <a:p>
                      <a:pPr algn="l">
                        <a:defRPr sz="1200" b="1">
                          <a:solidFill>
                            <a:srgbClr val="1E242B"/>
                          </a:solidFill>
                          <a:latin typeface="Times New Roman"/>
                        </a:defRPr>
                      </a:pPr>
                      <a:r>
                        <a:t>2. Hiện trạng thời gian</a:t>
                      </a:r>
                      <a:br/>
                      <a:r>
                        <a:t>(Iris2024)</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Thao tác thuần: 1.171,7s</a:t>
                      </a:r>
                      <a:br/>
                      <a:r>
                        <a:t>Chưa cải tiến: 1.260,7s Color</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575 bước trên bảng CĐ;</a:t>
                      </a:r>
                      <a:br/>
                      <a:r>
                        <a:t>TG giảm đề xuất: 178,6s</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Chuẩn mã cao nhất: 1.083s</a:t>
                      </a:r>
                      <a:br/>
                      <a:r>
                        <a:t>Gross toàn công đoạn: 2.350s</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KDTVN: 1.083s (Gross: 2.350s)</a:t>
                      </a:r>
                      <a:br/>
                      <a:r>
                        <a:t>KDC: 1.171,7s Color</a:t>
                      </a:r>
                    </a:p>
                  </a:txBody>
                  <a:tcPr anchor="ctr" marL="36576" marR="36576" marT="13716" marB="13716">
                    <a:solidFill>
                      <a:srgbClr val="F7F9FC"/>
                    </a:solidFill>
                  </a:tcPr>
                </a:tc>
              </a:tr>
              <a:tr h="876300">
                <a:tc>
                  <a:txBody>
                    <a:bodyPr wrap="square"/>
                    <a:lstStyle/>
                    <a:p>
                      <a:pPr algn="l">
                        <a:defRPr sz="1200" b="1">
                          <a:solidFill>
                            <a:srgbClr val="1E242B"/>
                          </a:solidFill>
                          <a:latin typeface="Times New Roman"/>
                        </a:defRPr>
                      </a:pPr>
                      <a:r>
                        <a:t>3. Hiệu quả giảm thời gian</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-87,8s vs Iris2024</a:t>
                      </a:r>
                      <a:br/>
                      <a:r>
                        <a:t>(-176,8s vs chưa cải tiến;</a:t>
                      </a:r>
                      <a:br/>
                      <a:r>
                        <a:t>Xóa 153 bước: -267,7s)</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-178,6s thao tác</a:t>
                      </a:r>
                      <a:br/>
                      <a:r>
                        <a:t>-110,0s chờ in</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3 ĐA trong file: -170s</a:t>
                      </a:r>
                      <a:br/>
                      <a:r>
                        <a:t>Camera No.27: -177s~-215s</a:t>
                      </a:r>
                      <a:br/>
                      <a:r>
                        <a:t>Mục tiêu: Giảm 50% thời gian</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JP: -176,8s ~ -267,7s</a:t>
                      </a:r>
                      <a:br/>
                      <a:r>
                        <a:t>CN: -178,6s + -110s chờ in</a:t>
                      </a:r>
                      <a:br/>
                      <a:r>
                        <a:t>VN: Giảm 50% thời gian</a:t>
                      </a:r>
                    </a:p>
                  </a:txBody>
                  <a:tcPr anchor="ctr" marL="36576" marR="36576" marT="13716" marB="13716">
                    <a:solidFill>
                      <a:srgbClr val="FFFFFF"/>
                    </a:solidFill>
                  </a:tcPr>
                </a:tc>
              </a:tr>
              <a:tr h="876300">
                <a:tc>
                  <a:txBody>
                    <a:bodyPr wrap="square"/>
                    <a:lstStyle/>
                    <a:p>
                      <a:pPr algn="l">
                        <a:defRPr sz="1200" b="1">
                          <a:solidFill>
                            <a:srgbClr val="1E242B"/>
                          </a:solidFill>
                          <a:latin typeface="Times New Roman"/>
                        </a:defRPr>
                      </a:pPr>
                      <a:r>
                        <a:t>4. Nhân lực &amp; Năng suất</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Tham chiếu Athena: Giảm 50%</a:t>
                      </a:r>
                      <a:br/>
                      <a:r>
                        <a:t>(16 người -&gt; 8 người)</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Tiết kiệm: 11.160 RMB/tháng</a:t>
                      </a:r>
                      <a:br/>
                      <a:r>
                        <a:t>+ 5.000 RMB/5.000 máy</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Hiện tại: 16 người (15,2 máy)</a:t>
                      </a:r>
                      <a:br/>
                      <a:r>
                        <a:t>Mục tiêu: x2 NS (≥30,4 máy)</a:t>
                      </a:r>
                      <a:br/>
                      <a:r>
                        <a:t>Giảm 50% người (còn 8~9)</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Mục tiêu: Tăng x2 năng suất</a:t>
                      </a:r>
                      <a:br/>
                      <a:r>
                        <a:t>Đảm bảo SX trên Line hiện tại</a:t>
                      </a:r>
                    </a:p>
                  </a:txBody>
                  <a:tcPr anchor="ctr" marL="36576" marR="36576" marT="13716" marB="13716">
                    <a:solidFill>
                      <a:srgbClr val="EAF7EE"/>
                    </a:solidFill>
                  </a:tcPr>
                </a:tc>
              </a:tr>
              <a:tr h="876300">
                <a:tc>
                  <a:txBody>
                    <a:bodyPr wrap="square"/>
                    <a:lstStyle/>
                    <a:p>
                      <a:pPr algn="l">
                        <a:defRPr sz="1200" b="1">
                          <a:solidFill>
                            <a:srgbClr val="1E242B"/>
                          </a:solidFill>
                          <a:latin typeface="Times New Roman"/>
                        </a:defRPr>
                      </a:pPr>
                      <a:r>
                        <a:t>5. Dự toán kinh phí</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Mini PC: ~40.000 JPY/bộ</a:t>
                      </a:r>
                      <a:br/>
                      <a:r>
                        <a:t>(1 bộ điều khiển 4 máy)</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Bỏ U155, giảm tờ in:</a:t>
                      </a:r>
                      <a:br/>
                      <a:r>
                        <a:t>0 RMB chi phí thiết bị</a:t>
                      </a:r>
                    </a:p>
                  </a:txBody>
                  <a:tcPr anchor="ctr" marL="36576" marR="36576" marT="13716" marB="13716">
                    <a:solidFill>
                      <a:srgbClr val="FEF7E6"/>
                    </a:solidFill>
                  </a:tcPr>
                </a:tc>
                <a:tc>
                  <a:txBody>
                    <a:bodyPr wrap="square"/>
                    <a:lstStyle/>
                    <a:p>
                      <a:pPr algn="l">
                        <a:defRPr sz="1200" b="1">
                          <a:solidFill>
                            <a:srgbClr val="1E6E3E"/>
                          </a:solidFill>
                          <a:latin typeface="Times New Roman"/>
                        </a:defRPr>
                      </a:pPr>
                      <a:r>
                        <a:t>No.22 (BOM): 101,69 tr VNĐ</a:t>
                      </a:r>
                      <a:br/>
                      <a:r>
                        <a:t>Tổng 3 ĐA: 855,69 tr VNĐ</a:t>
                      </a:r>
                      <a:br/>
                      <a:r>
                        <a:t>(Duyệt trước No.22: 101,69 tr)</a:t>
                      </a:r>
                    </a:p>
                  </a:txBody>
                  <a:tcPr anchor="ctr" marL="36576" marR="36576" marT="13716" marB="13716">
                    <a:solidFill>
                      <a:srgbClr val="FEF7E6"/>
                    </a:solidFill>
                  </a:tcPr>
                </a:tc>
                <a:tc>
                  <a:txBody>
                    <a:bodyPr wrap="square"/>
                    <a:lstStyle/>
                    <a:p>
                      <a:pPr algn="l">
                        <a:defRPr sz="1200" b="1">
                          <a:solidFill>
                            <a:srgbClr val="1E6E3E"/>
                          </a:solidFill>
                          <a:latin typeface="Times New Roman"/>
                        </a:defRPr>
                      </a:pPr>
                      <a:r>
                        <a:t>VN: 855,69 tr (32.911 USD)</a:t>
                      </a:r>
                      <a:br/>
                      <a:r>
                        <a:t>(Duyệt riêng No.22: 101,69 tr)</a:t>
                      </a:r>
                      <a:br/>
                      <a:r>
                        <a:t>JP: Mini PC ~40k JPY/bộ</a:t>
                      </a:r>
                    </a:p>
                  </a:txBody>
                  <a:tcPr anchor="ctr" marL="36576" marR="36576" marT="13716" marB="13716">
                    <a:solidFill>
                      <a:srgbClr val="FEF7E6"/>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PHẦN THAM KHẢO (2/4)</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Chi tiết 7 đề án của Nhật Bản (No.1 ~ No.7) và 11 đề án của Trung Quốc (No.8 ~ No.17, No.38)</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13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 Danh mục đề án của Nhật Bản và Trung Quốc trong tài liệu tổng hợp chung (IrisEXP改善提案まとめ.xlsx) và trạng thái triển khai ngang.</a:t>
            </a:r>
          </a:p>
        </p:txBody>
      </p:sp>
      <p:graphicFrame>
        <p:nvGraphicFramePr>
          <p:cNvPr id="7" name="Table 6"/>
          <p:cNvGraphicFramePr>
            <a:graphicFrameLocks noGrp="1"/>
          </p:cNvGraphicFramePr>
          <p:nvPr/>
        </p:nvGraphicFramePr>
        <p:xfrm>
          <a:off x="256032" y="1234440"/>
          <a:ext cx="5669280" cy="5257800"/>
        </p:xfrm>
        <a:graphic>
          <a:graphicData uri="http://schemas.openxmlformats.org/drawingml/2006/table">
            <a:tbl>
              <a:tblPr firstRow="1" bandRow="1">
                <a:tableStyleId>{5C22544A-7EE6-4342-B048-85BDC9FD1C3A}</a:tableStyleId>
              </a:tblPr>
              <a:tblGrid>
                <a:gridCol w="822960"/>
                <a:gridCol w="3474720"/>
                <a:gridCol w="1371600"/>
              </a:tblGrid>
              <a:tr h="657225">
                <a:tc>
                  <a:txBody>
                    <a:bodyPr wrap="square"/>
                    <a:lstStyle/>
                    <a:p>
                      <a:pPr algn="ctr">
                        <a:defRPr sz="1250" b="1">
                          <a:solidFill>
                            <a:srgbClr val="FFFFFF"/>
                          </a:solidFill>
                          <a:latin typeface="Times New Roman"/>
                        </a:defRPr>
                      </a:pPr>
                      <a:r>
                        <a:t>STT</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7 Đề án của Nhật Bản (JP: No.1 ~ No.7)</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Trạng thái</a:t>
                      </a:r>
                    </a:p>
                  </a:txBody>
                  <a:tcPr anchor="ctr" marL="36576" marR="36576" marT="13716" marB="13716">
                    <a:solidFill>
                      <a:srgbClr val="1B365D"/>
                    </a:solidFill>
                  </a:tcPr>
                </a:tc>
              </a:tr>
              <a:tr h="657225">
                <a:tc>
                  <a:txBody>
                    <a:bodyPr wrap="square"/>
                    <a:lstStyle/>
                    <a:p>
                      <a:pPr algn="ctr">
                        <a:defRPr sz="1200" b="1">
                          <a:solidFill>
                            <a:srgbClr val="1E242B"/>
                          </a:solidFill>
                          <a:latin typeface="Times New Roman"/>
                        </a:defRPr>
                      </a:pPr>
                      <a:r>
                        <a:t>No.1</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Thiết kế chuyền lấy A-1 làm trung tâm (4 người, Takt 97s)</a:t>
                      </a:r>
                    </a:p>
                  </a:txBody>
                  <a:tcPr anchor="ctr" marL="36576" marR="36576" marT="13716" marB="13716">
                    <a:solidFill>
                      <a:srgbClr val="FFFFFF"/>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FFFFFF"/>
                    </a:solidFill>
                  </a:tcPr>
                </a:tc>
              </a:tr>
              <a:tr h="657225">
                <a:tc>
                  <a:txBody>
                    <a:bodyPr wrap="square"/>
                    <a:lstStyle/>
                    <a:p>
                      <a:pPr algn="ctr">
                        <a:defRPr sz="1200" b="1">
                          <a:solidFill>
                            <a:srgbClr val="1E242B"/>
                          </a:solidFill>
                          <a:latin typeface="Times New Roman"/>
                        </a:defRPr>
                      </a:pPr>
                      <a:r>
                        <a:t>No.2</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Bỏ bước cài đặt ngưỡng mực thải WTB U155 (-29,2s)</a:t>
                      </a:r>
                    </a:p>
                  </a:txBody>
                  <a:tcPr anchor="ctr" marL="36576" marR="36576" marT="13716" marB="13716">
                    <a:solidFill>
                      <a:srgbClr val="EAF7EE"/>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AF7EE"/>
                    </a:solidFill>
                  </a:tcPr>
                </a:tc>
              </a:tr>
              <a:tr h="657225">
                <a:tc>
                  <a:txBody>
                    <a:bodyPr wrap="square"/>
                    <a:lstStyle/>
                    <a:p>
                      <a:pPr algn="ctr">
                        <a:defRPr sz="1200" b="1">
                          <a:solidFill>
                            <a:srgbClr val="1E242B"/>
                          </a:solidFill>
                          <a:latin typeface="Times New Roman"/>
                        </a:defRPr>
                      </a:pPr>
                      <a:r>
                        <a:t>No.3</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Bỏ bấm tay U201, chuyển sang đọc log Host PC (-15,1s)</a:t>
                      </a:r>
                    </a:p>
                  </a:txBody>
                  <a:tcPr anchor="ctr" marL="36576" marR="36576" marT="13716" marB="13716">
                    <a:solidFill>
                      <a:srgbClr val="EAF7EE"/>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AF7EE"/>
                    </a:solidFill>
                  </a:tcPr>
                </a:tc>
              </a:tr>
              <a:tr h="657225">
                <a:tc>
                  <a:txBody>
                    <a:bodyPr wrap="square"/>
                    <a:lstStyle/>
                    <a:p>
                      <a:pPr algn="ctr">
                        <a:defRPr sz="1200" b="1">
                          <a:solidFill>
                            <a:srgbClr val="1E242B"/>
                          </a:solidFill>
                          <a:latin typeface="Times New Roman"/>
                        </a:defRPr>
                      </a:pPr>
                      <a:r>
                        <a:t>No.4</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Tự động kiểm tra cảm biến khổ giấy khay 1 &amp; 2 (-66,7s)</a:t>
                      </a:r>
                    </a:p>
                  </a:txBody>
                  <a:tcPr anchor="ctr" marL="36576" marR="36576" marT="13716" marB="13716">
                    <a:solidFill>
                      <a:srgbClr val="EAF7EE"/>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AF7EE"/>
                    </a:solidFill>
                  </a:tcPr>
                </a:tc>
              </a:tr>
              <a:tr h="657225">
                <a:tc>
                  <a:txBody>
                    <a:bodyPr wrap="square"/>
                    <a:lstStyle/>
                    <a:p>
                      <a:pPr algn="ctr">
                        <a:defRPr sz="1200" b="1">
                          <a:solidFill>
                            <a:srgbClr val="1E242B"/>
                          </a:solidFill>
                          <a:latin typeface="Times New Roman"/>
                        </a:defRPr>
                      </a:pPr>
                      <a:r>
                        <a:t>No.5</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Đổi phương pháp kiểm tra cảm biến người &amp; bỏ tạo JAM</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Chờ tài liệu JP</a:t>
                      </a:r>
                    </a:p>
                  </a:txBody>
                  <a:tcPr anchor="ctr" marL="36576" marR="36576" marT="13716" marB="13716">
                    <a:solidFill>
                      <a:srgbClr val="FFFFFF"/>
                    </a:solidFill>
                  </a:tcPr>
                </a:tc>
              </a:tr>
              <a:tr h="657225">
                <a:tc>
                  <a:txBody>
                    <a:bodyPr wrap="square"/>
                    <a:lstStyle/>
                    <a:p>
                      <a:pPr algn="ctr">
                        <a:defRPr sz="1200" b="1">
                          <a:solidFill>
                            <a:srgbClr val="1E242B"/>
                          </a:solidFill>
                          <a:latin typeface="Times New Roman"/>
                        </a:defRPr>
                      </a:pPr>
                      <a:r>
                        <a:t>No.6</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Bỏ kiểm tra cổng USB riêng biệt (bảo chứng khi nạp FW)</a:t>
                      </a:r>
                    </a:p>
                  </a:txBody>
                  <a:tcPr anchor="ctr" marL="36576" marR="36576" marT="13716" marB="13716">
                    <a:solidFill>
                      <a:srgbClr val="EAF7EE"/>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AF7EE"/>
                    </a:solidFill>
                  </a:tcPr>
                </a:tc>
              </a:tr>
              <a:tr h="657225">
                <a:tc>
                  <a:txBody>
                    <a:bodyPr wrap="square"/>
                    <a:lstStyle/>
                    <a:p>
                      <a:pPr algn="ctr">
                        <a:defRPr sz="1200" b="1">
                          <a:solidFill>
                            <a:srgbClr val="1E242B"/>
                          </a:solidFill>
                          <a:latin typeface="Times New Roman"/>
                        </a:defRPr>
                      </a:pPr>
                      <a:r>
                        <a:t>No.7</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Tự nhận diện công tắc nắp &amp; đo an toàn điện khi đóng kín vỏ</a:t>
                      </a:r>
                    </a:p>
                  </a:txBody>
                  <a:tcPr anchor="ctr" marL="36576" marR="36576" marT="13716" marB="13716">
                    <a:solidFill>
                      <a:srgbClr val="EAF7EE"/>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AF7EE"/>
                    </a:solidFill>
                  </a:tcPr>
                </a:tc>
              </a:tr>
            </a:tbl>
          </a:graphicData>
        </a:graphic>
      </p:graphicFrame>
      <p:graphicFrame>
        <p:nvGraphicFramePr>
          <p:cNvPr id="8" name="Table 7"/>
          <p:cNvGraphicFramePr>
            <a:graphicFrameLocks noGrp="1"/>
          </p:cNvGraphicFramePr>
          <p:nvPr/>
        </p:nvGraphicFramePr>
        <p:xfrm>
          <a:off x="6172200" y="1234440"/>
          <a:ext cx="5760720" cy="5257800"/>
        </p:xfrm>
        <a:graphic>
          <a:graphicData uri="http://schemas.openxmlformats.org/drawingml/2006/table">
            <a:tbl>
              <a:tblPr firstRow="1" bandRow="1">
                <a:tableStyleId>{5C22544A-7EE6-4342-B048-85BDC9FD1C3A}</a:tableStyleId>
              </a:tblPr>
              <a:tblGrid>
                <a:gridCol w="822960"/>
                <a:gridCol w="3566160"/>
                <a:gridCol w="1371600"/>
              </a:tblGrid>
              <a:tr h="657225">
                <a:tc>
                  <a:txBody>
                    <a:bodyPr wrap="square"/>
                    <a:lstStyle/>
                    <a:p>
                      <a:pPr algn="ctr">
                        <a:defRPr sz="1250" b="1">
                          <a:solidFill>
                            <a:srgbClr val="FFFFFF"/>
                          </a:solidFill>
                          <a:latin typeface="Times New Roman"/>
                        </a:defRPr>
                      </a:pPr>
                      <a:r>
                        <a:t>STT</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11 Đề án của Trung Quốc (CN: No.8 ~ No.17, No.38)</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Trạng thái</a:t>
                      </a:r>
                    </a:p>
                  </a:txBody>
                  <a:tcPr anchor="ctr" marL="36576" marR="36576" marT="13716" marB="13716">
                    <a:solidFill>
                      <a:srgbClr val="1B365D"/>
                    </a:solidFill>
                  </a:tcPr>
                </a:tc>
              </a:tr>
              <a:tr h="657225">
                <a:tc>
                  <a:txBody>
                    <a:bodyPr wrap="square"/>
                    <a:lstStyle/>
                    <a:p>
                      <a:pPr algn="ctr">
                        <a:defRPr sz="1200" b="1">
                          <a:solidFill>
                            <a:srgbClr val="1E242B"/>
                          </a:solidFill>
                          <a:latin typeface="Times New Roman"/>
                        </a:defRPr>
                      </a:pPr>
                      <a:r>
                        <a:t>No.8</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Xem xét bỏ đo khe hở Belt truyền ảnh (-15,4s)</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Chờ QA duyệt</a:t>
                      </a:r>
                    </a:p>
                  </a:txBody>
                  <a:tcPr anchor="ctr" marL="36576" marR="36576" marT="13716" marB="13716">
                    <a:solidFill>
                      <a:srgbClr val="FFFFFF"/>
                    </a:solidFill>
                  </a:tcPr>
                </a:tc>
              </a:tr>
              <a:tr h="657225">
                <a:tc>
                  <a:txBody>
                    <a:bodyPr wrap="square"/>
                    <a:lstStyle/>
                    <a:p>
                      <a:pPr algn="ctr">
                        <a:defRPr sz="1200" b="1">
                          <a:solidFill>
                            <a:srgbClr val="1E242B"/>
                          </a:solidFill>
                          <a:latin typeface="Times New Roman"/>
                        </a:defRPr>
                      </a:pPr>
                      <a:r>
                        <a:t>No.9</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Giảm/bỏ kiểm tra độ bám mực sấy &amp; đổi test khay MPF</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Chờ QA duyệt</a:t>
                      </a:r>
                    </a:p>
                  </a:txBody>
                  <a:tcPr anchor="ctr" marL="36576" marR="36576" marT="13716" marB="13716">
                    <a:solidFill>
                      <a:srgbClr val="F7F9FC"/>
                    </a:solidFill>
                  </a:tcPr>
                </a:tc>
              </a:tr>
              <a:tr h="657225">
                <a:tc>
                  <a:txBody>
                    <a:bodyPr wrap="square"/>
                    <a:lstStyle/>
                    <a:p>
                      <a:pPr algn="ctr">
                        <a:defRPr sz="1200" b="1">
                          <a:solidFill>
                            <a:srgbClr val="1E242B"/>
                          </a:solidFill>
                          <a:latin typeface="Times New Roman"/>
                        </a:defRPr>
                      </a:pPr>
                      <a:r>
                        <a:t>No.10</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Xem xét lại quy trình soi chấm vàng chống tiền giả PPT</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Tạm giữ Scanner</a:t>
                      </a:r>
                    </a:p>
                  </a:txBody>
                  <a:tcPr anchor="ctr" marL="36576" marR="36576" marT="13716" marB="13716">
                    <a:solidFill>
                      <a:srgbClr val="FFFFFF"/>
                    </a:solidFill>
                  </a:tcPr>
                </a:tc>
              </a:tr>
              <a:tr h="657225">
                <a:tc>
                  <a:txBody>
                    <a:bodyPr wrap="square"/>
                    <a:lstStyle/>
                    <a:p>
                      <a:pPr algn="ctr">
                        <a:defRPr sz="1200" b="1">
                          <a:solidFill>
                            <a:srgbClr val="1E242B"/>
                          </a:solidFill>
                          <a:latin typeface="Times New Roman"/>
                        </a:defRPr>
                      </a:pPr>
                      <a:r>
                        <a:t>No.11</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Gộp 2 tờ DC-1 và bản Gray thành 1 tờ duy nhất</a:t>
                      </a:r>
                    </a:p>
                  </a:txBody>
                  <a:tcPr anchor="ctr" marL="36576" marR="36576" marT="13716" marB="13716">
                    <a:solidFill>
                      <a:srgbClr val="EAF7EE"/>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AF7EE"/>
                    </a:solidFill>
                  </a:tcPr>
                </a:tc>
              </a:tr>
              <a:tr h="657225">
                <a:tc>
                  <a:txBody>
                    <a:bodyPr wrap="square"/>
                    <a:lstStyle/>
                    <a:p>
                      <a:pPr algn="ctr">
                        <a:defRPr sz="1200" b="1">
                          <a:solidFill>
                            <a:srgbClr val="1E242B"/>
                          </a:solidFill>
                          <a:latin typeface="Times New Roman"/>
                        </a:defRPr>
                      </a:pPr>
                      <a:r>
                        <a:t>No.12</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Đồ gá tự động quét đo lề bản in Gray &amp; bù lệnh U402</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Đang chế tạo thử</a:t>
                      </a:r>
                    </a:p>
                  </a:txBody>
                  <a:tcPr anchor="ctr" marL="36576" marR="36576" marT="13716" marB="13716">
                    <a:solidFill>
                      <a:srgbClr val="FFFFFF"/>
                    </a:solidFill>
                  </a:tcPr>
                </a:tc>
              </a:tr>
              <a:tr h="657225">
                <a:tc>
                  <a:txBody>
                    <a:bodyPr wrap="square"/>
                    <a:lstStyle/>
                    <a:p>
                      <a:pPr algn="ctr">
                        <a:defRPr sz="1200" b="1">
                          <a:solidFill>
                            <a:srgbClr val="1E242B"/>
                          </a:solidFill>
                          <a:latin typeface="Times New Roman"/>
                        </a:defRPr>
                      </a:pPr>
                      <a:r>
                        <a:t>No.13</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Giảm số lượng bản in Print từ 17 tờ xuống còn 9 tờ</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Chờ QA duyệt</a:t>
                      </a:r>
                    </a:p>
                  </a:txBody>
                  <a:tcPr anchor="ctr" marL="36576" marR="36576" marT="13716" marB="13716">
                    <a:solidFill>
                      <a:srgbClr val="EAF7EE"/>
                    </a:solidFill>
                  </a:tcPr>
                </a:tc>
              </a:tr>
              <a:tr h="657225">
                <a:tc>
                  <a:txBody>
                    <a:bodyPr wrap="square"/>
                    <a:lstStyle/>
                    <a:p>
                      <a:pPr algn="ctr">
                        <a:defRPr sz="1200" b="1">
                          <a:solidFill>
                            <a:srgbClr val="1E242B"/>
                          </a:solidFill>
                          <a:latin typeface="Times New Roman"/>
                        </a:defRPr>
                      </a:pPr>
                      <a:r>
                        <a:t>No.14~38</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Vào Maintenance Mode tự động (No.14); Macro in 1 chạm (No.15); Đo tốc độ FAN (No.16); Tối ưu quét SITC-2 (No.17); AI WeChat (No.38)</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Đang phối hợp KDC</a:t>
                      </a:r>
                    </a:p>
                  </a:txBody>
                  <a:tcPr anchor="ctr" marL="36576" marR="36576" marT="13716" marB="13716">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PHẦN THAM KHẢO (3/4)</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Các vấn đề kỹ thuật, rủi ro phát sinh và Đối sách thống nhất giữa 3 cứ điểm</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14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 Tổng hợp 6 vấn đề kỹ thuật và chi phí phát sinh từ 17 cuộc họp liên kết (保証工程連携会) và DR4 cùng đối sách kỹ thuật đã thống nhất.</a:t>
            </a:r>
          </a:p>
        </p:txBody>
      </p:sp>
      <p:graphicFrame>
        <p:nvGraphicFramePr>
          <p:cNvPr id="7" name="Table 6"/>
          <p:cNvGraphicFramePr>
            <a:graphicFrameLocks noGrp="1"/>
          </p:cNvGraphicFramePr>
          <p:nvPr/>
        </p:nvGraphicFramePr>
        <p:xfrm>
          <a:off x="256032" y="1234440"/>
          <a:ext cx="11679631" cy="5257800"/>
        </p:xfrm>
        <a:graphic>
          <a:graphicData uri="http://schemas.openxmlformats.org/drawingml/2006/table">
            <a:tbl>
              <a:tblPr firstRow="1" bandRow="1">
                <a:tableStyleId>{5C22544A-7EE6-4342-B048-85BDC9FD1C3A}</a:tableStyleId>
              </a:tblPr>
              <a:tblGrid>
                <a:gridCol w="548640"/>
                <a:gridCol w="2286000"/>
                <a:gridCol w="3931920"/>
                <a:gridCol w="4913071"/>
              </a:tblGrid>
              <a:tr h="751114">
                <a:tc>
                  <a:txBody>
                    <a:bodyPr wrap="square"/>
                    <a:lstStyle/>
                    <a:p>
                      <a:pPr algn="ctr">
                        <a:defRPr sz="1250" b="1">
                          <a:solidFill>
                            <a:srgbClr val="FFFFFF"/>
                          </a:solidFill>
                          <a:latin typeface="Times New Roman"/>
                        </a:defRPr>
                      </a:pPr>
                      <a:r>
                        <a:t>TT</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Vấn đề phát sinh</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Chi tiết rủi ro thực tế</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Đối sách kỹ thuật đã thống nhất</a:t>
                      </a:r>
                    </a:p>
                  </a:txBody>
                  <a:tcPr anchor="ctr" marL="36576" marR="36576" marT="13716" marB="13716">
                    <a:solidFill>
                      <a:srgbClr val="1B365D"/>
                    </a:solidFill>
                  </a:tcPr>
                </a:tc>
              </a:tr>
              <a:tr h="751114">
                <a:tc>
                  <a:txBody>
                    <a:bodyPr wrap="square"/>
                    <a:lstStyle/>
                    <a:p>
                      <a:pPr algn="ctr">
                        <a:defRPr sz="1200" b="1">
                          <a:solidFill>
                            <a:srgbClr val="1E242B"/>
                          </a:solidFill>
                          <a:latin typeface="Times New Roman"/>
                        </a:defRPr>
                      </a:pPr>
                      <a:r>
                        <a:t>1</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Chi phí Robot No.23 &amp; No.24 quá cao (754 tr VNĐ)</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Robot đặt bản thảo No.23 (650tr) và Robot USB/U201 No.24 (104tr) thu hồi vốn lâu (&gt;6 năm).</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Hủy 2 Robot; chuyển sang dùng khay nạp DP kéo quét liên tục (No.25) và đọc log Host PC (JP No.3, No.6) với chi phí thiết bị 0 đồng.</a:t>
                      </a:r>
                    </a:p>
                  </a:txBody>
                  <a:tcPr anchor="ctr" marL="36576" marR="36576" marT="13716" marB="13716">
                    <a:solidFill>
                      <a:srgbClr val="E8EEF5"/>
                    </a:solidFill>
                  </a:tcPr>
                </a:tc>
              </a:tr>
              <a:tr h="751114">
                <a:tc>
                  <a:txBody>
                    <a:bodyPr wrap="square"/>
                    <a:lstStyle/>
                    <a:p>
                      <a:pPr algn="ctr">
                        <a:defRPr sz="1200" b="1">
                          <a:solidFill>
                            <a:srgbClr val="1E242B"/>
                          </a:solidFill>
                          <a:latin typeface="Times New Roman"/>
                        </a:defRPr>
                      </a:pPr>
                      <a:r>
                        <a:t>2</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Raspberry Pi của Athena bị chai pin &amp; rớt mạng Wi-Fi</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Athena dùng Pin sạc dự phòng cho AGV bị chai pin và rớt Wi-Fi 2~3 lần/tuần, không hợp với sản lượng 16.000 máy/tháng.</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Thống nhất chuyển sang Spica Mini PC: Cấp nguồn điện AC cố định, dùng mạng dây LAN/VLAN (1 bộ điều khiển 4 máy trong Cell).</a:t>
                      </a:r>
                    </a:p>
                  </a:txBody>
                  <a:tcPr anchor="ctr" marL="36576" marR="36576" marT="13716" marB="13716">
                    <a:solidFill>
                      <a:srgbClr val="FEF7E6"/>
                    </a:solidFill>
                  </a:tcPr>
                </a:tc>
              </a:tr>
              <a:tr h="751114">
                <a:tc>
                  <a:txBody>
                    <a:bodyPr wrap="square"/>
                    <a:lstStyle/>
                    <a:p>
                      <a:pPr algn="ctr">
                        <a:defRPr sz="1200" b="1">
                          <a:solidFill>
                            <a:srgbClr val="1E242B"/>
                          </a:solidFill>
                          <a:latin typeface="Times New Roman"/>
                        </a:defRPr>
                      </a:pPr>
                      <a:r>
                        <a:t>3</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Sai lệch khi quét qua khay DP so với mặt kính ISU</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Kéo giấy liên tục qua khay DP (No.25) có thể bị lệch hoặc rung so với đặt cố định trên kính phẳng ISU.</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Đang chạy thực nghiệm so sánh dữ liệu; xây dựng thuật toán bù hình học trên phần mềm PC; chỉ áp dụng đại trà khi Cpk ≥ 1,33.</a:t>
                      </a:r>
                    </a:p>
                  </a:txBody>
                  <a:tcPr anchor="ctr" marL="36576" marR="36576" marT="13716" marB="13716">
                    <a:solidFill>
                      <a:srgbClr val="FFFFFF"/>
                    </a:solidFill>
                  </a:tcPr>
                </a:tc>
              </a:tr>
              <a:tr h="751114">
                <a:tc>
                  <a:txBody>
                    <a:bodyPr wrap="square"/>
                    <a:lstStyle/>
                    <a:p>
                      <a:pPr algn="ctr">
                        <a:defRPr sz="1200" b="1">
                          <a:solidFill>
                            <a:srgbClr val="1E242B"/>
                          </a:solidFill>
                          <a:latin typeface="Times New Roman"/>
                        </a:defRPr>
                      </a:pPr>
                      <a:r>
                        <a:t>4</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Quy định an toàn bắt buộc đo chịu áp khi đóng kín nắp máy</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DR4 quy định bắt buộc đo chịu áp khi đã đóng kín vỏ để phát hiện kẹt dập dây điện; nhưng K3 đang mở nắp kiểm tra FAN.</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Tách riêng kiểm tra FAN bằng tín hiệu phần mềm; chuyển nguyên công lắp 6 tấm vỏ ngoài về cuối chuyền Lắp ráp (No.33).</a:t>
                      </a:r>
                    </a:p>
                  </a:txBody>
                  <a:tcPr anchor="ctr" marL="36576" marR="36576" marT="13716" marB="13716">
                    <a:solidFill>
                      <a:srgbClr val="EAF7EE"/>
                    </a:solidFill>
                  </a:tcPr>
                </a:tc>
              </a:tr>
              <a:tr h="751114">
                <a:tc>
                  <a:txBody>
                    <a:bodyPr wrap="square"/>
                    <a:lstStyle/>
                    <a:p>
                      <a:pPr algn="ctr">
                        <a:defRPr sz="1200" b="1">
                          <a:solidFill>
                            <a:srgbClr val="1E242B"/>
                          </a:solidFill>
                          <a:latin typeface="Times New Roman"/>
                        </a:defRPr>
                      </a:pPr>
                      <a:r>
                        <a:t>5</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Lỗi lệch Transfer Belt tại VN (1~2 máy/tháng)</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Nhà máy CN không bị, nhưng VN vẫn có 1~2 máy lỗi/tháng do dung sai linh kiện; đổi cơ cấu gạt mực dễ lật lưỡi gạt.</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Thiết kế đã đổi Puli góc vát 35° và đổi vật liệu Belt; VN tiếp tục đo kiểm đến khi Cpk ≥ 1,33; bổ sung chu trình cấp mực U930.</a:t>
                      </a:r>
                    </a:p>
                  </a:txBody>
                  <a:tcPr anchor="ctr" marL="36576" marR="36576" marT="13716" marB="13716">
                    <a:solidFill>
                      <a:srgbClr val="FEF7E6"/>
                    </a:solidFill>
                  </a:tcPr>
                </a:tc>
              </a:tr>
              <a:tr h="751116">
                <a:tc>
                  <a:txBody>
                    <a:bodyPr wrap="square"/>
                    <a:lstStyle/>
                    <a:p>
                      <a:pPr algn="ctr">
                        <a:defRPr sz="1200" b="1">
                          <a:solidFill>
                            <a:srgbClr val="1E242B"/>
                          </a:solidFill>
                          <a:latin typeface="Times New Roman"/>
                        </a:defRPr>
                      </a:pPr>
                      <a:r>
                        <a:t>6</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Phát sinh bước mới U413 (+89s Color / +52s Mono)</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Để nâng cao chất lượng ảnh, thiết kế bổ sung bước bù bước tia quét U413 làm phát sinh thêm 89s nếu làm thủ công.</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Xem xét phần mềm tự động nạp dữ liệu LSU bỏ chỉnh tay trên line (~225-250 vạn JPY), hoặc tích hợp tự động vào chu trình in trạm A-2.</a:t>
                      </a:r>
                    </a:p>
                  </a:txBody>
                  <a:tcPr anchor="ctr" marL="36576" marR="36576" marT="13716" marB="13716">
                    <a:solidFill>
                      <a:srgbClr val="F7F9FC"/>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PHẦN THAM KHẢO (4/4)</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Bảng tra cứu đầy đủ 38 đề án cải tiến của 3 cứ điểm (No.1 ~ No.38)</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15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 Danh mục toàn bộ 38 đề án (Nhật Bản: No.1~7 | Trung Quốc: No.8~17, No.38 | Việt Nam: No.18~37) trích xuất nguyên bản từ tài liệu tổng hợp chung.</a:t>
            </a:r>
          </a:p>
        </p:txBody>
      </p:sp>
      <p:graphicFrame>
        <p:nvGraphicFramePr>
          <p:cNvPr id="7" name="Table 6"/>
          <p:cNvGraphicFramePr>
            <a:graphicFrameLocks noGrp="1"/>
          </p:cNvGraphicFramePr>
          <p:nvPr/>
        </p:nvGraphicFramePr>
        <p:xfrm>
          <a:off x="256032" y="1234440"/>
          <a:ext cx="5669280" cy="5257800"/>
        </p:xfrm>
        <a:graphic>
          <a:graphicData uri="http://schemas.openxmlformats.org/drawingml/2006/table">
            <a:tbl>
              <a:tblPr firstRow="1" bandRow="1">
                <a:tableStyleId>{5C22544A-7EE6-4342-B048-85BDC9FD1C3A}</a:tableStyleId>
              </a:tblPr>
              <a:tblGrid>
                <a:gridCol w="640080"/>
                <a:gridCol w="1097280"/>
                <a:gridCol w="2560320"/>
                <a:gridCol w="1371600"/>
              </a:tblGrid>
              <a:tr h="477981">
                <a:tc>
                  <a:txBody>
                    <a:bodyPr wrap="square"/>
                    <a:lstStyle/>
                    <a:p>
                      <a:pPr algn="ctr">
                        <a:defRPr sz="1250" b="1">
                          <a:solidFill>
                            <a:srgbClr val="FFFFFF"/>
                          </a:solidFill>
                          <a:latin typeface="Times New Roman"/>
                        </a:defRPr>
                      </a:pPr>
                      <a:r>
                        <a:t>Mã</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Cứ điểm</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Nội dung đề án (No.1 ~ No.19)</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Trạng thái</a:t>
                      </a:r>
                    </a:p>
                  </a:txBody>
                  <a:tcPr anchor="ctr" marL="36576" marR="36576" marT="13716" marB="13716">
                    <a:solidFill>
                      <a:srgbClr val="1B365D"/>
                    </a:solidFill>
                  </a:tcPr>
                </a:tc>
              </a:tr>
              <a:tr h="477981">
                <a:tc>
                  <a:txBody>
                    <a:bodyPr wrap="square"/>
                    <a:lstStyle/>
                    <a:p>
                      <a:pPr algn="ctr">
                        <a:defRPr sz="1200" b="1">
                          <a:solidFill>
                            <a:srgbClr val="1E242B"/>
                          </a:solidFill>
                          <a:latin typeface="Times New Roman"/>
                        </a:defRPr>
                      </a:pPr>
                      <a:r>
                        <a:t>No.1</a:t>
                      </a:r>
                    </a:p>
                  </a:txBody>
                  <a:tcPr anchor="ctr" marL="36576" marR="36576" marT="13716" marB="13716">
                    <a:solidFill>
                      <a:srgbClr val="E8EEF5"/>
                    </a:solidFill>
                  </a:tcPr>
                </a:tc>
                <a:tc>
                  <a:txBody>
                    <a:bodyPr wrap="square"/>
                    <a:lstStyle/>
                    <a:p>
                      <a:pPr algn="ctr">
                        <a:defRPr sz="1200">
                          <a:solidFill>
                            <a:srgbClr val="1E242B"/>
                          </a:solidFill>
                          <a:latin typeface="Times New Roman"/>
                        </a:defRPr>
                      </a:pPr>
                      <a:r>
                        <a:t>Nhật Bản</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Chuyền lấy A-1 làm trọng tâm (4 người, 97s)</a:t>
                      </a:r>
                    </a:p>
                  </a:txBody>
                  <a:tcPr anchor="ctr" marL="36576" marR="36576" marT="13716" marB="13716">
                    <a:solidFill>
                      <a:srgbClr val="E8EEF5"/>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8EEF5"/>
                    </a:solidFill>
                  </a:tcPr>
                </a:tc>
              </a:tr>
              <a:tr h="477981">
                <a:tc>
                  <a:txBody>
                    <a:bodyPr wrap="square"/>
                    <a:lstStyle/>
                    <a:p>
                      <a:pPr algn="ctr">
                        <a:defRPr sz="1200" b="1">
                          <a:solidFill>
                            <a:srgbClr val="1E242B"/>
                          </a:solidFill>
                          <a:latin typeface="Times New Roman"/>
                        </a:defRPr>
                      </a:pPr>
                      <a:r>
                        <a:t>No.2</a:t>
                      </a:r>
                    </a:p>
                  </a:txBody>
                  <a:tcPr anchor="ctr" marL="36576" marR="36576" marT="13716" marB="13716">
                    <a:solidFill>
                      <a:srgbClr val="E8EEF5"/>
                    </a:solidFill>
                  </a:tcPr>
                </a:tc>
                <a:tc>
                  <a:txBody>
                    <a:bodyPr wrap="square"/>
                    <a:lstStyle/>
                    <a:p>
                      <a:pPr algn="ctr">
                        <a:defRPr sz="1200">
                          <a:solidFill>
                            <a:srgbClr val="1E242B"/>
                          </a:solidFill>
                          <a:latin typeface="Times New Roman"/>
                        </a:defRPr>
                      </a:pPr>
                      <a:r>
                        <a:t>Nhật Bản</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Bỏ bước cài đặt ngưỡng WTB U155 (-29s)</a:t>
                      </a:r>
                    </a:p>
                  </a:txBody>
                  <a:tcPr anchor="ctr" marL="36576" marR="36576" marT="13716" marB="13716">
                    <a:solidFill>
                      <a:srgbClr val="E8EEF5"/>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8EEF5"/>
                    </a:solidFill>
                  </a:tcPr>
                </a:tc>
              </a:tr>
              <a:tr h="477981">
                <a:tc>
                  <a:txBody>
                    <a:bodyPr wrap="square"/>
                    <a:lstStyle/>
                    <a:p>
                      <a:pPr algn="ctr">
                        <a:defRPr sz="1200" b="1">
                          <a:solidFill>
                            <a:srgbClr val="1E242B"/>
                          </a:solidFill>
                          <a:latin typeface="Times New Roman"/>
                        </a:defRPr>
                      </a:pPr>
                      <a:r>
                        <a:t>No.3</a:t>
                      </a:r>
                    </a:p>
                  </a:txBody>
                  <a:tcPr anchor="ctr" marL="36576" marR="36576" marT="13716" marB="13716">
                    <a:solidFill>
                      <a:srgbClr val="E8EEF5"/>
                    </a:solidFill>
                  </a:tcPr>
                </a:tc>
                <a:tc>
                  <a:txBody>
                    <a:bodyPr wrap="square"/>
                    <a:lstStyle/>
                    <a:p>
                      <a:pPr algn="ctr">
                        <a:defRPr sz="1200">
                          <a:solidFill>
                            <a:srgbClr val="1E242B"/>
                          </a:solidFill>
                          <a:latin typeface="Times New Roman"/>
                        </a:defRPr>
                      </a:pPr>
                      <a:r>
                        <a:t>Nhật Bản</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Bỏ kiểm tra Panel U201, đọc log Host PC</a:t>
                      </a:r>
                    </a:p>
                  </a:txBody>
                  <a:tcPr anchor="ctr" marL="36576" marR="36576" marT="13716" marB="13716">
                    <a:solidFill>
                      <a:srgbClr val="E8EEF5"/>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8EEF5"/>
                    </a:solidFill>
                  </a:tcPr>
                </a:tc>
              </a:tr>
              <a:tr h="477981">
                <a:tc>
                  <a:txBody>
                    <a:bodyPr wrap="square"/>
                    <a:lstStyle/>
                    <a:p>
                      <a:pPr algn="ctr">
                        <a:defRPr sz="1200" b="1">
                          <a:solidFill>
                            <a:srgbClr val="1E242B"/>
                          </a:solidFill>
                          <a:latin typeface="Times New Roman"/>
                        </a:defRPr>
                      </a:pPr>
                      <a:r>
                        <a:t>No.4</a:t>
                      </a:r>
                    </a:p>
                  </a:txBody>
                  <a:tcPr anchor="ctr" marL="36576" marR="36576" marT="13716" marB="13716">
                    <a:solidFill>
                      <a:srgbClr val="E8EEF5"/>
                    </a:solidFill>
                  </a:tcPr>
                </a:tc>
                <a:tc>
                  <a:txBody>
                    <a:bodyPr wrap="square"/>
                    <a:lstStyle/>
                    <a:p>
                      <a:pPr algn="ctr">
                        <a:defRPr sz="1200">
                          <a:solidFill>
                            <a:srgbClr val="1E242B"/>
                          </a:solidFill>
                          <a:latin typeface="Times New Roman"/>
                        </a:defRPr>
                      </a:pPr>
                      <a:r>
                        <a:t>Nhật Bản</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Tự động kiểm tra khổ giấy khay 1 &amp; 2</a:t>
                      </a:r>
                    </a:p>
                  </a:txBody>
                  <a:tcPr anchor="ctr" marL="36576" marR="36576" marT="13716" marB="13716">
                    <a:solidFill>
                      <a:srgbClr val="E8EEF5"/>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8EEF5"/>
                    </a:solidFill>
                  </a:tcPr>
                </a:tc>
              </a:tr>
              <a:tr h="477981">
                <a:tc>
                  <a:txBody>
                    <a:bodyPr wrap="square"/>
                    <a:lstStyle/>
                    <a:p>
                      <a:pPr algn="ctr">
                        <a:defRPr sz="1200" b="1">
                          <a:solidFill>
                            <a:srgbClr val="1E242B"/>
                          </a:solidFill>
                          <a:latin typeface="Times New Roman"/>
                        </a:defRPr>
                      </a:pPr>
                      <a:r>
                        <a:t>No.5~7</a:t>
                      </a:r>
                    </a:p>
                  </a:txBody>
                  <a:tcPr anchor="ctr" marL="36576" marR="36576" marT="13716" marB="13716">
                    <a:solidFill>
                      <a:srgbClr val="E8EEF5"/>
                    </a:solidFill>
                  </a:tcPr>
                </a:tc>
                <a:tc>
                  <a:txBody>
                    <a:bodyPr wrap="square"/>
                    <a:lstStyle/>
                    <a:p>
                      <a:pPr algn="ctr">
                        <a:defRPr sz="1200">
                          <a:solidFill>
                            <a:srgbClr val="1E242B"/>
                          </a:solidFill>
                          <a:latin typeface="Times New Roman"/>
                        </a:defRPr>
                      </a:pPr>
                      <a:r>
                        <a:t>Nhật Bản</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Bỏ tạo JAM (No.5); Bỏ test USB (No.6); Tự nhận diện công tắc nắp &amp; đo chịu áp (No.7)</a:t>
                      </a:r>
                    </a:p>
                  </a:txBody>
                  <a:tcPr anchor="ctr" marL="36576" marR="36576" marT="13716" marB="13716">
                    <a:solidFill>
                      <a:srgbClr val="E8EEF5"/>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8EEF5"/>
                    </a:solidFill>
                  </a:tcPr>
                </a:tc>
              </a:tr>
              <a:tr h="477981">
                <a:tc>
                  <a:txBody>
                    <a:bodyPr wrap="square"/>
                    <a:lstStyle/>
                    <a:p>
                      <a:pPr algn="ctr">
                        <a:defRPr sz="1200" b="1">
                          <a:solidFill>
                            <a:srgbClr val="1E242B"/>
                          </a:solidFill>
                          <a:latin typeface="Times New Roman"/>
                        </a:defRPr>
                      </a:pPr>
                      <a:r>
                        <a:t>No.8~10</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Trung Quốc</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Xem xét bỏ đo Belt (No.8); Giảm test sấy (No.9); Tạm giữ Scanner soi chấm PPT (No.10)</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Chờ QA duyệt</a:t>
                      </a:r>
                    </a:p>
                  </a:txBody>
                  <a:tcPr anchor="ctr" marL="36576" marR="36576" marT="13716" marB="13716">
                    <a:solidFill>
                      <a:srgbClr val="F7F9FC"/>
                    </a:solidFill>
                  </a:tcPr>
                </a:tc>
              </a:tr>
              <a:tr h="477981">
                <a:tc>
                  <a:txBody>
                    <a:bodyPr wrap="square"/>
                    <a:lstStyle/>
                    <a:p>
                      <a:pPr algn="ctr">
                        <a:defRPr sz="1200" b="1">
                          <a:solidFill>
                            <a:srgbClr val="1E242B"/>
                          </a:solidFill>
                          <a:latin typeface="Times New Roman"/>
                        </a:defRPr>
                      </a:pPr>
                      <a:r>
                        <a:t>No.11</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Trung Quốc</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Gộp 2 tờ DC-1 và Gray thành 1 tờ duy nhất</a:t>
                      </a:r>
                    </a:p>
                  </a:txBody>
                  <a:tcPr anchor="ctr" marL="36576" marR="36576" marT="13716" marB="13716">
                    <a:solidFill>
                      <a:srgbClr val="EAF7EE"/>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AF7EE"/>
                    </a:solidFill>
                  </a:tcPr>
                </a:tc>
              </a:tr>
              <a:tr h="477981">
                <a:tc>
                  <a:txBody>
                    <a:bodyPr wrap="square"/>
                    <a:lstStyle/>
                    <a:p>
                      <a:pPr algn="ctr">
                        <a:defRPr sz="1200" b="1">
                          <a:solidFill>
                            <a:srgbClr val="1E242B"/>
                          </a:solidFill>
                          <a:latin typeface="Times New Roman"/>
                        </a:defRPr>
                      </a:pPr>
                      <a:r>
                        <a:t>No.12~13</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Trung Quốc</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Tự đo lề Gray (No.12); Giảm Print 17-&gt;9 tờ (No.13)</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Chờ QA duyệt</a:t>
                      </a:r>
                    </a:p>
                  </a:txBody>
                  <a:tcPr anchor="ctr" marL="36576" marR="36576" marT="13716" marB="13716">
                    <a:solidFill>
                      <a:srgbClr val="F7F9FC"/>
                    </a:solidFill>
                  </a:tcPr>
                </a:tc>
              </a:tr>
              <a:tr h="477981">
                <a:tc>
                  <a:txBody>
                    <a:bodyPr wrap="square"/>
                    <a:lstStyle/>
                    <a:p>
                      <a:pPr algn="ctr">
                        <a:defRPr sz="1200" b="1">
                          <a:solidFill>
                            <a:srgbClr val="1E242B"/>
                          </a:solidFill>
                          <a:latin typeface="Times New Roman"/>
                        </a:defRPr>
                      </a:pPr>
                      <a:r>
                        <a:t>No.14~17</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Trung Quốc</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Vào Maintenance mạng (No.14); Macro in (No.15); Đo tốc độ FAN (No.16); Quét SITC-2 (No.17)</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Đang phối hợp</a:t>
                      </a:r>
                    </a:p>
                  </a:txBody>
                  <a:tcPr anchor="ctr" marL="36576" marR="36576" marT="13716" marB="13716">
                    <a:solidFill>
                      <a:srgbClr val="FFFFFF"/>
                    </a:solidFill>
                  </a:tcPr>
                </a:tc>
              </a:tr>
              <a:tr h="477990">
                <a:tc>
                  <a:txBody>
                    <a:bodyPr wrap="square"/>
                    <a:lstStyle/>
                    <a:p>
                      <a:pPr algn="ctr">
                        <a:defRPr sz="1200" b="1">
                          <a:solidFill>
                            <a:srgbClr val="1E242B"/>
                          </a:solidFill>
                          <a:latin typeface="Times New Roman"/>
                        </a:defRPr>
                      </a:pPr>
                      <a:r>
                        <a:t>No.18~19</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Việt Nam</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Nạp FW 4 máy (No.18); Tự đổi tiếng Anh (No.19)</a:t>
                      </a:r>
                    </a:p>
                  </a:txBody>
                  <a:tcPr anchor="ctr" marL="36576" marR="36576" marT="13716" marB="13716">
                    <a:solidFill>
                      <a:srgbClr val="EAF7EE"/>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AF7EE"/>
                    </a:solidFill>
                  </a:tcPr>
                </a:tc>
              </a:tr>
            </a:tbl>
          </a:graphicData>
        </a:graphic>
      </p:graphicFrame>
      <p:graphicFrame>
        <p:nvGraphicFramePr>
          <p:cNvPr id="8" name="Table 7"/>
          <p:cNvGraphicFramePr>
            <a:graphicFrameLocks noGrp="1"/>
          </p:cNvGraphicFramePr>
          <p:nvPr/>
        </p:nvGraphicFramePr>
        <p:xfrm>
          <a:off x="6172200" y="1234440"/>
          <a:ext cx="5763463" cy="5257800"/>
        </p:xfrm>
        <a:graphic>
          <a:graphicData uri="http://schemas.openxmlformats.org/drawingml/2006/table">
            <a:tbl>
              <a:tblPr firstRow="1" bandRow="1">
                <a:tableStyleId>{5C22544A-7EE6-4342-B048-85BDC9FD1C3A}</a:tableStyleId>
              </a:tblPr>
              <a:tblGrid>
                <a:gridCol w="640080"/>
                <a:gridCol w="1097280"/>
                <a:gridCol w="2654503"/>
                <a:gridCol w="1371600"/>
              </a:tblGrid>
              <a:tr h="477981">
                <a:tc>
                  <a:txBody>
                    <a:bodyPr wrap="square"/>
                    <a:lstStyle/>
                    <a:p>
                      <a:pPr algn="ctr">
                        <a:defRPr sz="1250" b="1">
                          <a:solidFill>
                            <a:srgbClr val="FFFFFF"/>
                          </a:solidFill>
                          <a:latin typeface="Times New Roman"/>
                        </a:defRPr>
                      </a:pPr>
                      <a:r>
                        <a:t>Mã</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Cứ điểm</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Nội dung đề án (No.20 ~ No.38)</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Trạng thái</a:t>
                      </a:r>
                    </a:p>
                  </a:txBody>
                  <a:tcPr anchor="ctr" marL="36576" marR="36576" marT="13716" marB="13716">
                    <a:solidFill>
                      <a:srgbClr val="1B365D"/>
                    </a:solidFill>
                  </a:tcPr>
                </a:tc>
              </a:tr>
              <a:tr h="477981">
                <a:tc>
                  <a:txBody>
                    <a:bodyPr wrap="square"/>
                    <a:lstStyle/>
                    <a:p>
                      <a:pPr algn="ctr">
                        <a:defRPr sz="1200" b="1">
                          <a:solidFill>
                            <a:srgbClr val="1E242B"/>
                          </a:solidFill>
                          <a:latin typeface="Times New Roman"/>
                        </a:defRPr>
                      </a:pPr>
                      <a:r>
                        <a:t>No.20~21</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Việt Nam</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Truyền log LAN (No.20); Gá nhanh Option (No.21)</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Đang chế tạo thử</a:t>
                      </a:r>
                    </a:p>
                  </a:txBody>
                  <a:tcPr anchor="ctr" marL="36576" marR="36576" marT="13716" marB="13716">
                    <a:solidFill>
                      <a:srgbClr val="FFFFFF"/>
                    </a:solidFill>
                  </a:tcPr>
                </a:tc>
              </a:tr>
              <a:tr h="477981">
                <a:tc>
                  <a:txBody>
                    <a:bodyPr wrap="square"/>
                    <a:lstStyle/>
                    <a:p>
                      <a:pPr algn="ctr">
                        <a:defRPr sz="1200" b="1">
                          <a:solidFill>
                            <a:srgbClr val="1E242B"/>
                          </a:solidFill>
                          <a:latin typeface="Times New Roman"/>
                        </a:defRPr>
                      </a:pPr>
                      <a:r>
                        <a:t>No.22</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Việt Nam</a:t>
                      </a:r>
                    </a:p>
                  </a:txBody>
                  <a:tcPr anchor="ctr" marL="36576" marR="36576" marT="13716" marB="13716">
                    <a:solidFill>
                      <a:srgbClr val="EAF7EE"/>
                    </a:solidFill>
                  </a:tcPr>
                </a:tc>
                <a:tc>
                  <a:txBody>
                    <a:bodyPr wrap="square"/>
                    <a:lstStyle/>
                    <a:p>
                      <a:pPr algn="l">
                        <a:defRPr sz="1200" b="1">
                          <a:solidFill>
                            <a:srgbClr val="1E6E3E"/>
                          </a:solidFill>
                          <a:latin typeface="Times New Roman"/>
                        </a:defRPr>
                      </a:pPr>
                      <a:r>
                        <a:t>Tự động kiểm tra an toàn điện (101,69 tr VNĐ)</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Duyệt Đợt 1</a:t>
                      </a:r>
                    </a:p>
                  </a:txBody>
                  <a:tcPr anchor="ctr" marL="36576" marR="36576" marT="13716" marB="13716">
                    <a:solidFill>
                      <a:srgbClr val="EAF7EE"/>
                    </a:solidFill>
                  </a:tcPr>
                </a:tc>
              </a:tr>
              <a:tr h="477981">
                <a:tc>
                  <a:txBody>
                    <a:bodyPr wrap="square"/>
                    <a:lstStyle/>
                    <a:p>
                      <a:pPr algn="ctr">
                        <a:defRPr sz="1200" b="1">
                          <a:solidFill>
                            <a:srgbClr val="1E242B"/>
                          </a:solidFill>
                          <a:latin typeface="Times New Roman"/>
                        </a:defRPr>
                      </a:pPr>
                      <a:r>
                        <a:t>No.23~24</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Việt Nam</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Hủy Robot 25k$ &amp; 4k$; thay bằng DP và Host PC</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Hủy 2 Robot</a:t>
                      </a:r>
                    </a:p>
                  </a:txBody>
                  <a:tcPr anchor="ctr" marL="36576" marR="36576" marT="13716" marB="13716">
                    <a:solidFill>
                      <a:srgbClr val="EAF7EE"/>
                    </a:solidFill>
                  </a:tcPr>
                </a:tc>
              </a:tr>
              <a:tr h="477981">
                <a:tc>
                  <a:txBody>
                    <a:bodyPr wrap="square"/>
                    <a:lstStyle/>
                    <a:p>
                      <a:pPr algn="ctr">
                        <a:defRPr sz="1200" b="1">
                          <a:solidFill>
                            <a:srgbClr val="1E242B"/>
                          </a:solidFill>
                          <a:latin typeface="Times New Roman"/>
                        </a:defRPr>
                      </a:pPr>
                      <a:r>
                        <a:t>No.25</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Việt Nam</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Lắp khay DP lên máy test để quét liên tục</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Đang kiểm chứng</a:t>
                      </a:r>
                    </a:p>
                  </a:txBody>
                  <a:tcPr anchor="ctr" marL="36576" marR="36576" marT="13716" marB="13716">
                    <a:solidFill>
                      <a:srgbClr val="EAF7EE"/>
                    </a:solidFill>
                  </a:tcPr>
                </a:tc>
              </a:tr>
              <a:tr h="477981">
                <a:tc>
                  <a:txBody>
                    <a:bodyPr wrap="square"/>
                    <a:lstStyle/>
                    <a:p>
                      <a:pPr algn="ctr">
                        <a:defRPr sz="1200" b="1">
                          <a:solidFill>
                            <a:srgbClr val="1E242B"/>
                          </a:solidFill>
                          <a:latin typeface="Times New Roman"/>
                        </a:defRPr>
                      </a:pPr>
                      <a:r>
                        <a:t>No.26</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Việt Nam</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AI phân tích tiếng kêu lạ &amp; nhiệt độ (~600 vạn)</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Nghiên cứu dài hạn</a:t>
                      </a:r>
                    </a:p>
                  </a:txBody>
                  <a:tcPr anchor="ctr" marL="36576" marR="36576" marT="13716" marB="13716">
                    <a:solidFill>
                      <a:srgbClr val="FFFFFF"/>
                    </a:solidFill>
                  </a:tcPr>
                </a:tc>
              </a:tr>
              <a:tr h="477981">
                <a:tc>
                  <a:txBody>
                    <a:bodyPr wrap="square"/>
                    <a:lstStyle/>
                    <a:p>
                      <a:pPr algn="ctr">
                        <a:defRPr sz="1200" b="1">
                          <a:solidFill>
                            <a:srgbClr val="1E242B"/>
                          </a:solidFill>
                          <a:latin typeface="Times New Roman"/>
                        </a:defRPr>
                      </a:pPr>
                      <a:r>
                        <a:t>No.27~28</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Việt Nam</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Camera HIKROBOT đo nồng độ &amp; lề (No.27); Xuất hàng qua mạng &amp; AI video (No.28)</a:t>
                      </a:r>
                    </a:p>
                  </a:txBody>
                  <a:tcPr anchor="ctr" marL="36576" marR="36576" marT="13716" marB="13716">
                    <a:solidFill>
                      <a:srgbClr val="EAF7EE"/>
                    </a:solidFill>
                  </a:tcPr>
                </a:tc>
                <a:tc>
                  <a:txBody>
                    <a:bodyPr wrap="square"/>
                    <a:lstStyle/>
                    <a:p>
                      <a:pPr algn="ctr">
                        <a:defRPr sz="1200" b="1">
                          <a:solidFill>
                            <a:srgbClr val="1E6E3E"/>
                          </a:solidFill>
                          <a:latin typeface="Times New Roman"/>
                        </a:defRPr>
                      </a:pPr>
                      <a:r>
                        <a:t>Đang lấy báo giá / Triển khai ngay</a:t>
                      </a:r>
                    </a:p>
                  </a:txBody>
                  <a:tcPr anchor="ctr" marL="36576" marR="36576" marT="13716" marB="13716">
                    <a:solidFill>
                      <a:srgbClr val="EAF7EE"/>
                    </a:solidFill>
                  </a:tcPr>
                </a:tc>
              </a:tr>
              <a:tr h="477981">
                <a:tc>
                  <a:txBody>
                    <a:bodyPr wrap="square"/>
                    <a:lstStyle/>
                    <a:p>
                      <a:pPr algn="ctr">
                        <a:defRPr sz="1200" b="1">
                          <a:solidFill>
                            <a:srgbClr val="1E242B"/>
                          </a:solidFill>
                          <a:latin typeface="Times New Roman"/>
                        </a:defRPr>
                      </a:pPr>
                      <a:r>
                        <a:t>No.29~30</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VN thêm</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Tự kiểm tra hộp mực (No.29); Bỏ WTB U155 (No.30)</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Đã duyệt xóa U155</a:t>
                      </a:r>
                    </a:p>
                  </a:txBody>
                  <a:tcPr anchor="ctr" marL="36576" marR="36576" marT="13716" marB="13716">
                    <a:solidFill>
                      <a:srgbClr val="EAF7EE"/>
                    </a:solidFill>
                  </a:tcPr>
                </a:tc>
              </a:tr>
              <a:tr h="477981">
                <a:tc>
                  <a:txBody>
                    <a:bodyPr wrap="square"/>
                    <a:lstStyle/>
                    <a:p>
                      <a:pPr algn="ctr">
                        <a:defRPr sz="1200" b="1">
                          <a:solidFill>
                            <a:srgbClr val="1E242B"/>
                          </a:solidFill>
                          <a:latin typeface="Times New Roman"/>
                        </a:defRPr>
                      </a:pPr>
                      <a:r>
                        <a:t>No.31~32</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VN thêm</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Hủy tờ RCG trước U950 (No.31); Rút Aging (No.32)</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Đang xác nhận JP</a:t>
                      </a:r>
                    </a:p>
                  </a:txBody>
                  <a:tcPr anchor="ctr" marL="36576" marR="36576" marT="13716" marB="13716">
                    <a:solidFill>
                      <a:srgbClr val="F7F9FC"/>
                    </a:solidFill>
                  </a:tcPr>
                </a:tc>
              </a:tr>
              <a:tr h="477981">
                <a:tc>
                  <a:txBody>
                    <a:bodyPr wrap="square"/>
                    <a:lstStyle/>
                    <a:p>
                      <a:pPr algn="ctr">
                        <a:defRPr sz="1200" b="1">
                          <a:solidFill>
                            <a:srgbClr val="1E242B"/>
                          </a:solidFill>
                          <a:latin typeface="Times New Roman"/>
                        </a:defRPr>
                      </a:pPr>
                      <a:r>
                        <a:t>No.33~34</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VN thêm</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Hủy tờ RCG Ledger (No.33); Hủy tờ LSU Skew (No.34)</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Chốt DR công đoạn</a:t>
                      </a:r>
                    </a:p>
                  </a:txBody>
                  <a:tcPr anchor="ctr" marL="36576" marR="36576" marT="13716" marB="13716">
                    <a:solidFill>
                      <a:srgbClr val="EAF7EE"/>
                    </a:solidFill>
                  </a:tcPr>
                </a:tc>
              </a:tr>
              <a:tr h="477990">
                <a:tc>
                  <a:txBody>
                    <a:bodyPr wrap="square"/>
                    <a:lstStyle/>
                    <a:p>
                      <a:pPr algn="ctr">
                        <a:defRPr sz="1200" b="1">
                          <a:solidFill>
                            <a:srgbClr val="1E242B"/>
                          </a:solidFill>
                          <a:latin typeface="Times New Roman"/>
                        </a:defRPr>
                      </a:pPr>
                      <a:r>
                        <a:t>No.35~38</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VN / CN</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Gộp lệnh U410 (No.35); Hủy tờ Mono (No.36); RCG Copy Check (No.37); AI WeChat (No.38)</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Đang phối hợp</a:t>
                      </a:r>
                    </a:p>
                  </a:txBody>
                  <a:tcPr anchor="ctr" marL="36576" marR="36576" marT="13716" marB="13716">
                    <a:solidFill>
                      <a:srgbClr val="F7F9FC"/>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