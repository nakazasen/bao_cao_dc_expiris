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94360" y="777240"/>
            <a:ext cx="128016" cy="5303520"/>
          </a:xfrm>
          <a:prstGeom prst="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60120" y="804672"/>
            <a:ext cx="4206240" cy="384048"/>
          </a:xfrm>
          <a:prstGeom prst="round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1B365D"/>
                </a:solidFill>
                <a:latin typeface="Arial"/>
              </a:defRPr>
            </a:pPr>
            <a:r>
              <a:t>DỰ ÁN IRIS EXP  |  CÔNG ĐOẠN ĐIỀU CHỈNH (本体保証工程)</a:t>
            </a:r>
          </a:p>
        </p:txBody>
      </p:sp>
      <p:sp>
        <p:nvSpPr>
          <p:cNvPr id="6" name="TextBox 5"/>
          <p:cNvSpPr txBox="1"/>
          <p:nvPr/>
        </p:nvSpPr>
        <p:spPr>
          <a:xfrm>
            <a:off x="960120" y="1417320"/>
            <a:ext cx="10424160" cy="1737360"/>
          </a:xfrm>
          <a:prstGeom prst="rect">
            <a:avLst/>
          </a:prstGeom>
          <a:noFill/>
        </p:spPr>
        <p:txBody>
          <a:bodyPr wrap="square">
            <a:spAutoFit/>
          </a:bodyPr>
          <a:lstStyle/>
          <a:p>
            <a:pPr>
              <a:spcAft>
                <a:spcPts val="1200"/>
              </a:spcAft>
              <a:defRPr sz="3200" b="1">
                <a:solidFill>
                  <a:srgbClr val="1B365D"/>
                </a:solidFill>
                <a:latin typeface="Arial"/>
              </a:defRPr>
            </a:pPr>
            <a:r>
              <a:t>BÁO CÁO ĐỀ ÁN CẢI TIẾN</a:t>
            </a:r>
            <a:br/>
            <a:r>
              <a:t>CÔNG ĐOẠN ĐIỀU CHỈNH IRIS EXP</a:t>
            </a:r>
          </a:p>
          <a:p>
            <a:pPr>
              <a:defRPr sz="1600" b="1">
                <a:solidFill>
                  <a:srgbClr val="D96B27"/>
                </a:solidFill>
                <a:latin typeface="Arial"/>
              </a:defRPr>
            </a:pPr>
            <a:r>
              <a:t>Tăng gấp đôi năng suất — Đảm bảo sản xuất IrisEXP trên Line Iris2024 hiện tại</a:t>
            </a:r>
          </a:p>
        </p:txBody>
      </p:sp>
      <p:sp>
        <p:nvSpPr>
          <p:cNvPr id="7" name="Rounded Rectangle 6"/>
          <p:cNvSpPr/>
          <p:nvPr/>
        </p:nvSpPr>
        <p:spPr>
          <a:xfrm>
            <a:off x="960120" y="3520440"/>
            <a:ext cx="2505456" cy="1600200"/>
          </a:xfrm>
          <a:prstGeom prst="roundRect">
            <a:avLst/>
          </a:prstGeom>
          <a:solidFill>
            <a:srgbClr val="FFFFFF"/>
          </a:solidFill>
          <a:ln w="1905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60120" y="3520440"/>
            <a:ext cx="2505456" cy="34747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PHẦN 01: NẮM BẮT HIỆN TRẠNG</a:t>
            </a:r>
          </a:p>
        </p:txBody>
      </p:sp>
      <p:sp>
        <p:nvSpPr>
          <p:cNvPr id="9" name="TextBox 8"/>
          <p:cNvSpPr txBox="1"/>
          <p:nvPr/>
        </p:nvSpPr>
        <p:spPr>
          <a:xfrm>
            <a:off x="1051560" y="3950208"/>
            <a:ext cx="2322576" cy="1078992"/>
          </a:xfrm>
          <a:prstGeom prst="rect">
            <a:avLst/>
          </a:prstGeom>
          <a:noFill/>
        </p:spPr>
        <p:txBody>
          <a:bodyPr wrap="square">
            <a:spAutoFit/>
          </a:bodyPr>
          <a:lstStyle/>
          <a:p>
            <a:pPr>
              <a:defRPr sz="1050">
                <a:solidFill>
                  <a:srgbClr val="1E242B"/>
                </a:solidFill>
                <a:latin typeface="Arial"/>
              </a:defRPr>
            </a:pPr>
            <a:r>
              <a:t>Iris2024 (1.083s, 16 người, 243 máy/ngày)</a:t>
            </a:r>
            <a:br/>
            <a:r>
              <a:t>&amp; Bài toán sản lượng IrisEXP (Takt 97s)</a:t>
            </a:r>
          </a:p>
        </p:txBody>
      </p:sp>
      <p:sp>
        <p:nvSpPr>
          <p:cNvPr id="10" name="Rounded Rectangle 9"/>
          <p:cNvSpPr/>
          <p:nvPr/>
        </p:nvSpPr>
        <p:spPr>
          <a:xfrm>
            <a:off x="3630168" y="3520440"/>
            <a:ext cx="2505456" cy="1600200"/>
          </a:xfrm>
          <a:prstGeom prst="roundRect">
            <a:avLst/>
          </a:prstGeom>
          <a:solidFill>
            <a:srgbClr val="FFFFFF"/>
          </a:solidFill>
          <a:ln w="1905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30168" y="3520440"/>
            <a:ext cx="2505456"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PHẦN 02: MỤC TIÊU PHÁT TRIỂN</a:t>
            </a:r>
          </a:p>
        </p:txBody>
      </p:sp>
      <p:sp>
        <p:nvSpPr>
          <p:cNvPr id="12" name="TextBox 11"/>
          <p:cNvSpPr txBox="1"/>
          <p:nvPr/>
        </p:nvSpPr>
        <p:spPr>
          <a:xfrm>
            <a:off x="3721607" y="3950208"/>
            <a:ext cx="2322576" cy="1078992"/>
          </a:xfrm>
          <a:prstGeom prst="rect">
            <a:avLst/>
          </a:prstGeom>
          <a:noFill/>
        </p:spPr>
        <p:txBody>
          <a:bodyPr wrap="square">
            <a:spAutoFit/>
          </a:bodyPr>
          <a:lstStyle/>
          <a:p>
            <a:pPr>
              <a:defRPr sz="1050">
                <a:solidFill>
                  <a:srgbClr val="1E242B"/>
                </a:solidFill>
                <a:latin typeface="Arial"/>
              </a:defRPr>
            </a:pPr>
            <a:r>
              <a:t>Tăng gấp đôi năng suất (30,4 máy/người)</a:t>
            </a:r>
            <a:br/>
            <a:r>
              <a:t>Cắt giảm 50% thời gian &amp; số tờ in</a:t>
            </a:r>
          </a:p>
        </p:txBody>
      </p:sp>
      <p:sp>
        <p:nvSpPr>
          <p:cNvPr id="13" name="Rounded Rectangle 12"/>
          <p:cNvSpPr/>
          <p:nvPr/>
        </p:nvSpPr>
        <p:spPr>
          <a:xfrm>
            <a:off x="6300216" y="3520440"/>
            <a:ext cx="2505456" cy="1600200"/>
          </a:xfrm>
          <a:prstGeom prst="roundRect">
            <a:avLst/>
          </a:prstGeom>
          <a:solidFill>
            <a:srgbClr val="FFFFFF"/>
          </a:solidFill>
          <a:ln w="1905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0216" y="3520440"/>
            <a:ext cx="2505456" cy="347472"/>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PHẦN 03: PHƯƠNG CHÂM 3 CỨ ĐIỂM</a:t>
            </a:r>
          </a:p>
        </p:txBody>
      </p:sp>
      <p:sp>
        <p:nvSpPr>
          <p:cNvPr id="15" name="TextBox 14"/>
          <p:cNvSpPr txBox="1"/>
          <p:nvPr/>
        </p:nvSpPr>
        <p:spPr>
          <a:xfrm>
            <a:off x="6391655" y="3950208"/>
            <a:ext cx="2322576" cy="1078992"/>
          </a:xfrm>
          <a:prstGeom prst="rect">
            <a:avLst/>
          </a:prstGeom>
          <a:noFill/>
        </p:spPr>
        <p:txBody>
          <a:bodyPr wrap="square">
            <a:spAutoFit/>
          </a:bodyPr>
          <a:lstStyle/>
          <a:p>
            <a:pPr>
              <a:defRPr sz="1050">
                <a:solidFill>
                  <a:srgbClr val="1E242B"/>
                </a:solidFill>
                <a:latin typeface="Arial"/>
              </a:defRPr>
            </a:pPr>
            <a:r>
              <a:t>JP định hướng — VN &amp; CN chủ động</a:t>
            </a:r>
            <a:br/>
            <a:r>
              <a:t>Phối hợp 3 cứ điểm cùng giải quyết</a:t>
            </a:r>
          </a:p>
        </p:txBody>
      </p:sp>
      <p:sp>
        <p:nvSpPr>
          <p:cNvPr id="16" name="Rounded Rectangle 15"/>
          <p:cNvSpPr/>
          <p:nvPr/>
        </p:nvSpPr>
        <p:spPr>
          <a:xfrm>
            <a:off x="8970264" y="3520440"/>
            <a:ext cx="2505456" cy="1600200"/>
          </a:xfrm>
          <a:prstGeom prst="roundRect">
            <a:avLst/>
          </a:prstGeom>
          <a:solidFill>
            <a:srgbClr val="FFFFFF"/>
          </a:solidFill>
          <a:ln w="19050">
            <a:solidFill>
              <a:srgbClr val="D96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970264" y="3520440"/>
            <a:ext cx="2505456" cy="347472"/>
          </a:xfrm>
          <a:prstGeom prst="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PHẦN 04: ĐỀ ÁN TỰ ĐỘNG HÓA VN</a:t>
            </a:r>
          </a:p>
        </p:txBody>
      </p:sp>
      <p:sp>
        <p:nvSpPr>
          <p:cNvPr id="18" name="TextBox 17"/>
          <p:cNvSpPr txBox="1"/>
          <p:nvPr/>
        </p:nvSpPr>
        <p:spPr>
          <a:xfrm>
            <a:off x="9061704" y="3950208"/>
            <a:ext cx="2322576" cy="1078992"/>
          </a:xfrm>
          <a:prstGeom prst="rect">
            <a:avLst/>
          </a:prstGeom>
          <a:noFill/>
        </p:spPr>
        <p:txBody>
          <a:bodyPr wrap="square">
            <a:spAutoFit/>
          </a:bodyPr>
          <a:lstStyle/>
          <a:p>
            <a:pPr>
              <a:defRPr sz="1050">
                <a:solidFill>
                  <a:srgbClr val="1E242B"/>
                </a:solidFill>
                <a:latin typeface="Arial"/>
              </a:defRPr>
            </a:pPr>
            <a:r>
              <a:t>Chi tiết 20 đề án cải tiến tại KDTVN</a:t>
            </a:r>
            <a:br/>
            <a:r>
              <a:t>&amp; Dự toán đầu tư (Tham khảo 38 đề án)</a:t>
            </a:r>
          </a:p>
        </p:txBody>
      </p:sp>
      <p:sp>
        <p:nvSpPr>
          <p:cNvPr id="19" name="Rectangle 18"/>
          <p:cNvSpPr/>
          <p:nvPr/>
        </p:nvSpPr>
        <p:spPr>
          <a:xfrm>
            <a:off x="960120" y="5532120"/>
            <a:ext cx="10424160" cy="566928"/>
          </a:xfrm>
          <a:prstGeom prst="rect">
            <a:avLst/>
          </a:prstGeom>
          <a:solidFill>
            <a:srgbClr val="E8EEF5"/>
          </a:solidFill>
          <a:ln w="1016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wrap="square" lIns="182880" tIns="128016"/>
          <a:lstStyle/>
          <a:p>
            <a:pPr algn="ctr">
              <a:defRPr sz="1150" b="1">
                <a:solidFill>
                  <a:srgbClr val="1B365D"/>
                </a:solidFill>
                <a:latin typeface="Arial"/>
              </a:defRPr>
            </a:pPr>
            <a:r>
              <a:t>Bộ phận Kỹ thuật Sản xuất KDTVN (製造技術)   |   Người trình bày: Bùi Đức Vinh   |   Tháng 10/2026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Arial"/>
              </a:defRPr>
            </a:pPr>
            <a:r>
              <a:t>1. NẮM BẮT HIỆN TRẠNG</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Hiện trạng sản xuất dòng máy Iris2024 và bài toán năng lực khi chuyển sang IrisEXP</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2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000" b="1">
                <a:solidFill>
                  <a:srgbClr val="0F203C"/>
                </a:solidFill>
                <a:latin typeface="Arial"/>
              </a:defRPr>
            </a:pPr>
            <a:r>
              <a:t>■ Iris2024 đang cần 16 người thao tác (7 Điều chỉnh + 9 Hình ảnh) cho 243 máy/ngày (15,19 máy/người). Khi sang IrisEXP (Takt 97s, 300 máy/ngày), nếu giữ cách làm cũ cần 18 người — năng lực hiện tại không thể đảm bảo sản xuất trên Line Iris2024.</a:t>
            </a:r>
          </a:p>
        </p:txBody>
      </p:sp>
      <p:graphicFrame>
        <p:nvGraphicFramePr>
          <p:cNvPr id="7" name="Table 6"/>
          <p:cNvGraphicFramePr>
            <a:graphicFrameLocks noGrp="1"/>
          </p:cNvGraphicFramePr>
          <p:nvPr/>
        </p:nvGraphicFramePr>
        <p:xfrm>
          <a:off x="256032" y="1188720"/>
          <a:ext cx="5897880" cy="3520440"/>
        </p:xfrm>
        <a:graphic>
          <a:graphicData uri="http://schemas.openxmlformats.org/drawingml/2006/table">
            <a:tbl>
              <a:tblPr firstRow="1" bandRow="1">
                <a:tableStyleId>{5C22544A-7EE6-4342-B048-85BDC9FD1C3A}</a:tableStyleId>
              </a:tblPr>
              <a:tblGrid>
                <a:gridCol w="1783080"/>
                <a:gridCol w="1371600"/>
                <a:gridCol w="1371600"/>
                <a:gridCol w="1371600"/>
              </a:tblGrid>
              <a:tr h="440055">
                <a:tc>
                  <a:txBody>
                    <a:bodyPr/>
                    <a:lstStyle/>
                    <a:p>
                      <a:pPr algn="ctr">
                        <a:defRPr sz="819" b="1">
                          <a:solidFill>
                            <a:srgbClr val="FFFFFF"/>
                          </a:solidFill>
                          <a:latin typeface="Arial"/>
                        </a:defRPr>
                      </a:pPr>
                      <a:r>
                        <a:t>Chỉ tiêu sản xuất</a:t>
                      </a:r>
                    </a:p>
                  </a:txBody>
                  <a:tcPr anchor="ctr" marL="45720" marR="45720" marT="18288" marB="18288">
                    <a:solidFill>
                      <a:srgbClr val="1B365D"/>
                    </a:solidFill>
                  </a:tcPr>
                </a:tc>
                <a:tc>
                  <a:txBody>
                    <a:bodyPr/>
                    <a:lstStyle/>
                    <a:p>
                      <a:pPr algn="ctr">
                        <a:defRPr sz="819" b="1">
                          <a:solidFill>
                            <a:srgbClr val="FFFFFF"/>
                          </a:solidFill>
                          <a:latin typeface="Arial"/>
                        </a:defRPr>
                      </a:pPr>
                      <a:r>
                        <a:t>Hiện trạng Iris2024</a:t>
                      </a:r>
                      <a:br/>
                      <a:r>
                        <a:t>(Line hiện tại)</a:t>
                      </a:r>
                    </a:p>
                  </a:txBody>
                  <a:tcPr anchor="ctr" marL="45720" marR="45720" marT="18288" marB="18288">
                    <a:solidFill>
                      <a:srgbClr val="1B365D"/>
                    </a:solidFill>
                  </a:tcPr>
                </a:tc>
                <a:tc>
                  <a:txBody>
                    <a:bodyPr/>
                    <a:lstStyle/>
                    <a:p>
                      <a:pPr algn="ctr">
                        <a:defRPr sz="819" b="1">
                          <a:solidFill>
                            <a:srgbClr val="FFFFFF"/>
                          </a:solidFill>
                          <a:latin typeface="Arial"/>
                        </a:defRPr>
                      </a:pPr>
                      <a:r>
                        <a:t>Khi chuyển sang IrisEXP</a:t>
                      </a:r>
                      <a:br/>
                      <a:r>
                        <a:t>(Chưa cải tiến)</a:t>
                      </a:r>
                    </a:p>
                  </a:txBody>
                  <a:tcPr anchor="ctr" marL="45720" marR="45720" marT="18288" marB="18288">
                    <a:solidFill>
                      <a:srgbClr val="1B365D"/>
                    </a:solidFill>
                  </a:tcPr>
                </a:tc>
                <a:tc>
                  <a:txBody>
                    <a:bodyPr/>
                    <a:lstStyle/>
                    <a:p>
                      <a:pPr algn="ctr">
                        <a:defRPr sz="819" b="1">
                          <a:solidFill>
                            <a:srgbClr val="FFFFFF"/>
                          </a:solidFill>
                          <a:latin typeface="Arial"/>
                        </a:defRPr>
                      </a:pPr>
                      <a:r>
                        <a:t>Đánh giá khả năng đáp ứng</a:t>
                      </a:r>
                    </a:p>
                  </a:txBody>
                  <a:tcPr anchor="ctr" marL="45720" marR="45720" marT="18288" marB="18288">
                    <a:solidFill>
                      <a:srgbClr val="1B365D"/>
                    </a:solidFill>
                  </a:tcPr>
                </a:tc>
              </a:tr>
              <a:tr h="440055">
                <a:tc>
                  <a:txBody>
                    <a:bodyPr/>
                    <a:lstStyle/>
                    <a:p>
                      <a:pPr algn="l">
                        <a:defRPr sz="760" b="1">
                          <a:solidFill>
                            <a:srgbClr val="1E242B"/>
                          </a:solidFill>
                          <a:latin typeface="Arial"/>
                        </a:defRPr>
                      </a:pPr>
                      <a:r>
                        <a:t>Thời gian thao tác tiêu chuẩn</a:t>
                      </a:r>
                      <a:br/>
                      <a:r>
                        <a:t>(Mã hàng cao nhất)</a:t>
                      </a:r>
                    </a:p>
                  </a:txBody>
                  <a:tcPr anchor="ctr" marL="45720" marR="45720" marT="18288" marB="18288">
                    <a:solidFill>
                      <a:srgbClr val="E8EEF5"/>
                    </a:solidFill>
                  </a:tcPr>
                </a:tc>
                <a:tc>
                  <a:txBody>
                    <a:bodyPr/>
                    <a:lstStyle/>
                    <a:p>
                      <a:pPr algn="ctr">
                        <a:defRPr sz="760">
                          <a:solidFill>
                            <a:srgbClr val="1E242B"/>
                          </a:solidFill>
                          <a:latin typeface="Arial"/>
                        </a:defRPr>
                      </a:pPr>
                      <a:r>
                        <a:t>1.083 giây / máy</a:t>
                      </a:r>
                      <a:br/>
                      <a:r>
                        <a:t>(840s ĐC + 243s lấy data;</a:t>
                      </a:r>
                      <a:br/>
                      <a:r>
                        <a:t>Gross cả chờ máy: 2.350s)</a:t>
                      </a:r>
                    </a:p>
                  </a:txBody>
                  <a:tcPr anchor="ctr" marL="45720" marR="45720" marT="18288" marB="18288">
                    <a:solidFill>
                      <a:srgbClr val="E8EEF5"/>
                    </a:solidFill>
                  </a:tcPr>
                </a:tc>
                <a:tc>
                  <a:txBody>
                    <a:bodyPr/>
                    <a:lstStyle/>
                    <a:p>
                      <a:pPr algn="ctr">
                        <a:defRPr sz="760">
                          <a:solidFill>
                            <a:srgbClr val="1E242B"/>
                          </a:solidFill>
                          <a:latin typeface="Arial"/>
                        </a:defRPr>
                      </a:pPr>
                      <a:r>
                        <a:t>1.260,7 giây / máy</a:t>
                      </a:r>
                      <a:br/>
                      <a:r>
                        <a:t>(Phát sinh +89s U413;</a:t>
                      </a:r>
                      <a:br/>
                      <a:r>
                        <a:t>Gross: 2.350s + bước mới)</a:t>
                      </a:r>
                    </a:p>
                  </a:txBody>
                  <a:tcPr anchor="ctr" marL="45720" marR="45720" marT="18288" marB="18288">
                    <a:solidFill>
                      <a:srgbClr val="E8EEF5"/>
                    </a:solidFill>
                  </a:tcPr>
                </a:tc>
                <a:tc>
                  <a:txBody>
                    <a:bodyPr/>
                    <a:lstStyle/>
                    <a:p>
                      <a:pPr algn="l">
                        <a:defRPr sz="760">
                          <a:solidFill>
                            <a:srgbClr val="1E242B"/>
                          </a:solidFill>
                          <a:latin typeface="Arial"/>
                        </a:defRPr>
                      </a:pPr>
                      <a:r>
                        <a:t>Thời gian thao tác dài,</a:t>
                      </a:r>
                      <a:br/>
                      <a:r>
                        <a:t>nhiều bước thủ công</a:t>
                      </a:r>
                    </a:p>
                  </a:txBody>
                  <a:tcPr anchor="ctr" marL="45720" marR="45720" marT="18288" marB="18288">
                    <a:solidFill>
                      <a:srgbClr val="E8EEF5"/>
                    </a:solidFill>
                  </a:tcPr>
                </a:tc>
              </a:tr>
              <a:tr h="440055">
                <a:tc>
                  <a:txBody>
                    <a:bodyPr/>
                    <a:lstStyle/>
                    <a:p>
                      <a:pPr algn="l">
                        <a:defRPr sz="760" b="1">
                          <a:solidFill>
                            <a:srgbClr val="1E242B"/>
                          </a:solidFill>
                          <a:latin typeface="Arial"/>
                        </a:defRPr>
                      </a:pPr>
                      <a:r>
                        <a:t>Takt Time công đoạn</a:t>
                      </a:r>
                      <a:br/>
                      <a:r>
                        <a:t>(Nhịp sản xuất)</a:t>
                      </a:r>
                    </a:p>
                  </a:txBody>
                  <a:tcPr anchor="ctr" marL="45720" marR="45720" marT="18288" marB="18288">
                    <a:solidFill>
                      <a:srgbClr val="FEF7E6"/>
                    </a:solidFill>
                  </a:tcPr>
                </a:tc>
                <a:tc>
                  <a:txBody>
                    <a:bodyPr/>
                    <a:lstStyle/>
                    <a:p>
                      <a:pPr algn="ctr">
                        <a:defRPr sz="760">
                          <a:solidFill>
                            <a:srgbClr val="1E242B"/>
                          </a:solidFill>
                          <a:latin typeface="Arial"/>
                        </a:defRPr>
                      </a:pPr>
                      <a:r>
                        <a:t>114 giây / máy</a:t>
                      </a:r>
                    </a:p>
                  </a:txBody>
                  <a:tcPr anchor="ctr" marL="45720" marR="45720" marT="18288" marB="18288">
                    <a:solidFill>
                      <a:srgbClr val="FEF7E6"/>
                    </a:solidFill>
                  </a:tcPr>
                </a:tc>
                <a:tc>
                  <a:txBody>
                    <a:bodyPr/>
                    <a:lstStyle/>
                    <a:p>
                      <a:pPr algn="ctr">
                        <a:defRPr sz="760">
                          <a:solidFill>
                            <a:srgbClr val="1E242B"/>
                          </a:solidFill>
                          <a:latin typeface="Arial"/>
                        </a:defRPr>
                      </a:pPr>
                      <a:r>
                        <a:t>97 giây / máy</a:t>
                      </a:r>
                      <a:br/>
                      <a:r>
                        <a:t>(Nhanh hơn 17s/máy)</a:t>
                      </a:r>
                    </a:p>
                  </a:txBody>
                  <a:tcPr anchor="ctr" marL="45720" marR="45720" marT="18288" marB="18288">
                    <a:solidFill>
                      <a:srgbClr val="FEF7E6"/>
                    </a:solidFill>
                  </a:tcPr>
                </a:tc>
                <a:tc>
                  <a:txBody>
                    <a:bodyPr/>
                    <a:lstStyle/>
                    <a:p>
                      <a:pPr algn="l">
                        <a:defRPr sz="760">
                          <a:solidFill>
                            <a:srgbClr val="1E242B"/>
                          </a:solidFill>
                          <a:latin typeface="Arial"/>
                        </a:defRPr>
                      </a:pPr>
                      <a:r>
                        <a:t>Nhịp chuyền yêu cầu</a:t>
                      </a:r>
                      <a:br/>
                      <a:r>
                        <a:t>tăng tốc 17,5%</a:t>
                      </a:r>
                    </a:p>
                  </a:txBody>
                  <a:tcPr anchor="ctr" marL="45720" marR="45720" marT="18288" marB="18288">
                    <a:solidFill>
                      <a:srgbClr val="FEF7E6"/>
                    </a:solidFill>
                  </a:tcPr>
                </a:tc>
              </a:tr>
              <a:tr h="440055">
                <a:tc>
                  <a:txBody>
                    <a:bodyPr/>
                    <a:lstStyle/>
                    <a:p>
                      <a:pPr algn="l">
                        <a:defRPr sz="760" b="1">
                          <a:solidFill>
                            <a:srgbClr val="1E242B"/>
                          </a:solidFill>
                          <a:latin typeface="Arial"/>
                        </a:defRPr>
                      </a:pPr>
                      <a:r>
                        <a:t>Sản lượng 1 ngày</a:t>
                      </a:r>
                      <a:br/>
                      <a:r>
                        <a:t>(Trên 1 Line)</a:t>
                      </a:r>
                    </a:p>
                  </a:txBody>
                  <a:tcPr anchor="ctr" marL="45720" marR="45720" marT="18288" marB="18288">
                    <a:solidFill>
                      <a:srgbClr val="FFFFFF"/>
                    </a:solidFill>
                  </a:tcPr>
                </a:tc>
                <a:tc>
                  <a:txBody>
                    <a:bodyPr/>
                    <a:lstStyle/>
                    <a:p>
                      <a:pPr algn="ctr">
                        <a:defRPr sz="760">
                          <a:solidFill>
                            <a:srgbClr val="1E242B"/>
                          </a:solidFill>
                          <a:latin typeface="Arial"/>
                        </a:defRPr>
                      </a:pPr>
                      <a:r>
                        <a:t>243 máy / ngày</a:t>
                      </a:r>
                    </a:p>
                  </a:txBody>
                  <a:tcPr anchor="ctr" marL="45720" marR="45720" marT="18288" marB="18288">
                    <a:solidFill>
                      <a:srgbClr val="FFFFFF"/>
                    </a:solidFill>
                  </a:tcPr>
                </a:tc>
                <a:tc>
                  <a:txBody>
                    <a:bodyPr/>
                    <a:lstStyle/>
                    <a:p>
                      <a:pPr algn="ctr">
                        <a:defRPr sz="760">
                          <a:solidFill>
                            <a:srgbClr val="1E242B"/>
                          </a:solidFill>
                          <a:latin typeface="Arial"/>
                        </a:defRPr>
                      </a:pPr>
                      <a:r>
                        <a:t>300 máy / ngày</a:t>
                      </a:r>
                      <a:br/>
                      <a:r>
                        <a:t>(16.000 máy/tháng)</a:t>
                      </a:r>
                    </a:p>
                  </a:txBody>
                  <a:tcPr anchor="ctr" marL="45720" marR="45720" marT="18288" marB="18288">
                    <a:solidFill>
                      <a:srgbClr val="FFFFFF"/>
                    </a:solidFill>
                  </a:tcPr>
                </a:tc>
                <a:tc>
                  <a:txBody>
                    <a:bodyPr/>
                    <a:lstStyle/>
                    <a:p>
                      <a:pPr algn="l">
                        <a:defRPr sz="760">
                          <a:solidFill>
                            <a:srgbClr val="1E242B"/>
                          </a:solidFill>
                          <a:latin typeface="Arial"/>
                        </a:defRPr>
                      </a:pPr>
                      <a:r>
                        <a:t>Sản lượng ngày tăng</a:t>
                      </a:r>
                      <a:br/>
                      <a:r>
                        <a:t>+57 máy/ngày (+23,5%)</a:t>
                      </a:r>
                    </a:p>
                  </a:txBody>
                  <a:tcPr anchor="ctr" marL="45720" marR="45720" marT="18288" marB="18288">
                    <a:solidFill>
                      <a:srgbClr val="FFFFFF"/>
                    </a:solidFill>
                  </a:tcPr>
                </a:tc>
              </a:tr>
              <a:tr h="440055">
                <a:tc>
                  <a:txBody>
                    <a:bodyPr/>
                    <a:lstStyle/>
                    <a:p>
                      <a:pPr algn="l">
                        <a:defRPr sz="760" b="1">
                          <a:solidFill>
                            <a:srgbClr val="1E242B"/>
                          </a:solidFill>
                          <a:latin typeface="Arial"/>
                        </a:defRPr>
                      </a:pPr>
                      <a:r>
                        <a:t>Nhân sự ĐIỀU CHỈNH</a:t>
                      </a:r>
                      <a:br/>
                      <a:r>
                        <a:t>(K1 ~ K4)</a:t>
                      </a:r>
                    </a:p>
                  </a:txBody>
                  <a:tcPr anchor="ctr" marL="45720" marR="45720" marT="18288" marB="18288">
                    <a:solidFill>
                      <a:srgbClr val="F7F9FC"/>
                    </a:solidFill>
                  </a:tcPr>
                </a:tc>
                <a:tc>
                  <a:txBody>
                    <a:bodyPr/>
                    <a:lstStyle/>
                    <a:p>
                      <a:pPr algn="ctr">
                        <a:defRPr sz="760">
                          <a:solidFill>
                            <a:srgbClr val="1E242B"/>
                          </a:solidFill>
                          <a:latin typeface="Arial"/>
                        </a:defRPr>
                      </a:pPr>
                      <a:r>
                        <a:t>7 người thao tác</a:t>
                      </a:r>
                    </a:p>
                  </a:txBody>
                  <a:tcPr anchor="ctr" marL="45720" marR="45720" marT="18288" marB="18288">
                    <a:solidFill>
                      <a:srgbClr val="F7F9FC"/>
                    </a:solidFill>
                  </a:tcPr>
                </a:tc>
                <a:tc>
                  <a:txBody>
                    <a:bodyPr/>
                    <a:lstStyle/>
                    <a:p>
                      <a:pPr algn="ctr">
                        <a:defRPr sz="760">
                          <a:solidFill>
                            <a:srgbClr val="1E242B"/>
                          </a:solidFill>
                          <a:latin typeface="Arial"/>
                        </a:defRPr>
                      </a:pPr>
                      <a:r>
                        <a:t>9 người thao tác</a:t>
                      </a:r>
                      <a:br/>
                      <a:r>
                        <a:t>(Nếu giữ nguyên cách cũ)</a:t>
                      </a:r>
                    </a:p>
                  </a:txBody>
                  <a:tcPr anchor="ctr" marL="45720" marR="45720" marT="18288" marB="18288">
                    <a:solidFill>
                      <a:srgbClr val="F7F9FC"/>
                    </a:solidFill>
                  </a:tcPr>
                </a:tc>
                <a:tc>
                  <a:txBody>
                    <a:bodyPr/>
                    <a:lstStyle/>
                    <a:p>
                      <a:pPr algn="l">
                        <a:defRPr sz="760">
                          <a:solidFill>
                            <a:srgbClr val="1E242B"/>
                          </a:solidFill>
                          <a:latin typeface="Arial"/>
                        </a:defRPr>
                      </a:pPr>
                      <a:r>
                        <a:t>Thiếu 2 người thao tác</a:t>
                      </a:r>
                      <a:br/>
                      <a:r>
                        <a:t>và thiếu vị trí đứng máy</a:t>
                      </a:r>
                    </a:p>
                  </a:txBody>
                  <a:tcPr anchor="ctr" marL="45720" marR="45720" marT="18288" marB="18288">
                    <a:solidFill>
                      <a:srgbClr val="F7F9FC"/>
                    </a:solidFill>
                  </a:tcPr>
                </a:tc>
              </a:tr>
              <a:tr h="440055">
                <a:tc>
                  <a:txBody>
                    <a:bodyPr/>
                    <a:lstStyle/>
                    <a:p>
                      <a:pPr algn="l">
                        <a:defRPr sz="760" b="1">
                          <a:solidFill>
                            <a:srgbClr val="1E242B"/>
                          </a:solidFill>
                          <a:latin typeface="Arial"/>
                        </a:defRPr>
                      </a:pPr>
                      <a:r>
                        <a:t>Nhân sự HÌNH ẢNH &amp; XUẤT</a:t>
                      </a:r>
                      <a:br/>
                      <a:r>
                        <a:t>(K5 ~ K8)</a:t>
                      </a:r>
                    </a:p>
                  </a:txBody>
                  <a:tcPr anchor="ctr" marL="45720" marR="45720" marT="18288" marB="18288">
                    <a:solidFill>
                      <a:srgbClr val="FFFFFF"/>
                    </a:solidFill>
                  </a:tcPr>
                </a:tc>
                <a:tc>
                  <a:txBody>
                    <a:bodyPr/>
                    <a:lstStyle/>
                    <a:p>
                      <a:pPr algn="ctr">
                        <a:defRPr sz="760">
                          <a:solidFill>
                            <a:srgbClr val="1E242B"/>
                          </a:solidFill>
                          <a:latin typeface="Arial"/>
                        </a:defRPr>
                      </a:pPr>
                      <a:r>
                        <a:t>9 người thao tác</a:t>
                      </a:r>
                    </a:p>
                  </a:txBody>
                  <a:tcPr anchor="ctr" marL="45720" marR="45720" marT="18288" marB="18288">
                    <a:solidFill>
                      <a:srgbClr val="FFFFFF"/>
                    </a:solidFill>
                  </a:tcPr>
                </a:tc>
                <a:tc>
                  <a:txBody>
                    <a:bodyPr/>
                    <a:lstStyle/>
                    <a:p>
                      <a:pPr algn="ctr">
                        <a:defRPr sz="760">
                          <a:solidFill>
                            <a:srgbClr val="1E242B"/>
                          </a:solidFill>
                          <a:latin typeface="Arial"/>
                        </a:defRPr>
                      </a:pPr>
                      <a:r>
                        <a:t>9 người thao tác</a:t>
                      </a:r>
                    </a:p>
                  </a:txBody>
                  <a:tcPr anchor="ctr" marL="45720" marR="45720" marT="18288" marB="18288">
                    <a:solidFill>
                      <a:srgbClr val="FFFFFF"/>
                    </a:solidFill>
                  </a:tcPr>
                </a:tc>
                <a:tc>
                  <a:txBody>
                    <a:bodyPr/>
                    <a:lstStyle/>
                    <a:p>
                      <a:pPr algn="l">
                        <a:defRPr sz="760">
                          <a:solidFill>
                            <a:srgbClr val="1E242B"/>
                          </a:solidFill>
                          <a:latin typeface="Arial"/>
                        </a:defRPr>
                      </a:pPr>
                      <a:r>
                        <a:t>Quá tải tại cụm in/đo ảnh</a:t>
                      </a:r>
                      <a:br/>
                      <a:r>
                        <a:t>(17 tờ Print + 2 tờ Copy)</a:t>
                      </a:r>
                    </a:p>
                  </a:txBody>
                  <a:tcPr anchor="ctr" marL="45720" marR="45720" marT="18288" marB="18288">
                    <a:solidFill>
                      <a:srgbClr val="FFFFFF"/>
                    </a:solidFill>
                  </a:tcPr>
                </a:tc>
              </a:tr>
              <a:tr h="440055">
                <a:tc>
                  <a:txBody>
                    <a:bodyPr/>
                    <a:lstStyle/>
                    <a:p>
                      <a:pPr algn="l">
                        <a:defRPr sz="760" b="1">
                          <a:solidFill>
                            <a:srgbClr val="1E242B"/>
                          </a:solidFill>
                          <a:latin typeface="Arial"/>
                        </a:defRPr>
                      </a:pPr>
                      <a:r>
                        <a:t>TỔNG SỐ NGƯỜI THAO TÁC</a:t>
                      </a:r>
                    </a:p>
                  </a:txBody>
                  <a:tcPr anchor="ctr" marL="45720" marR="45720" marT="18288" marB="18288">
                    <a:solidFill>
                      <a:srgbClr val="FDEDEC"/>
                    </a:solidFill>
                  </a:tcPr>
                </a:tc>
                <a:tc>
                  <a:txBody>
                    <a:bodyPr/>
                    <a:lstStyle/>
                    <a:p>
                      <a:pPr algn="ctr">
                        <a:defRPr sz="760">
                          <a:solidFill>
                            <a:srgbClr val="1E242B"/>
                          </a:solidFill>
                          <a:latin typeface="Arial"/>
                        </a:defRPr>
                      </a:pPr>
                      <a:r>
                        <a:t>16 người thao tác</a:t>
                      </a:r>
                      <a:br/>
                      <a:r>
                        <a:t>(7 Điều chỉnh + 9 Hình ảnh)</a:t>
                      </a:r>
                    </a:p>
                  </a:txBody>
                  <a:tcPr anchor="ctr" marL="45720" marR="45720" marT="18288" marB="18288">
                    <a:solidFill>
                      <a:srgbClr val="FDEDEC"/>
                    </a:solidFill>
                  </a:tcPr>
                </a:tc>
                <a:tc>
                  <a:txBody>
                    <a:bodyPr/>
                    <a:lstStyle/>
                    <a:p>
                      <a:pPr algn="ctr">
                        <a:defRPr sz="760">
                          <a:solidFill>
                            <a:srgbClr val="1E242B"/>
                          </a:solidFill>
                          <a:latin typeface="Arial"/>
                        </a:defRPr>
                      </a:pPr>
                      <a:r>
                        <a:t>Cần 18 người thao tác</a:t>
                      </a:r>
                      <a:br/>
                      <a:r>
                        <a:t>(Tính theo Takt 97s: 17,62 người)</a:t>
                      </a:r>
                    </a:p>
                  </a:txBody>
                  <a:tcPr anchor="ctr" marL="45720" marR="45720" marT="18288" marB="18288">
                    <a:solidFill>
                      <a:srgbClr val="FDEDEC"/>
                    </a:solidFill>
                  </a:tcPr>
                </a:tc>
                <a:tc>
                  <a:txBody>
                    <a:bodyPr/>
                    <a:lstStyle/>
                    <a:p>
                      <a:pPr algn="l">
                        <a:defRPr sz="760">
                          <a:solidFill>
                            <a:srgbClr val="1E242B"/>
                          </a:solidFill>
                          <a:latin typeface="Arial"/>
                        </a:defRPr>
                      </a:pPr>
                      <a:r>
                        <a:t>Line Iris2024 chỉ đủ chỗ</a:t>
                      </a:r>
                      <a:br/>
                      <a:r>
                        <a:t>cho tối đa 16 người</a:t>
                      </a:r>
                    </a:p>
                  </a:txBody>
                  <a:tcPr anchor="ctr" marL="45720" marR="45720" marT="18288" marB="18288">
                    <a:solidFill>
                      <a:srgbClr val="FDEDEC"/>
                    </a:solidFill>
                  </a:tcPr>
                </a:tc>
              </a:tr>
              <a:tr h="440055">
                <a:tc>
                  <a:txBody>
                    <a:bodyPr/>
                    <a:lstStyle/>
                    <a:p>
                      <a:pPr algn="l">
                        <a:defRPr sz="760" b="1">
                          <a:solidFill>
                            <a:srgbClr val="1E242B"/>
                          </a:solidFill>
                          <a:latin typeface="Arial"/>
                        </a:defRPr>
                      </a:pPr>
                      <a:r>
                        <a:t>NĂNG SUẤT 1 NGƯỜI / NGÀY</a:t>
                      </a:r>
                    </a:p>
                  </a:txBody>
                  <a:tcPr anchor="ctr" marL="45720" marR="45720" marT="18288" marB="18288">
                    <a:solidFill>
                      <a:srgbClr val="FDEDEC"/>
                    </a:solidFill>
                  </a:tcPr>
                </a:tc>
                <a:tc>
                  <a:txBody>
                    <a:bodyPr/>
                    <a:lstStyle/>
                    <a:p>
                      <a:pPr algn="ctr">
                        <a:defRPr sz="760">
                          <a:solidFill>
                            <a:srgbClr val="1E242B"/>
                          </a:solidFill>
                          <a:latin typeface="Arial"/>
                        </a:defRPr>
                      </a:pPr>
                      <a:r>
                        <a:t>15,19 máy / người / ngày</a:t>
                      </a:r>
                      <a:br/>
                      <a:r>
                        <a:t>(243 máy ÷ 16 người)</a:t>
                      </a:r>
                    </a:p>
                  </a:txBody>
                  <a:tcPr anchor="ctr" marL="45720" marR="45720" marT="18288" marB="18288">
                    <a:solidFill>
                      <a:srgbClr val="FDEDEC"/>
                    </a:solidFill>
                  </a:tcPr>
                </a:tc>
                <a:tc>
                  <a:txBody>
                    <a:bodyPr/>
                    <a:lstStyle/>
                    <a:p>
                      <a:pPr algn="ctr">
                        <a:defRPr sz="760">
                          <a:solidFill>
                            <a:srgbClr val="1E242B"/>
                          </a:solidFill>
                          <a:latin typeface="Arial"/>
                        </a:defRPr>
                      </a:pPr>
                      <a:r>
                        <a:t>16,67 máy / người / ngày</a:t>
                      </a:r>
                      <a:br/>
                      <a:r>
                        <a:t>(300 máy ÷ 18 người)</a:t>
                      </a:r>
                    </a:p>
                  </a:txBody>
                  <a:tcPr anchor="ctr" marL="45720" marR="45720" marT="18288" marB="18288">
                    <a:solidFill>
                      <a:srgbClr val="FDEDEC"/>
                    </a:solidFill>
                  </a:tcPr>
                </a:tc>
                <a:tc>
                  <a:txBody>
                    <a:bodyPr/>
                    <a:lstStyle/>
                    <a:p>
                      <a:pPr algn="l">
                        <a:defRPr sz="760">
                          <a:solidFill>
                            <a:srgbClr val="1E242B"/>
                          </a:solidFill>
                          <a:latin typeface="Arial"/>
                        </a:defRPr>
                      </a:pPr>
                      <a:r>
                        <a:t>Không thể đảm bảo SX</a:t>
                      </a:r>
                      <a:br/>
                      <a:r>
                        <a:t>IrisEXP trên Line hiện tại</a:t>
                      </a:r>
                    </a:p>
                  </a:txBody>
                  <a:tcPr anchor="ctr" marL="45720" marR="45720" marT="18288" marB="18288">
                    <a:solidFill>
                      <a:srgbClr val="FDEDEC"/>
                    </a:solidFill>
                  </a:tcPr>
                </a:tc>
              </a:tr>
            </a:tbl>
          </a:graphicData>
        </a:graphic>
      </p:graphicFrame>
      <p:pic>
        <p:nvPicPr>
          <p:cNvPr id="8" name="Picture 7" descr="chart_s1_status_vn.png"/>
          <p:cNvPicPr>
            <a:picLocks noChangeAspect="1"/>
          </p:cNvPicPr>
          <p:nvPr/>
        </p:nvPicPr>
        <p:blipFill>
          <a:blip r:embed="rId2"/>
          <a:stretch>
            <a:fillRect/>
          </a:stretch>
        </p:blipFill>
        <p:spPr>
          <a:xfrm>
            <a:off x="6263640" y="1188720"/>
            <a:ext cx="5669280" cy="2429691"/>
          </a:xfrm>
          <a:prstGeom prst="rect">
            <a:avLst/>
          </a:prstGeom>
        </p:spPr>
      </p:pic>
      <p:sp>
        <p:nvSpPr>
          <p:cNvPr id="9" name="Rectangle 8"/>
          <p:cNvSpPr/>
          <p:nvPr/>
        </p:nvSpPr>
        <p:spPr>
          <a:xfrm>
            <a:off x="6263640" y="3730752"/>
            <a:ext cx="5669280" cy="978408"/>
          </a:xfrm>
          <a:prstGeom prst="rect">
            <a:avLst/>
          </a:prstGeom>
          <a:solidFill>
            <a:srgbClr val="FDEDEC"/>
          </a:solidFill>
          <a:ln w="12700">
            <a:solidFill>
              <a:srgbClr val="B8292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3730752"/>
            <a:ext cx="5669280" cy="301752"/>
          </a:xfrm>
          <a:prstGeom prst="rect">
            <a:avLst/>
          </a:prstGeom>
          <a:solidFill>
            <a:srgbClr val="B8292F"/>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80" b="1">
                <a:solidFill>
                  <a:srgbClr val="FFFFFF"/>
                </a:solidFill>
                <a:latin typeface="Arial"/>
              </a:defRPr>
            </a:pPr>
            <a:r>
              <a:t>KẾT LUẬN VỀ NĂNG LỰC HIỆN TẠI TRÊN LINE IRIS2024</a:t>
            </a:r>
          </a:p>
        </p:txBody>
      </p:sp>
      <p:sp>
        <p:nvSpPr>
          <p:cNvPr id="11" name="TextBox 10"/>
          <p:cNvSpPr txBox="1"/>
          <p:nvPr/>
        </p:nvSpPr>
        <p:spPr>
          <a:xfrm>
            <a:off x="6336792" y="4050791"/>
            <a:ext cx="5522976" cy="630936"/>
          </a:xfrm>
          <a:prstGeom prst="rect">
            <a:avLst/>
          </a:prstGeom>
          <a:noFill/>
        </p:spPr>
        <p:txBody>
          <a:bodyPr wrap="square" lIns="36576" rIns="36576" tIns="18288" bIns="18288">
            <a:spAutoFit/>
          </a:bodyPr>
          <a:lstStyle/>
          <a:p>
            <a:pPr>
              <a:spcAft>
                <a:spcPts val="250"/>
              </a:spcAft>
              <a:defRPr sz="830" b="1">
                <a:solidFill>
                  <a:srgbClr val="1E242B"/>
                </a:solidFill>
                <a:latin typeface="Arial"/>
              </a:defRPr>
            </a:pPr>
            <a:r>
              <a:t>⚠ 1. Với năng lực hiện tại (15,19 máy/người/ngày), 16 người chỉ làm được 243 máy/ngày, hụt 57 máy/ngày so với yêu cầu Takt 97s của IrisEXP (300 máy/ngày).</a:t>
            </a:r>
          </a:p>
          <a:p>
            <a:pPr>
              <a:spcAft>
                <a:spcPts val="250"/>
              </a:spcAft>
              <a:defRPr sz="830" b="1">
                <a:solidFill>
                  <a:srgbClr val="1E242B"/>
                </a:solidFill>
                <a:latin typeface="Arial"/>
              </a:defRPr>
            </a:pPr>
            <a:r>
              <a:t>⚠ 2. Nếu giữ quy trình cũ cần tăng lên 18 người thao tác, vượt quá diện tích và số bàn kiểm tra trên Line Iris2024 hiện tại.</a:t>
            </a:r>
          </a:p>
        </p:txBody>
      </p:sp>
      <p:sp>
        <p:nvSpPr>
          <p:cNvPr id="12" name="Rectangle 11"/>
          <p:cNvSpPr/>
          <p:nvPr/>
        </p:nvSpPr>
        <p:spPr>
          <a:xfrm>
            <a:off x="256032" y="4800600"/>
            <a:ext cx="11679631" cy="1737360"/>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6032" y="4800600"/>
            <a:ext cx="11679631" cy="30175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19" b="1">
                <a:solidFill>
                  <a:srgbClr val="FFFFFF"/>
                </a:solidFill>
                <a:latin typeface="Arial"/>
              </a:defRPr>
            </a:pPr>
            <a:r>
              <a:t>PHÂN TÍCH CHI TIẾT THAO TÁC HIỆN TẠI TRÊN LINE IRIS2024 (16 NGƯỜI = 7 ĐIỀU CHỈNH + 9 HÌNH ẢNH)</a:t>
            </a:r>
          </a:p>
        </p:txBody>
      </p:sp>
      <p:sp>
        <p:nvSpPr>
          <p:cNvPr id="14" name="TextBox 13"/>
          <p:cNvSpPr txBox="1"/>
          <p:nvPr/>
        </p:nvSpPr>
        <p:spPr>
          <a:xfrm>
            <a:off x="329184" y="5120640"/>
            <a:ext cx="11533327" cy="1389888"/>
          </a:xfrm>
          <a:prstGeom prst="rect">
            <a:avLst/>
          </a:prstGeom>
          <a:noFill/>
        </p:spPr>
        <p:txBody>
          <a:bodyPr wrap="square" lIns="36576" rIns="36576" tIns="18288" bIns="18288">
            <a:spAutoFit/>
          </a:bodyPr>
          <a:lstStyle/>
          <a:p>
            <a:pPr>
              <a:spcAft>
                <a:spcPts val="250"/>
              </a:spcAft>
              <a:defRPr sz="800" b="1">
                <a:solidFill>
                  <a:srgbClr val="1E242B"/>
                </a:solidFill>
                <a:latin typeface="Arial"/>
              </a:defRPr>
            </a:pPr>
            <a:r>
              <a:t>■ 1. Cụm ĐIỀU CHỈNH (7 người thao tác — Phụ trách thiết lập, phần mềm, an toàn điện, Scan đầu vào và lấy dữ liệu công đoạn):</a:t>
            </a:r>
          </a:p>
          <a:p>
            <a:pPr>
              <a:spcAft>
                <a:spcPts val="250"/>
              </a:spcAft>
              <a:defRPr sz="800">
                <a:solidFill>
                  <a:srgbClr val="1E242B"/>
                </a:solidFill>
                <a:latin typeface="Arial"/>
              </a:defRPr>
            </a:pPr>
            <a:r>
              <a:t>   • K1: Nạp Firmware bằng USB (90s), lắp FAX &amp; đồ gá hộp mực (30s), thiết lập ban đầu + kiểm tra FAN (80s), tháo gá/lắp dummy (25s), chọn ngôn ngữ + chỉnh ngưỡng mực thải U155 (60s), kiểm tra WTB (10s).</a:t>
            </a:r>
          </a:p>
          <a:p>
            <a:pPr>
              <a:spcAft>
                <a:spcPts val="250"/>
              </a:spcAft>
              <a:defRPr sz="800">
                <a:solidFill>
                  <a:srgbClr val="1E242B"/>
                </a:solidFill>
                <a:latin typeface="Arial"/>
              </a:defRPr>
            </a:pPr>
            <a:r>
              <a:t>   • K2 &amp; K3: Chạy Semi-final (40s), kiểm tra đóng mở Cassette có tải (20s), cắm dây kiểm tra Option (90s); lắp 6 tấm vỏ ngoài (90s), đo chịu áp cách điện (10s), kiểm tra nhận biết khổ giấy &amp; đặt giấy Cassette 1/2 (80s).</a:t>
            </a:r>
          </a:p>
          <a:p>
            <a:pPr>
              <a:spcAft>
                <a:spcPts val="250"/>
              </a:spcAft>
              <a:defRPr sz="800">
                <a:solidFill>
                  <a:srgbClr val="1E242B"/>
                </a:solidFill>
                <a:latin typeface="Arial"/>
              </a:defRPr>
            </a:pPr>
            <a:r>
              <a:t>   • K4 &amp; Lấy dữ liệu: Bật nguồn + kiểm tra Cover Right (25s), in RCG trước U950 (25s), chỉnh ISU U411 (45s), Scan SITC-2 (35s), Scan Halftone (30s), kiểm tra USB (15s) &amp; tọa độ U201 (15s), chạy Aging U950 (285s), đo lệch Belt (5s) + Lấy dữ liệu (243s).</a:t>
            </a:r>
          </a:p>
          <a:p>
            <a:pPr>
              <a:spcAft>
                <a:spcPts val="250"/>
              </a:spcAft>
              <a:defRPr sz="800" b="1">
                <a:solidFill>
                  <a:srgbClr val="1E242B"/>
                </a:solidFill>
                <a:latin typeface="Arial"/>
              </a:defRPr>
            </a:pPr>
            <a:r>
              <a:t>■ 2. Cụm HÌNH ẢNH &amp; XUẤT HÀNG (9 người thao tác — Phụ trách in kiểm tra 17 tờ Print, 2 tờ Copy, đo nồng độ, âm thanh và xuất hàng):</a:t>
            </a:r>
          </a:p>
          <a:p>
            <a:pPr>
              <a:spcAft>
                <a:spcPts val="250"/>
              </a:spcAft>
              <a:defRPr sz="800">
                <a:solidFill>
                  <a:srgbClr val="1E242B"/>
                </a:solidFill>
                <a:latin typeface="Arial"/>
              </a:defRPr>
            </a:pPr>
            <a:r>
              <a:t>   • K5 (6 người): In RC9 (30s), RCG Ledger (20s), Scan RCG (20s), RCG LSU Skew (130s), Color Regist (60s), RCC (100s), Halftone U410 (110s), 8 tờ Process (190s), giấy dày/bì thư (45s).</a:t>
            </a:r>
          </a:p>
          <a:p>
            <a:pPr>
              <a:spcAft>
                <a:spcPts val="250"/>
              </a:spcAft>
              <a:defRPr sz="800">
                <a:solidFill>
                  <a:srgbClr val="1E242B"/>
                </a:solidFill>
                <a:latin typeface="Arial"/>
              </a:defRPr>
            </a:pPr>
            <a:r>
              <a:t>   • K6 (1 người), K7 (1 người), K8 (1~2 người): Copy Gray (25s), Copy DC-1 (55s), nghe âm thanh lạ (40s), đo lề (28s); đo nồng độ 3 tờ Check Color/Black/DC-1 (192s), soi PPT tờ GY (10s); RCG Copy Check (60s) và Thiết lập xuất hàng (130s).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Arial"/>
              </a:defRPr>
            </a:pPr>
            <a:r>
              <a:t>1. NẮM BẮT HIỆN TRẠNG</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Layout hiện tại của Line Điều chỉnh Iris2024 (A1 ~ A11: Line thủ công + Line tự động CELL)</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3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000" b="1">
                <a:solidFill>
                  <a:srgbClr val="0F203C"/>
                </a:solidFill>
                <a:latin typeface="Arial"/>
              </a:defRPr>
            </a:pPr>
            <a:r>
              <a:t>■ Bố trí mặt bằng thực tế Line Điều chỉnh Iris2024 (dài 57m, rộng 2,7m; 11 vị trí A1 ~ A11 với 16 người thao tác: 7 Điều chỉnh + 9 Hình ảnh). Với mặt bằng và phân bổ thao tác hiện tại, Line chỉ đạt 243 máy/ngày (15,19 máy/người), không đáp ứng được Takt 97s (300 máy/ngày) của IrisEXP.</a:t>
            </a:r>
          </a:p>
        </p:txBody>
      </p:sp>
      <p:sp>
        <p:nvSpPr>
          <p:cNvPr id="7" name="Rectangle 6"/>
          <p:cNvSpPr/>
          <p:nvPr/>
        </p:nvSpPr>
        <p:spPr>
          <a:xfrm>
            <a:off x="256032" y="1152144"/>
            <a:ext cx="11679631" cy="3456432"/>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1152144"/>
            <a:ext cx="11679631" cy="27432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latin typeface="Arial"/>
              </a:defRPr>
            </a:pPr>
            <a:r>
              <a:t>  SƠ ĐỒ LAYOUT LINE ĐIỀU CHỈNH IRIS2024 HIỆN TẠI (Iris2024 PRT 調整工程: A1 ~ A11 | DÀI 57m × RỘNG 2,7m | 1 NGƯỜI 3 CELL)</a:t>
            </a:r>
          </a:p>
        </p:txBody>
      </p:sp>
      <p:pic>
        <p:nvPicPr>
          <p:cNvPr id="9" name="Picture 8" descr="layout_iris2024_vn.png"/>
          <p:cNvPicPr>
            <a:picLocks noChangeAspect="1"/>
          </p:cNvPicPr>
          <p:nvPr/>
        </p:nvPicPr>
        <p:blipFill>
          <a:blip r:embed="rId2"/>
          <a:stretch>
            <a:fillRect/>
          </a:stretch>
        </p:blipFill>
        <p:spPr>
          <a:xfrm>
            <a:off x="329184" y="1444752"/>
            <a:ext cx="11521440" cy="3109942"/>
          </a:xfrm>
          <a:prstGeom prst="rect">
            <a:avLst/>
          </a:prstGeom>
        </p:spPr>
      </p:pic>
      <p:graphicFrame>
        <p:nvGraphicFramePr>
          <p:cNvPr id="10" name="Table 9"/>
          <p:cNvGraphicFramePr>
            <a:graphicFrameLocks noGrp="1"/>
          </p:cNvGraphicFramePr>
          <p:nvPr/>
        </p:nvGraphicFramePr>
        <p:xfrm>
          <a:off x="256032" y="4681728"/>
          <a:ext cx="11679631" cy="1874519"/>
        </p:xfrm>
        <a:graphic>
          <a:graphicData uri="http://schemas.openxmlformats.org/drawingml/2006/table">
            <a:tbl>
              <a:tblPr firstRow="1" bandRow="1">
                <a:tableStyleId>{5C22544A-7EE6-4342-B048-85BDC9FD1C3A}</a:tableStyleId>
              </a:tblPr>
              <a:tblGrid>
                <a:gridCol w="1600200"/>
                <a:gridCol w="2148840"/>
                <a:gridCol w="3337560"/>
                <a:gridCol w="2240280"/>
                <a:gridCol w="2352751"/>
              </a:tblGrid>
              <a:tr h="374903">
                <a:tc>
                  <a:txBody>
                    <a:bodyPr/>
                    <a:lstStyle/>
                    <a:p>
                      <a:pPr algn="ctr">
                        <a:defRPr sz="760" b="1">
                          <a:solidFill>
                            <a:srgbClr val="FFFFFF"/>
                          </a:solidFill>
                          <a:latin typeface="Arial"/>
                        </a:defRPr>
                      </a:pPr>
                      <a:r>
                        <a:t>Cụm công đoạn</a:t>
                      </a:r>
                    </a:p>
                  </a:txBody>
                  <a:tcPr anchor="ctr" marL="36576" marR="36576" marT="9144" marB="9144">
                    <a:solidFill>
                      <a:srgbClr val="1B365D"/>
                    </a:solidFill>
                  </a:tcPr>
                </a:tc>
                <a:tc>
                  <a:txBody>
                    <a:bodyPr/>
                    <a:lstStyle/>
                    <a:p>
                      <a:pPr algn="ctr">
                        <a:defRPr sz="760" b="1">
                          <a:solidFill>
                            <a:srgbClr val="FFFFFF"/>
                          </a:solidFill>
                          <a:latin typeface="Arial"/>
                        </a:defRPr>
                      </a:pPr>
                      <a:r>
                        <a:t>Vị trí trên Layout Iris2024</a:t>
                      </a:r>
                    </a:p>
                  </a:txBody>
                  <a:tcPr anchor="ctr" marL="36576" marR="36576" marT="9144" marB="9144">
                    <a:solidFill>
                      <a:srgbClr val="1B365D"/>
                    </a:solidFill>
                  </a:tcPr>
                </a:tc>
                <a:tc>
                  <a:txBody>
                    <a:bodyPr/>
                    <a:lstStyle/>
                    <a:p>
                      <a:pPr algn="ctr">
                        <a:defRPr sz="760" b="1">
                          <a:solidFill>
                            <a:srgbClr val="FFFFFF"/>
                          </a:solidFill>
                          <a:latin typeface="Arial"/>
                        </a:defRPr>
                      </a:pPr>
                      <a:r>
                        <a:t>Nội dung thao tác thực tế theo bản vẽ Layout (A1 ~ A11)</a:t>
                      </a:r>
                    </a:p>
                  </a:txBody>
                  <a:tcPr anchor="ctr" marL="36576" marR="36576" marT="9144" marB="9144">
                    <a:solidFill>
                      <a:srgbClr val="1B365D"/>
                    </a:solidFill>
                  </a:tcPr>
                </a:tc>
                <a:tc>
                  <a:txBody>
                    <a:bodyPr/>
                    <a:lstStyle/>
                    <a:p>
                      <a:pPr algn="ctr">
                        <a:defRPr sz="760" b="1">
                          <a:solidFill>
                            <a:srgbClr val="FFFFFF"/>
                          </a:solidFill>
                          <a:latin typeface="Arial"/>
                        </a:defRPr>
                      </a:pPr>
                      <a:r>
                        <a:t>Đặc điểm mặt bằng Line hiện tại</a:t>
                      </a:r>
                    </a:p>
                  </a:txBody>
                  <a:tcPr anchor="ctr" marL="36576" marR="36576" marT="9144" marB="9144">
                    <a:solidFill>
                      <a:srgbClr val="1B365D"/>
                    </a:solidFill>
                  </a:tcPr>
                </a:tc>
                <a:tc>
                  <a:txBody>
                    <a:bodyPr/>
                    <a:lstStyle/>
                    <a:p>
                      <a:pPr algn="ctr">
                        <a:defRPr sz="760" b="1">
                          <a:solidFill>
                            <a:srgbClr val="FFFFFF"/>
                          </a:solidFill>
                          <a:latin typeface="Arial"/>
                        </a:defRPr>
                      </a:pPr>
                      <a:r>
                        <a:t>Giới hạn khi chuyển sang IrisEXP</a:t>
                      </a:r>
                    </a:p>
                  </a:txBody>
                  <a:tcPr anchor="ctr" marL="36576" marR="36576" marT="9144" marB="9144">
                    <a:solidFill>
                      <a:srgbClr val="1B365D"/>
                    </a:solidFill>
                  </a:tcPr>
                </a:tc>
              </a:tr>
              <a:tr h="374903">
                <a:tc>
                  <a:txBody>
                    <a:bodyPr/>
                    <a:lstStyle/>
                    <a:p>
                      <a:pPr algn="ctr">
                        <a:defRPr sz="680" b="1">
                          <a:solidFill>
                            <a:srgbClr val="1E242B"/>
                          </a:solidFill>
                          <a:latin typeface="Arial"/>
                        </a:defRPr>
                      </a:pPr>
                      <a:r>
                        <a:t>CỤM ĐIỀU CHỈNH 1</a:t>
                      </a:r>
                      <a:br/>
                      <a:r>
                        <a:t>(Line thủ công:</a:t>
                      </a:r>
                      <a:br/>
                      <a:r>
                        <a:t>A1 ~ A4)</a:t>
                      </a:r>
                    </a:p>
                  </a:txBody>
                  <a:tcPr anchor="ctr" marL="36576" marR="36576" marT="9144" marB="9144">
                    <a:solidFill>
                      <a:srgbClr val="E8EEF5"/>
                    </a:solidFill>
                  </a:tcPr>
                </a:tc>
                <a:tc>
                  <a:txBody>
                    <a:bodyPr/>
                    <a:lstStyle/>
                    <a:p>
                      <a:pPr algn="l">
                        <a:defRPr sz="680">
                          <a:solidFill>
                            <a:srgbClr val="1E242B"/>
                          </a:solidFill>
                          <a:latin typeface="Arial"/>
                        </a:defRPr>
                      </a:pPr>
                      <a:r>
                        <a:t>A1, A2, A3, A4</a:t>
                      </a:r>
                      <a:br/>
                      <a:r>
                        <a:t>(Dọc chuyền đẩy tay</a:t>
                      </a:r>
                      <a:br/>
                      <a:r>
                        <a:t>đầu Line - 7 người)</a:t>
                      </a:r>
                    </a:p>
                  </a:txBody>
                  <a:tcPr anchor="ctr" marL="36576" marR="36576" marT="9144" marB="9144">
                    <a:solidFill>
                      <a:srgbClr val="E8EEF5"/>
                    </a:solidFill>
                  </a:tcPr>
                </a:tc>
                <a:tc>
                  <a:txBody>
                    <a:bodyPr/>
                    <a:lstStyle/>
                    <a:p>
                      <a:pPr algn="l">
                        <a:defRPr sz="680">
                          <a:solidFill>
                            <a:srgbClr val="1E242B"/>
                          </a:solidFill>
                          <a:latin typeface="Arial"/>
                        </a:defRPr>
                      </a:pPr>
                      <a:r>
                        <a:t>• A1: Nạp soft, lắp FAX &amp; gá hộp mực, TLBĐ + kiểm tra FAN, tháo gá/lắp dummy &amp; Cover.</a:t>
                      </a:r>
                      <a:br/>
                      <a:r>
                        <a:t>• A2: Chọn ngôn ngữ, chỉnh ngưỡng mực thải U155, kiểm tra WTB, Semi-final.</a:t>
                      </a:r>
                      <a:br/>
                      <a:r>
                        <a:t>• A3 &amp; A4: Đóng/mở Cassette, kiểm tra Option; lắp 6 Cover, đo chịu áp, nhận biết khổ giấy &amp; đặt giấy.</a:t>
                      </a:r>
                    </a:p>
                  </a:txBody>
                  <a:tcPr anchor="ctr" marL="36576" marR="36576" marT="9144" marB="9144">
                    <a:solidFill>
                      <a:srgbClr val="E8EEF5"/>
                    </a:solidFill>
                  </a:tcPr>
                </a:tc>
                <a:tc>
                  <a:txBody>
                    <a:bodyPr/>
                    <a:lstStyle/>
                    <a:p>
                      <a:pPr algn="l">
                        <a:defRPr sz="680">
                          <a:solidFill>
                            <a:srgbClr val="1E242B"/>
                          </a:solidFill>
                          <a:latin typeface="Arial"/>
                        </a:defRPr>
                      </a:pPr>
                      <a:r>
                        <a:t>• Chiều dài tổng Line: 57m (đã rút từ 60m -&gt; 57m để không ảnh hưởng Line Hontai).</a:t>
                      </a:r>
                      <a:br/>
                      <a:r>
                        <a:t>• Chiều rộng Line tự động: 2,7m.</a:t>
                      </a:r>
                    </a:p>
                  </a:txBody>
                  <a:tcPr anchor="ctr" marL="36576" marR="36576" marT="9144" marB="9144">
                    <a:solidFill>
                      <a:srgbClr val="E8EEF5"/>
                    </a:solidFill>
                  </a:tcPr>
                </a:tc>
                <a:tc>
                  <a:txBody>
                    <a:bodyPr/>
                    <a:lstStyle/>
                    <a:p>
                      <a:pPr algn="l">
                        <a:defRPr sz="680">
                          <a:solidFill>
                            <a:srgbClr val="1E242B"/>
                          </a:solidFill>
                          <a:latin typeface="Arial"/>
                        </a:defRPr>
                      </a:pPr>
                      <a:r>
                        <a:t>• Cắm/rút cáp và tháo lắp đồ gá thủ công nhiều lần tại A1~A4.</a:t>
                      </a:r>
                      <a:br/>
                      <a:r>
                        <a:t>• Tốn thời gian lắp 6 tấm vỏ ngoài trước khi đo chịu áp.</a:t>
                      </a:r>
                    </a:p>
                  </a:txBody>
                  <a:tcPr anchor="ctr" marL="36576" marR="36576" marT="9144" marB="9144">
                    <a:solidFill>
                      <a:srgbClr val="E8EEF5"/>
                    </a:solidFill>
                  </a:tcPr>
                </a:tc>
              </a:tr>
              <a:tr h="374903">
                <a:tc>
                  <a:txBody>
                    <a:bodyPr/>
                    <a:lstStyle/>
                    <a:p>
                      <a:pPr algn="ctr">
                        <a:defRPr sz="680" b="1">
                          <a:solidFill>
                            <a:srgbClr val="1E242B"/>
                          </a:solidFill>
                          <a:latin typeface="Arial"/>
                        </a:defRPr>
                      </a:pPr>
                      <a:r>
                        <a:t>CỤM ĐIỀU CHỈNH 2</a:t>
                      </a:r>
                      <a:br/>
                      <a:r>
                        <a:t>(Line tự động &amp; Aging:</a:t>
                      </a:r>
                      <a:br/>
                      <a:r>
                        <a:t>A5 ~ A7)</a:t>
                      </a:r>
                    </a:p>
                  </a:txBody>
                  <a:tcPr anchor="ctr" marL="36576" marR="36576" marT="9144" marB="9144">
                    <a:solidFill>
                      <a:srgbClr val="FEF7E6"/>
                    </a:solidFill>
                  </a:tcPr>
                </a:tc>
                <a:tc>
                  <a:txBody>
                    <a:bodyPr/>
                    <a:lstStyle/>
                    <a:p>
                      <a:pPr algn="l">
                        <a:defRPr sz="680">
                          <a:solidFill>
                            <a:srgbClr val="1E242B"/>
                          </a:solidFill>
                          <a:latin typeface="Arial"/>
                        </a:defRPr>
                      </a:pPr>
                      <a:r>
                        <a:t>A5, A6 (trước Aging)</a:t>
                      </a:r>
                      <a:br/>
                      <a:r>
                        <a:t>&amp; A7 (Khu vực Aging</a:t>
                      </a:r>
                      <a:br/>
                      <a:r>
                        <a:t>và kiểm tra USB/U201)</a:t>
                      </a:r>
                    </a:p>
                  </a:txBody>
                  <a:tcPr anchor="ctr" marL="36576" marR="36576" marT="9144" marB="9144">
                    <a:solidFill>
                      <a:srgbClr val="FEF7E6"/>
                    </a:solidFill>
                  </a:tcPr>
                </a:tc>
                <a:tc>
                  <a:txBody>
                    <a:bodyPr/>
                    <a:lstStyle/>
                    <a:p>
                      <a:pPr algn="l">
                        <a:defRPr sz="680">
                          <a:solidFill>
                            <a:srgbClr val="1E242B"/>
                          </a:solidFill>
                          <a:latin typeface="Arial"/>
                        </a:defRPr>
                      </a:pPr>
                      <a:r>
                        <a:t>• A5: Kiểm tra nhận biết size giấy, lượng giấy Cassette &amp; đặt giấy vào Cassette.</a:t>
                      </a:r>
                      <a:br/>
                      <a:r>
                        <a:t>• A6: In RCG trước U950, chỉnh tự động ISU U411 (Scan chart color), Scan bản thảo SITC-2.</a:t>
                      </a:r>
                      <a:br/>
                      <a:r>
                        <a:t>• A7: Kiểm tra đóng/mở Cover Right, Scan Halftone, kiểm tra USB, tọa độ U201, Aging U950, đo lệch Belt.</a:t>
                      </a:r>
                    </a:p>
                  </a:txBody>
                  <a:tcPr anchor="ctr" marL="36576" marR="36576" marT="9144" marB="9144">
                    <a:solidFill>
                      <a:srgbClr val="FEF7E6"/>
                    </a:solidFill>
                  </a:tcPr>
                </a:tc>
                <a:tc>
                  <a:txBody>
                    <a:bodyPr/>
                    <a:lstStyle/>
                    <a:p>
                      <a:pPr algn="l">
                        <a:defRPr sz="680">
                          <a:solidFill>
                            <a:srgbClr val="1E242B"/>
                          </a:solidFill>
                          <a:latin typeface="Arial"/>
                        </a:defRPr>
                      </a:pPr>
                      <a:r>
                        <a:t>• Bố trí A5, A6 thao tác trực tiếp trên Line tự động trước vùng Aging.</a:t>
                      </a:r>
                      <a:br/>
                      <a:r>
                        <a:t>• Có vùng dự phòng (予備スペース 5,5m) và cầu thang.</a:t>
                      </a:r>
                    </a:p>
                  </a:txBody>
                  <a:tcPr anchor="ctr" marL="36576" marR="36576" marT="9144" marB="9144">
                    <a:solidFill>
                      <a:srgbClr val="FEF7E6"/>
                    </a:solidFill>
                  </a:tcPr>
                </a:tc>
                <a:tc>
                  <a:txBody>
                    <a:bodyPr/>
                    <a:lstStyle/>
                    <a:p>
                      <a:pPr algn="l">
                        <a:defRPr sz="680">
                          <a:solidFill>
                            <a:srgbClr val="1E242B"/>
                          </a:solidFill>
                          <a:latin typeface="Arial"/>
                        </a:defRPr>
                      </a:pPr>
                      <a:r>
                        <a:t>• Phải mở nắp kính đặt 3 tờ bản thảo thủ công tại A6~A7 (110s).</a:t>
                      </a:r>
                      <a:br/>
                      <a:r>
                        <a:t>• Chu kỳ Aging U950 kéo dài 285s gây nghẽn dòng chảy.</a:t>
                      </a:r>
                    </a:p>
                  </a:txBody>
                  <a:tcPr anchor="ctr" marL="36576" marR="36576" marT="9144" marB="9144">
                    <a:solidFill>
                      <a:srgbClr val="FEF7E6"/>
                    </a:solidFill>
                  </a:tcPr>
                </a:tc>
              </a:tr>
              <a:tr h="374903">
                <a:tc>
                  <a:txBody>
                    <a:bodyPr/>
                    <a:lstStyle/>
                    <a:p>
                      <a:pPr algn="ctr">
                        <a:defRPr sz="680" b="1">
                          <a:solidFill>
                            <a:srgbClr val="1E242B"/>
                          </a:solidFill>
                          <a:latin typeface="Arial"/>
                        </a:defRPr>
                      </a:pPr>
                      <a:r>
                        <a:t>CỤM HÌNH ẢNH</a:t>
                      </a:r>
                      <a:br/>
                      <a:r>
                        <a:t>&amp; XUẤT HÀNG</a:t>
                      </a:r>
                      <a:br/>
                      <a:r>
                        <a:t>(Cell Line: A8 ~ A11)</a:t>
                      </a:r>
                    </a:p>
                  </a:txBody>
                  <a:tcPr anchor="ctr" marL="36576" marR="36576" marT="9144" marB="9144">
                    <a:solidFill>
                      <a:srgbClr val="FFFFFF"/>
                    </a:solidFill>
                  </a:tcPr>
                </a:tc>
                <a:tc>
                  <a:txBody>
                    <a:bodyPr/>
                    <a:lstStyle/>
                    <a:p>
                      <a:pPr algn="l">
                        <a:defRPr sz="680">
                          <a:solidFill>
                            <a:srgbClr val="1E242B"/>
                          </a:solidFill>
                          <a:latin typeface="Arial"/>
                        </a:defRPr>
                      </a:pPr>
                      <a:r>
                        <a:t>A8 (Cell 2 bên, 1 người 3 Cell), A9 (Buồng âm), A10, A11 (5 Cell xuất)</a:t>
                      </a:r>
                    </a:p>
                  </a:txBody>
                  <a:tcPr anchor="ctr" marL="36576" marR="36576" marT="9144" marB="9144">
                    <a:solidFill>
                      <a:srgbClr val="FFFFFF"/>
                    </a:solidFill>
                  </a:tcPr>
                </a:tc>
                <a:tc>
                  <a:txBody>
                    <a:bodyPr/>
                    <a:lstStyle/>
                    <a:p>
                      <a:pPr algn="l">
                        <a:defRPr sz="680">
                          <a:solidFill>
                            <a:srgbClr val="1E242B"/>
                          </a:solidFill>
                          <a:latin typeface="Arial"/>
                        </a:defRPr>
                      </a:pPr>
                      <a:r>
                        <a:t>• A8: In RC9, RCG, Scan RCG trước U950, in LSU Skew, Color Regist, RCC, chỉnh U410, in 8 tờ Process, giấy dày/bì thư (kết hợp máy thực nghiệm 実機検査).</a:t>
                      </a:r>
                      <a:br/>
                      <a:r>
                        <a:t>• A9: Copy Gray, Copy DC-1, kiểm tra âm thanh lạ (異音検査ルーム).</a:t>
                      </a:r>
                      <a:br/>
                      <a:r>
                        <a:t>• A10 &amp; A11: Đo lề, đo nồng độ 3 tờ (Check Color/Black/DC-1); RCG Copy Check &amp; Thiết lập xuất hàng.</a:t>
                      </a:r>
                    </a:p>
                  </a:txBody>
                  <a:tcPr anchor="ctr" marL="36576" marR="36576" marT="9144" marB="9144">
                    <a:solidFill>
                      <a:srgbClr val="FFFFFF"/>
                    </a:solidFill>
                  </a:tcPr>
                </a:tc>
                <a:tc>
                  <a:txBody>
                    <a:bodyPr/>
                    <a:lstStyle/>
                    <a:p>
                      <a:pPr algn="l">
                        <a:defRPr sz="680">
                          <a:solidFill>
                            <a:srgbClr val="1E242B"/>
                          </a:solidFill>
                          <a:latin typeface="Arial"/>
                        </a:defRPr>
                      </a:pPr>
                      <a:r>
                        <a:t>• Cell bố trí 2 bên (1 người phụ trách 3 Cell), có 1 Buffer trước phòng âm thanh.</a:t>
                      </a:r>
                      <a:br/>
                      <a:r>
                        <a:t>• Khu vực sửa máy (修理エリア 9m+13m) nằm gọn trong lòng Line.</a:t>
                      </a:r>
                    </a:p>
                  </a:txBody>
                  <a:tcPr anchor="ctr" marL="36576" marR="36576" marT="9144" marB="9144">
                    <a:solidFill>
                      <a:srgbClr val="FFFFFF"/>
                    </a:solidFill>
                  </a:tcPr>
                </a:tc>
                <a:tc>
                  <a:txBody>
                    <a:bodyPr/>
                    <a:lstStyle/>
                    <a:p>
                      <a:pPr algn="l">
                        <a:defRPr sz="680">
                          <a:solidFill>
                            <a:srgbClr val="1E242B"/>
                          </a:solidFill>
                          <a:latin typeface="Arial"/>
                        </a:defRPr>
                      </a:pPr>
                      <a:r>
                        <a:t>• In tới 17 tờ Print + 2 tờ Copy tại A8~A9; đo nồng độ cầm tay tại A10 mất 192s.</a:t>
                      </a:r>
                      <a:br/>
                      <a:r>
                        <a:t>• Cắt từ 6 Cell -&gt; 5 Cell tại A11 nên không còn chỗ thêm người cho IrisEXP.</a:t>
                      </a:r>
                    </a:p>
                  </a:txBody>
                  <a:tcPr anchor="ctr" marL="36576" marR="36576" marT="9144" marB="9144">
                    <a:solidFill>
                      <a:srgbClr val="FFFFFF"/>
                    </a:solidFill>
                  </a:tcPr>
                </a:tc>
              </a:tr>
              <a:tr h="374907">
                <a:tc>
                  <a:txBody>
                    <a:bodyPr/>
                    <a:lstStyle/>
                    <a:p>
                      <a:pPr algn="ctr">
                        <a:defRPr sz="680" b="1">
                          <a:solidFill>
                            <a:srgbClr val="1E242B"/>
                          </a:solidFill>
                          <a:latin typeface="Arial"/>
                        </a:defRPr>
                      </a:pPr>
                      <a:r>
                        <a:t>TỔNG HỢP LINE</a:t>
                      </a:r>
                      <a:br/>
                      <a:r>
                        <a:t>IRIS2024 HIỆN TẠI</a:t>
                      </a:r>
                    </a:p>
                  </a:txBody>
                  <a:tcPr anchor="ctr" marL="36576" marR="36576" marT="9144" marB="9144">
                    <a:solidFill>
                      <a:srgbClr val="FDEDEC"/>
                    </a:solidFill>
                  </a:tcPr>
                </a:tc>
                <a:tc>
                  <a:txBody>
                    <a:bodyPr/>
                    <a:lstStyle/>
                    <a:p>
                      <a:pPr algn="l">
                        <a:defRPr sz="680">
                          <a:solidFill>
                            <a:srgbClr val="1E242B"/>
                          </a:solidFill>
                          <a:latin typeface="Arial"/>
                        </a:defRPr>
                      </a:pPr>
                      <a:r>
                        <a:t>11 trạm (A1 ~ A11)</a:t>
                      </a:r>
                      <a:br/>
                      <a:r>
                        <a:t>Dài 57m × Rộng 2,7m</a:t>
                      </a:r>
                    </a:p>
                  </a:txBody>
                  <a:tcPr anchor="ctr" marL="36576" marR="36576" marT="9144" marB="9144">
                    <a:solidFill>
                      <a:srgbClr val="FDEDEC"/>
                    </a:solidFill>
                  </a:tcPr>
                </a:tc>
                <a:tc>
                  <a:txBody>
                    <a:bodyPr/>
                    <a:lstStyle/>
                    <a:p>
                      <a:pPr algn="l">
                        <a:defRPr sz="680">
                          <a:solidFill>
                            <a:srgbClr val="1E242B"/>
                          </a:solidFill>
                          <a:latin typeface="Arial"/>
                        </a:defRPr>
                      </a:pPr>
                      <a:r>
                        <a:t>• Tổng thời gian chuẩn mã cao nhất: 1.083s (Gross toàn chuyền: 2.350s).</a:t>
                      </a:r>
                      <a:br/>
                      <a:r>
                        <a:t>• Tổng nhân sự: 16 người thao tác (7 Điều chỉnh + 9 Hình ảnh) -&gt; 243 máy/ngày (15,19 máy/người).</a:t>
                      </a:r>
                    </a:p>
                  </a:txBody>
                  <a:tcPr anchor="ctr" marL="36576" marR="36576" marT="9144" marB="9144">
                    <a:solidFill>
                      <a:srgbClr val="FDEDEC"/>
                    </a:solidFill>
                  </a:tcPr>
                </a:tc>
                <a:tc>
                  <a:txBody>
                    <a:bodyPr/>
                    <a:lstStyle/>
                    <a:p>
                      <a:pPr algn="l">
                        <a:defRPr sz="680">
                          <a:solidFill>
                            <a:srgbClr val="1E242B"/>
                          </a:solidFill>
                          <a:latin typeface="Arial"/>
                        </a:defRPr>
                      </a:pPr>
                      <a:r>
                        <a:t>• Mặt bằng đã tối ưu sát giới hạn xưởng (rộng 2,7m, dài 57m).</a:t>
                      </a:r>
                    </a:p>
                  </a:txBody>
                  <a:tcPr anchor="ctr" marL="36576" marR="36576" marT="9144" marB="9144">
                    <a:solidFill>
                      <a:srgbClr val="FDEDEC"/>
                    </a:solidFill>
                  </a:tcPr>
                </a:tc>
                <a:tc>
                  <a:txBody>
                    <a:bodyPr/>
                    <a:lstStyle/>
                    <a:p>
                      <a:pPr algn="l">
                        <a:defRPr sz="680">
                          <a:solidFill>
                            <a:srgbClr val="1E242B"/>
                          </a:solidFill>
                          <a:latin typeface="Arial"/>
                        </a:defRPr>
                      </a:pPr>
                      <a:r>
                        <a:t>• Không thể đảm bảo sản xuất IrisEXP (Takt 97s, 300 máy/ngày, cần 18 người) nếu không tăng gấp đôi năng suất.</a:t>
                      </a:r>
                    </a:p>
                  </a:txBody>
                  <a:tcPr anchor="ctr" marL="36576" marR="36576" marT="9144" marB="9144">
                    <a:solidFill>
                      <a:srgbClr val="FDEDEC"/>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Arial"/>
              </a:defRPr>
            </a:pPr>
            <a:r>
              <a:t>2. MỤC TIÊU PHÁT TRIỂN</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Mục tiêu phát triển Công đoạn điều chỉnh thân máy IrisEXP (Tham chiếu IrisEXP開発目標_本体保証工程)</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4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000" b="1">
                <a:solidFill>
                  <a:srgbClr val="0F203C"/>
                </a:solidFill>
                <a:latin typeface="Arial"/>
              </a:defRPr>
            </a:pPr>
            <a:r>
              <a:t>■ Tăng gấp đôi năng suất (1 người thao tác làm gấp đôi số máy hiện tại: từ 15,19 lên ≥30,38 máy/người/ngày), giảm 50% thời gian thao tác &amp; nhân sự để đảm bảo sản xuất IrisEXP (300 máy/ngày, Takt 97s) ngay trên Line Iris2024 hiện tại.</a:t>
            </a:r>
          </a:p>
        </p:txBody>
      </p:sp>
      <p:sp>
        <p:nvSpPr>
          <p:cNvPr id="7" name="Rectangle 6"/>
          <p:cNvSpPr/>
          <p:nvPr/>
        </p:nvSpPr>
        <p:spPr>
          <a:xfrm>
            <a:off x="256032" y="1170432"/>
            <a:ext cx="3767328" cy="2057400"/>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1170432"/>
            <a:ext cx="3767328" cy="30175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80" b="1">
                <a:solidFill>
                  <a:srgbClr val="FFFFFF"/>
                </a:solidFill>
                <a:latin typeface="Arial"/>
              </a:defRPr>
            </a:pPr>
            <a:r>
              <a:t>PHƯƠNG CHÂM 1: THIẾT LẬP BẢO CHỨNG MODULE (C / QC)</a:t>
            </a:r>
          </a:p>
        </p:txBody>
      </p:sp>
      <p:sp>
        <p:nvSpPr>
          <p:cNvPr id="9" name="TextBox 8"/>
          <p:cNvSpPr txBox="1"/>
          <p:nvPr/>
        </p:nvSpPr>
        <p:spPr>
          <a:xfrm>
            <a:off x="329184" y="1490472"/>
            <a:ext cx="3621024" cy="1709928"/>
          </a:xfrm>
          <a:prstGeom prst="rect">
            <a:avLst/>
          </a:prstGeom>
          <a:noFill/>
        </p:spPr>
        <p:txBody>
          <a:bodyPr wrap="square" lIns="36576" rIns="36576" tIns="18288" bIns="18288">
            <a:spAutoFit/>
          </a:bodyPr>
          <a:lstStyle/>
          <a:p>
            <a:pPr>
              <a:spcAft>
                <a:spcPts val="250"/>
              </a:spcAft>
              <a:defRPr sz="830" b="1">
                <a:solidFill>
                  <a:srgbClr val="1E242B"/>
                </a:solidFill>
                <a:latin typeface="Arial"/>
              </a:defRPr>
            </a:pPr>
            <a:r>
              <a:t>■ Phương châm:</a:t>
            </a:r>
          </a:p>
          <a:p>
            <a:pPr>
              <a:spcAft>
                <a:spcPts val="250"/>
              </a:spcAft>
              <a:defRPr sz="830">
                <a:solidFill>
                  <a:srgbClr val="1E242B"/>
                </a:solidFill>
                <a:latin typeface="Arial"/>
              </a:defRPr>
            </a:pPr>
            <a:r>
              <a:t>• Xây dựng nền tảng thiết kế công đoạn nhằm thiết lập bảo chứng theo từng MODULE.</a:t>
            </a:r>
          </a:p>
          <a:p>
            <a:pPr>
              <a:spcAft>
                <a:spcPts val="250"/>
              </a:spcAft>
              <a:defRPr sz="830">
                <a:solidFill>
                  <a:srgbClr val="1E242B"/>
                </a:solidFill>
                <a:latin typeface="Arial"/>
              </a:defRPr>
            </a:pPr>
            <a:r>
              <a:t>• Rà soát toàn diện công đoạn kiểm tra điều chỉnh Iris2024, cắt giảm các thao tác thừa.</a:t>
            </a:r>
          </a:p>
          <a:p>
            <a:pPr>
              <a:spcAft>
                <a:spcPts val="250"/>
              </a:spcAft>
              <a:defRPr sz="830" b="1">
                <a:solidFill>
                  <a:srgbClr val="1E242B"/>
                </a:solidFill>
                <a:latin typeface="Arial"/>
              </a:defRPr>
            </a:pPr>
            <a:r>
              <a:t>■ Mục tiêu đạt được ①:</a:t>
            </a:r>
          </a:p>
          <a:p>
            <a:pPr>
              <a:spcAft>
                <a:spcPts val="250"/>
              </a:spcAft>
              <a:defRPr sz="830">
                <a:solidFill>
                  <a:srgbClr val="1E242B"/>
                </a:solidFill>
                <a:latin typeface="Arial"/>
              </a:defRPr>
            </a:pPr>
            <a:r>
              <a:t>• Hủy bỏ kiểm tra thủ công của Iris2024 hoặc giảm 1/2 công sức cho ≥ 3 hạng mục (WTB U155, Belt trung chuyển, Kiểm tra điện).</a:t>
            </a:r>
          </a:p>
        </p:txBody>
      </p:sp>
      <p:sp>
        <p:nvSpPr>
          <p:cNvPr id="10" name="Rectangle 9"/>
          <p:cNvSpPr/>
          <p:nvPr/>
        </p:nvSpPr>
        <p:spPr>
          <a:xfrm>
            <a:off x="4206240" y="1170432"/>
            <a:ext cx="3767328" cy="2057400"/>
          </a:xfrm>
          <a:prstGeom prst="rect">
            <a:avLst/>
          </a:prstGeom>
          <a:solidFill>
            <a:srgbClr val="FFFFFF"/>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06240" y="1170432"/>
            <a:ext cx="3767328" cy="301752"/>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80" b="1">
                <a:solidFill>
                  <a:srgbClr val="FFFFFF"/>
                </a:solidFill>
                <a:latin typeface="Arial"/>
              </a:defRPr>
            </a:pPr>
            <a:r>
              <a:t>PHƯƠNG CHÂM 2: GIẢM THỜI GIAN TIÊU CHUẨN (QCD)</a:t>
            </a:r>
          </a:p>
        </p:txBody>
      </p:sp>
      <p:sp>
        <p:nvSpPr>
          <p:cNvPr id="12" name="TextBox 11"/>
          <p:cNvSpPr txBox="1"/>
          <p:nvPr/>
        </p:nvSpPr>
        <p:spPr>
          <a:xfrm>
            <a:off x="4279392" y="1490472"/>
            <a:ext cx="3621024" cy="1709928"/>
          </a:xfrm>
          <a:prstGeom prst="rect">
            <a:avLst/>
          </a:prstGeom>
          <a:noFill/>
        </p:spPr>
        <p:txBody>
          <a:bodyPr wrap="square" lIns="36576" rIns="36576" tIns="18288" bIns="18288">
            <a:spAutoFit/>
          </a:bodyPr>
          <a:lstStyle/>
          <a:p>
            <a:pPr>
              <a:spcAft>
                <a:spcPts val="250"/>
              </a:spcAft>
              <a:defRPr sz="830" b="1">
                <a:solidFill>
                  <a:srgbClr val="1E242B"/>
                </a:solidFill>
                <a:latin typeface="Arial"/>
              </a:defRPr>
            </a:pPr>
            <a:r>
              <a:t>■ Phương châm:</a:t>
            </a:r>
          </a:p>
          <a:p>
            <a:pPr>
              <a:spcAft>
                <a:spcPts val="250"/>
              </a:spcAft>
              <a:defRPr sz="830">
                <a:solidFill>
                  <a:srgbClr val="1E242B"/>
                </a:solidFill>
                <a:latin typeface="Arial"/>
              </a:defRPr>
            </a:pPr>
            <a:r>
              <a:t>• Giảm thời gian thao tác tiêu chuẩn (正味時間) của toàn bộ công đoạn điều chỉnh.</a:t>
            </a:r>
          </a:p>
          <a:p>
            <a:pPr>
              <a:spcAft>
                <a:spcPts val="250"/>
              </a:spcAft>
              <a:defRPr sz="830">
                <a:solidFill>
                  <a:srgbClr val="1E242B"/>
                </a:solidFill>
                <a:latin typeface="Arial"/>
              </a:defRPr>
            </a:pPr>
            <a:r>
              <a:t>• Giảm một nửa số lượng bản in kiểm tra hình ảnh.</a:t>
            </a:r>
          </a:p>
          <a:p>
            <a:pPr>
              <a:spcAft>
                <a:spcPts val="250"/>
              </a:spcAft>
              <a:defRPr sz="830" b="1">
                <a:solidFill>
                  <a:srgbClr val="1E242B"/>
                </a:solidFill>
                <a:latin typeface="Arial"/>
              </a:defRPr>
            </a:pPr>
            <a:r>
              <a:t>■ Mục tiêu đạt được ② &amp; ③:</a:t>
            </a:r>
          </a:p>
          <a:p>
            <a:pPr>
              <a:spcAft>
                <a:spcPts val="250"/>
              </a:spcAft>
              <a:defRPr sz="830">
                <a:solidFill>
                  <a:srgbClr val="1E242B"/>
                </a:solidFill>
                <a:latin typeface="Arial"/>
              </a:defRPr>
            </a:pPr>
            <a:r>
              <a:t>• Giảm số pattern hình ảnh khi Print từ 17 tờ → 9 tờ; khi Copy từ 2 tờ → 1 tờ.</a:t>
            </a:r>
          </a:p>
          <a:p>
            <a:pPr>
              <a:spcAft>
                <a:spcPts val="250"/>
              </a:spcAft>
              <a:defRPr sz="830">
                <a:solidFill>
                  <a:srgbClr val="1E242B"/>
                </a:solidFill>
                <a:latin typeface="Arial"/>
              </a:defRPr>
            </a:pPr>
            <a:r>
              <a:t>• Giảm một nửa (-50%) thời gian thao tác so với Iris2024 (kết hợp cải tiến công đoạn + phân tích video AI).</a:t>
            </a:r>
          </a:p>
        </p:txBody>
      </p:sp>
      <p:sp>
        <p:nvSpPr>
          <p:cNvPr id="13" name="Rectangle 12"/>
          <p:cNvSpPr/>
          <p:nvPr/>
        </p:nvSpPr>
        <p:spPr>
          <a:xfrm>
            <a:off x="8156448" y="1170432"/>
            <a:ext cx="3779215" cy="2057400"/>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56448" y="1170432"/>
            <a:ext cx="3779215" cy="30175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80" b="1">
                <a:solidFill>
                  <a:srgbClr val="FFFFFF"/>
                </a:solidFill>
                <a:latin typeface="Arial"/>
              </a:defRPr>
            </a:pPr>
            <a:r>
              <a:t>PHƯƠNG CHÂM 3: HƯỚNG TỚI TỰ ĐỘNG HÓA &amp; X2 NĂNG SUẤT</a:t>
            </a:r>
          </a:p>
        </p:txBody>
      </p:sp>
      <p:sp>
        <p:nvSpPr>
          <p:cNvPr id="15" name="TextBox 14"/>
          <p:cNvSpPr txBox="1"/>
          <p:nvPr/>
        </p:nvSpPr>
        <p:spPr>
          <a:xfrm>
            <a:off x="8229600" y="1490472"/>
            <a:ext cx="3632911" cy="1709928"/>
          </a:xfrm>
          <a:prstGeom prst="rect">
            <a:avLst/>
          </a:prstGeom>
          <a:noFill/>
        </p:spPr>
        <p:txBody>
          <a:bodyPr wrap="square" lIns="36576" rIns="36576" tIns="18288" bIns="18288">
            <a:spAutoFit/>
          </a:bodyPr>
          <a:lstStyle/>
          <a:p>
            <a:pPr>
              <a:spcAft>
                <a:spcPts val="250"/>
              </a:spcAft>
              <a:defRPr sz="830" b="1">
                <a:solidFill>
                  <a:srgbClr val="1E242B"/>
                </a:solidFill>
                <a:latin typeface="Arial"/>
              </a:defRPr>
            </a:pPr>
            <a:r>
              <a:t>■ Phương châm:</a:t>
            </a:r>
          </a:p>
          <a:p>
            <a:pPr>
              <a:spcAft>
                <a:spcPts val="250"/>
              </a:spcAft>
              <a:defRPr sz="830">
                <a:solidFill>
                  <a:srgbClr val="1E242B"/>
                </a:solidFill>
                <a:latin typeface="Arial"/>
              </a:defRPr>
            </a:pPr>
            <a:r>
              <a:t>• Xây dựng nền tảng công đoạn hướng tới sản xuất tự động hóa.</a:t>
            </a:r>
          </a:p>
          <a:p>
            <a:pPr>
              <a:spcAft>
                <a:spcPts val="250"/>
              </a:spcAft>
              <a:defRPr sz="830">
                <a:solidFill>
                  <a:srgbClr val="1E242B"/>
                </a:solidFill>
                <a:latin typeface="Arial"/>
              </a:defRPr>
            </a:pPr>
            <a:r>
              <a:t>• Liên kết 3 cứ điểm (JP - CN - VN) đẩy mạnh giảm người và tăng gấp đôi năng suất.</a:t>
            </a:r>
          </a:p>
          <a:p>
            <a:pPr>
              <a:spcAft>
                <a:spcPts val="250"/>
              </a:spcAft>
              <a:defRPr sz="830" b="1">
                <a:solidFill>
                  <a:srgbClr val="1E242B"/>
                </a:solidFill>
                <a:latin typeface="Arial"/>
              </a:defRPr>
            </a:pPr>
            <a:r>
              <a:t>■ Mục tiêu cụ thể tại KDTVN:</a:t>
            </a:r>
          </a:p>
          <a:p>
            <a:pPr>
              <a:spcAft>
                <a:spcPts val="250"/>
              </a:spcAft>
              <a:defRPr sz="830">
                <a:solidFill>
                  <a:srgbClr val="1E242B"/>
                </a:solidFill>
                <a:latin typeface="Arial"/>
              </a:defRPr>
            </a:pPr>
            <a:r>
              <a:t>• Năng suất 1 người tăng gấp đôi: 15,19 → ≥ 30,38 ~ 33,33 máy/người/ngày.</a:t>
            </a:r>
          </a:p>
          <a:p>
            <a:pPr>
              <a:spcAft>
                <a:spcPts val="250"/>
              </a:spcAft>
              <a:defRPr sz="830">
                <a:solidFill>
                  <a:srgbClr val="1E242B"/>
                </a:solidFill>
                <a:latin typeface="Arial"/>
              </a:defRPr>
            </a:pPr>
            <a:r>
              <a:t>• Giảm 50% số người thao tác (từ 16~18 người xuống 8~9 người), đảm bảo sản xuất 300 máy/ngày trên Line hiện tại.</a:t>
            </a:r>
          </a:p>
        </p:txBody>
      </p:sp>
      <p:graphicFrame>
        <p:nvGraphicFramePr>
          <p:cNvPr id="16" name="Table 15"/>
          <p:cNvGraphicFramePr>
            <a:graphicFrameLocks noGrp="1"/>
          </p:cNvGraphicFramePr>
          <p:nvPr/>
        </p:nvGraphicFramePr>
        <p:xfrm>
          <a:off x="256032" y="3337560"/>
          <a:ext cx="11679631" cy="3200400"/>
        </p:xfrm>
        <a:graphic>
          <a:graphicData uri="http://schemas.openxmlformats.org/drawingml/2006/table">
            <a:tbl>
              <a:tblPr firstRow="1" bandRow="1">
                <a:tableStyleId>{5C22544A-7EE6-4342-B048-85BDC9FD1C3A}</a:tableStyleId>
              </a:tblPr>
              <a:tblGrid>
                <a:gridCol w="1920240"/>
                <a:gridCol w="1691640"/>
                <a:gridCol w="2331720"/>
                <a:gridCol w="5736031"/>
              </a:tblGrid>
              <a:tr h="640080">
                <a:tc>
                  <a:txBody>
                    <a:bodyPr/>
                    <a:lstStyle/>
                    <a:p>
                      <a:pPr algn="ctr">
                        <a:defRPr sz="800" b="1">
                          <a:solidFill>
                            <a:srgbClr val="FFFFFF"/>
                          </a:solidFill>
                          <a:latin typeface="Arial"/>
                        </a:defRPr>
                      </a:pPr>
                      <a:r>
                        <a:t>Mục tiêu tổng thể</a:t>
                      </a:r>
                    </a:p>
                  </a:txBody>
                  <a:tcPr anchor="ctr" marL="45720" marR="45720" marT="18288" marB="18288">
                    <a:solidFill>
                      <a:srgbClr val="1B365D"/>
                    </a:solidFill>
                  </a:tcPr>
                </a:tc>
                <a:tc>
                  <a:txBody>
                    <a:bodyPr/>
                    <a:lstStyle/>
                    <a:p>
                      <a:pPr algn="ctr">
                        <a:defRPr sz="800" b="1">
                          <a:solidFill>
                            <a:srgbClr val="FFFFFF"/>
                          </a:solidFill>
                          <a:latin typeface="Arial"/>
                        </a:defRPr>
                      </a:pPr>
                      <a:r>
                        <a:t>Mục tiêu định lượng</a:t>
                      </a:r>
                    </a:p>
                  </a:txBody>
                  <a:tcPr anchor="ctr" marL="45720" marR="45720" marT="18288" marB="18288">
                    <a:solidFill>
                      <a:srgbClr val="1B365D"/>
                    </a:solidFill>
                  </a:tcPr>
                </a:tc>
                <a:tc>
                  <a:txBody>
                    <a:bodyPr/>
                    <a:lstStyle/>
                    <a:p>
                      <a:pPr algn="ctr">
                        <a:defRPr sz="800" b="1">
                          <a:solidFill>
                            <a:srgbClr val="FFFFFF"/>
                          </a:solidFill>
                          <a:latin typeface="Arial"/>
                        </a:defRPr>
                      </a:pPr>
                      <a:r>
                        <a:t>Hoạt động phát triển cơ bản</a:t>
                      </a:r>
                    </a:p>
                  </a:txBody>
                  <a:tcPr anchor="ctr" marL="45720" marR="45720" marT="18288" marB="18288">
                    <a:solidFill>
                      <a:srgbClr val="1B365D"/>
                    </a:solidFill>
                  </a:tcPr>
                </a:tc>
                <a:tc>
                  <a:txBody>
                    <a:bodyPr/>
                    <a:lstStyle/>
                    <a:p>
                      <a:pPr algn="ctr">
                        <a:defRPr sz="800" b="1">
                          <a:solidFill>
                            <a:srgbClr val="FFFFFF"/>
                          </a:solidFill>
                          <a:latin typeface="Arial"/>
                        </a:defRPr>
                      </a:pPr>
                      <a:r>
                        <a:t>Các đề án triển khai trọng tâm tại Việt Nam (Theo Sheet 開発目標 VN1)</a:t>
                      </a:r>
                    </a:p>
                  </a:txBody>
                  <a:tcPr anchor="ctr" marL="45720" marR="45720" marT="18288" marB="18288">
                    <a:solidFill>
                      <a:srgbClr val="1B365D"/>
                    </a:solidFill>
                  </a:tcPr>
                </a:tc>
              </a:tr>
              <a:tr h="640080">
                <a:tc>
                  <a:txBody>
                    <a:bodyPr/>
                    <a:lstStyle/>
                    <a:p>
                      <a:pPr algn="l">
                        <a:defRPr sz="710" b="1">
                          <a:solidFill>
                            <a:srgbClr val="1E242B"/>
                          </a:solidFill>
                          <a:latin typeface="Arial"/>
                        </a:defRPr>
                      </a:pPr>
                      <a:r>
                        <a:t>Tăng gấp đôi năng suất bằng việc tái thiết kế công đoạn điều chỉnh</a:t>
                      </a:r>
                      <a:br/>
                      <a:r>
                        <a:t>(Đảm bảo SX trên Line Iris2024 hiện tại)</a:t>
                      </a:r>
                    </a:p>
                  </a:txBody>
                  <a:tcPr anchor="ctr" marL="45720" marR="45720" marT="18288" marB="18288">
                    <a:solidFill>
                      <a:srgbClr val="E8EEF5"/>
                    </a:solidFill>
                  </a:tcPr>
                </a:tc>
                <a:tc>
                  <a:txBody>
                    <a:bodyPr/>
                    <a:lstStyle/>
                    <a:p>
                      <a:pPr algn="l">
                        <a:defRPr sz="710">
                          <a:solidFill>
                            <a:srgbClr val="1E242B"/>
                          </a:solidFill>
                          <a:latin typeface="Arial"/>
                        </a:defRPr>
                      </a:pPr>
                      <a:r>
                        <a:t>• Năng suất: Tăng x2 lần</a:t>
                      </a:r>
                      <a:br/>
                      <a:r>
                        <a:t>(15,19 -&gt; ≥30,38 máy/người/ngày)</a:t>
                      </a:r>
                      <a:br/>
                      <a:r>
                        <a:t>• Nhân sự: Giảm 50% số người thao tác</a:t>
                      </a:r>
                    </a:p>
                  </a:txBody>
                  <a:tcPr anchor="ctr" marL="45720" marR="45720" marT="18288" marB="18288">
                    <a:solidFill>
                      <a:srgbClr val="E8EEF5"/>
                    </a:solidFill>
                  </a:tcPr>
                </a:tc>
                <a:tc>
                  <a:txBody>
                    <a:bodyPr/>
                    <a:lstStyle/>
                    <a:p>
                      <a:pPr algn="l">
                        <a:defRPr sz="710">
                          <a:solidFill>
                            <a:srgbClr val="1E242B"/>
                          </a:solidFill>
                          <a:latin typeface="Arial"/>
                        </a:defRPr>
                      </a:pPr>
                      <a:r>
                        <a:t>1. Thiết kế lại công đoạn &amp; Bảo chứng tại UNIT:</a:t>
                      </a:r>
                      <a:br/>
                      <a:r>
                        <a:t>Chuyển thao tác kiểm tra có thể làm tại UNIT về thượng nguồn hoặc xóa bỏ mà vẫn đảm bảo tính năng UNIT</a:t>
                      </a:r>
                    </a:p>
                  </a:txBody>
                  <a:tcPr anchor="ctr" marL="45720" marR="45720" marT="18288" marB="18288">
                    <a:solidFill>
                      <a:srgbClr val="E8EEF5"/>
                    </a:solidFill>
                  </a:tcPr>
                </a:tc>
                <a:tc>
                  <a:txBody>
                    <a:bodyPr/>
                    <a:lstStyle/>
                    <a:p>
                      <a:pPr algn="l">
                        <a:defRPr sz="710">
                          <a:solidFill>
                            <a:srgbClr val="1E242B"/>
                          </a:solidFill>
                          <a:latin typeface="Arial"/>
                        </a:defRPr>
                      </a:pPr>
                      <a:r>
                        <a:t>• Áp dụng mô hình điều chỉnh của dòng máy Athena/Spica vào IrisEXP (Host PC ~ Tablet ~ Mini PC ~ Machine), gom 8 trạm rời thành 4 cụm trạm A-1 ~ A-4.</a:t>
                      </a:r>
                      <a:br/>
                      <a:r>
                        <a:t>• Bỏ thiết lập ngưỡng mực thải WTB U155 trên line (bổ sung Push Switch &amp; đo điện trở tại Sub-Assy); bỏ kiểm tra tọa độ U201 bằng tay (đối chiếu log từ cụm Panel Assy); chuyển lắp 6 tấm vỏ ngoài về Lắp ráp.</a:t>
                      </a:r>
                    </a:p>
                  </a:txBody>
                  <a:tcPr anchor="ctr" marL="45720" marR="45720" marT="18288" marB="18288">
                    <a:solidFill>
                      <a:srgbClr val="E8EEF5"/>
                    </a:solidFill>
                  </a:tcPr>
                </a:tc>
              </a:tr>
              <a:tr h="640080">
                <a:tc>
                  <a:txBody>
                    <a:bodyPr/>
                    <a:lstStyle/>
                    <a:p>
                      <a:pPr algn="l">
                        <a:defRPr sz="710" b="1">
                          <a:solidFill>
                            <a:srgbClr val="1E242B"/>
                          </a:solidFill>
                          <a:latin typeface="Arial"/>
                        </a:defRPr>
                      </a:pPr>
                      <a:r>
                        <a:t>Cắt giảm thao tác thừa &amp; giảm số lượng bản in kiểm tra</a:t>
                      </a:r>
                    </a:p>
                  </a:txBody>
                  <a:tcPr anchor="ctr" marL="45720" marR="45720" marT="18288" marB="18288">
                    <a:solidFill>
                      <a:srgbClr val="F7F9FC"/>
                    </a:solidFill>
                  </a:tcPr>
                </a:tc>
                <a:tc>
                  <a:txBody>
                    <a:bodyPr/>
                    <a:lstStyle/>
                    <a:p>
                      <a:pPr algn="l">
                        <a:defRPr sz="710">
                          <a:solidFill>
                            <a:srgbClr val="1E242B"/>
                          </a:solidFill>
                          <a:latin typeface="Arial"/>
                        </a:defRPr>
                      </a:pPr>
                      <a:r>
                        <a:t>• Giảm 50% thời gian thao tác:</a:t>
                      </a:r>
                      <a:br/>
                      <a:r>
                        <a:t>  - Chuẩn: 1.083s -&gt; ≤ 541s</a:t>
                      </a:r>
                      <a:br/>
                      <a:r>
                        <a:t>  - Gross: 2.350s -&gt; ≤ 1.175s</a:t>
                      </a:r>
                      <a:br/>
                      <a:r>
                        <a:t>• Giảm số tờ in:</a:t>
                      </a:r>
                      <a:br/>
                      <a:r>
                        <a:t>  - Print: 17 tờ -&gt; 9 tờ</a:t>
                      </a:r>
                      <a:br/>
                      <a:r>
                        <a:t>  - Copy: 2 tờ -&gt; 1 tờ</a:t>
                      </a:r>
                    </a:p>
                  </a:txBody>
                  <a:tcPr anchor="ctr" marL="45720" marR="45720" marT="18288" marB="18288">
                    <a:solidFill>
                      <a:srgbClr val="F7F9FC"/>
                    </a:solidFill>
                  </a:tcPr>
                </a:tc>
                <a:tc>
                  <a:txBody>
                    <a:bodyPr/>
                    <a:lstStyle/>
                    <a:p>
                      <a:pPr algn="l">
                        <a:defRPr sz="710">
                          <a:solidFill>
                            <a:srgbClr val="1E242B"/>
                          </a:solidFill>
                          <a:latin typeface="Arial"/>
                        </a:defRPr>
                      </a:pPr>
                      <a:r>
                        <a:t>2. Giảm số hình ảnh in &amp; Giảm thao tác kiểm tra thủ công:</a:t>
                      </a:r>
                      <a:br/>
                      <a:r>
                        <a:t>Loại bỏ các bước lặp lại, tích hợp các tờ in kiểm tra và gộp lệnh phần mềm</a:t>
                      </a:r>
                    </a:p>
                  </a:txBody>
                  <a:tcPr anchor="ctr" marL="45720" marR="45720" marT="18288" marB="18288">
                    <a:solidFill>
                      <a:srgbClr val="F7F9FC"/>
                    </a:solidFill>
                  </a:tcPr>
                </a:tc>
                <a:tc>
                  <a:txBody>
                    <a:bodyPr/>
                    <a:lstStyle/>
                    <a:p>
                      <a:pPr algn="l">
                        <a:defRPr sz="710">
                          <a:solidFill>
                            <a:srgbClr val="1E242B"/>
                          </a:solidFill>
                          <a:latin typeface="Arial"/>
                        </a:defRPr>
                      </a:pPr>
                      <a:r>
                        <a:t>1) Hủy bỏ cài đặt/update soft bằng USB trên line (chỉ nạp khi có cập nhật mới, giảm ~13s-25s/máy)  |  2) Tự động chuyển ngôn ngữ tiếng Anh sau thiết lập ban đầu  |  3) Bỏ kiểm tra đóng/mở Cassette không tải  |  4) Hủy in tờ RCG trước U950 (gộp kiểm tra 2Way Clutch vào Color Regist)  |  5) Dùng phần mềm AI phân tích video thao tác để cắt lãng phí  |  6) Vào nhanh Maintenance Mode Uxxx qua lệnh mạng  |  7) Gộp RCG Ledger vào RCG Color Regist  |  8) Gộp RCG LSU Skew vào RCG Color Regist  |  9) Gộp Calibration U410 Halftone thành 1 lệnh  |  10) Gộp Halftone Mono vào Check Black  |  11) Gộp lệnh Before/In giấy dày-bì thư/After thành 1 lệnh tự động  |  12) Xem xét gộp Halftone GY vào Halftone MC  |  13) Gộp Gray Copy vào DC-1 (còn 1 tờ Copy).</a:t>
                      </a:r>
                    </a:p>
                  </a:txBody>
                  <a:tcPr anchor="ctr" marL="45720" marR="45720" marT="18288" marB="18288">
                    <a:solidFill>
                      <a:srgbClr val="F7F9FC"/>
                    </a:solidFill>
                  </a:tcPr>
                </a:tc>
              </a:tr>
              <a:tr h="640080">
                <a:tc>
                  <a:txBody>
                    <a:bodyPr/>
                    <a:lstStyle/>
                    <a:p>
                      <a:pPr algn="l">
                        <a:defRPr sz="710" b="1">
                          <a:solidFill>
                            <a:srgbClr val="1E242B"/>
                          </a:solidFill>
                          <a:latin typeface="Arial"/>
                        </a:defRPr>
                      </a:pPr>
                      <a:r>
                        <a:t>Tự động hóa thao tác kiểm tra &amp; chuẩn bị cho thế hệ máy tiếp theo (IrisX)</a:t>
                      </a:r>
                    </a:p>
                  </a:txBody>
                  <a:tcPr anchor="ctr" marL="45720" marR="45720" marT="18288" marB="18288">
                    <a:solidFill>
                      <a:srgbClr val="EAF7EE"/>
                    </a:solidFill>
                  </a:tcPr>
                </a:tc>
                <a:tc>
                  <a:txBody>
                    <a:bodyPr/>
                    <a:lstStyle/>
                    <a:p>
                      <a:pPr algn="l">
                        <a:defRPr sz="710">
                          <a:solidFill>
                            <a:srgbClr val="1E242B"/>
                          </a:solidFill>
                          <a:latin typeface="Arial"/>
                        </a:defRPr>
                      </a:pPr>
                      <a:r>
                        <a:t>• Tự động hóa 7 cụm thao tác lớn</a:t>
                      </a:r>
                      <a:br/>
                      <a:r>
                        <a:t>• Năng lực công đoạn khi MP: Cpk ≥ 1,33</a:t>
                      </a:r>
                    </a:p>
                  </a:txBody>
                  <a:tcPr anchor="ctr" marL="45720" marR="45720" marT="18288" marB="18288">
                    <a:solidFill>
                      <a:srgbClr val="EAF7EE"/>
                    </a:solidFill>
                  </a:tcPr>
                </a:tc>
                <a:tc>
                  <a:txBody>
                    <a:bodyPr/>
                    <a:lstStyle/>
                    <a:p>
                      <a:pPr algn="l">
                        <a:defRPr sz="710">
                          <a:solidFill>
                            <a:srgbClr val="1E242B"/>
                          </a:solidFill>
                          <a:latin typeface="Arial"/>
                        </a:defRPr>
                      </a:pPr>
                      <a:r>
                        <a:t>3. Tự động hóa bằng Đồ gá, Camera, DP &amp; Phần mềm:</a:t>
                      </a:r>
                      <a:br/>
                      <a:r>
                        <a:t>Lấy dữ liệu chưa thu thập được ở Iris2024 để liên kết chất lượng Module với hình ảnh</a:t>
                      </a:r>
                    </a:p>
                  </a:txBody>
                  <a:tcPr anchor="ctr" marL="45720" marR="45720" marT="18288" marB="18288">
                    <a:solidFill>
                      <a:srgbClr val="EAF7EE"/>
                    </a:solidFill>
                  </a:tcPr>
                </a:tc>
                <a:tc>
                  <a:txBody>
                    <a:bodyPr/>
                    <a:lstStyle/>
                    <a:p>
                      <a:pPr algn="l">
                        <a:defRPr sz="710">
                          <a:solidFill>
                            <a:srgbClr val="1E242B"/>
                          </a:solidFill>
                          <a:latin typeface="Arial"/>
                        </a:defRPr>
                      </a:pPr>
                      <a:r>
                        <a:t>1) Đồ gá kết nối nhanh tự động kiểm tra Option  |  2) Thiết bị tự động kiểm tra thông mạch, tiếp địa, cách điện chịu áp khi đóng kín nắp máy  |  3) Tự động nạp bản thảo điều chỉnh (chuyển từ phương án Robot đặt bản thảo trên ISU sang dùng khay DP liên kết Program)  |  4) Tự động hóa kiểm tra USB và tọa độ U201  |  5) Bổ sung DP vào máy thực nghiệm để scan liên tục hình ảnh + PC tự động đánh giá  |  6) Phần mềm chuyên dụng tự động đánh giá âm thanh lạ  |  7) Camera HIKROBOT đo nồng độ, tích hợp đo lề và scan PPT.</a:t>
                      </a:r>
                    </a:p>
                  </a:txBody>
                  <a:tcPr anchor="ctr" marL="45720" marR="45720" marT="18288" marB="18288">
                    <a:solidFill>
                      <a:srgbClr val="EAF7EE"/>
                    </a:solidFill>
                  </a:tcPr>
                </a:tc>
              </a:tr>
              <a:tr h="640080">
                <a:tc>
                  <a:txBody>
                    <a:bodyPr/>
                    <a:lstStyle/>
                    <a:p>
                      <a:pPr algn="l">
                        <a:defRPr sz="710" b="1">
                          <a:solidFill>
                            <a:srgbClr val="1E242B"/>
                          </a:solidFill>
                          <a:latin typeface="Arial"/>
                        </a:defRPr>
                      </a:pPr>
                      <a:r>
                        <a:t>TỔNG KẾT MỤC TIÊU</a:t>
                      </a:r>
                    </a:p>
                  </a:txBody>
                  <a:tcPr anchor="ctr" marL="45720" marR="45720" marT="18288" marB="18288">
                    <a:solidFill>
                      <a:srgbClr val="FEF7E6"/>
                    </a:solidFill>
                  </a:tcPr>
                </a:tc>
                <a:tc>
                  <a:txBody>
                    <a:bodyPr/>
                    <a:lstStyle/>
                    <a:p>
                      <a:pPr algn="l">
                        <a:defRPr sz="710">
                          <a:solidFill>
                            <a:srgbClr val="1E242B"/>
                          </a:solidFill>
                          <a:latin typeface="Arial"/>
                        </a:defRPr>
                      </a:pPr>
                      <a:r>
                        <a:t>1 người làm gấp đôi số máy hiện tại</a:t>
                      </a:r>
                    </a:p>
                  </a:txBody>
                  <a:tcPr anchor="ctr" marL="45720" marR="45720" marT="18288" marB="18288">
                    <a:solidFill>
                      <a:srgbClr val="FEF7E6"/>
                    </a:solidFill>
                  </a:tcPr>
                </a:tc>
                <a:tc>
                  <a:txBody>
                    <a:bodyPr/>
                    <a:lstStyle/>
                    <a:p>
                      <a:pPr algn="l">
                        <a:defRPr sz="710">
                          <a:solidFill>
                            <a:srgbClr val="1E242B"/>
                          </a:solidFill>
                          <a:latin typeface="Arial"/>
                        </a:defRPr>
                      </a:pPr>
                      <a:r>
                        <a:t>Triển khai đồng bộ: Thiết kế lại Line + Giảm tờ in + Tự động hóa</a:t>
                      </a:r>
                    </a:p>
                  </a:txBody>
                  <a:tcPr anchor="ctr" marL="45720" marR="45720" marT="18288" marB="18288">
                    <a:solidFill>
                      <a:srgbClr val="FEF7E6"/>
                    </a:solidFill>
                  </a:tcPr>
                </a:tc>
                <a:tc>
                  <a:txBody>
                    <a:bodyPr/>
                    <a:lstStyle/>
                    <a:p>
                      <a:pPr algn="l">
                        <a:defRPr sz="710">
                          <a:solidFill>
                            <a:srgbClr val="1E242B"/>
                          </a:solidFill>
                          <a:latin typeface="Arial"/>
                        </a:defRPr>
                      </a:pPr>
                      <a:r>
                        <a:t>Đáp ứng Takt Time 97s (300 máy/ngày) của IrisEXP ngay trên mặt bằng Line Iris2024 hiện tại mà không cần mở rộng chuyền hay tăng người.</a:t>
                      </a:r>
                    </a:p>
                  </a:txBody>
                  <a:tcPr anchor="ctr" marL="45720" marR="45720" marT="18288" marB="18288">
                    <a:solidFill>
                      <a:srgbClr val="FEF7E6"/>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Arial"/>
              </a:defRPr>
            </a:pPr>
            <a:r>
              <a:t>3. PHƯƠNG CHÂM THỰC HIỆN</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Phương châm thực hiện của 3 cứ điểm (JP - CN - VN) và Vai trò trọng tâm của Việt Nam</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5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000" b="1">
                <a:solidFill>
                  <a:srgbClr val="0F203C"/>
                </a:solidFill>
                <a:latin typeface="Arial"/>
              </a:defRPr>
            </a:pPr>
            <a:r>
              <a:t>■ Ba cứ điểm phối hợp chặt chẽ trên một bảng tiến độ chung; Việt Nam chủ động phát hiện vấn đề tại hiện trường, đề xuất cải tiến, trực tiếp kiểm chứng khả thi và tự theo dõi tiến độ.</a:t>
            </a:r>
          </a:p>
        </p:txBody>
      </p:sp>
      <p:sp>
        <p:nvSpPr>
          <p:cNvPr id="7" name="Rounded Rectangle 6"/>
          <p:cNvSpPr/>
          <p:nvPr/>
        </p:nvSpPr>
        <p:spPr>
          <a:xfrm>
            <a:off x="256032" y="1170432"/>
            <a:ext cx="11679631" cy="841248"/>
          </a:xfrm>
          <a:prstGeom prst="roundRect">
            <a:avLst/>
          </a:prstGeom>
          <a:solidFill>
            <a:srgbClr val="1B365D"/>
          </a:solidFill>
          <a:ln w="25400">
            <a:solidFill>
              <a:srgbClr val="D96B27"/>
            </a:solid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550" b="1">
                <a:solidFill>
                  <a:srgbClr val="F5B041"/>
                </a:solidFill>
                <a:latin typeface="Arial"/>
              </a:defRPr>
            </a:pPr>
            <a:r>
              <a:t>SLOGAN HÀNH ĐỘNG:  "ĐỊNH HƯỚNG TỔNG THỂ — CHỦ ĐỘNG HIỆN TRƯỜNG — ĐỒNG BỘ BA CỨ ĐIỂM"</a:t>
            </a:r>
          </a:p>
          <a:p>
            <a:pPr algn="ctr">
              <a:defRPr sz="1050">
                <a:solidFill>
                  <a:srgbClr val="FFFFFF"/>
                </a:solidFill>
                <a:latin typeface="Arial"/>
              </a:defRPr>
            </a:pPr>
            <a:r>
              <a:t>Nhật Bản định hướng &amp; điều phối kỹ thuật  |  Việt Nam &amp; Trung Quốc chủ động đề án tại xưởng  |  Ba cứ điểm cùng chia sẻ &amp; giải quyết hàng tuần</a:t>
            </a:r>
          </a:p>
        </p:txBody>
      </p:sp>
      <p:sp>
        <p:nvSpPr>
          <p:cNvPr id="8" name="Rectangle 7"/>
          <p:cNvSpPr/>
          <p:nvPr/>
        </p:nvSpPr>
        <p:spPr>
          <a:xfrm>
            <a:off x="256032" y="2139696"/>
            <a:ext cx="3767328" cy="1965960"/>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2139696"/>
            <a:ext cx="3767328" cy="30175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80" b="1">
                <a:solidFill>
                  <a:srgbClr val="FFFFFF"/>
                </a:solidFill>
                <a:latin typeface="Arial"/>
              </a:defRPr>
            </a:pPr>
            <a:r>
              <a:t>1. NHẬT BẢN (KDC): ĐỊNH HƯỚNG &amp; ĐIỀU PHỐI</a:t>
            </a:r>
          </a:p>
        </p:txBody>
      </p:sp>
      <p:sp>
        <p:nvSpPr>
          <p:cNvPr id="10" name="TextBox 9"/>
          <p:cNvSpPr txBox="1"/>
          <p:nvPr/>
        </p:nvSpPr>
        <p:spPr>
          <a:xfrm>
            <a:off x="329184" y="2459736"/>
            <a:ext cx="3621024" cy="1618488"/>
          </a:xfrm>
          <a:prstGeom prst="rect">
            <a:avLst/>
          </a:prstGeom>
          <a:noFill/>
        </p:spPr>
        <p:txBody>
          <a:bodyPr wrap="square" lIns="36576" rIns="36576" tIns="18288" bIns="18288">
            <a:spAutoFit/>
          </a:bodyPr>
          <a:lstStyle/>
          <a:p>
            <a:pPr>
              <a:spcAft>
                <a:spcPts val="350"/>
              </a:spcAft>
              <a:defRPr sz="860" b="1">
                <a:solidFill>
                  <a:srgbClr val="1E242B"/>
                </a:solidFill>
                <a:latin typeface="Arial"/>
              </a:defRPr>
            </a:pPr>
            <a:r>
              <a:t>■ Định hướng thiết kế tổng thể:</a:t>
            </a:r>
          </a:p>
          <a:p>
            <a:pPr>
              <a:spcAft>
                <a:spcPts val="350"/>
              </a:spcAft>
              <a:defRPr sz="860">
                <a:solidFill>
                  <a:srgbClr val="1E242B"/>
                </a:solidFill>
                <a:latin typeface="Arial"/>
              </a:defRPr>
            </a:pPr>
            <a:r>
              <a:t>• Xây dựng cấu trúc chuẩn công đoạn Bảo chứng thân máy (本体保証工程) và lộ trình kỹ thuật chung.</a:t>
            </a:r>
          </a:p>
          <a:p>
            <a:pPr>
              <a:spcAft>
                <a:spcPts val="350"/>
              </a:spcAft>
              <a:defRPr sz="860" b="1">
                <a:solidFill>
                  <a:srgbClr val="1E242B"/>
                </a:solidFill>
                <a:latin typeface="Arial"/>
              </a:defRPr>
            </a:pPr>
            <a:r>
              <a:t>■ Tổng hợp &amp; Review các đề án:</a:t>
            </a:r>
          </a:p>
          <a:p>
            <a:pPr>
              <a:spcAft>
                <a:spcPts val="350"/>
              </a:spcAft>
              <a:defRPr sz="860">
                <a:solidFill>
                  <a:srgbClr val="1E242B"/>
                </a:solidFill>
                <a:latin typeface="Arial"/>
              </a:defRPr>
            </a:pPr>
            <a:r>
              <a:t>• Rà soát, đánh giá tính khả thi và phê duyệt về mặt thiết kế/QA cho toàn bộ đề án từ các nhà máy.</a:t>
            </a:r>
          </a:p>
          <a:p>
            <a:pPr>
              <a:spcAft>
                <a:spcPts val="350"/>
              </a:spcAft>
              <a:defRPr sz="860" b="1">
                <a:solidFill>
                  <a:srgbClr val="1E242B"/>
                </a:solidFill>
                <a:latin typeface="Arial"/>
              </a:defRPr>
            </a:pPr>
            <a:r>
              <a:t>■ Hỗ trợ điều phối kỹ thuật:</a:t>
            </a:r>
          </a:p>
          <a:p>
            <a:pPr>
              <a:spcAft>
                <a:spcPts val="350"/>
              </a:spcAft>
              <a:defRPr sz="860">
                <a:solidFill>
                  <a:srgbClr val="1E242B"/>
                </a:solidFill>
                <a:latin typeface="Arial"/>
              </a:defRPr>
            </a:pPr>
            <a:r>
              <a:t>• Phối hợp giữa Thiết kế, Phần mềm, QA và PE để giải quyết các vướng mắc kỹ thuật khi cần.</a:t>
            </a:r>
          </a:p>
        </p:txBody>
      </p:sp>
      <p:sp>
        <p:nvSpPr>
          <p:cNvPr id="11" name="Rectangle 10"/>
          <p:cNvSpPr/>
          <p:nvPr/>
        </p:nvSpPr>
        <p:spPr>
          <a:xfrm>
            <a:off x="4206240" y="2139696"/>
            <a:ext cx="3767328" cy="1965960"/>
          </a:xfrm>
          <a:prstGeom prst="rect">
            <a:avLst/>
          </a:prstGeom>
          <a:solidFill>
            <a:srgbClr val="FFFFFF"/>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06240" y="2139696"/>
            <a:ext cx="3767328" cy="301752"/>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80" b="1">
                <a:solidFill>
                  <a:srgbClr val="FFFFFF"/>
                </a:solidFill>
                <a:latin typeface="Arial"/>
              </a:defRPr>
            </a:pPr>
            <a:r>
              <a:t>2. TRUNG QUỐC &amp; VIỆT NAM: CHỦ ĐỘNG HIỆN TRƯỜNG</a:t>
            </a:r>
          </a:p>
        </p:txBody>
      </p:sp>
      <p:sp>
        <p:nvSpPr>
          <p:cNvPr id="13" name="TextBox 12"/>
          <p:cNvSpPr txBox="1"/>
          <p:nvPr/>
        </p:nvSpPr>
        <p:spPr>
          <a:xfrm>
            <a:off x="4279392" y="2459736"/>
            <a:ext cx="3621024" cy="1618488"/>
          </a:xfrm>
          <a:prstGeom prst="rect">
            <a:avLst/>
          </a:prstGeom>
          <a:noFill/>
        </p:spPr>
        <p:txBody>
          <a:bodyPr wrap="square" lIns="36576" rIns="36576" tIns="18288" bIns="18288">
            <a:spAutoFit/>
          </a:bodyPr>
          <a:lstStyle/>
          <a:p>
            <a:pPr>
              <a:spcAft>
                <a:spcPts val="350"/>
              </a:spcAft>
              <a:defRPr sz="860" b="1">
                <a:solidFill>
                  <a:srgbClr val="1E242B"/>
                </a:solidFill>
                <a:latin typeface="Arial"/>
              </a:defRPr>
            </a:pPr>
            <a:r>
              <a:t>■ Chủ động xác định vấn đề tại hiện trường:</a:t>
            </a:r>
          </a:p>
          <a:p>
            <a:pPr>
              <a:spcAft>
                <a:spcPts val="350"/>
              </a:spcAft>
              <a:defRPr sz="860">
                <a:solidFill>
                  <a:srgbClr val="1E242B"/>
                </a:solidFill>
                <a:latin typeface="Arial"/>
              </a:defRPr>
            </a:pPr>
            <a:r>
              <a:t>• Trực tiếp bấm giờ, quay video phân tích thao tác thực tế và chỉ ra các điểm nghẽn trên Line sản xuất.</a:t>
            </a:r>
          </a:p>
          <a:p>
            <a:pPr>
              <a:spcAft>
                <a:spcPts val="350"/>
              </a:spcAft>
              <a:defRPr sz="860" b="1">
                <a:solidFill>
                  <a:srgbClr val="1E242B"/>
                </a:solidFill>
                <a:latin typeface="Arial"/>
              </a:defRPr>
            </a:pPr>
            <a:r>
              <a:t>■ Tự xây dựng đề án của cứ điểm mình:</a:t>
            </a:r>
          </a:p>
          <a:p>
            <a:pPr>
              <a:spcAft>
                <a:spcPts val="350"/>
              </a:spcAft>
              <a:defRPr sz="860">
                <a:solidFill>
                  <a:srgbClr val="1E242B"/>
                </a:solidFill>
                <a:latin typeface="Arial"/>
              </a:defRPr>
            </a:pPr>
            <a:r>
              <a:t>• Thiết kế đồ gá, chọn thiết bị tự động hóa và lập bảng tính hiệu quả đầu tư (ROI) sát với thực tế nhà máy.</a:t>
            </a:r>
          </a:p>
          <a:p>
            <a:pPr>
              <a:spcAft>
                <a:spcPts val="350"/>
              </a:spcAft>
              <a:defRPr sz="860" b="1">
                <a:solidFill>
                  <a:srgbClr val="1E242B"/>
                </a:solidFill>
                <a:latin typeface="Arial"/>
              </a:defRPr>
            </a:pPr>
            <a:r>
              <a:t>■ Tự thúc đẩy triển khai:</a:t>
            </a:r>
          </a:p>
          <a:p>
            <a:pPr>
              <a:spcAft>
                <a:spcPts val="350"/>
              </a:spcAft>
              <a:defRPr sz="860">
                <a:solidFill>
                  <a:srgbClr val="1E242B"/>
                </a:solidFill>
                <a:latin typeface="Arial"/>
              </a:defRPr>
            </a:pPr>
            <a:r>
              <a:t>• Chủ động thử nghiệm, đo kiểm năng lực công đoạn và áp dụng ngay các hạng mục đã được phê duyệt.</a:t>
            </a:r>
          </a:p>
        </p:txBody>
      </p:sp>
      <p:sp>
        <p:nvSpPr>
          <p:cNvPr id="14" name="Rectangle 13"/>
          <p:cNvSpPr/>
          <p:nvPr/>
        </p:nvSpPr>
        <p:spPr>
          <a:xfrm>
            <a:off x="8156448" y="2139696"/>
            <a:ext cx="3779215" cy="1965960"/>
          </a:xfrm>
          <a:prstGeom prst="rect">
            <a:avLst/>
          </a:prstGeom>
          <a:solidFill>
            <a:srgbClr val="FFFFFF"/>
          </a:solidFill>
          <a:ln w="12700">
            <a:solidFill>
              <a:srgbClr val="0079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56448" y="2139696"/>
            <a:ext cx="3779215" cy="301752"/>
          </a:xfrm>
          <a:prstGeom prst="rect">
            <a:avLst/>
          </a:prstGeom>
          <a:solidFill>
            <a:srgbClr val="00796B"/>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80" b="1">
                <a:solidFill>
                  <a:srgbClr val="FFFFFF"/>
                </a:solidFill>
                <a:latin typeface="Arial"/>
              </a:defRPr>
            </a:pPr>
            <a:r>
              <a:t>3. LIÊN KẾT BA CỨ ĐIỂM: CHIA SẺ &amp; PHỐI HỢP</a:t>
            </a:r>
          </a:p>
        </p:txBody>
      </p:sp>
      <p:sp>
        <p:nvSpPr>
          <p:cNvPr id="16" name="TextBox 15"/>
          <p:cNvSpPr txBox="1"/>
          <p:nvPr/>
        </p:nvSpPr>
        <p:spPr>
          <a:xfrm>
            <a:off x="8229600" y="2459736"/>
            <a:ext cx="3632911" cy="1618488"/>
          </a:xfrm>
          <a:prstGeom prst="rect">
            <a:avLst/>
          </a:prstGeom>
          <a:noFill/>
        </p:spPr>
        <p:txBody>
          <a:bodyPr wrap="square" lIns="36576" rIns="36576" tIns="18288" bIns="18288">
            <a:spAutoFit/>
          </a:bodyPr>
          <a:lstStyle/>
          <a:p>
            <a:pPr>
              <a:spcAft>
                <a:spcPts val="350"/>
              </a:spcAft>
              <a:defRPr sz="860" b="1">
                <a:solidFill>
                  <a:srgbClr val="1E242B"/>
                </a:solidFill>
                <a:latin typeface="Arial"/>
              </a:defRPr>
            </a:pPr>
            <a:r>
              <a:t>■ Cập nhật đề án vào file quản lý chung:</a:t>
            </a:r>
          </a:p>
          <a:p>
            <a:pPr>
              <a:spcAft>
                <a:spcPts val="350"/>
              </a:spcAft>
              <a:defRPr sz="860">
                <a:solidFill>
                  <a:srgbClr val="1E242B"/>
                </a:solidFill>
                <a:latin typeface="Arial"/>
              </a:defRPr>
            </a:pPr>
            <a:r>
              <a:t>• Toàn bộ 38 đề án (JP: 7, CN: 11, VN: 20) được chuẩn hóa và theo dõi tập trung trên cùng một tài liệu.</a:t>
            </a:r>
          </a:p>
          <a:p>
            <a:pPr>
              <a:spcAft>
                <a:spcPts val="350"/>
              </a:spcAft>
              <a:defRPr sz="860" b="1">
                <a:solidFill>
                  <a:srgbClr val="1E242B"/>
                </a:solidFill>
                <a:latin typeface="Arial"/>
              </a:defRPr>
            </a:pPr>
            <a:r>
              <a:t>■ Họp định kỳ hàng tuần (保証工程連携会):</a:t>
            </a:r>
          </a:p>
          <a:p>
            <a:pPr>
              <a:spcAft>
                <a:spcPts val="350"/>
              </a:spcAft>
              <a:defRPr sz="860">
                <a:solidFill>
                  <a:srgbClr val="1E242B"/>
                </a:solidFill>
                <a:latin typeface="Arial"/>
              </a:defRPr>
            </a:pPr>
            <a:r>
              <a:t>• Chia sẻ thẳng thắn tiến độ thực hiện, kết quả thực nghiệm cũng như các khó khăn phát sinh.</a:t>
            </a:r>
          </a:p>
          <a:p>
            <a:pPr>
              <a:spcAft>
                <a:spcPts val="350"/>
              </a:spcAft>
              <a:defRPr sz="860" b="1">
                <a:solidFill>
                  <a:srgbClr val="1E242B"/>
                </a:solidFill>
                <a:latin typeface="Arial"/>
              </a:defRPr>
            </a:pPr>
            <a:r>
              <a:t>■ Cùng phối hợp giải quyết &amp; triển khai ngang:</a:t>
            </a:r>
          </a:p>
          <a:p>
            <a:pPr>
              <a:spcAft>
                <a:spcPts val="350"/>
              </a:spcAft>
              <a:defRPr sz="860">
                <a:solidFill>
                  <a:srgbClr val="1E242B"/>
                </a:solidFill>
                <a:latin typeface="Arial"/>
              </a:defRPr>
            </a:pPr>
            <a:r>
              <a:t>• Đề án thành công tại một nhà máy được chia sẻ dữ liệu để áp dụng đồng bộ cho cả 3 cứ điểm.</a:t>
            </a:r>
          </a:p>
        </p:txBody>
      </p:sp>
      <p:sp>
        <p:nvSpPr>
          <p:cNvPr id="17" name="Rectangle 16"/>
          <p:cNvSpPr/>
          <p:nvPr/>
        </p:nvSpPr>
        <p:spPr>
          <a:xfrm>
            <a:off x="256032" y="4251960"/>
            <a:ext cx="11679631" cy="2286000"/>
          </a:xfrm>
          <a:prstGeom prst="rect">
            <a:avLst/>
          </a:prstGeom>
          <a:solidFill>
            <a:srgbClr val="EAF7EE"/>
          </a:solidFill>
          <a:ln w="1905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6032" y="4251960"/>
            <a:ext cx="11679631" cy="329184"/>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rial"/>
              </a:defRPr>
            </a:pPr>
            <a:r>
              <a:t>  VAI TRÒ TRỌNG TÂM CỦA VIỆT NAM (KDTVN): CHỦ ĐỘNG TỪ PHÂN TÍCH ĐẾN KIỂM CHỨNG &amp; BÁO CÁO BA CỨ ĐIỂM</a:t>
            </a:r>
          </a:p>
        </p:txBody>
      </p:sp>
      <p:sp>
        <p:nvSpPr>
          <p:cNvPr id="19" name="Rounded Rectangle 18"/>
          <p:cNvSpPr/>
          <p:nvPr/>
        </p:nvSpPr>
        <p:spPr>
          <a:xfrm>
            <a:off x="402336" y="4681728"/>
            <a:ext cx="2743200" cy="1719072"/>
          </a:xfrm>
          <a:prstGeom prst="round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spcAft>
                <a:spcPts val="600"/>
              </a:spcAft>
              <a:defRPr sz="919" b="1">
                <a:solidFill>
                  <a:srgbClr val="1E6E3E"/>
                </a:solidFill>
                <a:latin typeface="Arial"/>
              </a:defRPr>
            </a:pPr>
            <a:r>
              <a:t>BƯỚC 1: PHÂN TÍCH &amp; ĐỀ XUẤT</a:t>
            </a:r>
          </a:p>
          <a:p>
            <a:pPr>
              <a:defRPr sz="860">
                <a:solidFill>
                  <a:srgbClr val="1E242B"/>
                </a:solidFill>
                <a:latin typeface="Arial"/>
              </a:defRPr>
            </a:pPr>
            <a:r>
              <a:t>Chủ động phân tích công đoạn thực tế trên Line Iris2024 (16 người, 1.083s chuẩn / 2.350s gross) và đề xuất 20 giải pháp cải tiến (chiếm 20/38 đề án của toàn dự án).</a:t>
            </a:r>
          </a:p>
        </p:txBody>
      </p:sp>
      <p:sp>
        <p:nvSpPr>
          <p:cNvPr id="20" name="Rounded Rectangle 19"/>
          <p:cNvSpPr/>
          <p:nvPr/>
        </p:nvSpPr>
        <p:spPr>
          <a:xfrm>
            <a:off x="3273552" y="4681728"/>
            <a:ext cx="2743200" cy="1719072"/>
          </a:xfrm>
          <a:prstGeom prst="round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spcAft>
                <a:spcPts val="600"/>
              </a:spcAft>
              <a:defRPr sz="919" b="1">
                <a:solidFill>
                  <a:srgbClr val="1E6E3E"/>
                </a:solidFill>
                <a:latin typeface="Arial"/>
              </a:defRPr>
            </a:pPr>
            <a:r>
              <a:t>BƯỚC 2: PHỐI HỢP KIỂM CHỨNG</a:t>
            </a:r>
          </a:p>
          <a:p>
            <a:pPr>
              <a:defRPr sz="860">
                <a:solidFill>
                  <a:srgbClr val="1E242B"/>
                </a:solidFill>
                <a:latin typeface="Arial"/>
              </a:defRPr>
            </a:pPr>
            <a:r>
              <a:t>Làm việc trực tiếp với các bộ phận liên quan (Lắp ráp, QA, Thiết kế, Nhà cung cấp nội địa) để thực nghiệm, kiểm chứng tính khả thi và lập dự toán BOM chi tiết.</a:t>
            </a:r>
          </a:p>
        </p:txBody>
      </p:sp>
      <p:sp>
        <p:nvSpPr>
          <p:cNvPr id="21" name="Rounded Rectangle 20"/>
          <p:cNvSpPr/>
          <p:nvPr/>
        </p:nvSpPr>
        <p:spPr>
          <a:xfrm>
            <a:off x="6144768" y="4681728"/>
            <a:ext cx="2743200" cy="1719072"/>
          </a:xfrm>
          <a:prstGeom prst="round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spcAft>
                <a:spcPts val="600"/>
              </a:spcAft>
              <a:defRPr sz="919" b="1">
                <a:solidFill>
                  <a:srgbClr val="1E6E3E"/>
                </a:solidFill>
                <a:latin typeface="Arial"/>
              </a:defRPr>
            </a:pPr>
            <a:r>
              <a:t>BƯỚC 3: TỰ THEO DÕI TIẾN ĐỘ</a:t>
            </a:r>
          </a:p>
          <a:p>
            <a:pPr>
              <a:defRPr sz="860">
                <a:solidFill>
                  <a:srgbClr val="1E242B"/>
                </a:solidFill>
                <a:latin typeface="Arial"/>
              </a:defRPr>
            </a:pPr>
            <a:r>
              <a:t>Tự quản lý tiến độ hàng tháng theo biểu mục tiêu chất lượng PDCA (KDTVN-PE-3), áp dụng ngay các mục đã chốt để cắt giảm thời gian thao tác thực tế.</a:t>
            </a:r>
          </a:p>
        </p:txBody>
      </p:sp>
      <p:sp>
        <p:nvSpPr>
          <p:cNvPr id="22" name="Rounded Rectangle 21"/>
          <p:cNvSpPr/>
          <p:nvPr/>
        </p:nvSpPr>
        <p:spPr>
          <a:xfrm>
            <a:off x="9015984" y="4681728"/>
            <a:ext cx="2743200" cy="1719072"/>
          </a:xfrm>
          <a:prstGeom prst="round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spcAft>
                <a:spcPts val="600"/>
              </a:spcAft>
              <a:defRPr sz="919" b="1">
                <a:solidFill>
                  <a:srgbClr val="1E6E3E"/>
                </a:solidFill>
                <a:latin typeface="Arial"/>
              </a:defRPr>
            </a:pPr>
            <a:r>
              <a:t>BƯỚC 4: CẬP NHẬT &amp; BÁO CÁO</a:t>
            </a:r>
          </a:p>
          <a:p>
            <a:pPr>
              <a:defRPr sz="860">
                <a:solidFill>
                  <a:srgbClr val="1E242B"/>
                </a:solidFill>
                <a:latin typeface="Arial"/>
              </a:defRPr>
            </a:pPr>
            <a:r>
              <a:t>Cập nhật đầy đủ kết quả thực nghiệm, các rủi ro kỹ thuật và vấn đề cần hỗ trợ vào tài liệu chung; báo cáo định kỳ tại cuộc họp 3 cứ điểm để thống nhất đối sách.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Arial"/>
              </a:defRPr>
            </a:pPr>
            <a:r>
              <a:t>4.1 ĐỀ ÁN VIỆT NAM</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Tổng quan 20 đề án cải tiến và tự động hóa của Việt Nam (No.18 ~ No.37)</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6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000" b="1">
                <a:solidFill>
                  <a:srgbClr val="0F203C"/>
                </a:solidFill>
                <a:latin typeface="Arial"/>
              </a:defRPr>
            </a:pPr>
            <a:r>
              <a:t>■ Việt Nam chủ động đề xuất 20 đề án (11 đề án đợt 1 + 9 đề án bổ sung đợt 2) cùng phương án nạp FW tại Partner; trong đó 3 đề án tự động hóa trong Iris EXPのVN提案.xlsx có tổng dự toán 855,69 triệu VNĐ (32.911,15 USD).</a:t>
            </a:r>
          </a:p>
        </p:txBody>
      </p:sp>
      <p:pic>
        <p:nvPicPr>
          <p:cNvPr id="7" name="Picture 6" descr="chart_s5_overview.png"/>
          <p:cNvPicPr>
            <a:picLocks noChangeAspect="1"/>
          </p:cNvPicPr>
          <p:nvPr/>
        </p:nvPicPr>
        <p:blipFill>
          <a:blip r:embed="rId2"/>
          <a:stretch>
            <a:fillRect/>
          </a:stretch>
        </p:blipFill>
        <p:spPr>
          <a:xfrm>
            <a:off x="256032" y="1170432"/>
            <a:ext cx="5623560" cy="2448970"/>
          </a:xfrm>
          <a:prstGeom prst="rect">
            <a:avLst/>
          </a:prstGeom>
        </p:spPr>
      </p:pic>
      <p:graphicFrame>
        <p:nvGraphicFramePr>
          <p:cNvPr id="8" name="Table 7"/>
          <p:cNvGraphicFramePr>
            <a:graphicFrameLocks noGrp="1"/>
          </p:cNvGraphicFramePr>
          <p:nvPr/>
        </p:nvGraphicFramePr>
        <p:xfrm>
          <a:off x="5989320" y="1170432"/>
          <a:ext cx="5946343" cy="2514600"/>
        </p:xfrm>
        <a:graphic>
          <a:graphicData uri="http://schemas.openxmlformats.org/drawingml/2006/table">
            <a:tbl>
              <a:tblPr firstRow="1" bandRow="1">
                <a:tableStyleId>{5C22544A-7EE6-4342-B048-85BDC9FD1C3A}</a:tableStyleId>
              </a:tblPr>
              <a:tblGrid>
                <a:gridCol w="1051560"/>
                <a:gridCol w="1371600"/>
                <a:gridCol w="1097280"/>
                <a:gridCol w="1143000"/>
                <a:gridCol w="1282903"/>
              </a:tblGrid>
              <a:tr h="359228">
                <a:tc>
                  <a:txBody>
                    <a:bodyPr/>
                    <a:lstStyle/>
                    <a:p>
                      <a:pPr algn="ctr">
                        <a:defRPr sz="800" b="1">
                          <a:solidFill>
                            <a:srgbClr val="FFFFFF"/>
                          </a:solidFill>
                          <a:latin typeface="Arial"/>
                        </a:defRPr>
                      </a:pPr>
                      <a:r>
                        <a:t>Cụm công đoạn</a:t>
                      </a:r>
                    </a:p>
                  </a:txBody>
                  <a:tcPr anchor="ctr" marL="45720" marR="45720" marT="18288" marB="18288">
                    <a:solidFill>
                      <a:srgbClr val="1B365D"/>
                    </a:solidFill>
                  </a:tcPr>
                </a:tc>
                <a:tc>
                  <a:txBody>
                    <a:bodyPr/>
                    <a:lstStyle/>
                    <a:p>
                      <a:pPr algn="ctr">
                        <a:defRPr sz="800" b="1">
                          <a:solidFill>
                            <a:srgbClr val="FFFFFF"/>
                          </a:solidFill>
                          <a:latin typeface="Arial"/>
                        </a:defRPr>
                      </a:pPr>
                      <a:r>
                        <a:t>Mã đề án VN (No.18~37)</a:t>
                      </a:r>
                    </a:p>
                  </a:txBody>
                  <a:tcPr anchor="ctr" marL="45720" marR="45720" marT="18288" marB="18288">
                    <a:solidFill>
                      <a:srgbClr val="1B365D"/>
                    </a:solidFill>
                  </a:tcPr>
                </a:tc>
                <a:tc>
                  <a:txBody>
                    <a:bodyPr/>
                    <a:lstStyle/>
                    <a:p>
                      <a:pPr algn="ctr">
                        <a:defRPr sz="800" b="1">
                          <a:solidFill>
                            <a:srgbClr val="FFFFFF"/>
                          </a:solidFill>
                          <a:latin typeface="Arial"/>
                        </a:defRPr>
                      </a:pPr>
                      <a:r>
                        <a:t>TG hiện tại (VN)</a:t>
                      </a:r>
                    </a:p>
                  </a:txBody>
                  <a:tcPr anchor="ctr" marL="45720" marR="45720" marT="18288" marB="18288">
                    <a:solidFill>
                      <a:srgbClr val="1B365D"/>
                    </a:solidFill>
                  </a:tcPr>
                </a:tc>
                <a:tc>
                  <a:txBody>
                    <a:bodyPr/>
                    <a:lstStyle/>
                    <a:p>
                      <a:pPr algn="ctr">
                        <a:defRPr sz="800" b="1">
                          <a:solidFill>
                            <a:srgbClr val="FFFFFF"/>
                          </a:solidFill>
                          <a:latin typeface="Arial"/>
                        </a:defRPr>
                      </a:pPr>
                      <a:r>
                        <a:t>TG giảm kỳ vọng</a:t>
                      </a:r>
                    </a:p>
                  </a:txBody>
                  <a:tcPr anchor="ctr" marL="45720" marR="45720" marT="18288" marB="18288">
                    <a:solidFill>
                      <a:srgbClr val="1B365D"/>
                    </a:solidFill>
                  </a:tcPr>
                </a:tc>
                <a:tc>
                  <a:txBody>
                    <a:bodyPr/>
                    <a:lstStyle/>
                    <a:p>
                      <a:pPr algn="ctr">
                        <a:defRPr sz="800" b="1">
                          <a:solidFill>
                            <a:srgbClr val="FFFFFF"/>
                          </a:solidFill>
                          <a:latin typeface="Arial"/>
                        </a:defRPr>
                      </a:pPr>
                      <a:r>
                        <a:t>Kinh phí theo VN提案.xlsx</a:t>
                      </a:r>
                    </a:p>
                  </a:txBody>
                  <a:tcPr anchor="ctr" marL="45720" marR="45720" marT="18288" marB="18288">
                    <a:solidFill>
                      <a:srgbClr val="1B365D"/>
                    </a:solidFill>
                  </a:tcPr>
                </a:tc>
              </a:tr>
              <a:tr h="359228">
                <a:tc>
                  <a:txBody>
                    <a:bodyPr/>
                    <a:lstStyle/>
                    <a:p>
                      <a:pPr algn="ctr">
                        <a:defRPr sz="740" b="1">
                          <a:solidFill>
                            <a:srgbClr val="1E242B"/>
                          </a:solidFill>
                          <a:latin typeface="Arial"/>
                        </a:defRPr>
                      </a:pPr>
                      <a:r>
                        <a:t>K1 -&gt; A-1</a:t>
                      </a:r>
                      <a:br/>
                      <a:r>
                        <a:t>(Nạp FW, TLBĐ)</a:t>
                      </a:r>
                    </a:p>
                  </a:txBody>
                  <a:tcPr anchor="ctr" marL="45720" marR="45720" marT="18288" marB="18288">
                    <a:solidFill>
                      <a:srgbClr val="FFFFFF"/>
                    </a:solidFill>
                  </a:tcPr>
                </a:tc>
                <a:tc>
                  <a:txBody>
                    <a:bodyPr/>
                    <a:lstStyle/>
                    <a:p>
                      <a:pPr algn="l">
                        <a:defRPr sz="740">
                          <a:solidFill>
                            <a:srgbClr val="1E242B"/>
                          </a:solidFill>
                          <a:latin typeface="Arial"/>
                        </a:defRPr>
                      </a:pPr>
                      <a:r>
                        <a:t>No.18, 19, 20, 29, 30</a:t>
                      </a:r>
                      <a:br/>
                      <a:r>
                        <a:t>+ Nạp FW Partner + T10</a:t>
                      </a:r>
                    </a:p>
                  </a:txBody>
                  <a:tcPr anchor="ctr" marL="45720" marR="45720" marT="18288" marB="18288">
                    <a:solidFill>
                      <a:srgbClr val="FFFFFF"/>
                    </a:solidFill>
                  </a:tcPr>
                </a:tc>
                <a:tc>
                  <a:txBody>
                    <a:bodyPr/>
                    <a:lstStyle/>
                    <a:p>
                      <a:pPr algn="ctr">
                        <a:defRPr sz="740">
                          <a:solidFill>
                            <a:srgbClr val="1E242B"/>
                          </a:solidFill>
                          <a:latin typeface="Arial"/>
                        </a:defRPr>
                      </a:pPr>
                      <a:r>
                        <a:t>295,00 s</a:t>
                      </a:r>
                      <a:br/>
                      <a:r>
                        <a:t>(1 người)</a:t>
                      </a:r>
                    </a:p>
                  </a:txBody>
                  <a:tcPr anchor="ctr" marL="45720" marR="45720" marT="18288" marB="18288">
                    <a:solidFill>
                      <a:srgbClr val="FFFFFF"/>
                    </a:solidFill>
                  </a:tcPr>
                </a:tc>
                <a:tc>
                  <a:txBody>
                    <a:bodyPr/>
                    <a:lstStyle/>
                    <a:p>
                      <a:pPr algn="ctr">
                        <a:defRPr sz="740">
                          <a:solidFill>
                            <a:srgbClr val="1E242B"/>
                          </a:solidFill>
                          <a:latin typeface="Arial"/>
                        </a:defRPr>
                      </a:pPr>
                      <a:r>
                        <a:t>-112,48s ~ -124,48s</a:t>
                      </a:r>
                      <a:br/>
                      <a:r>
                        <a:t>(A-1 giảm 1 người)</a:t>
                      </a:r>
                    </a:p>
                  </a:txBody>
                  <a:tcPr anchor="ctr" marL="45720" marR="45720" marT="18288" marB="18288">
                    <a:solidFill>
                      <a:srgbClr val="FFFFFF"/>
                    </a:solidFill>
                  </a:tcPr>
                </a:tc>
                <a:tc>
                  <a:txBody>
                    <a:bodyPr/>
                    <a:lstStyle/>
                    <a:p>
                      <a:pPr algn="l">
                        <a:defRPr sz="740">
                          <a:solidFill>
                            <a:srgbClr val="1E242B"/>
                          </a:solidFill>
                          <a:latin typeface="Arial"/>
                        </a:defRPr>
                      </a:pPr>
                      <a:r>
                        <a:t>3 Đang báo giá</a:t>
                      </a:r>
                      <a:br/>
                      <a:r>
                        <a:t>2 Cải tiến TK (0đ)</a:t>
                      </a:r>
                    </a:p>
                  </a:txBody>
                  <a:tcPr anchor="ctr" marL="45720" marR="45720" marT="18288" marB="18288">
                    <a:solidFill>
                      <a:srgbClr val="FFFFFF"/>
                    </a:solidFill>
                  </a:tcPr>
                </a:tc>
              </a:tr>
              <a:tr h="359228">
                <a:tc>
                  <a:txBody>
                    <a:bodyPr/>
                    <a:lstStyle/>
                    <a:p>
                      <a:pPr algn="ctr">
                        <a:defRPr sz="740" b="1">
                          <a:solidFill>
                            <a:srgbClr val="1E242B"/>
                          </a:solidFill>
                          <a:latin typeface="Arial"/>
                        </a:defRPr>
                      </a:pPr>
                      <a:r>
                        <a:t>K2 -&gt; A-2</a:t>
                      </a:r>
                      <a:br/>
                      <a:r>
                        <a:t>(Semi, Option)</a:t>
                      </a:r>
                    </a:p>
                  </a:txBody>
                  <a:tcPr anchor="ctr" marL="45720" marR="45720" marT="18288" marB="18288">
                    <a:solidFill>
                      <a:srgbClr val="F7F9FC"/>
                    </a:solidFill>
                  </a:tcPr>
                </a:tc>
                <a:tc>
                  <a:txBody>
                    <a:bodyPr/>
                    <a:lstStyle/>
                    <a:p>
                      <a:pPr algn="l">
                        <a:defRPr sz="740">
                          <a:solidFill>
                            <a:srgbClr val="1E242B"/>
                          </a:solidFill>
                          <a:latin typeface="Arial"/>
                        </a:defRPr>
                      </a:pPr>
                      <a:r>
                        <a:t>No.21, 31, 32</a:t>
                      </a:r>
                    </a:p>
                  </a:txBody>
                  <a:tcPr anchor="ctr" marL="45720" marR="45720" marT="18288" marB="18288">
                    <a:solidFill>
                      <a:srgbClr val="F7F9FC"/>
                    </a:solidFill>
                  </a:tcPr>
                </a:tc>
                <a:tc>
                  <a:txBody>
                    <a:bodyPr/>
                    <a:lstStyle/>
                    <a:p>
                      <a:pPr algn="ctr">
                        <a:defRPr sz="740">
                          <a:solidFill>
                            <a:srgbClr val="1E242B"/>
                          </a:solidFill>
                          <a:latin typeface="Arial"/>
                        </a:defRPr>
                      </a:pPr>
                      <a:r>
                        <a:t>150,00 s</a:t>
                      </a:r>
                      <a:br/>
                      <a:r>
                        <a:t>(1 người)</a:t>
                      </a:r>
                    </a:p>
                  </a:txBody>
                  <a:tcPr anchor="ctr" marL="45720" marR="45720" marT="18288" marB="18288">
                    <a:solidFill>
                      <a:srgbClr val="F7F9FC"/>
                    </a:solidFill>
                  </a:tcPr>
                </a:tc>
                <a:tc>
                  <a:txBody>
                    <a:bodyPr/>
                    <a:lstStyle/>
                    <a:p>
                      <a:pPr algn="ctr">
                        <a:defRPr sz="740">
                          <a:solidFill>
                            <a:srgbClr val="1E242B"/>
                          </a:solidFill>
                          <a:latin typeface="Arial"/>
                        </a:defRPr>
                      </a:pPr>
                      <a:r>
                        <a:t>-65,00s ~ -110,00s</a:t>
                      </a:r>
                    </a:p>
                  </a:txBody>
                  <a:tcPr anchor="ctr" marL="45720" marR="45720" marT="18288" marB="18288">
                    <a:solidFill>
                      <a:srgbClr val="F7F9FC"/>
                    </a:solidFill>
                  </a:tcPr>
                </a:tc>
                <a:tc>
                  <a:txBody>
                    <a:bodyPr/>
                    <a:lstStyle/>
                    <a:p>
                      <a:pPr algn="l">
                        <a:defRPr sz="740">
                          <a:solidFill>
                            <a:srgbClr val="1E242B"/>
                          </a:solidFill>
                          <a:latin typeface="Arial"/>
                        </a:defRPr>
                      </a:pPr>
                      <a:r>
                        <a:t>2 Đang báo giá</a:t>
                      </a:r>
                      <a:br/>
                      <a:r>
                        <a:t>1 Cải tiến TK (0đ)</a:t>
                      </a:r>
                    </a:p>
                  </a:txBody>
                  <a:tcPr anchor="ctr" marL="45720" marR="45720" marT="18288" marB="18288">
                    <a:solidFill>
                      <a:srgbClr val="F7F9FC"/>
                    </a:solidFill>
                  </a:tcPr>
                </a:tc>
              </a:tr>
              <a:tr h="359228">
                <a:tc>
                  <a:txBody>
                    <a:bodyPr/>
                    <a:lstStyle/>
                    <a:p>
                      <a:pPr algn="ctr">
                        <a:defRPr sz="740" b="1">
                          <a:solidFill>
                            <a:srgbClr val="1E242B"/>
                          </a:solidFill>
                          <a:latin typeface="Arial"/>
                        </a:defRPr>
                      </a:pPr>
                      <a:r>
                        <a:t>K3 -&gt; A-3</a:t>
                      </a:r>
                      <a:br/>
                      <a:r>
                        <a:t>(Vỏ, Chịu áp, Khay)</a:t>
                      </a:r>
                    </a:p>
                  </a:txBody>
                  <a:tcPr anchor="ctr" marL="45720" marR="45720" marT="18288" marB="18288">
                    <a:solidFill>
                      <a:srgbClr val="EAF7EE"/>
                    </a:solidFill>
                  </a:tcPr>
                </a:tc>
                <a:tc>
                  <a:txBody>
                    <a:bodyPr/>
                    <a:lstStyle/>
                    <a:p>
                      <a:pPr algn="l">
                        <a:defRPr sz="740">
                          <a:solidFill>
                            <a:srgbClr val="1E242B"/>
                          </a:solidFill>
                          <a:latin typeface="Arial"/>
                        </a:defRPr>
                      </a:pPr>
                      <a:r>
                        <a:t>No.22, 33, 34, 35</a:t>
                      </a:r>
                    </a:p>
                  </a:txBody>
                  <a:tcPr anchor="ctr" marL="45720" marR="45720" marT="18288" marB="18288">
                    <a:solidFill>
                      <a:srgbClr val="EAF7EE"/>
                    </a:solidFill>
                  </a:tcPr>
                </a:tc>
                <a:tc>
                  <a:txBody>
                    <a:bodyPr/>
                    <a:lstStyle/>
                    <a:p>
                      <a:pPr algn="ctr">
                        <a:defRPr sz="740">
                          <a:solidFill>
                            <a:srgbClr val="1E242B"/>
                          </a:solidFill>
                          <a:latin typeface="Arial"/>
                        </a:defRPr>
                      </a:pPr>
                      <a:r>
                        <a:t>180,00 s</a:t>
                      </a:r>
                      <a:br/>
                      <a:r>
                        <a:t>(1 người)</a:t>
                      </a:r>
                    </a:p>
                  </a:txBody>
                  <a:tcPr anchor="ctr" marL="45720" marR="45720" marT="18288" marB="18288">
                    <a:solidFill>
                      <a:srgbClr val="EAF7EE"/>
                    </a:solidFill>
                  </a:tcPr>
                </a:tc>
                <a:tc>
                  <a:txBody>
                    <a:bodyPr/>
                    <a:lstStyle/>
                    <a:p>
                      <a:pPr algn="ctr">
                        <a:defRPr sz="740">
                          <a:solidFill>
                            <a:srgbClr val="1E242B"/>
                          </a:solidFill>
                          <a:latin typeface="Arial"/>
                        </a:defRPr>
                      </a:pPr>
                      <a:r>
                        <a:t>-158,32s ~ -200,00s</a:t>
                      </a:r>
                    </a:p>
                  </a:txBody>
                  <a:tcPr anchor="ctr" marL="45720" marR="45720" marT="18288" marB="18288">
                    <a:solidFill>
                      <a:srgbClr val="EAF7EE"/>
                    </a:solidFill>
                  </a:tcPr>
                </a:tc>
                <a:tc>
                  <a:txBody>
                    <a:bodyPr/>
                    <a:lstStyle/>
                    <a:p>
                      <a:pPr algn="l">
                        <a:defRPr sz="740">
                          <a:solidFill>
                            <a:srgbClr val="1E242B"/>
                          </a:solidFill>
                          <a:latin typeface="Arial"/>
                        </a:defRPr>
                      </a:pPr>
                      <a:r>
                        <a:t>No.22: 101,69 tr (3.911,15$)</a:t>
                      </a:r>
                      <a:br/>
                      <a:r>
                        <a:t>[Bảng tổng hợp: 4.000 USD]</a:t>
                      </a:r>
                    </a:p>
                  </a:txBody>
                  <a:tcPr anchor="ctr" marL="45720" marR="45720" marT="18288" marB="18288">
                    <a:solidFill>
                      <a:srgbClr val="EAF7EE"/>
                    </a:solidFill>
                  </a:tcPr>
                </a:tc>
              </a:tr>
              <a:tr h="359228">
                <a:tc>
                  <a:txBody>
                    <a:bodyPr/>
                    <a:lstStyle/>
                    <a:p>
                      <a:pPr algn="ctr">
                        <a:defRPr sz="740" b="1">
                          <a:solidFill>
                            <a:srgbClr val="1E242B"/>
                          </a:solidFill>
                          <a:latin typeface="Arial"/>
                        </a:defRPr>
                      </a:pPr>
                      <a:r>
                        <a:t>K4 -&gt; A-2/A-4</a:t>
                      </a:r>
                      <a:br/>
                      <a:r>
                        <a:t>(Scan, USB, U201)</a:t>
                      </a:r>
                    </a:p>
                  </a:txBody>
                  <a:tcPr anchor="ctr" marL="45720" marR="45720" marT="18288" marB="18288">
                    <a:solidFill>
                      <a:srgbClr val="EAF7EE"/>
                    </a:solidFill>
                  </a:tcPr>
                </a:tc>
                <a:tc>
                  <a:txBody>
                    <a:bodyPr/>
                    <a:lstStyle/>
                    <a:p>
                      <a:pPr algn="l">
                        <a:defRPr sz="740">
                          <a:solidFill>
                            <a:srgbClr val="1E242B"/>
                          </a:solidFill>
                          <a:latin typeface="Arial"/>
                        </a:defRPr>
                      </a:pPr>
                      <a:r>
                        <a:t>No.23, 24, 25 (DP),</a:t>
                      </a:r>
                      <a:br/>
                      <a:r>
                        <a:t>No.36, 37</a:t>
                      </a:r>
                    </a:p>
                  </a:txBody>
                  <a:tcPr anchor="ctr" marL="45720" marR="45720" marT="18288" marB="18288">
                    <a:solidFill>
                      <a:srgbClr val="EAF7EE"/>
                    </a:solidFill>
                  </a:tcPr>
                </a:tc>
                <a:tc>
                  <a:txBody>
                    <a:bodyPr/>
                    <a:lstStyle/>
                    <a:p>
                      <a:pPr algn="ctr">
                        <a:defRPr sz="740">
                          <a:solidFill>
                            <a:srgbClr val="1E242B"/>
                          </a:solidFill>
                          <a:latin typeface="Arial"/>
                        </a:defRPr>
                      </a:pPr>
                      <a:r>
                        <a:t>480,00 s</a:t>
                      </a:r>
                      <a:br/>
                      <a:r>
                        <a:t>(gồm 285s U950)</a:t>
                      </a:r>
                    </a:p>
                  </a:txBody>
                  <a:tcPr anchor="ctr" marL="45720" marR="45720" marT="18288" marB="18288">
                    <a:solidFill>
                      <a:srgbClr val="EAF7EE"/>
                    </a:solidFill>
                  </a:tcPr>
                </a:tc>
                <a:tc>
                  <a:txBody>
                    <a:bodyPr/>
                    <a:lstStyle/>
                    <a:p>
                      <a:pPr algn="ctr">
                        <a:defRPr sz="740">
                          <a:solidFill>
                            <a:srgbClr val="1E242B"/>
                          </a:solidFill>
                          <a:latin typeface="Arial"/>
                        </a:defRPr>
                      </a:pPr>
                      <a:r>
                        <a:t>-153,88s ~ -170,00s</a:t>
                      </a:r>
                    </a:p>
                  </a:txBody>
                  <a:tcPr anchor="ctr" marL="45720" marR="45720" marT="18288" marB="18288">
                    <a:solidFill>
                      <a:srgbClr val="EAF7EE"/>
                    </a:solidFill>
                  </a:tcPr>
                </a:tc>
                <a:tc>
                  <a:txBody>
                    <a:bodyPr/>
                    <a:lstStyle/>
                    <a:p>
                      <a:pPr algn="l">
                        <a:defRPr sz="740">
                          <a:solidFill>
                            <a:srgbClr val="1E242B"/>
                          </a:solidFill>
                          <a:latin typeface="Arial"/>
                        </a:defRPr>
                      </a:pPr>
                      <a:r>
                        <a:t>No.23: 650tr (25.000$)</a:t>
                      </a:r>
                      <a:br/>
                      <a:r>
                        <a:t>No.24: 104tr (4.000$)</a:t>
                      </a:r>
                      <a:br/>
                      <a:r>
                        <a:t>No.25 (DP): Đang kiểm chứng</a:t>
                      </a:r>
                    </a:p>
                  </a:txBody>
                  <a:tcPr anchor="ctr" marL="45720" marR="45720" marT="18288" marB="18288">
                    <a:solidFill>
                      <a:srgbClr val="EAF7EE"/>
                    </a:solidFill>
                  </a:tcPr>
                </a:tc>
              </a:tr>
              <a:tr h="359228">
                <a:tc>
                  <a:txBody>
                    <a:bodyPr/>
                    <a:lstStyle/>
                    <a:p>
                      <a:pPr algn="ctr">
                        <a:defRPr sz="740" b="1">
                          <a:solidFill>
                            <a:srgbClr val="1E242B"/>
                          </a:solidFill>
                          <a:latin typeface="Arial"/>
                        </a:defRPr>
                      </a:pPr>
                      <a:r>
                        <a:t>K6, K7, K8 -&gt; A-3/A-4</a:t>
                      </a:r>
                      <a:br/>
                      <a:r>
                        <a:t>(Ảnh, Âm, Xuất)</a:t>
                      </a:r>
                    </a:p>
                  </a:txBody>
                  <a:tcPr anchor="ctr" marL="45720" marR="45720" marT="18288" marB="18288">
                    <a:solidFill>
                      <a:srgbClr val="FFFFFF"/>
                    </a:solidFill>
                  </a:tcPr>
                </a:tc>
                <a:tc>
                  <a:txBody>
                    <a:bodyPr/>
                    <a:lstStyle/>
                    <a:p>
                      <a:pPr algn="l">
                        <a:defRPr sz="740">
                          <a:solidFill>
                            <a:srgbClr val="1E242B"/>
                          </a:solidFill>
                          <a:latin typeface="Arial"/>
                        </a:defRPr>
                      </a:pPr>
                      <a:r>
                        <a:t>No.26 (AI âm thanh),</a:t>
                      </a:r>
                      <a:br/>
                      <a:r>
                        <a:t>No.27, No.28</a:t>
                      </a:r>
                    </a:p>
                  </a:txBody>
                  <a:tcPr anchor="ctr" marL="45720" marR="45720" marT="18288" marB="18288">
                    <a:solidFill>
                      <a:srgbClr val="FFFFFF"/>
                    </a:solidFill>
                  </a:tcPr>
                </a:tc>
                <a:tc>
                  <a:txBody>
                    <a:bodyPr/>
                    <a:lstStyle/>
                    <a:p>
                      <a:pPr algn="ctr">
                        <a:defRPr sz="740">
                          <a:solidFill>
                            <a:srgbClr val="1E242B"/>
                          </a:solidFill>
                          <a:latin typeface="Arial"/>
                        </a:defRPr>
                      </a:pPr>
                      <a:r>
                        <a:t>540,00 s</a:t>
                      </a:r>
                      <a:br/>
                      <a:r>
                        <a:t>(K6+K7+K8)</a:t>
                      </a:r>
                    </a:p>
                  </a:txBody>
                  <a:tcPr anchor="ctr" marL="45720" marR="45720" marT="18288" marB="18288">
                    <a:solidFill>
                      <a:srgbClr val="FFFFFF"/>
                    </a:solidFill>
                  </a:tcPr>
                </a:tc>
                <a:tc>
                  <a:txBody>
                    <a:bodyPr/>
                    <a:lstStyle/>
                    <a:p>
                      <a:pPr algn="ctr">
                        <a:defRPr sz="740">
                          <a:solidFill>
                            <a:srgbClr val="1E242B"/>
                          </a:solidFill>
                          <a:latin typeface="Arial"/>
                        </a:defRPr>
                      </a:pPr>
                      <a:r>
                        <a:t>-227,00s ~ -265,00s</a:t>
                      </a:r>
                      <a:br/>
                      <a:r>
                        <a:t>(+40s AI dài hạn)</a:t>
                      </a:r>
                    </a:p>
                  </a:txBody>
                  <a:tcPr anchor="ctr" marL="45720" marR="45720" marT="18288" marB="18288">
                    <a:solidFill>
                      <a:srgbClr val="FFFFFF"/>
                    </a:solidFill>
                  </a:tcPr>
                </a:tc>
                <a:tc>
                  <a:txBody>
                    <a:bodyPr/>
                    <a:lstStyle/>
                    <a:p>
                      <a:pPr algn="l">
                        <a:defRPr sz="740">
                          <a:solidFill>
                            <a:srgbClr val="1E242B"/>
                          </a:solidFill>
                          <a:latin typeface="Arial"/>
                        </a:defRPr>
                      </a:pPr>
                      <a:r>
                        <a:t>No.27, 28: Đang báo giá</a:t>
                      </a:r>
                      <a:br/>
                      <a:r>
                        <a:t>No.26: 600 vạn JPY (~40k$)</a:t>
                      </a:r>
                    </a:p>
                  </a:txBody>
                  <a:tcPr anchor="ctr" marL="45720" marR="45720" marT="18288" marB="18288">
                    <a:solidFill>
                      <a:srgbClr val="FFFFFF"/>
                    </a:solidFill>
                  </a:tcPr>
                </a:tc>
              </a:tr>
              <a:tr h="359232">
                <a:tc>
                  <a:txBody>
                    <a:bodyPr/>
                    <a:lstStyle/>
                    <a:p>
                      <a:pPr algn="ctr">
                        <a:defRPr sz="740" b="1">
                          <a:solidFill>
                            <a:srgbClr val="1E242B"/>
                          </a:solidFill>
                          <a:latin typeface="Arial"/>
                        </a:defRPr>
                      </a:pPr>
                      <a:r>
                        <a:t>TỔNG CỘNG VN</a:t>
                      </a:r>
                    </a:p>
                  </a:txBody>
                  <a:tcPr anchor="ctr" marL="45720" marR="45720" marT="18288" marB="18288">
                    <a:solidFill>
                      <a:srgbClr val="E8EEF5"/>
                    </a:solidFill>
                  </a:tcPr>
                </a:tc>
                <a:tc>
                  <a:txBody>
                    <a:bodyPr/>
                    <a:lstStyle/>
                    <a:p>
                      <a:pPr algn="l">
                        <a:defRPr sz="740">
                          <a:solidFill>
                            <a:srgbClr val="1E242B"/>
                          </a:solidFill>
                          <a:latin typeface="Arial"/>
                        </a:defRPr>
                      </a:pPr>
                      <a:r>
                        <a:t>20 đề án (3 ĐA có giá)</a:t>
                      </a:r>
                    </a:p>
                  </a:txBody>
                  <a:tcPr anchor="ctr" marL="45720" marR="45720" marT="18288" marB="18288">
                    <a:solidFill>
                      <a:srgbClr val="E8EEF5"/>
                    </a:solidFill>
                  </a:tcPr>
                </a:tc>
                <a:tc>
                  <a:txBody>
                    <a:bodyPr/>
                    <a:lstStyle/>
                    <a:p>
                      <a:pPr algn="ctr">
                        <a:defRPr sz="740">
                          <a:solidFill>
                            <a:srgbClr val="1E242B"/>
                          </a:solidFill>
                          <a:latin typeface="Arial"/>
                        </a:defRPr>
                      </a:pPr>
                      <a:r>
                        <a:t>1.083s chuẩn / 2.350s</a:t>
                      </a:r>
                    </a:p>
                  </a:txBody>
                  <a:tcPr anchor="ctr" marL="45720" marR="45720" marT="18288" marB="18288">
                    <a:solidFill>
                      <a:srgbClr val="E8EEF5"/>
                    </a:solidFill>
                  </a:tcPr>
                </a:tc>
                <a:tc>
                  <a:txBody>
                    <a:bodyPr/>
                    <a:lstStyle/>
                    <a:p>
                      <a:pPr algn="ctr">
                        <a:defRPr sz="740">
                          <a:solidFill>
                            <a:srgbClr val="1E242B"/>
                          </a:solidFill>
                          <a:latin typeface="Arial"/>
                        </a:defRPr>
                      </a:pPr>
                      <a:r>
                        <a:t>~599,32s - 611,32s</a:t>
                      </a:r>
                    </a:p>
                  </a:txBody>
                  <a:tcPr anchor="ctr" marL="45720" marR="45720" marT="18288" marB="18288">
                    <a:solidFill>
                      <a:srgbClr val="E8EEF5"/>
                    </a:solidFill>
                  </a:tcPr>
                </a:tc>
                <a:tc>
                  <a:txBody>
                    <a:bodyPr/>
                    <a:lstStyle/>
                    <a:p>
                      <a:pPr algn="l">
                        <a:defRPr sz="740">
                          <a:solidFill>
                            <a:srgbClr val="1E242B"/>
                          </a:solidFill>
                          <a:latin typeface="Arial"/>
                        </a:defRPr>
                      </a:pPr>
                      <a:r>
                        <a:t>3 ĐA: 855,69 tr (32.911,15$)</a:t>
                      </a:r>
                      <a:br/>
                      <a:r>
                        <a:t>[Duyệt riêng No.22: 101,69 tr]</a:t>
                      </a:r>
                    </a:p>
                  </a:txBody>
                  <a:tcPr anchor="ctr" marL="45720" marR="45720" marT="18288" marB="18288">
                    <a:solidFill>
                      <a:srgbClr val="E8EEF5"/>
                    </a:solidFill>
                  </a:tcPr>
                </a:tc>
              </a:tr>
            </a:tbl>
          </a:graphicData>
        </a:graphic>
      </p:graphicFrame>
      <p:sp>
        <p:nvSpPr>
          <p:cNvPr id="9" name="Rectangle 8"/>
          <p:cNvSpPr/>
          <p:nvPr/>
        </p:nvSpPr>
        <p:spPr>
          <a:xfrm>
            <a:off x="256032" y="3794760"/>
            <a:ext cx="11679631" cy="2724912"/>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 y="3794760"/>
            <a:ext cx="11679631" cy="30175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19" b="1">
                <a:solidFill>
                  <a:srgbClr val="FFFFFF"/>
                </a:solidFill>
                <a:latin typeface="Arial"/>
              </a:defRPr>
            </a:pPr>
            <a:r>
              <a:t>CẤU TRÚC 20 ĐỀ ÁN CỦA VIỆT NAM VÀ 4 HẠNG MỤC TRONG FILE DỰ TOÁN IRIS EXPのVN提案.xlsx</a:t>
            </a:r>
          </a:p>
        </p:txBody>
      </p:sp>
      <p:sp>
        <p:nvSpPr>
          <p:cNvPr id="11" name="TextBox 10"/>
          <p:cNvSpPr txBox="1"/>
          <p:nvPr/>
        </p:nvSpPr>
        <p:spPr>
          <a:xfrm>
            <a:off x="329184" y="4114800"/>
            <a:ext cx="11533327" cy="2377440"/>
          </a:xfrm>
          <a:prstGeom prst="rect">
            <a:avLst/>
          </a:prstGeom>
          <a:noFill/>
        </p:spPr>
        <p:txBody>
          <a:bodyPr wrap="square" lIns="36576" rIns="36576" tIns="18288" bIns="18288">
            <a:spAutoFit/>
          </a:bodyPr>
          <a:lstStyle/>
          <a:p>
            <a:pPr>
              <a:spcAft>
                <a:spcPts val="250"/>
              </a:spcAft>
              <a:defRPr sz="810" b="1">
                <a:solidFill>
                  <a:srgbClr val="1E242B"/>
                </a:solidFill>
                <a:latin typeface="Arial"/>
              </a:defRPr>
            </a:pPr>
            <a:r>
              <a:t>■ 1. Bốn hạng mục tự động hóa trọng tâm trong file dự toán Iris EXPのVN提案.xlsx (Tỷ giá quy đổi: 26.000 VNĐ/USD):</a:t>
            </a:r>
          </a:p>
          <a:p>
            <a:pPr>
              <a:spcAft>
                <a:spcPts val="250"/>
              </a:spcAft>
              <a:defRPr sz="810">
                <a:solidFill>
                  <a:srgbClr val="1E242B"/>
                </a:solidFill>
                <a:latin typeface="Arial"/>
              </a:defRPr>
            </a:pPr>
            <a:r>
              <a:t>   • Đề án 1 (No.22 - Tự động kiểm tra thông mạch tiếp đất &amp; chịu áp cách điện, 30s): Chế tạo JIG kết nối + kiểm tra tự động khi đóng kín nắp máy, giảm 30s/máy, tiết kiệm 29,6 triệu VNĐ/năm (1.138,46 USD/năm). Kinh phí theo BOM 25 mục: 101.690.000 VNĐ (3.911,15 USD; làm tròn trên bảng tổng hợp: 4.000 USD).</a:t>
            </a:r>
          </a:p>
          <a:p>
            <a:pPr>
              <a:spcAft>
                <a:spcPts val="250"/>
              </a:spcAft>
              <a:defRPr sz="810">
                <a:solidFill>
                  <a:srgbClr val="1E242B"/>
                </a:solidFill>
                <a:latin typeface="Arial"/>
              </a:defRPr>
            </a:pPr>
            <a:r>
              <a:t>   • Đề án 2 (No.23 - Tự động đặt bản thảo chỉnh ISU U411 [45s] + Scan SITC-2 [35s] + Scan Halftone [30s] = 110s): Phương án chế tạo Robot đặt bản thảo lên mặt kính ISU liên kết Program 7910 có dự toán 650.000.000 VNĐ (25.000 USD: 2 Cell băng tải 200tr + Cấp nguồn 50tr + Định vị cáp 50tr + Robot 350tr), tiết kiệm 108,53 triệu VNĐ/năm. Do chi phí cao, sau DR4 nhóm dự án đề xuất chuyển sang dùng khay nạp bản gốc DP (Đề án No.25).</a:t>
            </a:r>
          </a:p>
          <a:p>
            <a:pPr>
              <a:spcAft>
                <a:spcPts val="250"/>
              </a:spcAft>
              <a:defRPr sz="810">
                <a:solidFill>
                  <a:srgbClr val="1E242B"/>
                </a:solidFill>
                <a:latin typeface="Arial"/>
              </a:defRPr>
            </a:pPr>
            <a:r>
              <a:t>   • Đề án 3 (No.24 - Kiểm tra nhận biết USB [15s] + Kiểm tra tọa độ U201 trên Panel [15s] = 30s): Phương án Robot cắm USB + Camera AI chấm tọa độ U201 có dự toán 104.000.000 VNĐ (4.000 USD), tiết kiệm 29,6 triệu VNĐ/năm. Phương án thay thế không tốn tiền thiết bị: bảo chứng USB ngay khi nạp FW đầu chuyền (JP No.6) và đọc log U201 qua Host PC (JP No.3).</a:t>
            </a:r>
          </a:p>
          <a:p>
            <a:pPr>
              <a:spcAft>
                <a:spcPts val="250"/>
              </a:spcAft>
              <a:defRPr sz="810">
                <a:solidFill>
                  <a:srgbClr val="1E242B"/>
                </a:solidFill>
                <a:latin typeface="Arial"/>
              </a:defRPr>
            </a:pPr>
            <a:r>
              <a:t>   • Đề án 4 (No.25 - Bổ sung DP vào máy thực nghiệm để quét liên tục &amp; PC tự phán định): Đang kiểm chứng thực nghiệm độ chính xác giữa quét DP và mặt kính ISU.</a:t>
            </a:r>
          </a:p>
          <a:p>
            <a:pPr>
              <a:spcAft>
                <a:spcPts val="250"/>
              </a:spcAft>
              <a:defRPr sz="810" b="1">
                <a:solidFill>
                  <a:srgbClr val="1E242B"/>
                </a:solidFill>
                <a:latin typeface="Arial"/>
              </a:defRPr>
            </a:pPr>
            <a:r>
              <a:t>■ 2. Các nhóm đề án còn lại của Việt Nam: 10 đề án thiết bị/đồ gá đang lấy báo giá nội địa, 6 đề án cải tiến phần mềm/mạch/quy trình (0 đồng chi phí thiết bị tại xưởng), và 1 đề tài nghiên cứu dài hạn 2026-2030 (No.26 AI phân tích âm thanh lạ, dự kiến 600 vạn JPY).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Arial"/>
              </a:defRPr>
            </a:pPr>
            <a:r>
              <a:t>4.2 ĐỀ ÁN VN (CỤM ĐẦU)</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Chi tiết các đề án tự động hóa của Việt Nam: Cụm A-1, A-2, A-3 (No.18 ~ No.22 &amp; Nạp FW)</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7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000" b="1">
                <a:solidFill>
                  <a:srgbClr val="0F203C"/>
                </a:solidFill>
                <a:latin typeface="Arial"/>
              </a:defRPr>
            </a:pPr>
            <a:r>
              <a:t>■ Các đề án tại cụm đầu chuyền giúp giảm ~173s-185s/máy và giảm 1 người thao tác tại trạm A-1; trong đó Đề án No.22 (Tự động kiểm tra an toàn điện) đã có báo giá BOM 25 mục là 101.690.000 VNĐ (3.911,15 USD).</a:t>
            </a:r>
          </a:p>
        </p:txBody>
      </p:sp>
      <p:graphicFrame>
        <p:nvGraphicFramePr>
          <p:cNvPr id="7" name="Table 6"/>
          <p:cNvGraphicFramePr>
            <a:graphicFrameLocks noGrp="1"/>
          </p:cNvGraphicFramePr>
          <p:nvPr/>
        </p:nvGraphicFramePr>
        <p:xfrm>
          <a:off x="256032" y="1170432"/>
          <a:ext cx="11679631" cy="5349240"/>
        </p:xfrm>
        <a:graphic>
          <a:graphicData uri="http://schemas.openxmlformats.org/drawingml/2006/table">
            <a:tbl>
              <a:tblPr firstRow="1" bandRow="1">
                <a:tableStyleId>{5C22544A-7EE6-4342-B048-85BDC9FD1C3A}</a:tableStyleId>
              </a:tblPr>
              <a:tblGrid>
                <a:gridCol w="868680"/>
                <a:gridCol w="2057400"/>
                <a:gridCol w="2103120"/>
                <a:gridCol w="2450592"/>
                <a:gridCol w="1417320"/>
                <a:gridCol w="1417320"/>
                <a:gridCol w="1365199"/>
              </a:tblGrid>
              <a:tr h="764177">
                <a:tc>
                  <a:txBody>
                    <a:bodyPr/>
                    <a:lstStyle/>
                    <a:p>
                      <a:pPr algn="ctr">
                        <a:defRPr sz="819" b="1">
                          <a:solidFill>
                            <a:srgbClr val="FFFFFF"/>
                          </a:solidFill>
                          <a:latin typeface="Arial"/>
                        </a:defRPr>
                      </a:pPr>
                      <a:r>
                        <a:t>Mã đề án</a:t>
                      </a:r>
                      <a:br/>
                      <a:r>
                        <a:t>(Trạm)</a:t>
                      </a:r>
                    </a:p>
                  </a:txBody>
                  <a:tcPr anchor="ctr" marL="45720" marR="45720" marT="18288" marB="18288">
                    <a:solidFill>
                      <a:srgbClr val="1B365D"/>
                    </a:solidFill>
                  </a:tcPr>
                </a:tc>
                <a:tc>
                  <a:txBody>
                    <a:bodyPr/>
                    <a:lstStyle/>
                    <a:p>
                      <a:pPr algn="ctr">
                        <a:defRPr sz="819" b="1">
                          <a:solidFill>
                            <a:srgbClr val="FFFFFF"/>
                          </a:solidFill>
                          <a:latin typeface="Arial"/>
                        </a:defRPr>
                      </a:pPr>
                      <a:r>
                        <a:t>Tên đề án cải tiến</a:t>
                      </a:r>
                    </a:p>
                  </a:txBody>
                  <a:tcPr anchor="ctr" marL="45720" marR="45720" marT="18288" marB="18288">
                    <a:solidFill>
                      <a:srgbClr val="1B365D"/>
                    </a:solidFill>
                  </a:tcPr>
                </a:tc>
                <a:tc>
                  <a:txBody>
                    <a:bodyPr/>
                    <a:lstStyle/>
                    <a:p>
                      <a:pPr algn="ctr">
                        <a:defRPr sz="819" b="1">
                          <a:solidFill>
                            <a:srgbClr val="FFFFFF"/>
                          </a:solidFill>
                          <a:latin typeface="Arial"/>
                        </a:defRPr>
                      </a:pPr>
                      <a:r>
                        <a:t>Hiện trạng trên Line Iris2024</a:t>
                      </a:r>
                    </a:p>
                  </a:txBody>
                  <a:tcPr anchor="ctr" marL="45720" marR="45720" marT="18288" marB="18288">
                    <a:solidFill>
                      <a:srgbClr val="1B365D"/>
                    </a:solidFill>
                  </a:tcPr>
                </a:tc>
                <a:tc>
                  <a:txBody>
                    <a:bodyPr/>
                    <a:lstStyle/>
                    <a:p>
                      <a:pPr algn="ctr">
                        <a:defRPr sz="819" b="1">
                          <a:solidFill>
                            <a:srgbClr val="FFFFFF"/>
                          </a:solidFill>
                          <a:latin typeface="Arial"/>
                        </a:defRPr>
                      </a:pPr>
                      <a:r>
                        <a:t>Giải pháp cải tiến &amp; Phương án thống nhất</a:t>
                      </a:r>
                    </a:p>
                  </a:txBody>
                  <a:tcPr anchor="ctr" marL="45720" marR="45720" marT="18288" marB="18288">
                    <a:solidFill>
                      <a:srgbClr val="1B365D"/>
                    </a:solidFill>
                  </a:tcPr>
                </a:tc>
                <a:tc>
                  <a:txBody>
                    <a:bodyPr/>
                    <a:lstStyle/>
                    <a:p>
                      <a:pPr algn="ctr">
                        <a:defRPr sz="819" b="1">
                          <a:solidFill>
                            <a:srgbClr val="FFFFFF"/>
                          </a:solidFill>
                          <a:latin typeface="Arial"/>
                        </a:defRPr>
                      </a:pPr>
                      <a:r>
                        <a:t>Hiệu quả đạt được</a:t>
                      </a:r>
                    </a:p>
                  </a:txBody>
                  <a:tcPr anchor="ctr" marL="45720" marR="45720" marT="18288" marB="18288">
                    <a:solidFill>
                      <a:srgbClr val="1B365D"/>
                    </a:solidFill>
                  </a:tcPr>
                </a:tc>
                <a:tc>
                  <a:txBody>
                    <a:bodyPr/>
                    <a:lstStyle/>
                    <a:p>
                      <a:pPr algn="ctr">
                        <a:defRPr sz="819" b="1">
                          <a:solidFill>
                            <a:srgbClr val="FFFFFF"/>
                          </a:solidFill>
                          <a:latin typeface="Arial"/>
                        </a:defRPr>
                      </a:pPr>
                      <a:r>
                        <a:t>Kinh phí đầu tư</a:t>
                      </a:r>
                    </a:p>
                  </a:txBody>
                  <a:tcPr anchor="ctr" marL="45720" marR="45720" marT="18288" marB="18288">
                    <a:solidFill>
                      <a:srgbClr val="1B365D"/>
                    </a:solidFill>
                  </a:tcPr>
                </a:tc>
                <a:tc>
                  <a:txBody>
                    <a:bodyPr/>
                    <a:lstStyle/>
                    <a:p>
                      <a:pPr algn="ctr">
                        <a:defRPr sz="819" b="1">
                          <a:solidFill>
                            <a:srgbClr val="FFFFFF"/>
                          </a:solidFill>
                          <a:latin typeface="Arial"/>
                        </a:defRPr>
                      </a:pPr>
                      <a:r>
                        <a:t>Trạng thái</a:t>
                      </a:r>
                    </a:p>
                  </a:txBody>
                  <a:tcPr anchor="ctr" marL="45720" marR="45720" marT="18288" marB="18288">
                    <a:solidFill>
                      <a:srgbClr val="1B365D"/>
                    </a:solidFill>
                  </a:tcPr>
                </a:tc>
              </a:tr>
              <a:tr h="764177">
                <a:tc>
                  <a:txBody>
                    <a:bodyPr/>
                    <a:lstStyle/>
                    <a:p>
                      <a:pPr algn="ctr">
                        <a:defRPr sz="740" b="1">
                          <a:solidFill>
                            <a:srgbClr val="1E242B"/>
                          </a:solidFill>
                          <a:latin typeface="Arial"/>
                        </a:defRPr>
                      </a:pPr>
                      <a:r>
                        <a:t>No.18</a:t>
                      </a:r>
                      <a:br/>
                      <a:r>
                        <a:t>(K1 -&gt; A-1)</a:t>
                      </a:r>
                    </a:p>
                  </a:txBody>
                  <a:tcPr anchor="ctr" marL="45720" marR="45720" marT="18288" marB="18288">
                    <a:solidFill>
                      <a:srgbClr val="FFFFFF"/>
                    </a:solidFill>
                  </a:tcPr>
                </a:tc>
                <a:tc>
                  <a:txBody>
                    <a:bodyPr/>
                    <a:lstStyle/>
                    <a:p>
                      <a:pPr algn="l">
                        <a:defRPr sz="740">
                          <a:solidFill>
                            <a:srgbClr val="1E242B"/>
                          </a:solidFill>
                          <a:latin typeface="Arial"/>
                        </a:defRPr>
                      </a:pPr>
                      <a:r>
                        <a:t>Tự động nạp Firmware / Nạp đồng thời nhiều máy</a:t>
                      </a:r>
                    </a:p>
                  </a:txBody>
                  <a:tcPr anchor="ctr" marL="45720" marR="45720" marT="18288" marB="18288">
                    <a:solidFill>
                      <a:srgbClr val="FFFFFF"/>
                    </a:solidFill>
                  </a:tcPr>
                </a:tc>
                <a:tc>
                  <a:txBody>
                    <a:bodyPr/>
                    <a:lstStyle/>
                    <a:p>
                      <a:pPr algn="l">
                        <a:defRPr sz="740">
                          <a:solidFill>
                            <a:srgbClr val="1E242B"/>
                          </a:solidFill>
                          <a:latin typeface="Arial"/>
                        </a:defRPr>
                      </a:pPr>
                      <a:r>
                        <a:t>Cắm USB nạp FW từng máy (90s/máy). Người thao tác phải đứng chờ cắm/rút USB và bấm khởi động lại.</a:t>
                      </a:r>
                    </a:p>
                  </a:txBody>
                  <a:tcPr anchor="ctr" marL="45720" marR="45720" marT="18288" marB="18288">
                    <a:solidFill>
                      <a:srgbClr val="FFFFFF"/>
                    </a:solidFill>
                  </a:tcPr>
                </a:tc>
                <a:tc>
                  <a:txBody>
                    <a:bodyPr/>
                    <a:lstStyle/>
                    <a:p>
                      <a:pPr algn="l">
                        <a:defRPr sz="740">
                          <a:solidFill>
                            <a:srgbClr val="1E242B"/>
                          </a:solidFill>
                          <a:latin typeface="Arial"/>
                        </a:defRPr>
                      </a:pPr>
                      <a:r>
                        <a:t>Thiết kế trạm A-1 cho phép 1 người thao tác vận hành nạp FW đồng thời 4 máy; tạm thời giữ cắm 2 USB nạp ngầm trong lúc làm thao tác khác theo quyết định DR4.</a:t>
                      </a:r>
                    </a:p>
                  </a:txBody>
                  <a:tcPr anchor="ctr" marL="45720" marR="45720" marT="18288" marB="18288">
                    <a:solidFill>
                      <a:srgbClr val="FFFFFF"/>
                    </a:solidFill>
                  </a:tcPr>
                </a:tc>
                <a:tc>
                  <a:txBody>
                    <a:bodyPr/>
                    <a:lstStyle/>
                    <a:p>
                      <a:pPr algn="l">
                        <a:defRPr sz="740">
                          <a:solidFill>
                            <a:srgbClr val="1E242B"/>
                          </a:solidFill>
                          <a:latin typeface="Arial"/>
                        </a:defRPr>
                      </a:pPr>
                      <a:r>
                        <a:t>• Giảm thời gian đứng chờ nạp FW (gộp 4 máy/cell)</a:t>
                      </a:r>
                      <a:br/>
                      <a:r>
                        <a:t>• Tăng năng suất trạm A-1</a:t>
                      </a:r>
                    </a:p>
                  </a:txBody>
                  <a:tcPr anchor="ctr" marL="45720" marR="45720" marT="18288" marB="18288">
                    <a:solidFill>
                      <a:srgbClr val="FFFFFF"/>
                    </a:solidFill>
                  </a:tcPr>
                </a:tc>
                <a:tc>
                  <a:txBody>
                    <a:bodyPr/>
                    <a:lstStyle/>
                    <a:p>
                      <a:pPr algn="ctr">
                        <a:defRPr sz="740">
                          <a:solidFill>
                            <a:srgbClr val="1E242B"/>
                          </a:solidFill>
                          <a:latin typeface="Arial"/>
                        </a:defRPr>
                      </a:pPr>
                      <a:r>
                        <a:t>Đang báo giá</a:t>
                      </a:r>
                    </a:p>
                  </a:txBody>
                  <a:tcPr anchor="ctr" marL="45720" marR="45720" marT="18288" marB="18288">
                    <a:solidFill>
                      <a:srgbClr val="FFFFFF"/>
                    </a:solidFill>
                  </a:tcPr>
                </a:tc>
                <a:tc>
                  <a:txBody>
                    <a:bodyPr/>
                    <a:lstStyle/>
                    <a:p>
                      <a:pPr algn="l">
                        <a:defRPr sz="740">
                          <a:solidFill>
                            <a:srgbClr val="1E242B"/>
                          </a:solidFill>
                          <a:latin typeface="Arial"/>
                        </a:defRPr>
                      </a:pPr>
                      <a:r>
                        <a:t>Đang thiết kế chuẩn trạm A-1</a:t>
                      </a:r>
                    </a:p>
                  </a:txBody>
                  <a:tcPr anchor="ctr" marL="45720" marR="45720" marT="18288" marB="18288">
                    <a:solidFill>
                      <a:srgbClr val="FFFFFF"/>
                    </a:solidFill>
                  </a:tcPr>
                </a:tc>
              </a:tr>
              <a:tr h="764177">
                <a:tc>
                  <a:txBody>
                    <a:bodyPr/>
                    <a:lstStyle/>
                    <a:p>
                      <a:pPr algn="ctr">
                        <a:defRPr sz="740" b="1">
                          <a:solidFill>
                            <a:srgbClr val="1E242B"/>
                          </a:solidFill>
                          <a:latin typeface="Arial"/>
                        </a:defRPr>
                      </a:pPr>
                      <a:r>
                        <a:t>Đề án FW</a:t>
                      </a:r>
                      <a:br/>
                      <a:r>
                        <a:t>bổ sung</a:t>
                      </a:r>
                      <a:br/>
                      <a:r>
                        <a:t>(Trạm A-1)</a:t>
                      </a:r>
                    </a:p>
                  </a:txBody>
                  <a:tcPr anchor="ctr" marL="45720" marR="45720" marT="18288" marB="18288">
                    <a:solidFill>
                      <a:srgbClr val="E8EEF5"/>
                    </a:solidFill>
                  </a:tcPr>
                </a:tc>
                <a:tc>
                  <a:txBody>
                    <a:bodyPr/>
                    <a:lstStyle/>
                    <a:p>
                      <a:pPr algn="l">
                        <a:defRPr sz="740">
                          <a:solidFill>
                            <a:srgbClr val="1E242B"/>
                          </a:solidFill>
                          <a:latin typeface="Arial"/>
                        </a:defRPr>
                      </a:pPr>
                      <a:r>
                        <a:t>Bỏ thao tác cài đặt lại Software trên Line / Nạp sẵn tại Partner</a:t>
                      </a:r>
                    </a:p>
                  </a:txBody>
                  <a:tcPr anchor="ctr" marL="45720" marR="45720" marT="18288" marB="18288">
                    <a:solidFill>
                      <a:srgbClr val="E8EEF5"/>
                    </a:solidFill>
                  </a:tcPr>
                </a:tc>
                <a:tc>
                  <a:txBody>
                    <a:bodyPr/>
                    <a:lstStyle/>
                    <a:p>
                      <a:pPr algn="l">
                        <a:defRPr sz="740">
                          <a:solidFill>
                            <a:srgbClr val="1E242B"/>
                          </a:solidFill>
                          <a:latin typeface="Arial"/>
                        </a:defRPr>
                      </a:pPr>
                      <a:r>
                        <a:t>Dù bo mạch đã nạp chương trình khi xuất xưởng, lên Line vẫn cắm USB mở nắp trước/bật tắt nguồn nạp lại cho 100% máy (tốn 13s~25s thao tác + 100s chờ; cả trạm A-1 mất 379s cần 4 người).</a:t>
                      </a:r>
                    </a:p>
                  </a:txBody>
                  <a:tcPr anchor="ctr" marL="45720" marR="45720" marT="18288" marB="18288">
                    <a:solidFill>
                      <a:srgbClr val="E8EEF5"/>
                    </a:solidFill>
                  </a:tcPr>
                </a:tc>
                <a:tc>
                  <a:txBody>
                    <a:bodyPr/>
                    <a:lstStyle/>
                    <a:p>
                      <a:pPr algn="l">
                        <a:defRPr sz="740">
                          <a:solidFill>
                            <a:srgbClr val="1E242B"/>
                          </a:solidFill>
                          <a:latin typeface="Arial"/>
                        </a:defRPr>
                      </a:pPr>
                      <a:r>
                        <a:t>Chỉ cài đặt Software trên Line khi có phiên bản cập nhật mới phát sinh từ lúc xuất bo mạch đến khi lên chuyền; các trường hợp còn lại dùng chức năng Skip (đối chiếu Version qua Set Serial để chống bỏ sót).</a:t>
                      </a:r>
                    </a:p>
                  </a:txBody>
                  <a:tcPr anchor="ctr" marL="45720" marR="45720" marT="18288" marB="18288">
                    <a:solidFill>
                      <a:srgbClr val="E8EEF5"/>
                    </a:solidFill>
                  </a:tcPr>
                </a:tc>
                <a:tc>
                  <a:txBody>
                    <a:bodyPr/>
                    <a:lstStyle/>
                    <a:p>
                      <a:pPr algn="l">
                        <a:defRPr sz="740">
                          <a:solidFill>
                            <a:srgbClr val="1E242B"/>
                          </a:solidFill>
                          <a:latin typeface="Arial"/>
                        </a:defRPr>
                      </a:pPr>
                      <a:r>
                        <a:t>• Giảm 13s ~ 25s thao tác tay; chu kỳ A-1 giảm từ 379s -&gt; 279s</a:t>
                      </a:r>
                      <a:br/>
                      <a:r>
                        <a:t>• Giảm 1 người tại A-1 (từ 4 -&gt; 3 người)</a:t>
                      </a:r>
                    </a:p>
                  </a:txBody>
                  <a:tcPr anchor="ctr" marL="45720" marR="45720" marT="18288" marB="18288">
                    <a:solidFill>
                      <a:srgbClr val="E8EEF5"/>
                    </a:solidFill>
                  </a:tcPr>
                </a:tc>
                <a:tc>
                  <a:txBody>
                    <a:bodyPr/>
                    <a:lstStyle/>
                    <a:p>
                      <a:pPr algn="ctr">
                        <a:defRPr sz="740">
                          <a:solidFill>
                            <a:srgbClr val="1E242B"/>
                          </a:solidFill>
                          <a:latin typeface="Arial"/>
                        </a:defRPr>
                      </a:pPr>
                      <a:r>
                        <a:t>0 VNĐ thiết bị</a:t>
                      </a:r>
                      <a:br/>
                      <a:r>
                        <a:t>(Cải tiến quy trình / đối chiếu Set Serial)</a:t>
                      </a:r>
                    </a:p>
                  </a:txBody>
                  <a:tcPr anchor="ctr" marL="45720" marR="45720" marT="18288" marB="18288">
                    <a:solidFill>
                      <a:srgbClr val="E8EEF5"/>
                    </a:solidFill>
                  </a:tcPr>
                </a:tc>
                <a:tc>
                  <a:txBody>
                    <a:bodyPr/>
                    <a:lstStyle/>
                    <a:p>
                      <a:pPr algn="l">
                        <a:defRPr sz="740">
                          <a:solidFill>
                            <a:srgbClr val="1E242B"/>
                          </a:solidFill>
                          <a:latin typeface="Arial"/>
                        </a:defRPr>
                      </a:pPr>
                      <a:r>
                        <a:t>Đang xác nhận với Thiết kế JP</a:t>
                      </a:r>
                    </a:p>
                  </a:txBody>
                  <a:tcPr anchor="ctr" marL="45720" marR="45720" marT="18288" marB="18288">
                    <a:solidFill>
                      <a:srgbClr val="E8EEF5"/>
                    </a:solidFill>
                  </a:tcPr>
                </a:tc>
              </a:tr>
              <a:tr h="764177">
                <a:tc>
                  <a:txBody>
                    <a:bodyPr/>
                    <a:lstStyle/>
                    <a:p>
                      <a:pPr algn="ctr">
                        <a:defRPr sz="740" b="1">
                          <a:solidFill>
                            <a:srgbClr val="1E242B"/>
                          </a:solidFill>
                          <a:latin typeface="Arial"/>
                        </a:defRPr>
                      </a:pPr>
                      <a:r>
                        <a:t>No.19</a:t>
                      </a:r>
                      <a:br/>
                      <a:r>
                        <a:t>(K1 -&gt; A-1)</a:t>
                      </a:r>
                    </a:p>
                  </a:txBody>
                  <a:tcPr anchor="ctr" marL="45720" marR="45720" marT="18288" marB="18288">
                    <a:solidFill>
                      <a:srgbClr val="FFFFFF"/>
                    </a:solidFill>
                  </a:tcPr>
                </a:tc>
                <a:tc>
                  <a:txBody>
                    <a:bodyPr/>
                    <a:lstStyle/>
                    <a:p>
                      <a:pPr algn="l">
                        <a:defRPr sz="740">
                          <a:solidFill>
                            <a:srgbClr val="1E242B"/>
                          </a:solidFill>
                          <a:latin typeface="Arial"/>
                        </a:defRPr>
                      </a:pPr>
                      <a:r>
                        <a:t>Không tháo/lắp nắp máy &amp; cáp khi nạp FW và tự động đổi tiếng Anh</a:t>
                      </a:r>
                    </a:p>
                  </a:txBody>
                  <a:tcPr anchor="ctr" marL="45720" marR="45720" marT="18288" marB="18288">
                    <a:solidFill>
                      <a:srgbClr val="FFFFFF"/>
                    </a:solidFill>
                  </a:tcPr>
                </a:tc>
                <a:tc>
                  <a:txBody>
                    <a:bodyPr/>
                    <a:lstStyle/>
                    <a:p>
                      <a:pPr algn="l">
                        <a:defRPr sz="740">
                          <a:solidFill>
                            <a:srgbClr val="1E242B"/>
                          </a:solidFill>
                          <a:latin typeface="Arial"/>
                        </a:defRPr>
                      </a:pPr>
                      <a:r>
                        <a:t>Phải lắp FAX, lắp đồ gá hộp mực (30s) rồi tháo gá, lắp dummy hộp mực và nắp che (25s) = 55s/máy; sau TLBĐ phải bấm tay chọn ngôn ngữ tiếng Anh.</a:t>
                      </a:r>
                    </a:p>
                  </a:txBody>
                  <a:tcPr anchor="ctr" marL="45720" marR="45720" marT="18288" marB="18288">
                    <a:solidFill>
                      <a:srgbClr val="FFFFFF"/>
                    </a:solidFill>
                  </a:tcPr>
                </a:tc>
                <a:tc>
                  <a:txBody>
                    <a:bodyPr/>
                    <a:lstStyle/>
                    <a:p>
                      <a:pPr algn="l">
                        <a:defRPr sz="740">
                          <a:solidFill>
                            <a:srgbClr val="1E242B"/>
                          </a:solidFill>
                          <a:latin typeface="Arial"/>
                        </a:defRPr>
                      </a:pPr>
                      <a:r>
                        <a:t>Tích hợp lệnh tự động chuyển sang tiếng Anh trong kịch bản cài đặt ban đầu từ Host PC (phía JP đã đồng ý); tận dụng 12 bộ đồ gá hộp mực hiện có để giảm tháo lắp.</a:t>
                      </a:r>
                    </a:p>
                  </a:txBody>
                  <a:tcPr anchor="ctr" marL="45720" marR="45720" marT="18288" marB="18288">
                    <a:solidFill>
                      <a:srgbClr val="FFFFFF"/>
                    </a:solidFill>
                  </a:tcPr>
                </a:tc>
                <a:tc>
                  <a:txBody>
                    <a:bodyPr/>
                    <a:lstStyle/>
                    <a:p>
                      <a:pPr algn="l">
                        <a:defRPr sz="740">
                          <a:solidFill>
                            <a:srgbClr val="1E242B"/>
                          </a:solidFill>
                          <a:latin typeface="Arial"/>
                        </a:defRPr>
                      </a:pPr>
                      <a:r>
                        <a:t>• Giảm 55,00 s/máy tại K1 (đã giảm trước 1,44s bước chọn tiếng Anh)</a:t>
                      </a:r>
                      <a:br/>
                      <a:r>
                        <a:t>• Giảm 11 lần cắm/rút cáp</a:t>
                      </a:r>
                    </a:p>
                  </a:txBody>
                  <a:tcPr anchor="ctr" marL="45720" marR="45720" marT="18288" marB="18288">
                    <a:solidFill>
                      <a:srgbClr val="FFFFFF"/>
                    </a:solidFill>
                  </a:tcPr>
                </a:tc>
                <a:tc>
                  <a:txBody>
                    <a:bodyPr/>
                    <a:lstStyle/>
                    <a:p>
                      <a:pPr algn="ctr">
                        <a:defRPr sz="740">
                          <a:solidFill>
                            <a:srgbClr val="1E242B"/>
                          </a:solidFill>
                          <a:latin typeface="Arial"/>
                        </a:defRPr>
                      </a:pPr>
                      <a:r>
                        <a:t>Đang báo giá</a:t>
                      </a:r>
                      <a:br/>
                      <a:r>
                        <a:t>(Tận dụng 12 bộ đồ gá hiện có)</a:t>
                      </a:r>
                    </a:p>
                  </a:txBody>
                  <a:tcPr anchor="ctr" marL="45720" marR="45720" marT="18288" marB="18288">
                    <a:solidFill>
                      <a:srgbClr val="FFFFFF"/>
                    </a:solidFill>
                  </a:tcPr>
                </a:tc>
                <a:tc>
                  <a:txBody>
                    <a:bodyPr/>
                    <a:lstStyle/>
                    <a:p>
                      <a:pPr algn="l">
                        <a:defRPr sz="740">
                          <a:solidFill>
                            <a:srgbClr val="1E242B"/>
                          </a:solidFill>
                          <a:latin typeface="Arial"/>
                        </a:defRPr>
                      </a:pPr>
                      <a:r>
                        <a:t>Triển khai ngay phần đổi ngôn ngữ tự động</a:t>
                      </a:r>
                    </a:p>
                  </a:txBody>
                  <a:tcPr anchor="ctr" marL="45720" marR="45720" marT="18288" marB="18288">
                    <a:solidFill>
                      <a:srgbClr val="FFFFFF"/>
                    </a:solidFill>
                  </a:tcPr>
                </a:tc>
              </a:tr>
              <a:tr h="764177">
                <a:tc>
                  <a:txBody>
                    <a:bodyPr/>
                    <a:lstStyle/>
                    <a:p>
                      <a:pPr algn="ctr">
                        <a:defRPr sz="740" b="1">
                          <a:solidFill>
                            <a:srgbClr val="1E242B"/>
                          </a:solidFill>
                          <a:latin typeface="Arial"/>
                        </a:defRPr>
                      </a:pPr>
                      <a:r>
                        <a:t>No.20</a:t>
                      </a:r>
                      <a:br/>
                      <a:r>
                        <a:t>(K1/K2 -&gt; A-1)</a:t>
                      </a:r>
                    </a:p>
                  </a:txBody>
                  <a:tcPr anchor="ctr" marL="45720" marR="45720" marT="18288" marB="18288">
                    <a:solidFill>
                      <a:srgbClr val="F7F9FC"/>
                    </a:solidFill>
                  </a:tcPr>
                </a:tc>
                <a:tc>
                  <a:txBody>
                    <a:bodyPr/>
                    <a:lstStyle/>
                    <a:p>
                      <a:pPr algn="l">
                        <a:defRPr sz="740">
                          <a:solidFill>
                            <a:srgbClr val="1E242B"/>
                          </a:solidFill>
                          <a:latin typeface="Arial"/>
                        </a:defRPr>
                      </a:pPr>
                      <a:r>
                        <a:t>Truyền dữ liệu log qua mạng nội bộ &amp; Bỏ test đóng mở khay không tải</a:t>
                      </a:r>
                    </a:p>
                  </a:txBody>
                  <a:tcPr anchor="ctr" marL="45720" marR="45720" marT="18288" marB="18288">
                    <a:solidFill>
                      <a:srgbClr val="F7F9FC"/>
                    </a:solidFill>
                  </a:tcPr>
                </a:tc>
                <a:tc>
                  <a:txBody>
                    <a:bodyPr/>
                    <a:lstStyle/>
                    <a:p>
                      <a:pPr algn="l">
                        <a:defRPr sz="740">
                          <a:solidFill>
                            <a:srgbClr val="1E242B"/>
                          </a:solidFill>
                          <a:latin typeface="Arial"/>
                        </a:defRPr>
                      </a:pPr>
                      <a:r>
                        <a:t>Cắm/rút USB thủ công để lấy log kiểm tra (10s/máy); kiểm tra kéo đẩy khay giấy không tải trùng lặp với bước kiểm tra có tải trọng (5,04s).</a:t>
                      </a:r>
                    </a:p>
                  </a:txBody>
                  <a:tcPr anchor="ctr" marL="45720" marR="45720" marT="18288" marB="18288">
                    <a:solidFill>
                      <a:srgbClr val="F7F9FC"/>
                    </a:solidFill>
                  </a:tcPr>
                </a:tc>
                <a:tc>
                  <a:txBody>
                    <a:bodyPr/>
                    <a:lstStyle/>
                    <a:p>
                      <a:pPr algn="l">
                        <a:defRPr sz="740">
                          <a:solidFill>
                            <a:srgbClr val="1E242B"/>
                          </a:solidFill>
                          <a:latin typeface="Arial"/>
                        </a:defRPr>
                      </a:pPr>
                      <a:r>
                        <a:t>Truyền trực tiếp dữ liệu log kiểm tra về Host PC qua mạng nội bộ (LAN/Mini PC); thu thập dữ liệu độ bền bản lề trình QA phê duyệt bỏ bước test khay không tải.</a:t>
                      </a:r>
                    </a:p>
                  </a:txBody>
                  <a:tcPr anchor="ctr" marL="45720" marR="45720" marT="18288" marB="18288">
                    <a:solidFill>
                      <a:srgbClr val="F7F9FC"/>
                    </a:solidFill>
                  </a:tcPr>
                </a:tc>
                <a:tc>
                  <a:txBody>
                    <a:bodyPr/>
                    <a:lstStyle/>
                    <a:p>
                      <a:pPr algn="l">
                        <a:defRPr sz="740">
                          <a:solidFill>
                            <a:srgbClr val="1E242B"/>
                          </a:solidFill>
                          <a:latin typeface="Arial"/>
                        </a:defRPr>
                      </a:pPr>
                      <a:r>
                        <a:t>• Giảm 10,00 s/máy lấy log USB</a:t>
                      </a:r>
                      <a:br/>
                      <a:r>
                        <a:t>• Giảm 5,04 s/máy thử khay không tải</a:t>
                      </a:r>
                    </a:p>
                  </a:txBody>
                  <a:tcPr anchor="ctr" marL="45720" marR="45720" marT="18288" marB="18288">
                    <a:solidFill>
                      <a:srgbClr val="F7F9FC"/>
                    </a:solidFill>
                  </a:tcPr>
                </a:tc>
                <a:tc>
                  <a:txBody>
                    <a:bodyPr/>
                    <a:lstStyle/>
                    <a:p>
                      <a:pPr algn="ctr">
                        <a:defRPr sz="740">
                          <a:solidFill>
                            <a:srgbClr val="1E242B"/>
                          </a:solidFill>
                          <a:latin typeface="Arial"/>
                        </a:defRPr>
                      </a:pPr>
                      <a:r>
                        <a:t>Đang báo giá</a:t>
                      </a:r>
                    </a:p>
                  </a:txBody>
                  <a:tcPr anchor="ctr" marL="45720" marR="45720" marT="18288" marB="18288">
                    <a:solidFill>
                      <a:srgbClr val="F7F9FC"/>
                    </a:solidFill>
                  </a:tcPr>
                </a:tc>
                <a:tc>
                  <a:txBody>
                    <a:bodyPr/>
                    <a:lstStyle/>
                    <a:p>
                      <a:pPr algn="l">
                        <a:defRPr sz="740">
                          <a:solidFill>
                            <a:srgbClr val="1E242B"/>
                          </a:solidFill>
                          <a:latin typeface="Arial"/>
                        </a:defRPr>
                      </a:pPr>
                      <a:r>
                        <a:t>Tích hợp mạng Host PC &amp; Chờ QA duyệt</a:t>
                      </a:r>
                    </a:p>
                  </a:txBody>
                  <a:tcPr anchor="ctr" marL="45720" marR="45720" marT="18288" marB="18288">
                    <a:solidFill>
                      <a:srgbClr val="F7F9FC"/>
                    </a:solidFill>
                  </a:tcPr>
                </a:tc>
              </a:tr>
              <a:tr h="764177">
                <a:tc>
                  <a:txBody>
                    <a:bodyPr/>
                    <a:lstStyle/>
                    <a:p>
                      <a:pPr algn="ctr">
                        <a:defRPr sz="740" b="1">
                          <a:solidFill>
                            <a:srgbClr val="1E242B"/>
                          </a:solidFill>
                          <a:latin typeface="Arial"/>
                        </a:defRPr>
                      </a:pPr>
                      <a:r>
                        <a:t>No.21</a:t>
                      </a:r>
                      <a:br/>
                      <a:r>
                        <a:t>(K2 -&gt; A-2)</a:t>
                      </a:r>
                    </a:p>
                  </a:txBody>
                  <a:tcPr anchor="ctr" marL="45720" marR="45720" marT="18288" marB="18288">
                    <a:solidFill>
                      <a:srgbClr val="FFFFFF"/>
                    </a:solidFill>
                  </a:tcPr>
                </a:tc>
                <a:tc>
                  <a:txBody>
                    <a:bodyPr/>
                    <a:lstStyle/>
                    <a:p>
                      <a:pPr algn="l">
                        <a:defRPr sz="740">
                          <a:solidFill>
                            <a:srgbClr val="1E242B"/>
                          </a:solidFill>
                          <a:latin typeface="Arial"/>
                        </a:defRPr>
                      </a:pPr>
                      <a:r>
                        <a:t>Làm đồ gá kết nối nhanh (hút từ tính / 1 chạm) kiểm tra các cổng Option</a:t>
                      </a:r>
                    </a:p>
                  </a:txBody>
                  <a:tcPr anchor="ctr" marL="45720" marR="45720" marT="18288" marB="18288">
                    <a:solidFill>
                      <a:srgbClr val="FFFFFF"/>
                    </a:solidFill>
                  </a:tcPr>
                </a:tc>
                <a:tc>
                  <a:txBody>
                    <a:bodyPr/>
                    <a:lstStyle/>
                    <a:p>
                      <a:pPr algn="l">
                        <a:defRPr sz="740">
                          <a:solidFill>
                            <a:srgbClr val="1E242B"/>
                          </a:solidFill>
                          <a:latin typeface="Arial"/>
                        </a:defRPr>
                      </a:pPr>
                      <a:r>
                        <a:t>Cắm/rút thủ công nhiều đầu giắc DP, DF, PF, IS/ZF mất 90s/máy; chân giắc dễ mòn hoặc đứt dây ngầm gây dừng chuyền.</a:t>
                      </a:r>
                    </a:p>
                  </a:txBody>
                  <a:tcPr anchor="ctr" marL="45720" marR="45720" marT="18288" marB="18288">
                    <a:solidFill>
                      <a:srgbClr val="FFFFFF"/>
                    </a:solidFill>
                  </a:tcPr>
                </a:tc>
                <a:tc>
                  <a:txBody>
                    <a:bodyPr/>
                    <a:lstStyle/>
                    <a:p>
                      <a:pPr algn="l">
                        <a:defRPr sz="740">
                          <a:solidFill>
                            <a:srgbClr val="1E242B"/>
                          </a:solidFill>
                          <a:latin typeface="Arial"/>
                        </a:defRPr>
                      </a:pPr>
                      <a:r>
                        <a:t>Hủy ý tưởng dùng Robot cắm giắc vì chi phí cao; chuyển sang chế tạo 1 bộ đồ gá kết nối nhanh (cơ cấu 1 chạm / nam châm định vị) giúp thao tác trong ~40-45s.</a:t>
                      </a:r>
                    </a:p>
                  </a:txBody>
                  <a:tcPr anchor="ctr" marL="45720" marR="45720" marT="18288" marB="18288">
                    <a:solidFill>
                      <a:srgbClr val="FFFFFF"/>
                    </a:solidFill>
                  </a:tcPr>
                </a:tc>
                <a:tc>
                  <a:txBody>
                    <a:bodyPr/>
                    <a:lstStyle/>
                    <a:p>
                      <a:pPr algn="l">
                        <a:defRPr sz="740">
                          <a:solidFill>
                            <a:srgbClr val="1E242B"/>
                          </a:solidFill>
                          <a:latin typeface="Arial"/>
                        </a:defRPr>
                      </a:pPr>
                      <a:r>
                        <a:t>• Giảm 45,00 s ~ 50,00 s/máy</a:t>
                      </a:r>
                      <a:br/>
                      <a:r>
                        <a:t>• Chống đứt dây cáp đồ gá trên chuyền</a:t>
                      </a:r>
                    </a:p>
                  </a:txBody>
                  <a:tcPr anchor="ctr" marL="45720" marR="45720" marT="18288" marB="18288">
                    <a:solidFill>
                      <a:srgbClr val="FFFFFF"/>
                    </a:solidFill>
                  </a:tcPr>
                </a:tc>
                <a:tc>
                  <a:txBody>
                    <a:bodyPr/>
                    <a:lstStyle/>
                    <a:p>
                      <a:pPr algn="ctr">
                        <a:defRPr sz="740">
                          <a:solidFill>
                            <a:srgbClr val="1E242B"/>
                          </a:solidFill>
                          <a:latin typeface="Arial"/>
                        </a:defRPr>
                      </a:pPr>
                      <a:r>
                        <a:t>Đang báo giá</a:t>
                      </a:r>
                    </a:p>
                  </a:txBody>
                  <a:tcPr anchor="ctr" marL="45720" marR="45720" marT="18288" marB="18288">
                    <a:solidFill>
                      <a:srgbClr val="FFFFFF"/>
                    </a:solidFill>
                  </a:tcPr>
                </a:tc>
                <a:tc>
                  <a:txBody>
                    <a:bodyPr/>
                    <a:lstStyle/>
                    <a:p>
                      <a:pPr algn="l">
                        <a:defRPr sz="740">
                          <a:solidFill>
                            <a:srgbClr val="1E242B"/>
                          </a:solidFill>
                          <a:latin typeface="Arial"/>
                        </a:defRPr>
                      </a:pPr>
                      <a:r>
                        <a:t>Đang thiết kế / chế tạo đồ gá thử nghiệm</a:t>
                      </a:r>
                    </a:p>
                  </a:txBody>
                  <a:tcPr anchor="ctr" marL="45720" marR="45720" marT="18288" marB="18288">
                    <a:solidFill>
                      <a:srgbClr val="FFFFFF"/>
                    </a:solidFill>
                  </a:tcPr>
                </a:tc>
              </a:tr>
              <a:tr h="764178">
                <a:tc>
                  <a:txBody>
                    <a:bodyPr/>
                    <a:lstStyle/>
                    <a:p>
                      <a:pPr algn="ctr">
                        <a:defRPr sz="740" b="1">
                          <a:solidFill>
                            <a:srgbClr val="1E242B"/>
                          </a:solidFill>
                          <a:latin typeface="Arial"/>
                        </a:defRPr>
                      </a:pPr>
                      <a:r>
                        <a:t>No.22</a:t>
                      </a:r>
                      <a:br/>
                      <a:r>
                        <a:t>(K3 -&gt; A-3)</a:t>
                      </a:r>
                    </a:p>
                  </a:txBody>
                  <a:tcPr anchor="ctr" marL="45720" marR="45720" marT="18288" marB="18288">
                    <a:solidFill>
                      <a:srgbClr val="EAF7EE"/>
                    </a:solidFill>
                  </a:tcPr>
                </a:tc>
                <a:tc>
                  <a:txBody>
                    <a:bodyPr/>
                    <a:lstStyle/>
                    <a:p>
                      <a:pPr algn="l">
                        <a:defRPr sz="740">
                          <a:solidFill>
                            <a:srgbClr val="1E242B"/>
                          </a:solidFill>
                          <a:latin typeface="Arial"/>
                        </a:defRPr>
                      </a:pPr>
                      <a:r>
                        <a:t>Tự động hóa kiểm tra an toàn điện (thông mạch tiếp đất &amp; chịu áp cách điện)</a:t>
                      </a:r>
                    </a:p>
                  </a:txBody>
                  <a:tcPr anchor="ctr" marL="45720" marR="45720" marT="18288" marB="18288">
                    <a:solidFill>
                      <a:srgbClr val="EAF7EE"/>
                    </a:solidFill>
                  </a:tcPr>
                </a:tc>
                <a:tc>
                  <a:txBody>
                    <a:bodyPr/>
                    <a:lstStyle/>
                    <a:p>
                      <a:pPr algn="l">
                        <a:defRPr sz="740">
                          <a:solidFill>
                            <a:srgbClr val="1E242B"/>
                          </a:solidFill>
                          <a:latin typeface="Arial"/>
                        </a:defRPr>
                      </a:pPr>
                      <a:r>
                        <a:t>Người thao tác cắm nguồn, kẹp que đo tiếp đất, bấm máy đo cao áp và xác nhận thủ công (20s thông mạch/tiếp đất + 10s chịu áp cách điện = 30s/máy).</a:t>
                      </a:r>
                    </a:p>
                  </a:txBody>
                  <a:tcPr anchor="ctr" marL="45720" marR="45720" marT="18288" marB="18288">
                    <a:solidFill>
                      <a:srgbClr val="EAF7EE"/>
                    </a:solidFill>
                  </a:tcPr>
                </a:tc>
                <a:tc>
                  <a:txBody>
                    <a:bodyPr/>
                    <a:lstStyle/>
                    <a:p>
                      <a:pPr algn="l">
                        <a:defRPr sz="740">
                          <a:solidFill>
                            <a:srgbClr val="1E242B"/>
                          </a:solidFill>
                          <a:latin typeface="Arial"/>
                        </a:defRPr>
                      </a:pPr>
                      <a:r>
                        <a:t>Chế tạo JIG kết nối tự động (BOM 25 mục): PLC Mitsubishi FX5U-64MT/ES, Module FX5-16EYR/ES, HMI Wecon PI3070ig, 6 Xylanh khí nén SMC, 5 Van SY5120, 2 Cảm biến quang E3Z-LS61, Khung nhôm Misumi.</a:t>
                      </a:r>
                      <a:br/>
                      <a:r>
                        <a:t>※ Thực hiện đo ở trạng thái ĐÃ ĐÓNG KÍN VỎ MÁY theo quy chuẩn an toàn DR4.</a:t>
                      </a:r>
                    </a:p>
                  </a:txBody>
                  <a:tcPr anchor="ctr" marL="45720" marR="45720" marT="18288" marB="18288">
                    <a:solidFill>
                      <a:srgbClr val="EAF7EE"/>
                    </a:solidFill>
                  </a:tcPr>
                </a:tc>
                <a:tc>
                  <a:txBody>
                    <a:bodyPr/>
                    <a:lstStyle/>
                    <a:p>
                      <a:pPr algn="l">
                        <a:defRPr sz="740">
                          <a:solidFill>
                            <a:srgbClr val="1E242B"/>
                          </a:solidFill>
                          <a:latin typeface="Arial"/>
                        </a:defRPr>
                      </a:pPr>
                      <a:r>
                        <a:t>• Giảm 30,00 s/máy</a:t>
                      </a:r>
                      <a:br/>
                      <a:r>
                        <a:t>• Tiết kiệm: 29.600.000 VNĐ/năm (1.138,46 USD/năm)</a:t>
                      </a:r>
                      <a:br/>
                      <a:r>
                        <a:t>• Loại bỏ rủi ro sót bước đo an toàn điện</a:t>
                      </a:r>
                    </a:p>
                  </a:txBody>
                  <a:tcPr anchor="ctr" marL="45720" marR="45720" marT="18288" marB="18288">
                    <a:solidFill>
                      <a:srgbClr val="EAF7EE"/>
                    </a:solidFill>
                  </a:tcPr>
                </a:tc>
                <a:tc>
                  <a:txBody>
                    <a:bodyPr/>
                    <a:lstStyle/>
                    <a:p>
                      <a:pPr algn="ctr">
                        <a:defRPr sz="740" b="1">
                          <a:solidFill>
                            <a:srgbClr val="1E6E3E"/>
                          </a:solidFill>
                          <a:latin typeface="Arial"/>
                        </a:defRPr>
                      </a:pPr>
                      <a:r>
                        <a:t>ĐÃ CÓ BÁO GIÁ:</a:t>
                      </a:r>
                      <a:br/>
                      <a:r>
                        <a:t>101.690.000 VNĐ</a:t>
                      </a:r>
                      <a:br/>
                      <a:r>
                        <a:t>(3.911,15 USD theo BOM 25 mục)</a:t>
                      </a:r>
                      <a:br/>
                      <a:r>
                        <a:t>[Bảng tổng hợp: 4.000 USD]</a:t>
                      </a:r>
                    </a:p>
                  </a:txBody>
                  <a:tcPr anchor="ctr" marL="45720" marR="45720" marT="18288" marB="18288">
                    <a:solidFill>
                      <a:srgbClr val="EAF7EE"/>
                    </a:solidFill>
                  </a:tcPr>
                </a:tc>
                <a:tc>
                  <a:txBody>
                    <a:bodyPr/>
                    <a:lstStyle/>
                    <a:p>
                      <a:pPr algn="l">
                        <a:defRPr sz="740">
                          <a:solidFill>
                            <a:srgbClr val="1E242B"/>
                          </a:solidFill>
                          <a:latin typeface="Arial"/>
                        </a:defRPr>
                      </a:pPr>
                      <a:r>
                        <a:t>Triển khai ngay</a:t>
                      </a:r>
                      <a:br/>
                      <a:r>
                        <a:t>(Đề nghị duyệt đầu tư Đợt 1)</a:t>
                      </a:r>
                    </a:p>
                  </a:txBody>
                  <a:tcPr anchor="ctr" marL="45720" marR="45720" marT="18288" marB="18288">
                    <a:solidFill>
                      <a:srgbClr val="EAF7EE"/>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Arial"/>
              </a:defRPr>
            </a:pPr>
            <a:r>
              <a:t>4.3 ĐỀ ÁN VN (HÌNH ẢNH)</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Chi tiết các đề án tự động hóa của Việt Nam: Cụm Hình ảnh &amp; Xuất hàng (No.23 ~ No.28)</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8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000" b="1">
                <a:solidFill>
                  <a:srgbClr val="0F203C"/>
                </a:solidFill>
                <a:latin typeface="Arial"/>
              </a:defRPr>
            </a:pPr>
            <a:r>
              <a:t>■ Tập trung giải quyết điểm nghẽn lớn nhất tại cụm Hình ảnh (9 người thao tác) bằng Quét DP liên tục + PC tự chấm điểm (No.25, thay cho Robot No.23 giá 25.000 USD) và Camera HIKROBOT đo nồng độ/lề tự động (No.27, giảm 177s~215s/máy).</a:t>
            </a:r>
          </a:p>
        </p:txBody>
      </p:sp>
      <p:graphicFrame>
        <p:nvGraphicFramePr>
          <p:cNvPr id="7" name="Table 6"/>
          <p:cNvGraphicFramePr>
            <a:graphicFrameLocks noGrp="1"/>
          </p:cNvGraphicFramePr>
          <p:nvPr/>
        </p:nvGraphicFramePr>
        <p:xfrm>
          <a:off x="256032" y="1170432"/>
          <a:ext cx="11679631" cy="4041648"/>
        </p:xfrm>
        <a:graphic>
          <a:graphicData uri="http://schemas.openxmlformats.org/drawingml/2006/table">
            <a:tbl>
              <a:tblPr firstRow="1" bandRow="1">
                <a:tableStyleId>{5C22544A-7EE6-4342-B048-85BDC9FD1C3A}</a:tableStyleId>
              </a:tblPr>
              <a:tblGrid>
                <a:gridCol w="868680"/>
                <a:gridCol w="2011680"/>
                <a:gridCol w="2029968"/>
                <a:gridCol w="2514600"/>
                <a:gridCol w="1417320"/>
                <a:gridCol w="1463040"/>
                <a:gridCol w="1374343"/>
              </a:tblGrid>
              <a:tr h="577378">
                <a:tc>
                  <a:txBody>
                    <a:bodyPr/>
                    <a:lstStyle/>
                    <a:p>
                      <a:pPr algn="ctr">
                        <a:defRPr sz="800" b="1">
                          <a:solidFill>
                            <a:srgbClr val="FFFFFF"/>
                          </a:solidFill>
                          <a:latin typeface="Arial"/>
                        </a:defRPr>
                      </a:pPr>
                      <a:r>
                        <a:t>Mã đề án</a:t>
                      </a:r>
                      <a:br/>
                      <a:r>
                        <a:t>(Trạm)</a:t>
                      </a:r>
                    </a:p>
                  </a:txBody>
                  <a:tcPr anchor="ctr" marL="45720" marR="45720" marT="18288" marB="18288">
                    <a:solidFill>
                      <a:srgbClr val="1B365D"/>
                    </a:solidFill>
                  </a:tcPr>
                </a:tc>
                <a:tc>
                  <a:txBody>
                    <a:bodyPr/>
                    <a:lstStyle/>
                    <a:p>
                      <a:pPr algn="ctr">
                        <a:defRPr sz="800" b="1">
                          <a:solidFill>
                            <a:srgbClr val="FFFFFF"/>
                          </a:solidFill>
                          <a:latin typeface="Arial"/>
                        </a:defRPr>
                      </a:pPr>
                      <a:r>
                        <a:t>Tên đề án tự động hóa</a:t>
                      </a:r>
                    </a:p>
                  </a:txBody>
                  <a:tcPr anchor="ctr" marL="45720" marR="45720" marT="18288" marB="18288">
                    <a:solidFill>
                      <a:srgbClr val="1B365D"/>
                    </a:solidFill>
                  </a:tcPr>
                </a:tc>
                <a:tc>
                  <a:txBody>
                    <a:bodyPr/>
                    <a:lstStyle/>
                    <a:p>
                      <a:pPr algn="ctr">
                        <a:defRPr sz="800" b="1">
                          <a:solidFill>
                            <a:srgbClr val="FFFFFF"/>
                          </a:solidFill>
                          <a:latin typeface="Arial"/>
                        </a:defRPr>
                      </a:pPr>
                      <a:r>
                        <a:t>Hiện trạng trên Line Iris2024</a:t>
                      </a:r>
                    </a:p>
                  </a:txBody>
                  <a:tcPr anchor="ctr" marL="45720" marR="45720" marT="18288" marB="18288">
                    <a:solidFill>
                      <a:srgbClr val="1B365D"/>
                    </a:solidFill>
                  </a:tcPr>
                </a:tc>
                <a:tc>
                  <a:txBody>
                    <a:bodyPr/>
                    <a:lstStyle/>
                    <a:p>
                      <a:pPr algn="ctr">
                        <a:defRPr sz="800" b="1">
                          <a:solidFill>
                            <a:srgbClr val="FFFFFF"/>
                          </a:solidFill>
                          <a:latin typeface="Arial"/>
                        </a:defRPr>
                      </a:pPr>
                      <a:r>
                        <a:t>Giải pháp kỹ thuật &amp; Phương án tối ưu chi phí</a:t>
                      </a:r>
                    </a:p>
                  </a:txBody>
                  <a:tcPr anchor="ctr" marL="45720" marR="45720" marT="18288" marB="18288">
                    <a:solidFill>
                      <a:srgbClr val="1B365D"/>
                    </a:solidFill>
                  </a:tcPr>
                </a:tc>
                <a:tc>
                  <a:txBody>
                    <a:bodyPr/>
                    <a:lstStyle/>
                    <a:p>
                      <a:pPr algn="ctr">
                        <a:defRPr sz="800" b="1">
                          <a:solidFill>
                            <a:srgbClr val="FFFFFF"/>
                          </a:solidFill>
                          <a:latin typeface="Arial"/>
                        </a:defRPr>
                      </a:pPr>
                      <a:r>
                        <a:t>Hiệu quả đạt được</a:t>
                      </a:r>
                    </a:p>
                  </a:txBody>
                  <a:tcPr anchor="ctr" marL="45720" marR="45720" marT="18288" marB="18288">
                    <a:solidFill>
                      <a:srgbClr val="1B365D"/>
                    </a:solidFill>
                  </a:tcPr>
                </a:tc>
                <a:tc>
                  <a:txBody>
                    <a:bodyPr/>
                    <a:lstStyle/>
                    <a:p>
                      <a:pPr algn="ctr">
                        <a:defRPr sz="800" b="1">
                          <a:solidFill>
                            <a:srgbClr val="FFFFFF"/>
                          </a:solidFill>
                          <a:latin typeface="Arial"/>
                        </a:defRPr>
                      </a:pPr>
                      <a:r>
                        <a:t>Dự toán kinh phí</a:t>
                      </a:r>
                    </a:p>
                  </a:txBody>
                  <a:tcPr anchor="ctr" marL="45720" marR="45720" marT="18288" marB="18288">
                    <a:solidFill>
                      <a:srgbClr val="1B365D"/>
                    </a:solidFill>
                  </a:tcPr>
                </a:tc>
                <a:tc>
                  <a:txBody>
                    <a:bodyPr/>
                    <a:lstStyle/>
                    <a:p>
                      <a:pPr algn="ctr">
                        <a:defRPr sz="800" b="1">
                          <a:solidFill>
                            <a:srgbClr val="FFFFFF"/>
                          </a:solidFill>
                          <a:latin typeface="Arial"/>
                        </a:defRPr>
                      </a:pPr>
                      <a:r>
                        <a:t>Trạng thái</a:t>
                      </a:r>
                    </a:p>
                  </a:txBody>
                  <a:tcPr anchor="ctr" marL="45720" marR="45720" marT="18288" marB="18288">
                    <a:solidFill>
                      <a:srgbClr val="1B365D"/>
                    </a:solidFill>
                  </a:tcPr>
                </a:tc>
              </a:tr>
              <a:tr h="577378">
                <a:tc>
                  <a:txBody>
                    <a:bodyPr/>
                    <a:lstStyle/>
                    <a:p>
                      <a:pPr algn="ctr">
                        <a:defRPr sz="710" b="1">
                          <a:solidFill>
                            <a:srgbClr val="1E242B"/>
                          </a:solidFill>
                          <a:latin typeface="Arial"/>
                        </a:defRPr>
                      </a:pPr>
                      <a:r>
                        <a:t>No.23</a:t>
                      </a:r>
                      <a:br/>
                      <a:r>
                        <a:t>(K4 -&gt; A-2)</a:t>
                      </a:r>
                    </a:p>
                  </a:txBody>
                  <a:tcPr anchor="ctr" marL="45720" marR="45720" marT="18288" marB="18288">
                    <a:solidFill>
                      <a:srgbClr val="E8EEF5"/>
                    </a:solidFill>
                  </a:tcPr>
                </a:tc>
                <a:tc>
                  <a:txBody>
                    <a:bodyPr/>
                    <a:lstStyle/>
                    <a:p>
                      <a:pPr algn="l">
                        <a:defRPr sz="710">
                          <a:solidFill>
                            <a:srgbClr val="1E242B"/>
                          </a:solidFill>
                          <a:latin typeface="Arial"/>
                        </a:defRPr>
                      </a:pPr>
                      <a:r>
                        <a:t>Tự động nạp bản thảo chỉnh ISU U411, SITC-2, Halftone (Robot ISU -&gt; Đổi sang khay DP)</a:t>
                      </a:r>
                    </a:p>
                  </a:txBody>
                  <a:tcPr anchor="ctr" marL="45720" marR="45720" marT="18288" marB="18288">
                    <a:solidFill>
                      <a:srgbClr val="E8EEF5"/>
                    </a:solidFill>
                  </a:tcPr>
                </a:tc>
                <a:tc>
                  <a:txBody>
                    <a:bodyPr/>
                    <a:lstStyle/>
                    <a:p>
                      <a:pPr algn="l">
                        <a:defRPr sz="710">
                          <a:solidFill>
                            <a:srgbClr val="1E242B"/>
                          </a:solidFill>
                          <a:latin typeface="Arial"/>
                        </a:defRPr>
                      </a:pPr>
                      <a:r>
                        <a:t>Người thao tác mở nắp kính Platen, đặt và lấy 3 tờ bản thảo thủ công: U411 Scan chart color (45s) + Scan SITC-2 (35s) + Scan Halftone máy màu (30s) = 110s/máy.</a:t>
                      </a:r>
                    </a:p>
                  </a:txBody>
                  <a:tcPr anchor="ctr" marL="45720" marR="45720" marT="18288" marB="18288">
                    <a:solidFill>
                      <a:srgbClr val="E8EEF5"/>
                    </a:solidFill>
                  </a:tcPr>
                </a:tc>
                <a:tc>
                  <a:txBody>
                    <a:bodyPr/>
                    <a:lstStyle/>
                    <a:p>
                      <a:pPr algn="l">
                        <a:defRPr sz="710">
                          <a:solidFill>
                            <a:srgbClr val="1E242B"/>
                          </a:solidFill>
                          <a:latin typeface="Arial"/>
                        </a:defRPr>
                      </a:pPr>
                      <a:r>
                        <a:t>• Phương án ban đầu (trong VN提案.xlsx): Chế tạo cánh tay Robot đặt bản thảo lên kính ISU (350tr) + mở rộng 2 Cell băng tải (200tr) + cấp nguồn (50tr) + định vị cáp (50tr) = 650 triệu VNĐ (25.000 USD).</a:t>
                      </a:r>
                      <a:br/>
                      <a:r>
                        <a:t>• Phương án tối ưu sau DR4: Hủy Robot do cồng kềnh và thu hồi vốn lâu; chuyển sang dùng khay nạp bản gốc tự động (DP) có sẵn trên máy để nạp quét liên tục.</a:t>
                      </a:r>
                    </a:p>
                  </a:txBody>
                  <a:tcPr anchor="ctr" marL="45720" marR="45720" marT="18288" marB="18288">
                    <a:solidFill>
                      <a:srgbClr val="E8EEF5"/>
                    </a:solidFill>
                  </a:tcPr>
                </a:tc>
                <a:tc>
                  <a:txBody>
                    <a:bodyPr/>
                    <a:lstStyle/>
                    <a:p>
                      <a:pPr algn="l">
                        <a:defRPr sz="710">
                          <a:solidFill>
                            <a:srgbClr val="1E242B"/>
                          </a:solidFill>
                          <a:latin typeface="Arial"/>
                        </a:defRPr>
                      </a:pPr>
                      <a:r>
                        <a:t>• Giảm 110,00 s/máy</a:t>
                      </a:r>
                      <a:br/>
                      <a:r>
                        <a:t>• Tiết kiệm: 108.533.333 VNĐ/năm (4.174,36 USD/năm)</a:t>
                      </a:r>
                    </a:p>
                  </a:txBody>
                  <a:tcPr anchor="ctr" marL="45720" marR="45720" marT="18288" marB="18288">
                    <a:solidFill>
                      <a:srgbClr val="E8EEF5"/>
                    </a:solidFill>
                  </a:tcPr>
                </a:tc>
                <a:tc>
                  <a:txBody>
                    <a:bodyPr/>
                    <a:lstStyle/>
                    <a:p>
                      <a:pPr algn="ctr">
                        <a:defRPr sz="710">
                          <a:solidFill>
                            <a:srgbClr val="1E242B"/>
                          </a:solidFill>
                          <a:latin typeface="Arial"/>
                        </a:defRPr>
                      </a:pPr>
                      <a:r>
                        <a:t>Báo giá Robot:</a:t>
                      </a:r>
                      <a:br/>
                      <a:r>
                        <a:t>650.000.000 VNĐ</a:t>
                      </a:r>
                      <a:br/>
                      <a:r>
                        <a:t>(25.000,00 USD)</a:t>
                      </a:r>
                      <a:br/>
                      <a:r>
                        <a:t>-&gt; Chuyển sang dùng DP (No.25)</a:t>
                      </a:r>
                    </a:p>
                  </a:txBody>
                  <a:tcPr anchor="ctr" marL="45720" marR="45720" marT="18288" marB="18288">
                    <a:solidFill>
                      <a:srgbClr val="E8EEF5"/>
                    </a:solidFill>
                  </a:tcPr>
                </a:tc>
                <a:tc>
                  <a:txBody>
                    <a:bodyPr/>
                    <a:lstStyle/>
                    <a:p>
                      <a:pPr algn="l">
                        <a:defRPr sz="710">
                          <a:solidFill>
                            <a:srgbClr val="1E242B"/>
                          </a:solidFill>
                          <a:latin typeface="Arial"/>
                        </a:defRPr>
                      </a:pPr>
                      <a:r>
                        <a:t>Đang thiết kế / thử nghiệm quét bằng DP</a:t>
                      </a:r>
                    </a:p>
                  </a:txBody>
                  <a:tcPr anchor="ctr" marL="45720" marR="45720" marT="18288" marB="18288">
                    <a:solidFill>
                      <a:srgbClr val="E8EEF5"/>
                    </a:solidFill>
                  </a:tcPr>
                </a:tc>
              </a:tr>
              <a:tr h="577378">
                <a:tc>
                  <a:txBody>
                    <a:bodyPr/>
                    <a:lstStyle/>
                    <a:p>
                      <a:pPr algn="ctr">
                        <a:defRPr sz="710" b="1">
                          <a:solidFill>
                            <a:srgbClr val="1E242B"/>
                          </a:solidFill>
                          <a:latin typeface="Arial"/>
                        </a:defRPr>
                      </a:pPr>
                      <a:r>
                        <a:t>No.24</a:t>
                      </a:r>
                      <a:br/>
                      <a:r>
                        <a:t>(K4 -&gt; A-2)</a:t>
                      </a:r>
                    </a:p>
                  </a:txBody>
                  <a:tcPr anchor="ctr" marL="45720" marR="45720" marT="18288" marB="18288">
                    <a:solidFill>
                      <a:srgbClr val="E8EEF5"/>
                    </a:solidFill>
                  </a:tcPr>
                </a:tc>
                <a:tc>
                  <a:txBody>
                    <a:bodyPr/>
                    <a:lstStyle/>
                    <a:p>
                      <a:pPr algn="l">
                        <a:defRPr sz="710">
                          <a:solidFill>
                            <a:srgbClr val="1E242B"/>
                          </a:solidFill>
                          <a:latin typeface="Arial"/>
                        </a:defRPr>
                      </a:pPr>
                      <a:r>
                        <a:t>Tự động hóa kiểm tra nhận diện USB và kiểm tra tọa độ cảm ứng U201 trên Panel</a:t>
                      </a:r>
                    </a:p>
                  </a:txBody>
                  <a:tcPr anchor="ctr" marL="45720" marR="45720" marT="18288" marB="18288">
                    <a:solidFill>
                      <a:srgbClr val="E8EEF5"/>
                    </a:solidFill>
                  </a:tcPr>
                </a:tc>
                <a:tc>
                  <a:txBody>
                    <a:bodyPr/>
                    <a:lstStyle/>
                    <a:p>
                      <a:pPr algn="l">
                        <a:defRPr sz="710">
                          <a:solidFill>
                            <a:srgbClr val="1E242B"/>
                          </a:solidFill>
                          <a:latin typeface="Arial"/>
                        </a:defRPr>
                      </a:pPr>
                      <a:r>
                        <a:t>Người thao tác cắm/rút USB để kiểm tra nhận biết cổng (15s) và dùng bút chấm 3 điểm tọa độ U201 trên màn hình cảm ứng (15s) = 30s/máy.</a:t>
                      </a:r>
                    </a:p>
                  </a:txBody>
                  <a:tcPr anchor="ctr" marL="45720" marR="45720" marT="18288" marB="18288">
                    <a:solidFill>
                      <a:srgbClr val="E8EEF5"/>
                    </a:solidFill>
                  </a:tcPr>
                </a:tc>
                <a:tc>
                  <a:txBody>
                    <a:bodyPr/>
                    <a:lstStyle/>
                    <a:p>
                      <a:pPr algn="l">
                        <a:defRPr sz="710">
                          <a:solidFill>
                            <a:srgbClr val="1E242B"/>
                          </a:solidFill>
                          <a:latin typeface="Arial"/>
                        </a:defRPr>
                      </a:pPr>
                      <a:r>
                        <a:t>• Phương án ban đầu (trong VN提案.xlsx): Đầu tư Robot cắm USB + Camera đánh giá Panel và Robot chấm tọa độ U201 với giá 104 triệu VNĐ (4.000 USD).</a:t>
                      </a:r>
                      <a:br/>
                      <a:r>
                        <a:t>• Phương án tối ưu sau DR4: Hủy đầu tư Robot 4.000 USD; lấy kết quả nạp FW bằng USB ở A-1 làm bảo chứng cho cổng USB (JP No.6) và dùng Host PC tự động đọc log tọa độ U201 từ cụm Panel Assy (JP No.3).</a:t>
                      </a:r>
                    </a:p>
                  </a:txBody>
                  <a:tcPr anchor="ctr" marL="45720" marR="45720" marT="18288" marB="18288">
                    <a:solidFill>
                      <a:srgbClr val="E8EEF5"/>
                    </a:solidFill>
                  </a:tcPr>
                </a:tc>
                <a:tc>
                  <a:txBody>
                    <a:bodyPr/>
                    <a:lstStyle/>
                    <a:p>
                      <a:pPr algn="l">
                        <a:defRPr sz="710">
                          <a:solidFill>
                            <a:srgbClr val="1E242B"/>
                          </a:solidFill>
                          <a:latin typeface="Arial"/>
                        </a:defRPr>
                      </a:pPr>
                      <a:r>
                        <a:t>• Giảm 30,00 s/máy</a:t>
                      </a:r>
                      <a:br/>
                      <a:r>
                        <a:t>• Tiết kiệm: 29.600.000 VNĐ/năm (1.138,46 USD/năm)</a:t>
                      </a:r>
                    </a:p>
                  </a:txBody>
                  <a:tcPr anchor="ctr" marL="45720" marR="45720" marT="18288" marB="18288">
                    <a:solidFill>
                      <a:srgbClr val="E8EEF5"/>
                    </a:solidFill>
                  </a:tcPr>
                </a:tc>
                <a:tc>
                  <a:txBody>
                    <a:bodyPr/>
                    <a:lstStyle/>
                    <a:p>
                      <a:pPr algn="ctr">
                        <a:defRPr sz="710">
                          <a:solidFill>
                            <a:srgbClr val="1E242B"/>
                          </a:solidFill>
                          <a:latin typeface="Arial"/>
                        </a:defRPr>
                      </a:pPr>
                      <a:r>
                        <a:t>Báo giá Robot:</a:t>
                      </a:r>
                      <a:br/>
                      <a:r>
                        <a:t>104.000.000 VNĐ</a:t>
                      </a:r>
                      <a:br/>
                      <a:r>
                        <a:t>(4.000,00 USD)</a:t>
                      </a:r>
                      <a:br/>
                      <a:r>
                        <a:t>-&gt; Thay bằng Host PC (0 đồng TB)</a:t>
                      </a:r>
                    </a:p>
                  </a:txBody>
                  <a:tcPr anchor="ctr" marL="45720" marR="45720" marT="18288" marB="18288">
                    <a:solidFill>
                      <a:srgbClr val="E8EEF5"/>
                    </a:solidFill>
                  </a:tcPr>
                </a:tc>
                <a:tc>
                  <a:txBody>
                    <a:bodyPr/>
                    <a:lstStyle/>
                    <a:p>
                      <a:pPr algn="l">
                        <a:defRPr sz="710">
                          <a:solidFill>
                            <a:srgbClr val="1E242B"/>
                          </a:solidFill>
                          <a:latin typeface="Arial"/>
                        </a:defRPr>
                      </a:pPr>
                      <a:r>
                        <a:t>Đã duyệt xóa bấm tay U201; chuyển sang đọc log Host PC</a:t>
                      </a:r>
                    </a:p>
                  </a:txBody>
                  <a:tcPr anchor="ctr" marL="45720" marR="45720" marT="18288" marB="18288">
                    <a:solidFill>
                      <a:srgbClr val="E8EEF5"/>
                    </a:solidFill>
                  </a:tcPr>
                </a:tc>
              </a:tr>
              <a:tr h="577378">
                <a:tc>
                  <a:txBody>
                    <a:bodyPr/>
                    <a:lstStyle/>
                    <a:p>
                      <a:pPr algn="ctr">
                        <a:defRPr sz="710" b="1">
                          <a:solidFill>
                            <a:srgbClr val="1E242B"/>
                          </a:solidFill>
                          <a:latin typeface="Arial"/>
                        </a:defRPr>
                      </a:pPr>
                      <a:r>
                        <a:t>No.25</a:t>
                      </a:r>
                      <a:br/>
                      <a:r>
                        <a:t>(K4/K5 -&gt; A-2)</a:t>
                      </a:r>
                    </a:p>
                  </a:txBody>
                  <a:tcPr anchor="ctr" marL="45720" marR="45720" marT="18288" marB="18288">
                    <a:solidFill>
                      <a:srgbClr val="EAF7EE"/>
                    </a:solidFill>
                  </a:tcPr>
                </a:tc>
                <a:tc>
                  <a:txBody>
                    <a:bodyPr/>
                    <a:lstStyle/>
                    <a:p>
                      <a:pPr algn="l">
                        <a:defRPr sz="710">
                          <a:solidFill>
                            <a:srgbClr val="1E242B"/>
                          </a:solidFill>
                          <a:latin typeface="Arial"/>
                        </a:defRPr>
                      </a:pPr>
                      <a:r>
                        <a:t>Lắp thêm khay nạp bản gốc (DP) vào máy thực nghiệm để quét liên tục &amp; PC tự chấm điểm</a:t>
                      </a:r>
                    </a:p>
                  </a:txBody>
                  <a:tcPr anchor="ctr" marL="45720" marR="45720" marT="18288" marB="18288">
                    <a:solidFill>
                      <a:srgbClr val="EAF7EE"/>
                    </a:solidFill>
                  </a:tcPr>
                </a:tc>
                <a:tc>
                  <a:txBody>
                    <a:bodyPr/>
                    <a:lstStyle/>
                    <a:p>
                      <a:pPr algn="l">
                        <a:defRPr sz="710">
                          <a:solidFill>
                            <a:srgbClr val="1E242B"/>
                          </a:solidFill>
                          <a:latin typeface="Arial"/>
                        </a:defRPr>
                      </a:pPr>
                      <a:r>
                        <a:t>Tại K5 (6 người, 705s), người thao tác phải đặt từng tờ in kiểm tra lên mặt kính máy thực nghiệm để quét và nhìn màn hình phán định.</a:t>
                      </a:r>
                    </a:p>
                  </a:txBody>
                  <a:tcPr anchor="ctr" marL="45720" marR="45720" marT="18288" marB="18288">
                    <a:solidFill>
                      <a:srgbClr val="EAF7EE"/>
                    </a:solidFill>
                  </a:tcPr>
                </a:tc>
                <a:tc>
                  <a:txBody>
                    <a:bodyPr/>
                    <a:lstStyle/>
                    <a:p>
                      <a:pPr algn="l">
                        <a:defRPr sz="710">
                          <a:solidFill>
                            <a:srgbClr val="1E242B"/>
                          </a:solidFill>
                          <a:latin typeface="Arial"/>
                        </a:defRPr>
                      </a:pPr>
                      <a:r>
                        <a:t>Lắp bổ sung bộ nạp bản gốc tự động (DP) lên các máy thực nghiệm (検査実機); đặt cả xấp bản in kiểm tra vào khay DP để máy tự kéo giấy quét liên tục, gửi ảnh về phần mềm PC tự động chấm điểm OK/NG.</a:t>
                      </a:r>
                    </a:p>
                  </a:txBody>
                  <a:tcPr anchor="ctr" marL="45720" marR="45720" marT="18288" marB="18288">
                    <a:solidFill>
                      <a:srgbClr val="EAF7EE"/>
                    </a:solidFill>
                  </a:tcPr>
                </a:tc>
                <a:tc>
                  <a:txBody>
                    <a:bodyPr/>
                    <a:lstStyle/>
                    <a:p>
                      <a:pPr algn="l">
                        <a:defRPr sz="710">
                          <a:solidFill>
                            <a:srgbClr val="1E242B"/>
                          </a:solidFill>
                          <a:latin typeface="Arial"/>
                        </a:defRPr>
                      </a:pPr>
                      <a:r>
                        <a:t>• Giảm 110,00 s/máy đặt bản thảo và rút ngắn mạnh thời gian trạm K5 (6 người)</a:t>
                      </a:r>
                      <a:br/>
                      <a:r>
                        <a:t>• Không phải mở rộng 2 cell băng tải</a:t>
                      </a:r>
                    </a:p>
                  </a:txBody>
                  <a:tcPr anchor="ctr" marL="45720" marR="45720" marT="18288" marB="18288">
                    <a:solidFill>
                      <a:srgbClr val="EAF7EE"/>
                    </a:solidFill>
                  </a:tcPr>
                </a:tc>
                <a:tc>
                  <a:txBody>
                    <a:bodyPr/>
                    <a:lstStyle/>
                    <a:p>
                      <a:pPr algn="ctr">
                        <a:defRPr sz="710">
                          <a:solidFill>
                            <a:srgbClr val="1E242B"/>
                          </a:solidFill>
                          <a:latin typeface="Arial"/>
                        </a:defRPr>
                      </a:pPr>
                      <a:r>
                        <a:t>Đang kiểm chứng /</a:t>
                      </a:r>
                      <a:br/>
                      <a:r>
                        <a:t>Đang báo giá</a:t>
                      </a:r>
                    </a:p>
                  </a:txBody>
                  <a:tcPr anchor="ctr" marL="45720" marR="45720" marT="18288" marB="18288">
                    <a:solidFill>
                      <a:srgbClr val="EAF7EE"/>
                    </a:solidFill>
                  </a:tcPr>
                </a:tc>
                <a:tc>
                  <a:txBody>
                    <a:bodyPr/>
                    <a:lstStyle/>
                    <a:p>
                      <a:pPr algn="l">
                        <a:defRPr sz="710">
                          <a:solidFill>
                            <a:srgbClr val="1E242B"/>
                          </a:solidFill>
                          <a:latin typeface="Arial"/>
                        </a:defRPr>
                      </a:pPr>
                      <a:r>
                        <a:t>Đang thực nghiệm so sánh độ nét giữa DP và kính phẳng ISU</a:t>
                      </a:r>
                    </a:p>
                  </a:txBody>
                  <a:tcPr anchor="ctr" marL="45720" marR="45720" marT="18288" marB="18288">
                    <a:solidFill>
                      <a:srgbClr val="EAF7EE"/>
                    </a:solidFill>
                  </a:tcPr>
                </a:tc>
              </a:tr>
              <a:tr h="577378">
                <a:tc>
                  <a:txBody>
                    <a:bodyPr/>
                    <a:lstStyle/>
                    <a:p>
                      <a:pPr algn="ctr">
                        <a:defRPr sz="710" b="1">
                          <a:solidFill>
                            <a:srgbClr val="1E242B"/>
                          </a:solidFill>
                          <a:latin typeface="Arial"/>
                        </a:defRPr>
                      </a:pPr>
                      <a:r>
                        <a:t>No.26</a:t>
                      </a:r>
                      <a:br/>
                      <a:r>
                        <a:t>(K6 -&gt; A-3)</a:t>
                      </a:r>
                    </a:p>
                  </a:txBody>
                  <a:tcPr anchor="ctr" marL="45720" marR="45720" marT="18288" marB="18288">
                    <a:solidFill>
                      <a:srgbClr val="FEF7E6"/>
                    </a:solidFill>
                  </a:tcPr>
                </a:tc>
                <a:tc>
                  <a:txBody>
                    <a:bodyPr/>
                    <a:lstStyle/>
                    <a:p>
                      <a:pPr algn="l">
                        <a:defRPr sz="710">
                          <a:solidFill>
                            <a:srgbClr val="1E242B"/>
                          </a:solidFill>
                          <a:latin typeface="Arial"/>
                        </a:defRPr>
                      </a:pPr>
                      <a:r>
                        <a:t>Phát triển phần mềm AI tự động phân tích âm thanh lạ và kiểm tra nhiệt độ bất thường</a:t>
                      </a:r>
                    </a:p>
                  </a:txBody>
                  <a:tcPr anchor="ctr" marL="45720" marR="45720" marT="18288" marB="18288">
                    <a:solidFill>
                      <a:srgbClr val="FEF7E6"/>
                    </a:solidFill>
                  </a:tcPr>
                </a:tc>
                <a:tc>
                  <a:txBody>
                    <a:bodyPr/>
                    <a:lstStyle/>
                    <a:p>
                      <a:pPr algn="l">
                        <a:defRPr sz="710">
                          <a:solidFill>
                            <a:srgbClr val="1E242B"/>
                          </a:solidFill>
                          <a:latin typeface="Arial"/>
                        </a:defRPr>
                      </a:pPr>
                      <a:r>
                        <a:t>Người thao tác đứng trong buồng cách âm nghe tiếng kêu lạ bằng tai (tăng giảm áp Fuser, quạt FAN, cụm thao tác, MPF/DU = 40s tại K6).</a:t>
                      </a:r>
                    </a:p>
                  </a:txBody>
                  <a:tcPr anchor="ctr" marL="45720" marR="45720" marT="18288" marB="18288">
                    <a:solidFill>
                      <a:srgbClr val="FEF7E6"/>
                    </a:solidFill>
                  </a:tcPr>
                </a:tc>
                <a:tc>
                  <a:txBody>
                    <a:bodyPr/>
                    <a:lstStyle/>
                    <a:p>
                      <a:pPr algn="l">
                        <a:defRPr sz="710">
                          <a:solidFill>
                            <a:srgbClr val="1E242B"/>
                          </a:solidFill>
                          <a:latin typeface="Arial"/>
                        </a:defRPr>
                      </a:pPr>
                      <a:r>
                        <a:t>Trang bị buồng thu âm, microphone độ nhạy cao và mô hình AI phân tích phổ âm thanh kết hợp camera nhiệt. Do chi phí đầu tư ban đầu lớn (~600 vạn JPY / 40.000 USD), xếp vào đề tài nghiên cứu dài hạn 2026-2030.</a:t>
                      </a:r>
                    </a:p>
                  </a:txBody>
                  <a:tcPr anchor="ctr" marL="45720" marR="45720" marT="18288" marB="18288">
                    <a:solidFill>
                      <a:srgbClr val="FEF7E6"/>
                    </a:solidFill>
                  </a:tcPr>
                </a:tc>
                <a:tc>
                  <a:txBody>
                    <a:bodyPr/>
                    <a:lstStyle/>
                    <a:p>
                      <a:pPr algn="l">
                        <a:defRPr sz="710">
                          <a:solidFill>
                            <a:srgbClr val="1E242B"/>
                          </a:solidFill>
                          <a:latin typeface="Arial"/>
                        </a:defRPr>
                      </a:pPr>
                      <a:r>
                        <a:t>• Kỳ vọng dài hạn: Giảm 40,00 s/máy và chuẩn hóa tiêu chuẩn nghe âm thanh</a:t>
                      </a:r>
                    </a:p>
                  </a:txBody>
                  <a:tcPr anchor="ctr" marL="45720" marR="45720" marT="18288" marB="18288">
                    <a:solidFill>
                      <a:srgbClr val="FEF7E6"/>
                    </a:solidFill>
                  </a:tcPr>
                </a:tc>
                <a:tc>
                  <a:txBody>
                    <a:bodyPr/>
                    <a:lstStyle/>
                    <a:p>
                      <a:pPr algn="ctr">
                        <a:defRPr sz="710">
                          <a:solidFill>
                            <a:srgbClr val="1E242B"/>
                          </a:solidFill>
                          <a:latin typeface="Arial"/>
                        </a:defRPr>
                      </a:pPr>
                      <a:r>
                        <a:t>Dự kiến ~600 vạn JPY</a:t>
                      </a:r>
                      <a:br/>
                      <a:r>
                        <a:t>(~40.000 USD)</a:t>
                      </a:r>
                      <a:br/>
                      <a:r>
                        <a:t>[Nghiên cứu 2026-2030]</a:t>
                      </a:r>
                    </a:p>
                  </a:txBody>
                  <a:tcPr anchor="ctr" marL="45720" marR="45720" marT="18288" marB="18288">
                    <a:solidFill>
                      <a:srgbClr val="FEF7E6"/>
                    </a:solidFill>
                  </a:tcPr>
                </a:tc>
                <a:tc>
                  <a:txBody>
                    <a:bodyPr/>
                    <a:lstStyle/>
                    <a:p>
                      <a:pPr algn="l">
                        <a:defRPr sz="710">
                          <a:solidFill>
                            <a:srgbClr val="1E242B"/>
                          </a:solidFill>
                          <a:latin typeface="Arial"/>
                        </a:defRPr>
                      </a:pPr>
                      <a:r>
                        <a:t>Chuyển sang đề tài nghiên cứu dài hạn (2026-2030)</a:t>
                      </a:r>
                    </a:p>
                  </a:txBody>
                  <a:tcPr anchor="ctr" marL="45720" marR="45720" marT="18288" marB="18288">
                    <a:solidFill>
                      <a:srgbClr val="FEF7E6"/>
                    </a:solidFill>
                  </a:tcPr>
                </a:tc>
              </a:tr>
              <a:tr h="577378">
                <a:tc>
                  <a:txBody>
                    <a:bodyPr/>
                    <a:lstStyle/>
                    <a:p>
                      <a:pPr algn="ctr">
                        <a:defRPr sz="710" b="1">
                          <a:solidFill>
                            <a:srgbClr val="1E242B"/>
                          </a:solidFill>
                          <a:latin typeface="Arial"/>
                        </a:defRPr>
                      </a:pPr>
                      <a:r>
                        <a:t>No.27</a:t>
                      </a:r>
                      <a:br/>
                      <a:r>
                        <a:t>(K6, K7 -&gt; A-3)</a:t>
                      </a:r>
                    </a:p>
                  </a:txBody>
                  <a:tcPr anchor="ctr" marL="45720" marR="45720" marT="18288" marB="18288">
                    <a:solidFill>
                      <a:srgbClr val="EAF7EE"/>
                    </a:solidFill>
                  </a:tcPr>
                </a:tc>
                <a:tc>
                  <a:txBody>
                    <a:bodyPr/>
                    <a:lstStyle/>
                    <a:p>
                      <a:pPr algn="l">
                        <a:defRPr sz="710">
                          <a:solidFill>
                            <a:srgbClr val="1E242B"/>
                          </a:solidFill>
                          <a:latin typeface="Arial"/>
                        </a:defRPr>
                      </a:pPr>
                      <a:r>
                        <a:t>Phát triển cụm Camera công nghiệp HIKROBOT đo nồng độ màu, đo lề bản in &amp; quét PPT</a:t>
                      </a:r>
                    </a:p>
                  </a:txBody>
                  <a:tcPr anchor="ctr" marL="45720" marR="45720" marT="18288" marB="18288">
                    <a:solidFill>
                      <a:srgbClr val="EAF7EE"/>
                    </a:solidFill>
                  </a:tcPr>
                </a:tc>
                <a:tc>
                  <a:txBody>
                    <a:bodyPr/>
                    <a:lstStyle/>
                    <a:p>
                      <a:pPr algn="l">
                        <a:defRPr sz="710">
                          <a:solidFill>
                            <a:srgbClr val="1E242B"/>
                          </a:solidFill>
                          <a:latin typeface="Arial"/>
                        </a:defRPr>
                      </a:pPr>
                      <a:r>
                        <a:t>Người thao tác dùng máy đo cầm tay đo nồng độ 3 tờ (Check Black 45s + Check Color 112s + DC-1 35s = 192s), dùng thước đo lề (28s) và soi kính lúp kiểm tra chấm vàng PPT tờ GY (10s) = 230s/máy.</a:t>
                      </a:r>
                    </a:p>
                  </a:txBody>
                  <a:tcPr anchor="ctr" marL="45720" marR="45720" marT="18288" marB="18288">
                    <a:solidFill>
                      <a:srgbClr val="EAF7EE"/>
                    </a:solidFill>
                  </a:tcPr>
                </a:tc>
                <a:tc>
                  <a:txBody>
                    <a:bodyPr/>
                    <a:lstStyle/>
                    <a:p>
                      <a:pPr algn="l">
                        <a:defRPr sz="710">
                          <a:solidFill>
                            <a:srgbClr val="1E242B"/>
                          </a:solidFill>
                          <a:latin typeface="Arial"/>
                        </a:defRPr>
                      </a:pPr>
                      <a:r>
                        <a:t>Xây dựng buồng chụp dùng Camera công nghiệp HIKROBOT: Chụp và phân tích nồng độ 3 tờ chỉ mất 15s (5s/tờ -&gt; giảm 177s/máy); tích hợp thuật toán tự động đo lề (-28s). Riêng mục chấm vàng siêu nhỏ PPT tạm giữ máy quét tiêu chuẩn ở giai đoạn 1.</a:t>
                      </a:r>
                    </a:p>
                  </a:txBody>
                  <a:tcPr anchor="ctr" marL="45720" marR="45720" marT="18288" marB="18288">
                    <a:solidFill>
                      <a:srgbClr val="EAF7EE"/>
                    </a:solidFill>
                  </a:tcPr>
                </a:tc>
                <a:tc>
                  <a:txBody>
                    <a:bodyPr/>
                    <a:lstStyle/>
                    <a:p>
                      <a:pPr algn="l">
                        <a:defRPr sz="710">
                          <a:solidFill>
                            <a:srgbClr val="1E242B"/>
                          </a:solidFill>
                          <a:latin typeface="Arial"/>
                        </a:defRPr>
                      </a:pPr>
                      <a:r>
                        <a:t>• Giảm 177,00 s/máy (riêng đo nồng độ: từ 192s xuống 15s)</a:t>
                      </a:r>
                      <a:br/>
                      <a:r>
                        <a:t>• Giảm tới 205s~215s/máy khi gộp đo lề</a:t>
                      </a:r>
                      <a:br/>
                      <a:r>
                        <a:t>• Giảm ~2 người thao tác cụm Hình ảnh</a:t>
                      </a:r>
                    </a:p>
                  </a:txBody>
                  <a:tcPr anchor="ctr" marL="45720" marR="45720" marT="18288" marB="18288">
                    <a:solidFill>
                      <a:srgbClr val="EAF7EE"/>
                    </a:solidFill>
                  </a:tcPr>
                </a:tc>
                <a:tc>
                  <a:txBody>
                    <a:bodyPr/>
                    <a:lstStyle/>
                    <a:p>
                      <a:pPr algn="ctr">
                        <a:defRPr sz="710">
                          <a:solidFill>
                            <a:srgbClr val="1E242B"/>
                          </a:solidFill>
                          <a:latin typeface="Arial"/>
                        </a:defRPr>
                      </a:pPr>
                      <a:r>
                        <a:t>Đang báo giá</a:t>
                      </a:r>
                    </a:p>
                  </a:txBody>
                  <a:tcPr anchor="ctr" marL="45720" marR="45720" marT="18288" marB="18288">
                    <a:solidFill>
                      <a:srgbClr val="EAF7EE"/>
                    </a:solidFill>
                  </a:tcPr>
                </a:tc>
                <a:tc>
                  <a:txBody>
                    <a:bodyPr/>
                    <a:lstStyle/>
                    <a:p>
                      <a:pPr algn="l">
                        <a:defRPr sz="710">
                          <a:solidFill>
                            <a:srgbClr val="1E242B"/>
                          </a:solidFill>
                          <a:latin typeface="Arial"/>
                        </a:defRPr>
                      </a:pPr>
                      <a:r>
                        <a:t>Đang thiết kế &amp; thử nghiệm module đo nồng độ + đo lề trước</a:t>
                      </a:r>
                    </a:p>
                  </a:txBody>
                  <a:tcPr anchor="ctr" marL="45720" marR="45720" marT="18288" marB="18288">
                    <a:solidFill>
                      <a:srgbClr val="EAF7EE"/>
                    </a:solidFill>
                  </a:tcPr>
                </a:tc>
              </a:tr>
              <a:tr h="577380">
                <a:tc>
                  <a:txBody>
                    <a:bodyPr/>
                    <a:lstStyle/>
                    <a:p>
                      <a:pPr algn="ctr">
                        <a:defRPr sz="710" b="1">
                          <a:solidFill>
                            <a:srgbClr val="1E242B"/>
                          </a:solidFill>
                          <a:latin typeface="Arial"/>
                        </a:defRPr>
                      </a:pPr>
                      <a:r>
                        <a:t>No.28</a:t>
                      </a:r>
                      <a:br/>
                      <a:r>
                        <a:t>(K8 -&gt; A-4)</a:t>
                      </a:r>
                    </a:p>
                  </a:txBody>
                  <a:tcPr anchor="ctr" marL="45720" marR="45720" marT="18288" marB="18288">
                    <a:solidFill>
                      <a:srgbClr val="EAF7EE"/>
                    </a:solidFill>
                  </a:tcPr>
                </a:tc>
                <a:tc>
                  <a:txBody>
                    <a:bodyPr/>
                    <a:lstStyle/>
                    <a:p>
                      <a:pPr algn="l">
                        <a:defRPr sz="710">
                          <a:solidFill>
                            <a:srgbClr val="1E242B"/>
                          </a:solidFill>
                          <a:latin typeface="Arial"/>
                        </a:defRPr>
                      </a:pPr>
                      <a:r>
                        <a:t>Tự động hóa thiết lập xuất hàng qua mạng &amp; Ứng dụng AI phân tích video thao tác</a:t>
                      </a:r>
                    </a:p>
                  </a:txBody>
                  <a:tcPr anchor="ctr" marL="45720" marR="45720" marT="18288" marB="18288">
                    <a:solidFill>
                      <a:srgbClr val="EAF7EE"/>
                    </a:solidFill>
                  </a:tcPr>
                </a:tc>
                <a:tc>
                  <a:txBody>
                    <a:bodyPr/>
                    <a:lstStyle/>
                    <a:p>
                      <a:pPr algn="l">
                        <a:defRPr sz="710">
                          <a:solidFill>
                            <a:srgbClr val="1E242B"/>
                          </a:solidFill>
                          <a:latin typeface="Arial"/>
                        </a:defRPr>
                      </a:pPr>
                      <a:r>
                        <a:t>Người thao tác cắm USB, quét barcode và bấm xác nhận thiết lập xuất hàng thủ công (130s/máy tại K8).</a:t>
                      </a:r>
                    </a:p>
                  </a:txBody>
                  <a:tcPr anchor="ctr" marL="45720" marR="45720" marT="18288" marB="18288">
                    <a:solidFill>
                      <a:srgbClr val="EAF7EE"/>
                    </a:solidFill>
                  </a:tcPr>
                </a:tc>
                <a:tc>
                  <a:txBody>
                    <a:bodyPr/>
                    <a:lstStyle/>
                    <a:p>
                      <a:pPr algn="l">
                        <a:defRPr sz="710">
                          <a:solidFill>
                            <a:srgbClr val="1E242B"/>
                          </a:solidFill>
                          <a:latin typeface="Arial"/>
                        </a:defRPr>
                      </a:pPr>
                      <a:r>
                        <a:t>Tự động gửi lệnh thiết lập xuất hàng (FinalSetup) từ Host PC qua mạng nội bộ (-50s/máy); đồng thời dùng phần mềm AI phân tích video quay thao tác thực tế trên chuyền để bóc tách thời gian chờ và động tác thừa.</a:t>
                      </a:r>
                    </a:p>
                  </a:txBody>
                  <a:tcPr anchor="ctr" marL="45720" marR="45720" marT="18288" marB="18288">
                    <a:solidFill>
                      <a:srgbClr val="EAF7EE"/>
                    </a:solidFill>
                  </a:tcPr>
                </a:tc>
                <a:tc>
                  <a:txBody>
                    <a:bodyPr/>
                    <a:lstStyle/>
                    <a:p>
                      <a:pPr algn="l">
                        <a:defRPr sz="710">
                          <a:solidFill>
                            <a:srgbClr val="1E242B"/>
                          </a:solidFill>
                          <a:latin typeface="Arial"/>
                        </a:defRPr>
                      </a:pPr>
                      <a:r>
                        <a:t>• Giảm 50,00 s/máy tại trạm xuất hàng A-4</a:t>
                      </a:r>
                      <a:br/>
                      <a:r>
                        <a:t>• Cung cấp dữ liệu video khách quan cho toàn bộ đề án</a:t>
                      </a:r>
                    </a:p>
                  </a:txBody>
                  <a:tcPr anchor="ctr" marL="45720" marR="45720" marT="18288" marB="18288">
                    <a:solidFill>
                      <a:srgbClr val="EAF7EE"/>
                    </a:solidFill>
                  </a:tcPr>
                </a:tc>
                <a:tc>
                  <a:txBody>
                    <a:bodyPr/>
                    <a:lstStyle/>
                    <a:p>
                      <a:pPr algn="ctr">
                        <a:defRPr sz="710">
                          <a:solidFill>
                            <a:srgbClr val="1E242B"/>
                          </a:solidFill>
                          <a:latin typeface="Arial"/>
                        </a:defRPr>
                      </a:pPr>
                      <a:r>
                        <a:t>Đang báo giá</a:t>
                      </a:r>
                    </a:p>
                  </a:txBody>
                  <a:tcPr anchor="ctr" marL="45720" marR="45720" marT="18288" marB="18288">
                    <a:solidFill>
                      <a:srgbClr val="EAF7EE"/>
                    </a:solidFill>
                  </a:tcPr>
                </a:tc>
                <a:tc>
                  <a:txBody>
                    <a:bodyPr/>
                    <a:lstStyle/>
                    <a:p>
                      <a:pPr algn="l">
                        <a:defRPr sz="710">
                          <a:solidFill>
                            <a:srgbClr val="1E242B"/>
                          </a:solidFill>
                          <a:latin typeface="Arial"/>
                        </a:defRPr>
                      </a:pPr>
                      <a:r>
                        <a:t>Đang triển khai quay video phân tích &amp; tích hợp lệnh mạng</a:t>
                      </a:r>
                    </a:p>
                  </a:txBody>
                  <a:tcPr anchor="ctr" marL="45720" marR="45720" marT="18288" marB="18288">
                    <a:solidFill>
                      <a:srgbClr val="EAF7EE"/>
                    </a:solidFill>
                  </a:tcPr>
                </a:tc>
              </a:tr>
            </a:tbl>
          </a:graphicData>
        </a:graphic>
      </p:graphicFrame>
      <p:sp>
        <p:nvSpPr>
          <p:cNvPr id="8" name="Rectangle 7"/>
          <p:cNvSpPr/>
          <p:nvPr/>
        </p:nvSpPr>
        <p:spPr>
          <a:xfrm>
            <a:off x="256032" y="5285232"/>
            <a:ext cx="11679631" cy="1234440"/>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5285232"/>
            <a:ext cx="11679631" cy="30175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19" b="1">
                <a:solidFill>
                  <a:srgbClr val="FFFFFF"/>
                </a:solidFill>
                <a:latin typeface="Arial"/>
              </a:defRPr>
            </a:pPr>
            <a:r>
              <a:t>TỔNG HỢP DỰ TOÁN 3 ĐỀ ÁN TRONG IRIS EXPのVN提案.xlsx VÀ PHƯƠNG ÁN ĐẦU TƯ HIỆU QUẢ</a:t>
            </a:r>
          </a:p>
        </p:txBody>
      </p:sp>
      <p:sp>
        <p:nvSpPr>
          <p:cNvPr id="10" name="TextBox 9"/>
          <p:cNvSpPr txBox="1"/>
          <p:nvPr/>
        </p:nvSpPr>
        <p:spPr>
          <a:xfrm>
            <a:off x="329184" y="5605272"/>
            <a:ext cx="11533327" cy="886968"/>
          </a:xfrm>
          <a:prstGeom prst="rect">
            <a:avLst/>
          </a:prstGeom>
          <a:noFill/>
        </p:spPr>
        <p:txBody>
          <a:bodyPr wrap="square" lIns="36576" rIns="36576" tIns="18288" bIns="18288">
            <a:spAutoFit/>
          </a:bodyPr>
          <a:lstStyle/>
          <a:p>
            <a:pPr>
              <a:spcAft>
                <a:spcPts val="250"/>
              </a:spcAft>
              <a:defRPr sz="790">
                <a:solidFill>
                  <a:srgbClr val="1E242B"/>
                </a:solidFill>
                <a:latin typeface="Arial"/>
              </a:defRPr>
            </a:pPr>
            <a:r>
              <a:t>• Tổng 3 đề án có báo giá trong file Iris EXPのVN提案.xlsx: No.22 (101.690.000 VNĐ / 3.911,15 USD) + No.23 Robot ISU (650.000.000 VNĐ / 25.000 USD) + No.24 Robot USB/U201 (104.000.000 VNĐ / 4.000 USD) = 855.690.000 VNĐ (32.911,15 USD; làm tròn trên bảng tổng hợp là 33.000 USD / 858 triệu VNĐ), giúp giảm 170s/máy và tiết kiệm 167,73 triệu VNĐ/năm.</a:t>
            </a:r>
          </a:p>
          <a:p>
            <a:pPr>
              <a:spcAft>
                <a:spcPts val="250"/>
              </a:spcAft>
              <a:defRPr sz="790">
                <a:solidFill>
                  <a:srgbClr val="1E242B"/>
                </a:solidFill>
                <a:latin typeface="Arial"/>
              </a:defRPr>
            </a:pPr>
            <a:r>
              <a:t>• Đề xuất tối ưu chi phí sau DR4: Thay thế 2 đề án Robot đắt tiền (No.23 &amp; No.24 = 754 triệu VNĐ) bằng phương án tận dụng khay nạp DP (No.25) và đối chiếu log qua Host PC (JP No.3, No.6); nhờ đó đợt 1 chỉ cần phê duyệt trước Đề án No.22 là 101.690.000 VNĐ (3.911,15 USD) và tập trung ngân sách đợt 2 cho Camera đo nồng độ No.27 (-177s) cùng khay DP No.25 (-110s).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Arial"/>
              </a:defRPr>
            </a:pPr>
            <a:r>
              <a:t>4.4 ĐỀ ÁN VN BỔ SUNG</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Chi tiết 9 đề án Việt Nam bổ sung đợt 2 (No.29 ~ No.37) và Thực tích PDCA tháng 10/2026</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9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000" b="1">
                <a:solidFill>
                  <a:srgbClr val="0F203C"/>
                </a:solidFill>
                <a:latin typeface="Arial"/>
              </a:defRPr>
            </a:pPr>
            <a:r>
              <a:t>■ 9 đề án bổ sung (No.29 ~ No.37) tập trung vào cải tiến mạch/phần mềm tự chẩn đoán và gộp các tờ in kiểm tra (RCG Ledger, LSU Skew, Halftone U410, Mono) với chi phí thiết bị thấp; tháng 10/2026 đã xóa 4 bước thao tác trên SOP (-4,32s/máy).</a:t>
            </a:r>
          </a:p>
        </p:txBody>
      </p:sp>
      <p:graphicFrame>
        <p:nvGraphicFramePr>
          <p:cNvPr id="7" name="Table 6"/>
          <p:cNvGraphicFramePr>
            <a:graphicFrameLocks noGrp="1"/>
          </p:cNvGraphicFramePr>
          <p:nvPr/>
        </p:nvGraphicFramePr>
        <p:xfrm>
          <a:off x="256032" y="1170432"/>
          <a:ext cx="11679631" cy="5349240"/>
        </p:xfrm>
        <a:graphic>
          <a:graphicData uri="http://schemas.openxmlformats.org/drawingml/2006/table">
            <a:tbl>
              <a:tblPr firstRow="1" bandRow="1">
                <a:tableStyleId>{5C22544A-7EE6-4342-B048-85BDC9FD1C3A}</a:tableStyleId>
              </a:tblPr>
              <a:tblGrid>
                <a:gridCol w="868680"/>
                <a:gridCol w="2331720"/>
                <a:gridCol w="2423160"/>
                <a:gridCol w="2971800"/>
                <a:gridCol w="1508760"/>
                <a:gridCol w="1575511"/>
              </a:tblGrid>
              <a:tr h="486294">
                <a:tc>
                  <a:txBody>
                    <a:bodyPr/>
                    <a:lstStyle/>
                    <a:p>
                      <a:pPr algn="ctr">
                        <a:defRPr sz="740" b="1">
                          <a:solidFill>
                            <a:srgbClr val="FFFFFF"/>
                          </a:solidFill>
                          <a:latin typeface="Arial"/>
                        </a:defRPr>
                      </a:pPr>
                      <a:r>
                        <a:t>Mã đề án</a:t>
                      </a:r>
                      <a:br/>
                      <a:r>
                        <a:t>(Trạm)</a:t>
                      </a:r>
                    </a:p>
                  </a:txBody>
                  <a:tcPr anchor="ctr" marL="36576" marR="36576" marT="9144" marB="9144">
                    <a:solidFill>
                      <a:srgbClr val="1B365D"/>
                    </a:solidFill>
                  </a:tcPr>
                </a:tc>
                <a:tc>
                  <a:txBody>
                    <a:bodyPr/>
                    <a:lstStyle/>
                    <a:p>
                      <a:pPr algn="ctr">
                        <a:defRPr sz="740" b="1">
                          <a:solidFill>
                            <a:srgbClr val="FFFFFF"/>
                          </a:solidFill>
                          <a:latin typeface="Arial"/>
                        </a:defRPr>
                      </a:pPr>
                      <a:r>
                        <a:t>Tên đề án bổ sung của Việt Nam</a:t>
                      </a:r>
                    </a:p>
                  </a:txBody>
                  <a:tcPr anchor="ctr" marL="36576" marR="36576" marT="9144" marB="9144">
                    <a:solidFill>
                      <a:srgbClr val="1B365D"/>
                    </a:solidFill>
                  </a:tcPr>
                </a:tc>
                <a:tc>
                  <a:txBody>
                    <a:bodyPr/>
                    <a:lstStyle/>
                    <a:p>
                      <a:pPr algn="ctr">
                        <a:defRPr sz="740" b="1">
                          <a:solidFill>
                            <a:srgbClr val="FFFFFF"/>
                          </a:solidFill>
                          <a:latin typeface="Arial"/>
                        </a:defRPr>
                      </a:pPr>
                      <a:r>
                        <a:t>Hiện trạng trên Line Iris2024</a:t>
                      </a:r>
                      <a:br/>
                      <a:r>
                        <a:t>(Trong bảng thao tác &amp; bảng tổng hợp)</a:t>
                      </a:r>
                    </a:p>
                  </a:txBody>
                  <a:tcPr anchor="ctr" marL="36576" marR="36576" marT="9144" marB="9144">
                    <a:solidFill>
                      <a:srgbClr val="1B365D"/>
                    </a:solidFill>
                  </a:tcPr>
                </a:tc>
                <a:tc>
                  <a:txBody>
                    <a:bodyPr/>
                    <a:lstStyle/>
                    <a:p>
                      <a:pPr algn="ctr">
                        <a:defRPr sz="740" b="1">
                          <a:solidFill>
                            <a:srgbClr val="FFFFFF"/>
                          </a:solidFill>
                          <a:latin typeface="Arial"/>
                        </a:defRPr>
                      </a:pPr>
                      <a:r>
                        <a:t>Nội dung cải tiến &amp; Tích hợp lệnh / bản in</a:t>
                      </a:r>
                    </a:p>
                  </a:txBody>
                  <a:tcPr anchor="ctr" marL="36576" marR="36576" marT="9144" marB="9144">
                    <a:solidFill>
                      <a:srgbClr val="1B365D"/>
                    </a:solidFill>
                  </a:tcPr>
                </a:tc>
                <a:tc>
                  <a:txBody>
                    <a:bodyPr/>
                    <a:lstStyle/>
                    <a:p>
                      <a:pPr algn="ctr">
                        <a:defRPr sz="740" b="1">
                          <a:solidFill>
                            <a:srgbClr val="FFFFFF"/>
                          </a:solidFill>
                          <a:latin typeface="Arial"/>
                        </a:defRPr>
                      </a:pPr>
                      <a:r>
                        <a:t>Hiệu quả giảm TG</a:t>
                      </a:r>
                      <a:br/>
                      <a:r>
                        <a:t>&amp; Chi phí TB</a:t>
                      </a:r>
                    </a:p>
                  </a:txBody>
                  <a:tcPr anchor="ctr" marL="36576" marR="36576" marT="9144" marB="9144">
                    <a:solidFill>
                      <a:srgbClr val="1B365D"/>
                    </a:solidFill>
                  </a:tcPr>
                </a:tc>
                <a:tc>
                  <a:txBody>
                    <a:bodyPr/>
                    <a:lstStyle/>
                    <a:p>
                      <a:pPr algn="ctr">
                        <a:defRPr sz="740" b="1">
                          <a:solidFill>
                            <a:srgbClr val="FFFFFF"/>
                          </a:solidFill>
                          <a:latin typeface="Arial"/>
                        </a:defRPr>
                      </a:pPr>
                      <a:r>
                        <a:t>Bộ phận phối hợp</a:t>
                      </a:r>
                      <a:br/>
                      <a:r>
                        <a:t>&amp; Trạng thái</a:t>
                      </a:r>
                    </a:p>
                  </a:txBody>
                  <a:tcPr anchor="ctr" marL="36576" marR="36576" marT="9144" marB="9144">
                    <a:solidFill>
                      <a:srgbClr val="1B365D"/>
                    </a:solidFill>
                  </a:tcPr>
                </a:tc>
              </a:tr>
              <a:tr h="486294">
                <a:tc>
                  <a:txBody>
                    <a:bodyPr/>
                    <a:lstStyle/>
                    <a:p>
                      <a:pPr algn="ctr">
                        <a:defRPr sz="650" b="1">
                          <a:solidFill>
                            <a:srgbClr val="1E242B"/>
                          </a:solidFill>
                          <a:latin typeface="Arial"/>
                        </a:defRPr>
                      </a:pPr>
                      <a:r>
                        <a:t>No.29</a:t>
                      </a:r>
                      <a:br/>
                      <a:r>
                        <a:t>(A-1 / K1)</a:t>
                      </a:r>
                    </a:p>
                  </a:txBody>
                  <a:tcPr anchor="ctr" marL="36576" marR="36576" marT="9144" marB="9144">
                    <a:solidFill>
                      <a:srgbClr val="FFFFFF"/>
                    </a:solidFill>
                  </a:tcPr>
                </a:tc>
                <a:tc>
                  <a:txBody>
                    <a:bodyPr/>
                    <a:lstStyle/>
                    <a:p>
                      <a:pPr algn="l">
                        <a:defRPr sz="650">
                          <a:solidFill>
                            <a:srgbClr val="1E242B"/>
                          </a:solidFill>
                          <a:latin typeface="Arial"/>
                        </a:defRPr>
                      </a:pPr>
                      <a:r>
                        <a:t>A1: Cải tiến FW/bản mạch để tự động kiểm tra hộp mực (Toner Container)</a:t>
                      </a:r>
                    </a:p>
                  </a:txBody>
                  <a:tcPr anchor="ctr" marL="36576" marR="36576" marT="9144" marB="9144">
                    <a:solidFill>
                      <a:srgbClr val="FFFFFF"/>
                    </a:solidFill>
                  </a:tcPr>
                </a:tc>
                <a:tc>
                  <a:txBody>
                    <a:bodyPr/>
                    <a:lstStyle/>
                    <a:p>
                      <a:pPr algn="l">
                        <a:defRPr sz="650">
                          <a:solidFill>
                            <a:srgbClr val="1E242B"/>
                          </a:solidFill>
                          <a:latin typeface="Arial"/>
                        </a:defRPr>
                      </a:pPr>
                      <a:r>
                        <a:t>Khi kiểm tra đầu chuyền xuất hiện cảnh báo "The toner container is not properly installed", phải gắn/tháo đồ gá hộp mực thủ công (nằm trong cụm 55s tại K1).</a:t>
                      </a:r>
                    </a:p>
                  </a:txBody>
                  <a:tcPr anchor="ctr" marL="36576" marR="36576" marT="9144" marB="9144">
                    <a:solidFill>
                      <a:srgbClr val="FFFFFF"/>
                    </a:solidFill>
                  </a:tcPr>
                </a:tc>
                <a:tc>
                  <a:txBody>
                    <a:bodyPr/>
                    <a:lstStyle/>
                    <a:p>
                      <a:pPr algn="l">
                        <a:defRPr sz="650">
                          <a:solidFill>
                            <a:srgbClr val="1E242B"/>
                          </a:solidFill>
                          <a:latin typeface="Arial"/>
                        </a:defRPr>
                      </a:pPr>
                      <a:r>
                        <a:t>Kiến nghị bộ phận Thiết kế cải tiến phần mềm/bản mạch để tự động kiểm tra nhận diện hộp mực mà không cần gắn/tháo đồ gá thủ công.</a:t>
                      </a:r>
                    </a:p>
                  </a:txBody>
                  <a:tcPr anchor="ctr" marL="36576" marR="36576" marT="9144" marB="9144">
                    <a:solidFill>
                      <a:srgbClr val="FFFFFF"/>
                    </a:solidFill>
                  </a:tcPr>
                </a:tc>
                <a:tc>
                  <a:txBody>
                    <a:bodyPr/>
                    <a:lstStyle/>
                    <a:p>
                      <a:pPr algn="l">
                        <a:defRPr sz="650">
                          <a:solidFill>
                            <a:srgbClr val="1E242B"/>
                          </a:solidFill>
                          <a:latin typeface="Arial"/>
                        </a:defRPr>
                      </a:pPr>
                      <a:r>
                        <a:t>Giảm thao tác gắn/tháo gá hộp mực</a:t>
                      </a:r>
                      <a:br/>
                      <a:r>
                        <a:t>(0 VNĐ TB tại xưởng)</a:t>
                      </a:r>
                    </a:p>
                  </a:txBody>
                  <a:tcPr anchor="ctr" marL="36576" marR="36576" marT="9144" marB="9144">
                    <a:solidFill>
                      <a:srgbClr val="FFFFFF"/>
                    </a:solidFill>
                  </a:tcPr>
                </a:tc>
                <a:tc>
                  <a:txBody>
                    <a:bodyPr/>
                    <a:lstStyle/>
                    <a:p>
                      <a:pPr algn="l">
                        <a:defRPr sz="650">
                          <a:solidFill>
                            <a:srgbClr val="1E242B"/>
                          </a:solidFill>
                          <a:latin typeface="Arial"/>
                        </a:defRPr>
                      </a:pPr>
                      <a:r>
                        <a:t>Thiết kế JP xác nhận</a:t>
                      </a:r>
                    </a:p>
                  </a:txBody>
                  <a:tcPr anchor="ctr" marL="36576" marR="36576" marT="9144" marB="9144">
                    <a:solidFill>
                      <a:srgbClr val="FFFFFF"/>
                    </a:solidFill>
                  </a:tcPr>
                </a:tc>
              </a:tr>
              <a:tr h="486294">
                <a:tc>
                  <a:txBody>
                    <a:bodyPr/>
                    <a:lstStyle/>
                    <a:p>
                      <a:pPr algn="ctr">
                        <a:defRPr sz="650" b="1">
                          <a:solidFill>
                            <a:srgbClr val="1E242B"/>
                          </a:solidFill>
                          <a:latin typeface="Arial"/>
                        </a:defRPr>
                      </a:pPr>
                      <a:r>
                        <a:t>No.30</a:t>
                      </a:r>
                      <a:br/>
                      <a:r>
                        <a:t>(A-1 / K1)</a:t>
                      </a:r>
                    </a:p>
                  </a:txBody>
                  <a:tcPr anchor="ctr" marL="36576" marR="36576" marT="9144" marB="9144">
                    <a:solidFill>
                      <a:srgbClr val="EAF7EE"/>
                    </a:solidFill>
                  </a:tcPr>
                </a:tc>
                <a:tc>
                  <a:txBody>
                    <a:bodyPr/>
                    <a:lstStyle/>
                    <a:p>
                      <a:pPr algn="l">
                        <a:defRPr sz="650">
                          <a:solidFill>
                            <a:srgbClr val="1E242B"/>
                          </a:solidFill>
                          <a:latin typeface="Arial"/>
                        </a:defRPr>
                      </a:pPr>
                      <a:r>
                        <a:t>A1: Tự động đọc Barcode thân máy &amp; Xóa cài đặt ngưỡng hộp mực thải WTB U155</a:t>
                      </a:r>
                    </a:p>
                  </a:txBody>
                  <a:tcPr anchor="ctr" marL="36576" marR="36576" marT="9144" marB="9144">
                    <a:solidFill>
                      <a:srgbClr val="EAF7EE"/>
                    </a:solidFill>
                  </a:tcPr>
                </a:tc>
                <a:tc>
                  <a:txBody>
                    <a:bodyPr/>
                    <a:lstStyle/>
                    <a:p>
                      <a:pPr algn="l">
                        <a:defRPr sz="650">
                          <a:solidFill>
                            <a:srgbClr val="1E242B"/>
                          </a:solidFill>
                          <a:latin typeface="Arial"/>
                        </a:defRPr>
                      </a:pPr>
                      <a:r>
                        <a:t>Người thao tác phải quét Barcode thủ công và cài đặt ngưỡng mực thải U155 (mất 29,16s chuẩn / 60s tại K1 + 10s kiểm tra WTB).</a:t>
                      </a:r>
                    </a:p>
                  </a:txBody>
                  <a:tcPr anchor="ctr" marL="36576" marR="36576" marT="9144" marB="9144">
                    <a:solidFill>
                      <a:srgbClr val="EAF7EE"/>
                    </a:solidFill>
                  </a:tcPr>
                </a:tc>
                <a:tc>
                  <a:txBody>
                    <a:bodyPr/>
                    <a:lstStyle/>
                    <a:p>
                      <a:pPr algn="l">
                        <a:defRPr sz="650">
                          <a:solidFill>
                            <a:srgbClr val="1E242B"/>
                          </a:solidFill>
                          <a:latin typeface="Arial"/>
                        </a:defRPr>
                      </a:pPr>
                      <a:r>
                        <a:t>Tự động hóa đọc Barcode thân máy tại A-1 (KTSX phụ trách); đồng thời xóa hoàn toàn bước cài đặt U155 nhờ thêm Push Switch trên thân máy và bảo chứng điện trở tại Sub-Assy.</a:t>
                      </a:r>
                    </a:p>
                  </a:txBody>
                  <a:tcPr anchor="ctr" marL="36576" marR="36576" marT="9144" marB="9144">
                    <a:solidFill>
                      <a:srgbClr val="EAF7EE"/>
                    </a:solidFill>
                  </a:tcPr>
                </a:tc>
                <a:tc>
                  <a:txBody>
                    <a:bodyPr/>
                    <a:lstStyle/>
                    <a:p>
                      <a:pPr algn="l">
                        <a:defRPr sz="650">
                          <a:solidFill>
                            <a:srgbClr val="1E242B"/>
                          </a:solidFill>
                          <a:latin typeface="Arial"/>
                        </a:defRPr>
                      </a:pPr>
                      <a:r>
                        <a:t>• Giảm 29,16s chuẩn (~60s tại K1)</a:t>
                      </a:r>
                      <a:br/>
                      <a:r>
                        <a:t>• Xóa 21 bước thao tác</a:t>
                      </a:r>
                    </a:p>
                  </a:txBody>
                  <a:tcPr anchor="ctr" marL="36576" marR="36576" marT="9144" marB="9144">
                    <a:solidFill>
                      <a:srgbClr val="EAF7EE"/>
                    </a:solidFill>
                  </a:tcPr>
                </a:tc>
                <a:tc>
                  <a:txBody>
                    <a:bodyPr/>
                    <a:lstStyle/>
                    <a:p>
                      <a:pPr algn="l">
                        <a:defRPr sz="650">
                          <a:solidFill>
                            <a:srgbClr val="1E242B"/>
                          </a:solidFill>
                          <a:latin typeface="Arial"/>
                        </a:defRPr>
                      </a:pPr>
                      <a:r>
                        <a:t>KTSX &amp; Thiết kế JP</a:t>
                      </a:r>
                      <a:br/>
                      <a:r>
                        <a:t>(Đã duyệt xóa U155)</a:t>
                      </a:r>
                    </a:p>
                  </a:txBody>
                  <a:tcPr anchor="ctr" marL="36576" marR="36576" marT="9144" marB="9144">
                    <a:solidFill>
                      <a:srgbClr val="EAF7EE"/>
                    </a:solidFill>
                  </a:tcPr>
                </a:tc>
              </a:tr>
              <a:tr h="486294">
                <a:tc>
                  <a:txBody>
                    <a:bodyPr/>
                    <a:lstStyle/>
                    <a:p>
                      <a:pPr algn="ctr">
                        <a:defRPr sz="650" b="1">
                          <a:solidFill>
                            <a:srgbClr val="1E242B"/>
                          </a:solidFill>
                          <a:latin typeface="Arial"/>
                        </a:defRPr>
                      </a:pPr>
                      <a:r>
                        <a:t>No.31</a:t>
                      </a:r>
                      <a:br/>
                      <a:r>
                        <a:t>(A-2 / A-5)</a:t>
                      </a:r>
                    </a:p>
                  </a:txBody>
                  <a:tcPr anchor="ctr" marL="36576" marR="36576" marT="9144" marB="9144">
                    <a:solidFill>
                      <a:srgbClr val="FFFFFF"/>
                    </a:solidFill>
                  </a:tcPr>
                </a:tc>
                <a:tc>
                  <a:txBody>
                    <a:bodyPr/>
                    <a:lstStyle/>
                    <a:p>
                      <a:pPr algn="l">
                        <a:defRPr sz="650">
                          <a:solidFill>
                            <a:srgbClr val="1E242B"/>
                          </a:solidFill>
                          <a:latin typeface="Arial"/>
                        </a:defRPr>
                      </a:pPr>
                      <a:r>
                        <a:t>A5: Tích hợp kiểm tra 2Way Clutch vào Color Regist -&gt; Hủy in tờ RCG trước U950 (và tự động hóa test Cassette có tải)</a:t>
                      </a:r>
                    </a:p>
                  </a:txBody>
                  <a:tcPr anchor="ctr" marL="36576" marR="36576" marT="9144" marB="9144">
                    <a:solidFill>
                      <a:srgbClr val="FFFFFF"/>
                    </a:solidFill>
                  </a:tcPr>
                </a:tc>
                <a:tc>
                  <a:txBody>
                    <a:bodyPr/>
                    <a:lstStyle/>
                    <a:p>
                      <a:pPr algn="l">
                        <a:defRPr sz="650">
                          <a:solidFill>
                            <a:srgbClr val="1E242B"/>
                          </a:solidFill>
                          <a:latin typeface="Arial"/>
                        </a:defRPr>
                      </a:pPr>
                      <a:r>
                        <a:t>Tại K4 phải in tờ RCG trước khi chạy U950 (mất 17,36s chuẩn / 25s tại K4) và bê quả nặng thử đóng mở Cassette tại K2 (20s).</a:t>
                      </a:r>
                    </a:p>
                  </a:txBody>
                  <a:tcPr anchor="ctr" marL="36576" marR="36576" marT="9144" marB="9144">
                    <a:solidFill>
                      <a:srgbClr val="FFFFFF"/>
                    </a:solidFill>
                  </a:tcPr>
                </a:tc>
                <a:tc>
                  <a:txBody>
                    <a:bodyPr/>
                    <a:lstStyle/>
                    <a:p>
                      <a:pPr algn="l">
                        <a:defRPr sz="650">
                          <a:solidFill>
                            <a:srgbClr val="1E242B"/>
                          </a:solidFill>
                          <a:latin typeface="Arial"/>
                        </a:defRPr>
                      </a:pPr>
                      <a:r>
                        <a:t>Tích hợp việc kiểm tra hoạt động của 2Way Clutch vào bước in RCG Color Regist phía sau, từ đó hủy bỏ hoàn toàn tờ in RCG trước U950; nghiên cứu cơ cấu thử tải Cassette tự động.</a:t>
                      </a:r>
                    </a:p>
                  </a:txBody>
                  <a:tcPr anchor="ctr" marL="36576" marR="36576" marT="9144" marB="9144">
                    <a:solidFill>
                      <a:srgbClr val="FFFFFF"/>
                    </a:solidFill>
                  </a:tcPr>
                </a:tc>
                <a:tc>
                  <a:txBody>
                    <a:bodyPr/>
                    <a:lstStyle/>
                    <a:p>
                      <a:pPr algn="l">
                        <a:defRPr sz="650">
                          <a:solidFill>
                            <a:srgbClr val="1E242B"/>
                          </a:solidFill>
                          <a:latin typeface="Arial"/>
                        </a:defRPr>
                      </a:pPr>
                      <a:r>
                        <a:t>• Giảm 17,36s ~ 25s (bỏ 1 tờ in RCG)</a:t>
                      </a:r>
                      <a:br/>
                      <a:r>
                        <a:t>• Giảm 20s thử tải khay</a:t>
                      </a:r>
                    </a:p>
                  </a:txBody>
                  <a:tcPr anchor="ctr" marL="36576" marR="36576" marT="9144" marB="9144">
                    <a:solidFill>
                      <a:srgbClr val="FFFFFF"/>
                    </a:solidFill>
                  </a:tcPr>
                </a:tc>
                <a:tc>
                  <a:txBody>
                    <a:bodyPr/>
                    <a:lstStyle/>
                    <a:p>
                      <a:pPr algn="l">
                        <a:defRPr sz="650">
                          <a:solidFill>
                            <a:srgbClr val="1E242B"/>
                          </a:solidFill>
                          <a:latin typeface="Arial"/>
                        </a:defRPr>
                      </a:pPr>
                      <a:r>
                        <a:t>KTCT / Thiết kế / KTSX</a:t>
                      </a:r>
                      <a:br/>
                      <a:r>
                        <a:t>(Đang xác nhận)</a:t>
                      </a:r>
                    </a:p>
                  </a:txBody>
                  <a:tcPr anchor="ctr" marL="36576" marR="36576" marT="9144" marB="9144">
                    <a:solidFill>
                      <a:srgbClr val="FFFFFF"/>
                    </a:solidFill>
                  </a:tcPr>
                </a:tc>
              </a:tr>
              <a:tr h="486294">
                <a:tc>
                  <a:txBody>
                    <a:bodyPr/>
                    <a:lstStyle/>
                    <a:p>
                      <a:pPr algn="ctr">
                        <a:defRPr sz="650" b="1">
                          <a:solidFill>
                            <a:srgbClr val="1E242B"/>
                          </a:solidFill>
                          <a:latin typeface="Arial"/>
                        </a:defRPr>
                      </a:pPr>
                      <a:r>
                        <a:t>No.32</a:t>
                      </a:r>
                      <a:br/>
                      <a:r>
                        <a:t>(A-2 / A-7)</a:t>
                      </a:r>
                    </a:p>
                  </a:txBody>
                  <a:tcPr anchor="ctr" marL="36576" marR="36576" marT="9144" marB="9144">
                    <a:solidFill>
                      <a:srgbClr val="F7F9FC"/>
                    </a:solidFill>
                  </a:tcPr>
                </a:tc>
                <a:tc>
                  <a:txBody>
                    <a:bodyPr/>
                    <a:lstStyle/>
                    <a:p>
                      <a:pPr algn="l">
                        <a:defRPr sz="650">
                          <a:solidFill>
                            <a:srgbClr val="1E242B"/>
                          </a:solidFill>
                          <a:latin typeface="Arial"/>
                        </a:defRPr>
                      </a:pPr>
                      <a:r>
                        <a:t>A7: Xem xét lại quy trình Aging U950 để rút ngắn thời gian &amp; Kiểm tra Option không cần cắm cáp</a:t>
                      </a:r>
                    </a:p>
                  </a:txBody>
                  <a:tcPr anchor="ctr" marL="36576" marR="36576" marT="9144" marB="9144">
                    <a:solidFill>
                      <a:srgbClr val="F7F9FC"/>
                    </a:solidFill>
                  </a:tcPr>
                </a:tc>
                <a:tc>
                  <a:txBody>
                    <a:bodyPr/>
                    <a:lstStyle/>
                    <a:p>
                      <a:pPr algn="l">
                        <a:defRPr sz="650">
                          <a:solidFill>
                            <a:srgbClr val="1E242B"/>
                          </a:solidFill>
                          <a:latin typeface="Arial"/>
                        </a:defRPr>
                      </a:pPr>
                      <a:r>
                        <a:t>Bước chạy Aging U950 tại K4 chiếm tới 285s/máy (lâu nhất trên toàn chuyền); kiểm tra Option tại K2 mất 90s cắm dây.</a:t>
                      </a:r>
                    </a:p>
                  </a:txBody>
                  <a:tcPr anchor="ctr" marL="36576" marR="36576" marT="9144" marB="9144">
                    <a:solidFill>
                      <a:srgbClr val="F7F9FC"/>
                    </a:solidFill>
                  </a:tcPr>
                </a:tc>
                <a:tc>
                  <a:txBody>
                    <a:bodyPr/>
                    <a:lstStyle/>
                    <a:p>
                      <a:pPr algn="l">
                        <a:defRPr sz="650">
                          <a:solidFill>
                            <a:srgbClr val="1E242B"/>
                          </a:solidFill>
                          <a:latin typeface="Arial"/>
                        </a:defRPr>
                      </a:pPr>
                      <a:r>
                        <a:t>Rà soát lại điều kiện kỹ thuật của chu trình Aging U950 để rút ngắn thời gian chạy máy; kết hợp cải tiến FW tự chẩn đoán kết nối Option.</a:t>
                      </a:r>
                    </a:p>
                  </a:txBody>
                  <a:tcPr anchor="ctr" marL="36576" marR="36576" marT="9144" marB="9144">
                    <a:solidFill>
                      <a:srgbClr val="F7F9FC"/>
                    </a:solidFill>
                  </a:tcPr>
                </a:tc>
                <a:tc>
                  <a:txBody>
                    <a:bodyPr/>
                    <a:lstStyle/>
                    <a:p>
                      <a:pPr algn="l">
                        <a:defRPr sz="650">
                          <a:solidFill>
                            <a:srgbClr val="1E242B"/>
                          </a:solidFill>
                          <a:latin typeface="Arial"/>
                        </a:defRPr>
                      </a:pPr>
                      <a:r>
                        <a:t>• Rút ngắn chu kỳ chờ Aging 285s &amp; gá Option</a:t>
                      </a:r>
                    </a:p>
                  </a:txBody>
                  <a:tcPr anchor="ctr" marL="36576" marR="36576" marT="9144" marB="9144">
                    <a:solidFill>
                      <a:srgbClr val="F7F9FC"/>
                    </a:solidFill>
                  </a:tcPr>
                </a:tc>
                <a:tc>
                  <a:txBody>
                    <a:bodyPr/>
                    <a:lstStyle/>
                    <a:p>
                      <a:pPr algn="l">
                        <a:defRPr sz="650">
                          <a:solidFill>
                            <a:srgbClr val="1E242B"/>
                          </a:solidFill>
                          <a:latin typeface="Arial"/>
                        </a:defRPr>
                      </a:pPr>
                      <a:r>
                        <a:t>Thiết kế JP &amp; KTCT</a:t>
                      </a:r>
                      <a:br/>
                      <a:r>
                        <a:t>(Đang xem xét)</a:t>
                      </a:r>
                    </a:p>
                  </a:txBody>
                  <a:tcPr anchor="ctr" marL="36576" marR="36576" marT="9144" marB="9144">
                    <a:solidFill>
                      <a:srgbClr val="F7F9FC"/>
                    </a:solidFill>
                  </a:tcPr>
                </a:tc>
              </a:tr>
              <a:tr h="486294">
                <a:tc>
                  <a:txBody>
                    <a:bodyPr/>
                    <a:lstStyle/>
                    <a:p>
                      <a:pPr algn="ctr">
                        <a:defRPr sz="650" b="1">
                          <a:solidFill>
                            <a:srgbClr val="1E242B"/>
                          </a:solidFill>
                          <a:latin typeface="Arial"/>
                        </a:defRPr>
                      </a:pPr>
                      <a:r>
                        <a:t>No.33</a:t>
                      </a:r>
                      <a:br/>
                      <a:r>
                        <a:t>(A-3 / A-8)</a:t>
                      </a:r>
                    </a:p>
                  </a:txBody>
                  <a:tcPr anchor="ctr" marL="36576" marR="36576" marT="9144" marB="9144">
                    <a:solidFill>
                      <a:srgbClr val="FFFFFF"/>
                    </a:solidFill>
                  </a:tcPr>
                </a:tc>
                <a:tc>
                  <a:txBody>
                    <a:bodyPr/>
                    <a:lstStyle/>
                    <a:p>
                      <a:pPr algn="l">
                        <a:defRPr sz="650">
                          <a:solidFill>
                            <a:srgbClr val="1E242B"/>
                          </a:solidFill>
                          <a:latin typeface="Arial"/>
                        </a:defRPr>
                      </a:pPr>
                      <a:r>
                        <a:t>A8: Tích hợp kiểm tra độ góc vuông RCG Ledger vào RCG Color Regist -&gt; Hủy tờ RCG Ledger (và chuyển lắp 6 vỏ về Assy)</a:t>
                      </a:r>
                    </a:p>
                  </a:txBody>
                  <a:tcPr anchor="ctr" marL="36576" marR="36576" marT="9144" marB="9144">
                    <a:solidFill>
                      <a:srgbClr val="FFFFFF"/>
                    </a:solidFill>
                  </a:tcPr>
                </a:tc>
                <a:tc>
                  <a:txBody>
                    <a:bodyPr/>
                    <a:lstStyle/>
                    <a:p>
                      <a:pPr algn="l">
                        <a:defRPr sz="650">
                          <a:solidFill>
                            <a:srgbClr val="1E242B"/>
                          </a:solidFill>
                          <a:latin typeface="Arial"/>
                        </a:defRPr>
                      </a:pPr>
                      <a:r>
                        <a:t>Phải in riêng tờ RCG Ledger (hướng xuất KDA/Inch) để đo chỉnh độ góc vuông (mất 20s~32s tại K5); tại K3 phải lắp 6 tấm vỏ ngoài (48,32s~90s).</a:t>
                      </a:r>
                    </a:p>
                  </a:txBody>
                  <a:tcPr anchor="ctr" marL="36576" marR="36576" marT="9144" marB="9144">
                    <a:solidFill>
                      <a:srgbClr val="FFFFFF"/>
                    </a:solidFill>
                  </a:tcPr>
                </a:tc>
                <a:tc>
                  <a:txBody>
                    <a:bodyPr/>
                    <a:lstStyle/>
                    <a:p>
                      <a:pPr algn="l">
                        <a:defRPr sz="650">
                          <a:solidFill>
                            <a:srgbClr val="1E242B"/>
                          </a:solidFill>
                          <a:latin typeface="Arial"/>
                        </a:defRPr>
                      </a:pPr>
                      <a:r>
                        <a:t>Tích hợp kiểm tra độ góc vuông của khổ Ledger vào chung tờ RCG Color Regist để hủy bỏ tờ RCG Ledger; đồng thời chuyển nguyên công lắp 6 tấm vỏ ngoài về cuối chuyền Lắp ráp (本体組立).</a:t>
                      </a:r>
                    </a:p>
                  </a:txBody>
                  <a:tcPr anchor="ctr" marL="36576" marR="36576" marT="9144" marB="9144">
                    <a:solidFill>
                      <a:srgbClr val="FFFFFF"/>
                    </a:solidFill>
                  </a:tcPr>
                </a:tc>
                <a:tc>
                  <a:txBody>
                    <a:bodyPr/>
                    <a:lstStyle/>
                    <a:p>
                      <a:pPr algn="l">
                        <a:defRPr sz="650">
                          <a:solidFill>
                            <a:srgbClr val="1E242B"/>
                          </a:solidFill>
                          <a:latin typeface="Arial"/>
                        </a:defRPr>
                      </a:pPr>
                      <a:r>
                        <a:t>• Giảm 1 tờ in (RCG Ledger: -20s~32s)</a:t>
                      </a:r>
                      <a:br/>
                      <a:r>
                        <a:t>• Chuyển 48,32s~90s lắp vỏ về Assy</a:t>
                      </a:r>
                    </a:p>
                  </a:txBody>
                  <a:tcPr anchor="ctr" marL="36576" marR="36576" marT="9144" marB="9144">
                    <a:solidFill>
                      <a:srgbClr val="FFFFFF"/>
                    </a:solidFill>
                  </a:tcPr>
                </a:tc>
                <a:tc>
                  <a:txBody>
                    <a:bodyPr/>
                    <a:lstStyle/>
                    <a:p>
                      <a:pPr algn="l">
                        <a:defRPr sz="650">
                          <a:solidFill>
                            <a:srgbClr val="1E242B"/>
                          </a:solidFill>
                          <a:latin typeface="Arial"/>
                        </a:defRPr>
                      </a:pPr>
                      <a:r>
                        <a:t>Thiết kế / QA / Assy</a:t>
                      </a:r>
                      <a:br/>
                      <a:r>
                        <a:t>(Chốt tại DR công đoạn)</a:t>
                      </a:r>
                    </a:p>
                  </a:txBody>
                  <a:tcPr anchor="ctr" marL="36576" marR="36576" marT="9144" marB="9144">
                    <a:solidFill>
                      <a:srgbClr val="FFFFFF"/>
                    </a:solidFill>
                  </a:tcPr>
                </a:tc>
              </a:tr>
              <a:tr h="486294">
                <a:tc>
                  <a:txBody>
                    <a:bodyPr/>
                    <a:lstStyle/>
                    <a:p>
                      <a:pPr algn="ctr">
                        <a:defRPr sz="650" b="1">
                          <a:solidFill>
                            <a:srgbClr val="1E242B"/>
                          </a:solidFill>
                          <a:latin typeface="Arial"/>
                        </a:defRPr>
                      </a:pPr>
                      <a:r>
                        <a:t>No.34</a:t>
                      </a:r>
                      <a:br/>
                      <a:r>
                        <a:t>(A-3 / A-8)</a:t>
                      </a:r>
                    </a:p>
                  </a:txBody>
                  <a:tcPr anchor="ctr" marL="36576" marR="36576" marT="9144" marB="9144">
                    <a:solidFill>
                      <a:srgbClr val="EAF7EE"/>
                    </a:solidFill>
                  </a:tcPr>
                </a:tc>
                <a:tc>
                  <a:txBody>
                    <a:bodyPr/>
                    <a:lstStyle/>
                    <a:p>
                      <a:pPr algn="l">
                        <a:defRPr sz="650">
                          <a:solidFill>
                            <a:srgbClr val="1E242B"/>
                          </a:solidFill>
                          <a:latin typeface="Arial"/>
                        </a:defRPr>
                      </a:pPr>
                      <a:r>
                        <a:t>A8: Tích hợp RCG LSU SKEW vào RCG Color Regist -&gt; Hủy tờ RCG LSU Skew (và tự động nhận diện khổ giấy Cassette 1/2)</a:t>
                      </a:r>
                    </a:p>
                  </a:txBody>
                  <a:tcPr anchor="ctr" marL="36576" marR="36576" marT="9144" marB="9144">
                    <a:solidFill>
                      <a:srgbClr val="EAF7EE"/>
                    </a:solidFill>
                  </a:tcPr>
                </a:tc>
                <a:tc>
                  <a:txBody>
                    <a:bodyPr/>
                    <a:lstStyle/>
                    <a:p>
                      <a:pPr algn="l">
                        <a:defRPr sz="650">
                          <a:solidFill>
                            <a:srgbClr val="1E242B"/>
                          </a:solidFill>
                          <a:latin typeface="Arial"/>
                        </a:defRPr>
                      </a:pPr>
                      <a:r>
                        <a:t>Tại K5 mất 130s (36,84s chuẩn) để in và chỉnh tờ RCG LSU Skew; tại K3 mất 65s (66,68s chuẩn) đóng mở kiểm tra nhận diện khổ giấy Cassette 1/2.</a:t>
                      </a:r>
                    </a:p>
                  </a:txBody>
                  <a:tcPr anchor="ctr" marL="36576" marR="36576" marT="9144" marB="9144">
                    <a:solidFill>
                      <a:srgbClr val="EAF7EE"/>
                    </a:solidFill>
                  </a:tcPr>
                </a:tc>
                <a:tc>
                  <a:txBody>
                    <a:bodyPr/>
                    <a:lstStyle/>
                    <a:p>
                      <a:pPr algn="l">
                        <a:defRPr sz="650">
                          <a:solidFill>
                            <a:srgbClr val="1E242B"/>
                          </a:solidFill>
                          <a:latin typeface="Arial"/>
                        </a:defRPr>
                      </a:pPr>
                      <a:r>
                        <a:t>Tích hợp mẫu kiểm tra độ nghiêng tia laser (LSU Skew) vào chung tờ RCG Color Regist để xóa tờ RCG LSU Skew; gửi lệnh điện tử từ Host PC tự động nhận diện cảm biến khổ giấy Cassette 1/2.</a:t>
                      </a:r>
                    </a:p>
                  </a:txBody>
                  <a:tcPr anchor="ctr" marL="36576" marR="36576" marT="9144" marB="9144">
                    <a:solidFill>
                      <a:srgbClr val="EAF7EE"/>
                    </a:solidFill>
                  </a:tcPr>
                </a:tc>
                <a:tc>
                  <a:txBody>
                    <a:bodyPr/>
                    <a:lstStyle/>
                    <a:p>
                      <a:pPr algn="l">
                        <a:defRPr sz="650">
                          <a:solidFill>
                            <a:srgbClr val="1E242B"/>
                          </a:solidFill>
                          <a:latin typeface="Arial"/>
                        </a:defRPr>
                      </a:pPr>
                      <a:r>
                        <a:t>• Giảm 1 tờ in (LSU Skew: -36,84s chuẩn / -130s K5)</a:t>
                      </a:r>
                      <a:br/>
                      <a:r>
                        <a:t>• Giảm 66,68s Cassette</a:t>
                      </a:r>
                    </a:p>
                  </a:txBody>
                  <a:tcPr anchor="ctr" marL="36576" marR="36576" marT="9144" marB="9144">
                    <a:solidFill>
                      <a:srgbClr val="EAF7EE"/>
                    </a:solidFill>
                  </a:tcPr>
                </a:tc>
                <a:tc>
                  <a:txBody>
                    <a:bodyPr/>
                    <a:lstStyle/>
                    <a:p>
                      <a:pPr algn="l">
                        <a:defRPr sz="650">
                          <a:solidFill>
                            <a:srgbClr val="1E242B"/>
                          </a:solidFill>
                          <a:latin typeface="Arial"/>
                        </a:defRPr>
                      </a:pPr>
                      <a:r>
                        <a:t>Thiết kế JP &amp; KTCT</a:t>
                      </a:r>
                      <a:br/>
                      <a:r>
                        <a:t>(Tự động Cassette: Triển khai ngay)</a:t>
                      </a:r>
                    </a:p>
                  </a:txBody>
                  <a:tcPr anchor="ctr" marL="36576" marR="36576" marT="9144" marB="9144">
                    <a:solidFill>
                      <a:srgbClr val="EAF7EE"/>
                    </a:solidFill>
                  </a:tcPr>
                </a:tc>
              </a:tr>
              <a:tr h="486294">
                <a:tc>
                  <a:txBody>
                    <a:bodyPr/>
                    <a:lstStyle/>
                    <a:p>
                      <a:pPr algn="ctr">
                        <a:defRPr sz="650" b="1">
                          <a:solidFill>
                            <a:srgbClr val="1E242B"/>
                          </a:solidFill>
                          <a:latin typeface="Arial"/>
                        </a:defRPr>
                      </a:pPr>
                      <a:r>
                        <a:t>No.35</a:t>
                      </a:r>
                      <a:br/>
                      <a:r>
                        <a:t>(A-4 / A-8)</a:t>
                      </a:r>
                    </a:p>
                  </a:txBody>
                  <a:tcPr anchor="ctr" marL="36576" marR="36576" marT="9144" marB="9144">
                    <a:solidFill>
                      <a:srgbClr val="FFFFFF"/>
                    </a:solidFill>
                  </a:tcPr>
                </a:tc>
                <a:tc>
                  <a:txBody>
                    <a:bodyPr/>
                    <a:lstStyle/>
                    <a:p>
                      <a:pPr algn="l">
                        <a:defRPr sz="650">
                          <a:solidFill>
                            <a:srgbClr val="1E242B"/>
                          </a:solidFill>
                          <a:latin typeface="Arial"/>
                        </a:defRPr>
                      </a:pPr>
                      <a:r>
                        <a:t>A8: Tích hợp Calibration của U410 Halftone thành 1 câu lệnh tự động (và cấp giấy tự động)</a:t>
                      </a:r>
                    </a:p>
                  </a:txBody>
                  <a:tcPr anchor="ctr" marL="36576" marR="36576" marT="9144" marB="9144">
                    <a:solidFill>
                      <a:srgbClr val="FFFFFF"/>
                    </a:solidFill>
                  </a:tcPr>
                </a:tc>
                <a:tc>
                  <a:txBody>
                    <a:bodyPr/>
                    <a:lstStyle/>
                    <a:p>
                      <a:pPr algn="l">
                        <a:defRPr sz="650">
                          <a:solidFill>
                            <a:srgbClr val="1E242B"/>
                          </a:solidFill>
                          <a:latin typeface="Arial"/>
                        </a:defRPr>
                      </a:pPr>
                      <a:r>
                        <a:t>Khi chỉnh Halftone U410 tại K5 (110s), người thao tác phải bấm riêng lệnh Calibration rồi mới thực hiện kiểm tra Halftone U410.</a:t>
                      </a:r>
                    </a:p>
                  </a:txBody>
                  <a:tcPr anchor="ctr" marL="36576" marR="36576" marT="9144" marB="9144">
                    <a:solidFill>
                      <a:srgbClr val="FFFFFF"/>
                    </a:solidFill>
                  </a:tcPr>
                </a:tc>
                <a:tc>
                  <a:txBody>
                    <a:bodyPr/>
                    <a:lstStyle/>
                    <a:p>
                      <a:pPr algn="l">
                        <a:defRPr sz="650">
                          <a:solidFill>
                            <a:srgbClr val="1E242B"/>
                          </a:solidFill>
                          <a:latin typeface="Arial"/>
                        </a:defRPr>
                      </a:pPr>
                      <a:r>
                        <a:t>Gộp bước Calibration của U410 Halftone vào chung 1 câu lệnh tự động khi chạy kiểm tra Halftone U410 để cắt giảm thao tác bấm máy và thời gian chờ.</a:t>
                      </a:r>
                    </a:p>
                  </a:txBody>
                  <a:tcPr anchor="ctr" marL="36576" marR="36576" marT="9144" marB="9144">
                    <a:solidFill>
                      <a:srgbClr val="FFFFFF"/>
                    </a:solidFill>
                  </a:tcPr>
                </a:tc>
                <a:tc>
                  <a:txBody>
                    <a:bodyPr/>
                    <a:lstStyle/>
                    <a:p>
                      <a:pPr algn="l">
                        <a:defRPr sz="650">
                          <a:solidFill>
                            <a:srgbClr val="1E242B"/>
                          </a:solidFill>
                          <a:latin typeface="Arial"/>
                        </a:defRPr>
                      </a:pPr>
                      <a:r>
                        <a:t>• Rút ngắn cụm 110s chỉnh Halftone U410</a:t>
                      </a:r>
                      <a:br/>
                      <a:r>
                        <a:t>(0 VNĐ TB tại xưởng)</a:t>
                      </a:r>
                    </a:p>
                  </a:txBody>
                  <a:tcPr anchor="ctr" marL="36576" marR="36576" marT="9144" marB="9144">
                    <a:solidFill>
                      <a:srgbClr val="FFFFFF"/>
                    </a:solidFill>
                  </a:tcPr>
                </a:tc>
                <a:tc>
                  <a:txBody>
                    <a:bodyPr/>
                    <a:lstStyle/>
                    <a:p>
                      <a:pPr algn="l">
                        <a:defRPr sz="650">
                          <a:solidFill>
                            <a:srgbClr val="1E242B"/>
                          </a:solidFill>
                          <a:latin typeface="Arial"/>
                        </a:defRPr>
                      </a:pPr>
                      <a:r>
                        <a:t>Thiết kế phần mềm JP</a:t>
                      </a:r>
                      <a:br/>
                      <a:r>
                        <a:t>(Đang xác nhận)</a:t>
                      </a:r>
                    </a:p>
                  </a:txBody>
                  <a:tcPr anchor="ctr" marL="36576" marR="36576" marT="9144" marB="9144">
                    <a:solidFill>
                      <a:srgbClr val="FFFFFF"/>
                    </a:solidFill>
                  </a:tcPr>
                </a:tc>
              </a:tr>
              <a:tr h="486294">
                <a:tc>
                  <a:txBody>
                    <a:bodyPr/>
                    <a:lstStyle/>
                    <a:p>
                      <a:pPr algn="ctr">
                        <a:defRPr sz="650" b="1">
                          <a:solidFill>
                            <a:srgbClr val="1E242B"/>
                          </a:solidFill>
                          <a:latin typeface="Arial"/>
                        </a:defRPr>
                      </a:pPr>
                      <a:r>
                        <a:t>No.36</a:t>
                      </a:r>
                      <a:br/>
                      <a:r>
                        <a:t>(A-4 / A-8)</a:t>
                      </a:r>
                    </a:p>
                  </a:txBody>
                  <a:tcPr anchor="ctr" marL="36576" marR="36576" marT="9144" marB="9144">
                    <a:solidFill>
                      <a:srgbClr val="EAF7EE"/>
                    </a:solidFill>
                  </a:tcPr>
                </a:tc>
                <a:tc>
                  <a:txBody>
                    <a:bodyPr/>
                    <a:lstStyle/>
                    <a:p>
                      <a:pPr algn="l">
                        <a:defRPr sz="650">
                          <a:solidFill>
                            <a:srgbClr val="1E242B"/>
                          </a:solidFill>
                          <a:latin typeface="Arial"/>
                        </a:defRPr>
                      </a:pPr>
                      <a:r>
                        <a:t>A8: Tích hợp Halftone Mono vào tờ Check Black -&gt; Hủy tờ Halftone Mono (và tự động kiểm tra công tắc Cover Right)</a:t>
                      </a:r>
                    </a:p>
                  </a:txBody>
                  <a:tcPr anchor="ctr" marL="36576" marR="36576" marT="9144" marB="9144">
                    <a:solidFill>
                      <a:srgbClr val="EAF7EE"/>
                    </a:solidFill>
                  </a:tcPr>
                </a:tc>
                <a:tc>
                  <a:txBody>
                    <a:bodyPr/>
                    <a:lstStyle/>
                    <a:p>
                      <a:pPr algn="l">
                        <a:defRPr sz="650">
                          <a:solidFill>
                            <a:srgbClr val="1E242B"/>
                          </a:solidFill>
                          <a:latin typeface="Arial"/>
                        </a:defRPr>
                      </a:pPr>
                      <a:r>
                        <a:t>Phải in riêng tờ Halftone Mono để kiểm tra thang độ xám đen trắng; phải mở/đóng nắp phải bằng tay để thử công tắc cửa (-8,88s).</a:t>
                      </a:r>
                    </a:p>
                  </a:txBody>
                  <a:tcPr anchor="ctr" marL="36576" marR="36576" marT="9144" marB="9144">
                    <a:solidFill>
                      <a:srgbClr val="EAF7EE"/>
                    </a:solidFill>
                  </a:tcPr>
                </a:tc>
                <a:tc>
                  <a:txBody>
                    <a:bodyPr/>
                    <a:lstStyle/>
                    <a:p>
                      <a:pPr algn="l">
                        <a:defRPr sz="650">
                          <a:solidFill>
                            <a:srgbClr val="1E242B"/>
                          </a:solidFill>
                          <a:latin typeface="Arial"/>
                        </a:defRPr>
                      </a:pPr>
                      <a:r>
                        <a:t>Tích hợp nội dung kiểm tra Halftone Mono vào tờ Check Black để hủy bỏ tờ Halftone Mono; tích hợp kiểm tra tín hiệu công tắc cửa tự động bằng phần mềm.</a:t>
                      </a:r>
                    </a:p>
                  </a:txBody>
                  <a:tcPr anchor="ctr" marL="36576" marR="36576" marT="9144" marB="9144">
                    <a:solidFill>
                      <a:srgbClr val="EAF7EE"/>
                    </a:solidFill>
                  </a:tcPr>
                </a:tc>
                <a:tc>
                  <a:txBody>
                    <a:bodyPr/>
                    <a:lstStyle/>
                    <a:p>
                      <a:pPr algn="l">
                        <a:defRPr sz="650">
                          <a:solidFill>
                            <a:srgbClr val="1E242B"/>
                          </a:solidFill>
                          <a:latin typeface="Arial"/>
                        </a:defRPr>
                      </a:pPr>
                      <a:r>
                        <a:t>• Giảm 1 tờ in (Halftone Mono)</a:t>
                      </a:r>
                      <a:br/>
                      <a:r>
                        <a:t>• Giảm 8,88s công tắc nắp</a:t>
                      </a:r>
                    </a:p>
                  </a:txBody>
                  <a:tcPr anchor="ctr" marL="36576" marR="36576" marT="9144" marB="9144">
                    <a:solidFill>
                      <a:srgbClr val="EAF7EE"/>
                    </a:solidFill>
                  </a:tcPr>
                </a:tc>
                <a:tc>
                  <a:txBody>
                    <a:bodyPr/>
                    <a:lstStyle/>
                    <a:p>
                      <a:pPr algn="l">
                        <a:defRPr sz="650">
                          <a:solidFill>
                            <a:srgbClr val="1E242B"/>
                          </a:solidFill>
                          <a:latin typeface="Arial"/>
                        </a:defRPr>
                      </a:pPr>
                      <a:r>
                        <a:t>Thiết kế / QA JP</a:t>
                      </a:r>
                      <a:br/>
                      <a:r>
                        <a:t>(Công tắc nắp: Triển khai ngay)</a:t>
                      </a:r>
                    </a:p>
                  </a:txBody>
                  <a:tcPr anchor="ctr" marL="36576" marR="36576" marT="9144" marB="9144">
                    <a:solidFill>
                      <a:srgbClr val="EAF7EE"/>
                    </a:solidFill>
                  </a:tcPr>
                </a:tc>
              </a:tr>
              <a:tr h="486294">
                <a:tc>
                  <a:txBody>
                    <a:bodyPr/>
                    <a:lstStyle/>
                    <a:p>
                      <a:pPr algn="ctr">
                        <a:defRPr sz="650" b="1">
                          <a:solidFill>
                            <a:srgbClr val="1E242B"/>
                          </a:solidFill>
                          <a:latin typeface="Arial"/>
                        </a:defRPr>
                      </a:pPr>
                      <a:r>
                        <a:t>No.37</a:t>
                      </a:r>
                      <a:br/>
                      <a:r>
                        <a:t>(A-4 / A-11)</a:t>
                      </a:r>
                    </a:p>
                  </a:txBody>
                  <a:tcPr anchor="ctr" marL="36576" marR="36576" marT="9144" marB="9144">
                    <a:solidFill>
                      <a:srgbClr val="FFFFFF"/>
                    </a:solidFill>
                  </a:tcPr>
                </a:tc>
                <a:tc>
                  <a:txBody>
                    <a:bodyPr/>
                    <a:lstStyle/>
                    <a:p>
                      <a:pPr algn="l">
                        <a:defRPr sz="650">
                          <a:solidFill>
                            <a:srgbClr val="1E242B"/>
                          </a:solidFill>
                          <a:latin typeface="Arial"/>
                        </a:defRPr>
                      </a:pPr>
                      <a:r>
                        <a:t>A11: Xem xét tích hợp bước RCG Copy Check &amp; Bỏ bước đo độ lệch Transfer Belt sau khi cải tiến Puli 35°</a:t>
                      </a:r>
                    </a:p>
                  </a:txBody>
                  <a:tcPr anchor="ctr" marL="36576" marR="36576" marT="9144" marB="9144">
                    <a:solidFill>
                      <a:srgbClr val="FFFFFF"/>
                    </a:solidFill>
                  </a:tcPr>
                </a:tc>
                <a:tc>
                  <a:txBody>
                    <a:bodyPr/>
                    <a:lstStyle/>
                    <a:p>
                      <a:pPr algn="l">
                        <a:defRPr sz="650">
                          <a:solidFill>
                            <a:srgbClr val="1E242B"/>
                          </a:solidFill>
                          <a:latin typeface="Arial"/>
                        </a:defRPr>
                      </a:pPr>
                      <a:r>
                        <a:t>Cuối chuyền (K8) phải thực hiện RCG Copy Check (60s); tại K4 phải dùng thước đo độ lệch Transfer Belt (5s~15,36s) do VN còn 1~2 máy lỗi/tháng.</a:t>
                      </a:r>
                    </a:p>
                  </a:txBody>
                  <a:tcPr anchor="ctr" marL="36576" marR="36576" marT="9144" marB="9144">
                    <a:solidFill>
                      <a:srgbClr val="FFFFFF"/>
                    </a:solidFill>
                  </a:tcPr>
                </a:tc>
                <a:tc>
                  <a:txBody>
                    <a:bodyPr/>
                    <a:lstStyle/>
                    <a:p>
                      <a:pPr algn="l">
                        <a:defRPr sz="650">
                          <a:solidFill>
                            <a:srgbClr val="1E242B"/>
                          </a:solidFill>
                          <a:latin typeface="Arial"/>
                        </a:defRPr>
                      </a:pPr>
                      <a:r>
                        <a:t>Xem xét tích hợp RCG Copy Check vào bước kiểm tra trước đó; về Transfer Belt, sau khi áp dụng Puli góc vát 35° và vật liệu Belt mới đạt Cpk ≥ 1,33 sẽ bỏ bước đo tay.</a:t>
                      </a:r>
                    </a:p>
                  </a:txBody>
                  <a:tcPr anchor="ctr" marL="36576" marR="36576" marT="9144" marB="9144">
                    <a:solidFill>
                      <a:srgbClr val="FFFFFF"/>
                    </a:solidFill>
                  </a:tcPr>
                </a:tc>
                <a:tc>
                  <a:txBody>
                    <a:bodyPr/>
                    <a:lstStyle/>
                    <a:p>
                      <a:pPr algn="l">
                        <a:defRPr sz="650">
                          <a:solidFill>
                            <a:srgbClr val="1E242B"/>
                          </a:solidFill>
                          <a:latin typeface="Arial"/>
                        </a:defRPr>
                      </a:pPr>
                      <a:r>
                        <a:t>• Giảm 60s Copy Check (K8) &amp; 15,36s đo Belt</a:t>
                      </a:r>
                      <a:br/>
                      <a:r>
                        <a:t>(0 VNĐ TB tại xưởng)</a:t>
                      </a:r>
                    </a:p>
                  </a:txBody>
                  <a:tcPr anchor="ctr" marL="36576" marR="36576" marT="9144" marB="9144">
                    <a:solidFill>
                      <a:srgbClr val="FFFFFF"/>
                    </a:solidFill>
                  </a:tcPr>
                </a:tc>
                <a:tc>
                  <a:txBody>
                    <a:bodyPr/>
                    <a:lstStyle/>
                    <a:p>
                      <a:pPr algn="l">
                        <a:defRPr sz="650">
                          <a:solidFill>
                            <a:srgbClr val="1E242B"/>
                          </a:solidFill>
                          <a:latin typeface="Arial"/>
                        </a:defRPr>
                      </a:pPr>
                      <a:r>
                        <a:t>QA &amp; Thiết kế JP</a:t>
                      </a:r>
                      <a:br/>
                      <a:r>
                        <a:t>(Chờ nghiệm thu Belt mới)</a:t>
                      </a:r>
                    </a:p>
                  </a:txBody>
                  <a:tcPr anchor="ctr" marL="36576" marR="36576" marT="9144" marB="9144">
                    <a:solidFill>
                      <a:srgbClr val="FFFFFF"/>
                    </a:solidFill>
                  </a:tcPr>
                </a:tc>
              </a:tr>
              <a:tr h="486300">
                <a:tc>
                  <a:txBody>
                    <a:bodyPr/>
                    <a:lstStyle/>
                    <a:p>
                      <a:pPr algn="ctr">
                        <a:defRPr sz="650" b="1">
                          <a:solidFill>
                            <a:srgbClr val="1E242B"/>
                          </a:solidFill>
                          <a:latin typeface="Arial"/>
                        </a:defRPr>
                      </a:pPr>
                      <a:r>
                        <a:t>Thực tích</a:t>
                      </a:r>
                      <a:br/>
                      <a:r>
                        <a:t>T10/2026</a:t>
                      </a:r>
                    </a:p>
                  </a:txBody>
                  <a:tcPr anchor="ctr" marL="36576" marR="36576" marT="9144" marB="9144">
                    <a:solidFill>
                      <a:srgbClr val="E8EEF5"/>
                    </a:solidFill>
                  </a:tcPr>
                </a:tc>
                <a:tc>
                  <a:txBody>
                    <a:bodyPr/>
                    <a:lstStyle/>
                    <a:p>
                      <a:pPr algn="l">
                        <a:defRPr sz="650">
                          <a:solidFill>
                            <a:srgbClr val="1E242B"/>
                          </a:solidFill>
                          <a:latin typeface="Arial"/>
                        </a:defRPr>
                      </a:pPr>
                      <a:r>
                        <a:t>[ĐÃ HOÀN THÀNH THÁNG 10/2026] Xóa 2 bước đổi ngôn ngữ English &amp; 2 bước xác nhận cảnh báo Toner trên bảng công đoạn</a:t>
                      </a:r>
                    </a:p>
                  </a:txBody>
                  <a:tcPr anchor="ctr" marL="36576" marR="36576" marT="9144" marB="9144">
                    <a:solidFill>
                      <a:srgbClr val="E8EEF5"/>
                    </a:solidFill>
                  </a:tcPr>
                </a:tc>
                <a:tc>
                  <a:txBody>
                    <a:bodyPr/>
                    <a:lstStyle/>
                    <a:p>
                      <a:pPr algn="l">
                        <a:defRPr sz="650">
                          <a:solidFill>
                            <a:srgbClr val="1E242B"/>
                          </a:solidFill>
                          <a:latin typeface="Arial"/>
                        </a:defRPr>
                      </a:pPr>
                      <a:r>
                        <a:t>Người thao tác bấm chọn ngôn ngữ English (0,72s x 2 = 1,44s) và nhìn màn hình chờ cảnh báo Toner hiện rồi tắt (1,44s x 2 = 2,88s).</a:t>
                      </a:r>
                    </a:p>
                  </a:txBody>
                  <a:tcPr anchor="ctr" marL="36576" marR="36576" marT="9144" marB="9144">
                    <a:solidFill>
                      <a:srgbClr val="E8EEF5"/>
                    </a:solidFill>
                  </a:tcPr>
                </a:tc>
                <a:tc>
                  <a:txBody>
                    <a:bodyPr/>
                    <a:lstStyle/>
                    <a:p>
                      <a:pPr algn="l">
                        <a:defRPr sz="650">
                          <a:solidFill>
                            <a:srgbClr val="1E242B"/>
                          </a:solidFill>
                          <a:latin typeface="Arial"/>
                        </a:defRPr>
                      </a:pPr>
                      <a:r>
                        <a:t>Đã xác nhận không cần thao tác tay, chính thức xóa 4 bước này khỏi bảng công đoạn tháng 10/2026 (Sheet 作業確実).</a:t>
                      </a:r>
                    </a:p>
                  </a:txBody>
                  <a:tcPr anchor="ctr" marL="36576" marR="36576" marT="9144" marB="9144">
                    <a:solidFill>
                      <a:srgbClr val="E8EEF5"/>
                    </a:solidFill>
                  </a:tcPr>
                </a:tc>
                <a:tc>
                  <a:txBody>
                    <a:bodyPr/>
                    <a:lstStyle/>
                    <a:p>
                      <a:pPr algn="l">
                        <a:defRPr sz="650">
                          <a:solidFill>
                            <a:srgbClr val="1E242B"/>
                          </a:solidFill>
                          <a:latin typeface="Arial"/>
                        </a:defRPr>
                      </a:pPr>
                      <a:r>
                        <a:t>• Đã giảm thực tế:</a:t>
                      </a:r>
                      <a:br/>
                      <a:r>
                        <a:t>  4,32 giây / máy</a:t>
                      </a:r>
                    </a:p>
                  </a:txBody>
                  <a:tcPr anchor="ctr" marL="36576" marR="36576" marT="9144" marB="9144">
                    <a:solidFill>
                      <a:srgbClr val="E8EEF5"/>
                    </a:solidFill>
                  </a:tcPr>
                </a:tc>
                <a:tc>
                  <a:txBody>
                    <a:bodyPr/>
                    <a:lstStyle/>
                    <a:p>
                      <a:pPr algn="l">
                        <a:defRPr sz="650">
                          <a:solidFill>
                            <a:srgbClr val="1E242B"/>
                          </a:solidFill>
                          <a:latin typeface="Arial"/>
                        </a:defRPr>
                      </a:pPr>
                      <a:r>
                        <a:t>KDTVN-PE-3</a:t>
                      </a:r>
                      <a:br/>
                      <a:r>
                        <a:t>(Đã hoàn thành T10/2026)</a:t>
                      </a:r>
                    </a:p>
                  </a:txBody>
                  <a:tcPr anchor="ctr" marL="36576" marR="36576" marT="9144" marB="9144">
                    <a:solidFill>
                      <a:srgbClr val="E8EEF5"/>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Arial"/>
              </a:defRPr>
            </a:pPr>
            <a:r>
              <a:t>4.5 DỰ TOÁN &amp; PHÊ DUYỆT</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Chi tiết dự toán BOM 25 mục Đề án No.22 (101,69 triệu VNĐ) và 2 Phương án trình phê duyệt</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10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000" b="1">
                <a:solidFill>
                  <a:srgbClr val="0F203C"/>
                </a:solidFill>
                <a:latin typeface="Arial"/>
              </a:defRPr>
            </a:pPr>
            <a:r>
              <a:t>■ Đề nghị phê duyệt Phương án A (Triển khai ngay Đề án No.22: 101.690.000 VNĐ / 3.911,15 USD; thay Robot No.23, 24 bằng DP &amp; Host PC) hoặc Phương án B (Tổng dự toán 3 đề án trong VN提案.xlsx: 855.690.000 VNĐ / 32.911,15 USD).</a:t>
            </a:r>
          </a:p>
        </p:txBody>
      </p:sp>
      <p:sp>
        <p:nvSpPr>
          <p:cNvPr id="7" name="TextBox 6"/>
          <p:cNvSpPr txBox="1"/>
          <p:nvPr/>
        </p:nvSpPr>
        <p:spPr>
          <a:xfrm>
            <a:off x="256032" y="1152144"/>
            <a:ext cx="6629400" cy="201168"/>
          </a:xfrm>
          <a:prstGeom prst="rect">
            <a:avLst/>
          </a:prstGeom>
          <a:noFill/>
        </p:spPr>
        <p:txBody>
          <a:bodyPr wrap="square" lIns="18288" rIns="18288" tIns="9144" bIns="9144">
            <a:spAutoFit/>
          </a:bodyPr>
          <a:lstStyle/>
          <a:p>
            <a:pPr>
              <a:defRPr sz="780" b="1">
                <a:solidFill>
                  <a:srgbClr val="1E6E3E"/>
                </a:solidFill>
                <a:latin typeface="Arial"/>
              </a:defRPr>
            </a:pPr>
            <a:r>
              <a:t>■ 1. BẢNG DỰ TOÁN KINH PHÍ TRONG FILE IRIS EXPのVN提案.xlsx (TỶ GIÁ 26.000 VNĐ/USD)</a:t>
            </a:r>
          </a:p>
        </p:txBody>
      </p:sp>
      <p:graphicFrame>
        <p:nvGraphicFramePr>
          <p:cNvPr id="8" name="Table 7"/>
          <p:cNvGraphicFramePr>
            <a:graphicFrameLocks noGrp="1"/>
          </p:cNvGraphicFramePr>
          <p:nvPr/>
        </p:nvGraphicFramePr>
        <p:xfrm>
          <a:off x="256032" y="1353312"/>
          <a:ext cx="6629400" cy="2651760"/>
        </p:xfrm>
        <a:graphic>
          <a:graphicData uri="http://schemas.openxmlformats.org/drawingml/2006/table">
            <a:tbl>
              <a:tblPr firstRow="1" bandRow="1">
                <a:tableStyleId>{5C22544A-7EE6-4342-B048-85BDC9FD1C3A}</a:tableStyleId>
              </a:tblPr>
              <a:tblGrid>
                <a:gridCol w="502920"/>
                <a:gridCol w="2697480"/>
                <a:gridCol w="1188720"/>
                <a:gridCol w="1097280"/>
                <a:gridCol w="1143000"/>
              </a:tblGrid>
              <a:tr h="241069">
                <a:tc>
                  <a:txBody>
                    <a:bodyPr/>
                    <a:lstStyle/>
                    <a:p>
                      <a:pPr algn="ctr">
                        <a:defRPr sz="620" b="1">
                          <a:solidFill>
                            <a:srgbClr val="FFFFFF"/>
                          </a:solidFill>
                          <a:latin typeface="Arial"/>
                        </a:defRPr>
                      </a:pPr>
                      <a:r>
                        <a:t>Mục</a:t>
                      </a:r>
                    </a:p>
                  </a:txBody>
                  <a:tcPr anchor="ctr" marL="36576" marR="36576" marT="9144" marB="9144">
                    <a:solidFill>
                      <a:srgbClr val="1B365D"/>
                    </a:solidFill>
                  </a:tcPr>
                </a:tc>
                <a:tc>
                  <a:txBody>
                    <a:bodyPr/>
                    <a:lstStyle/>
                    <a:p>
                      <a:pPr algn="ctr">
                        <a:defRPr sz="620" b="1">
                          <a:solidFill>
                            <a:srgbClr val="FFFFFF"/>
                          </a:solidFill>
                          <a:latin typeface="Arial"/>
                        </a:defRPr>
                      </a:pPr>
                      <a:r>
                        <a:t>Hạng mục thiết bị (Iris EXPのVN提案.xlsx)</a:t>
                      </a:r>
                    </a:p>
                  </a:txBody>
                  <a:tcPr anchor="ctr" marL="36576" marR="36576" marT="9144" marB="9144">
                    <a:solidFill>
                      <a:srgbClr val="1B365D"/>
                    </a:solidFill>
                  </a:tcPr>
                </a:tc>
                <a:tc>
                  <a:txBody>
                    <a:bodyPr/>
                    <a:lstStyle/>
                    <a:p>
                      <a:pPr algn="ctr">
                        <a:defRPr sz="620" b="1">
                          <a:solidFill>
                            <a:srgbClr val="FFFFFF"/>
                          </a:solidFill>
                          <a:latin typeface="Arial"/>
                        </a:defRPr>
                      </a:pPr>
                      <a:r>
                        <a:t>Thành tiền (VNĐ)</a:t>
                      </a:r>
                    </a:p>
                  </a:txBody>
                  <a:tcPr anchor="ctr" marL="36576" marR="36576" marT="9144" marB="9144">
                    <a:solidFill>
                      <a:srgbClr val="1B365D"/>
                    </a:solidFill>
                  </a:tcPr>
                </a:tc>
                <a:tc>
                  <a:txBody>
                    <a:bodyPr/>
                    <a:lstStyle/>
                    <a:p>
                      <a:pPr algn="ctr">
                        <a:defRPr sz="620" b="1">
                          <a:solidFill>
                            <a:srgbClr val="FFFFFF"/>
                          </a:solidFill>
                          <a:latin typeface="Arial"/>
                        </a:defRPr>
                      </a:pPr>
                      <a:r>
                        <a:t>Quy đổi (USD)</a:t>
                      </a:r>
                    </a:p>
                  </a:txBody>
                  <a:tcPr anchor="ctr" marL="36576" marR="36576" marT="9144" marB="9144">
                    <a:solidFill>
                      <a:srgbClr val="1B365D"/>
                    </a:solidFill>
                  </a:tcPr>
                </a:tc>
                <a:tc>
                  <a:txBody>
                    <a:bodyPr/>
                    <a:lstStyle/>
                    <a:p>
                      <a:pPr algn="ctr">
                        <a:defRPr sz="620" b="1">
                          <a:solidFill>
                            <a:srgbClr val="FFFFFF"/>
                          </a:solidFill>
                          <a:latin typeface="Arial"/>
                        </a:defRPr>
                      </a:pPr>
                      <a:r>
                        <a:t>Hiệu quả &amp; Tỷ trọng</a:t>
                      </a:r>
                    </a:p>
                  </a:txBody>
                  <a:tcPr anchor="ctr" marL="36576" marR="36576" marT="9144" marB="9144">
                    <a:solidFill>
                      <a:srgbClr val="1B365D"/>
                    </a:solidFill>
                  </a:tcPr>
                </a:tc>
              </a:tr>
              <a:tr h="241069">
                <a:tc>
                  <a:txBody>
                    <a:bodyPr/>
                    <a:lstStyle/>
                    <a:p>
                      <a:pPr algn="ctr">
                        <a:defRPr sz="530" b="1">
                          <a:solidFill>
                            <a:srgbClr val="1E242B"/>
                          </a:solidFill>
                          <a:latin typeface="Arial"/>
                        </a:defRPr>
                      </a:pPr>
                      <a:r>
                        <a:t>No.22</a:t>
                      </a:r>
                      <a:br/>
                      <a:r>
                        <a:t>Nhóm 1</a:t>
                      </a:r>
                    </a:p>
                  </a:txBody>
                  <a:tcPr anchor="ctr" marL="36576" marR="36576" marT="9144" marB="9144">
                    <a:solidFill>
                      <a:srgbClr val="FFFFFF"/>
                    </a:solidFill>
                  </a:tcPr>
                </a:tc>
                <a:tc>
                  <a:txBody>
                    <a:bodyPr/>
                    <a:lstStyle/>
                    <a:p>
                      <a:pPr algn="l">
                        <a:defRPr sz="530">
                          <a:solidFill>
                            <a:srgbClr val="1E242B"/>
                          </a:solidFill>
                          <a:latin typeface="Arial"/>
                        </a:defRPr>
                      </a:pPr>
                      <a:r>
                        <a:t>Cụm khí nén SMC (Mục 18~19): 5 Van SY5120-5LZD-01 (5tr) + Xylanh MGCLB16-50 (4tr), CXSL15-50 (5,1tr), CXSL15-70 (5,6tr), 3x CXSL15-100 (18tr)</a:t>
                      </a:r>
                    </a:p>
                  </a:txBody>
                  <a:tcPr anchor="ctr" marL="36576" marR="36576" marT="9144" marB="9144">
                    <a:solidFill>
                      <a:srgbClr val="FFFFFF"/>
                    </a:solidFill>
                  </a:tcPr>
                </a:tc>
                <a:tc>
                  <a:txBody>
                    <a:bodyPr/>
                    <a:lstStyle/>
                    <a:p>
                      <a:pPr algn="r">
                        <a:defRPr sz="530">
                          <a:solidFill>
                            <a:srgbClr val="1E242B"/>
                          </a:solidFill>
                          <a:latin typeface="Arial"/>
                        </a:defRPr>
                      </a:pPr>
                      <a:r>
                        <a:t>37.700.000 VNĐ</a:t>
                      </a:r>
                    </a:p>
                  </a:txBody>
                  <a:tcPr anchor="ctr" marL="36576" marR="36576" marT="9144" marB="9144">
                    <a:solidFill>
                      <a:srgbClr val="FFFFFF"/>
                    </a:solidFill>
                  </a:tcPr>
                </a:tc>
                <a:tc>
                  <a:txBody>
                    <a:bodyPr/>
                    <a:lstStyle/>
                    <a:p>
                      <a:pPr algn="r">
                        <a:defRPr sz="530">
                          <a:solidFill>
                            <a:srgbClr val="1E242B"/>
                          </a:solidFill>
                          <a:latin typeface="Arial"/>
                        </a:defRPr>
                      </a:pPr>
                      <a:r>
                        <a:t>1.450,00 USD</a:t>
                      </a:r>
                    </a:p>
                  </a:txBody>
                  <a:tcPr anchor="ctr" marL="36576" marR="36576" marT="9144" marB="9144">
                    <a:solidFill>
                      <a:srgbClr val="FFFFFF"/>
                    </a:solidFill>
                  </a:tcPr>
                </a:tc>
                <a:tc>
                  <a:txBody>
                    <a:bodyPr/>
                    <a:lstStyle/>
                    <a:p>
                      <a:pPr algn="l">
                        <a:defRPr sz="530">
                          <a:solidFill>
                            <a:srgbClr val="1E242B"/>
                          </a:solidFill>
                          <a:latin typeface="Arial"/>
                        </a:defRPr>
                      </a:pPr>
                      <a:r>
                        <a:t>37,1% BOM No.22</a:t>
                      </a:r>
                    </a:p>
                  </a:txBody>
                  <a:tcPr anchor="ctr" marL="36576" marR="36576" marT="9144" marB="9144">
                    <a:solidFill>
                      <a:srgbClr val="FFFFFF"/>
                    </a:solidFill>
                  </a:tcPr>
                </a:tc>
              </a:tr>
              <a:tr h="241069">
                <a:tc>
                  <a:txBody>
                    <a:bodyPr/>
                    <a:lstStyle/>
                    <a:p>
                      <a:pPr algn="ctr">
                        <a:defRPr sz="530" b="1">
                          <a:solidFill>
                            <a:srgbClr val="1E242B"/>
                          </a:solidFill>
                          <a:latin typeface="Arial"/>
                        </a:defRPr>
                      </a:pPr>
                      <a:r>
                        <a:t>No.22</a:t>
                      </a:r>
                      <a:br/>
                      <a:r>
                        <a:t>Nhóm 2</a:t>
                      </a:r>
                    </a:p>
                  </a:txBody>
                  <a:tcPr anchor="ctr" marL="36576" marR="36576" marT="9144" marB="9144">
                    <a:solidFill>
                      <a:srgbClr val="F7F9FC"/>
                    </a:solidFill>
                  </a:tcPr>
                </a:tc>
                <a:tc>
                  <a:txBody>
                    <a:bodyPr/>
                    <a:lstStyle/>
                    <a:p>
                      <a:pPr algn="l">
                        <a:defRPr sz="530">
                          <a:solidFill>
                            <a:srgbClr val="1E242B"/>
                          </a:solidFill>
                          <a:latin typeface="Arial"/>
                        </a:defRPr>
                      </a:pPr>
                      <a:r>
                        <a:t>Chi phí gia công cơ khí &amp; thiết bị điện phát sinh (Mục 25: Chi tiết gia công đồ gá và vật tư phụ phát sinh)</a:t>
                      </a:r>
                    </a:p>
                  </a:txBody>
                  <a:tcPr anchor="ctr" marL="36576" marR="36576" marT="9144" marB="9144">
                    <a:solidFill>
                      <a:srgbClr val="F7F9FC"/>
                    </a:solidFill>
                  </a:tcPr>
                </a:tc>
                <a:tc>
                  <a:txBody>
                    <a:bodyPr/>
                    <a:lstStyle/>
                    <a:p>
                      <a:pPr algn="r">
                        <a:defRPr sz="530">
                          <a:solidFill>
                            <a:srgbClr val="1E242B"/>
                          </a:solidFill>
                          <a:latin typeface="Arial"/>
                        </a:defRPr>
                      </a:pPr>
                      <a:r>
                        <a:t>20.000.000 VNĐ</a:t>
                      </a:r>
                    </a:p>
                  </a:txBody>
                  <a:tcPr anchor="ctr" marL="36576" marR="36576" marT="9144" marB="9144">
                    <a:solidFill>
                      <a:srgbClr val="F7F9FC"/>
                    </a:solidFill>
                  </a:tcPr>
                </a:tc>
                <a:tc>
                  <a:txBody>
                    <a:bodyPr/>
                    <a:lstStyle/>
                    <a:p>
                      <a:pPr algn="r">
                        <a:defRPr sz="530">
                          <a:solidFill>
                            <a:srgbClr val="1E242B"/>
                          </a:solidFill>
                          <a:latin typeface="Arial"/>
                        </a:defRPr>
                      </a:pPr>
                      <a:r>
                        <a:t>769,23 USD</a:t>
                      </a:r>
                    </a:p>
                  </a:txBody>
                  <a:tcPr anchor="ctr" marL="36576" marR="36576" marT="9144" marB="9144">
                    <a:solidFill>
                      <a:srgbClr val="F7F9FC"/>
                    </a:solidFill>
                  </a:tcPr>
                </a:tc>
                <a:tc>
                  <a:txBody>
                    <a:bodyPr/>
                    <a:lstStyle/>
                    <a:p>
                      <a:pPr algn="l">
                        <a:defRPr sz="530">
                          <a:solidFill>
                            <a:srgbClr val="1E242B"/>
                          </a:solidFill>
                          <a:latin typeface="Arial"/>
                        </a:defRPr>
                      </a:pPr>
                      <a:r>
                        <a:t>19,7% BOM No.22</a:t>
                      </a:r>
                    </a:p>
                  </a:txBody>
                  <a:tcPr anchor="ctr" marL="36576" marR="36576" marT="9144" marB="9144">
                    <a:solidFill>
                      <a:srgbClr val="F7F9FC"/>
                    </a:solidFill>
                  </a:tcPr>
                </a:tc>
              </a:tr>
              <a:tr h="241069">
                <a:tc>
                  <a:txBody>
                    <a:bodyPr/>
                    <a:lstStyle/>
                    <a:p>
                      <a:pPr algn="ctr">
                        <a:defRPr sz="530" b="1">
                          <a:solidFill>
                            <a:srgbClr val="1E242B"/>
                          </a:solidFill>
                          <a:latin typeface="Arial"/>
                        </a:defRPr>
                      </a:pPr>
                      <a:r>
                        <a:t>No.22</a:t>
                      </a:r>
                      <a:br/>
                      <a:r>
                        <a:t>Nhóm 3</a:t>
                      </a:r>
                    </a:p>
                  </a:txBody>
                  <a:tcPr anchor="ctr" marL="36576" marR="36576" marT="9144" marB="9144">
                    <a:solidFill>
                      <a:srgbClr val="FFFFFF"/>
                    </a:solidFill>
                  </a:tcPr>
                </a:tc>
                <a:tc>
                  <a:txBody>
                    <a:bodyPr/>
                    <a:lstStyle/>
                    <a:p>
                      <a:pPr algn="l">
                        <a:defRPr sz="530">
                          <a:solidFill>
                            <a:srgbClr val="1E242B"/>
                          </a:solidFill>
                          <a:latin typeface="Arial"/>
                        </a:defRPr>
                      </a:pPr>
                      <a:r>
                        <a:t>Điều khiển &amp; Cảm biến (Mục 1, 3, 20, 21): PLC FX5U-64MT/ES (9,5tr) + Module FX5-16EYR/ES (2tr) + HMI Wecon PI3070ig (5tr) + 2 Cảm biến E3Z-LS61 (3tr)</a:t>
                      </a:r>
                    </a:p>
                  </a:txBody>
                  <a:tcPr anchor="ctr" marL="36576" marR="36576" marT="9144" marB="9144">
                    <a:solidFill>
                      <a:srgbClr val="FFFFFF"/>
                    </a:solidFill>
                  </a:tcPr>
                </a:tc>
                <a:tc>
                  <a:txBody>
                    <a:bodyPr/>
                    <a:lstStyle/>
                    <a:p>
                      <a:pPr algn="r">
                        <a:defRPr sz="530">
                          <a:solidFill>
                            <a:srgbClr val="1E242B"/>
                          </a:solidFill>
                          <a:latin typeface="Arial"/>
                        </a:defRPr>
                      </a:pPr>
                      <a:r>
                        <a:t>19.500.000 VNĐ</a:t>
                      </a:r>
                    </a:p>
                  </a:txBody>
                  <a:tcPr anchor="ctr" marL="36576" marR="36576" marT="9144" marB="9144">
                    <a:solidFill>
                      <a:srgbClr val="FFFFFF"/>
                    </a:solidFill>
                  </a:tcPr>
                </a:tc>
                <a:tc>
                  <a:txBody>
                    <a:bodyPr/>
                    <a:lstStyle/>
                    <a:p>
                      <a:pPr algn="r">
                        <a:defRPr sz="530">
                          <a:solidFill>
                            <a:srgbClr val="1E242B"/>
                          </a:solidFill>
                          <a:latin typeface="Arial"/>
                        </a:defRPr>
                      </a:pPr>
                      <a:r>
                        <a:t>750,00 USD</a:t>
                      </a:r>
                    </a:p>
                  </a:txBody>
                  <a:tcPr anchor="ctr" marL="36576" marR="36576" marT="9144" marB="9144">
                    <a:solidFill>
                      <a:srgbClr val="FFFFFF"/>
                    </a:solidFill>
                  </a:tcPr>
                </a:tc>
                <a:tc>
                  <a:txBody>
                    <a:bodyPr/>
                    <a:lstStyle/>
                    <a:p>
                      <a:pPr algn="l">
                        <a:defRPr sz="530">
                          <a:solidFill>
                            <a:srgbClr val="1E242B"/>
                          </a:solidFill>
                          <a:latin typeface="Arial"/>
                        </a:defRPr>
                      </a:pPr>
                      <a:r>
                        <a:t>19,2% BOM No.22</a:t>
                      </a:r>
                    </a:p>
                  </a:txBody>
                  <a:tcPr anchor="ctr" marL="36576" marR="36576" marT="9144" marB="9144">
                    <a:solidFill>
                      <a:srgbClr val="FFFFFF"/>
                    </a:solidFill>
                  </a:tcPr>
                </a:tc>
              </a:tr>
              <a:tr h="241069">
                <a:tc>
                  <a:txBody>
                    <a:bodyPr/>
                    <a:lstStyle/>
                    <a:p>
                      <a:pPr algn="ctr">
                        <a:defRPr sz="530" b="1">
                          <a:solidFill>
                            <a:srgbClr val="1E242B"/>
                          </a:solidFill>
                          <a:latin typeface="Arial"/>
                        </a:defRPr>
                      </a:pPr>
                      <a:r>
                        <a:t>No.22</a:t>
                      </a:r>
                      <a:br/>
                      <a:r>
                        <a:t>Nhóm 4</a:t>
                      </a:r>
                    </a:p>
                  </a:txBody>
                  <a:tcPr anchor="ctr" marL="36576" marR="36576" marT="9144" marB="9144">
                    <a:solidFill>
                      <a:srgbClr val="F7F9FC"/>
                    </a:solidFill>
                  </a:tcPr>
                </a:tc>
                <a:tc>
                  <a:txBody>
                    <a:bodyPr/>
                    <a:lstStyle/>
                    <a:p>
                      <a:pPr algn="l">
                        <a:defRPr sz="530">
                          <a:solidFill>
                            <a:srgbClr val="1E242B"/>
                          </a:solidFill>
                          <a:latin typeface="Arial"/>
                        </a:defRPr>
                      </a:pPr>
                      <a:r>
                        <a:t>Khung nhôm Misumi (Mục 22~24): 15 Thanh nhôm LCF8-4040-2000 (7,5tr) + 50 Ke góc HBLTS8-45 (3tr) + 100 Nut HNTP8-8 (2tr)</a:t>
                      </a:r>
                    </a:p>
                  </a:txBody>
                  <a:tcPr anchor="ctr" marL="36576" marR="36576" marT="9144" marB="9144">
                    <a:solidFill>
                      <a:srgbClr val="F7F9FC"/>
                    </a:solidFill>
                  </a:tcPr>
                </a:tc>
                <a:tc>
                  <a:txBody>
                    <a:bodyPr/>
                    <a:lstStyle/>
                    <a:p>
                      <a:pPr algn="r">
                        <a:defRPr sz="530">
                          <a:solidFill>
                            <a:srgbClr val="1E242B"/>
                          </a:solidFill>
                          <a:latin typeface="Arial"/>
                        </a:defRPr>
                      </a:pPr>
                      <a:r>
                        <a:t>12.500.000 VNĐ</a:t>
                      </a:r>
                    </a:p>
                  </a:txBody>
                  <a:tcPr anchor="ctr" marL="36576" marR="36576" marT="9144" marB="9144">
                    <a:solidFill>
                      <a:srgbClr val="F7F9FC"/>
                    </a:solidFill>
                  </a:tcPr>
                </a:tc>
                <a:tc>
                  <a:txBody>
                    <a:bodyPr/>
                    <a:lstStyle/>
                    <a:p>
                      <a:pPr algn="r">
                        <a:defRPr sz="530">
                          <a:solidFill>
                            <a:srgbClr val="1E242B"/>
                          </a:solidFill>
                          <a:latin typeface="Arial"/>
                        </a:defRPr>
                      </a:pPr>
                      <a:r>
                        <a:t>480,77 USD</a:t>
                      </a:r>
                    </a:p>
                  </a:txBody>
                  <a:tcPr anchor="ctr" marL="36576" marR="36576" marT="9144" marB="9144">
                    <a:solidFill>
                      <a:srgbClr val="F7F9FC"/>
                    </a:solidFill>
                  </a:tcPr>
                </a:tc>
                <a:tc>
                  <a:txBody>
                    <a:bodyPr/>
                    <a:lstStyle/>
                    <a:p>
                      <a:pPr algn="l">
                        <a:defRPr sz="530">
                          <a:solidFill>
                            <a:srgbClr val="1E242B"/>
                          </a:solidFill>
                          <a:latin typeface="Arial"/>
                        </a:defRPr>
                      </a:pPr>
                      <a:r>
                        <a:t>12,3% BOM No.22</a:t>
                      </a:r>
                    </a:p>
                  </a:txBody>
                  <a:tcPr anchor="ctr" marL="36576" marR="36576" marT="9144" marB="9144">
                    <a:solidFill>
                      <a:srgbClr val="F7F9FC"/>
                    </a:solidFill>
                  </a:tcPr>
                </a:tc>
              </a:tr>
              <a:tr h="241069">
                <a:tc>
                  <a:txBody>
                    <a:bodyPr/>
                    <a:lstStyle/>
                    <a:p>
                      <a:pPr algn="ctr">
                        <a:defRPr sz="530" b="1">
                          <a:solidFill>
                            <a:srgbClr val="1E242B"/>
                          </a:solidFill>
                          <a:latin typeface="Arial"/>
                        </a:defRPr>
                      </a:pPr>
                      <a:r>
                        <a:t>No.22</a:t>
                      </a:r>
                      <a:br/>
                      <a:r>
                        <a:t>Nhóm 5</a:t>
                      </a:r>
                    </a:p>
                  </a:txBody>
                  <a:tcPr anchor="ctr" marL="36576" marR="36576" marT="9144" marB="9144">
                    <a:solidFill>
                      <a:srgbClr val="FFFFFF"/>
                    </a:solidFill>
                  </a:tcPr>
                </a:tc>
                <a:tc>
                  <a:txBody>
                    <a:bodyPr/>
                    <a:lstStyle/>
                    <a:p>
                      <a:pPr algn="l">
                        <a:defRPr sz="530">
                          <a:solidFill>
                            <a:srgbClr val="1E242B"/>
                          </a:solidFill>
                          <a:latin typeface="Arial"/>
                        </a:defRPr>
                      </a:pPr>
                      <a:r>
                        <a:t>Linh kiện tủ điện (Mục 2, 4~16): CP30-BA (0,65tr), 3 Contactor S-T32 (1,5tr), Nguồn Omron S8VK (0,7tr), Cầu đấu/chặn/jump/công tắc/còi/đèn/máng/ray (4,14tr)</a:t>
                      </a:r>
                    </a:p>
                  </a:txBody>
                  <a:tcPr anchor="ctr" marL="36576" marR="36576" marT="9144" marB="9144">
                    <a:solidFill>
                      <a:srgbClr val="FFFFFF"/>
                    </a:solidFill>
                  </a:tcPr>
                </a:tc>
                <a:tc>
                  <a:txBody>
                    <a:bodyPr/>
                    <a:lstStyle/>
                    <a:p>
                      <a:pPr algn="r">
                        <a:defRPr sz="530">
                          <a:solidFill>
                            <a:srgbClr val="1E242B"/>
                          </a:solidFill>
                          <a:latin typeface="Arial"/>
                        </a:defRPr>
                      </a:pPr>
                      <a:r>
                        <a:t>6.990.000 VNĐ</a:t>
                      </a:r>
                    </a:p>
                  </a:txBody>
                  <a:tcPr anchor="ctr" marL="36576" marR="36576" marT="9144" marB="9144">
                    <a:solidFill>
                      <a:srgbClr val="FFFFFF"/>
                    </a:solidFill>
                  </a:tcPr>
                </a:tc>
                <a:tc>
                  <a:txBody>
                    <a:bodyPr/>
                    <a:lstStyle/>
                    <a:p>
                      <a:pPr algn="r">
                        <a:defRPr sz="530">
                          <a:solidFill>
                            <a:srgbClr val="1E242B"/>
                          </a:solidFill>
                          <a:latin typeface="Arial"/>
                        </a:defRPr>
                      </a:pPr>
                      <a:r>
                        <a:t>268,85 USD</a:t>
                      </a:r>
                    </a:p>
                  </a:txBody>
                  <a:tcPr anchor="ctr" marL="36576" marR="36576" marT="9144" marB="9144">
                    <a:solidFill>
                      <a:srgbClr val="FFFFFF"/>
                    </a:solidFill>
                  </a:tcPr>
                </a:tc>
                <a:tc>
                  <a:txBody>
                    <a:bodyPr/>
                    <a:lstStyle/>
                    <a:p>
                      <a:pPr algn="l">
                        <a:defRPr sz="530">
                          <a:solidFill>
                            <a:srgbClr val="1E242B"/>
                          </a:solidFill>
                          <a:latin typeface="Arial"/>
                        </a:defRPr>
                      </a:pPr>
                      <a:r>
                        <a:t>6,9% BOM No.22</a:t>
                      </a:r>
                    </a:p>
                  </a:txBody>
                  <a:tcPr anchor="ctr" marL="36576" marR="36576" marT="9144" marB="9144">
                    <a:solidFill>
                      <a:srgbClr val="FFFFFF"/>
                    </a:solidFill>
                  </a:tcPr>
                </a:tc>
              </a:tr>
              <a:tr h="241069">
                <a:tc>
                  <a:txBody>
                    <a:bodyPr/>
                    <a:lstStyle/>
                    <a:p>
                      <a:pPr algn="ctr">
                        <a:defRPr sz="530" b="1">
                          <a:solidFill>
                            <a:srgbClr val="1E242B"/>
                          </a:solidFill>
                          <a:latin typeface="Arial"/>
                        </a:defRPr>
                      </a:pPr>
                      <a:r>
                        <a:t>No.22</a:t>
                      </a:r>
                      <a:br/>
                      <a:r>
                        <a:t>Nhóm 6</a:t>
                      </a:r>
                    </a:p>
                  </a:txBody>
                  <a:tcPr anchor="ctr" marL="36576" marR="36576" marT="9144" marB="9144">
                    <a:solidFill>
                      <a:srgbClr val="F7F9FC"/>
                    </a:solidFill>
                  </a:tcPr>
                </a:tc>
                <a:tc>
                  <a:txBody>
                    <a:bodyPr/>
                    <a:lstStyle/>
                    <a:p>
                      <a:pPr algn="l">
                        <a:defRPr sz="530">
                          <a:solidFill>
                            <a:srgbClr val="1E242B"/>
                          </a:solidFill>
                          <a:latin typeface="Arial"/>
                        </a:defRPr>
                      </a:pPr>
                      <a:r>
                        <a:t>Vỏ tủ điện điều khiển (Mục 17: 1 Tủ điện x 5.000.000 VNĐ; cột tham khảo ghi "Xin báo giá")</a:t>
                      </a:r>
                    </a:p>
                  </a:txBody>
                  <a:tcPr anchor="ctr" marL="36576" marR="36576" marT="9144" marB="9144">
                    <a:solidFill>
                      <a:srgbClr val="F7F9FC"/>
                    </a:solidFill>
                  </a:tcPr>
                </a:tc>
                <a:tc>
                  <a:txBody>
                    <a:bodyPr/>
                    <a:lstStyle/>
                    <a:p>
                      <a:pPr algn="r">
                        <a:defRPr sz="530">
                          <a:solidFill>
                            <a:srgbClr val="1E242B"/>
                          </a:solidFill>
                          <a:latin typeface="Arial"/>
                        </a:defRPr>
                      </a:pPr>
                      <a:r>
                        <a:t>5.000.000 VNĐ</a:t>
                      </a:r>
                    </a:p>
                  </a:txBody>
                  <a:tcPr anchor="ctr" marL="36576" marR="36576" marT="9144" marB="9144">
                    <a:solidFill>
                      <a:srgbClr val="F7F9FC"/>
                    </a:solidFill>
                  </a:tcPr>
                </a:tc>
                <a:tc>
                  <a:txBody>
                    <a:bodyPr/>
                    <a:lstStyle/>
                    <a:p>
                      <a:pPr algn="r">
                        <a:defRPr sz="530">
                          <a:solidFill>
                            <a:srgbClr val="1E242B"/>
                          </a:solidFill>
                          <a:latin typeface="Arial"/>
                        </a:defRPr>
                      </a:pPr>
                      <a:r>
                        <a:t>192,31 USD</a:t>
                      </a:r>
                    </a:p>
                  </a:txBody>
                  <a:tcPr anchor="ctr" marL="36576" marR="36576" marT="9144" marB="9144">
                    <a:solidFill>
                      <a:srgbClr val="F7F9FC"/>
                    </a:solidFill>
                  </a:tcPr>
                </a:tc>
                <a:tc>
                  <a:txBody>
                    <a:bodyPr/>
                    <a:lstStyle/>
                    <a:p>
                      <a:pPr algn="l">
                        <a:defRPr sz="530">
                          <a:solidFill>
                            <a:srgbClr val="1E242B"/>
                          </a:solidFill>
                          <a:latin typeface="Arial"/>
                        </a:defRPr>
                      </a:pPr>
                      <a:r>
                        <a:t>4,9% BOM No.22</a:t>
                      </a:r>
                    </a:p>
                  </a:txBody>
                  <a:tcPr anchor="ctr" marL="36576" marR="36576" marT="9144" marB="9144">
                    <a:solidFill>
                      <a:srgbClr val="F7F9FC"/>
                    </a:solidFill>
                  </a:tcPr>
                </a:tc>
              </a:tr>
              <a:tr h="241069">
                <a:tc>
                  <a:txBody>
                    <a:bodyPr/>
                    <a:lstStyle/>
                    <a:p>
                      <a:pPr algn="ctr">
                        <a:defRPr sz="530" b="1">
                          <a:solidFill>
                            <a:srgbClr val="1E242B"/>
                          </a:solidFill>
                          <a:latin typeface="Arial"/>
                        </a:defRPr>
                      </a:pPr>
                      <a:r>
                        <a:t>CỘNG</a:t>
                      </a:r>
                      <a:br/>
                      <a:r>
                        <a:t>No.22</a:t>
                      </a:r>
                    </a:p>
                  </a:txBody>
                  <a:tcPr anchor="ctr" marL="36576" marR="36576" marT="9144" marB="9144">
                    <a:solidFill>
                      <a:srgbClr val="EAF7EE"/>
                    </a:solidFill>
                  </a:tcPr>
                </a:tc>
                <a:tc>
                  <a:txBody>
                    <a:bodyPr/>
                    <a:lstStyle/>
                    <a:p>
                      <a:pPr algn="l">
                        <a:defRPr sz="530" b="1">
                          <a:solidFill>
                            <a:srgbClr val="1E242B"/>
                          </a:solidFill>
                          <a:latin typeface="Arial"/>
                        </a:defRPr>
                      </a:pPr>
                      <a:r>
                        <a:t>TỔNG ĐỀ ÁN 1 (No.22 - Tự động đo thông mạch, tiếp đất, chịu áp) [PHƯƠNG ÁN A]</a:t>
                      </a:r>
                      <a:br/>
                      <a:r>
                        <a:t>(Sheet thuyết minh: 101.700.000 VNĐ / 3.911,54 USD | Sheet tổng hợp: 4.000 USD)</a:t>
                      </a:r>
                    </a:p>
                  </a:txBody>
                  <a:tcPr anchor="ctr" marL="36576" marR="36576" marT="9144" marB="9144">
                    <a:solidFill>
                      <a:srgbClr val="EAF7EE"/>
                    </a:solidFill>
                  </a:tcPr>
                </a:tc>
                <a:tc>
                  <a:txBody>
                    <a:bodyPr/>
                    <a:lstStyle/>
                    <a:p>
                      <a:pPr algn="r">
                        <a:defRPr sz="530" b="1">
                          <a:solidFill>
                            <a:srgbClr val="1E6E3E"/>
                          </a:solidFill>
                          <a:latin typeface="Arial"/>
                        </a:defRPr>
                      </a:pPr>
                      <a:r>
                        <a:t>101.690.000 VNĐ</a:t>
                      </a:r>
                    </a:p>
                  </a:txBody>
                  <a:tcPr anchor="ctr" marL="36576" marR="36576" marT="9144" marB="9144">
                    <a:solidFill>
                      <a:srgbClr val="EAF7EE"/>
                    </a:solidFill>
                  </a:tcPr>
                </a:tc>
                <a:tc>
                  <a:txBody>
                    <a:bodyPr/>
                    <a:lstStyle/>
                    <a:p>
                      <a:pPr algn="r">
                        <a:defRPr sz="530">
                          <a:solidFill>
                            <a:srgbClr val="1E242B"/>
                          </a:solidFill>
                          <a:latin typeface="Arial"/>
                        </a:defRPr>
                      </a:pPr>
                      <a:r>
                        <a:t>3.911,15 USD</a:t>
                      </a:r>
                      <a:br/>
                      <a:r>
                        <a:t>(Làm tròn: 4.000$)</a:t>
                      </a:r>
                    </a:p>
                  </a:txBody>
                  <a:tcPr anchor="ctr" marL="36576" marR="36576" marT="9144" marB="9144">
                    <a:solidFill>
                      <a:srgbClr val="EAF7EE"/>
                    </a:solidFill>
                  </a:tcPr>
                </a:tc>
                <a:tc>
                  <a:txBody>
                    <a:bodyPr/>
                    <a:lstStyle/>
                    <a:p>
                      <a:pPr algn="l">
                        <a:defRPr sz="530">
                          <a:solidFill>
                            <a:srgbClr val="1E242B"/>
                          </a:solidFill>
                          <a:latin typeface="Arial"/>
                        </a:defRPr>
                      </a:pPr>
                      <a:r>
                        <a:t>-30s/máy</a:t>
                      </a:r>
                      <a:br/>
                      <a:r>
                        <a:t>29,60 tr/năm ($1.138)</a:t>
                      </a:r>
                    </a:p>
                  </a:txBody>
                  <a:tcPr anchor="ctr" marL="36576" marR="36576" marT="9144" marB="9144">
                    <a:solidFill>
                      <a:srgbClr val="EAF7EE"/>
                    </a:solidFill>
                  </a:tcPr>
                </a:tc>
              </a:tr>
              <a:tr h="241069">
                <a:tc>
                  <a:txBody>
                    <a:bodyPr/>
                    <a:lstStyle/>
                    <a:p>
                      <a:pPr algn="ctr">
                        <a:defRPr sz="530" b="1">
                          <a:solidFill>
                            <a:srgbClr val="1E242B"/>
                          </a:solidFill>
                          <a:latin typeface="Arial"/>
                        </a:defRPr>
                      </a:pPr>
                      <a:r>
                        <a:t>No.23</a:t>
                      </a:r>
                      <a:br/>
                      <a:r>
                        <a:t>(Mục 2)</a:t>
                      </a:r>
                    </a:p>
                  </a:txBody>
                  <a:tcPr anchor="ctr" marL="36576" marR="36576" marT="9144" marB="9144">
                    <a:solidFill>
                      <a:srgbClr val="E8EEF5"/>
                    </a:solidFill>
                  </a:tcPr>
                </a:tc>
                <a:tc>
                  <a:txBody>
                    <a:bodyPr/>
                    <a:lstStyle/>
                    <a:p>
                      <a:pPr algn="l">
                        <a:defRPr sz="530">
                          <a:solidFill>
                            <a:srgbClr val="1E242B"/>
                          </a:solidFill>
                          <a:latin typeface="Arial"/>
                        </a:defRPr>
                      </a:pPr>
                      <a:r>
                        <a:t>Đề án 2 (No.23 - Robot đặt bản thảo ISU: U411 + SITC-2 + Halftone):</a:t>
                      </a:r>
                      <a:br/>
                      <a:r>
                        <a:t>2 Cell băng tải (200tr/$7.692) + Cấp nguồn (50tr/$1.923) + Định vị cáp (50tr/$1.923) + Robot (350tr/$13.462)</a:t>
                      </a:r>
                    </a:p>
                  </a:txBody>
                  <a:tcPr anchor="ctr" marL="36576" marR="36576" marT="9144" marB="9144">
                    <a:solidFill>
                      <a:srgbClr val="E8EEF5"/>
                    </a:solidFill>
                  </a:tcPr>
                </a:tc>
                <a:tc>
                  <a:txBody>
                    <a:bodyPr/>
                    <a:lstStyle/>
                    <a:p>
                      <a:pPr algn="r">
                        <a:defRPr sz="530">
                          <a:solidFill>
                            <a:srgbClr val="1E242B"/>
                          </a:solidFill>
                          <a:latin typeface="Arial"/>
                        </a:defRPr>
                      </a:pPr>
                      <a:r>
                        <a:t>650.000.000 VNĐ</a:t>
                      </a:r>
                    </a:p>
                  </a:txBody>
                  <a:tcPr anchor="ctr" marL="36576" marR="36576" marT="9144" marB="9144">
                    <a:solidFill>
                      <a:srgbClr val="E8EEF5"/>
                    </a:solidFill>
                  </a:tcPr>
                </a:tc>
                <a:tc>
                  <a:txBody>
                    <a:bodyPr/>
                    <a:lstStyle/>
                    <a:p>
                      <a:pPr algn="r">
                        <a:defRPr sz="530">
                          <a:solidFill>
                            <a:srgbClr val="1E242B"/>
                          </a:solidFill>
                          <a:latin typeface="Arial"/>
                        </a:defRPr>
                      </a:pPr>
                      <a:r>
                        <a:t>25.000,00 USD</a:t>
                      </a:r>
                    </a:p>
                  </a:txBody>
                  <a:tcPr anchor="ctr" marL="36576" marR="36576" marT="9144" marB="9144">
                    <a:solidFill>
                      <a:srgbClr val="E8EEF5"/>
                    </a:solidFill>
                  </a:tcPr>
                </a:tc>
                <a:tc>
                  <a:txBody>
                    <a:bodyPr/>
                    <a:lstStyle/>
                    <a:p>
                      <a:pPr algn="l">
                        <a:defRPr sz="530">
                          <a:solidFill>
                            <a:srgbClr val="1E242B"/>
                          </a:solidFill>
                          <a:latin typeface="Arial"/>
                        </a:defRPr>
                      </a:pPr>
                      <a:r>
                        <a:t>-110s/máy</a:t>
                      </a:r>
                      <a:br/>
                      <a:r>
                        <a:t>108,53 tr/năm ($4.174)</a:t>
                      </a:r>
                    </a:p>
                  </a:txBody>
                  <a:tcPr anchor="ctr" marL="36576" marR="36576" marT="9144" marB="9144">
                    <a:solidFill>
                      <a:srgbClr val="E8EEF5"/>
                    </a:solidFill>
                  </a:tcPr>
                </a:tc>
              </a:tr>
              <a:tr h="241069">
                <a:tc>
                  <a:txBody>
                    <a:bodyPr/>
                    <a:lstStyle/>
                    <a:p>
                      <a:pPr algn="ctr">
                        <a:defRPr sz="530" b="1">
                          <a:solidFill>
                            <a:srgbClr val="1E242B"/>
                          </a:solidFill>
                          <a:latin typeface="Arial"/>
                        </a:defRPr>
                      </a:pPr>
                      <a:r>
                        <a:t>No.24</a:t>
                      </a:r>
                      <a:br/>
                      <a:r>
                        <a:t>(Mục 3)</a:t>
                      </a:r>
                    </a:p>
                  </a:txBody>
                  <a:tcPr anchor="ctr" marL="36576" marR="36576" marT="9144" marB="9144">
                    <a:solidFill>
                      <a:srgbClr val="E8EEF5"/>
                    </a:solidFill>
                  </a:tcPr>
                </a:tc>
                <a:tc>
                  <a:txBody>
                    <a:bodyPr/>
                    <a:lstStyle/>
                    <a:p>
                      <a:pPr algn="l">
                        <a:defRPr sz="530">
                          <a:solidFill>
                            <a:srgbClr val="1E242B"/>
                          </a:solidFill>
                          <a:latin typeface="Arial"/>
                        </a:defRPr>
                      </a:pPr>
                      <a:r>
                        <a:t>Đề án 3 (No.24 - Robot kết nối USB, Camera đánh giá Panel &amp; Camera AI + Robot chấm tọa độ U201 trên Panel)</a:t>
                      </a:r>
                    </a:p>
                  </a:txBody>
                  <a:tcPr anchor="ctr" marL="36576" marR="36576" marT="9144" marB="9144">
                    <a:solidFill>
                      <a:srgbClr val="E8EEF5"/>
                    </a:solidFill>
                  </a:tcPr>
                </a:tc>
                <a:tc>
                  <a:txBody>
                    <a:bodyPr/>
                    <a:lstStyle/>
                    <a:p>
                      <a:pPr algn="r">
                        <a:defRPr sz="530">
                          <a:solidFill>
                            <a:srgbClr val="1E242B"/>
                          </a:solidFill>
                          <a:latin typeface="Arial"/>
                        </a:defRPr>
                      </a:pPr>
                      <a:r>
                        <a:t>104.000.000 VNĐ</a:t>
                      </a:r>
                    </a:p>
                  </a:txBody>
                  <a:tcPr anchor="ctr" marL="36576" marR="36576" marT="9144" marB="9144">
                    <a:solidFill>
                      <a:srgbClr val="E8EEF5"/>
                    </a:solidFill>
                  </a:tcPr>
                </a:tc>
                <a:tc>
                  <a:txBody>
                    <a:bodyPr/>
                    <a:lstStyle/>
                    <a:p>
                      <a:pPr algn="r">
                        <a:defRPr sz="530">
                          <a:solidFill>
                            <a:srgbClr val="1E242B"/>
                          </a:solidFill>
                          <a:latin typeface="Arial"/>
                        </a:defRPr>
                      </a:pPr>
                      <a:r>
                        <a:t>4.000,00 USD</a:t>
                      </a:r>
                    </a:p>
                  </a:txBody>
                  <a:tcPr anchor="ctr" marL="36576" marR="36576" marT="9144" marB="9144">
                    <a:solidFill>
                      <a:srgbClr val="E8EEF5"/>
                    </a:solidFill>
                  </a:tcPr>
                </a:tc>
                <a:tc>
                  <a:txBody>
                    <a:bodyPr/>
                    <a:lstStyle/>
                    <a:p>
                      <a:pPr algn="l">
                        <a:defRPr sz="530">
                          <a:solidFill>
                            <a:srgbClr val="1E242B"/>
                          </a:solidFill>
                          <a:latin typeface="Arial"/>
                        </a:defRPr>
                      </a:pPr>
                      <a:r>
                        <a:t>-30s/máy</a:t>
                      </a:r>
                      <a:br/>
                      <a:r>
                        <a:t>29,60 tr/năm ($1.138)</a:t>
                      </a:r>
                    </a:p>
                  </a:txBody>
                  <a:tcPr anchor="ctr" marL="36576" marR="36576" marT="9144" marB="9144">
                    <a:solidFill>
                      <a:srgbClr val="E8EEF5"/>
                    </a:solidFill>
                  </a:tcPr>
                </a:tc>
              </a:tr>
              <a:tr h="241070">
                <a:tc>
                  <a:txBody>
                    <a:bodyPr/>
                    <a:lstStyle/>
                    <a:p>
                      <a:pPr algn="ctr">
                        <a:defRPr sz="530" b="1">
                          <a:solidFill>
                            <a:srgbClr val="1E242B"/>
                          </a:solidFill>
                          <a:latin typeface="Arial"/>
                        </a:defRPr>
                      </a:pPr>
                      <a:r>
                        <a:t>TỔNG</a:t>
                      </a:r>
                      <a:br/>
                      <a:r>
                        <a:t>3 ĐA</a:t>
                      </a:r>
                    </a:p>
                  </a:txBody>
                  <a:tcPr anchor="ctr" marL="36576" marR="36576" marT="9144" marB="9144">
                    <a:solidFill>
                      <a:srgbClr val="EAF7EE"/>
                    </a:solidFill>
                  </a:tcPr>
                </a:tc>
                <a:tc>
                  <a:txBody>
                    <a:bodyPr/>
                    <a:lstStyle/>
                    <a:p>
                      <a:pPr algn="l">
                        <a:defRPr sz="530" b="1">
                          <a:solidFill>
                            <a:srgbClr val="1E242B"/>
                          </a:solidFill>
                          <a:latin typeface="Arial"/>
                        </a:defRPr>
                      </a:pPr>
                      <a:r>
                        <a:t>TỔNG CỘNG 3 ĐỀ ÁN TRONG IRIS EXPのVN提案.xlsx (No.22 + No.23 + No.24) [PHƯƠNG ÁN B]</a:t>
                      </a:r>
                      <a:br/>
                      <a:r>
                        <a:t>(Theo thuyết minh: 855.700.000 VNĐ / 32.911,54 USD | Theo bảng tổng hợp: 858.000.000 VNĐ / 33.000 USD)</a:t>
                      </a:r>
                    </a:p>
                  </a:txBody>
                  <a:tcPr anchor="ctr" marL="36576" marR="36576" marT="9144" marB="9144">
                    <a:solidFill>
                      <a:srgbClr val="EAF7EE"/>
                    </a:solidFill>
                  </a:tcPr>
                </a:tc>
                <a:tc>
                  <a:txBody>
                    <a:bodyPr/>
                    <a:lstStyle/>
                    <a:p>
                      <a:pPr algn="r">
                        <a:defRPr sz="530" b="1">
                          <a:solidFill>
                            <a:srgbClr val="1E242B"/>
                          </a:solidFill>
                          <a:latin typeface="Arial"/>
                        </a:defRPr>
                      </a:pPr>
                      <a:r>
                        <a:t>855.690.000 VNĐ</a:t>
                      </a:r>
                    </a:p>
                  </a:txBody>
                  <a:tcPr anchor="ctr" marL="36576" marR="36576" marT="9144" marB="9144">
                    <a:solidFill>
                      <a:srgbClr val="EAF7EE"/>
                    </a:solidFill>
                  </a:tcPr>
                </a:tc>
                <a:tc>
                  <a:txBody>
                    <a:bodyPr/>
                    <a:lstStyle/>
                    <a:p>
                      <a:pPr algn="r">
                        <a:defRPr sz="530">
                          <a:solidFill>
                            <a:srgbClr val="1E242B"/>
                          </a:solidFill>
                          <a:latin typeface="Arial"/>
                        </a:defRPr>
                      </a:pPr>
                      <a:r>
                        <a:t>32.911,15 USD</a:t>
                      </a:r>
                      <a:br/>
                      <a:r>
                        <a:t>(Làm tròn: 33.000$)</a:t>
                      </a:r>
                    </a:p>
                  </a:txBody>
                  <a:tcPr anchor="ctr" marL="36576" marR="36576" marT="9144" marB="9144">
                    <a:solidFill>
                      <a:srgbClr val="EAF7EE"/>
                    </a:solidFill>
                  </a:tcPr>
                </a:tc>
                <a:tc>
                  <a:txBody>
                    <a:bodyPr/>
                    <a:lstStyle/>
                    <a:p>
                      <a:pPr algn="l">
                        <a:defRPr sz="530">
                          <a:solidFill>
                            <a:srgbClr val="1E242B"/>
                          </a:solidFill>
                          <a:latin typeface="Arial"/>
                        </a:defRPr>
                      </a:pPr>
                      <a:r>
                        <a:t>-170s/máy</a:t>
                      </a:r>
                      <a:br/>
                      <a:r>
                        <a:t>167,73 tr/năm ($6.451)</a:t>
                      </a:r>
                    </a:p>
                  </a:txBody>
                  <a:tcPr anchor="ctr" marL="36576" marR="36576" marT="9144" marB="9144">
                    <a:solidFill>
                      <a:srgbClr val="EAF7EE"/>
                    </a:solidFill>
                  </a:tcPr>
                </a:tc>
              </a:tr>
            </a:tbl>
          </a:graphicData>
        </a:graphic>
      </p:graphicFrame>
      <p:sp>
        <p:nvSpPr>
          <p:cNvPr id="9" name="TextBox 8"/>
          <p:cNvSpPr txBox="1"/>
          <p:nvPr/>
        </p:nvSpPr>
        <p:spPr>
          <a:xfrm>
            <a:off x="256032" y="4069080"/>
            <a:ext cx="6629400" cy="182880"/>
          </a:xfrm>
          <a:prstGeom prst="rect">
            <a:avLst/>
          </a:prstGeom>
          <a:noFill/>
        </p:spPr>
        <p:txBody>
          <a:bodyPr wrap="square" lIns="18288" rIns="18288" tIns="9144" bIns="9144">
            <a:spAutoFit/>
          </a:bodyPr>
          <a:lstStyle/>
          <a:p>
            <a:pPr>
              <a:defRPr sz="780" b="1">
                <a:solidFill>
                  <a:srgbClr val="1B365D"/>
                </a:solidFill>
                <a:latin typeface="Arial"/>
              </a:defRPr>
            </a:pPr>
            <a:r>
              <a:t>■ 2. CÁC NỘI DUNG XIN Ý KIẾN CHỈ ĐẠO CỦA TRƯỞNG BỘ PHẬN</a:t>
            </a:r>
          </a:p>
        </p:txBody>
      </p:sp>
      <p:graphicFrame>
        <p:nvGraphicFramePr>
          <p:cNvPr id="10" name="Table 9"/>
          <p:cNvGraphicFramePr>
            <a:graphicFrameLocks noGrp="1"/>
          </p:cNvGraphicFramePr>
          <p:nvPr/>
        </p:nvGraphicFramePr>
        <p:xfrm>
          <a:off x="256032" y="4261104"/>
          <a:ext cx="6629400" cy="2212848"/>
        </p:xfrm>
        <a:graphic>
          <a:graphicData uri="http://schemas.openxmlformats.org/drawingml/2006/table">
            <a:tbl>
              <a:tblPr firstRow="1" bandRow="1">
                <a:tableStyleId>{5C22544A-7EE6-4342-B048-85BDC9FD1C3A}</a:tableStyleId>
              </a:tblPr>
              <a:tblGrid>
                <a:gridCol w="1325880"/>
                <a:gridCol w="3337560"/>
                <a:gridCol w="1965960"/>
              </a:tblGrid>
              <a:tr h="442569">
                <a:tc>
                  <a:txBody>
                    <a:bodyPr/>
                    <a:lstStyle/>
                    <a:p>
                      <a:pPr algn="ctr">
                        <a:defRPr sz="650" b="1">
                          <a:solidFill>
                            <a:srgbClr val="FFFFFF"/>
                          </a:solidFill>
                          <a:latin typeface="Arial"/>
                        </a:defRPr>
                      </a:pPr>
                      <a:r>
                        <a:t>Nội dung xin ý kiến</a:t>
                      </a:r>
                    </a:p>
                  </a:txBody>
                  <a:tcPr anchor="ctr" marL="36576" marR="36576" marT="9144" marB="9144">
                    <a:solidFill>
                      <a:srgbClr val="1B365D"/>
                    </a:solidFill>
                  </a:tcPr>
                </a:tc>
                <a:tc>
                  <a:txBody>
                    <a:bodyPr/>
                    <a:lstStyle/>
                    <a:p>
                      <a:pPr algn="ctr">
                        <a:defRPr sz="650" b="1">
                          <a:solidFill>
                            <a:srgbClr val="FFFFFF"/>
                          </a:solidFill>
                          <a:latin typeface="Arial"/>
                        </a:defRPr>
                      </a:pPr>
                      <a:r>
                        <a:t>Hiện trạng &amp; Phương án đề xuất của KDTVN-PE-3</a:t>
                      </a:r>
                    </a:p>
                  </a:txBody>
                  <a:tcPr anchor="ctr" marL="36576" marR="36576" marT="9144" marB="9144">
                    <a:solidFill>
                      <a:srgbClr val="1B365D"/>
                    </a:solidFill>
                  </a:tcPr>
                </a:tc>
                <a:tc>
                  <a:txBody>
                    <a:bodyPr/>
                    <a:lstStyle/>
                    <a:p>
                      <a:pPr algn="ctr">
                        <a:defRPr sz="650" b="1">
                          <a:solidFill>
                            <a:srgbClr val="FFFFFF"/>
                          </a:solidFill>
                          <a:latin typeface="Arial"/>
                        </a:defRPr>
                      </a:pPr>
                      <a:r>
                        <a:t>Quyết định cần xin</a:t>
                      </a:r>
                    </a:p>
                  </a:txBody>
                  <a:tcPr anchor="ctr" marL="36576" marR="36576" marT="9144" marB="9144">
                    <a:solidFill>
                      <a:srgbClr val="1B365D"/>
                    </a:solidFill>
                  </a:tcPr>
                </a:tc>
              </a:tr>
              <a:tr h="442569">
                <a:tc>
                  <a:txBody>
                    <a:bodyPr/>
                    <a:lstStyle/>
                    <a:p>
                      <a:pPr algn="l">
                        <a:defRPr sz="580" b="1">
                          <a:solidFill>
                            <a:srgbClr val="1E242B"/>
                          </a:solidFill>
                          <a:latin typeface="Arial"/>
                        </a:defRPr>
                      </a:pPr>
                      <a:r>
                        <a:t>1. Chọn Phương án</a:t>
                      </a:r>
                      <a:br/>
                      <a:r>
                        <a:t>ngân sách Đợt 1 &amp; 2</a:t>
                      </a:r>
                    </a:p>
                  </a:txBody>
                  <a:tcPr anchor="ctr" marL="36576" marR="36576" marT="9144" marB="9144">
                    <a:solidFill>
                      <a:srgbClr val="EAF7EE"/>
                    </a:solidFill>
                  </a:tcPr>
                </a:tc>
                <a:tc>
                  <a:txBody>
                    <a:bodyPr/>
                    <a:lstStyle/>
                    <a:p>
                      <a:pPr algn="l">
                        <a:defRPr sz="580">
                          <a:solidFill>
                            <a:srgbClr val="1E242B"/>
                          </a:solidFill>
                          <a:latin typeface="Arial"/>
                        </a:defRPr>
                      </a:pPr>
                      <a:r>
                        <a:t>• PA A (Khuyến nghị): Duyệt ngay No.22 (101,69tr); thay Robot No.23, 24 bằng Quét DP (No.25) &amp; đọc log Host PC; hoàn tất báo giá Đợt 2 cho Camera No.27 (-177s) và DP No.25 (-110s).</a:t>
                      </a:r>
                      <a:br/>
                      <a:r>
                        <a:t>• PA B: Duyệt trọn gói 3 đề án trong VN提案.xlsx (855,69tr / 32.911,15 USD).</a:t>
                      </a:r>
                    </a:p>
                  </a:txBody>
                  <a:tcPr anchor="ctr" marL="36576" marR="36576" marT="9144" marB="9144">
                    <a:solidFill>
                      <a:srgbClr val="EAF7EE"/>
                    </a:solidFill>
                  </a:tcPr>
                </a:tc>
                <a:tc>
                  <a:txBody>
                    <a:bodyPr/>
                    <a:lstStyle/>
                    <a:p>
                      <a:pPr algn="l">
                        <a:defRPr sz="580">
                          <a:solidFill>
                            <a:srgbClr val="1E242B"/>
                          </a:solidFill>
                          <a:latin typeface="Arial"/>
                        </a:defRPr>
                      </a:pPr>
                      <a:r>
                        <a:t>Chọn Phương án A hay B trước 15/11/2026</a:t>
                      </a:r>
                    </a:p>
                  </a:txBody>
                  <a:tcPr anchor="ctr" marL="36576" marR="36576" marT="9144" marB="9144">
                    <a:solidFill>
                      <a:srgbClr val="EAF7EE"/>
                    </a:solidFill>
                  </a:tcPr>
                </a:tc>
              </a:tr>
              <a:tr h="442569">
                <a:tc>
                  <a:txBody>
                    <a:bodyPr/>
                    <a:lstStyle/>
                    <a:p>
                      <a:pPr algn="l">
                        <a:defRPr sz="580" b="1">
                          <a:solidFill>
                            <a:srgbClr val="1E242B"/>
                          </a:solidFill>
                          <a:latin typeface="Arial"/>
                        </a:defRPr>
                      </a:pPr>
                      <a:r>
                        <a:t>2. Chuyển bước lắp</a:t>
                      </a:r>
                      <a:br/>
                      <a:r>
                        <a:t>6 tấm vỏ máy (No.33)</a:t>
                      </a:r>
                    </a:p>
                  </a:txBody>
                  <a:tcPr anchor="ctr" marL="36576" marR="36576" marT="9144" marB="9144">
                    <a:solidFill>
                      <a:srgbClr val="F7F9FC"/>
                    </a:solidFill>
                  </a:tcPr>
                </a:tc>
                <a:tc>
                  <a:txBody>
                    <a:bodyPr/>
                    <a:lstStyle/>
                    <a:p>
                      <a:pPr algn="l">
                        <a:defRPr sz="580">
                          <a:solidFill>
                            <a:srgbClr val="1E242B"/>
                          </a:solidFill>
                          <a:latin typeface="Arial"/>
                        </a:defRPr>
                      </a:pPr>
                      <a:r>
                        <a:t>Tại K3 (A-3) đang mất 48,32s~90s lắp 6 tấm vỏ ngoài trước khi đo chịu áp No.22. Đề xuất chuyển nguyên công lắp 6 tấm vỏ về cuối chuyền Lắp ráp (本体組立) để tốn 0đ thiết bị.</a:t>
                      </a:r>
                    </a:p>
                  </a:txBody>
                  <a:tcPr anchor="ctr" marL="36576" marR="36576" marT="9144" marB="9144">
                    <a:solidFill>
                      <a:srgbClr val="F7F9FC"/>
                    </a:solidFill>
                  </a:tcPr>
                </a:tc>
                <a:tc>
                  <a:txBody>
                    <a:bodyPr/>
                    <a:lstStyle/>
                    <a:p>
                      <a:pPr algn="l">
                        <a:defRPr sz="580">
                          <a:solidFill>
                            <a:srgbClr val="1E242B"/>
                          </a:solidFill>
                          <a:latin typeface="Arial"/>
                        </a:defRPr>
                      </a:pPr>
                      <a:r>
                        <a:t>Chỉ đạo làm việc với bộ phận Assy &amp; PE JP</a:t>
                      </a:r>
                    </a:p>
                  </a:txBody>
                  <a:tcPr anchor="ctr" marL="36576" marR="36576" marT="9144" marB="9144">
                    <a:solidFill>
                      <a:srgbClr val="F7F9FC"/>
                    </a:solidFill>
                  </a:tcPr>
                </a:tc>
              </a:tr>
              <a:tr h="442569">
                <a:tc>
                  <a:txBody>
                    <a:bodyPr/>
                    <a:lstStyle/>
                    <a:p>
                      <a:pPr algn="l">
                        <a:defRPr sz="580" b="1">
                          <a:solidFill>
                            <a:srgbClr val="1E242B"/>
                          </a:solidFill>
                          <a:latin typeface="Arial"/>
                        </a:defRPr>
                      </a:pPr>
                      <a:r>
                        <a:t>3. Chốt DR công đoạn</a:t>
                      </a:r>
                      <a:br/>
                      <a:r>
                        <a:t>&amp; nghiệm thu Belt</a:t>
                      </a:r>
                    </a:p>
                  </a:txBody>
                  <a:tcPr anchor="ctr" marL="36576" marR="36576" marT="9144" marB="9144">
                    <a:solidFill>
                      <a:srgbClr val="FEF7E6"/>
                    </a:solidFill>
                  </a:tcPr>
                </a:tc>
                <a:tc>
                  <a:txBody>
                    <a:bodyPr/>
                    <a:lstStyle/>
                    <a:p>
                      <a:pPr algn="l">
                        <a:defRPr sz="580">
                          <a:solidFill>
                            <a:srgbClr val="1E242B"/>
                          </a:solidFill>
                          <a:latin typeface="Arial"/>
                        </a:defRPr>
                      </a:pPr>
                      <a:r>
                        <a:t>• Đề nghị PE/Thiết kế JP sớm chốt lịch DR công đoạn và phản hồi 6 kiến nghị sửa mạch/FW của VN trong tháng 11/2026 để kịp mốc chạy thử PMT1 (T12/2026).</a:t>
                      </a:r>
                      <a:br/>
                      <a:r>
                        <a:t>• Chỉ bỏ bước đo lệch Transfer Belt tại VN sau khi Puli vát 35° + Belt mới đạt Cpk ≥ 1,33.</a:t>
                      </a:r>
                    </a:p>
                  </a:txBody>
                  <a:tcPr anchor="ctr" marL="36576" marR="36576" marT="9144" marB="9144">
                    <a:solidFill>
                      <a:srgbClr val="FEF7E6"/>
                    </a:solidFill>
                  </a:tcPr>
                </a:tc>
                <a:tc>
                  <a:txBody>
                    <a:bodyPr/>
                    <a:lstStyle/>
                    <a:p>
                      <a:pPr algn="l">
                        <a:defRPr sz="580">
                          <a:solidFill>
                            <a:srgbClr val="1E242B"/>
                          </a:solidFill>
                          <a:latin typeface="Arial"/>
                        </a:defRPr>
                      </a:pPr>
                      <a:r>
                        <a:t>Hỗ trợ thúc đẩy PE JP &amp; thống nhất với QA</a:t>
                      </a:r>
                    </a:p>
                  </a:txBody>
                  <a:tcPr anchor="ctr" marL="36576" marR="36576" marT="9144" marB="9144">
                    <a:solidFill>
                      <a:srgbClr val="FEF7E6"/>
                    </a:solidFill>
                  </a:tcPr>
                </a:tc>
              </a:tr>
              <a:tr h="442572">
                <a:tc>
                  <a:txBody>
                    <a:bodyPr/>
                    <a:lstStyle/>
                    <a:p>
                      <a:pPr algn="l">
                        <a:defRPr sz="580" b="1">
                          <a:solidFill>
                            <a:srgbClr val="1E242B"/>
                          </a:solidFill>
                          <a:latin typeface="Arial"/>
                        </a:defRPr>
                      </a:pPr>
                      <a:r>
                        <a:t>4. Hạ tầng mạng hóa</a:t>
                      </a:r>
                      <a:br/>
                      <a:r>
                        <a:t>theo chuẩn Spica</a:t>
                      </a:r>
                    </a:p>
                  </a:txBody>
                  <a:tcPr anchor="ctr" marL="36576" marR="36576" marT="9144" marB="9144">
                    <a:solidFill>
                      <a:srgbClr val="F7F9FC"/>
                    </a:solidFill>
                  </a:tcPr>
                </a:tc>
                <a:tc>
                  <a:txBody>
                    <a:bodyPr/>
                    <a:lstStyle/>
                    <a:p>
                      <a:pPr algn="l">
                        <a:defRPr sz="580">
                          <a:solidFill>
                            <a:srgbClr val="1E242B"/>
                          </a:solidFill>
                          <a:latin typeface="Arial"/>
                        </a:defRPr>
                      </a:pPr>
                      <a:r>
                        <a:t>Đồng bộ cấu hình Spica Mini PC (~40.000 JPY/bộ điều khiển 4 máy, nguồn AC, mạng LAN có dây) thay vì Raspberry Pi dùng pin của Athena để tránh lỗi sập nguồn/rớt Wi-Fi.</a:t>
                      </a:r>
                    </a:p>
                  </a:txBody>
                  <a:tcPr anchor="ctr" marL="36576" marR="36576" marT="9144" marB="9144">
                    <a:solidFill>
                      <a:srgbClr val="F7F9FC"/>
                    </a:solidFill>
                  </a:tcPr>
                </a:tc>
                <a:tc>
                  <a:txBody>
                    <a:bodyPr/>
                    <a:lstStyle/>
                    <a:p>
                      <a:pPr algn="l">
                        <a:defRPr sz="580">
                          <a:solidFill>
                            <a:srgbClr val="1E242B"/>
                          </a:solidFill>
                          <a:latin typeface="Arial"/>
                        </a:defRPr>
                      </a:pPr>
                      <a:r>
                        <a:t>Duyệt chủ trương đồng bộ hạ tầng Spica</a:t>
                      </a:r>
                    </a:p>
                  </a:txBody>
                  <a:tcPr anchor="ctr" marL="36576" marR="36576" marT="9144" marB="9144">
                    <a:solidFill>
                      <a:srgbClr val="F7F9FC"/>
                    </a:solidFill>
                  </a:tcPr>
                </a:tc>
              </a:tr>
            </a:tbl>
          </a:graphicData>
        </a:graphic>
      </p:graphicFrame>
      <p:pic>
        <p:nvPicPr>
          <p:cNvPr id="11" name="Picture 10" descr="chart_s15_bom22.png"/>
          <p:cNvPicPr>
            <a:picLocks noChangeAspect="1"/>
          </p:cNvPicPr>
          <p:nvPr/>
        </p:nvPicPr>
        <p:blipFill>
          <a:blip r:embed="rId2"/>
          <a:stretch>
            <a:fillRect/>
          </a:stretch>
        </p:blipFill>
        <p:spPr>
          <a:xfrm>
            <a:off x="6995160" y="1188720"/>
            <a:ext cx="4919472" cy="2723279"/>
          </a:xfrm>
          <a:prstGeom prst="rect">
            <a:avLst/>
          </a:prstGeom>
        </p:spPr>
      </p:pic>
      <p:sp>
        <p:nvSpPr>
          <p:cNvPr id="12" name="Rectangle 11"/>
          <p:cNvSpPr/>
          <p:nvPr/>
        </p:nvSpPr>
        <p:spPr>
          <a:xfrm>
            <a:off x="6995160" y="4261104"/>
            <a:ext cx="4919472" cy="2212848"/>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995160" y="4261104"/>
            <a:ext cx="4919472" cy="30175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80" b="1">
                <a:solidFill>
                  <a:srgbClr val="FFFFFF"/>
                </a:solidFill>
                <a:latin typeface="Arial"/>
              </a:defRPr>
            </a:pPr>
            <a:r>
              <a:t>TÓM TẮT 2 PHƯƠNG ÁN TRÌNH PHÊ DUYỆT KINH PHÍ</a:t>
            </a:r>
          </a:p>
        </p:txBody>
      </p:sp>
      <p:sp>
        <p:nvSpPr>
          <p:cNvPr id="14" name="TextBox 13"/>
          <p:cNvSpPr txBox="1"/>
          <p:nvPr/>
        </p:nvSpPr>
        <p:spPr>
          <a:xfrm>
            <a:off x="7068312" y="4581144"/>
            <a:ext cx="4773168" cy="1865376"/>
          </a:xfrm>
          <a:prstGeom prst="rect">
            <a:avLst/>
          </a:prstGeom>
          <a:noFill/>
        </p:spPr>
        <p:txBody>
          <a:bodyPr wrap="square" lIns="36576" rIns="36576" tIns="18288" bIns="18288">
            <a:spAutoFit/>
          </a:bodyPr>
          <a:lstStyle/>
          <a:p>
            <a:pPr>
              <a:spcAft>
                <a:spcPts val="250"/>
              </a:spcAft>
              <a:defRPr sz="720" b="1">
                <a:solidFill>
                  <a:srgbClr val="1E242B"/>
                </a:solidFill>
                <a:latin typeface="Arial"/>
              </a:defRPr>
            </a:pPr>
            <a:r>
              <a:t>■ Phương án A (Triển khai ngay No.22, thay Robot bằng DP/Host PC):</a:t>
            </a:r>
          </a:p>
          <a:p>
            <a:pPr>
              <a:spcAft>
                <a:spcPts val="250"/>
              </a:spcAft>
              <a:defRPr sz="720">
                <a:solidFill>
                  <a:srgbClr val="1E242B"/>
                </a:solidFill>
                <a:latin typeface="Arial"/>
              </a:defRPr>
            </a:pPr>
            <a:r>
              <a:t>   • Duyệt Đề án No.22 (BOM 25 mục): 101.690.000 VNĐ (3.911,15 USD)</a:t>
            </a:r>
          </a:p>
          <a:p>
            <a:pPr>
              <a:spcAft>
                <a:spcPts val="250"/>
              </a:spcAft>
              <a:defRPr sz="720">
                <a:solidFill>
                  <a:srgbClr val="1E242B"/>
                </a:solidFill>
                <a:latin typeface="Arial"/>
              </a:defRPr>
            </a:pPr>
            <a:r>
              <a:t>   • Hiệu quả: Giảm 30s/máy, tiết kiệm 29,60 triệu VNĐ/năm (1.138,46 USD/năm).</a:t>
            </a:r>
          </a:p>
          <a:p>
            <a:pPr>
              <a:spcAft>
                <a:spcPts val="250"/>
              </a:spcAft>
              <a:defRPr sz="720">
                <a:solidFill>
                  <a:srgbClr val="1E242B"/>
                </a:solidFill>
                <a:latin typeface="Arial"/>
              </a:defRPr>
            </a:pPr>
            <a:r>
              <a:t>   • Các đề án đang lấy báo giá (No.25 DP, No.27 Camera HIKROBOT, No.21 Gá Option, No.28 Xuất hàng mạng) tách riêng trình duyệt Đợt 2.</a:t>
            </a:r>
          </a:p>
          <a:p>
            <a:pPr>
              <a:spcAft>
                <a:spcPts val="250"/>
              </a:spcAft>
              <a:defRPr sz="720" b="1">
                <a:solidFill>
                  <a:srgbClr val="1E242B"/>
                </a:solidFill>
                <a:latin typeface="Arial"/>
              </a:defRPr>
            </a:pPr>
            <a:r>
              <a:t>■ Phương án B (Tổng dự toán 3 đề án có giá trong Iris EXPのVN提案.xlsx):</a:t>
            </a:r>
          </a:p>
          <a:p>
            <a:pPr>
              <a:spcAft>
                <a:spcPts val="250"/>
              </a:spcAft>
              <a:defRPr sz="720">
                <a:solidFill>
                  <a:srgbClr val="1E242B"/>
                </a:solidFill>
                <a:latin typeface="Arial"/>
              </a:defRPr>
            </a:pPr>
            <a:r>
              <a:t>   • No.22 (101,69tr) + No.23 Robot ISU (650tr) + No.24 Robot USB/U201 (104tr)</a:t>
            </a:r>
          </a:p>
          <a:p>
            <a:pPr>
              <a:spcAft>
                <a:spcPts val="250"/>
              </a:spcAft>
              <a:defRPr sz="720">
                <a:solidFill>
                  <a:srgbClr val="1E242B"/>
                </a:solidFill>
                <a:latin typeface="Arial"/>
              </a:defRPr>
            </a:pPr>
            <a:r>
              <a:t>   • Tổng cộng: 855.690.000 VNĐ (32.911,15 USD / làm tròn 33.000 USD)</a:t>
            </a:r>
          </a:p>
          <a:p>
            <a:pPr>
              <a:spcAft>
                <a:spcPts val="250"/>
              </a:spcAft>
              <a:defRPr sz="720">
                <a:solidFill>
                  <a:srgbClr val="1E242B"/>
                </a:solidFill>
                <a:latin typeface="Arial"/>
              </a:defRPr>
            </a:pPr>
            <a:r>
              <a:t>   • Hiệu quả: Giảm 170s/máy, tiết kiệm 167,73 triệu VNĐ/năm (6.451,28 USD/năm).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Arial"/>
              </a:defRPr>
            </a:pPr>
            <a:r>
              <a:t>4.6 LỘ TRÌNH &amp; HIỆU QUẢ</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So sánh Trước / Sau cải tiến và Lộ trình triển khai tới sản xuất hàng loạt MP (T3/2027)</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11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000" b="1">
                <a:solidFill>
                  <a:srgbClr val="0F203C"/>
                </a:solidFill>
                <a:latin typeface="Arial"/>
              </a:defRPr>
            </a:pPr>
            <a:r>
              <a:t>■ Khi hoàn tất lộ trình DMT -&gt; PMT1 (T12/2026) -&gt; PMT2 (T2/2027) -&gt; MP (T3/2027), năng suất lao động tăng gấp đôi (từ 15,19 lên ≥30,38 máy/người/ngày), giảm 50% thời gian thao tác, đảm bảo sản xuất 300 máy/ngày trên Line hiện tại.</a:t>
            </a:r>
          </a:p>
        </p:txBody>
      </p:sp>
      <p:graphicFrame>
        <p:nvGraphicFramePr>
          <p:cNvPr id="7" name="Table 6"/>
          <p:cNvGraphicFramePr>
            <a:graphicFrameLocks noGrp="1"/>
          </p:cNvGraphicFramePr>
          <p:nvPr/>
        </p:nvGraphicFramePr>
        <p:xfrm>
          <a:off x="256032" y="1170432"/>
          <a:ext cx="6263640" cy="3291840"/>
        </p:xfrm>
        <a:graphic>
          <a:graphicData uri="http://schemas.openxmlformats.org/drawingml/2006/table">
            <a:tbl>
              <a:tblPr firstRow="1" bandRow="1">
                <a:tableStyleId>{5C22544A-7EE6-4342-B048-85BDC9FD1C3A}</a:tableStyleId>
              </a:tblPr>
              <a:tblGrid>
                <a:gridCol w="1554480"/>
                <a:gridCol w="1143000"/>
                <a:gridCol w="1188720"/>
                <a:gridCol w="1234440"/>
                <a:gridCol w="1143000"/>
              </a:tblGrid>
              <a:tr h="411480">
                <a:tc>
                  <a:txBody>
                    <a:bodyPr/>
                    <a:lstStyle/>
                    <a:p>
                      <a:pPr algn="ctr">
                        <a:defRPr sz="740" b="1">
                          <a:solidFill>
                            <a:srgbClr val="FFFFFF"/>
                          </a:solidFill>
                          <a:latin typeface="Arial"/>
                        </a:defRPr>
                      </a:pPr>
                      <a:r>
                        <a:t>Chỉ tiêu đánh giá</a:t>
                      </a:r>
                    </a:p>
                  </a:txBody>
                  <a:tcPr anchor="ctr" marL="36576" marR="36576" marT="9144" marB="9144">
                    <a:solidFill>
                      <a:srgbClr val="1B365D"/>
                    </a:solidFill>
                  </a:tcPr>
                </a:tc>
                <a:tc>
                  <a:txBody>
                    <a:bodyPr/>
                    <a:lstStyle/>
                    <a:p>
                      <a:pPr algn="ctr">
                        <a:defRPr sz="740" b="1">
                          <a:solidFill>
                            <a:srgbClr val="FFFFFF"/>
                          </a:solidFill>
                          <a:latin typeface="Arial"/>
                        </a:defRPr>
                      </a:pPr>
                      <a:r>
                        <a:t>Hiện trạng Iris2024</a:t>
                      </a:r>
                      <a:br/>
                      <a:r>
                        <a:t>(243 máy/ngày)</a:t>
                      </a:r>
                    </a:p>
                  </a:txBody>
                  <a:tcPr anchor="ctr" marL="36576" marR="36576" marT="9144" marB="9144">
                    <a:solidFill>
                      <a:srgbClr val="1B365D"/>
                    </a:solidFill>
                  </a:tcPr>
                </a:tc>
                <a:tc>
                  <a:txBody>
                    <a:bodyPr/>
                    <a:lstStyle/>
                    <a:p>
                      <a:pPr algn="ctr">
                        <a:defRPr sz="740" b="1">
                          <a:solidFill>
                            <a:srgbClr val="FFFFFF"/>
                          </a:solidFill>
                          <a:latin typeface="Arial"/>
                        </a:defRPr>
                      </a:pPr>
                      <a:r>
                        <a:t>Thực tích tới</a:t>
                      </a:r>
                      <a:br/>
                      <a:r>
                        <a:t>T10/2026 (PDCA)</a:t>
                      </a:r>
                    </a:p>
                  </a:txBody>
                  <a:tcPr anchor="ctr" marL="36576" marR="36576" marT="9144" marB="9144">
                    <a:solidFill>
                      <a:srgbClr val="1B365D"/>
                    </a:solidFill>
                  </a:tcPr>
                </a:tc>
                <a:tc>
                  <a:txBody>
                    <a:bodyPr/>
                    <a:lstStyle/>
                    <a:p>
                      <a:pPr algn="ctr">
                        <a:defRPr sz="740" b="1">
                          <a:solidFill>
                            <a:srgbClr val="FFFFFF"/>
                          </a:solidFill>
                          <a:latin typeface="Arial"/>
                        </a:defRPr>
                      </a:pPr>
                      <a:r>
                        <a:t>Mục tiêu IrisEXP</a:t>
                      </a:r>
                      <a:br/>
                      <a:r>
                        <a:t>(300 máy/ngày)</a:t>
                      </a:r>
                    </a:p>
                  </a:txBody>
                  <a:tcPr anchor="ctr" marL="36576" marR="36576" marT="9144" marB="9144">
                    <a:solidFill>
                      <a:srgbClr val="1B365D"/>
                    </a:solidFill>
                  </a:tcPr>
                </a:tc>
                <a:tc>
                  <a:txBody>
                    <a:bodyPr/>
                    <a:lstStyle/>
                    <a:p>
                      <a:pPr algn="ctr">
                        <a:defRPr sz="740" b="1">
                          <a:solidFill>
                            <a:srgbClr val="FFFFFF"/>
                          </a:solidFill>
                          <a:latin typeface="Arial"/>
                        </a:defRPr>
                      </a:pPr>
                      <a:r>
                        <a:t>Mức cải thiện</a:t>
                      </a:r>
                    </a:p>
                  </a:txBody>
                  <a:tcPr anchor="ctr" marL="36576" marR="36576" marT="9144" marB="9144">
                    <a:solidFill>
                      <a:srgbClr val="1B365D"/>
                    </a:solidFill>
                  </a:tcPr>
                </a:tc>
              </a:tr>
              <a:tr h="411480">
                <a:tc>
                  <a:txBody>
                    <a:bodyPr/>
                    <a:lstStyle/>
                    <a:p>
                      <a:pPr algn="l">
                        <a:defRPr sz="680" b="1">
                          <a:solidFill>
                            <a:srgbClr val="1E242B"/>
                          </a:solidFill>
                          <a:latin typeface="Arial"/>
                        </a:defRPr>
                      </a:pPr>
                      <a:r>
                        <a:t>1. Thời gian thao tác chuẩn</a:t>
                      </a:r>
                      <a:br/>
                      <a:r>
                        <a:t>(Mã hàng cao nhất)</a:t>
                      </a:r>
                    </a:p>
                  </a:txBody>
                  <a:tcPr anchor="ctr" marL="36576" marR="36576" marT="9144" marB="9144">
                    <a:solidFill>
                      <a:srgbClr val="EAF7EE"/>
                    </a:solidFill>
                  </a:tcPr>
                </a:tc>
                <a:tc>
                  <a:txBody>
                    <a:bodyPr/>
                    <a:lstStyle/>
                    <a:p>
                      <a:pPr algn="ctr">
                        <a:defRPr sz="680">
                          <a:solidFill>
                            <a:srgbClr val="1E242B"/>
                          </a:solidFill>
                          <a:latin typeface="Arial"/>
                        </a:defRPr>
                      </a:pPr>
                      <a:r>
                        <a:t>1.083,00 s/máy</a:t>
                      </a:r>
                      <a:br/>
                      <a:r>
                        <a:t>(840s ĐC + 243s data)</a:t>
                      </a:r>
                    </a:p>
                  </a:txBody>
                  <a:tcPr anchor="ctr" marL="36576" marR="36576" marT="9144" marB="9144">
                    <a:solidFill>
                      <a:srgbClr val="EAF7EE"/>
                    </a:solidFill>
                  </a:tcPr>
                </a:tc>
                <a:tc>
                  <a:txBody>
                    <a:bodyPr/>
                    <a:lstStyle/>
                    <a:p>
                      <a:pPr algn="ctr">
                        <a:defRPr sz="680">
                          <a:solidFill>
                            <a:srgbClr val="1E242B"/>
                          </a:solidFill>
                          <a:latin typeface="Arial"/>
                        </a:defRPr>
                      </a:pPr>
                      <a:r>
                        <a:t>Đã duyệt xóa trên</a:t>
                      </a:r>
                      <a:br/>
                      <a:r>
                        <a:t>bảng CĐ: -176,8s~-267,7s</a:t>
                      </a:r>
                    </a:p>
                  </a:txBody>
                  <a:tcPr anchor="ctr" marL="36576" marR="36576" marT="9144" marB="9144">
                    <a:solidFill>
                      <a:srgbClr val="EAF7EE"/>
                    </a:solidFill>
                  </a:tcPr>
                </a:tc>
                <a:tc>
                  <a:txBody>
                    <a:bodyPr/>
                    <a:lstStyle/>
                    <a:p>
                      <a:pPr algn="ctr">
                        <a:defRPr sz="680">
                          <a:solidFill>
                            <a:srgbClr val="1E242B"/>
                          </a:solidFill>
                          <a:latin typeface="Arial"/>
                        </a:defRPr>
                      </a:pPr>
                      <a:r>
                        <a:t>≤ 541,50 s/máy</a:t>
                      </a:r>
                      <a:br/>
                      <a:r>
                        <a:t>(Thiết kế KDC: 591s)</a:t>
                      </a:r>
                    </a:p>
                  </a:txBody>
                  <a:tcPr anchor="ctr" marL="36576" marR="36576" marT="9144" marB="9144">
                    <a:solidFill>
                      <a:srgbClr val="EAF7EE"/>
                    </a:solidFill>
                  </a:tcPr>
                </a:tc>
                <a:tc>
                  <a:txBody>
                    <a:bodyPr/>
                    <a:lstStyle/>
                    <a:p>
                      <a:pPr algn="l">
                        <a:defRPr sz="680">
                          <a:solidFill>
                            <a:srgbClr val="1E242B"/>
                          </a:solidFill>
                          <a:latin typeface="Arial"/>
                        </a:defRPr>
                      </a:pPr>
                      <a:r>
                        <a:t>Giảm 50% thời gian</a:t>
                      </a:r>
                      <a:br/>
                      <a:r>
                        <a:t>thao tác tiêu chuẩn</a:t>
                      </a:r>
                    </a:p>
                  </a:txBody>
                  <a:tcPr anchor="ctr" marL="36576" marR="36576" marT="9144" marB="9144">
                    <a:solidFill>
                      <a:srgbClr val="EAF7EE"/>
                    </a:solidFill>
                  </a:tcPr>
                </a:tc>
              </a:tr>
              <a:tr h="411480">
                <a:tc>
                  <a:txBody>
                    <a:bodyPr/>
                    <a:lstStyle/>
                    <a:p>
                      <a:pPr algn="l">
                        <a:defRPr sz="680" b="1">
                          <a:solidFill>
                            <a:srgbClr val="1E242B"/>
                          </a:solidFill>
                          <a:latin typeface="Arial"/>
                        </a:defRPr>
                      </a:pPr>
                      <a:r>
                        <a:t>2. Tổng TG toàn công đoạn</a:t>
                      </a:r>
                      <a:br/>
                      <a:r>
                        <a:t>(Gồm chờ máy/Aging 285s)</a:t>
                      </a:r>
                    </a:p>
                  </a:txBody>
                  <a:tcPr anchor="ctr" marL="36576" marR="36576" marT="9144" marB="9144">
                    <a:solidFill>
                      <a:srgbClr val="F7F9FC"/>
                    </a:solidFill>
                  </a:tcPr>
                </a:tc>
                <a:tc>
                  <a:txBody>
                    <a:bodyPr/>
                    <a:lstStyle/>
                    <a:p>
                      <a:pPr algn="ctr">
                        <a:defRPr sz="680">
                          <a:solidFill>
                            <a:srgbClr val="1E242B"/>
                          </a:solidFill>
                          <a:latin typeface="Arial"/>
                        </a:defRPr>
                      </a:pPr>
                      <a:r>
                        <a:t>2.350,00 s/máy</a:t>
                      </a:r>
                      <a:br/>
                      <a:r>
                        <a:t>(8 trạm K1~K8)</a:t>
                      </a:r>
                    </a:p>
                  </a:txBody>
                  <a:tcPr anchor="ctr" marL="36576" marR="36576" marT="9144" marB="9144">
                    <a:solidFill>
                      <a:srgbClr val="F7F9FC"/>
                    </a:solidFill>
                  </a:tcPr>
                </a:tc>
                <a:tc>
                  <a:txBody>
                    <a:bodyPr/>
                    <a:lstStyle/>
                    <a:p>
                      <a:pPr algn="ctr">
                        <a:defRPr sz="680">
                          <a:solidFill>
                            <a:srgbClr val="1E242B"/>
                          </a:solidFill>
                          <a:latin typeface="Arial"/>
                        </a:defRPr>
                      </a:pPr>
                      <a:r>
                        <a:t>2.345,68 s/máy</a:t>
                      </a:r>
                      <a:br/>
                      <a:r>
                        <a:t>(Đã xóa 4 bước: -4,32s)</a:t>
                      </a:r>
                    </a:p>
                  </a:txBody>
                  <a:tcPr anchor="ctr" marL="36576" marR="36576" marT="9144" marB="9144">
                    <a:solidFill>
                      <a:srgbClr val="F7F9FC"/>
                    </a:solidFill>
                  </a:tcPr>
                </a:tc>
                <a:tc>
                  <a:txBody>
                    <a:bodyPr/>
                    <a:lstStyle/>
                    <a:p>
                      <a:pPr algn="ctr">
                        <a:defRPr sz="680">
                          <a:solidFill>
                            <a:srgbClr val="1E242B"/>
                          </a:solidFill>
                          <a:latin typeface="Arial"/>
                        </a:defRPr>
                      </a:pPr>
                      <a:r>
                        <a:t>≤ 1.175,00 s/máy</a:t>
                      </a:r>
                      <a:br/>
                      <a:r>
                        <a:t>(Gộp 4 cụm A-1~A-4)</a:t>
                      </a:r>
                    </a:p>
                  </a:txBody>
                  <a:tcPr anchor="ctr" marL="36576" marR="36576" marT="9144" marB="9144">
                    <a:solidFill>
                      <a:srgbClr val="F7F9FC"/>
                    </a:solidFill>
                  </a:tcPr>
                </a:tc>
                <a:tc>
                  <a:txBody>
                    <a:bodyPr/>
                    <a:lstStyle/>
                    <a:p>
                      <a:pPr algn="l">
                        <a:defRPr sz="680">
                          <a:solidFill>
                            <a:srgbClr val="1E242B"/>
                          </a:solidFill>
                          <a:latin typeface="Arial"/>
                        </a:defRPr>
                      </a:pPr>
                      <a:r>
                        <a:t>Giảm ≥ 1.175,00 s</a:t>
                      </a:r>
                      <a:br/>
                      <a:r>
                        <a:t>(Giảm ≥ 50,0%)</a:t>
                      </a:r>
                    </a:p>
                  </a:txBody>
                  <a:tcPr anchor="ctr" marL="36576" marR="36576" marT="9144" marB="9144">
                    <a:solidFill>
                      <a:srgbClr val="F7F9FC"/>
                    </a:solidFill>
                  </a:tcPr>
                </a:tc>
              </a:tr>
              <a:tr h="411480">
                <a:tc>
                  <a:txBody>
                    <a:bodyPr/>
                    <a:lstStyle/>
                    <a:p>
                      <a:pPr algn="l">
                        <a:defRPr sz="680" b="1">
                          <a:solidFill>
                            <a:srgbClr val="1E242B"/>
                          </a:solidFill>
                          <a:latin typeface="Arial"/>
                        </a:defRPr>
                      </a:pPr>
                      <a:r>
                        <a:t>3. Tổng số người thao tác</a:t>
                      </a:r>
                      <a:br/>
                      <a:r>
                        <a:t>trên Line</a:t>
                      </a:r>
                    </a:p>
                  </a:txBody>
                  <a:tcPr anchor="ctr" marL="36576" marR="36576" marT="9144" marB="9144">
                    <a:solidFill>
                      <a:srgbClr val="EAF7EE"/>
                    </a:solidFill>
                  </a:tcPr>
                </a:tc>
                <a:tc>
                  <a:txBody>
                    <a:bodyPr/>
                    <a:lstStyle/>
                    <a:p>
                      <a:pPr algn="ctr">
                        <a:defRPr sz="680">
                          <a:solidFill>
                            <a:srgbClr val="1E242B"/>
                          </a:solidFill>
                          <a:latin typeface="Arial"/>
                        </a:defRPr>
                      </a:pPr>
                      <a:r>
                        <a:t>16 người thao tác</a:t>
                      </a:r>
                      <a:br/>
                      <a:r>
                        <a:t>(7 ĐC + 9 Hình ảnh)</a:t>
                      </a:r>
                    </a:p>
                  </a:txBody>
                  <a:tcPr anchor="ctr" marL="36576" marR="36576" marT="9144" marB="9144">
                    <a:solidFill>
                      <a:srgbClr val="EAF7EE"/>
                    </a:solidFill>
                  </a:tcPr>
                </a:tc>
                <a:tc>
                  <a:txBody>
                    <a:bodyPr/>
                    <a:lstStyle/>
                    <a:p>
                      <a:pPr algn="ctr">
                        <a:defRPr sz="680">
                          <a:solidFill>
                            <a:srgbClr val="1E242B"/>
                          </a:solidFill>
                          <a:latin typeface="Arial"/>
                        </a:defRPr>
                      </a:pPr>
                      <a:r>
                        <a:t>16 người thao tác</a:t>
                      </a:r>
                      <a:br/>
                      <a:r>
                        <a:t>(Đang chạy song song)</a:t>
                      </a:r>
                    </a:p>
                  </a:txBody>
                  <a:tcPr anchor="ctr" marL="36576" marR="36576" marT="9144" marB="9144">
                    <a:solidFill>
                      <a:srgbClr val="EAF7EE"/>
                    </a:solidFill>
                  </a:tcPr>
                </a:tc>
                <a:tc>
                  <a:txBody>
                    <a:bodyPr/>
                    <a:lstStyle/>
                    <a:p>
                      <a:pPr algn="ctr">
                        <a:defRPr sz="680">
                          <a:solidFill>
                            <a:srgbClr val="1E242B"/>
                          </a:solidFill>
                          <a:latin typeface="Arial"/>
                        </a:defRPr>
                      </a:pPr>
                      <a:r>
                        <a:t>8 ~ 9 người thao tác</a:t>
                      </a:r>
                      <a:br/>
                      <a:r>
                        <a:t>(Thay vì 18 người ở 97s)</a:t>
                      </a:r>
                    </a:p>
                  </a:txBody>
                  <a:tcPr anchor="ctr" marL="36576" marR="36576" marT="9144" marB="9144">
                    <a:solidFill>
                      <a:srgbClr val="EAF7EE"/>
                    </a:solidFill>
                  </a:tcPr>
                </a:tc>
                <a:tc>
                  <a:txBody>
                    <a:bodyPr/>
                    <a:lstStyle/>
                    <a:p>
                      <a:pPr algn="l">
                        <a:defRPr sz="680">
                          <a:solidFill>
                            <a:srgbClr val="1E242B"/>
                          </a:solidFill>
                          <a:latin typeface="Arial"/>
                        </a:defRPr>
                      </a:pPr>
                      <a:r>
                        <a:t>Giảm 50% nhân lực</a:t>
                      </a:r>
                      <a:br/>
                      <a:r>
                        <a:t>so với chưa cải tiến</a:t>
                      </a:r>
                    </a:p>
                  </a:txBody>
                  <a:tcPr anchor="ctr" marL="36576" marR="36576" marT="9144" marB="9144">
                    <a:solidFill>
                      <a:srgbClr val="EAF7EE"/>
                    </a:solidFill>
                  </a:tcPr>
                </a:tc>
              </a:tr>
              <a:tr h="411480">
                <a:tc>
                  <a:txBody>
                    <a:bodyPr/>
                    <a:lstStyle/>
                    <a:p>
                      <a:pPr algn="l">
                        <a:defRPr sz="680" b="1">
                          <a:solidFill>
                            <a:srgbClr val="1E242B"/>
                          </a:solidFill>
                          <a:latin typeface="Arial"/>
                        </a:defRPr>
                      </a:pPr>
                      <a:r>
                        <a:t>4. Sản lượng 1 người / ngày</a:t>
                      </a:r>
                      <a:br/>
                      <a:r>
                        <a:t>(Năng suất lao động)</a:t>
                      </a:r>
                    </a:p>
                  </a:txBody>
                  <a:tcPr anchor="ctr" marL="36576" marR="36576" marT="9144" marB="9144">
                    <a:solidFill>
                      <a:srgbClr val="EAF7EE"/>
                    </a:solidFill>
                  </a:tcPr>
                </a:tc>
                <a:tc>
                  <a:txBody>
                    <a:bodyPr/>
                    <a:lstStyle/>
                    <a:p>
                      <a:pPr algn="ctr">
                        <a:defRPr sz="680">
                          <a:solidFill>
                            <a:srgbClr val="1E242B"/>
                          </a:solidFill>
                          <a:latin typeface="Arial"/>
                        </a:defRPr>
                      </a:pPr>
                      <a:r>
                        <a:t>15,19 máy / người / ngày</a:t>
                      </a:r>
                      <a:br/>
                      <a:r>
                        <a:t>(243 máy ÷ 16 người)</a:t>
                      </a:r>
                    </a:p>
                  </a:txBody>
                  <a:tcPr anchor="ctr" marL="36576" marR="36576" marT="9144" marB="9144">
                    <a:solidFill>
                      <a:srgbClr val="EAF7EE"/>
                    </a:solidFill>
                  </a:tcPr>
                </a:tc>
                <a:tc>
                  <a:txBody>
                    <a:bodyPr/>
                    <a:lstStyle/>
                    <a:p>
                      <a:pPr algn="ctr">
                        <a:defRPr sz="680">
                          <a:solidFill>
                            <a:srgbClr val="1E242B"/>
                          </a:solidFill>
                          <a:latin typeface="Arial"/>
                        </a:defRPr>
                      </a:pPr>
                      <a:r>
                        <a:t>Đang chế tạo đồ gá</a:t>
                      </a:r>
                      <a:br/>
                      <a:r>
                        <a:t>&amp; tích hợp phần mềm</a:t>
                      </a:r>
                    </a:p>
                  </a:txBody>
                  <a:tcPr anchor="ctr" marL="36576" marR="36576" marT="9144" marB="9144">
                    <a:solidFill>
                      <a:srgbClr val="EAF7EE"/>
                    </a:solidFill>
                  </a:tcPr>
                </a:tc>
                <a:tc>
                  <a:txBody>
                    <a:bodyPr/>
                    <a:lstStyle/>
                    <a:p>
                      <a:pPr algn="ctr">
                        <a:defRPr sz="680">
                          <a:solidFill>
                            <a:srgbClr val="1E242B"/>
                          </a:solidFill>
                          <a:latin typeface="Arial"/>
                        </a:defRPr>
                      </a:pPr>
                      <a:r>
                        <a:t>30,38 ~ 33,33 máy / người</a:t>
                      </a:r>
                      <a:br/>
                      <a:r>
                        <a:t>(Tăng gấp đôi năng suất)</a:t>
                      </a:r>
                    </a:p>
                  </a:txBody>
                  <a:tcPr anchor="ctr" marL="36576" marR="36576" marT="9144" marB="9144">
                    <a:solidFill>
                      <a:srgbClr val="EAF7EE"/>
                    </a:solidFill>
                  </a:tcPr>
                </a:tc>
                <a:tc>
                  <a:txBody>
                    <a:bodyPr/>
                    <a:lstStyle/>
                    <a:p>
                      <a:pPr algn="l">
                        <a:defRPr sz="680">
                          <a:solidFill>
                            <a:srgbClr val="1E242B"/>
                          </a:solidFill>
                          <a:latin typeface="Arial"/>
                        </a:defRPr>
                      </a:pPr>
                      <a:r>
                        <a:t>Tăng gấp 2 lần (x2)</a:t>
                      </a:r>
                      <a:br/>
                      <a:r>
                        <a:t>Đảm bảo SX trên Line</a:t>
                      </a:r>
                    </a:p>
                  </a:txBody>
                  <a:tcPr anchor="ctr" marL="36576" marR="36576" marT="9144" marB="9144">
                    <a:solidFill>
                      <a:srgbClr val="EAF7EE"/>
                    </a:solidFill>
                  </a:tcPr>
                </a:tc>
              </a:tr>
              <a:tr h="411480">
                <a:tc>
                  <a:txBody>
                    <a:bodyPr/>
                    <a:lstStyle/>
                    <a:p>
                      <a:pPr algn="l">
                        <a:defRPr sz="680" b="1">
                          <a:solidFill>
                            <a:srgbClr val="1E242B"/>
                          </a:solidFill>
                          <a:latin typeface="Arial"/>
                        </a:defRPr>
                      </a:pPr>
                      <a:r>
                        <a:t>5. Số tờ in kiểm tra / máy</a:t>
                      </a:r>
                      <a:br/>
                      <a:r>
                        <a:t>(Print &amp; Copy)</a:t>
                      </a:r>
                    </a:p>
                  </a:txBody>
                  <a:tcPr anchor="ctr" marL="36576" marR="36576" marT="9144" marB="9144">
                    <a:solidFill>
                      <a:srgbClr val="FFFFFF"/>
                    </a:solidFill>
                  </a:tcPr>
                </a:tc>
                <a:tc>
                  <a:txBody>
                    <a:bodyPr/>
                    <a:lstStyle/>
                    <a:p>
                      <a:pPr algn="ctr">
                        <a:defRPr sz="680">
                          <a:solidFill>
                            <a:srgbClr val="1E242B"/>
                          </a:solidFill>
                          <a:latin typeface="Arial"/>
                        </a:defRPr>
                      </a:pPr>
                      <a:r>
                        <a:t>Print: 17 tờ/máy</a:t>
                      </a:r>
                      <a:br/>
                      <a:r>
                        <a:t>Copy: 2 tờ/máy</a:t>
                      </a:r>
                    </a:p>
                  </a:txBody>
                  <a:tcPr anchor="ctr" marL="36576" marR="36576" marT="9144" marB="9144">
                    <a:solidFill>
                      <a:srgbClr val="FFFFFF"/>
                    </a:solidFill>
                  </a:tcPr>
                </a:tc>
                <a:tc>
                  <a:txBody>
                    <a:bodyPr/>
                    <a:lstStyle/>
                    <a:p>
                      <a:pPr algn="ctr">
                        <a:defRPr sz="680">
                          <a:solidFill>
                            <a:srgbClr val="1E242B"/>
                          </a:solidFill>
                          <a:latin typeface="Arial"/>
                        </a:defRPr>
                      </a:pPr>
                      <a:r>
                        <a:t>Đã thống nhất mẫu</a:t>
                      </a:r>
                      <a:br/>
                      <a:r>
                        <a:t>gộp RC9+RCG, DC1+Gray</a:t>
                      </a:r>
                    </a:p>
                  </a:txBody>
                  <a:tcPr anchor="ctr" marL="36576" marR="36576" marT="9144" marB="9144">
                    <a:solidFill>
                      <a:srgbClr val="FFFFFF"/>
                    </a:solidFill>
                  </a:tcPr>
                </a:tc>
                <a:tc>
                  <a:txBody>
                    <a:bodyPr/>
                    <a:lstStyle/>
                    <a:p>
                      <a:pPr algn="ctr">
                        <a:defRPr sz="680">
                          <a:solidFill>
                            <a:srgbClr val="1E242B"/>
                          </a:solidFill>
                          <a:latin typeface="Arial"/>
                        </a:defRPr>
                      </a:pPr>
                      <a:r>
                        <a:t>Print: 9 tờ/máy</a:t>
                      </a:r>
                      <a:br/>
                      <a:r>
                        <a:t>Copy: 1 tờ/máy</a:t>
                      </a:r>
                    </a:p>
                  </a:txBody>
                  <a:tcPr anchor="ctr" marL="36576" marR="36576" marT="9144" marB="9144">
                    <a:solidFill>
                      <a:srgbClr val="FFFFFF"/>
                    </a:solidFill>
                  </a:tcPr>
                </a:tc>
                <a:tc>
                  <a:txBody>
                    <a:bodyPr/>
                    <a:lstStyle/>
                    <a:p>
                      <a:pPr algn="l">
                        <a:defRPr sz="680">
                          <a:solidFill>
                            <a:srgbClr val="1E242B"/>
                          </a:solidFill>
                          <a:latin typeface="Arial"/>
                        </a:defRPr>
                      </a:pPr>
                      <a:r>
                        <a:t>Giảm 8 tờ Print (-47%)</a:t>
                      </a:r>
                      <a:br/>
                      <a:r>
                        <a:t>Giảm 1 tờ Copy (-50%)</a:t>
                      </a:r>
                    </a:p>
                  </a:txBody>
                  <a:tcPr anchor="ctr" marL="36576" marR="36576" marT="9144" marB="9144">
                    <a:solidFill>
                      <a:srgbClr val="FFFFFF"/>
                    </a:solidFill>
                  </a:tcPr>
                </a:tc>
              </a:tr>
              <a:tr h="411480">
                <a:tc>
                  <a:txBody>
                    <a:bodyPr/>
                    <a:lstStyle/>
                    <a:p>
                      <a:pPr algn="l">
                        <a:defRPr sz="680" b="1">
                          <a:solidFill>
                            <a:srgbClr val="1E242B"/>
                          </a:solidFill>
                          <a:latin typeface="Arial"/>
                        </a:defRPr>
                      </a:pPr>
                      <a:r>
                        <a:t>6. Số lần cắm/rút cáp &amp; USB</a:t>
                      </a:r>
                    </a:p>
                  </a:txBody>
                  <a:tcPr anchor="ctr" marL="36576" marR="36576" marT="9144" marB="9144">
                    <a:solidFill>
                      <a:srgbClr val="F7F9FC"/>
                    </a:solidFill>
                  </a:tcPr>
                </a:tc>
                <a:tc>
                  <a:txBody>
                    <a:bodyPr/>
                    <a:lstStyle/>
                    <a:p>
                      <a:pPr algn="ctr">
                        <a:defRPr sz="680">
                          <a:solidFill>
                            <a:srgbClr val="1E242B"/>
                          </a:solidFill>
                          <a:latin typeface="Arial"/>
                        </a:defRPr>
                      </a:pPr>
                      <a:r>
                        <a:t>11 lần cắm/rút cáp</a:t>
                      </a:r>
                      <a:br/>
                      <a:r>
                        <a:t>+ 3 lần cắm USB/máy</a:t>
                      </a:r>
                    </a:p>
                  </a:txBody>
                  <a:tcPr anchor="ctr" marL="36576" marR="36576" marT="9144" marB="9144">
                    <a:solidFill>
                      <a:srgbClr val="F7F9FC"/>
                    </a:solidFill>
                  </a:tcPr>
                </a:tc>
                <a:tc>
                  <a:txBody>
                    <a:bodyPr/>
                    <a:lstStyle/>
                    <a:p>
                      <a:pPr algn="ctr">
                        <a:defRPr sz="680">
                          <a:solidFill>
                            <a:srgbClr val="1E242B"/>
                          </a:solidFill>
                          <a:latin typeface="Arial"/>
                        </a:defRPr>
                      </a:pPr>
                      <a:r>
                        <a:t>Đã chốt hệ Spica Mini PC</a:t>
                      </a:r>
                      <a:br/>
                      <a:r>
                        <a:t>&amp; bỏ test USB rời</a:t>
                      </a:r>
                    </a:p>
                  </a:txBody>
                  <a:tcPr anchor="ctr" marL="36576" marR="36576" marT="9144" marB="9144">
                    <a:solidFill>
                      <a:srgbClr val="F7F9FC"/>
                    </a:solidFill>
                  </a:tcPr>
                </a:tc>
                <a:tc>
                  <a:txBody>
                    <a:bodyPr/>
                    <a:lstStyle/>
                    <a:p>
                      <a:pPr algn="ctr">
                        <a:defRPr sz="680">
                          <a:solidFill>
                            <a:srgbClr val="1E242B"/>
                          </a:solidFill>
                          <a:latin typeface="Arial"/>
                        </a:defRPr>
                      </a:pPr>
                      <a:r>
                        <a:t>Cắm 1 lần đầu chuyền</a:t>
                      </a:r>
                      <a:br/>
                      <a:r>
                        <a:t>+ truyền log qua LAN</a:t>
                      </a:r>
                    </a:p>
                  </a:txBody>
                  <a:tcPr anchor="ctr" marL="36576" marR="36576" marT="9144" marB="9144">
                    <a:solidFill>
                      <a:srgbClr val="F7F9FC"/>
                    </a:solidFill>
                  </a:tcPr>
                </a:tc>
                <a:tc>
                  <a:txBody>
                    <a:bodyPr/>
                    <a:lstStyle/>
                    <a:p>
                      <a:pPr algn="l">
                        <a:defRPr sz="680">
                          <a:solidFill>
                            <a:srgbClr val="1E242B"/>
                          </a:solidFill>
                          <a:latin typeface="Arial"/>
                        </a:defRPr>
                      </a:pPr>
                      <a:r>
                        <a:t>Xóa ~11 lần cắm/rút</a:t>
                      </a:r>
                      <a:br/>
                      <a:r>
                        <a:t>cáp thủ công</a:t>
                      </a:r>
                    </a:p>
                  </a:txBody>
                  <a:tcPr anchor="ctr" marL="36576" marR="36576" marT="9144" marB="9144">
                    <a:solidFill>
                      <a:srgbClr val="F7F9FC"/>
                    </a:solidFill>
                  </a:tcPr>
                </a:tc>
              </a:tr>
              <a:tr h="411480">
                <a:tc>
                  <a:txBody>
                    <a:bodyPr/>
                    <a:lstStyle/>
                    <a:p>
                      <a:pPr algn="l">
                        <a:defRPr sz="680" b="1">
                          <a:solidFill>
                            <a:srgbClr val="1E242B"/>
                          </a:solidFill>
                          <a:latin typeface="Arial"/>
                        </a:defRPr>
                      </a:pPr>
                      <a:r>
                        <a:t>7. Tiến độ PDCA tại KDTVN</a:t>
                      </a:r>
                      <a:br/>
                      <a:r>
                        <a:t>(Mục tiêu KDTVN-PE-3)</a:t>
                      </a:r>
                    </a:p>
                  </a:txBody>
                  <a:tcPr anchor="ctr" marL="36576" marR="36576" marT="9144" marB="9144">
                    <a:solidFill>
                      <a:srgbClr val="FEF7E6"/>
                    </a:solidFill>
                  </a:tcPr>
                </a:tc>
                <a:tc>
                  <a:txBody>
                    <a:bodyPr/>
                    <a:lstStyle/>
                    <a:p>
                      <a:pPr algn="ctr">
                        <a:defRPr sz="680">
                          <a:solidFill>
                            <a:srgbClr val="1E242B"/>
                          </a:solidFill>
                          <a:latin typeface="Arial"/>
                        </a:defRPr>
                      </a:pPr>
                      <a:r>
                        <a:t>T8~T9: Lập đề án</a:t>
                      </a:r>
                      <a:br/>
                      <a:r>
                        <a:t>&amp; báo giá thiết bị</a:t>
                      </a:r>
                    </a:p>
                  </a:txBody>
                  <a:tcPr anchor="ctr" marL="36576" marR="36576" marT="9144" marB="9144">
                    <a:solidFill>
                      <a:srgbClr val="FEF7E6"/>
                    </a:solidFill>
                  </a:tcPr>
                </a:tc>
                <a:tc>
                  <a:txBody>
                    <a:bodyPr/>
                    <a:lstStyle/>
                    <a:p>
                      <a:pPr algn="ctr">
                        <a:defRPr sz="680">
                          <a:solidFill>
                            <a:srgbClr val="1E242B"/>
                          </a:solidFill>
                          <a:latin typeface="Arial"/>
                        </a:defRPr>
                      </a:pPr>
                      <a:r>
                        <a:t>T10: Đạt -4,32s (0,18%)</a:t>
                      </a:r>
                      <a:br/>
                      <a:r>
                        <a:t>Hoàn tất BOM No.22</a:t>
                      </a:r>
                    </a:p>
                  </a:txBody>
                  <a:tcPr anchor="ctr" marL="36576" marR="36576" marT="9144" marB="9144">
                    <a:solidFill>
                      <a:srgbClr val="FEF7E6"/>
                    </a:solidFill>
                  </a:tcPr>
                </a:tc>
                <a:tc>
                  <a:txBody>
                    <a:bodyPr/>
                    <a:lstStyle/>
                    <a:p>
                      <a:pPr algn="ctr">
                        <a:defRPr sz="680">
                          <a:solidFill>
                            <a:srgbClr val="1E242B"/>
                          </a:solidFill>
                          <a:latin typeface="Arial"/>
                        </a:defRPr>
                      </a:pPr>
                      <a:r>
                        <a:t>T11: 15% | T12 (PMT1): 30%</a:t>
                      </a:r>
                      <a:br/>
                      <a:r>
                        <a:t>T1: 50% | T3/2027 (MP): 100%</a:t>
                      </a:r>
                    </a:p>
                  </a:txBody>
                  <a:tcPr anchor="ctr" marL="36576" marR="36576" marT="9144" marB="9144">
                    <a:solidFill>
                      <a:srgbClr val="FEF7E6"/>
                    </a:solidFill>
                  </a:tcPr>
                </a:tc>
                <a:tc>
                  <a:txBody>
                    <a:bodyPr/>
                    <a:lstStyle/>
                    <a:p>
                      <a:pPr algn="l">
                        <a:defRPr sz="680">
                          <a:solidFill>
                            <a:srgbClr val="1E242B"/>
                          </a:solidFill>
                          <a:latin typeface="Arial"/>
                        </a:defRPr>
                      </a:pPr>
                      <a:r>
                        <a:t>Đạt 100% mục tiêu</a:t>
                      </a:r>
                      <a:br/>
                      <a:r>
                        <a:t>trước MP (T3/2027)</a:t>
                      </a:r>
                    </a:p>
                  </a:txBody>
                  <a:tcPr anchor="ctr" marL="36576" marR="36576" marT="9144" marB="9144">
                    <a:solidFill>
                      <a:srgbClr val="FEF7E6"/>
                    </a:solidFill>
                  </a:tcPr>
                </a:tc>
              </a:tr>
            </a:tbl>
          </a:graphicData>
        </a:graphic>
      </p:graphicFrame>
      <p:pic>
        <p:nvPicPr>
          <p:cNvPr id="8" name="Picture 7" descr="chart_s11_before_after_pdca.png"/>
          <p:cNvPicPr>
            <a:picLocks noChangeAspect="1"/>
          </p:cNvPicPr>
          <p:nvPr/>
        </p:nvPicPr>
        <p:blipFill>
          <a:blip r:embed="rId2"/>
          <a:stretch>
            <a:fillRect/>
          </a:stretch>
        </p:blipFill>
        <p:spPr>
          <a:xfrm>
            <a:off x="6629400" y="1170432"/>
            <a:ext cx="5285232" cy="3665564"/>
          </a:xfrm>
          <a:prstGeom prst="rect">
            <a:avLst/>
          </a:prstGeom>
        </p:spPr>
      </p:pic>
      <p:graphicFrame>
        <p:nvGraphicFramePr>
          <p:cNvPr id="9" name="Table 8"/>
          <p:cNvGraphicFramePr>
            <a:graphicFrameLocks noGrp="1"/>
          </p:cNvGraphicFramePr>
          <p:nvPr/>
        </p:nvGraphicFramePr>
        <p:xfrm>
          <a:off x="256032" y="4572000"/>
          <a:ext cx="11679630" cy="1965960"/>
        </p:xfrm>
        <a:graphic>
          <a:graphicData uri="http://schemas.openxmlformats.org/drawingml/2006/table">
            <a:tbl>
              <a:tblPr firstRow="1" bandRow="1">
                <a:tableStyleId>{5C22544A-7EE6-4342-B048-85BDC9FD1C3A}</a:tableStyleId>
              </a:tblPr>
              <a:tblGrid>
                <a:gridCol w="1874519"/>
                <a:gridCol w="1508760"/>
                <a:gridCol w="1600200"/>
                <a:gridCol w="1691640"/>
                <a:gridCol w="1691640"/>
                <a:gridCol w="1691640"/>
                <a:gridCol w="1621231"/>
              </a:tblGrid>
              <a:tr h="393192">
                <a:tc>
                  <a:txBody>
                    <a:bodyPr/>
                    <a:lstStyle/>
                    <a:p>
                      <a:pPr algn="ctr">
                        <a:defRPr sz="720" b="1">
                          <a:solidFill>
                            <a:srgbClr val="FFFFFF"/>
                          </a:solidFill>
                          <a:latin typeface="Arial"/>
                        </a:defRPr>
                      </a:pPr>
                      <a:r>
                        <a:t>Hạng mục triển khai chính</a:t>
                      </a:r>
                    </a:p>
                  </a:txBody>
                  <a:tcPr anchor="ctr" marL="36576" marR="36576" marT="9144" marB="9144">
                    <a:solidFill>
                      <a:srgbClr val="1B365D"/>
                    </a:solidFill>
                  </a:tcPr>
                </a:tc>
                <a:tc>
                  <a:txBody>
                    <a:bodyPr/>
                    <a:lstStyle/>
                    <a:p>
                      <a:pPr algn="ctr">
                        <a:defRPr sz="720" b="1">
                          <a:solidFill>
                            <a:srgbClr val="FFFFFF"/>
                          </a:solidFill>
                          <a:latin typeface="Arial"/>
                        </a:defRPr>
                      </a:pPr>
                      <a:r>
                        <a:t>T8 ~ T9/2026</a:t>
                      </a:r>
                      <a:br/>
                      <a:r>
                        <a:t>(DMT1 / Đề án)</a:t>
                      </a:r>
                    </a:p>
                  </a:txBody>
                  <a:tcPr anchor="ctr" marL="36576" marR="36576" marT="9144" marB="9144">
                    <a:solidFill>
                      <a:srgbClr val="1B365D"/>
                    </a:solidFill>
                  </a:tcPr>
                </a:tc>
                <a:tc>
                  <a:txBody>
                    <a:bodyPr/>
                    <a:lstStyle/>
                    <a:p>
                      <a:pPr algn="ctr">
                        <a:defRPr sz="720" b="1">
                          <a:solidFill>
                            <a:srgbClr val="FFFFFF"/>
                          </a:solidFill>
                          <a:latin typeface="Arial"/>
                        </a:defRPr>
                      </a:pPr>
                      <a:r>
                        <a:t>T10/2026</a:t>
                      </a:r>
                      <a:br/>
                      <a:r>
                        <a:t>(DMT2 / Báo giá)</a:t>
                      </a:r>
                    </a:p>
                  </a:txBody>
                  <a:tcPr anchor="ctr" marL="36576" marR="36576" marT="9144" marB="9144">
                    <a:solidFill>
                      <a:srgbClr val="1B365D"/>
                    </a:solidFill>
                  </a:tcPr>
                </a:tc>
                <a:tc>
                  <a:txBody>
                    <a:bodyPr/>
                    <a:lstStyle/>
                    <a:p>
                      <a:pPr algn="ctr">
                        <a:defRPr sz="720" b="1">
                          <a:solidFill>
                            <a:srgbClr val="FFFFFF"/>
                          </a:solidFill>
                          <a:latin typeface="Arial"/>
                        </a:defRPr>
                      </a:pPr>
                      <a:r>
                        <a:t>T11/2026</a:t>
                      </a:r>
                      <a:br/>
                      <a:r>
                        <a:t>(Chốt DR &amp; Chế tạo)</a:t>
                      </a:r>
                    </a:p>
                  </a:txBody>
                  <a:tcPr anchor="ctr" marL="36576" marR="36576" marT="9144" marB="9144">
                    <a:solidFill>
                      <a:srgbClr val="1B365D"/>
                    </a:solidFill>
                  </a:tcPr>
                </a:tc>
                <a:tc>
                  <a:txBody>
                    <a:bodyPr/>
                    <a:lstStyle/>
                    <a:p>
                      <a:pPr algn="ctr">
                        <a:defRPr sz="720" b="1">
                          <a:solidFill>
                            <a:srgbClr val="FFFFFF"/>
                          </a:solidFill>
                          <a:latin typeface="Arial"/>
                        </a:defRPr>
                      </a:pPr>
                      <a:r>
                        <a:t>T12/2026</a:t>
                      </a:r>
                      <a:br/>
                      <a:r>
                        <a:t>(PMT1 / Lắp thử)</a:t>
                      </a:r>
                    </a:p>
                  </a:txBody>
                  <a:tcPr anchor="ctr" marL="36576" marR="36576" marT="9144" marB="9144">
                    <a:solidFill>
                      <a:srgbClr val="1B365D"/>
                    </a:solidFill>
                  </a:tcPr>
                </a:tc>
                <a:tc>
                  <a:txBody>
                    <a:bodyPr/>
                    <a:lstStyle/>
                    <a:p>
                      <a:pPr algn="ctr">
                        <a:defRPr sz="720" b="1">
                          <a:solidFill>
                            <a:srgbClr val="FFFFFF"/>
                          </a:solidFill>
                          <a:latin typeface="Arial"/>
                        </a:defRPr>
                      </a:pPr>
                      <a:r>
                        <a:t>T1 ~ T2/2027</a:t>
                      </a:r>
                      <a:br/>
                      <a:r>
                        <a:t>(PMT2 / Nghiệm thu)</a:t>
                      </a:r>
                    </a:p>
                  </a:txBody>
                  <a:tcPr anchor="ctr" marL="36576" marR="36576" marT="9144" marB="9144">
                    <a:solidFill>
                      <a:srgbClr val="1B365D"/>
                    </a:solidFill>
                  </a:tcPr>
                </a:tc>
                <a:tc>
                  <a:txBody>
                    <a:bodyPr/>
                    <a:lstStyle/>
                    <a:p>
                      <a:pPr algn="ctr">
                        <a:defRPr sz="720" b="1">
                          <a:solidFill>
                            <a:srgbClr val="FFFFFF"/>
                          </a:solidFill>
                          <a:latin typeface="Arial"/>
                        </a:defRPr>
                      </a:pPr>
                      <a:r>
                        <a:t>T3/2027</a:t>
                      </a:r>
                      <a:br/>
                      <a:r>
                        <a:t>(MP / Hàng loạt)</a:t>
                      </a:r>
                    </a:p>
                  </a:txBody>
                  <a:tcPr anchor="ctr" marL="36576" marR="36576" marT="9144" marB="9144">
                    <a:solidFill>
                      <a:srgbClr val="1B365D"/>
                    </a:solidFill>
                  </a:tcPr>
                </a:tc>
              </a:tr>
              <a:tr h="393192">
                <a:tc>
                  <a:txBody>
                    <a:bodyPr/>
                    <a:lstStyle/>
                    <a:p>
                      <a:pPr algn="l">
                        <a:defRPr sz="660" b="1">
                          <a:solidFill>
                            <a:srgbClr val="1E242B"/>
                          </a:solidFill>
                          <a:latin typeface="Arial"/>
                        </a:defRPr>
                      </a:pPr>
                      <a:r>
                        <a:t>1. Thiết kế công đoạn &amp; Xóa bước thừa (JP - CN - VN)</a:t>
                      </a:r>
                    </a:p>
                  </a:txBody>
                  <a:tcPr anchor="ctr" marL="36576" marR="36576" marT="9144" marB="9144">
                    <a:solidFill>
                      <a:srgbClr val="E8EEF5"/>
                    </a:solidFill>
                  </a:tcPr>
                </a:tc>
                <a:tc>
                  <a:txBody>
                    <a:bodyPr/>
                    <a:lstStyle/>
                    <a:p>
                      <a:pPr algn="ctr">
                        <a:defRPr sz="660">
                          <a:solidFill>
                            <a:srgbClr val="1E242B"/>
                          </a:solidFill>
                          <a:latin typeface="Arial"/>
                        </a:defRPr>
                      </a:pPr>
                      <a:r>
                        <a:t>Lập 28 -&gt; 37 đề án</a:t>
                      </a:r>
                      <a:br/>
                      <a:r>
                        <a:t>Chốt mục tiêu x2 NS</a:t>
                      </a:r>
                    </a:p>
                  </a:txBody>
                  <a:tcPr anchor="ctr" marL="36576" marR="36576" marT="9144" marB="9144">
                    <a:solidFill>
                      <a:srgbClr val="E8EEF5"/>
                    </a:solidFill>
                  </a:tcPr>
                </a:tc>
                <a:tc>
                  <a:txBody>
                    <a:bodyPr/>
                    <a:lstStyle/>
                    <a:p>
                      <a:pPr algn="ctr">
                        <a:defRPr sz="660">
                          <a:solidFill>
                            <a:srgbClr val="1E242B"/>
                          </a:solidFill>
                          <a:latin typeface="Arial"/>
                        </a:defRPr>
                      </a:pPr>
                      <a:r>
                        <a:t>Cập nhật 38 đề án</a:t>
                      </a:r>
                      <a:br/>
                      <a:r>
                        <a:t>Xóa 4 bước (-4,32s)</a:t>
                      </a:r>
                    </a:p>
                  </a:txBody>
                  <a:tcPr anchor="ctr" marL="36576" marR="36576" marT="9144" marB="9144">
                    <a:solidFill>
                      <a:srgbClr val="E8EEF5"/>
                    </a:solidFill>
                  </a:tcPr>
                </a:tc>
                <a:tc>
                  <a:txBody>
                    <a:bodyPr/>
                    <a:lstStyle/>
                    <a:p>
                      <a:pPr algn="ctr">
                        <a:defRPr sz="660">
                          <a:solidFill>
                            <a:srgbClr val="1E242B"/>
                          </a:solidFill>
                          <a:latin typeface="Arial"/>
                        </a:defRPr>
                      </a:pPr>
                      <a:r>
                        <a:t>Tổ chức DR công đoạn</a:t>
                      </a:r>
                      <a:br/>
                      <a:r>
                        <a:t>Chốt bỏ RCG/Skew/Ledger</a:t>
                      </a:r>
                    </a:p>
                  </a:txBody>
                  <a:tcPr anchor="ctr" marL="36576" marR="36576" marT="9144" marB="9144">
                    <a:solidFill>
                      <a:srgbClr val="E8EEF5"/>
                    </a:solidFill>
                  </a:tcPr>
                </a:tc>
                <a:tc>
                  <a:txBody>
                    <a:bodyPr/>
                    <a:lstStyle/>
                    <a:p>
                      <a:pPr algn="ctr">
                        <a:defRPr sz="660">
                          <a:solidFill>
                            <a:srgbClr val="1E242B"/>
                          </a:solidFill>
                          <a:latin typeface="Arial"/>
                        </a:defRPr>
                      </a:pPr>
                      <a:r>
                        <a:t>Áp dụng SOP 4 cụm trạm</a:t>
                      </a:r>
                      <a:br/>
                      <a:r>
                        <a:t>A-1 ~ A-4 trên máy PMT1</a:t>
                      </a:r>
                    </a:p>
                  </a:txBody>
                  <a:tcPr anchor="ctr" marL="36576" marR="36576" marT="9144" marB="9144">
                    <a:solidFill>
                      <a:srgbClr val="E8EEF5"/>
                    </a:solidFill>
                  </a:tcPr>
                </a:tc>
                <a:tc>
                  <a:txBody>
                    <a:bodyPr/>
                    <a:lstStyle/>
                    <a:p>
                      <a:pPr algn="ctr">
                        <a:defRPr sz="660">
                          <a:solidFill>
                            <a:srgbClr val="1E242B"/>
                          </a:solidFill>
                          <a:latin typeface="Arial"/>
                        </a:defRPr>
                      </a:pPr>
                      <a:r>
                        <a:t>Đánh giá Cpk ≥ 1,33</a:t>
                      </a:r>
                      <a:br/>
                      <a:r>
                        <a:t>QA duyệt bỏ đo Belt</a:t>
                      </a:r>
                    </a:p>
                  </a:txBody>
                  <a:tcPr anchor="ctr" marL="36576" marR="36576" marT="9144" marB="9144">
                    <a:solidFill>
                      <a:srgbClr val="E8EEF5"/>
                    </a:solidFill>
                  </a:tcPr>
                </a:tc>
                <a:tc>
                  <a:txBody>
                    <a:bodyPr/>
                    <a:lstStyle/>
                    <a:p>
                      <a:pPr algn="ctr">
                        <a:defRPr sz="660">
                          <a:solidFill>
                            <a:srgbClr val="1E242B"/>
                          </a:solidFill>
                          <a:latin typeface="Arial"/>
                        </a:defRPr>
                      </a:pPr>
                      <a:r>
                        <a:t>Vận hành chính thức</a:t>
                      </a:r>
                      <a:br/>
                      <a:r>
                        <a:t>Takt 97s (300 máy/ngày)</a:t>
                      </a:r>
                    </a:p>
                  </a:txBody>
                  <a:tcPr anchor="ctr" marL="36576" marR="36576" marT="9144" marB="9144">
                    <a:solidFill>
                      <a:srgbClr val="E8EEF5"/>
                    </a:solidFill>
                  </a:tcPr>
                </a:tc>
              </a:tr>
              <a:tr h="393192">
                <a:tc>
                  <a:txBody>
                    <a:bodyPr/>
                    <a:lstStyle/>
                    <a:p>
                      <a:pPr algn="l">
                        <a:defRPr sz="660" b="1">
                          <a:solidFill>
                            <a:srgbClr val="1E242B"/>
                          </a:solidFill>
                          <a:latin typeface="Arial"/>
                        </a:defRPr>
                      </a:pPr>
                      <a:r>
                        <a:t>2. Chế tạo Đồ gá &amp; Thiết bị tự động tại VN</a:t>
                      </a:r>
                    </a:p>
                  </a:txBody>
                  <a:tcPr anchor="ctr" marL="36576" marR="36576" marT="9144" marB="9144">
                    <a:solidFill>
                      <a:srgbClr val="EAF7EE"/>
                    </a:solidFill>
                  </a:tcPr>
                </a:tc>
                <a:tc>
                  <a:txBody>
                    <a:bodyPr/>
                    <a:lstStyle/>
                    <a:p>
                      <a:pPr algn="ctr">
                        <a:defRPr sz="660">
                          <a:solidFill>
                            <a:srgbClr val="1E242B"/>
                          </a:solidFill>
                          <a:latin typeface="Arial"/>
                        </a:defRPr>
                      </a:pPr>
                      <a:r>
                        <a:t>Khảo sát nhà cung cấp</a:t>
                      </a:r>
                      <a:br/>
                      <a:r>
                        <a:t>Lập dự toán VN提案</a:t>
                      </a:r>
                    </a:p>
                  </a:txBody>
                  <a:tcPr anchor="ctr" marL="36576" marR="36576" marT="9144" marB="9144">
                    <a:solidFill>
                      <a:srgbClr val="EAF7EE"/>
                    </a:solidFill>
                  </a:tcPr>
                </a:tc>
                <a:tc>
                  <a:txBody>
                    <a:bodyPr/>
                    <a:lstStyle/>
                    <a:p>
                      <a:pPr algn="ctr">
                        <a:defRPr sz="660">
                          <a:solidFill>
                            <a:srgbClr val="1E242B"/>
                          </a:solidFill>
                          <a:latin typeface="Arial"/>
                        </a:defRPr>
                      </a:pPr>
                      <a:r>
                        <a:t>Hoàn tất BOM 25 mục</a:t>
                      </a:r>
                      <a:br/>
                      <a:r>
                        <a:t>No.22 (101,69tr VNĐ)</a:t>
                      </a:r>
                    </a:p>
                  </a:txBody>
                  <a:tcPr anchor="ctr" marL="36576" marR="36576" marT="9144" marB="9144">
                    <a:solidFill>
                      <a:srgbClr val="EAF7EE"/>
                    </a:solidFill>
                  </a:tcPr>
                </a:tc>
                <a:tc>
                  <a:txBody>
                    <a:bodyPr/>
                    <a:lstStyle/>
                    <a:p>
                      <a:pPr algn="ctr">
                        <a:defRPr sz="660">
                          <a:solidFill>
                            <a:srgbClr val="1E242B"/>
                          </a:solidFill>
                          <a:latin typeface="Arial"/>
                        </a:defRPr>
                      </a:pPr>
                      <a:r>
                        <a:t>Duyệt kinh phí No.22</a:t>
                      </a:r>
                      <a:br/>
                      <a:r>
                        <a:t>Chốt giá Camera/DP/Option</a:t>
                      </a:r>
                    </a:p>
                  </a:txBody>
                  <a:tcPr anchor="ctr" marL="36576" marR="36576" marT="9144" marB="9144">
                    <a:solidFill>
                      <a:srgbClr val="EAF7EE"/>
                    </a:solidFill>
                  </a:tcPr>
                </a:tc>
                <a:tc>
                  <a:txBody>
                    <a:bodyPr/>
                    <a:lstStyle/>
                    <a:p>
                      <a:pPr algn="ctr">
                        <a:defRPr sz="660">
                          <a:solidFill>
                            <a:srgbClr val="1E242B"/>
                          </a:solidFill>
                          <a:latin typeface="Arial"/>
                        </a:defRPr>
                      </a:pPr>
                      <a:r>
                        <a:t>Lắp đặt máy đo No.22,</a:t>
                      </a:r>
                      <a:br/>
                      <a:r>
                        <a:t>Camera No.27 &amp; khay DP</a:t>
                      </a:r>
                    </a:p>
                  </a:txBody>
                  <a:tcPr anchor="ctr" marL="36576" marR="36576" marT="9144" marB="9144">
                    <a:solidFill>
                      <a:srgbClr val="EAF7EE"/>
                    </a:solidFill>
                  </a:tcPr>
                </a:tc>
                <a:tc>
                  <a:txBody>
                    <a:bodyPr/>
                    <a:lstStyle/>
                    <a:p>
                      <a:pPr algn="ctr">
                        <a:defRPr sz="660">
                          <a:solidFill>
                            <a:srgbClr val="1E242B"/>
                          </a:solidFill>
                          <a:latin typeface="Arial"/>
                        </a:defRPr>
                      </a:pPr>
                      <a:r>
                        <a:t>Chạy rà thiết bị, hiệu</a:t>
                      </a:r>
                      <a:br/>
                      <a:r>
                        <a:t>chuẩn thuật toán chấm ảnh</a:t>
                      </a:r>
                    </a:p>
                  </a:txBody>
                  <a:tcPr anchor="ctr" marL="36576" marR="36576" marT="9144" marB="9144">
                    <a:solidFill>
                      <a:srgbClr val="EAF7EE"/>
                    </a:solidFill>
                  </a:tcPr>
                </a:tc>
                <a:tc>
                  <a:txBody>
                    <a:bodyPr/>
                    <a:lstStyle/>
                    <a:p>
                      <a:pPr algn="ctr">
                        <a:defRPr sz="660">
                          <a:solidFill>
                            <a:srgbClr val="1E242B"/>
                          </a:solidFill>
                          <a:latin typeface="Arial"/>
                        </a:defRPr>
                      </a:pPr>
                      <a:r>
                        <a:t>Bàn giao toàn bộ thiết bị</a:t>
                      </a:r>
                      <a:br/>
                      <a:r>
                        <a:t>cho Sản xuất (MFG)</a:t>
                      </a:r>
                    </a:p>
                  </a:txBody>
                  <a:tcPr anchor="ctr" marL="36576" marR="36576" marT="9144" marB="9144">
                    <a:solidFill>
                      <a:srgbClr val="EAF7EE"/>
                    </a:solidFill>
                  </a:tcPr>
                </a:tc>
              </a:tr>
              <a:tr h="393192">
                <a:tc>
                  <a:txBody>
                    <a:bodyPr/>
                    <a:lstStyle/>
                    <a:p>
                      <a:pPr algn="l">
                        <a:defRPr sz="660" b="1">
                          <a:solidFill>
                            <a:srgbClr val="1E242B"/>
                          </a:solidFill>
                          <a:latin typeface="Arial"/>
                        </a:defRPr>
                      </a:pPr>
                      <a:r>
                        <a:t>3. Hạ tầng Mạng hóa Host PC + Spica Mini PC</a:t>
                      </a:r>
                    </a:p>
                  </a:txBody>
                  <a:tcPr anchor="ctr" marL="36576" marR="36576" marT="9144" marB="9144">
                    <a:solidFill>
                      <a:srgbClr val="FFFFFF"/>
                    </a:solidFill>
                  </a:tcPr>
                </a:tc>
                <a:tc>
                  <a:txBody>
                    <a:bodyPr/>
                    <a:lstStyle/>
                    <a:p>
                      <a:pPr algn="ctr">
                        <a:defRPr sz="660">
                          <a:solidFill>
                            <a:srgbClr val="1E242B"/>
                          </a:solidFill>
                          <a:latin typeface="Arial"/>
                        </a:defRPr>
                      </a:pPr>
                      <a:r>
                        <a:t>So sánh Athena (RasPi)</a:t>
                      </a:r>
                      <a:br/>
                      <a:r>
                        <a:t>và Spica (Mini PC)</a:t>
                      </a:r>
                    </a:p>
                  </a:txBody>
                  <a:tcPr anchor="ctr" marL="36576" marR="36576" marT="9144" marB="9144">
                    <a:solidFill>
                      <a:srgbClr val="FFFFFF"/>
                    </a:solidFill>
                  </a:tcPr>
                </a:tc>
                <a:tc>
                  <a:txBody>
                    <a:bodyPr/>
                    <a:lstStyle/>
                    <a:p>
                      <a:pPr algn="ctr">
                        <a:defRPr sz="660">
                          <a:solidFill>
                            <a:srgbClr val="1E242B"/>
                          </a:solidFill>
                          <a:latin typeface="Arial"/>
                        </a:defRPr>
                      </a:pPr>
                      <a:r>
                        <a:t>Tạm chốt hệ Spica Mini PC</a:t>
                      </a:r>
                      <a:br/>
                      <a:r>
                        <a:t>(1 bộ điều khiển 4 máy)</a:t>
                      </a:r>
                    </a:p>
                  </a:txBody>
                  <a:tcPr anchor="ctr" marL="36576" marR="36576" marT="9144" marB="9144">
                    <a:solidFill>
                      <a:srgbClr val="FFFFFF"/>
                    </a:solidFill>
                  </a:tcPr>
                </a:tc>
                <a:tc>
                  <a:txBody>
                    <a:bodyPr/>
                    <a:lstStyle/>
                    <a:p>
                      <a:pPr algn="ctr">
                        <a:defRPr sz="660">
                          <a:solidFill>
                            <a:srgbClr val="1E242B"/>
                          </a:solidFill>
                          <a:latin typeface="Arial"/>
                        </a:defRPr>
                      </a:pPr>
                      <a:r>
                        <a:t>Thiết kế mạng LAN/VLAN</a:t>
                      </a:r>
                      <a:br/>
                      <a:r>
                        <a:t>&amp; tích hợp lệnh FinalSetup</a:t>
                      </a:r>
                    </a:p>
                  </a:txBody>
                  <a:tcPr anchor="ctr" marL="36576" marR="36576" marT="9144" marB="9144">
                    <a:solidFill>
                      <a:srgbClr val="FFFFFF"/>
                    </a:solidFill>
                  </a:tcPr>
                </a:tc>
                <a:tc>
                  <a:txBody>
                    <a:bodyPr/>
                    <a:lstStyle/>
                    <a:p>
                      <a:pPr algn="ctr">
                        <a:defRPr sz="660">
                          <a:solidFill>
                            <a:srgbClr val="1E242B"/>
                          </a:solidFill>
                          <a:latin typeface="Arial"/>
                        </a:defRPr>
                      </a:pPr>
                      <a:r>
                        <a:t>Chạy thử truyền log tự</a:t>
                      </a:r>
                      <a:br/>
                      <a:r>
                        <a:t>động &amp; nạp lệnh Uxxx</a:t>
                      </a:r>
                    </a:p>
                  </a:txBody>
                  <a:tcPr anchor="ctr" marL="36576" marR="36576" marT="9144" marB="9144">
                    <a:solidFill>
                      <a:srgbClr val="FFFFFF"/>
                    </a:solidFill>
                  </a:tcPr>
                </a:tc>
                <a:tc>
                  <a:txBody>
                    <a:bodyPr/>
                    <a:lstStyle/>
                    <a:p>
                      <a:pPr algn="ctr">
                        <a:defRPr sz="660">
                          <a:solidFill>
                            <a:srgbClr val="1E242B"/>
                          </a:solidFill>
                          <a:latin typeface="Arial"/>
                        </a:defRPr>
                      </a:pPr>
                      <a:r>
                        <a:t>Đồng bộ cơ sở dữ liệu</a:t>
                      </a:r>
                      <a:br/>
                      <a:r>
                        <a:t>3 cứ điểm JP - CN - VN</a:t>
                      </a:r>
                    </a:p>
                  </a:txBody>
                  <a:tcPr anchor="ctr" marL="36576" marR="36576" marT="9144" marB="9144">
                    <a:solidFill>
                      <a:srgbClr val="FFFFFF"/>
                    </a:solidFill>
                  </a:tcPr>
                </a:tc>
                <a:tc>
                  <a:txBody>
                    <a:bodyPr/>
                    <a:lstStyle/>
                    <a:p>
                      <a:pPr algn="ctr">
                        <a:defRPr sz="660">
                          <a:solidFill>
                            <a:srgbClr val="1E242B"/>
                          </a:solidFill>
                          <a:latin typeface="Arial"/>
                        </a:defRPr>
                      </a:pPr>
                      <a:r>
                        <a:t>Hoàn tất dây chuyền</a:t>
                      </a:r>
                      <a:br/>
                      <a:r>
                        <a:t>Bảo chứng thân máy</a:t>
                      </a:r>
                    </a:p>
                  </a:txBody>
                  <a:tcPr anchor="ctr" marL="36576" marR="36576" marT="9144" marB="9144">
                    <a:solidFill>
                      <a:srgbClr val="FFFFFF"/>
                    </a:solidFill>
                  </a:tcPr>
                </a:tc>
              </a:tr>
              <a:tr h="393192">
                <a:tc>
                  <a:txBody>
                    <a:bodyPr/>
                    <a:lstStyle/>
                    <a:p>
                      <a:pPr algn="l">
                        <a:defRPr sz="660" b="1">
                          <a:solidFill>
                            <a:srgbClr val="1E242B"/>
                          </a:solidFill>
                          <a:latin typeface="Arial"/>
                        </a:defRPr>
                      </a:pPr>
                      <a:r>
                        <a:t>4. Chỉ tiêu giảm thời gian lũy kế (KDTVN-PE-3)</a:t>
                      </a:r>
                    </a:p>
                  </a:txBody>
                  <a:tcPr anchor="ctr" marL="36576" marR="36576" marT="9144" marB="9144">
                    <a:solidFill>
                      <a:srgbClr val="FEF7E6"/>
                    </a:solidFill>
                  </a:tcPr>
                </a:tc>
                <a:tc>
                  <a:txBody>
                    <a:bodyPr/>
                    <a:lstStyle/>
                    <a:p>
                      <a:pPr algn="ctr">
                        <a:defRPr sz="660">
                          <a:solidFill>
                            <a:srgbClr val="1E242B"/>
                          </a:solidFill>
                          <a:latin typeface="Arial"/>
                        </a:defRPr>
                      </a:pPr>
                      <a:r>
                        <a:t>KH: 1% (-23,5s)</a:t>
                      </a:r>
                    </a:p>
                  </a:txBody>
                  <a:tcPr anchor="ctr" marL="36576" marR="36576" marT="9144" marB="9144">
                    <a:solidFill>
                      <a:srgbClr val="FEF7E6"/>
                    </a:solidFill>
                  </a:tcPr>
                </a:tc>
                <a:tc>
                  <a:txBody>
                    <a:bodyPr/>
                    <a:lstStyle/>
                    <a:p>
                      <a:pPr algn="ctr">
                        <a:defRPr sz="660">
                          <a:solidFill>
                            <a:srgbClr val="1E242B"/>
                          </a:solidFill>
                          <a:latin typeface="Arial"/>
                        </a:defRPr>
                      </a:pPr>
                      <a:r>
                        <a:t>KH: 3% (-47,0s)</a:t>
                      </a:r>
                      <a:br/>
                      <a:r>
                        <a:t>Thực tích: -4,32s</a:t>
                      </a:r>
                    </a:p>
                  </a:txBody>
                  <a:tcPr anchor="ctr" marL="36576" marR="36576" marT="9144" marB="9144">
                    <a:solidFill>
                      <a:srgbClr val="FEF7E6"/>
                    </a:solidFill>
                  </a:tcPr>
                </a:tc>
                <a:tc>
                  <a:txBody>
                    <a:bodyPr/>
                    <a:lstStyle/>
                    <a:p>
                      <a:pPr algn="ctr">
                        <a:defRPr sz="660">
                          <a:solidFill>
                            <a:srgbClr val="1E242B"/>
                          </a:solidFill>
                          <a:latin typeface="Arial"/>
                        </a:defRPr>
                      </a:pPr>
                      <a:r>
                        <a:t>Mục tiêu: 15%</a:t>
                      </a:r>
                      <a:br/>
                      <a:r>
                        <a:t>(Giảm ≥ 282s/máy)</a:t>
                      </a:r>
                    </a:p>
                  </a:txBody>
                  <a:tcPr anchor="ctr" marL="36576" marR="36576" marT="9144" marB="9144">
                    <a:solidFill>
                      <a:srgbClr val="FEF7E6"/>
                    </a:solidFill>
                  </a:tcPr>
                </a:tc>
                <a:tc>
                  <a:txBody>
                    <a:bodyPr/>
                    <a:lstStyle/>
                    <a:p>
                      <a:pPr algn="ctr">
                        <a:defRPr sz="660">
                          <a:solidFill>
                            <a:srgbClr val="1E242B"/>
                          </a:solidFill>
                          <a:latin typeface="Arial"/>
                        </a:defRPr>
                      </a:pPr>
                      <a:r>
                        <a:t>Mục tiêu: 30%</a:t>
                      </a:r>
                      <a:br/>
                      <a:r>
                        <a:t>(Giảm ≥ 705s/máy)</a:t>
                      </a:r>
                    </a:p>
                  </a:txBody>
                  <a:tcPr anchor="ctr" marL="36576" marR="36576" marT="9144" marB="9144">
                    <a:solidFill>
                      <a:srgbClr val="FEF7E6"/>
                    </a:solidFill>
                  </a:tcPr>
                </a:tc>
                <a:tc>
                  <a:txBody>
                    <a:bodyPr/>
                    <a:lstStyle/>
                    <a:p>
                      <a:pPr algn="ctr">
                        <a:defRPr sz="660">
                          <a:solidFill>
                            <a:srgbClr val="1E242B"/>
                          </a:solidFill>
                          <a:latin typeface="Arial"/>
                        </a:defRPr>
                      </a:pPr>
                      <a:r>
                        <a:t>T1: 50% (-1.175s)</a:t>
                      </a:r>
                      <a:br/>
                      <a:r>
                        <a:t>T2: 80% (-1.880s)</a:t>
                      </a:r>
                    </a:p>
                  </a:txBody>
                  <a:tcPr anchor="ctr" marL="36576" marR="36576" marT="9144" marB="9144">
                    <a:solidFill>
                      <a:srgbClr val="FEF7E6"/>
                    </a:solidFill>
                  </a:tcPr>
                </a:tc>
                <a:tc>
                  <a:txBody>
                    <a:bodyPr/>
                    <a:lstStyle/>
                    <a:p>
                      <a:pPr algn="ctr">
                        <a:defRPr sz="660">
                          <a:solidFill>
                            <a:srgbClr val="1E242B"/>
                          </a:solidFill>
                          <a:latin typeface="Arial"/>
                        </a:defRPr>
                      </a:pPr>
                      <a:r>
                        <a:t>Hoàn thành 100% đề án</a:t>
                      </a:r>
                      <a:br/>
                      <a:r>
                        <a:t>Năng suất tăng gấp đôi</a:t>
                      </a:r>
                    </a:p>
                  </a:txBody>
                  <a:tcPr anchor="ctr" marL="36576" marR="36576" marT="9144" marB="9144">
                    <a:solidFill>
                      <a:srgbClr val="FEF7E6"/>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Arial"/>
              </a:defRPr>
            </a:pPr>
            <a:r>
              <a:t>PHẦN THAM KHẢO (1/4)</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Tổng hợp toàn bộ 38 đề án cải tiến của 3 cứ điểm Nhật Bản (7) - Trung Quốc (11) - Việt Nam (20)</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12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000" b="1">
                <a:solidFill>
                  <a:srgbClr val="0F203C"/>
                </a:solidFill>
                <a:latin typeface="Arial"/>
              </a:defRPr>
            </a:pPr>
            <a:r>
              <a:t>■ Bảng đối chiếu tổng thể số lượng đề án, thời gian giảm, nhân lực và kinh phí của cả 3 cứ điểm (JP - CN - VN) được xếp ở phần cuối báo cáo để tra cứu và tham khảo.</a:t>
            </a:r>
          </a:p>
        </p:txBody>
      </p:sp>
      <p:graphicFrame>
        <p:nvGraphicFramePr>
          <p:cNvPr id="7" name="Table 6"/>
          <p:cNvGraphicFramePr>
            <a:graphicFrameLocks noGrp="1"/>
          </p:cNvGraphicFramePr>
          <p:nvPr/>
        </p:nvGraphicFramePr>
        <p:xfrm>
          <a:off x="256032" y="1170432"/>
          <a:ext cx="11679631" cy="4297680"/>
        </p:xfrm>
        <a:graphic>
          <a:graphicData uri="http://schemas.openxmlformats.org/drawingml/2006/table">
            <a:tbl>
              <a:tblPr firstRow="1" bandRow="1">
                <a:tableStyleId>{5C22544A-7EE6-4342-B048-85BDC9FD1C3A}</a:tableStyleId>
              </a:tblPr>
              <a:tblGrid>
                <a:gridCol w="1463040"/>
                <a:gridCol w="2194560"/>
                <a:gridCol w="2194560"/>
                <a:gridCol w="2578608"/>
                <a:gridCol w="1965960"/>
                <a:gridCol w="1282903"/>
              </a:tblGrid>
              <a:tr h="477520">
                <a:tc>
                  <a:txBody>
                    <a:bodyPr/>
                    <a:lstStyle/>
                    <a:p>
                      <a:pPr algn="ctr">
                        <a:defRPr sz="700" b="1">
                          <a:solidFill>
                            <a:srgbClr val="FFFFFF"/>
                          </a:solidFill>
                          <a:latin typeface="Arial"/>
                        </a:defRPr>
                      </a:pPr>
                      <a:r>
                        <a:t>Chỉ tiêu đối chiếu</a:t>
                      </a:r>
                    </a:p>
                  </a:txBody>
                  <a:tcPr anchor="ctr" marL="36576" marR="36576" marT="9144" marB="9144">
                    <a:solidFill>
                      <a:srgbClr val="1B365D"/>
                    </a:solidFill>
                  </a:tcPr>
                </a:tc>
                <a:tc>
                  <a:txBody>
                    <a:bodyPr/>
                    <a:lstStyle/>
                    <a:p>
                      <a:pPr algn="ctr">
                        <a:defRPr sz="700" b="1">
                          <a:solidFill>
                            <a:srgbClr val="FFFFFF"/>
                          </a:solidFill>
                          <a:latin typeface="Arial"/>
                        </a:defRPr>
                      </a:pPr>
                      <a:r>
                        <a:t>Nhật Bản (JP)</a:t>
                      </a:r>
                    </a:p>
                  </a:txBody>
                  <a:tcPr anchor="ctr" marL="36576" marR="36576" marT="9144" marB="9144">
                    <a:solidFill>
                      <a:srgbClr val="1B365D"/>
                    </a:solidFill>
                  </a:tcPr>
                </a:tc>
                <a:tc>
                  <a:txBody>
                    <a:bodyPr/>
                    <a:lstStyle/>
                    <a:p>
                      <a:pPr algn="ctr">
                        <a:defRPr sz="700" b="1">
                          <a:solidFill>
                            <a:srgbClr val="FFFFFF"/>
                          </a:solidFill>
                          <a:latin typeface="Arial"/>
                        </a:defRPr>
                      </a:pPr>
                      <a:r>
                        <a:t>Trung Quốc (CN)</a:t>
                      </a:r>
                    </a:p>
                  </a:txBody>
                  <a:tcPr anchor="ctr" marL="36576" marR="36576" marT="9144" marB="9144">
                    <a:solidFill>
                      <a:srgbClr val="1B365D"/>
                    </a:solidFill>
                  </a:tcPr>
                </a:tc>
                <a:tc>
                  <a:txBody>
                    <a:bodyPr/>
                    <a:lstStyle/>
                    <a:p>
                      <a:pPr algn="ctr">
                        <a:defRPr sz="700" b="1">
                          <a:solidFill>
                            <a:srgbClr val="FFFFFF"/>
                          </a:solidFill>
                          <a:latin typeface="Arial"/>
                        </a:defRPr>
                      </a:pPr>
                      <a:r>
                        <a:t>Việt Nam (VN)</a:t>
                      </a:r>
                    </a:p>
                  </a:txBody>
                  <a:tcPr anchor="ctr" marL="36576" marR="36576" marT="9144" marB="9144">
                    <a:solidFill>
                      <a:srgbClr val="1B365D"/>
                    </a:solidFill>
                  </a:tcPr>
                </a:tc>
                <a:tc>
                  <a:txBody>
                    <a:bodyPr/>
                    <a:lstStyle/>
                    <a:p>
                      <a:pPr algn="ctr">
                        <a:defRPr sz="700" b="1">
                          <a:solidFill>
                            <a:srgbClr val="FFFFFF"/>
                          </a:solidFill>
                          <a:latin typeface="Arial"/>
                        </a:defRPr>
                      </a:pPr>
                      <a:r>
                        <a:t>Tổng hợp 3 cứ điểm</a:t>
                      </a:r>
                      <a:br/>
                      <a:r>
                        <a:t>(JP + CN + VN)</a:t>
                      </a:r>
                    </a:p>
                  </a:txBody>
                  <a:tcPr anchor="ctr" marL="36576" marR="36576" marT="9144" marB="9144">
                    <a:solidFill>
                      <a:srgbClr val="1B365D"/>
                    </a:solidFill>
                  </a:tcPr>
                </a:tc>
                <a:tc>
                  <a:txBody>
                    <a:bodyPr/>
                    <a:lstStyle/>
                    <a:p>
                      <a:pPr algn="ctr">
                        <a:defRPr sz="700" b="1">
                          <a:solidFill>
                            <a:srgbClr val="FFFFFF"/>
                          </a:solidFill>
                          <a:latin typeface="Arial"/>
                        </a:defRPr>
                      </a:pPr>
                      <a:r>
                        <a:t>Tài liệu nguồn</a:t>
                      </a:r>
                    </a:p>
                  </a:txBody>
                  <a:tcPr anchor="ctr" marL="36576" marR="36576" marT="9144" marB="9144">
                    <a:solidFill>
                      <a:srgbClr val="1B365D"/>
                    </a:solidFill>
                  </a:tcPr>
                </a:tc>
              </a:tr>
              <a:tr h="477520">
                <a:tc>
                  <a:txBody>
                    <a:bodyPr/>
                    <a:lstStyle/>
                    <a:p>
                      <a:pPr algn="l">
                        <a:defRPr sz="620" b="1">
                          <a:solidFill>
                            <a:srgbClr val="1E242B"/>
                          </a:solidFill>
                          <a:latin typeface="Arial"/>
                        </a:defRPr>
                      </a:pPr>
                      <a:r>
                        <a:t>1. Số lượng đề án</a:t>
                      </a:r>
                    </a:p>
                  </a:txBody>
                  <a:tcPr anchor="ctr" marL="36576" marR="36576" marT="9144" marB="9144">
                    <a:solidFill>
                      <a:srgbClr val="FFFFFF"/>
                    </a:solidFill>
                  </a:tcPr>
                </a:tc>
                <a:tc>
                  <a:txBody>
                    <a:bodyPr/>
                    <a:lstStyle/>
                    <a:p>
                      <a:pPr algn="l">
                        <a:defRPr sz="620">
                          <a:solidFill>
                            <a:srgbClr val="1E242B"/>
                          </a:solidFill>
                          <a:latin typeface="Arial"/>
                        </a:defRPr>
                      </a:pPr>
                      <a:r>
                        <a:t>• 7 đề án (No.1 ~ No.7), giữ nguyên từ T8 -&gt; T10/2026</a:t>
                      </a:r>
                    </a:p>
                  </a:txBody>
                  <a:tcPr anchor="ctr" marL="36576" marR="36576" marT="9144" marB="9144">
                    <a:solidFill>
                      <a:srgbClr val="FFFFFF"/>
                    </a:solidFill>
                  </a:tcPr>
                </a:tc>
                <a:tc>
                  <a:txBody>
                    <a:bodyPr/>
                    <a:lstStyle/>
                    <a:p>
                      <a:pPr algn="l">
                        <a:defRPr sz="620">
                          <a:solidFill>
                            <a:srgbClr val="1E242B"/>
                          </a:solidFill>
                          <a:latin typeface="Arial"/>
                        </a:defRPr>
                      </a:pPr>
                      <a:r>
                        <a:t>• Đợt T8~T9: 10 đề án (No.8~17)</a:t>
                      </a:r>
                      <a:br/>
                      <a:r>
                        <a:t>• Bổ sung T10: +1 đề án (No.38 AI WeChat) = 11 đề án</a:t>
                      </a:r>
                    </a:p>
                  </a:txBody>
                  <a:tcPr anchor="ctr" marL="36576" marR="36576" marT="9144" marB="9144">
                    <a:solidFill>
                      <a:srgbClr val="FFFFFF"/>
                    </a:solidFill>
                  </a:tcPr>
                </a:tc>
                <a:tc>
                  <a:txBody>
                    <a:bodyPr/>
                    <a:lstStyle/>
                    <a:p>
                      <a:pPr algn="l">
                        <a:defRPr sz="620">
                          <a:solidFill>
                            <a:srgbClr val="1E242B"/>
                          </a:solidFill>
                          <a:latin typeface="Arial"/>
                        </a:defRPr>
                      </a:pPr>
                      <a:r>
                        <a:t>• Đợt T8: 11 đề án (No.18~28)</a:t>
                      </a:r>
                      <a:br/>
                      <a:r>
                        <a:t>• Bổ sung T9: +9 đề án (No.29~37) = 20 đề án VN</a:t>
                      </a:r>
                    </a:p>
                  </a:txBody>
                  <a:tcPr anchor="ctr" marL="36576" marR="36576" marT="9144" marB="9144">
                    <a:solidFill>
                      <a:srgbClr val="FFFFFF"/>
                    </a:solidFill>
                  </a:tcPr>
                </a:tc>
                <a:tc>
                  <a:txBody>
                    <a:bodyPr/>
                    <a:lstStyle/>
                    <a:p>
                      <a:pPr algn="l">
                        <a:defRPr sz="620">
                          <a:solidFill>
                            <a:srgbClr val="1E242B"/>
                          </a:solidFill>
                          <a:latin typeface="Arial"/>
                        </a:defRPr>
                      </a:pPr>
                      <a:r>
                        <a:t>• T8: 28 đề án</a:t>
                      </a:r>
                      <a:br/>
                      <a:r>
                        <a:t>• T9: 37 đề án</a:t>
                      </a:r>
                      <a:br/>
                      <a:r>
                        <a:t>• Hiện tại: 38 đề án (7 + 11 + 20)</a:t>
                      </a:r>
                    </a:p>
                  </a:txBody>
                  <a:tcPr anchor="ctr" marL="36576" marR="36576" marT="9144" marB="9144">
                    <a:solidFill>
                      <a:srgbClr val="FFFFFF"/>
                    </a:solidFill>
                  </a:tcPr>
                </a:tc>
                <a:tc>
                  <a:txBody>
                    <a:bodyPr/>
                    <a:lstStyle/>
                    <a:p>
                      <a:pPr algn="l">
                        <a:defRPr sz="620">
                          <a:solidFill>
                            <a:srgbClr val="1E242B"/>
                          </a:solidFill>
                          <a:latin typeface="Arial"/>
                        </a:defRPr>
                      </a:pPr>
                      <a:r>
                        <a:t>IrisEXP改善提案まとめ.xlsx</a:t>
                      </a:r>
                    </a:p>
                  </a:txBody>
                  <a:tcPr anchor="ctr" marL="36576" marR="36576" marT="9144" marB="9144">
                    <a:solidFill>
                      <a:srgbClr val="FFFFFF"/>
                    </a:solidFill>
                  </a:tcPr>
                </a:tc>
              </a:tr>
              <a:tr h="477520">
                <a:tc>
                  <a:txBody>
                    <a:bodyPr/>
                    <a:lstStyle/>
                    <a:p>
                      <a:pPr algn="l">
                        <a:defRPr sz="620" b="1">
                          <a:solidFill>
                            <a:srgbClr val="1E242B"/>
                          </a:solidFill>
                          <a:latin typeface="Arial"/>
                        </a:defRPr>
                      </a:pPr>
                      <a:r>
                        <a:t>2. Hiện trạng thời gian</a:t>
                      </a:r>
                      <a:br/>
                      <a:r>
                        <a:t>(Iris2024)</a:t>
                      </a:r>
                    </a:p>
                  </a:txBody>
                  <a:tcPr anchor="ctr" marL="36576" marR="36576" marT="9144" marB="9144">
                    <a:solidFill>
                      <a:srgbClr val="F7F9FC"/>
                    </a:solidFill>
                  </a:tcPr>
                </a:tc>
                <a:tc>
                  <a:txBody>
                    <a:bodyPr/>
                    <a:lstStyle/>
                    <a:p>
                      <a:pPr algn="l">
                        <a:defRPr sz="620">
                          <a:solidFill>
                            <a:srgbClr val="1E242B"/>
                          </a:solidFill>
                          <a:latin typeface="Arial"/>
                        </a:defRPr>
                      </a:pPr>
                      <a:r>
                        <a:t>• Thao tác thuần: 1.171,70s (Color) / 1.120,90s (Mono)</a:t>
                      </a:r>
                      <a:br/>
                      <a:r>
                        <a:t>• IrisEXP chưa cải tiến (+89s U413): 1.260,70s Color</a:t>
                      </a:r>
                    </a:p>
                  </a:txBody>
                  <a:tcPr anchor="ctr" marL="36576" marR="36576" marT="9144" marB="9144">
                    <a:solidFill>
                      <a:srgbClr val="F7F9FC"/>
                    </a:solidFill>
                  </a:tcPr>
                </a:tc>
                <a:tc>
                  <a:txBody>
                    <a:bodyPr/>
                    <a:lstStyle/>
                    <a:p>
                      <a:pPr algn="l">
                        <a:defRPr sz="620">
                          <a:solidFill>
                            <a:srgbClr val="1E242B"/>
                          </a:solidFill>
                          <a:latin typeface="Arial"/>
                        </a:defRPr>
                      </a:pPr>
                      <a:r>
                        <a:t>• 575 bước trên bảng công đoạn; tổng TG các mục CN đề xuất giảm: 178,56s + chờ in 230s</a:t>
                      </a:r>
                    </a:p>
                  </a:txBody>
                  <a:tcPr anchor="ctr" marL="36576" marR="36576" marT="9144" marB="9144">
                    <a:solidFill>
                      <a:srgbClr val="F7F9FC"/>
                    </a:solidFill>
                  </a:tcPr>
                </a:tc>
                <a:tc>
                  <a:txBody>
                    <a:bodyPr/>
                    <a:lstStyle/>
                    <a:p>
                      <a:pPr algn="l">
                        <a:defRPr sz="620">
                          <a:solidFill>
                            <a:srgbClr val="1E242B"/>
                          </a:solidFill>
                          <a:latin typeface="Arial"/>
                        </a:defRPr>
                      </a:pPr>
                      <a:r>
                        <a:t>• Thời gian chuẩn mã cao nhất: 1.083s (840s ĐC + 243s lấy data)</a:t>
                      </a:r>
                      <a:br/>
                      <a:r>
                        <a:t>• Tổng TG cả chờ máy/Aging K1~K8: 2.350s</a:t>
                      </a:r>
                    </a:p>
                  </a:txBody>
                  <a:tcPr anchor="ctr" marL="36576" marR="36576" marT="9144" marB="9144">
                    <a:solidFill>
                      <a:srgbClr val="F7F9FC"/>
                    </a:solidFill>
                  </a:tcPr>
                </a:tc>
                <a:tc>
                  <a:txBody>
                    <a:bodyPr/>
                    <a:lstStyle/>
                    <a:p>
                      <a:pPr algn="l">
                        <a:defRPr sz="620">
                          <a:solidFill>
                            <a:srgbClr val="1E242B"/>
                          </a:solidFill>
                          <a:latin typeface="Arial"/>
                        </a:defRPr>
                      </a:pPr>
                      <a:r>
                        <a:t>• Chuẩn KDTVN: 1.083s (Gross: 2.350s)</a:t>
                      </a:r>
                      <a:br/>
                      <a:r>
                        <a:t>• Chuẩn KDC: 1.171,7s Color</a:t>
                      </a:r>
                    </a:p>
                  </a:txBody>
                  <a:tcPr anchor="ctr" marL="36576" marR="36576" marT="9144" marB="9144">
                    <a:solidFill>
                      <a:srgbClr val="F7F9FC"/>
                    </a:solidFill>
                  </a:tcPr>
                </a:tc>
                <a:tc>
                  <a:txBody>
                    <a:bodyPr/>
                    <a:lstStyle/>
                    <a:p>
                      <a:pPr algn="l">
                        <a:defRPr sz="620">
                          <a:solidFill>
                            <a:srgbClr val="1E242B"/>
                          </a:solidFill>
                          <a:latin typeface="Arial"/>
                        </a:defRPr>
                      </a:pPr>
                      <a:r>
                        <a:t>既存機との工数比較;</a:t>
                      </a:r>
                      <a:br/>
                      <a:r>
                        <a:t>DSLK Điều chỉnh</a:t>
                      </a:r>
                    </a:p>
                  </a:txBody>
                  <a:tcPr anchor="ctr" marL="36576" marR="36576" marT="9144" marB="9144">
                    <a:solidFill>
                      <a:srgbClr val="F7F9FC"/>
                    </a:solidFill>
                  </a:tcPr>
                </a:tc>
              </a:tr>
              <a:tr h="477520">
                <a:tc>
                  <a:txBody>
                    <a:bodyPr/>
                    <a:lstStyle/>
                    <a:p>
                      <a:pPr algn="l">
                        <a:defRPr sz="620" b="1">
                          <a:solidFill>
                            <a:srgbClr val="1E242B"/>
                          </a:solidFill>
                          <a:latin typeface="Arial"/>
                        </a:defRPr>
                      </a:pPr>
                      <a:r>
                        <a:t>3. Hiệu quả giảm</a:t>
                      </a:r>
                      <a:br/>
                      <a:r>
                        <a:t>thời gian (s/máy)</a:t>
                      </a:r>
                    </a:p>
                  </a:txBody>
                  <a:tcPr anchor="ctr" marL="36576" marR="36576" marT="9144" marB="9144">
                    <a:solidFill>
                      <a:srgbClr val="FFFFFF"/>
                    </a:solidFill>
                  </a:tcPr>
                </a:tc>
                <a:tc>
                  <a:txBody>
                    <a:bodyPr/>
                    <a:lstStyle/>
                    <a:p>
                      <a:pPr algn="l">
                        <a:defRPr sz="620">
                          <a:solidFill>
                            <a:srgbClr val="1E242B"/>
                          </a:solidFill>
                          <a:latin typeface="Arial"/>
                        </a:defRPr>
                      </a:pPr>
                      <a:r>
                        <a:t>• Công thức 7 ĐA: -87,84s vs Iris2024 (-176,84s vs chưa CT -&gt; còn 1.083,86s)</a:t>
                      </a:r>
                      <a:br/>
                      <a:r>
                        <a:t>• Tổng bước đánh dấu xóa (153 bước): -267,74s Color</a:t>
                      </a:r>
                    </a:p>
                  </a:txBody>
                  <a:tcPr anchor="ctr" marL="36576" marR="36576" marT="9144" marB="9144">
                    <a:solidFill>
                      <a:srgbClr val="FFFFFF"/>
                    </a:solidFill>
                  </a:tcPr>
                </a:tc>
                <a:tc>
                  <a:txBody>
                    <a:bodyPr/>
                    <a:lstStyle/>
                    <a:p>
                      <a:pPr algn="l">
                        <a:defRPr sz="620">
                          <a:solidFill>
                            <a:srgbClr val="1E242B"/>
                          </a:solidFill>
                          <a:latin typeface="Arial"/>
                        </a:defRPr>
                      </a:pPr>
                      <a:r>
                        <a:t>• Tổng 10 dòng có số giây trong list CN: -178,56 s/máy thao tác</a:t>
                      </a:r>
                      <a:br/>
                      <a:r>
                        <a:t>• Rút ngắn chờ in: -110s (từ 230s xuống 120s)</a:t>
                      </a:r>
                    </a:p>
                  </a:txBody>
                  <a:tcPr anchor="ctr" marL="36576" marR="36576" marT="9144" marB="9144">
                    <a:solidFill>
                      <a:srgbClr val="FFFFFF"/>
                    </a:solidFill>
                  </a:tcPr>
                </a:tc>
                <a:tc>
                  <a:txBody>
                    <a:bodyPr/>
                    <a:lstStyle/>
                    <a:p>
                      <a:pPr algn="l">
                        <a:defRPr sz="620">
                          <a:solidFill>
                            <a:srgbClr val="1E242B"/>
                          </a:solidFill>
                          <a:latin typeface="Arial"/>
                        </a:defRPr>
                      </a:pPr>
                      <a:r>
                        <a:t>• 3 ĐA trong VN提案.xlsx: -170s (No.22: -30s, No.23: -110s, No.24: -30s)</a:t>
                      </a:r>
                      <a:br/>
                      <a:r>
                        <a:t>• Camera No.27: -177s~-215s</a:t>
                      </a:r>
                      <a:br/>
                      <a:r>
                        <a:t>• Mục tiêu: Giảm 50% (≤541s chuẩn / ≤1.175s gross)</a:t>
                      </a:r>
                    </a:p>
                  </a:txBody>
                  <a:tcPr anchor="ctr" marL="36576" marR="36576" marT="9144" marB="9144">
                    <a:solidFill>
                      <a:srgbClr val="FFFFFF"/>
                    </a:solidFill>
                  </a:tcPr>
                </a:tc>
                <a:tc>
                  <a:txBody>
                    <a:bodyPr/>
                    <a:lstStyle/>
                    <a:p>
                      <a:pPr algn="l">
                        <a:defRPr sz="620">
                          <a:solidFill>
                            <a:srgbClr val="1E242B"/>
                          </a:solidFill>
                          <a:latin typeface="Arial"/>
                        </a:defRPr>
                      </a:pPr>
                      <a:r>
                        <a:t>• JP: -176,84s ~ -267,74s</a:t>
                      </a:r>
                      <a:br/>
                      <a:r>
                        <a:t>• CN: -178,56s + -110s chờ in</a:t>
                      </a:r>
                      <a:br/>
                      <a:r>
                        <a:t>• VN: Giảm 50% thời gian</a:t>
                      </a:r>
                    </a:p>
                  </a:txBody>
                  <a:tcPr anchor="ctr" marL="36576" marR="36576" marT="9144" marB="9144">
                    <a:solidFill>
                      <a:srgbClr val="FFFFFF"/>
                    </a:solidFill>
                  </a:tcPr>
                </a:tc>
                <a:tc>
                  <a:txBody>
                    <a:bodyPr/>
                    <a:lstStyle/>
                    <a:p>
                      <a:pPr algn="l">
                        <a:defRPr sz="620">
                          <a:solidFill>
                            <a:srgbClr val="1E242B"/>
                          </a:solidFill>
                          <a:latin typeface="Arial"/>
                        </a:defRPr>
                      </a:pPr>
                      <a:r>
                        <a:t>IrisEXP 工程 3;</a:t>
                      </a:r>
                      <a:br/>
                      <a:r>
                        <a:t>cn改善案list</a:t>
                      </a:r>
                    </a:p>
                  </a:txBody>
                  <a:tcPr anchor="ctr" marL="36576" marR="36576" marT="9144" marB="9144">
                    <a:solidFill>
                      <a:srgbClr val="FFFFFF"/>
                    </a:solidFill>
                  </a:tcPr>
                </a:tc>
              </a:tr>
              <a:tr h="477520">
                <a:tc>
                  <a:txBody>
                    <a:bodyPr/>
                    <a:lstStyle/>
                    <a:p>
                      <a:pPr algn="l">
                        <a:defRPr sz="620" b="1">
                          <a:solidFill>
                            <a:srgbClr val="1E242B"/>
                          </a:solidFill>
                          <a:latin typeface="Arial"/>
                        </a:defRPr>
                      </a:pPr>
                      <a:r>
                        <a:t>4. Nhân lực &amp;</a:t>
                      </a:r>
                      <a:br/>
                      <a:r>
                        <a:t>Năng suất lao động</a:t>
                      </a:r>
                    </a:p>
                  </a:txBody>
                  <a:tcPr anchor="ctr" marL="36576" marR="36576" marT="9144" marB="9144">
                    <a:solidFill>
                      <a:srgbClr val="EAF7EE"/>
                    </a:solidFill>
                  </a:tcPr>
                </a:tc>
                <a:tc>
                  <a:txBody>
                    <a:bodyPr/>
                    <a:lstStyle/>
                    <a:p>
                      <a:pPr algn="l">
                        <a:defRPr sz="620">
                          <a:solidFill>
                            <a:srgbClr val="1E242B"/>
                          </a:solidFill>
                          <a:latin typeface="Arial"/>
                        </a:defRPr>
                      </a:pPr>
                      <a:r>
                        <a:t>• Tham chiếu dòng máy Athena: 16 -&gt; 8 người (-50%); thiết kế JIG &amp; phần mềm dùng chung</a:t>
                      </a:r>
                    </a:p>
                  </a:txBody>
                  <a:tcPr anchor="ctr" marL="36576" marR="36576" marT="9144" marB="9144">
                    <a:solidFill>
                      <a:srgbClr val="EAF7EE"/>
                    </a:solidFill>
                  </a:tcPr>
                </a:tc>
                <a:tc>
                  <a:txBody>
                    <a:bodyPr/>
                    <a:lstStyle/>
                    <a:p>
                      <a:pPr algn="l">
                        <a:defRPr sz="620">
                          <a:solidFill>
                            <a:srgbClr val="1E242B"/>
                          </a:solidFill>
                          <a:latin typeface="Arial"/>
                        </a:defRPr>
                      </a:pPr>
                      <a:r>
                        <a:t>• Tiết kiệm nhân công có số liệu: 11.160 RMB/tháng + 5.000 RMB/5.000 máy (gộp DC-1 + Gray)</a:t>
                      </a:r>
                    </a:p>
                  </a:txBody>
                  <a:tcPr anchor="ctr" marL="36576" marR="36576" marT="9144" marB="9144">
                    <a:solidFill>
                      <a:srgbClr val="EAF7EE"/>
                    </a:solidFill>
                  </a:tcPr>
                </a:tc>
                <a:tc>
                  <a:txBody>
                    <a:bodyPr/>
                    <a:lstStyle/>
                    <a:p>
                      <a:pPr algn="l">
                        <a:defRPr sz="620">
                          <a:solidFill>
                            <a:srgbClr val="1E242B"/>
                          </a:solidFill>
                          <a:latin typeface="Arial"/>
                        </a:defRPr>
                      </a:pPr>
                      <a:r>
                        <a:t>• Hiện trạng Iris2024: 16 người (7 ĐC + 9 Hình ảnh), 243 máy/ngày (15,19 máy/người)</a:t>
                      </a:r>
                      <a:br/>
                      <a:r>
                        <a:t>• Mục tiêu IrisEXP: Tăng gấp đôi năng suất (≥30,38 máy/người), giảm 50% người</a:t>
                      </a:r>
                    </a:p>
                  </a:txBody>
                  <a:tcPr anchor="ctr" marL="36576" marR="36576" marT="9144" marB="9144">
                    <a:solidFill>
                      <a:srgbClr val="EAF7EE"/>
                    </a:solidFill>
                  </a:tcPr>
                </a:tc>
                <a:tc>
                  <a:txBody>
                    <a:bodyPr/>
                    <a:lstStyle/>
                    <a:p>
                      <a:pPr algn="l">
                        <a:defRPr sz="620">
                          <a:solidFill>
                            <a:srgbClr val="1E242B"/>
                          </a:solidFill>
                          <a:latin typeface="Arial"/>
                        </a:defRPr>
                      </a:pPr>
                      <a:r>
                        <a:t>• Năng suất mục tiêu: Tăng gấp 2 lần (x2)</a:t>
                      </a:r>
                      <a:br/>
                      <a:r>
                        <a:t>• Đảm bảo SX trên Line hiện tại</a:t>
                      </a:r>
                    </a:p>
                  </a:txBody>
                  <a:tcPr anchor="ctr" marL="36576" marR="36576" marT="9144" marB="9144">
                    <a:solidFill>
                      <a:srgbClr val="EAF7EE"/>
                    </a:solidFill>
                  </a:tcPr>
                </a:tc>
                <a:tc>
                  <a:txBody>
                    <a:bodyPr/>
                    <a:lstStyle/>
                    <a:p>
                      <a:pPr algn="l">
                        <a:defRPr sz="620">
                          <a:solidFill>
                            <a:srgbClr val="1E242B"/>
                          </a:solidFill>
                          <a:latin typeface="Arial"/>
                        </a:defRPr>
                      </a:pPr>
                      <a:r>
                        <a:t>調整工程計画.xlsx;</a:t>
                      </a:r>
                      <a:br/>
                      <a:r>
                        <a:t>IrisEXP開発目標</a:t>
                      </a:r>
                    </a:p>
                  </a:txBody>
                  <a:tcPr anchor="ctr" marL="36576" marR="36576" marT="9144" marB="9144">
                    <a:solidFill>
                      <a:srgbClr val="EAF7EE"/>
                    </a:solidFill>
                  </a:tcPr>
                </a:tc>
              </a:tr>
              <a:tr h="477520">
                <a:tc>
                  <a:txBody>
                    <a:bodyPr/>
                    <a:lstStyle/>
                    <a:p>
                      <a:pPr algn="l">
                        <a:defRPr sz="620" b="1">
                          <a:solidFill>
                            <a:srgbClr val="1E242B"/>
                          </a:solidFill>
                          <a:latin typeface="Arial"/>
                        </a:defRPr>
                      </a:pPr>
                      <a:r>
                        <a:t>5. Kinh phí đã có</a:t>
                      </a:r>
                      <a:br/>
                      <a:r>
                        <a:t>báo giá</a:t>
                      </a:r>
                    </a:p>
                  </a:txBody>
                  <a:tcPr anchor="ctr" marL="36576" marR="36576" marT="9144" marB="9144">
                    <a:solidFill>
                      <a:srgbClr val="EAF7EE"/>
                    </a:solidFill>
                  </a:tcPr>
                </a:tc>
                <a:tc>
                  <a:txBody>
                    <a:bodyPr/>
                    <a:lstStyle/>
                    <a:p>
                      <a:pPr algn="l">
                        <a:defRPr sz="620">
                          <a:solidFill>
                            <a:srgbClr val="1E242B"/>
                          </a:solidFill>
                          <a:latin typeface="Arial"/>
                        </a:defRPr>
                      </a:pPr>
                      <a:r>
                        <a:t>• Mini PC (Spica): ~40.000 JPY/bộ (1 bộ/4 máy)</a:t>
                      </a:r>
                      <a:br/>
                      <a:r>
                        <a:t>• Xóa U413 bằng phần mềm (nếu làm): 225~250 vạn JPY</a:t>
                      </a:r>
                    </a:p>
                  </a:txBody>
                  <a:tcPr anchor="ctr" marL="36576" marR="36576" marT="9144" marB="9144">
                    <a:solidFill>
                      <a:srgbClr val="EAF7EE"/>
                    </a:solidFill>
                  </a:tcPr>
                </a:tc>
                <a:tc>
                  <a:txBody>
                    <a:bodyPr/>
                    <a:lstStyle/>
                    <a:p>
                      <a:pPr algn="l">
                        <a:defRPr sz="620">
                          <a:solidFill>
                            <a:srgbClr val="1E242B"/>
                          </a:solidFill>
                          <a:latin typeface="Arial"/>
                        </a:defRPr>
                      </a:pPr>
                      <a:r>
                        <a:t>• Các mục xóa bước U155, giảm tờ in, gộp DC-1 + Gray tốn 0 RMB thiết bị</a:t>
                      </a:r>
                    </a:p>
                  </a:txBody>
                  <a:tcPr anchor="ctr" marL="36576" marR="36576" marT="9144" marB="9144">
                    <a:solidFill>
                      <a:srgbClr val="EAF7EE"/>
                    </a:solidFill>
                  </a:tcPr>
                </a:tc>
                <a:tc>
                  <a:txBody>
                    <a:bodyPr/>
                    <a:lstStyle/>
                    <a:p>
                      <a:pPr algn="l">
                        <a:defRPr sz="620" b="1">
                          <a:solidFill>
                            <a:srgbClr val="1E6E3E"/>
                          </a:solidFill>
                          <a:latin typeface="Arial"/>
                        </a:defRPr>
                      </a:pPr>
                      <a:r>
                        <a:t>• No.22 (Đo an toàn điện): 101.690.000 VNĐ (3.911,15 USD)</a:t>
                      </a:r>
                      <a:br/>
                      <a:r>
                        <a:t>• No.23 (Robot ISU): 650.000.000 VNĐ (25.000 USD)</a:t>
                      </a:r>
                      <a:br/>
                      <a:r>
                        <a:t>• No.24 (Robot USB/U201): 104.000.000 VNĐ (4.000 USD)</a:t>
                      </a:r>
                      <a:br/>
                      <a:r>
                        <a:t>=&gt; Tổng 3 ĐA: 855.690.000 VNĐ (32.911,15 USD)</a:t>
                      </a:r>
                    </a:p>
                  </a:txBody>
                  <a:tcPr anchor="ctr" marL="36576" marR="36576" marT="9144" marB="9144">
                    <a:solidFill>
                      <a:srgbClr val="EAF7EE"/>
                    </a:solidFill>
                  </a:tcPr>
                </a:tc>
                <a:tc>
                  <a:txBody>
                    <a:bodyPr/>
                    <a:lstStyle/>
                    <a:p>
                      <a:pPr algn="l">
                        <a:defRPr sz="620">
                          <a:solidFill>
                            <a:srgbClr val="1E242B"/>
                          </a:solidFill>
                          <a:latin typeface="Arial"/>
                        </a:defRPr>
                      </a:pPr>
                      <a:r>
                        <a:t>• VN: 855,69 triệu VNĐ (32.911,15 USD); duyệt riêng No.22: 101,69 triệu VNĐ</a:t>
                      </a:r>
                      <a:br/>
                      <a:r>
                        <a:t>• JP: Mini PC ~40k JPY/bộ</a:t>
                      </a:r>
                    </a:p>
                  </a:txBody>
                  <a:tcPr anchor="ctr" marL="36576" marR="36576" marT="9144" marB="9144">
                    <a:solidFill>
                      <a:srgbClr val="EAF7EE"/>
                    </a:solidFill>
                  </a:tcPr>
                </a:tc>
                <a:tc>
                  <a:txBody>
                    <a:bodyPr/>
                    <a:lstStyle/>
                    <a:p>
                      <a:pPr algn="l">
                        <a:defRPr sz="620">
                          <a:solidFill>
                            <a:srgbClr val="1E242B"/>
                          </a:solidFill>
                          <a:latin typeface="Arial"/>
                        </a:defRPr>
                      </a:pPr>
                      <a:r>
                        <a:t>Iris EXPのVN提案;</a:t>
                      </a:r>
                      <a:br/>
                      <a:r>
                        <a:t>AthenaとSpica比較</a:t>
                      </a:r>
                    </a:p>
                  </a:txBody>
                  <a:tcPr anchor="ctr" marL="36576" marR="36576" marT="9144" marB="9144">
                    <a:solidFill>
                      <a:srgbClr val="EAF7EE"/>
                    </a:solidFill>
                  </a:tcPr>
                </a:tc>
              </a:tr>
              <a:tr h="477520">
                <a:tc>
                  <a:txBody>
                    <a:bodyPr/>
                    <a:lstStyle/>
                    <a:p>
                      <a:pPr algn="l">
                        <a:defRPr sz="620" b="1">
                          <a:solidFill>
                            <a:srgbClr val="1E242B"/>
                          </a:solidFill>
                          <a:latin typeface="Arial"/>
                        </a:defRPr>
                      </a:pPr>
                      <a:r>
                        <a:t>6. Hạng mục đang</a:t>
                      </a:r>
                      <a:br/>
                      <a:r>
                        <a:t>báo giá (見積中)</a:t>
                      </a:r>
                    </a:p>
                  </a:txBody>
                  <a:tcPr anchor="ctr" marL="36576" marR="36576" marT="9144" marB="9144">
                    <a:solidFill>
                      <a:srgbClr val="FEF7E6"/>
                    </a:solidFill>
                  </a:tcPr>
                </a:tc>
                <a:tc>
                  <a:txBody>
                    <a:bodyPr/>
                    <a:lstStyle/>
                    <a:p>
                      <a:pPr algn="l">
                        <a:defRPr sz="620">
                          <a:solidFill>
                            <a:srgbClr val="1E242B"/>
                          </a:solidFill>
                          <a:latin typeface="Arial"/>
                        </a:defRPr>
                      </a:pPr>
                      <a:r>
                        <a:t>• Chi phí nâng cấp phần mềm 7900/7910 sang hệ thống Host PC &amp; cải tiến mạch tự chẩn đoán</a:t>
                      </a:r>
                    </a:p>
                  </a:txBody>
                  <a:tcPr anchor="ctr" marL="36576" marR="36576" marT="9144" marB="9144">
                    <a:solidFill>
                      <a:srgbClr val="FEF7E6"/>
                    </a:solidFill>
                  </a:tcPr>
                </a:tc>
                <a:tc>
                  <a:txBody>
                    <a:bodyPr/>
                    <a:lstStyle/>
                    <a:p>
                      <a:pPr algn="l">
                        <a:defRPr sz="620">
                          <a:solidFill>
                            <a:srgbClr val="1E242B"/>
                          </a:solidFill>
                          <a:latin typeface="Arial"/>
                        </a:defRPr>
                      </a:pPr>
                      <a:r>
                        <a:t>• 4 mục đang báo giá: Băng tải tiếp điện, Tự động cắm cáp, Đồ gá tích hợp, Đầu nối nam châm</a:t>
                      </a:r>
                    </a:p>
                  </a:txBody>
                  <a:tcPr anchor="ctr" marL="36576" marR="36576" marT="9144" marB="9144">
                    <a:solidFill>
                      <a:srgbClr val="FEF7E6"/>
                    </a:solidFill>
                  </a:tcPr>
                </a:tc>
                <a:tc>
                  <a:txBody>
                    <a:bodyPr/>
                    <a:lstStyle/>
                    <a:p>
                      <a:pPr algn="l">
                        <a:defRPr sz="620">
                          <a:solidFill>
                            <a:srgbClr val="1E242B"/>
                          </a:solidFill>
                          <a:latin typeface="Arial"/>
                        </a:defRPr>
                      </a:pPr>
                      <a:r>
                        <a:t>• 10 đề án thiết bị/DP đang lấy báo giá: No.18, 19, 20, 21, 25 (DP quét liên tục), 27 (Camera HIKROBOT), 28, 31, 33, 35</a:t>
                      </a:r>
                    </a:p>
                  </a:txBody>
                  <a:tcPr anchor="ctr" marL="36576" marR="36576" marT="9144" marB="9144">
                    <a:solidFill>
                      <a:srgbClr val="FEF7E6"/>
                    </a:solidFill>
                  </a:tcPr>
                </a:tc>
                <a:tc>
                  <a:txBody>
                    <a:bodyPr/>
                    <a:lstStyle/>
                    <a:p>
                      <a:pPr algn="l">
                        <a:defRPr sz="620">
                          <a:solidFill>
                            <a:srgbClr val="1E242B"/>
                          </a:solidFill>
                          <a:latin typeface="Arial"/>
                        </a:defRPr>
                      </a:pPr>
                      <a:r>
                        <a:t>• Tách riêng các mục đang báo giá để trình duyệt Đợt 2 sau khi chốt cấu hình</a:t>
                      </a:r>
                    </a:p>
                  </a:txBody>
                  <a:tcPr anchor="ctr" marL="36576" marR="36576" marT="9144" marB="9144">
                    <a:solidFill>
                      <a:srgbClr val="FEF7E6"/>
                    </a:solidFill>
                  </a:tcPr>
                </a:tc>
                <a:tc>
                  <a:txBody>
                    <a:bodyPr/>
                    <a:lstStyle/>
                    <a:p>
                      <a:pPr algn="l">
                        <a:defRPr sz="620">
                          <a:solidFill>
                            <a:srgbClr val="1E242B"/>
                          </a:solidFill>
                          <a:latin typeface="Arial"/>
                        </a:defRPr>
                      </a:pPr>
                      <a:r>
                        <a:t>IrisEXP改善提案まとめ</a:t>
                      </a:r>
                    </a:p>
                  </a:txBody>
                  <a:tcPr anchor="ctr" marL="36576" marR="36576" marT="9144" marB="9144">
                    <a:solidFill>
                      <a:srgbClr val="FEF7E6"/>
                    </a:solidFill>
                  </a:tcPr>
                </a:tc>
              </a:tr>
              <a:tr h="477520">
                <a:tc>
                  <a:txBody>
                    <a:bodyPr/>
                    <a:lstStyle/>
                    <a:p>
                      <a:pPr algn="l">
                        <a:defRPr sz="620" b="1">
                          <a:solidFill>
                            <a:srgbClr val="1E242B"/>
                          </a:solidFill>
                          <a:latin typeface="Arial"/>
                        </a:defRPr>
                      </a:pPr>
                      <a:r>
                        <a:t>7. Phương án thay thế</a:t>
                      </a:r>
                      <a:br/>
                      <a:r>
                        <a:t>&amp; R&amp;D dài hạn</a:t>
                      </a:r>
                    </a:p>
                  </a:txBody>
                  <a:tcPr anchor="ctr" marL="36576" marR="36576" marT="9144" marB="9144">
                    <a:solidFill>
                      <a:srgbClr val="FFFFFF"/>
                    </a:solidFill>
                  </a:tcPr>
                </a:tc>
                <a:tc>
                  <a:txBody>
                    <a:bodyPr/>
                    <a:lstStyle/>
                    <a:p>
                      <a:pPr algn="l">
                        <a:defRPr sz="620">
                          <a:solidFill>
                            <a:srgbClr val="1E242B"/>
                          </a:solidFill>
                          <a:latin typeface="Arial"/>
                        </a:defRPr>
                      </a:pPr>
                      <a:r>
                        <a:t>• Bỏ phương án dùng lại Raspberry Pi + Pin sạc của Athena do chai pin &amp; rớt mạng Wi-Fi</a:t>
                      </a:r>
                    </a:p>
                  </a:txBody>
                  <a:tcPr anchor="ctr" marL="36576" marR="36576" marT="9144" marB="9144">
                    <a:solidFill>
                      <a:srgbClr val="FFFFFF"/>
                    </a:solidFill>
                  </a:tcPr>
                </a:tc>
                <a:tc>
                  <a:txBody>
                    <a:bodyPr/>
                    <a:lstStyle/>
                    <a:p>
                      <a:pPr algn="l">
                        <a:defRPr sz="620">
                          <a:solidFill>
                            <a:srgbClr val="1E242B"/>
                          </a:solidFill>
                          <a:latin typeface="Arial"/>
                        </a:defRPr>
                      </a:pPr>
                      <a:r>
                        <a:t>• Tạm giữ máy quét chuẩn cho mục chấm vàng PPT do độ phân giải camera chưa đủ</a:t>
                      </a:r>
                    </a:p>
                  </a:txBody>
                  <a:tcPr anchor="ctr" marL="36576" marR="36576" marT="9144" marB="9144">
                    <a:solidFill>
                      <a:srgbClr val="FFFFFF"/>
                    </a:solidFill>
                  </a:tcPr>
                </a:tc>
                <a:tc>
                  <a:txBody>
                    <a:bodyPr/>
                    <a:lstStyle/>
                    <a:p>
                      <a:pPr algn="l">
                        <a:defRPr sz="620">
                          <a:solidFill>
                            <a:srgbClr val="1E242B"/>
                          </a:solidFill>
                          <a:latin typeface="Arial"/>
                        </a:defRPr>
                      </a:pPr>
                      <a:r>
                        <a:t>• Thay thế Robot No.23 (650tr) &amp; No.24 (104tr) bằng khay nạp DP (No.25) và đọc log Host PC</a:t>
                      </a:r>
                      <a:br/>
                      <a:r>
                        <a:t>• Đề tài R&amp;D 2026-2030: No.26 AI âm thanh lạ (~600 vạn JPY)</a:t>
                      </a:r>
                    </a:p>
                  </a:txBody>
                  <a:tcPr anchor="ctr" marL="36576" marR="36576" marT="9144" marB="9144">
                    <a:solidFill>
                      <a:srgbClr val="FFFFFF"/>
                    </a:solidFill>
                  </a:tcPr>
                </a:tc>
                <a:tc>
                  <a:txBody>
                    <a:bodyPr/>
                    <a:lstStyle/>
                    <a:p>
                      <a:pPr algn="l">
                        <a:defRPr sz="620">
                          <a:solidFill>
                            <a:srgbClr val="1E242B"/>
                          </a:solidFill>
                          <a:latin typeface="Arial"/>
                        </a:defRPr>
                      </a:pPr>
                      <a:r>
                        <a:t>• Tối ưu chi phí đầu tư Đợt 1 xuống 101,69 triệu VNĐ (No.22)</a:t>
                      </a:r>
                    </a:p>
                  </a:txBody>
                  <a:tcPr anchor="ctr" marL="36576" marR="36576" marT="9144" marB="9144">
                    <a:solidFill>
                      <a:srgbClr val="FFFFFF"/>
                    </a:solidFill>
                  </a:tcPr>
                </a:tc>
                <a:tc>
                  <a:txBody>
                    <a:bodyPr/>
                    <a:lstStyle/>
                    <a:p>
                      <a:pPr algn="l">
                        <a:defRPr sz="620">
                          <a:solidFill>
                            <a:srgbClr val="1E242B"/>
                          </a:solidFill>
                          <a:latin typeface="Arial"/>
                        </a:defRPr>
                      </a:pPr>
                      <a:r>
                        <a:t>連携会 第7回~第15回</a:t>
                      </a:r>
                    </a:p>
                  </a:txBody>
                  <a:tcPr anchor="ctr" marL="36576" marR="36576" marT="9144" marB="9144">
                    <a:solidFill>
                      <a:srgbClr val="FFFFFF"/>
                    </a:solidFill>
                  </a:tcPr>
                </a:tc>
              </a:tr>
              <a:tr h="477520">
                <a:tc>
                  <a:txBody>
                    <a:bodyPr/>
                    <a:lstStyle/>
                    <a:p>
                      <a:pPr algn="l">
                        <a:defRPr sz="620" b="1">
                          <a:solidFill>
                            <a:srgbClr val="1E242B"/>
                          </a:solidFill>
                          <a:latin typeface="Arial"/>
                        </a:defRPr>
                      </a:pPr>
                      <a:r>
                        <a:t>8. Tiến độ nghiệm thu</a:t>
                      </a:r>
                      <a:br/>
                      <a:r>
                        <a:t>tới T10/2026</a:t>
                      </a:r>
                    </a:p>
                  </a:txBody>
                  <a:tcPr anchor="ctr" marL="36576" marR="36576" marT="9144" marB="9144">
                    <a:solidFill>
                      <a:srgbClr val="F7F9FC"/>
                    </a:solidFill>
                  </a:tcPr>
                </a:tc>
                <a:tc>
                  <a:txBody>
                    <a:bodyPr/>
                    <a:lstStyle/>
                    <a:p>
                      <a:pPr algn="l">
                        <a:defRPr sz="620">
                          <a:solidFill>
                            <a:srgbClr val="1E242B"/>
                          </a:solidFill>
                          <a:latin typeface="Arial"/>
                        </a:defRPr>
                      </a:pPr>
                      <a:r>
                        <a:t>• Đã tạm chốt hệ Spica Mini PC; đã duyệt xóa U201 (-15,12s), xóa U155 (-29,16s), công tắc nắp (-8,88s)</a:t>
                      </a:r>
                    </a:p>
                  </a:txBody>
                  <a:tcPr anchor="ctr" marL="36576" marR="36576" marT="9144" marB="9144">
                    <a:solidFill>
                      <a:srgbClr val="F7F9FC"/>
                    </a:solidFill>
                  </a:tcPr>
                </a:tc>
                <a:tc>
                  <a:txBody>
                    <a:bodyPr/>
                    <a:lstStyle/>
                    <a:p>
                      <a:pPr algn="l">
                        <a:defRPr sz="620">
                          <a:solidFill>
                            <a:srgbClr val="1E242B"/>
                          </a:solidFill>
                          <a:latin typeface="Arial"/>
                        </a:defRPr>
                      </a:pPr>
                      <a:r>
                        <a:t>• Đã duyệt gộp tờ DC-1 + Gray (tiết kiệm 5.000 RMB/5.000 máy); đang thử nghiệm AI WeChat (No.38)</a:t>
                      </a:r>
                    </a:p>
                  </a:txBody>
                  <a:tcPr anchor="ctr" marL="36576" marR="36576" marT="9144" marB="9144">
                    <a:solidFill>
                      <a:srgbClr val="F7F9FC"/>
                    </a:solidFill>
                  </a:tcPr>
                </a:tc>
                <a:tc>
                  <a:txBody>
                    <a:bodyPr/>
                    <a:lstStyle/>
                    <a:p>
                      <a:pPr algn="l">
                        <a:defRPr sz="620">
                          <a:solidFill>
                            <a:srgbClr val="1E242B"/>
                          </a:solidFill>
                          <a:latin typeface="Arial"/>
                        </a:defRPr>
                      </a:pPr>
                      <a:r>
                        <a:t>• Đã xóa 4 bước trên SOP tháng 10 (-4,32s/máy); hoàn tất báo giá BOM No.22; chuẩn bị PMT1 (T12/2026)</a:t>
                      </a:r>
                    </a:p>
                  </a:txBody>
                  <a:tcPr anchor="ctr" marL="36576" marR="36576" marT="9144" marB="9144">
                    <a:solidFill>
                      <a:srgbClr val="F7F9FC"/>
                    </a:solidFill>
                  </a:tcPr>
                </a:tc>
                <a:tc>
                  <a:txBody>
                    <a:bodyPr/>
                    <a:lstStyle/>
                    <a:p>
                      <a:pPr algn="l">
                        <a:defRPr sz="620">
                          <a:solidFill>
                            <a:srgbClr val="1E242B"/>
                          </a:solidFill>
                          <a:latin typeface="Arial"/>
                        </a:defRPr>
                      </a:pPr>
                      <a:r>
                        <a:t>• Lộ trình: DMT -&gt; PMT1 (T12/2026) -&gt; PMT2 (T2/2027) -&gt; MP (T3/2027)</a:t>
                      </a:r>
                    </a:p>
                  </a:txBody>
                  <a:tcPr anchor="ctr" marL="36576" marR="36576" marT="9144" marB="9144">
                    <a:solidFill>
                      <a:srgbClr val="F7F9FC"/>
                    </a:solidFill>
                  </a:tcPr>
                </a:tc>
                <a:tc>
                  <a:txBody>
                    <a:bodyPr/>
                    <a:lstStyle/>
                    <a:p>
                      <a:pPr algn="l">
                        <a:defRPr sz="620">
                          <a:solidFill>
                            <a:srgbClr val="1E242B"/>
                          </a:solidFill>
                          <a:latin typeface="Arial"/>
                        </a:defRPr>
                      </a:pPr>
                      <a:r>
                        <a:t>連携会 第13~17回</a:t>
                      </a:r>
                    </a:p>
                  </a:txBody>
                  <a:tcPr anchor="ctr" marL="36576" marR="36576" marT="9144" marB="9144">
                    <a:solidFill>
                      <a:srgbClr val="F7F9FC"/>
                    </a:solidFill>
                  </a:tcPr>
                </a:tc>
              </a:tr>
            </a:tbl>
          </a:graphicData>
        </a:graphic>
      </p:graphicFrame>
      <p:sp>
        <p:nvSpPr>
          <p:cNvPr id="8" name="Rectangle 7"/>
          <p:cNvSpPr/>
          <p:nvPr/>
        </p:nvSpPr>
        <p:spPr>
          <a:xfrm>
            <a:off x="256032" y="5559552"/>
            <a:ext cx="11679631" cy="960120"/>
          </a:xfrm>
          <a:prstGeom prst="rect">
            <a:avLst/>
          </a:prstGeom>
          <a:solidFill>
            <a:srgbClr val="F5F8FC"/>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5559552"/>
            <a:ext cx="11679631" cy="30175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19" b="1">
                <a:solidFill>
                  <a:srgbClr val="FFFFFF"/>
                </a:solidFill>
                <a:latin typeface="Arial"/>
              </a:defRPr>
            </a:pPr>
            <a:r>
              <a:t>GHI CHÚ ĐỐI CHIẾU SỐ LƯỢNG ĐỀ ÁN (28 -&gt; 37 -&gt; 38 ĐỀ ÁN) VÀ ĐƠN VỊ THỜI GIAN GIỮA 3 CỨ ĐIỂM</a:t>
            </a:r>
          </a:p>
        </p:txBody>
      </p:sp>
      <p:sp>
        <p:nvSpPr>
          <p:cNvPr id="10" name="TextBox 9"/>
          <p:cNvSpPr txBox="1"/>
          <p:nvPr/>
        </p:nvSpPr>
        <p:spPr>
          <a:xfrm>
            <a:off x="329184" y="5879592"/>
            <a:ext cx="11533327" cy="612648"/>
          </a:xfrm>
          <a:prstGeom prst="rect">
            <a:avLst/>
          </a:prstGeom>
          <a:noFill/>
        </p:spPr>
        <p:txBody>
          <a:bodyPr wrap="square" lIns="36576" rIns="36576" tIns="18288" bIns="18288">
            <a:spAutoFit/>
          </a:bodyPr>
          <a:lstStyle/>
          <a:p>
            <a:pPr>
              <a:spcAft>
                <a:spcPts val="250"/>
              </a:spcAft>
              <a:defRPr sz="750">
                <a:solidFill>
                  <a:srgbClr val="1E242B"/>
                </a:solidFill>
                <a:latin typeface="Arial"/>
              </a:defRPr>
            </a:pPr>
            <a:r>
              <a:t>• Về số lượng đề án: Đợt báo cáo tháng 8 có 28 đề án (JP: 7, CN: 10, VN: 11); tháng 9 VN bổ sung 9 đề án (No.29~37) nâng lên 37 đề án; tháng 10 CN bổ sung đề án No.38 (ứng dụng AI WeChat kiểm tra hình ảnh) nâng tổng số lên 38 đề án (JP: 7, CN: 11, VN: 20).</a:t>
            </a:r>
          </a:p>
          <a:p>
            <a:pPr>
              <a:spcAft>
                <a:spcPts val="250"/>
              </a:spcAft>
              <a:defRPr sz="750">
                <a:solidFill>
                  <a:srgbClr val="1E242B"/>
                </a:solidFill>
                <a:latin typeface="Arial"/>
              </a:defRPr>
            </a:pPr>
            <a:r>
              <a:t>• Về đơn vị thời gian: Mã hàng nhiều thời gian nhất của Iris2024 tại KDTVN có thời gian thao tác tiêu chuẩn là 1.083s (gồm 840s thao tác điều chỉnh + 243s lấy dữ liệu); khi tính tổng thời gian toàn công đoạn K1~K8 bao gồm cả thời gian chờ máy khởi động, in và chạy Aging U950 (285s) là 2.350s.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Arial"/>
              </a:defRPr>
            </a:pPr>
            <a:r>
              <a:t>PHẦN THAM KHẢO (2/4)</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Chi tiết 7 đề án của Nhật Bản (No.1 ~ No.7) và 11 đề án của Trung Quốc (No.8 ~ No.17, No.38)</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13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000" b="1">
                <a:solidFill>
                  <a:srgbClr val="0F203C"/>
                </a:solidFill>
                <a:latin typeface="Arial"/>
              </a:defRPr>
            </a:pPr>
            <a:r>
              <a:t>■ Danh mục các đề án của Nhật Bản và Trung Quốc trong bảng tổng hợp 38 đề án (IrisEXP改善提案まとめ.xlsx) cùng trạng thái phối hợp triển khai ngang sang nhà máy Việt Nam.</a:t>
            </a:r>
          </a:p>
        </p:txBody>
      </p:sp>
      <p:sp>
        <p:nvSpPr>
          <p:cNvPr id="7" name="TextBox 6"/>
          <p:cNvSpPr txBox="1"/>
          <p:nvPr/>
        </p:nvSpPr>
        <p:spPr>
          <a:xfrm>
            <a:off x="256032" y="1152144"/>
            <a:ext cx="5440680" cy="201168"/>
          </a:xfrm>
          <a:prstGeom prst="rect">
            <a:avLst/>
          </a:prstGeom>
          <a:noFill/>
        </p:spPr>
        <p:txBody>
          <a:bodyPr wrap="square" lIns="18288" rIns="18288" tIns="9144" bIns="9144">
            <a:spAutoFit/>
          </a:bodyPr>
          <a:lstStyle/>
          <a:p>
            <a:pPr>
              <a:defRPr sz="780" b="1">
                <a:solidFill>
                  <a:srgbClr val="1B365D"/>
                </a:solidFill>
                <a:latin typeface="Arial"/>
              </a:defRPr>
            </a:pPr>
            <a:r>
              <a:t>■ 7 ĐỀ ÁN CỦA NHẬT BẢN (JP: No.1 ~ No.7)</a:t>
            </a:r>
          </a:p>
        </p:txBody>
      </p:sp>
      <p:graphicFrame>
        <p:nvGraphicFramePr>
          <p:cNvPr id="8" name="Table 7"/>
          <p:cNvGraphicFramePr>
            <a:graphicFrameLocks noGrp="1"/>
          </p:cNvGraphicFramePr>
          <p:nvPr/>
        </p:nvGraphicFramePr>
        <p:xfrm>
          <a:off x="256032" y="1353312"/>
          <a:ext cx="5440680" cy="5074920"/>
        </p:xfrm>
        <a:graphic>
          <a:graphicData uri="http://schemas.openxmlformats.org/drawingml/2006/table">
            <a:tbl>
              <a:tblPr firstRow="1" bandRow="1">
                <a:tableStyleId>{5C22544A-7EE6-4342-B048-85BDC9FD1C3A}</a:tableStyleId>
              </a:tblPr>
              <a:tblGrid>
                <a:gridCol w="566928"/>
                <a:gridCol w="1691640"/>
                <a:gridCol w="1490472"/>
                <a:gridCol w="777240"/>
                <a:gridCol w="914400"/>
              </a:tblGrid>
              <a:tr h="563880">
                <a:tc>
                  <a:txBody>
                    <a:bodyPr/>
                    <a:lstStyle/>
                    <a:p>
                      <a:pPr algn="ctr">
                        <a:defRPr sz="720" b="1">
                          <a:solidFill>
                            <a:srgbClr val="FFFFFF"/>
                          </a:solidFill>
                          <a:latin typeface="Arial"/>
                        </a:defRPr>
                      </a:pPr>
                      <a:r>
                        <a:t>STT</a:t>
                      </a:r>
                    </a:p>
                  </a:txBody>
                  <a:tcPr anchor="ctr" marL="36576" marR="36576" marT="9144" marB="9144">
                    <a:solidFill>
                      <a:srgbClr val="1B365D"/>
                    </a:solidFill>
                  </a:tcPr>
                </a:tc>
                <a:tc>
                  <a:txBody>
                    <a:bodyPr/>
                    <a:lstStyle/>
                    <a:p>
                      <a:pPr algn="ctr">
                        <a:defRPr sz="720" b="1">
                          <a:solidFill>
                            <a:srgbClr val="FFFFFF"/>
                          </a:solidFill>
                          <a:latin typeface="Arial"/>
                        </a:defRPr>
                      </a:pPr>
                      <a:r>
                        <a:t>Tên đề án (JP)</a:t>
                      </a:r>
                    </a:p>
                  </a:txBody>
                  <a:tcPr anchor="ctr" marL="36576" marR="36576" marT="9144" marB="9144">
                    <a:solidFill>
                      <a:srgbClr val="1B365D"/>
                    </a:solidFill>
                  </a:tcPr>
                </a:tc>
                <a:tc>
                  <a:txBody>
                    <a:bodyPr/>
                    <a:lstStyle/>
                    <a:p>
                      <a:pPr algn="ctr">
                        <a:defRPr sz="720" b="1">
                          <a:solidFill>
                            <a:srgbClr val="FFFFFF"/>
                          </a:solidFill>
                          <a:latin typeface="Arial"/>
                        </a:defRPr>
                      </a:pPr>
                      <a:r>
                        <a:t>Nội dung &amp; Căn cứ kỹ thuật</a:t>
                      </a:r>
                    </a:p>
                  </a:txBody>
                  <a:tcPr anchor="ctr" marL="36576" marR="36576" marT="9144" marB="9144">
                    <a:solidFill>
                      <a:srgbClr val="1B365D"/>
                    </a:solidFill>
                  </a:tcPr>
                </a:tc>
                <a:tc>
                  <a:txBody>
                    <a:bodyPr/>
                    <a:lstStyle/>
                    <a:p>
                      <a:pPr algn="ctr">
                        <a:defRPr sz="720" b="1">
                          <a:solidFill>
                            <a:srgbClr val="FFFFFF"/>
                          </a:solidFill>
                          <a:latin typeface="Arial"/>
                        </a:defRPr>
                      </a:pPr>
                      <a:r>
                        <a:t>Hiệu quả</a:t>
                      </a:r>
                    </a:p>
                  </a:txBody>
                  <a:tcPr anchor="ctr" marL="36576" marR="36576" marT="9144" marB="9144">
                    <a:solidFill>
                      <a:srgbClr val="1B365D"/>
                    </a:solidFill>
                  </a:tcPr>
                </a:tc>
                <a:tc>
                  <a:txBody>
                    <a:bodyPr/>
                    <a:lstStyle/>
                    <a:p>
                      <a:pPr algn="ctr">
                        <a:defRPr sz="720" b="1">
                          <a:solidFill>
                            <a:srgbClr val="FFFFFF"/>
                          </a:solidFill>
                          <a:latin typeface="Arial"/>
                        </a:defRPr>
                      </a:pPr>
                      <a:r>
                        <a:t>Trạng thái</a:t>
                      </a:r>
                    </a:p>
                  </a:txBody>
                  <a:tcPr anchor="ctr" marL="36576" marR="36576" marT="9144" marB="9144">
                    <a:solidFill>
                      <a:srgbClr val="1B365D"/>
                    </a:solidFill>
                  </a:tcPr>
                </a:tc>
              </a:tr>
              <a:tr h="563880">
                <a:tc>
                  <a:txBody>
                    <a:bodyPr/>
                    <a:lstStyle/>
                    <a:p>
                      <a:pPr algn="ctr">
                        <a:defRPr sz="630" b="1">
                          <a:solidFill>
                            <a:srgbClr val="1E242B"/>
                          </a:solidFill>
                          <a:latin typeface="Arial"/>
                        </a:defRPr>
                      </a:pPr>
                      <a:r>
                        <a:t>No.1</a:t>
                      </a:r>
                      <a:br/>
                      <a:r>
                        <a:t>(JP)</a:t>
                      </a:r>
                    </a:p>
                  </a:txBody>
                  <a:tcPr anchor="ctr" marL="36576" marR="36576" marT="9144" marB="9144">
                    <a:solidFill>
                      <a:srgbClr val="EAF7EE"/>
                    </a:solidFill>
                  </a:tcPr>
                </a:tc>
                <a:tc>
                  <a:txBody>
                    <a:bodyPr/>
                    <a:lstStyle/>
                    <a:p>
                      <a:pPr algn="l">
                        <a:defRPr sz="630">
                          <a:solidFill>
                            <a:srgbClr val="1E242B"/>
                          </a:solidFill>
                          <a:latin typeface="Arial"/>
                        </a:defRPr>
                      </a:pPr>
                      <a:r>
                        <a:t>Thiết kế chuyền lấy trạm A-1 làm trọng tâm (4 người, Takt 97s) / Lắp mực cuối chuyền</a:t>
                      </a:r>
                    </a:p>
                  </a:txBody>
                  <a:tcPr anchor="ctr" marL="36576" marR="36576" marT="9144" marB="9144">
                    <a:solidFill>
                      <a:srgbClr val="EAF7EE"/>
                    </a:solidFill>
                  </a:tcPr>
                </a:tc>
                <a:tc>
                  <a:txBody>
                    <a:bodyPr/>
                    <a:lstStyle/>
                    <a:p>
                      <a:pPr algn="l">
                        <a:defRPr sz="630">
                          <a:solidFill>
                            <a:srgbClr val="1E242B"/>
                          </a:solidFill>
                          <a:latin typeface="Arial"/>
                        </a:defRPr>
                      </a:pPr>
                      <a:r>
                        <a:t>DR4 chốt chia A-1 thành 4 vị trí (78s, 83s, 95s, 102s = 379s); kết hợp lắp Canister mực ở cuối công đoạn (-13s).</a:t>
                      </a:r>
                    </a:p>
                  </a:txBody>
                  <a:tcPr anchor="ctr" marL="36576" marR="36576" marT="9144" marB="9144">
                    <a:solidFill>
                      <a:srgbClr val="EAF7EE"/>
                    </a:solidFill>
                  </a:tcPr>
                </a:tc>
                <a:tc>
                  <a:txBody>
                    <a:bodyPr/>
                    <a:lstStyle/>
                    <a:p>
                      <a:pPr algn="ctr">
                        <a:defRPr sz="630">
                          <a:solidFill>
                            <a:srgbClr val="1E242B"/>
                          </a:solidFill>
                          <a:latin typeface="Arial"/>
                        </a:defRPr>
                      </a:pPr>
                      <a:r>
                        <a:t>18 -&gt; 9 người</a:t>
                      </a:r>
                      <a:br/>
                      <a:r>
                        <a:t>(-13,0s mực)</a:t>
                      </a:r>
                    </a:p>
                  </a:txBody>
                  <a:tcPr anchor="ctr" marL="36576" marR="36576" marT="9144" marB="9144">
                    <a:solidFill>
                      <a:srgbClr val="EAF7EE"/>
                    </a:solidFill>
                  </a:tcPr>
                </a:tc>
                <a:tc>
                  <a:txBody>
                    <a:bodyPr/>
                    <a:lstStyle/>
                    <a:p>
                      <a:pPr algn="l">
                        <a:defRPr sz="630">
                          <a:solidFill>
                            <a:srgbClr val="1E242B"/>
                          </a:solidFill>
                          <a:latin typeface="Arial"/>
                        </a:defRPr>
                      </a:pPr>
                      <a:r>
                        <a:t>Triển khai ngay</a:t>
                      </a:r>
                      <a:br/>
                      <a:r>
                        <a:t>(先行実施)</a:t>
                      </a:r>
                    </a:p>
                  </a:txBody>
                  <a:tcPr anchor="ctr" marL="36576" marR="36576" marT="9144" marB="9144">
                    <a:solidFill>
                      <a:srgbClr val="EAF7EE"/>
                    </a:solidFill>
                  </a:tcPr>
                </a:tc>
              </a:tr>
              <a:tr h="563880">
                <a:tc>
                  <a:txBody>
                    <a:bodyPr/>
                    <a:lstStyle/>
                    <a:p>
                      <a:pPr algn="ctr">
                        <a:defRPr sz="630" b="1">
                          <a:solidFill>
                            <a:srgbClr val="1E242B"/>
                          </a:solidFill>
                          <a:latin typeface="Arial"/>
                        </a:defRPr>
                      </a:pPr>
                      <a:r>
                        <a:t>No.2</a:t>
                      </a:r>
                      <a:br/>
                      <a:r>
                        <a:t>(JP/VN)</a:t>
                      </a:r>
                    </a:p>
                  </a:txBody>
                  <a:tcPr anchor="ctr" marL="36576" marR="36576" marT="9144" marB="9144">
                    <a:solidFill>
                      <a:srgbClr val="EAF7EE"/>
                    </a:solidFill>
                  </a:tcPr>
                </a:tc>
                <a:tc>
                  <a:txBody>
                    <a:bodyPr/>
                    <a:lstStyle/>
                    <a:p>
                      <a:pPr algn="l">
                        <a:defRPr sz="630">
                          <a:solidFill>
                            <a:srgbClr val="1E242B"/>
                          </a:solidFill>
                          <a:latin typeface="Arial"/>
                        </a:defRPr>
                      </a:pPr>
                      <a:r>
                        <a:t>Bỏ bước cài đặt ngưỡng hộp mực thải (WTB - mã U155) tại điều chỉnh</a:t>
                      </a:r>
                    </a:p>
                  </a:txBody>
                  <a:tcPr anchor="ctr" marL="36576" marR="36576" marT="9144" marB="9144">
                    <a:solidFill>
                      <a:srgbClr val="EAF7EE"/>
                    </a:solidFill>
                  </a:tcPr>
                </a:tc>
                <a:tc>
                  <a:txBody>
                    <a:bodyPr/>
                    <a:lstStyle/>
                    <a:p>
                      <a:pPr algn="l">
                        <a:defRPr sz="630">
                          <a:solidFill>
                            <a:srgbClr val="1E242B"/>
                          </a:solidFill>
                          <a:latin typeface="Arial"/>
                        </a:defRPr>
                      </a:pPr>
                      <a:r>
                        <a:t>Thân máy bổ sung Push Switch + áp dụng kết quả đo điện trở từ cụm Sub-Assy (tương tự dòng máy RPS).</a:t>
                      </a:r>
                    </a:p>
                  </a:txBody>
                  <a:tcPr anchor="ctr" marL="36576" marR="36576" marT="9144" marB="9144">
                    <a:solidFill>
                      <a:srgbClr val="EAF7EE"/>
                    </a:solidFill>
                  </a:tcPr>
                </a:tc>
                <a:tc>
                  <a:txBody>
                    <a:bodyPr/>
                    <a:lstStyle/>
                    <a:p>
                      <a:pPr algn="ctr">
                        <a:defRPr sz="630">
                          <a:solidFill>
                            <a:srgbClr val="1E242B"/>
                          </a:solidFill>
                          <a:latin typeface="Arial"/>
                        </a:defRPr>
                      </a:pPr>
                      <a:r>
                        <a:t>-29,16 s chuẩn</a:t>
                      </a:r>
                      <a:br/>
                      <a:r>
                        <a:t>(-60s tại K1)</a:t>
                      </a:r>
                    </a:p>
                  </a:txBody>
                  <a:tcPr anchor="ctr" marL="36576" marR="36576" marT="9144" marB="9144">
                    <a:solidFill>
                      <a:srgbClr val="EAF7EE"/>
                    </a:solidFill>
                  </a:tcPr>
                </a:tc>
                <a:tc>
                  <a:txBody>
                    <a:bodyPr/>
                    <a:lstStyle/>
                    <a:p>
                      <a:pPr algn="l">
                        <a:defRPr sz="630">
                          <a:solidFill>
                            <a:srgbClr val="1E242B"/>
                          </a:solidFill>
                          <a:latin typeface="Arial"/>
                        </a:defRPr>
                      </a:pPr>
                      <a:r>
                        <a:t>Triển khai ngay</a:t>
                      </a:r>
                      <a:br/>
                      <a:r>
                        <a:t>(Đồng bộ VN No.30)</a:t>
                      </a:r>
                    </a:p>
                  </a:txBody>
                  <a:tcPr anchor="ctr" marL="36576" marR="36576" marT="9144" marB="9144">
                    <a:solidFill>
                      <a:srgbClr val="EAF7EE"/>
                    </a:solidFill>
                  </a:tcPr>
                </a:tc>
              </a:tr>
              <a:tr h="563880">
                <a:tc>
                  <a:txBody>
                    <a:bodyPr/>
                    <a:lstStyle/>
                    <a:p>
                      <a:pPr algn="ctr">
                        <a:defRPr sz="630" b="1">
                          <a:solidFill>
                            <a:srgbClr val="1E242B"/>
                          </a:solidFill>
                          <a:latin typeface="Arial"/>
                        </a:defRPr>
                      </a:pPr>
                      <a:r>
                        <a:t>No.3</a:t>
                      </a:r>
                      <a:br/>
                      <a:r>
                        <a:t>(JP/VN)</a:t>
                      </a:r>
                    </a:p>
                  </a:txBody>
                  <a:tcPr anchor="ctr" marL="36576" marR="36576" marT="9144" marB="9144">
                    <a:solidFill>
                      <a:srgbClr val="EAF7EE"/>
                    </a:solidFill>
                  </a:tcPr>
                </a:tc>
                <a:tc>
                  <a:txBody>
                    <a:bodyPr/>
                    <a:lstStyle/>
                    <a:p>
                      <a:pPr algn="l">
                        <a:defRPr sz="630">
                          <a:solidFill>
                            <a:srgbClr val="1E242B"/>
                          </a:solidFill>
                          <a:latin typeface="Arial"/>
                        </a:defRPr>
                      </a:pPr>
                      <a:r>
                        <a:t>Bỏ bước kiểm tra lại Panel U201 bằng tay, chuyển sang đối chiếu log tự động</a:t>
                      </a:r>
                    </a:p>
                  </a:txBody>
                  <a:tcPr anchor="ctr" marL="36576" marR="36576" marT="9144" marB="9144">
                    <a:solidFill>
                      <a:srgbClr val="EAF7EE"/>
                    </a:solidFill>
                  </a:tcPr>
                </a:tc>
                <a:tc>
                  <a:txBody>
                    <a:bodyPr/>
                    <a:lstStyle/>
                    <a:p>
                      <a:pPr algn="l">
                        <a:defRPr sz="630">
                          <a:solidFill>
                            <a:srgbClr val="1E242B"/>
                          </a:solidFill>
                          <a:latin typeface="Arial"/>
                        </a:defRPr>
                      </a:pPr>
                      <a:r>
                        <a:t>Sub-Assy lưu lịch sử kiểm tra; Host PC tự động đọc log từ bo mạch để kiểm soát kép (như dòng máy Athena/Spica).</a:t>
                      </a:r>
                    </a:p>
                  </a:txBody>
                  <a:tcPr anchor="ctr" marL="36576" marR="36576" marT="9144" marB="9144">
                    <a:solidFill>
                      <a:srgbClr val="EAF7EE"/>
                    </a:solidFill>
                  </a:tcPr>
                </a:tc>
                <a:tc>
                  <a:txBody>
                    <a:bodyPr/>
                    <a:lstStyle/>
                    <a:p>
                      <a:pPr algn="ctr">
                        <a:defRPr sz="630">
                          <a:solidFill>
                            <a:srgbClr val="1E242B"/>
                          </a:solidFill>
                          <a:latin typeface="Arial"/>
                        </a:defRPr>
                      </a:pPr>
                      <a:r>
                        <a:t>-15,12 s</a:t>
                      </a:r>
                      <a:br/>
                      <a:r>
                        <a:t>(6 bước xóa)</a:t>
                      </a:r>
                    </a:p>
                  </a:txBody>
                  <a:tcPr anchor="ctr" marL="36576" marR="36576" marT="9144" marB="9144">
                    <a:solidFill>
                      <a:srgbClr val="EAF7EE"/>
                    </a:solidFill>
                  </a:tcPr>
                </a:tc>
                <a:tc>
                  <a:txBody>
                    <a:bodyPr/>
                    <a:lstStyle/>
                    <a:p>
                      <a:pPr algn="l">
                        <a:defRPr sz="630">
                          <a:solidFill>
                            <a:srgbClr val="1E242B"/>
                          </a:solidFill>
                          <a:latin typeface="Arial"/>
                        </a:defRPr>
                      </a:pPr>
                      <a:r>
                        <a:t>Triển khai ngay</a:t>
                      </a:r>
                      <a:br/>
                      <a:r>
                        <a:t>(Thay Robot No.24)</a:t>
                      </a:r>
                    </a:p>
                  </a:txBody>
                  <a:tcPr anchor="ctr" marL="36576" marR="36576" marT="9144" marB="9144">
                    <a:solidFill>
                      <a:srgbClr val="EAF7EE"/>
                    </a:solidFill>
                  </a:tcPr>
                </a:tc>
              </a:tr>
              <a:tr h="563880">
                <a:tc>
                  <a:txBody>
                    <a:bodyPr/>
                    <a:lstStyle/>
                    <a:p>
                      <a:pPr algn="ctr">
                        <a:defRPr sz="630" b="1">
                          <a:solidFill>
                            <a:srgbClr val="1E242B"/>
                          </a:solidFill>
                          <a:latin typeface="Arial"/>
                        </a:defRPr>
                      </a:pPr>
                      <a:r>
                        <a:t>No.4</a:t>
                      </a:r>
                      <a:br/>
                      <a:r>
                        <a:t>(JP/VN)</a:t>
                      </a:r>
                    </a:p>
                  </a:txBody>
                  <a:tcPr anchor="ctr" marL="36576" marR="36576" marT="9144" marB="9144">
                    <a:solidFill>
                      <a:srgbClr val="EAF7EE"/>
                    </a:solidFill>
                  </a:tcPr>
                </a:tc>
                <a:tc>
                  <a:txBody>
                    <a:bodyPr/>
                    <a:lstStyle/>
                    <a:p>
                      <a:pPr algn="l">
                        <a:defRPr sz="630">
                          <a:solidFill>
                            <a:srgbClr val="1E242B"/>
                          </a:solidFill>
                          <a:latin typeface="Arial"/>
                        </a:defRPr>
                      </a:pPr>
                      <a:r>
                        <a:t>Chuyển kiểm tra khay giấy 1 &amp; 2 từ nhìn mắt thường sang lệnh phần mềm</a:t>
                      </a:r>
                    </a:p>
                  </a:txBody>
                  <a:tcPr anchor="ctr" marL="36576" marR="36576" marT="9144" marB="9144">
                    <a:solidFill>
                      <a:srgbClr val="EAF7EE"/>
                    </a:solidFill>
                  </a:tcPr>
                </a:tc>
                <a:tc>
                  <a:txBody>
                    <a:bodyPr/>
                    <a:lstStyle/>
                    <a:p>
                      <a:pPr algn="l">
                        <a:defRPr sz="630">
                          <a:solidFill>
                            <a:srgbClr val="1E242B"/>
                          </a:solidFill>
                          <a:latin typeface="Arial"/>
                        </a:defRPr>
                      </a:pPr>
                      <a:r>
                        <a:t>Host PC gửi lệnh điện tử nhận diện đóng/mở khay và cảm biến khổ giấy; bỏ thao tác nhìn màn hình xác nhận.</a:t>
                      </a:r>
                    </a:p>
                  </a:txBody>
                  <a:tcPr anchor="ctr" marL="36576" marR="36576" marT="9144" marB="9144">
                    <a:solidFill>
                      <a:srgbClr val="EAF7EE"/>
                    </a:solidFill>
                  </a:tcPr>
                </a:tc>
                <a:tc>
                  <a:txBody>
                    <a:bodyPr/>
                    <a:lstStyle/>
                    <a:p>
                      <a:pPr algn="ctr">
                        <a:defRPr sz="630">
                          <a:solidFill>
                            <a:srgbClr val="1E242B"/>
                          </a:solidFill>
                          <a:latin typeface="Arial"/>
                        </a:defRPr>
                      </a:pPr>
                      <a:r>
                        <a:t>-66,68 s</a:t>
                      </a:r>
                      <a:br/>
                      <a:r>
                        <a:t>(Đồng bộ No.34)</a:t>
                      </a:r>
                    </a:p>
                  </a:txBody>
                  <a:tcPr anchor="ctr" marL="36576" marR="36576" marT="9144" marB="9144">
                    <a:solidFill>
                      <a:srgbClr val="EAF7EE"/>
                    </a:solidFill>
                  </a:tcPr>
                </a:tc>
                <a:tc>
                  <a:txBody>
                    <a:bodyPr/>
                    <a:lstStyle/>
                    <a:p>
                      <a:pPr algn="l">
                        <a:defRPr sz="630">
                          <a:solidFill>
                            <a:srgbClr val="1E242B"/>
                          </a:solidFill>
                          <a:latin typeface="Arial"/>
                        </a:defRPr>
                      </a:pPr>
                      <a:r>
                        <a:t>Triển khai ngay</a:t>
                      </a:r>
                      <a:br/>
                      <a:r>
                        <a:t>(先行実施)</a:t>
                      </a:r>
                    </a:p>
                  </a:txBody>
                  <a:tcPr anchor="ctr" marL="36576" marR="36576" marT="9144" marB="9144">
                    <a:solidFill>
                      <a:srgbClr val="EAF7EE"/>
                    </a:solidFill>
                  </a:tcPr>
                </a:tc>
              </a:tr>
              <a:tr h="563880">
                <a:tc>
                  <a:txBody>
                    <a:bodyPr/>
                    <a:lstStyle/>
                    <a:p>
                      <a:pPr algn="ctr">
                        <a:defRPr sz="630" b="1">
                          <a:solidFill>
                            <a:srgbClr val="1E242B"/>
                          </a:solidFill>
                          <a:latin typeface="Arial"/>
                        </a:defRPr>
                      </a:pPr>
                      <a:r>
                        <a:t>No.5</a:t>
                      </a:r>
                      <a:br/>
                      <a:r>
                        <a:t>(JP)</a:t>
                      </a:r>
                    </a:p>
                  </a:txBody>
                  <a:tcPr anchor="ctr" marL="36576" marR="36576" marT="9144" marB="9144">
                    <a:solidFill>
                      <a:srgbClr val="FFFFFF"/>
                    </a:solidFill>
                  </a:tcPr>
                </a:tc>
                <a:tc>
                  <a:txBody>
                    <a:bodyPr/>
                    <a:lstStyle/>
                    <a:p>
                      <a:pPr algn="l">
                        <a:defRPr sz="630">
                          <a:solidFill>
                            <a:srgbClr val="1E242B"/>
                          </a:solidFill>
                          <a:latin typeface="Arial"/>
                        </a:defRPr>
                      </a:pPr>
                      <a:r>
                        <a:t>Thay đổi phương pháp kiểm tra cảm biến nhận diện người (Human sensor) / Bỏ JAM</a:t>
                      </a:r>
                    </a:p>
                  </a:txBody>
                  <a:tcPr anchor="ctr" marL="36576" marR="36576" marT="9144" marB="9144">
                    <a:solidFill>
                      <a:srgbClr val="FFFFFF"/>
                    </a:solidFill>
                  </a:tcPr>
                </a:tc>
                <a:tc>
                  <a:txBody>
                    <a:bodyPr/>
                    <a:lstStyle/>
                    <a:p>
                      <a:pPr algn="l">
                        <a:defRPr sz="630">
                          <a:solidFill>
                            <a:srgbClr val="1E242B"/>
                          </a:solidFill>
                          <a:latin typeface="Arial"/>
                        </a:defRPr>
                      </a:pPr>
                      <a:r>
                        <a:t>Cấu trúc vùng quét cảm biến trên IrisEXP thay đổi; đồng thời xóa bước cố tình tạo kẹt giấy JAM (-11,16s).</a:t>
                      </a:r>
                    </a:p>
                  </a:txBody>
                  <a:tcPr anchor="ctr" marL="36576" marR="36576" marT="9144" marB="9144">
                    <a:solidFill>
                      <a:srgbClr val="FFFFFF"/>
                    </a:solidFill>
                  </a:tcPr>
                </a:tc>
                <a:tc>
                  <a:txBody>
                    <a:bodyPr/>
                    <a:lstStyle/>
                    <a:p>
                      <a:pPr algn="ctr">
                        <a:defRPr sz="630">
                          <a:solidFill>
                            <a:srgbClr val="1E242B"/>
                          </a:solidFill>
                          <a:latin typeface="Arial"/>
                        </a:defRPr>
                      </a:pPr>
                      <a:r>
                        <a:t>-11,16 s</a:t>
                      </a:r>
                      <a:br/>
                      <a:r>
                        <a:t>(6 bước xóa)</a:t>
                      </a:r>
                    </a:p>
                  </a:txBody>
                  <a:tcPr anchor="ctr" marL="36576" marR="36576" marT="9144" marB="9144">
                    <a:solidFill>
                      <a:srgbClr val="FFFFFF"/>
                    </a:solidFill>
                  </a:tcPr>
                </a:tc>
                <a:tc>
                  <a:txBody>
                    <a:bodyPr/>
                    <a:lstStyle/>
                    <a:p>
                      <a:pPr algn="l">
                        <a:defRPr sz="630">
                          <a:solidFill>
                            <a:srgbClr val="1E242B"/>
                          </a:solidFill>
                          <a:latin typeface="Arial"/>
                        </a:defRPr>
                      </a:pPr>
                      <a:r>
                        <a:t>Chờ tài liệu chuẩn</a:t>
                      </a:r>
                      <a:br/>
                      <a:r>
                        <a:t>phía Nhật</a:t>
                      </a:r>
                    </a:p>
                  </a:txBody>
                  <a:tcPr anchor="ctr" marL="36576" marR="36576" marT="9144" marB="9144">
                    <a:solidFill>
                      <a:srgbClr val="FFFFFF"/>
                    </a:solidFill>
                  </a:tcPr>
                </a:tc>
              </a:tr>
              <a:tr h="563880">
                <a:tc>
                  <a:txBody>
                    <a:bodyPr/>
                    <a:lstStyle/>
                    <a:p>
                      <a:pPr algn="ctr">
                        <a:defRPr sz="630" b="1">
                          <a:solidFill>
                            <a:srgbClr val="1E242B"/>
                          </a:solidFill>
                          <a:latin typeface="Arial"/>
                        </a:defRPr>
                      </a:pPr>
                      <a:r>
                        <a:t>No.6</a:t>
                      </a:r>
                      <a:br/>
                      <a:r>
                        <a:t>(JP/VN)</a:t>
                      </a:r>
                    </a:p>
                  </a:txBody>
                  <a:tcPr anchor="ctr" marL="36576" marR="36576" marT="9144" marB="9144">
                    <a:solidFill>
                      <a:srgbClr val="EAF7EE"/>
                    </a:solidFill>
                  </a:tcPr>
                </a:tc>
                <a:tc>
                  <a:txBody>
                    <a:bodyPr/>
                    <a:lstStyle/>
                    <a:p>
                      <a:pPr algn="l">
                        <a:defRPr sz="630">
                          <a:solidFill>
                            <a:srgbClr val="1E242B"/>
                          </a:solidFill>
                          <a:latin typeface="Arial"/>
                        </a:defRPr>
                      </a:pPr>
                      <a:r>
                        <a:t>Bỏ bước kiểm tra nhận diện cổng USB riêng biệt (Bảo chứng thay thế)</a:t>
                      </a:r>
                    </a:p>
                  </a:txBody>
                  <a:tcPr anchor="ctr" marL="36576" marR="36576" marT="9144" marB="9144">
                    <a:solidFill>
                      <a:srgbClr val="EAF7EE"/>
                    </a:solidFill>
                  </a:tcPr>
                </a:tc>
                <a:tc>
                  <a:txBody>
                    <a:bodyPr/>
                    <a:lstStyle/>
                    <a:p>
                      <a:pPr algn="l">
                        <a:defRPr sz="630">
                          <a:solidFill>
                            <a:srgbClr val="1E242B"/>
                          </a:solidFill>
                          <a:latin typeface="Arial"/>
                        </a:defRPr>
                      </a:pPr>
                      <a:r>
                        <a:t>Khi nạp Firmware ở đầu trạm A-1 (dùng 2 USB) đã xác nhận cổng USB hoạt động tốt (lưu ý nếu bỏ nạp USB thì cần giữ).</a:t>
                      </a:r>
                    </a:p>
                  </a:txBody>
                  <a:tcPr anchor="ctr" marL="36576" marR="36576" marT="9144" marB="9144">
                    <a:solidFill>
                      <a:srgbClr val="EAF7EE"/>
                    </a:solidFill>
                  </a:tcPr>
                </a:tc>
                <a:tc>
                  <a:txBody>
                    <a:bodyPr/>
                    <a:lstStyle/>
                    <a:p>
                      <a:pPr algn="ctr">
                        <a:defRPr sz="630">
                          <a:solidFill>
                            <a:srgbClr val="1E242B"/>
                          </a:solidFill>
                          <a:latin typeface="Arial"/>
                        </a:defRPr>
                      </a:pPr>
                      <a:r>
                        <a:t>-3,96 s chuẩn</a:t>
                      </a:r>
                      <a:br/>
                      <a:r>
                        <a:t>(-15s tại K4)</a:t>
                      </a:r>
                    </a:p>
                  </a:txBody>
                  <a:tcPr anchor="ctr" marL="36576" marR="36576" marT="9144" marB="9144">
                    <a:solidFill>
                      <a:srgbClr val="EAF7EE"/>
                    </a:solidFill>
                  </a:tcPr>
                </a:tc>
                <a:tc>
                  <a:txBody>
                    <a:bodyPr/>
                    <a:lstStyle/>
                    <a:p>
                      <a:pPr algn="l">
                        <a:defRPr sz="630">
                          <a:solidFill>
                            <a:srgbClr val="1E242B"/>
                          </a:solidFill>
                          <a:latin typeface="Arial"/>
                        </a:defRPr>
                      </a:pPr>
                      <a:r>
                        <a:t>Triển khai ngay</a:t>
                      </a:r>
                      <a:br/>
                      <a:r>
                        <a:t>(Thay Robot No.24)</a:t>
                      </a:r>
                    </a:p>
                  </a:txBody>
                  <a:tcPr anchor="ctr" marL="36576" marR="36576" marT="9144" marB="9144">
                    <a:solidFill>
                      <a:srgbClr val="EAF7EE"/>
                    </a:solidFill>
                  </a:tcPr>
                </a:tc>
              </a:tr>
              <a:tr h="563880">
                <a:tc>
                  <a:txBody>
                    <a:bodyPr/>
                    <a:lstStyle/>
                    <a:p>
                      <a:pPr algn="ctr">
                        <a:defRPr sz="630" b="1">
                          <a:solidFill>
                            <a:srgbClr val="1E242B"/>
                          </a:solidFill>
                          <a:latin typeface="Arial"/>
                        </a:defRPr>
                      </a:pPr>
                      <a:r>
                        <a:t>No.7</a:t>
                      </a:r>
                      <a:br/>
                      <a:r>
                        <a:t>(JP/VN)</a:t>
                      </a:r>
                    </a:p>
                  </a:txBody>
                  <a:tcPr anchor="ctr" marL="36576" marR="36576" marT="9144" marB="9144">
                    <a:solidFill>
                      <a:srgbClr val="EAF7EE"/>
                    </a:solidFill>
                  </a:tcPr>
                </a:tc>
                <a:tc>
                  <a:txBody>
                    <a:bodyPr/>
                    <a:lstStyle/>
                    <a:p>
                      <a:pPr algn="l">
                        <a:defRPr sz="630">
                          <a:solidFill>
                            <a:srgbClr val="1E242B"/>
                          </a:solidFill>
                          <a:latin typeface="Arial"/>
                        </a:defRPr>
                      </a:pPr>
                      <a:r>
                        <a:t>Tự động nhận diện công tắc cửa nắp máy &amp; Đo an toàn điện khi đóng kín nắp</a:t>
                      </a:r>
                    </a:p>
                  </a:txBody>
                  <a:tcPr anchor="ctr" marL="36576" marR="36576" marT="9144" marB="9144">
                    <a:solidFill>
                      <a:srgbClr val="EAF7EE"/>
                    </a:solidFill>
                  </a:tcPr>
                </a:tc>
                <a:tc>
                  <a:txBody>
                    <a:bodyPr/>
                    <a:lstStyle/>
                    <a:p>
                      <a:pPr algn="l">
                        <a:defRPr sz="630">
                          <a:solidFill>
                            <a:srgbClr val="1E242B"/>
                          </a:solidFill>
                          <a:latin typeface="Arial"/>
                        </a:defRPr>
                      </a:pPr>
                      <a:r>
                        <a:t>Tách riêng kiểm tra công tắc cửa bằng phần mềm (-8,88s) và đo chịu áp/tiếp địa khi đã đóng kín toàn bộ nắp máy.</a:t>
                      </a:r>
                    </a:p>
                  </a:txBody>
                  <a:tcPr anchor="ctr" marL="36576" marR="36576" marT="9144" marB="9144">
                    <a:solidFill>
                      <a:srgbClr val="EAF7EE"/>
                    </a:solidFill>
                  </a:tcPr>
                </a:tc>
                <a:tc>
                  <a:txBody>
                    <a:bodyPr/>
                    <a:lstStyle/>
                    <a:p>
                      <a:pPr algn="ctr">
                        <a:defRPr sz="630">
                          <a:solidFill>
                            <a:srgbClr val="1E242B"/>
                          </a:solidFill>
                          <a:latin typeface="Arial"/>
                        </a:defRPr>
                      </a:pPr>
                      <a:r>
                        <a:t>-8,88 s công tắc</a:t>
                      </a:r>
                      <a:br/>
                      <a:r>
                        <a:t>(-9,5s U051)</a:t>
                      </a:r>
                    </a:p>
                  </a:txBody>
                  <a:tcPr anchor="ctr" marL="36576" marR="36576" marT="9144" marB="9144">
                    <a:solidFill>
                      <a:srgbClr val="EAF7EE"/>
                    </a:solidFill>
                  </a:tcPr>
                </a:tc>
                <a:tc>
                  <a:txBody>
                    <a:bodyPr/>
                    <a:lstStyle/>
                    <a:p>
                      <a:pPr algn="l">
                        <a:defRPr sz="630">
                          <a:solidFill>
                            <a:srgbClr val="1E242B"/>
                          </a:solidFill>
                          <a:latin typeface="Arial"/>
                        </a:defRPr>
                      </a:pPr>
                      <a:r>
                        <a:t>Triển khai ngay</a:t>
                      </a:r>
                      <a:br/>
                      <a:r>
                        <a:t>(Đồng bộ No.22, 36)</a:t>
                      </a:r>
                    </a:p>
                  </a:txBody>
                  <a:tcPr anchor="ctr" marL="36576" marR="36576" marT="9144" marB="9144">
                    <a:solidFill>
                      <a:srgbClr val="EAF7EE"/>
                    </a:solidFill>
                  </a:tcPr>
                </a:tc>
              </a:tr>
              <a:tr h="563880">
                <a:tc>
                  <a:txBody>
                    <a:bodyPr/>
                    <a:lstStyle/>
                    <a:p>
                      <a:pPr algn="ctr">
                        <a:defRPr sz="630" b="1">
                          <a:solidFill>
                            <a:srgbClr val="1E242B"/>
                          </a:solidFill>
                          <a:latin typeface="Arial"/>
                        </a:defRPr>
                      </a:pPr>
                      <a:r>
                        <a:t>Tổng</a:t>
                      </a:r>
                      <a:br/>
                      <a:r>
                        <a:t>JP</a:t>
                      </a:r>
                    </a:p>
                  </a:txBody>
                  <a:tcPr anchor="ctr" marL="36576" marR="36576" marT="9144" marB="9144">
                    <a:solidFill>
                      <a:srgbClr val="E8EEF5"/>
                    </a:solidFill>
                  </a:tcPr>
                </a:tc>
                <a:tc>
                  <a:txBody>
                    <a:bodyPr/>
                    <a:lstStyle/>
                    <a:p>
                      <a:pPr algn="l">
                        <a:defRPr sz="630">
                          <a:solidFill>
                            <a:srgbClr val="1E242B"/>
                          </a:solidFill>
                          <a:latin typeface="Arial"/>
                        </a:defRPr>
                      </a:pPr>
                      <a:r>
                        <a:t>• Tổng 7 đề án JP: Giảm 87,84s vs Iris2024 (-176,84s vs chưa cải tiến)</a:t>
                      </a:r>
                      <a:br/>
                      <a:r>
                        <a:t>• Tổng 153 bước đánh dấu xóa trên bảng công đoạn: -267,74s Color / -263,06s Mono</a:t>
                      </a:r>
                    </a:p>
                  </a:txBody>
                  <a:tcPr anchor="ctr" marL="36576" marR="36576" marT="9144" marB="9144">
                    <a:solidFill>
                      <a:srgbClr val="E8EEF5"/>
                    </a:solidFill>
                  </a:tcPr>
                </a:tc>
                <a:tc>
                  <a:txBody>
                    <a:bodyPr/>
                    <a:lstStyle/>
                    <a:p>
                      <a:pPr algn="l">
                        <a:defRPr sz="630">
                          <a:solidFill>
                            <a:srgbClr val="1E242B"/>
                          </a:solidFill>
                          <a:latin typeface="Arial"/>
                        </a:defRPr>
                      </a:pPr>
                      <a:r>
                        <a:t>• Hạ tầng điều khiển: Hệ Spica Mini PC (~40.000 JPY/bộ điều khiển 4 máy)</a:t>
                      </a:r>
                      <a:br/>
                      <a:r>
                        <a:t>• Phần mềm xóa U413 (nếu đầu tư): 225~250 vạn JPY</a:t>
                      </a:r>
                    </a:p>
                  </a:txBody>
                  <a:tcPr anchor="ctr" marL="36576" marR="36576" marT="9144" marB="9144">
                    <a:solidFill>
                      <a:srgbClr val="E8EEF5"/>
                    </a:solidFill>
                  </a:tcPr>
                </a:tc>
                <a:tc>
                  <a:txBody>
                    <a:bodyPr/>
                    <a:lstStyle/>
                    <a:p>
                      <a:pPr algn="ctr">
                        <a:defRPr sz="630">
                          <a:solidFill>
                            <a:srgbClr val="1E242B"/>
                          </a:solidFill>
                          <a:latin typeface="Arial"/>
                        </a:defRPr>
                      </a:pPr>
                      <a:r>
                        <a:t>-176,84 s ~</a:t>
                      </a:r>
                      <a:br/>
                      <a:r>
                        <a:t>-267,74 s</a:t>
                      </a:r>
                    </a:p>
                  </a:txBody>
                  <a:tcPr anchor="ctr" marL="36576" marR="36576" marT="9144" marB="9144">
                    <a:solidFill>
                      <a:srgbClr val="E8EEF5"/>
                    </a:solidFill>
                  </a:tcPr>
                </a:tc>
                <a:tc>
                  <a:txBody>
                    <a:bodyPr/>
                    <a:lstStyle/>
                    <a:p>
                      <a:pPr algn="l">
                        <a:defRPr sz="630">
                          <a:solidFill>
                            <a:srgbClr val="1E242B"/>
                          </a:solidFill>
                          <a:latin typeface="Arial"/>
                        </a:defRPr>
                      </a:pPr>
                      <a:r>
                        <a:t>6/7 mục triển khai</a:t>
                      </a:r>
                      <a:br/>
                      <a:r>
                        <a:t>ngay (先行実施)</a:t>
                      </a:r>
                    </a:p>
                  </a:txBody>
                  <a:tcPr anchor="ctr" marL="36576" marR="36576" marT="9144" marB="9144">
                    <a:solidFill>
                      <a:srgbClr val="E8EEF5"/>
                    </a:solidFill>
                  </a:tcPr>
                </a:tc>
              </a:tr>
            </a:tbl>
          </a:graphicData>
        </a:graphic>
      </p:graphicFrame>
      <p:sp>
        <p:nvSpPr>
          <p:cNvPr id="9" name="TextBox 8"/>
          <p:cNvSpPr txBox="1"/>
          <p:nvPr/>
        </p:nvSpPr>
        <p:spPr>
          <a:xfrm>
            <a:off x="5833872" y="1152144"/>
            <a:ext cx="6101791" cy="201168"/>
          </a:xfrm>
          <a:prstGeom prst="rect">
            <a:avLst/>
          </a:prstGeom>
          <a:noFill/>
        </p:spPr>
        <p:txBody>
          <a:bodyPr wrap="square" lIns="18288" rIns="18288" tIns="9144" bIns="9144">
            <a:spAutoFit/>
          </a:bodyPr>
          <a:lstStyle/>
          <a:p>
            <a:pPr>
              <a:defRPr sz="780" b="1">
                <a:solidFill>
                  <a:srgbClr val="1B365D"/>
                </a:solidFill>
                <a:latin typeface="Arial"/>
              </a:defRPr>
            </a:pPr>
            <a:r>
              <a:t>■ 11 ĐỀ ÁN CỦA TRUNG QUỐC (CN: No.8 ~ No.17, No.38)</a:t>
            </a:r>
          </a:p>
        </p:txBody>
      </p:sp>
      <p:graphicFrame>
        <p:nvGraphicFramePr>
          <p:cNvPr id="10" name="Table 9"/>
          <p:cNvGraphicFramePr>
            <a:graphicFrameLocks noGrp="1"/>
          </p:cNvGraphicFramePr>
          <p:nvPr/>
        </p:nvGraphicFramePr>
        <p:xfrm>
          <a:off x="5833872" y="1353312"/>
          <a:ext cx="6101791" cy="5074920"/>
        </p:xfrm>
        <a:graphic>
          <a:graphicData uri="http://schemas.openxmlformats.org/drawingml/2006/table">
            <a:tbl>
              <a:tblPr firstRow="1" bandRow="1">
                <a:tableStyleId>{5C22544A-7EE6-4342-B048-85BDC9FD1C3A}</a:tableStyleId>
              </a:tblPr>
              <a:tblGrid>
                <a:gridCol w="566928"/>
                <a:gridCol w="1810512"/>
                <a:gridCol w="1758391"/>
                <a:gridCol w="914400"/>
                <a:gridCol w="1051560"/>
              </a:tblGrid>
              <a:tr h="422910">
                <a:tc>
                  <a:txBody>
                    <a:bodyPr/>
                    <a:lstStyle/>
                    <a:p>
                      <a:pPr algn="ctr">
                        <a:defRPr sz="680" b="1">
                          <a:solidFill>
                            <a:srgbClr val="FFFFFF"/>
                          </a:solidFill>
                          <a:latin typeface="Arial"/>
                        </a:defRPr>
                      </a:pPr>
                      <a:r>
                        <a:t>STT</a:t>
                      </a:r>
                    </a:p>
                  </a:txBody>
                  <a:tcPr anchor="ctr" marL="36576" marR="36576" marT="9144" marB="9144">
                    <a:solidFill>
                      <a:srgbClr val="1B365D"/>
                    </a:solidFill>
                  </a:tcPr>
                </a:tc>
                <a:tc>
                  <a:txBody>
                    <a:bodyPr/>
                    <a:lstStyle/>
                    <a:p>
                      <a:pPr algn="ctr">
                        <a:defRPr sz="680" b="1">
                          <a:solidFill>
                            <a:srgbClr val="FFFFFF"/>
                          </a:solidFill>
                          <a:latin typeface="Arial"/>
                        </a:defRPr>
                      </a:pPr>
                      <a:r>
                        <a:t>Tên đề án (CN)</a:t>
                      </a:r>
                    </a:p>
                  </a:txBody>
                  <a:tcPr anchor="ctr" marL="36576" marR="36576" marT="9144" marB="9144">
                    <a:solidFill>
                      <a:srgbClr val="1B365D"/>
                    </a:solidFill>
                  </a:tcPr>
                </a:tc>
                <a:tc>
                  <a:txBody>
                    <a:bodyPr/>
                    <a:lstStyle/>
                    <a:p>
                      <a:pPr algn="ctr">
                        <a:defRPr sz="680" b="1">
                          <a:solidFill>
                            <a:srgbClr val="FFFFFF"/>
                          </a:solidFill>
                          <a:latin typeface="Arial"/>
                        </a:defRPr>
                      </a:pPr>
                      <a:r>
                        <a:t>Nội dung giải pháp &amp; Đánh giá</a:t>
                      </a:r>
                    </a:p>
                  </a:txBody>
                  <a:tcPr anchor="ctr" marL="36576" marR="36576" marT="9144" marB="9144">
                    <a:solidFill>
                      <a:srgbClr val="1B365D"/>
                    </a:solidFill>
                  </a:tcPr>
                </a:tc>
                <a:tc>
                  <a:txBody>
                    <a:bodyPr/>
                    <a:lstStyle/>
                    <a:p>
                      <a:pPr algn="ctr">
                        <a:defRPr sz="680" b="1">
                          <a:solidFill>
                            <a:srgbClr val="FFFFFF"/>
                          </a:solidFill>
                          <a:latin typeface="Arial"/>
                        </a:defRPr>
                      </a:pPr>
                      <a:r>
                        <a:t>Hiệu quả</a:t>
                      </a:r>
                    </a:p>
                  </a:txBody>
                  <a:tcPr anchor="ctr" marL="36576" marR="36576" marT="9144" marB="9144">
                    <a:solidFill>
                      <a:srgbClr val="1B365D"/>
                    </a:solidFill>
                  </a:tcPr>
                </a:tc>
                <a:tc>
                  <a:txBody>
                    <a:bodyPr/>
                    <a:lstStyle/>
                    <a:p>
                      <a:pPr algn="ctr">
                        <a:defRPr sz="680" b="1">
                          <a:solidFill>
                            <a:srgbClr val="FFFFFF"/>
                          </a:solidFill>
                          <a:latin typeface="Arial"/>
                        </a:defRPr>
                      </a:pPr>
                      <a:r>
                        <a:t>Trạng thái</a:t>
                      </a:r>
                    </a:p>
                  </a:txBody>
                  <a:tcPr anchor="ctr" marL="36576" marR="36576" marT="9144" marB="9144">
                    <a:solidFill>
                      <a:srgbClr val="1B365D"/>
                    </a:solidFill>
                  </a:tcPr>
                </a:tc>
              </a:tr>
              <a:tr h="422910">
                <a:tc>
                  <a:txBody>
                    <a:bodyPr/>
                    <a:lstStyle/>
                    <a:p>
                      <a:pPr algn="ctr">
                        <a:defRPr sz="590" b="1">
                          <a:solidFill>
                            <a:srgbClr val="1E242B"/>
                          </a:solidFill>
                          <a:latin typeface="Arial"/>
                        </a:defRPr>
                      </a:pPr>
                      <a:r>
                        <a:t>No.8</a:t>
                      </a:r>
                    </a:p>
                  </a:txBody>
                  <a:tcPr anchor="ctr" marL="36576" marR="36576" marT="9144" marB="9144">
                    <a:solidFill>
                      <a:srgbClr val="FFFFFF"/>
                    </a:solidFill>
                  </a:tcPr>
                </a:tc>
                <a:tc>
                  <a:txBody>
                    <a:bodyPr/>
                    <a:lstStyle/>
                    <a:p>
                      <a:pPr algn="l">
                        <a:defRPr sz="590">
                          <a:solidFill>
                            <a:srgbClr val="1E242B"/>
                          </a:solidFill>
                          <a:latin typeface="Arial"/>
                        </a:defRPr>
                      </a:pPr>
                      <a:r>
                        <a:t>Xem xét bỏ bước đo khe hở cụm Belt truyền ảnh (Transfer Belt) tại điều chỉnh</a:t>
                      </a:r>
                    </a:p>
                  </a:txBody>
                  <a:tcPr anchor="ctr" marL="36576" marR="36576" marT="9144" marB="9144">
                    <a:solidFill>
                      <a:srgbClr val="FFFFFF"/>
                    </a:solidFill>
                  </a:tcPr>
                </a:tc>
                <a:tc>
                  <a:txBody>
                    <a:bodyPr/>
                    <a:lstStyle/>
                    <a:p>
                      <a:pPr algn="l">
                        <a:defRPr sz="590">
                          <a:solidFill>
                            <a:srgbClr val="1E242B"/>
                          </a:solidFill>
                          <a:latin typeface="Arial"/>
                        </a:defRPr>
                      </a:pPr>
                      <a:r>
                        <a:t>Nhà máy CN không bị lỗi, nhưng VN từng có 11 máy lỗi (hiện còn 1~2 máy/tháng). Đã đổi vật liệu Belt + Puli vát 35°.</a:t>
                      </a:r>
                    </a:p>
                  </a:txBody>
                  <a:tcPr anchor="ctr" marL="36576" marR="36576" marT="9144" marB="9144">
                    <a:solidFill>
                      <a:srgbClr val="FFFFFF"/>
                    </a:solidFill>
                  </a:tcPr>
                </a:tc>
                <a:tc>
                  <a:txBody>
                    <a:bodyPr/>
                    <a:lstStyle/>
                    <a:p>
                      <a:pPr algn="ctr">
                        <a:defRPr sz="590">
                          <a:solidFill>
                            <a:srgbClr val="1E242B"/>
                          </a:solidFill>
                          <a:latin typeface="Arial"/>
                        </a:defRPr>
                      </a:pPr>
                      <a:r>
                        <a:t>-15,36 s chuẩn</a:t>
                      </a:r>
                      <a:br/>
                      <a:r>
                        <a:t>(-5s tại K4)</a:t>
                      </a:r>
                    </a:p>
                  </a:txBody>
                  <a:tcPr anchor="ctr" marL="36576" marR="36576" marT="9144" marB="9144">
                    <a:solidFill>
                      <a:srgbClr val="FFFFFF"/>
                    </a:solidFill>
                  </a:tcPr>
                </a:tc>
                <a:tc>
                  <a:txBody>
                    <a:bodyPr/>
                    <a:lstStyle/>
                    <a:p>
                      <a:pPr algn="l">
                        <a:defRPr sz="590">
                          <a:solidFill>
                            <a:srgbClr val="1E242B"/>
                          </a:solidFill>
                          <a:latin typeface="Arial"/>
                        </a:defRPr>
                      </a:pPr>
                      <a:r>
                        <a:t>Chờ QA phê duyệt</a:t>
                      </a:r>
                      <a:br/>
                      <a:r>
                        <a:t>(VN giữ kiểm chứng)</a:t>
                      </a:r>
                    </a:p>
                  </a:txBody>
                  <a:tcPr anchor="ctr" marL="36576" marR="36576" marT="9144" marB="9144">
                    <a:solidFill>
                      <a:srgbClr val="FFFFFF"/>
                    </a:solidFill>
                  </a:tcPr>
                </a:tc>
              </a:tr>
              <a:tr h="422910">
                <a:tc>
                  <a:txBody>
                    <a:bodyPr/>
                    <a:lstStyle/>
                    <a:p>
                      <a:pPr algn="ctr">
                        <a:defRPr sz="590" b="1">
                          <a:solidFill>
                            <a:srgbClr val="1E242B"/>
                          </a:solidFill>
                          <a:latin typeface="Arial"/>
                        </a:defRPr>
                      </a:pPr>
                      <a:r>
                        <a:t>No.9</a:t>
                      </a:r>
                    </a:p>
                  </a:txBody>
                  <a:tcPr anchor="ctr" marL="36576" marR="36576" marT="9144" marB="9144">
                    <a:solidFill>
                      <a:srgbClr val="F7F9FC"/>
                    </a:solidFill>
                  </a:tcPr>
                </a:tc>
                <a:tc>
                  <a:txBody>
                    <a:bodyPr/>
                    <a:lstStyle/>
                    <a:p>
                      <a:pPr algn="l">
                        <a:defRPr sz="590">
                          <a:solidFill>
                            <a:srgbClr val="1E242B"/>
                          </a:solidFill>
                          <a:latin typeface="Arial"/>
                        </a:defRPr>
                      </a:pPr>
                      <a:r>
                        <a:t>Giảm hoặc bỏ kiểm tra độ bám mực sấy (Fixing BK/Color) / Đổi test khay tay MPF</a:t>
                      </a:r>
                    </a:p>
                  </a:txBody>
                  <a:tcPr anchor="ctr" marL="36576" marR="36576" marT="9144" marB="9144">
                    <a:solidFill>
                      <a:srgbClr val="F7F9FC"/>
                    </a:solidFill>
                  </a:tcPr>
                </a:tc>
                <a:tc>
                  <a:txBody>
                    <a:bodyPr/>
                    <a:lstStyle/>
                    <a:p>
                      <a:pPr algn="l">
                        <a:defRPr sz="590">
                          <a:solidFill>
                            <a:srgbClr val="1E242B"/>
                          </a:solidFill>
                          <a:latin typeface="Arial"/>
                        </a:defRPr>
                      </a:pPr>
                      <a:r>
                        <a:t>CN đề xuất bỏ in thử độ bám mực sấy để tiết kiệm giấy/mực (VN đang in 2 tờ); kết hợp kiểm tra cảm biến MPF tự động.</a:t>
                      </a:r>
                    </a:p>
                  </a:txBody>
                  <a:tcPr anchor="ctr" marL="36576" marR="36576" marT="9144" marB="9144">
                    <a:solidFill>
                      <a:srgbClr val="F7F9FC"/>
                    </a:solidFill>
                  </a:tcPr>
                </a:tc>
                <a:tc>
                  <a:txBody>
                    <a:bodyPr/>
                    <a:lstStyle/>
                    <a:p>
                      <a:pPr algn="ctr">
                        <a:defRPr sz="590">
                          <a:solidFill>
                            <a:srgbClr val="1E242B"/>
                          </a:solidFill>
                          <a:latin typeface="Arial"/>
                        </a:defRPr>
                      </a:pPr>
                      <a:r>
                        <a:t>-1,40 s MPF</a:t>
                      </a:r>
                      <a:br/>
                      <a:r>
                        <a:t>(Giảm 2 tờ sấy)</a:t>
                      </a:r>
                    </a:p>
                  </a:txBody>
                  <a:tcPr anchor="ctr" marL="36576" marR="36576" marT="9144" marB="9144">
                    <a:solidFill>
                      <a:srgbClr val="F7F9FC"/>
                    </a:solidFill>
                  </a:tcPr>
                </a:tc>
                <a:tc>
                  <a:txBody>
                    <a:bodyPr/>
                    <a:lstStyle/>
                    <a:p>
                      <a:pPr algn="l">
                        <a:defRPr sz="590">
                          <a:solidFill>
                            <a:srgbClr val="1E242B"/>
                          </a:solidFill>
                          <a:latin typeface="Arial"/>
                        </a:defRPr>
                      </a:pPr>
                      <a:r>
                        <a:t>Chờ QA phê duyệt</a:t>
                      </a:r>
                      <a:br/>
                      <a:r>
                        <a:t>điều kiện bảo chứng</a:t>
                      </a:r>
                    </a:p>
                  </a:txBody>
                  <a:tcPr anchor="ctr" marL="36576" marR="36576" marT="9144" marB="9144">
                    <a:solidFill>
                      <a:srgbClr val="F7F9FC"/>
                    </a:solidFill>
                  </a:tcPr>
                </a:tc>
              </a:tr>
              <a:tr h="422910">
                <a:tc>
                  <a:txBody>
                    <a:bodyPr/>
                    <a:lstStyle/>
                    <a:p>
                      <a:pPr algn="ctr">
                        <a:defRPr sz="590" b="1">
                          <a:solidFill>
                            <a:srgbClr val="1E242B"/>
                          </a:solidFill>
                          <a:latin typeface="Arial"/>
                        </a:defRPr>
                      </a:pPr>
                      <a:r>
                        <a:t>No.10</a:t>
                      </a:r>
                    </a:p>
                  </a:txBody>
                  <a:tcPr anchor="ctr" marL="36576" marR="36576" marT="9144" marB="9144">
                    <a:solidFill>
                      <a:srgbClr val="FFFFFF"/>
                    </a:solidFill>
                  </a:tcPr>
                </a:tc>
                <a:tc>
                  <a:txBody>
                    <a:bodyPr/>
                    <a:lstStyle/>
                    <a:p>
                      <a:pPr algn="l">
                        <a:defRPr sz="590">
                          <a:solidFill>
                            <a:srgbClr val="1E242B"/>
                          </a:solidFill>
                          <a:latin typeface="Arial"/>
                        </a:defRPr>
                      </a:pPr>
                      <a:r>
                        <a:t>Xem xét lại quy trình kiểm tra chấm vàng chống tiền giả (PPT/BCP tờ GY)</a:t>
                      </a:r>
                    </a:p>
                  </a:txBody>
                  <a:tcPr anchor="ctr" marL="36576" marR="36576" marT="9144" marB="9144">
                    <a:solidFill>
                      <a:srgbClr val="FFFFFF"/>
                    </a:solidFill>
                  </a:tcPr>
                </a:tc>
                <a:tc>
                  <a:txBody>
                    <a:bodyPr/>
                    <a:lstStyle/>
                    <a:p>
                      <a:pPr algn="l">
                        <a:defRPr sz="590">
                          <a:solidFill>
                            <a:srgbClr val="1E242B"/>
                          </a:solidFill>
                          <a:latin typeface="Arial"/>
                        </a:defRPr>
                      </a:pPr>
                      <a:r>
                        <a:t>Độ phân giải camera hiện tại chưa đủ bắt lỗi mất chấm vàng siêu nhỏ; tạm giữ quy trình quét bằng Scanner tiêu chuẩn.</a:t>
                      </a:r>
                    </a:p>
                  </a:txBody>
                  <a:tcPr anchor="ctr" marL="36576" marR="36576" marT="9144" marB="9144">
                    <a:solidFill>
                      <a:srgbClr val="FFFFFF"/>
                    </a:solidFill>
                  </a:tcPr>
                </a:tc>
                <a:tc>
                  <a:txBody>
                    <a:bodyPr/>
                    <a:lstStyle/>
                    <a:p>
                      <a:pPr algn="ctr">
                        <a:defRPr sz="590">
                          <a:solidFill>
                            <a:srgbClr val="1E242B"/>
                          </a:solidFill>
                          <a:latin typeface="Arial"/>
                        </a:defRPr>
                      </a:pPr>
                      <a:r>
                        <a:t>-22,50 s (CN)</a:t>
                      </a:r>
                      <a:br/>
                      <a:r>
                        <a:t>[-10,0s tại VN]</a:t>
                      </a:r>
                    </a:p>
                  </a:txBody>
                  <a:tcPr anchor="ctr" marL="36576" marR="36576" marT="9144" marB="9144">
                    <a:solidFill>
                      <a:srgbClr val="FFFFFF"/>
                    </a:solidFill>
                  </a:tcPr>
                </a:tc>
                <a:tc>
                  <a:txBody>
                    <a:bodyPr/>
                    <a:lstStyle/>
                    <a:p>
                      <a:pPr algn="l">
                        <a:defRPr sz="590">
                          <a:solidFill>
                            <a:srgbClr val="1E242B"/>
                          </a:solidFill>
                          <a:latin typeface="Arial"/>
                        </a:defRPr>
                      </a:pPr>
                      <a:r>
                        <a:t>Giữ nguyên Scanner</a:t>
                      </a:r>
                      <a:br/>
                      <a:r>
                        <a:t>(Giai đoạn 1)</a:t>
                      </a:r>
                    </a:p>
                  </a:txBody>
                  <a:tcPr anchor="ctr" marL="36576" marR="36576" marT="9144" marB="9144">
                    <a:solidFill>
                      <a:srgbClr val="FFFFFF"/>
                    </a:solidFill>
                  </a:tcPr>
                </a:tc>
              </a:tr>
              <a:tr h="422910">
                <a:tc>
                  <a:txBody>
                    <a:bodyPr/>
                    <a:lstStyle/>
                    <a:p>
                      <a:pPr algn="ctr">
                        <a:defRPr sz="590" b="1">
                          <a:solidFill>
                            <a:srgbClr val="1E242B"/>
                          </a:solidFill>
                          <a:latin typeface="Arial"/>
                        </a:defRPr>
                      </a:pPr>
                      <a:r>
                        <a:t>No.11</a:t>
                      </a:r>
                    </a:p>
                  </a:txBody>
                  <a:tcPr anchor="ctr" marL="36576" marR="36576" marT="9144" marB="9144">
                    <a:solidFill>
                      <a:srgbClr val="EAF7EE"/>
                    </a:solidFill>
                  </a:tcPr>
                </a:tc>
                <a:tc>
                  <a:txBody>
                    <a:bodyPr/>
                    <a:lstStyle/>
                    <a:p>
                      <a:pPr algn="l">
                        <a:defRPr sz="590">
                          <a:solidFill>
                            <a:srgbClr val="1E242B"/>
                          </a:solidFill>
                          <a:latin typeface="Arial"/>
                        </a:defRPr>
                      </a:pPr>
                      <a:r>
                        <a:t>Gộp 2 tờ bản thảo DC-1 và bản xám (Gray) thành 1 tờ chart tích hợp duy nhất</a:t>
                      </a:r>
                    </a:p>
                  </a:txBody>
                  <a:tcPr anchor="ctr" marL="36576" marR="36576" marT="9144" marB="9144">
                    <a:solidFill>
                      <a:srgbClr val="EAF7EE"/>
                    </a:solidFill>
                  </a:tcPr>
                </a:tc>
                <a:tc>
                  <a:txBody>
                    <a:bodyPr/>
                    <a:lstStyle/>
                    <a:p>
                      <a:pPr algn="l">
                        <a:defRPr sz="590">
                          <a:solidFill>
                            <a:srgbClr val="1E242B"/>
                          </a:solidFill>
                          <a:latin typeface="Arial"/>
                        </a:defRPr>
                      </a:pPr>
                      <a:r>
                        <a:t>Giảm từ 2 tờ Copy xuống 1 tờ; tiết kiệm rõ rệt giấy/mực (5.000 RMB / 5.000 máy). Phía JP (ông Goto) đã đồng ý.</a:t>
                      </a:r>
                    </a:p>
                  </a:txBody>
                  <a:tcPr anchor="ctr" marL="36576" marR="36576" marT="9144" marB="9144">
                    <a:solidFill>
                      <a:srgbClr val="EAF7EE"/>
                    </a:solidFill>
                  </a:tcPr>
                </a:tc>
                <a:tc>
                  <a:txBody>
                    <a:bodyPr/>
                    <a:lstStyle/>
                    <a:p>
                      <a:pPr algn="ctr">
                        <a:defRPr sz="590">
                          <a:solidFill>
                            <a:srgbClr val="1E242B"/>
                          </a:solidFill>
                          <a:latin typeface="Arial"/>
                        </a:defRPr>
                      </a:pPr>
                      <a:r>
                        <a:t>5.000 RMB /</a:t>
                      </a:r>
                      <a:br/>
                      <a:r>
                        <a:t>5.000 máy</a:t>
                      </a:r>
                      <a:br/>
                      <a:r>
                        <a:t>(-1 tờ Copy)</a:t>
                      </a:r>
                    </a:p>
                  </a:txBody>
                  <a:tcPr anchor="ctr" marL="36576" marR="36576" marT="9144" marB="9144">
                    <a:solidFill>
                      <a:srgbClr val="EAF7EE"/>
                    </a:solidFill>
                  </a:tcPr>
                </a:tc>
                <a:tc>
                  <a:txBody>
                    <a:bodyPr/>
                    <a:lstStyle/>
                    <a:p>
                      <a:pPr algn="l">
                        <a:defRPr sz="590">
                          <a:solidFill>
                            <a:srgbClr val="1E242B"/>
                          </a:solidFill>
                          <a:latin typeface="Arial"/>
                        </a:defRPr>
                      </a:pPr>
                      <a:r>
                        <a:t>Triển khai ngay</a:t>
                      </a:r>
                      <a:br/>
                      <a:r>
                        <a:t>(先行実施)</a:t>
                      </a:r>
                    </a:p>
                  </a:txBody>
                  <a:tcPr anchor="ctr" marL="36576" marR="36576" marT="9144" marB="9144">
                    <a:solidFill>
                      <a:srgbClr val="EAF7EE"/>
                    </a:solidFill>
                  </a:tcPr>
                </a:tc>
              </a:tr>
              <a:tr h="422910">
                <a:tc>
                  <a:txBody>
                    <a:bodyPr/>
                    <a:lstStyle/>
                    <a:p>
                      <a:pPr algn="ctr">
                        <a:defRPr sz="590" b="1">
                          <a:solidFill>
                            <a:srgbClr val="1E242B"/>
                          </a:solidFill>
                          <a:latin typeface="Arial"/>
                        </a:defRPr>
                      </a:pPr>
                      <a:r>
                        <a:t>No.12</a:t>
                      </a:r>
                    </a:p>
                  </a:txBody>
                  <a:tcPr anchor="ctr" marL="36576" marR="36576" marT="9144" marB="9144">
                    <a:solidFill>
                      <a:srgbClr val="EAF7EE"/>
                    </a:solidFill>
                  </a:tcPr>
                </a:tc>
                <a:tc>
                  <a:txBody>
                    <a:bodyPr/>
                    <a:lstStyle/>
                    <a:p>
                      <a:pPr algn="l">
                        <a:defRPr sz="590">
                          <a:solidFill>
                            <a:srgbClr val="1E242B"/>
                          </a:solidFill>
                          <a:latin typeface="Arial"/>
                        </a:defRPr>
                      </a:pPr>
                      <a:r>
                        <a:t>Đồ gá tự động quét đo lề bản in (Gray Margin ABCD) và tự gửi lệnh bù U402</a:t>
                      </a:r>
                    </a:p>
                  </a:txBody>
                  <a:tcPr anchor="ctr" marL="36576" marR="36576" marT="9144" marB="9144">
                    <a:solidFill>
                      <a:srgbClr val="EAF7EE"/>
                    </a:solidFill>
                  </a:tcPr>
                </a:tc>
                <a:tc>
                  <a:txBody>
                    <a:bodyPr/>
                    <a:lstStyle/>
                    <a:p>
                      <a:pPr algn="l">
                        <a:defRPr sz="590">
                          <a:solidFill>
                            <a:srgbClr val="1E242B"/>
                          </a:solidFill>
                          <a:latin typeface="Arial"/>
                        </a:defRPr>
                      </a:pPr>
                      <a:r>
                        <a:t>Thay việc dùng thước đo lề rồi nhập tay bằng phần mềm xử lý ảnh tự tính độ lệch lề và đẩy lệnh bù U402 vào máy.</a:t>
                      </a:r>
                    </a:p>
                  </a:txBody>
                  <a:tcPr anchor="ctr" marL="36576" marR="36576" marT="9144" marB="9144">
                    <a:solidFill>
                      <a:srgbClr val="EAF7EE"/>
                    </a:solidFill>
                  </a:tcPr>
                </a:tc>
                <a:tc>
                  <a:txBody>
                    <a:bodyPr/>
                    <a:lstStyle/>
                    <a:p>
                      <a:pPr algn="ctr">
                        <a:defRPr sz="590">
                          <a:solidFill>
                            <a:srgbClr val="1E242B"/>
                          </a:solidFill>
                          <a:latin typeface="Arial"/>
                        </a:defRPr>
                      </a:pPr>
                      <a:r>
                        <a:t>-15,40 s ~ -28s</a:t>
                      </a:r>
                      <a:br/>
                      <a:r>
                        <a:t>(Bỏ thước đo tay)</a:t>
                      </a:r>
                    </a:p>
                  </a:txBody>
                  <a:tcPr anchor="ctr" marL="36576" marR="36576" marT="9144" marB="9144">
                    <a:solidFill>
                      <a:srgbClr val="EAF7EE"/>
                    </a:solidFill>
                  </a:tcPr>
                </a:tc>
                <a:tc>
                  <a:txBody>
                    <a:bodyPr/>
                    <a:lstStyle/>
                    <a:p>
                      <a:pPr algn="l">
                        <a:defRPr sz="590">
                          <a:solidFill>
                            <a:srgbClr val="1E242B"/>
                          </a:solidFill>
                          <a:latin typeface="Arial"/>
                        </a:defRPr>
                      </a:pPr>
                      <a:r>
                        <a:t>Đang thiết kế /</a:t>
                      </a:r>
                      <a:br/>
                      <a:r>
                        <a:t>thử nghiệm</a:t>
                      </a:r>
                    </a:p>
                  </a:txBody>
                  <a:tcPr anchor="ctr" marL="36576" marR="36576" marT="9144" marB="9144">
                    <a:solidFill>
                      <a:srgbClr val="EAF7EE"/>
                    </a:solidFill>
                  </a:tcPr>
                </a:tc>
              </a:tr>
              <a:tr h="422910">
                <a:tc>
                  <a:txBody>
                    <a:bodyPr/>
                    <a:lstStyle/>
                    <a:p>
                      <a:pPr algn="ctr">
                        <a:defRPr sz="590" b="1">
                          <a:solidFill>
                            <a:srgbClr val="1E242B"/>
                          </a:solidFill>
                          <a:latin typeface="Arial"/>
                        </a:defRPr>
                      </a:pPr>
                      <a:r>
                        <a:t>No.13</a:t>
                      </a:r>
                    </a:p>
                  </a:txBody>
                  <a:tcPr anchor="ctr" marL="36576" marR="36576" marT="9144" marB="9144">
                    <a:solidFill>
                      <a:srgbClr val="F7F9FC"/>
                    </a:solidFill>
                  </a:tcPr>
                </a:tc>
                <a:tc>
                  <a:txBody>
                    <a:bodyPr/>
                    <a:lstStyle/>
                    <a:p>
                      <a:pPr algn="l">
                        <a:defRPr sz="590">
                          <a:solidFill>
                            <a:srgbClr val="1E242B"/>
                          </a:solidFill>
                          <a:latin typeface="Arial"/>
                        </a:defRPr>
                      </a:pPr>
                      <a:r>
                        <a:t>Giảm số lượng tờ in kiểm tra (Print) từ 17 chủng loại xuống còn 9 tờ</a:t>
                      </a:r>
                    </a:p>
                  </a:txBody>
                  <a:tcPr anchor="ctr" marL="36576" marR="36576" marT="9144" marB="9144">
                    <a:solidFill>
                      <a:srgbClr val="F7F9FC"/>
                    </a:solidFill>
                  </a:tcPr>
                </a:tc>
                <a:tc>
                  <a:txBody>
                    <a:bodyPr/>
                    <a:lstStyle/>
                    <a:p>
                      <a:pPr algn="l">
                        <a:defRPr sz="590">
                          <a:solidFill>
                            <a:srgbClr val="1E242B"/>
                          </a:solidFill>
                          <a:latin typeface="Arial"/>
                        </a:defRPr>
                      </a:pPr>
                      <a:r>
                        <a:t>Cắt giảm các bản in trùng lặp bước cân màu (calibration), rút ngắn thời gian chờ in từ 230s xuống 120s.</a:t>
                      </a:r>
                    </a:p>
                  </a:txBody>
                  <a:tcPr anchor="ctr" marL="36576" marR="36576" marT="9144" marB="9144">
                    <a:solidFill>
                      <a:srgbClr val="F7F9FC"/>
                    </a:solidFill>
                  </a:tcPr>
                </a:tc>
                <a:tc>
                  <a:txBody>
                    <a:bodyPr/>
                    <a:lstStyle/>
                    <a:p>
                      <a:pPr algn="ctr">
                        <a:defRPr sz="590">
                          <a:solidFill>
                            <a:srgbClr val="1E242B"/>
                          </a:solidFill>
                          <a:latin typeface="Arial"/>
                        </a:defRPr>
                      </a:pPr>
                      <a:r>
                        <a:t>-63,36 s thao tác</a:t>
                      </a:r>
                      <a:br/>
                      <a:r>
                        <a:t>-110,0 s chờ in</a:t>
                      </a:r>
                    </a:p>
                  </a:txBody>
                  <a:tcPr anchor="ctr" marL="36576" marR="36576" marT="9144" marB="9144">
                    <a:solidFill>
                      <a:srgbClr val="F7F9FC"/>
                    </a:solidFill>
                  </a:tcPr>
                </a:tc>
                <a:tc>
                  <a:txBody>
                    <a:bodyPr/>
                    <a:lstStyle/>
                    <a:p>
                      <a:pPr algn="l">
                        <a:defRPr sz="590">
                          <a:solidFill>
                            <a:srgbClr val="1E242B"/>
                          </a:solidFill>
                          <a:latin typeface="Arial"/>
                        </a:defRPr>
                      </a:pPr>
                      <a:r>
                        <a:t>Chờ QA phê duyệt</a:t>
                      </a:r>
                      <a:br/>
                      <a:r>
                        <a:t>danh mục 9 tờ</a:t>
                      </a:r>
                    </a:p>
                  </a:txBody>
                  <a:tcPr anchor="ctr" marL="36576" marR="36576" marT="9144" marB="9144">
                    <a:solidFill>
                      <a:srgbClr val="F7F9FC"/>
                    </a:solidFill>
                  </a:tcPr>
                </a:tc>
              </a:tr>
              <a:tr h="422910">
                <a:tc>
                  <a:txBody>
                    <a:bodyPr/>
                    <a:lstStyle/>
                    <a:p>
                      <a:pPr algn="ctr">
                        <a:defRPr sz="590" b="1">
                          <a:solidFill>
                            <a:srgbClr val="1E242B"/>
                          </a:solidFill>
                          <a:latin typeface="Arial"/>
                        </a:defRPr>
                      </a:pPr>
                      <a:r>
                        <a:t>No.14</a:t>
                      </a:r>
                    </a:p>
                  </a:txBody>
                  <a:tcPr anchor="ctr" marL="36576" marR="36576" marT="9144" marB="9144">
                    <a:solidFill>
                      <a:srgbClr val="FFFFFF"/>
                    </a:solidFill>
                  </a:tcPr>
                </a:tc>
                <a:tc>
                  <a:txBody>
                    <a:bodyPr/>
                    <a:lstStyle/>
                    <a:p>
                      <a:pPr algn="l">
                        <a:defRPr sz="590">
                          <a:solidFill>
                            <a:srgbClr val="1E242B"/>
                          </a:solidFill>
                          <a:latin typeface="Arial"/>
                        </a:defRPr>
                      </a:pPr>
                      <a:r>
                        <a:t>Tự động hóa thao tác vào chế độ bảo trì Maintenance Mode (bỏ bấm tay 10 lần)</a:t>
                      </a:r>
                    </a:p>
                  </a:txBody>
                  <a:tcPr anchor="ctr" marL="36576" marR="36576" marT="9144" marB="9144">
                    <a:solidFill>
                      <a:srgbClr val="FFFFFF"/>
                    </a:solidFill>
                  </a:tcPr>
                </a:tc>
                <a:tc>
                  <a:txBody>
                    <a:bodyPr/>
                    <a:lstStyle/>
                    <a:p>
                      <a:pPr algn="l">
                        <a:defRPr sz="590">
                          <a:solidFill>
                            <a:srgbClr val="1E242B"/>
                          </a:solidFill>
                          <a:latin typeface="Arial"/>
                        </a:defRPr>
                      </a:pPr>
                      <a:r>
                        <a:t>Bỏ phương án lộ nút tắt trên màn hình (rủi ro bảo mật); chuyển sang để Host PC gửi lệnh vào thẳng Uxxx qua mạng.</a:t>
                      </a:r>
                    </a:p>
                  </a:txBody>
                  <a:tcPr anchor="ctr" marL="36576" marR="36576" marT="9144" marB="9144">
                    <a:solidFill>
                      <a:srgbClr val="FFFFFF"/>
                    </a:solidFill>
                  </a:tcPr>
                </a:tc>
                <a:tc>
                  <a:txBody>
                    <a:bodyPr/>
                    <a:lstStyle/>
                    <a:p>
                      <a:pPr algn="ctr">
                        <a:defRPr sz="590">
                          <a:solidFill>
                            <a:srgbClr val="1E242B"/>
                          </a:solidFill>
                          <a:latin typeface="Arial"/>
                        </a:defRPr>
                      </a:pPr>
                      <a:r>
                        <a:t>-3,60 s ~</a:t>
                      </a:r>
                      <a:br/>
                      <a:r>
                        <a:t>rút ngắn thao tác</a:t>
                      </a:r>
                    </a:p>
                  </a:txBody>
                  <a:tcPr anchor="ctr" marL="36576" marR="36576" marT="9144" marB="9144">
                    <a:solidFill>
                      <a:srgbClr val="FFFFFF"/>
                    </a:solidFill>
                  </a:tcPr>
                </a:tc>
                <a:tc>
                  <a:txBody>
                    <a:bodyPr/>
                    <a:lstStyle/>
                    <a:p>
                      <a:pPr algn="l">
                        <a:defRPr sz="590">
                          <a:solidFill>
                            <a:srgbClr val="1E242B"/>
                          </a:solidFill>
                          <a:latin typeface="Arial"/>
                        </a:defRPr>
                      </a:pPr>
                      <a:r>
                        <a:t>Đang thiết kế /</a:t>
                      </a:r>
                      <a:br/>
                      <a:r>
                        <a:t>thử nghiệm</a:t>
                      </a:r>
                    </a:p>
                  </a:txBody>
                  <a:tcPr anchor="ctr" marL="36576" marR="36576" marT="9144" marB="9144">
                    <a:solidFill>
                      <a:srgbClr val="FFFFFF"/>
                    </a:solidFill>
                  </a:tcPr>
                </a:tc>
              </a:tr>
              <a:tr h="422910">
                <a:tc>
                  <a:txBody>
                    <a:bodyPr/>
                    <a:lstStyle/>
                    <a:p>
                      <a:pPr algn="ctr">
                        <a:defRPr sz="590" b="1">
                          <a:solidFill>
                            <a:srgbClr val="1E242B"/>
                          </a:solidFill>
                          <a:latin typeface="Arial"/>
                        </a:defRPr>
                      </a:pPr>
                      <a:r>
                        <a:t>No.15</a:t>
                      </a:r>
                    </a:p>
                  </a:txBody>
                  <a:tcPr anchor="ctr" marL="36576" marR="36576" marT="9144" marB="9144">
                    <a:solidFill>
                      <a:srgbClr val="F7F9FC"/>
                    </a:solidFill>
                  </a:tcPr>
                </a:tc>
                <a:tc>
                  <a:txBody>
                    <a:bodyPr/>
                    <a:lstStyle/>
                    <a:p>
                      <a:pPr algn="l">
                        <a:defRPr sz="590">
                          <a:solidFill>
                            <a:srgbClr val="1E242B"/>
                          </a:solidFill>
                          <a:latin typeface="Arial"/>
                        </a:defRPr>
                      </a:pPr>
                      <a:r>
                        <a:t>Gộp chuỗi thao tác: Chọn loại giấy -&gt; Bấm in -&gt; Trả về giấy thường vào 1 cú click</a:t>
                      </a:r>
                    </a:p>
                  </a:txBody>
                  <a:tcPr anchor="ctr" marL="36576" marR="36576" marT="9144" marB="9144">
                    <a:solidFill>
                      <a:srgbClr val="F7F9FC"/>
                    </a:solidFill>
                  </a:tcPr>
                </a:tc>
                <a:tc>
                  <a:txBody>
                    <a:bodyPr/>
                    <a:lstStyle/>
                    <a:p>
                      <a:pPr algn="l">
                        <a:defRPr sz="590">
                          <a:solidFill>
                            <a:srgbClr val="1E242B"/>
                          </a:solidFill>
                          <a:latin typeface="Arial"/>
                        </a:defRPr>
                      </a:pPr>
                      <a:r>
                        <a:t>Tích hợp macro 1 chạm (Set Media -&gt; Print -&gt; Set Plain) trên phần mềm đồ gá, xóa thao tác bấm lặp lại nhiều lần.</a:t>
                      </a:r>
                    </a:p>
                  </a:txBody>
                  <a:tcPr anchor="ctr" marL="36576" marR="36576" marT="9144" marB="9144">
                    <a:solidFill>
                      <a:srgbClr val="F7F9FC"/>
                    </a:solidFill>
                  </a:tcPr>
                </a:tc>
                <a:tc>
                  <a:txBody>
                    <a:bodyPr/>
                    <a:lstStyle/>
                    <a:p>
                      <a:pPr algn="ctr">
                        <a:defRPr sz="590">
                          <a:solidFill>
                            <a:srgbClr val="1E242B"/>
                          </a:solidFill>
                          <a:latin typeface="Arial"/>
                        </a:defRPr>
                      </a:pPr>
                      <a:r>
                        <a:t>Tiết kiệm:</a:t>
                      </a:r>
                      <a:br/>
                      <a:r>
                        <a:t>3.600 RMB/tháng</a:t>
                      </a:r>
                    </a:p>
                  </a:txBody>
                  <a:tcPr anchor="ctr" marL="36576" marR="36576" marT="9144" marB="9144">
                    <a:solidFill>
                      <a:srgbClr val="F7F9FC"/>
                    </a:solidFill>
                  </a:tcPr>
                </a:tc>
                <a:tc>
                  <a:txBody>
                    <a:bodyPr/>
                    <a:lstStyle/>
                    <a:p>
                      <a:pPr algn="l">
                        <a:defRPr sz="590">
                          <a:solidFill>
                            <a:srgbClr val="1E242B"/>
                          </a:solidFill>
                          <a:latin typeface="Arial"/>
                        </a:defRPr>
                      </a:pPr>
                      <a:r>
                        <a:t>Đang thiết kế /</a:t>
                      </a:r>
                      <a:br/>
                      <a:r>
                        <a:t>thử nghiệm</a:t>
                      </a:r>
                    </a:p>
                  </a:txBody>
                  <a:tcPr anchor="ctr" marL="36576" marR="36576" marT="9144" marB="9144">
                    <a:solidFill>
                      <a:srgbClr val="F7F9FC"/>
                    </a:solidFill>
                  </a:tcPr>
                </a:tc>
              </a:tr>
              <a:tr h="422910">
                <a:tc>
                  <a:txBody>
                    <a:bodyPr/>
                    <a:lstStyle/>
                    <a:p>
                      <a:pPr algn="ctr">
                        <a:defRPr sz="590" b="1">
                          <a:solidFill>
                            <a:srgbClr val="1E242B"/>
                          </a:solidFill>
                          <a:latin typeface="Arial"/>
                        </a:defRPr>
                      </a:pPr>
                      <a:r>
                        <a:t>No.16</a:t>
                      </a:r>
                    </a:p>
                  </a:txBody>
                  <a:tcPr anchor="ctr" marL="36576" marR="36576" marT="9144" marB="9144">
                    <a:solidFill>
                      <a:srgbClr val="FFFFFF"/>
                    </a:solidFill>
                  </a:tcPr>
                </a:tc>
                <a:tc>
                  <a:txBody>
                    <a:bodyPr/>
                    <a:lstStyle/>
                    <a:p>
                      <a:pPr algn="l">
                        <a:defRPr sz="590">
                          <a:solidFill>
                            <a:srgbClr val="1E242B"/>
                          </a:solidFill>
                          <a:latin typeface="Arial"/>
                        </a:defRPr>
                      </a:pPr>
                      <a:r>
                        <a:t>Tích hợp đo tốc độ quạt làm mát (FAN) vào chuỗi lệnh U037 / Đồ gá gộp đầu nối</a:t>
                      </a:r>
                    </a:p>
                  </a:txBody>
                  <a:tcPr anchor="ctr" marL="36576" marR="36576" marT="9144" marB="9144">
                    <a:solidFill>
                      <a:srgbClr val="FFFFFF"/>
                    </a:solidFill>
                  </a:tcPr>
                </a:tc>
                <a:tc>
                  <a:txBody>
                    <a:bodyPr/>
                    <a:lstStyle/>
                    <a:p>
                      <a:pPr algn="l">
                        <a:defRPr sz="590">
                          <a:solidFill>
                            <a:srgbClr val="1E242B"/>
                          </a:solidFill>
                          <a:latin typeface="Arial"/>
                        </a:defRPr>
                      </a:pPr>
                      <a:r>
                        <a:t>Đọc tốc độ quay quạt tự động qua xung điện tử trên bo mạch (tách riêng với bước nghe tiếng kêu lạ của quạt).</a:t>
                      </a:r>
                    </a:p>
                  </a:txBody>
                  <a:tcPr anchor="ctr" marL="36576" marR="36576" marT="9144" marB="9144">
                    <a:solidFill>
                      <a:srgbClr val="FFFFFF"/>
                    </a:solidFill>
                  </a:tcPr>
                </a:tc>
                <a:tc>
                  <a:txBody>
                    <a:bodyPr/>
                    <a:lstStyle/>
                    <a:p>
                      <a:pPr algn="ctr">
                        <a:defRPr sz="590">
                          <a:solidFill>
                            <a:srgbClr val="1E242B"/>
                          </a:solidFill>
                          <a:latin typeface="Arial"/>
                        </a:defRPr>
                      </a:pPr>
                      <a:r>
                        <a:t>-9,70 s</a:t>
                      </a:r>
                      <a:br/>
                      <a:r>
                        <a:t>(9 bước)</a:t>
                      </a:r>
                    </a:p>
                  </a:txBody>
                  <a:tcPr anchor="ctr" marL="36576" marR="36576" marT="9144" marB="9144">
                    <a:solidFill>
                      <a:srgbClr val="FFFFFF"/>
                    </a:solidFill>
                  </a:tcPr>
                </a:tc>
                <a:tc>
                  <a:txBody>
                    <a:bodyPr/>
                    <a:lstStyle/>
                    <a:p>
                      <a:pPr algn="l">
                        <a:defRPr sz="590">
                          <a:solidFill>
                            <a:srgbClr val="1E242B"/>
                          </a:solidFill>
                          <a:latin typeface="Arial"/>
                        </a:defRPr>
                      </a:pPr>
                      <a:r>
                        <a:t>Tách chức năng</a:t>
                      </a:r>
                      <a:br/>
                      <a:r>
                        <a:t>(Đang thiết kế)</a:t>
                      </a:r>
                    </a:p>
                  </a:txBody>
                  <a:tcPr anchor="ctr" marL="36576" marR="36576" marT="9144" marB="9144">
                    <a:solidFill>
                      <a:srgbClr val="FFFFFF"/>
                    </a:solidFill>
                  </a:tcPr>
                </a:tc>
              </a:tr>
              <a:tr h="422910">
                <a:tc>
                  <a:txBody>
                    <a:bodyPr/>
                    <a:lstStyle/>
                    <a:p>
                      <a:pPr algn="ctr">
                        <a:defRPr sz="590" b="1">
                          <a:solidFill>
                            <a:srgbClr val="1E242B"/>
                          </a:solidFill>
                          <a:latin typeface="Arial"/>
                        </a:defRPr>
                      </a:pPr>
                      <a:r>
                        <a:t>No.17</a:t>
                      </a:r>
                    </a:p>
                  </a:txBody>
                  <a:tcPr anchor="ctr" marL="36576" marR="36576" marT="9144" marB="9144">
                    <a:solidFill>
                      <a:srgbClr val="F7F9FC"/>
                    </a:solidFill>
                  </a:tcPr>
                </a:tc>
                <a:tc>
                  <a:txBody>
                    <a:bodyPr/>
                    <a:lstStyle/>
                    <a:p>
                      <a:pPr algn="l">
                        <a:defRPr sz="590">
                          <a:solidFill>
                            <a:srgbClr val="1E242B"/>
                          </a:solidFill>
                          <a:latin typeface="Arial"/>
                        </a:defRPr>
                      </a:pPr>
                      <a:r>
                        <a:t>Tối ưu trình tự quét bản thảo SITC-2 (Bấm nút trên đồ gá trước khi đặt giấy)</a:t>
                      </a:r>
                    </a:p>
                  </a:txBody>
                  <a:tcPr anchor="ctr" marL="36576" marR="36576" marT="9144" marB="9144">
                    <a:solidFill>
                      <a:srgbClr val="F7F9FC"/>
                    </a:solidFill>
                  </a:tcPr>
                </a:tc>
                <a:tc>
                  <a:txBody>
                    <a:bodyPr/>
                    <a:lstStyle/>
                    <a:p>
                      <a:pPr algn="l">
                        <a:defRPr sz="590">
                          <a:solidFill>
                            <a:srgbClr val="1E242B"/>
                          </a:solidFill>
                          <a:latin typeface="Arial"/>
                        </a:defRPr>
                      </a:pPr>
                      <a:r>
                        <a:t>Bấm nút kích hoạt trên đồ gá trước rồi mới đặt tờ SITC-2 lên kính để triệt tiêu thời gian chờ đèn quét khởi động.</a:t>
                      </a:r>
                    </a:p>
                  </a:txBody>
                  <a:tcPr anchor="ctr" marL="36576" marR="36576" marT="9144" marB="9144">
                    <a:solidFill>
                      <a:srgbClr val="F7F9FC"/>
                    </a:solidFill>
                  </a:tcPr>
                </a:tc>
                <a:tc>
                  <a:txBody>
                    <a:bodyPr/>
                    <a:lstStyle/>
                    <a:p>
                      <a:pPr algn="ctr">
                        <a:defRPr sz="590">
                          <a:solidFill>
                            <a:srgbClr val="1E242B"/>
                          </a:solidFill>
                          <a:latin typeface="Arial"/>
                        </a:defRPr>
                      </a:pPr>
                      <a:r>
                        <a:t>-1,50 s (CN)</a:t>
                      </a:r>
                      <a:br/>
                      <a:r>
                        <a:t>Giảm chờ Scanner</a:t>
                      </a:r>
                    </a:p>
                  </a:txBody>
                  <a:tcPr anchor="ctr" marL="36576" marR="36576" marT="9144" marB="9144">
                    <a:solidFill>
                      <a:srgbClr val="F7F9FC"/>
                    </a:solidFill>
                  </a:tcPr>
                </a:tc>
                <a:tc>
                  <a:txBody>
                    <a:bodyPr/>
                    <a:lstStyle/>
                    <a:p>
                      <a:pPr algn="l">
                        <a:defRPr sz="590">
                          <a:solidFill>
                            <a:srgbClr val="1E242B"/>
                          </a:solidFill>
                          <a:latin typeface="Arial"/>
                        </a:defRPr>
                      </a:pPr>
                      <a:r>
                        <a:t>Đang thử nghiệm</a:t>
                      </a:r>
                      <a:br/>
                      <a:r>
                        <a:t>A/B trên chuyền</a:t>
                      </a:r>
                    </a:p>
                  </a:txBody>
                  <a:tcPr anchor="ctr" marL="36576" marR="36576" marT="9144" marB="9144">
                    <a:solidFill>
                      <a:srgbClr val="F7F9FC"/>
                    </a:solidFill>
                  </a:tcPr>
                </a:tc>
              </a:tr>
              <a:tr h="422910">
                <a:tc>
                  <a:txBody>
                    <a:bodyPr/>
                    <a:lstStyle/>
                    <a:p>
                      <a:pPr algn="ctr">
                        <a:defRPr sz="590" b="1">
                          <a:solidFill>
                            <a:srgbClr val="1E242B"/>
                          </a:solidFill>
                          <a:latin typeface="Arial"/>
                        </a:defRPr>
                      </a:pPr>
                      <a:r>
                        <a:t>No.38</a:t>
                      </a:r>
                      <a:br/>
                      <a:r>
                        <a:t>&amp; Tổng</a:t>
                      </a:r>
                    </a:p>
                  </a:txBody>
                  <a:tcPr anchor="ctr" marL="36576" marR="36576" marT="9144" marB="9144">
                    <a:solidFill>
                      <a:srgbClr val="E8EEF5"/>
                    </a:solidFill>
                  </a:tcPr>
                </a:tc>
                <a:tc>
                  <a:txBody>
                    <a:bodyPr/>
                    <a:lstStyle/>
                    <a:p>
                      <a:pPr algn="l">
                        <a:defRPr sz="590">
                          <a:solidFill>
                            <a:srgbClr val="1E242B"/>
                          </a:solidFill>
                          <a:latin typeface="Arial"/>
                        </a:defRPr>
                      </a:pPr>
                      <a:r>
                        <a:t>• No.38: Tự động hóa kiểm tra ảnh bằng đồ gá nhờ AI học ảnh lỗi (WeChat - Chen Zhi Feng)</a:t>
                      </a:r>
                      <a:br/>
                      <a:r>
                        <a:t>• List CN còn có đề án băng tải tiếp điện (-31,4s, tiết kiệm 3.060 RMB/tháng)</a:t>
                      </a:r>
                    </a:p>
                  </a:txBody>
                  <a:tcPr anchor="ctr" marL="36576" marR="36576" marT="9144" marB="9144">
                    <a:solidFill>
                      <a:srgbClr val="E8EEF5"/>
                    </a:solidFill>
                  </a:tcPr>
                </a:tc>
                <a:tc>
                  <a:txBody>
                    <a:bodyPr/>
                    <a:lstStyle/>
                    <a:p>
                      <a:pPr algn="l">
                        <a:defRPr sz="590">
                          <a:solidFill>
                            <a:srgbClr val="1E242B"/>
                          </a:solidFill>
                          <a:latin typeface="Arial"/>
                        </a:defRPr>
                      </a:pPr>
                      <a:r>
                        <a:t>• Tổng thời gian giảm trong bảng tính CN: -178,56s thao tác + -110s chờ in</a:t>
                      </a:r>
                      <a:br/>
                      <a:r>
                        <a:t>• Tiết kiệm: 11.160 RMB/tháng + 5.000 RMB/5k máy</a:t>
                      </a:r>
                    </a:p>
                  </a:txBody>
                  <a:tcPr anchor="ctr" marL="36576" marR="36576" marT="9144" marB="9144">
                    <a:solidFill>
                      <a:srgbClr val="E8EEF5"/>
                    </a:solidFill>
                  </a:tcPr>
                </a:tc>
                <a:tc>
                  <a:txBody>
                    <a:bodyPr/>
                    <a:lstStyle/>
                    <a:p>
                      <a:pPr algn="ctr">
                        <a:defRPr sz="590">
                          <a:solidFill>
                            <a:srgbClr val="1E242B"/>
                          </a:solidFill>
                          <a:latin typeface="Arial"/>
                        </a:defRPr>
                      </a:pPr>
                      <a:r>
                        <a:t>-178,56 s</a:t>
                      </a:r>
                      <a:br/>
                      <a:r>
                        <a:t>(-110s chờ in)</a:t>
                      </a:r>
                    </a:p>
                  </a:txBody>
                  <a:tcPr anchor="ctr" marL="36576" marR="36576" marT="9144" marB="9144">
                    <a:solidFill>
                      <a:srgbClr val="E8EEF5"/>
                    </a:solidFill>
                  </a:tcPr>
                </a:tc>
                <a:tc>
                  <a:txBody>
                    <a:bodyPr/>
                    <a:lstStyle/>
                    <a:p>
                      <a:pPr algn="l">
                        <a:defRPr sz="590">
                          <a:solidFill>
                            <a:srgbClr val="1E242B"/>
                          </a:solidFill>
                          <a:latin typeface="Arial"/>
                        </a:defRPr>
                      </a:pPr>
                      <a:r>
                        <a:t>Đang gửi Thiết kế</a:t>
                      </a:r>
                      <a:br/>
                      <a:r>
                        <a:t>công ty mẹ xác nhận</a:t>
                      </a:r>
                    </a:p>
                  </a:txBody>
                  <a:tcPr anchor="ctr" marL="36576" marR="36576" marT="9144" marB="9144">
                    <a:solidFill>
                      <a:srgbClr val="E8EEF5"/>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Arial"/>
              </a:defRPr>
            </a:pPr>
            <a:r>
              <a:t>PHẦN THAM KHẢO (3/4)</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Các vấn đề kỹ thuật, rủi ro phát sinh và Đối sách thống nhất giữa 3 cứ điểm</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14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000" b="1">
                <a:solidFill>
                  <a:srgbClr val="0F203C"/>
                </a:solidFill>
                <a:latin typeface="Arial"/>
              </a:defRPr>
            </a:pPr>
            <a:r>
              <a:t>■ Tổng hợp 6 vấn đề kỹ thuật và chi phí phát sinh từ các cuộc họp 保証工程連携会 (lần 2 ~ 17) và DR4 cùng đối sách giải quyết để đảm bảo chất lượng (Cpk ≥ 1,33) và hiệu quả đầu tư.</a:t>
            </a:r>
          </a:p>
        </p:txBody>
      </p:sp>
      <p:graphicFrame>
        <p:nvGraphicFramePr>
          <p:cNvPr id="7" name="Table 6"/>
          <p:cNvGraphicFramePr>
            <a:graphicFrameLocks noGrp="1"/>
          </p:cNvGraphicFramePr>
          <p:nvPr/>
        </p:nvGraphicFramePr>
        <p:xfrm>
          <a:off x="256032" y="1170432"/>
          <a:ext cx="11679630" cy="5349240"/>
        </p:xfrm>
        <a:graphic>
          <a:graphicData uri="http://schemas.openxmlformats.org/drawingml/2006/table">
            <a:tbl>
              <a:tblPr firstRow="1" bandRow="1">
                <a:tableStyleId>{5C22544A-7EE6-4342-B048-85BDC9FD1C3A}</a:tableStyleId>
              </a:tblPr>
              <a:tblGrid>
                <a:gridCol w="502920"/>
                <a:gridCol w="2148840"/>
                <a:gridCol w="3520440"/>
                <a:gridCol w="3822191"/>
                <a:gridCol w="1685239"/>
              </a:tblGrid>
              <a:tr h="764177">
                <a:tc>
                  <a:txBody>
                    <a:bodyPr/>
                    <a:lstStyle/>
                    <a:p>
                      <a:pPr algn="ctr">
                        <a:defRPr sz="750" b="1">
                          <a:solidFill>
                            <a:srgbClr val="FFFFFF"/>
                          </a:solidFill>
                          <a:latin typeface="Arial"/>
                        </a:defRPr>
                      </a:pPr>
                      <a:r>
                        <a:t>TT</a:t>
                      </a:r>
                    </a:p>
                  </a:txBody>
                  <a:tcPr anchor="ctr" marL="36576" marR="36576" marT="9144" marB="9144">
                    <a:solidFill>
                      <a:srgbClr val="1B365D"/>
                    </a:solidFill>
                  </a:tcPr>
                </a:tc>
                <a:tc>
                  <a:txBody>
                    <a:bodyPr/>
                    <a:lstStyle/>
                    <a:p>
                      <a:pPr algn="ctr">
                        <a:defRPr sz="750" b="1">
                          <a:solidFill>
                            <a:srgbClr val="FFFFFF"/>
                          </a:solidFill>
                          <a:latin typeface="Arial"/>
                        </a:defRPr>
                      </a:pPr>
                      <a:r>
                        <a:t>Vấn đề phát sinh</a:t>
                      </a:r>
                    </a:p>
                  </a:txBody>
                  <a:tcPr anchor="ctr" marL="36576" marR="36576" marT="9144" marB="9144">
                    <a:solidFill>
                      <a:srgbClr val="1B365D"/>
                    </a:solidFill>
                  </a:tcPr>
                </a:tc>
                <a:tc>
                  <a:txBody>
                    <a:bodyPr/>
                    <a:lstStyle/>
                    <a:p>
                      <a:pPr algn="ctr">
                        <a:defRPr sz="750" b="1">
                          <a:solidFill>
                            <a:srgbClr val="FFFFFF"/>
                          </a:solidFill>
                          <a:latin typeface="Arial"/>
                        </a:defRPr>
                      </a:pPr>
                      <a:r>
                        <a:t>Chi tiết nguyên nhân &amp; Rủi ro thực tế</a:t>
                      </a:r>
                    </a:p>
                  </a:txBody>
                  <a:tcPr anchor="ctr" marL="36576" marR="36576" marT="9144" marB="9144">
                    <a:solidFill>
                      <a:srgbClr val="1B365D"/>
                    </a:solidFill>
                  </a:tcPr>
                </a:tc>
                <a:tc>
                  <a:txBody>
                    <a:bodyPr/>
                    <a:lstStyle/>
                    <a:p>
                      <a:pPr algn="ctr">
                        <a:defRPr sz="750" b="1">
                          <a:solidFill>
                            <a:srgbClr val="FFFFFF"/>
                          </a:solidFill>
                          <a:latin typeface="Arial"/>
                        </a:defRPr>
                      </a:pPr>
                      <a:r>
                        <a:t>Đối sách kỹ thuật đã thống nhất</a:t>
                      </a:r>
                    </a:p>
                  </a:txBody>
                  <a:tcPr anchor="ctr" marL="36576" marR="36576" marT="9144" marB="9144">
                    <a:solidFill>
                      <a:srgbClr val="1B365D"/>
                    </a:solidFill>
                  </a:tcPr>
                </a:tc>
                <a:tc>
                  <a:txBody>
                    <a:bodyPr/>
                    <a:lstStyle/>
                    <a:p>
                      <a:pPr algn="ctr">
                        <a:defRPr sz="750" b="1">
                          <a:solidFill>
                            <a:srgbClr val="FFFFFF"/>
                          </a:solidFill>
                          <a:latin typeface="Arial"/>
                        </a:defRPr>
                      </a:pPr>
                      <a:r>
                        <a:t>Tài liệu tham chiếu</a:t>
                      </a:r>
                    </a:p>
                  </a:txBody>
                  <a:tcPr anchor="ctr" marL="36576" marR="36576" marT="9144" marB="9144">
                    <a:solidFill>
                      <a:srgbClr val="1B365D"/>
                    </a:solidFill>
                  </a:tcPr>
                </a:tc>
              </a:tr>
              <a:tr h="764177">
                <a:tc>
                  <a:txBody>
                    <a:bodyPr/>
                    <a:lstStyle/>
                    <a:p>
                      <a:pPr algn="ctr">
                        <a:defRPr sz="680" b="1">
                          <a:solidFill>
                            <a:srgbClr val="1E242B"/>
                          </a:solidFill>
                          <a:latin typeface="Arial"/>
                        </a:defRPr>
                      </a:pPr>
                      <a:r>
                        <a:t>1</a:t>
                      </a:r>
                    </a:p>
                  </a:txBody>
                  <a:tcPr anchor="ctr" marL="36576" marR="36576" marT="9144" marB="9144">
                    <a:solidFill>
                      <a:srgbClr val="E8EEF5"/>
                    </a:solidFill>
                  </a:tcPr>
                </a:tc>
                <a:tc>
                  <a:txBody>
                    <a:bodyPr/>
                    <a:lstStyle/>
                    <a:p>
                      <a:pPr algn="l">
                        <a:defRPr sz="680">
                          <a:solidFill>
                            <a:srgbClr val="1E242B"/>
                          </a:solidFill>
                          <a:latin typeface="Arial"/>
                        </a:defRPr>
                      </a:pPr>
                      <a:r>
                        <a:t>Hiệu quả thu hồi vốn (ROI):</a:t>
                      </a:r>
                      <a:br/>
                      <a:r>
                        <a:t>Phương án Robot ISU (No.23) &amp; Robot USB/U201 (No.24) chi phí cao</a:t>
                      </a:r>
                    </a:p>
                  </a:txBody>
                  <a:tcPr anchor="ctr" marL="36576" marR="36576" marT="9144" marB="9144">
                    <a:solidFill>
                      <a:srgbClr val="E8EEF5"/>
                    </a:solidFill>
                  </a:tcPr>
                </a:tc>
                <a:tc>
                  <a:txBody>
                    <a:bodyPr/>
                    <a:lstStyle/>
                    <a:p>
                      <a:pPr algn="l">
                        <a:defRPr sz="680">
                          <a:solidFill>
                            <a:srgbClr val="1E242B"/>
                          </a:solidFill>
                          <a:latin typeface="Arial"/>
                        </a:defRPr>
                      </a:pPr>
                      <a:r>
                        <a:t>• Đề án No.23 (Robot đặt bản thảo lên kính ISU) tốn 650 triệu VNĐ (25.000 USD) và phải mở rộng 2 cell băng tải, trong khi chỉ tiết kiệm 108,53 triệu VNĐ/năm (thu hồi vốn &gt; 6 năm).</a:t>
                      </a:r>
                      <a:br/>
                      <a:r>
                        <a:t>• Đề án No.24 (Robot cắm USB &amp; chấm tọa độ U201) tốn 104 triệu VNĐ (4.000 USD) cho 30s thao tác.</a:t>
                      </a:r>
                    </a:p>
                  </a:txBody>
                  <a:tcPr anchor="ctr" marL="36576" marR="36576" marT="9144" marB="9144">
                    <a:solidFill>
                      <a:srgbClr val="E8EEF5"/>
                    </a:solidFill>
                  </a:tcPr>
                </a:tc>
                <a:tc>
                  <a:txBody>
                    <a:bodyPr/>
                    <a:lstStyle/>
                    <a:p>
                      <a:pPr algn="l">
                        <a:defRPr sz="680">
                          <a:solidFill>
                            <a:srgbClr val="1E242B"/>
                          </a:solidFill>
                          <a:latin typeface="Arial"/>
                        </a:defRPr>
                      </a:pPr>
                      <a:r>
                        <a:t>• Dừng đầu tư Robot cho No.23 và No.24 sau cuộc họp DR4 / 連携会 lần 7.</a:t>
                      </a:r>
                      <a:br/>
                      <a:r>
                        <a:t>• Chuyển No.23 sang dùng bộ nạp bản gốc tự động (DP) có sẵn trên máy để quét liên tục + PC tự phán định (No.25).</a:t>
                      </a:r>
                      <a:br/>
                      <a:r>
                        <a:t>• Chuyển No.24 sang đọc log tọa độ U201 qua Host PC (JP No.3) và bảo chứng cổng USB ngay lúc nạp FW (JP No.6).</a:t>
                      </a:r>
                    </a:p>
                  </a:txBody>
                  <a:tcPr anchor="ctr" marL="36576" marR="36576" marT="9144" marB="9144">
                    <a:solidFill>
                      <a:srgbClr val="E8EEF5"/>
                    </a:solidFill>
                  </a:tcPr>
                </a:tc>
                <a:tc>
                  <a:txBody>
                    <a:bodyPr/>
                    <a:lstStyle/>
                    <a:p>
                      <a:pPr algn="l">
                        <a:defRPr sz="680">
                          <a:solidFill>
                            <a:srgbClr val="1E242B"/>
                          </a:solidFill>
                          <a:latin typeface="Arial"/>
                        </a:defRPr>
                      </a:pPr>
                      <a:r>
                        <a:t>Iris EXPのVN提案.xlsx;</a:t>
                      </a:r>
                      <a:br/>
                      <a:r>
                        <a:t>連携会 第7回;</a:t>
                      </a:r>
                      <a:br/>
                      <a:r>
                        <a:t>まとめ Row 37~39</a:t>
                      </a:r>
                    </a:p>
                  </a:txBody>
                  <a:tcPr anchor="ctr" marL="36576" marR="36576" marT="9144" marB="9144">
                    <a:solidFill>
                      <a:srgbClr val="E8EEF5"/>
                    </a:solidFill>
                  </a:tcPr>
                </a:tc>
              </a:tr>
              <a:tr h="764177">
                <a:tc>
                  <a:txBody>
                    <a:bodyPr/>
                    <a:lstStyle/>
                    <a:p>
                      <a:pPr algn="ctr">
                        <a:defRPr sz="680" b="1">
                          <a:solidFill>
                            <a:srgbClr val="1E242B"/>
                          </a:solidFill>
                          <a:latin typeface="Arial"/>
                        </a:defRPr>
                      </a:pPr>
                      <a:r>
                        <a:t>2</a:t>
                      </a:r>
                    </a:p>
                  </a:txBody>
                  <a:tcPr anchor="ctr" marL="36576" marR="36576" marT="9144" marB="9144">
                    <a:solidFill>
                      <a:srgbClr val="FEF7E6"/>
                    </a:solidFill>
                  </a:tcPr>
                </a:tc>
                <a:tc>
                  <a:txBody>
                    <a:bodyPr/>
                    <a:lstStyle/>
                    <a:p>
                      <a:pPr algn="l">
                        <a:defRPr sz="680">
                          <a:solidFill>
                            <a:srgbClr val="1E242B"/>
                          </a:solidFill>
                          <a:latin typeface="Arial"/>
                        </a:defRPr>
                      </a:pPr>
                      <a:r>
                        <a:t>Độ ổn định phần cứng điều khiển:</a:t>
                      </a:r>
                      <a:br/>
                      <a:r>
                        <a:t>Lỗi sập nguồn Pin &amp; rớt mạng Wi-Fi trên Raspberry Pi (Athena)</a:t>
                      </a:r>
                    </a:p>
                  </a:txBody>
                  <a:tcPr anchor="ctr" marL="36576" marR="36576" marT="9144" marB="9144">
                    <a:solidFill>
                      <a:srgbClr val="FEF7E6"/>
                    </a:solidFill>
                  </a:tcPr>
                </a:tc>
                <a:tc>
                  <a:txBody>
                    <a:bodyPr/>
                    <a:lstStyle/>
                    <a:p>
                      <a:pPr algn="l">
                        <a:defRPr sz="680">
                          <a:solidFill>
                            <a:srgbClr val="1E242B"/>
                          </a:solidFill>
                          <a:latin typeface="Arial"/>
                        </a:defRPr>
                      </a:pPr>
                      <a:r>
                        <a:t>• Trên dòng máy Athena (sản lượng 1.000 máy/tháng), mỗi máy gắn 1 Raspberry Pi cấp nguồn bằng Pin sạc dự phòng đi theo xe đẩy AGV; thực tế bị chai pin và rớt mạng Wi-Fi 2~3 lần/tuần.</a:t>
                      </a:r>
                      <a:br/>
                      <a:r>
                        <a:t>• Không phù hợp với sản lượng lớn của IrisEXP tại VN (16.000 máy/tháng, 300 máy/ngày).</a:t>
                      </a:r>
                    </a:p>
                  </a:txBody>
                  <a:tcPr anchor="ctr" marL="36576" marR="36576" marT="9144" marB="9144">
                    <a:solidFill>
                      <a:srgbClr val="FEF7E6"/>
                    </a:solidFill>
                  </a:tcPr>
                </a:tc>
                <a:tc>
                  <a:txBody>
                    <a:bodyPr/>
                    <a:lstStyle/>
                    <a:p>
                      <a:pPr algn="l">
                        <a:defRPr sz="680">
                          <a:solidFill>
                            <a:srgbClr val="1E242B"/>
                          </a:solidFill>
                          <a:latin typeface="Arial"/>
                        </a:defRPr>
                      </a:pPr>
                      <a:r>
                        <a:t>• Thống nhất chuyển sang cấu hình Mini PC kiểu Spica (PC＆Spicaシステムに仮決定): cấp nguồn điện AC cố định, dùng mạng dây LAN/VLAN ổn định.</a:t>
                      </a:r>
                      <a:br/>
                      <a:r>
                        <a:t>• 1 bộ Mini PC (~40.000 JPY) điều khiển đồng thời 4 máy trong 1 Cell kiểm tra.</a:t>
                      </a:r>
                    </a:p>
                  </a:txBody>
                  <a:tcPr anchor="ctr" marL="36576" marR="36576" marT="9144" marB="9144">
                    <a:solidFill>
                      <a:srgbClr val="FEF7E6"/>
                    </a:solidFill>
                  </a:tcPr>
                </a:tc>
                <a:tc>
                  <a:txBody>
                    <a:bodyPr/>
                    <a:lstStyle/>
                    <a:p>
                      <a:pPr algn="l">
                        <a:defRPr sz="680">
                          <a:solidFill>
                            <a:srgbClr val="1E242B"/>
                          </a:solidFill>
                          <a:latin typeface="Arial"/>
                        </a:defRPr>
                      </a:pPr>
                      <a:r>
                        <a:t>AthenaとSpicaの比較.xlsx;</a:t>
                      </a:r>
                      <a:br/>
                      <a:r>
                        <a:t>連携会 第8回, 第15回</a:t>
                      </a:r>
                    </a:p>
                  </a:txBody>
                  <a:tcPr anchor="ctr" marL="36576" marR="36576" marT="9144" marB="9144">
                    <a:solidFill>
                      <a:srgbClr val="FEF7E6"/>
                    </a:solidFill>
                  </a:tcPr>
                </a:tc>
              </a:tr>
              <a:tr h="764177">
                <a:tc>
                  <a:txBody>
                    <a:bodyPr/>
                    <a:lstStyle/>
                    <a:p>
                      <a:pPr algn="ctr">
                        <a:defRPr sz="680" b="1">
                          <a:solidFill>
                            <a:srgbClr val="1E242B"/>
                          </a:solidFill>
                          <a:latin typeface="Arial"/>
                        </a:defRPr>
                      </a:pPr>
                      <a:r>
                        <a:t>3</a:t>
                      </a:r>
                    </a:p>
                  </a:txBody>
                  <a:tcPr anchor="ctr" marL="36576" marR="36576" marT="9144" marB="9144">
                    <a:solidFill>
                      <a:srgbClr val="FFFFFF"/>
                    </a:solidFill>
                  </a:tcPr>
                </a:tc>
                <a:tc>
                  <a:txBody>
                    <a:bodyPr/>
                    <a:lstStyle/>
                    <a:p>
                      <a:pPr algn="l">
                        <a:defRPr sz="680">
                          <a:solidFill>
                            <a:srgbClr val="1E242B"/>
                          </a:solidFill>
                          <a:latin typeface="Arial"/>
                        </a:defRPr>
                      </a:pPr>
                      <a:r>
                        <a:t>Độ chính xác quét ảnh:</a:t>
                      </a:r>
                      <a:br/>
                      <a:r>
                        <a:t>Sai lệch khi quét liên tục qua khay DP (No.25) so với mặt kính ISU</a:t>
                      </a:r>
                    </a:p>
                  </a:txBody>
                  <a:tcPr anchor="ctr" marL="36576" marR="36576" marT="9144" marB="9144">
                    <a:solidFill>
                      <a:srgbClr val="FFFFFF"/>
                    </a:solidFill>
                  </a:tcPr>
                </a:tc>
                <a:tc>
                  <a:txBody>
                    <a:bodyPr/>
                    <a:lstStyle/>
                    <a:p>
                      <a:pPr algn="l">
                        <a:defRPr sz="680">
                          <a:solidFill>
                            <a:srgbClr val="1E242B"/>
                          </a:solidFill>
                          <a:latin typeface="Arial"/>
                        </a:defRPr>
                      </a:pPr>
                      <a:r>
                        <a:t>• Khi chuyển từ đặt bản thảo trên mặt kính phẳng ISU sang kéo giấy liên tục qua khay DP (No.25), tốc độ kéo giấy hoặc độ nghiêng giấy qua DP có thể làm sai lệch kết quả chỉnh U411 / SITC-2 / Halftone.</a:t>
                      </a:r>
                    </a:p>
                  </a:txBody>
                  <a:tcPr anchor="ctr" marL="36576" marR="36576" marT="9144" marB="9144">
                    <a:solidFill>
                      <a:srgbClr val="FFFFFF"/>
                    </a:solidFill>
                  </a:tcPr>
                </a:tc>
                <a:tc>
                  <a:txBody>
                    <a:bodyPr/>
                    <a:lstStyle/>
                    <a:p>
                      <a:pPr algn="l">
                        <a:defRPr sz="680">
                          <a:solidFill>
                            <a:srgbClr val="1E242B"/>
                          </a:solidFill>
                          <a:latin typeface="Arial"/>
                        </a:defRPr>
                      </a:pPr>
                      <a:r>
                        <a:t>• Nhóm kỹ thuật 3 cứ điểm đang chạy thực nghiệm đối chiếu dữ liệu quét giữa DP và mặt kính ISU để hiệu chỉnh thuật toán bù hình học trên phần mềm PC.</a:t>
                      </a:r>
                      <a:br/>
                      <a:r>
                        <a:t>• Chỉ áp dụng đại trà khi chứng minh năng lực công đoạn đạt Cpk ≥ 1,33.</a:t>
                      </a:r>
                    </a:p>
                  </a:txBody>
                  <a:tcPr anchor="ctr" marL="36576" marR="36576" marT="9144" marB="9144">
                    <a:solidFill>
                      <a:srgbClr val="FFFFFF"/>
                    </a:solidFill>
                  </a:tcPr>
                </a:tc>
                <a:tc>
                  <a:txBody>
                    <a:bodyPr/>
                    <a:lstStyle/>
                    <a:p>
                      <a:pPr algn="l">
                        <a:defRPr sz="680">
                          <a:solidFill>
                            <a:srgbClr val="1E242B"/>
                          </a:solidFill>
                          <a:latin typeface="Arial"/>
                        </a:defRPr>
                      </a:pPr>
                      <a:r>
                        <a:t>連携会 第13回 (18/9) ~</a:t>
                      </a:r>
                      <a:br/>
                      <a:r>
                        <a:t>第17回 (15/10/2026)</a:t>
                      </a:r>
                    </a:p>
                  </a:txBody>
                  <a:tcPr anchor="ctr" marL="36576" marR="36576" marT="9144" marB="9144">
                    <a:solidFill>
                      <a:srgbClr val="FFFFFF"/>
                    </a:solidFill>
                  </a:tcPr>
                </a:tc>
              </a:tr>
              <a:tr h="764177">
                <a:tc>
                  <a:txBody>
                    <a:bodyPr/>
                    <a:lstStyle/>
                    <a:p>
                      <a:pPr algn="ctr">
                        <a:defRPr sz="680" b="1">
                          <a:solidFill>
                            <a:srgbClr val="1E242B"/>
                          </a:solidFill>
                          <a:latin typeface="Arial"/>
                        </a:defRPr>
                      </a:pPr>
                      <a:r>
                        <a:t>4</a:t>
                      </a:r>
                    </a:p>
                  </a:txBody>
                  <a:tcPr anchor="ctr" marL="36576" marR="36576" marT="9144" marB="9144">
                    <a:solidFill>
                      <a:srgbClr val="EAF7EE"/>
                    </a:solidFill>
                  </a:tcPr>
                </a:tc>
                <a:tc>
                  <a:txBody>
                    <a:bodyPr/>
                    <a:lstStyle/>
                    <a:p>
                      <a:pPr algn="l">
                        <a:defRPr sz="680">
                          <a:solidFill>
                            <a:srgbClr val="1E242B"/>
                          </a:solidFill>
                          <a:latin typeface="Arial"/>
                        </a:defRPr>
                      </a:pPr>
                      <a:r>
                        <a:t>Quy chuẩn an toàn điện tại A-3:</a:t>
                      </a:r>
                      <a:br/>
                      <a:r>
                        <a:t>Bắt buộc đo chịu áp (No.22) khi đã đóng kín toàn bộ nắp vỏ máy</a:t>
                      </a:r>
                    </a:p>
                  </a:txBody>
                  <a:tcPr anchor="ctr" marL="36576" marR="36576" marT="9144" marB="9144">
                    <a:solidFill>
                      <a:srgbClr val="EAF7EE"/>
                    </a:solidFill>
                  </a:tcPr>
                </a:tc>
                <a:tc>
                  <a:txBody>
                    <a:bodyPr/>
                    <a:lstStyle/>
                    <a:p>
                      <a:pPr algn="l">
                        <a:defRPr sz="680">
                          <a:solidFill>
                            <a:srgbClr val="1E242B"/>
                          </a:solidFill>
                          <a:latin typeface="Arial"/>
                        </a:defRPr>
                      </a:pPr>
                      <a:r>
                        <a:t>• Tại DR4, phía Nhật quy định bài đo chịu áp cách điện và thông mạch tiếp địa bắt buộc phải thực hiện khi ĐÃ ĐÓNG KÍN VỎ MÁY để phát hiện lỗi kẹt dập dây điện vào khung sườn.</a:t>
                      </a:r>
                      <a:br/>
                      <a:r>
                        <a:t>• Tuy nhiên tại trạm K3 đang phải mở vỏ kiểm tra FAN và mất 48,32s~90s lắp 6 tấm vỏ.</a:t>
                      </a:r>
                    </a:p>
                  </a:txBody>
                  <a:tcPr anchor="ctr" marL="36576" marR="36576" marT="9144" marB="9144">
                    <a:solidFill>
                      <a:srgbClr val="EAF7EE"/>
                    </a:solidFill>
                  </a:tcPr>
                </a:tc>
                <a:tc>
                  <a:txBody>
                    <a:bodyPr/>
                    <a:lstStyle/>
                    <a:p>
                      <a:pPr algn="l">
                        <a:defRPr sz="680">
                          <a:solidFill>
                            <a:srgbClr val="1E242B"/>
                          </a:solidFill>
                          <a:latin typeface="Arial"/>
                        </a:defRPr>
                      </a:pPr>
                      <a:r>
                        <a:t>• Tách riêng bước kiểm tra tốc độ FAN bằng tín hiệu xung phần mềm.</a:t>
                      </a:r>
                      <a:br/>
                      <a:r>
                        <a:t>• Chuyển nguyên công lắp 6 tấm vỏ ngoài về cuối chuyền Lắp ráp (No.33) để khi máy sang trạm tự động No.22 đã ở trạng thái đóng kín vỏ hoàn chỉnh.</a:t>
                      </a:r>
                    </a:p>
                  </a:txBody>
                  <a:tcPr anchor="ctr" marL="36576" marR="36576" marT="9144" marB="9144">
                    <a:solidFill>
                      <a:srgbClr val="EAF7EE"/>
                    </a:solidFill>
                  </a:tcPr>
                </a:tc>
                <a:tc>
                  <a:txBody>
                    <a:bodyPr/>
                    <a:lstStyle/>
                    <a:p>
                      <a:pPr algn="l">
                        <a:defRPr sz="680">
                          <a:solidFill>
                            <a:srgbClr val="1E242B"/>
                          </a:solidFill>
                          <a:latin typeface="Arial"/>
                        </a:defRPr>
                      </a:pPr>
                      <a:r>
                        <a:t>DR 4.pdf (Slide 6);</a:t>
                      </a:r>
                      <a:br/>
                      <a:r>
                        <a:t>調整工程DR議事録.xlsx</a:t>
                      </a:r>
                    </a:p>
                  </a:txBody>
                  <a:tcPr anchor="ctr" marL="36576" marR="36576" marT="9144" marB="9144">
                    <a:solidFill>
                      <a:srgbClr val="EAF7EE"/>
                    </a:solidFill>
                  </a:tcPr>
                </a:tc>
              </a:tr>
              <a:tr h="764177">
                <a:tc>
                  <a:txBody>
                    <a:bodyPr/>
                    <a:lstStyle/>
                    <a:p>
                      <a:pPr algn="ctr">
                        <a:defRPr sz="680" b="1">
                          <a:solidFill>
                            <a:srgbClr val="1E242B"/>
                          </a:solidFill>
                          <a:latin typeface="Arial"/>
                        </a:defRPr>
                      </a:pPr>
                      <a:r>
                        <a:t>5</a:t>
                      </a:r>
                    </a:p>
                  </a:txBody>
                  <a:tcPr anchor="ctr" marL="36576" marR="36576" marT="9144" marB="9144">
                    <a:solidFill>
                      <a:srgbClr val="FEF7E6"/>
                    </a:solidFill>
                  </a:tcPr>
                </a:tc>
                <a:tc>
                  <a:txBody>
                    <a:bodyPr/>
                    <a:lstStyle/>
                    <a:p>
                      <a:pPr algn="l">
                        <a:defRPr sz="680">
                          <a:solidFill>
                            <a:srgbClr val="1E242B"/>
                          </a:solidFill>
                          <a:latin typeface="Arial"/>
                        </a:defRPr>
                      </a:pPr>
                      <a:r>
                        <a:t>Kiểm soát chất lượng tại VN:</a:t>
                      </a:r>
                      <a:br/>
                      <a:r>
                        <a:t>Lỗi lệch Belt truyền ảnh (1~2 máy/tháng) &amp; Lật lưỡi gạt mực thải</a:t>
                      </a:r>
                    </a:p>
                  </a:txBody>
                  <a:tcPr anchor="ctr" marL="36576" marR="36576" marT="9144" marB="9144">
                    <a:solidFill>
                      <a:srgbClr val="FEF7E6"/>
                    </a:solidFill>
                  </a:tcPr>
                </a:tc>
                <a:tc>
                  <a:txBody>
                    <a:bodyPr/>
                    <a:lstStyle/>
                    <a:p>
                      <a:pPr algn="l">
                        <a:defRPr sz="680">
                          <a:solidFill>
                            <a:srgbClr val="1E242B"/>
                          </a:solidFill>
                          <a:latin typeface="Arial"/>
                        </a:defRPr>
                      </a:pPr>
                      <a:r>
                        <a:t>• Nhà máy CN không bị lỗi lệch Transfer Belt, nhưng tại VN do dung sai linh kiện vẫn phát sinh 1~2 máy NG/tháng (từng có đợt 11 máy lỗi).</a:t>
                      </a:r>
                      <a:br/>
                      <a:r>
                        <a:t>• Ngoài ra, khi đổi cơ cấu làm sạch Belt từ con lăn sang lưỡi gạt (Blade), nếu thiếu mực bôi trơn sẽ gây lật lưỡi gạt (ブレードめくれ).</a:t>
                      </a:r>
                    </a:p>
                  </a:txBody>
                  <a:tcPr anchor="ctr" marL="36576" marR="36576" marT="9144" marB="9144">
                    <a:solidFill>
                      <a:srgbClr val="FEF7E6"/>
                    </a:solidFill>
                  </a:tcPr>
                </a:tc>
                <a:tc>
                  <a:txBody>
                    <a:bodyPr/>
                    <a:lstStyle/>
                    <a:p>
                      <a:pPr algn="l">
                        <a:defRPr sz="680">
                          <a:solidFill>
                            <a:srgbClr val="1E242B"/>
                          </a:solidFill>
                          <a:latin typeface="Arial"/>
                        </a:defRPr>
                      </a:pPr>
                      <a:r>
                        <a:t>• Về lệch Belt (No.37): Thiết kế đã đổi góc vát Puli từ 5° lên 35° và đổi vật liệu Belt; VN tiếp tục giữ bước kiểm tra cho tới khi lô linh kiện mới đạt Cpk ≥ 1,33.</a:t>
                      </a:r>
                      <a:br/>
                      <a:r>
                        <a:t>• Về lưỡi gạt Belt: Bổ sung kiểm soát chu trình cấp mực bôi trơn U930 tại công đoạn điều chỉnh.</a:t>
                      </a:r>
                    </a:p>
                  </a:txBody>
                  <a:tcPr anchor="ctr" marL="36576" marR="36576" marT="9144" marB="9144">
                    <a:solidFill>
                      <a:srgbClr val="FEF7E6"/>
                    </a:solidFill>
                  </a:tcPr>
                </a:tc>
                <a:tc>
                  <a:txBody>
                    <a:bodyPr/>
                    <a:lstStyle/>
                    <a:p>
                      <a:pPr algn="l">
                        <a:defRPr sz="680">
                          <a:solidFill>
                            <a:srgbClr val="1E242B"/>
                          </a:solidFill>
                          <a:latin typeface="Arial"/>
                        </a:defRPr>
                      </a:pPr>
                      <a:r>
                        <a:t>調整工程DR議事録.xlsx;</a:t>
                      </a:r>
                      <a:br/>
                      <a:r>
                        <a:t>連携会 第17回</a:t>
                      </a:r>
                    </a:p>
                  </a:txBody>
                  <a:tcPr anchor="ctr" marL="36576" marR="36576" marT="9144" marB="9144">
                    <a:solidFill>
                      <a:srgbClr val="FEF7E6"/>
                    </a:solidFill>
                  </a:tcPr>
                </a:tc>
              </a:tr>
              <a:tr h="764178">
                <a:tc>
                  <a:txBody>
                    <a:bodyPr/>
                    <a:lstStyle/>
                    <a:p>
                      <a:pPr algn="ctr">
                        <a:defRPr sz="680" b="1">
                          <a:solidFill>
                            <a:srgbClr val="1E242B"/>
                          </a:solidFill>
                          <a:latin typeface="Arial"/>
                        </a:defRPr>
                      </a:pPr>
                      <a:r>
                        <a:t>6</a:t>
                      </a:r>
                    </a:p>
                  </a:txBody>
                  <a:tcPr anchor="ctr" marL="36576" marR="36576" marT="9144" marB="9144">
                    <a:solidFill>
                      <a:srgbClr val="F7F9FC"/>
                    </a:solidFill>
                  </a:tcPr>
                </a:tc>
                <a:tc>
                  <a:txBody>
                    <a:bodyPr/>
                    <a:lstStyle/>
                    <a:p>
                      <a:pPr algn="l">
                        <a:defRPr sz="680">
                          <a:solidFill>
                            <a:srgbClr val="1E242B"/>
                          </a:solidFill>
                          <a:latin typeface="Arial"/>
                        </a:defRPr>
                      </a:pPr>
                      <a:r>
                        <a:t>Phát sinh bước mới trên IrisEXP:</a:t>
                      </a:r>
                      <a:br/>
                      <a:r>
                        <a:t>Điều chỉnh bước tia quét chính U413 (+89s Color / +51,72s Mono)</a:t>
                      </a:r>
                    </a:p>
                  </a:txBody>
                  <a:tcPr anchor="ctr" marL="36576" marR="36576" marT="9144" marB="9144">
                    <a:solidFill>
                      <a:srgbClr val="F7F9FC"/>
                    </a:solidFill>
                  </a:tcPr>
                </a:tc>
                <a:tc>
                  <a:txBody>
                    <a:bodyPr/>
                    <a:lstStyle/>
                    <a:p>
                      <a:pPr algn="l">
                        <a:defRPr sz="680">
                          <a:solidFill>
                            <a:srgbClr val="1E242B"/>
                          </a:solidFill>
                          <a:latin typeface="Arial"/>
                        </a:defRPr>
                      </a:pPr>
                      <a:r>
                        <a:t>• Để nâng cao chất lượng hình ảnh trên IrisEXP, thiết kế bổ sung hạng mục Điều chỉnh bước tia quét chính (主走査ビームピッチ補正 U413) làm tăng thêm 89s (Color) / 51,72s (Mono) nếu thao tác thủ công.</a:t>
                      </a:r>
                    </a:p>
                  </a:txBody>
                  <a:tcPr anchor="ctr" marL="36576" marR="36576" marT="9144" marB="9144">
                    <a:solidFill>
                      <a:srgbClr val="F7F9FC"/>
                    </a:solidFill>
                  </a:tcPr>
                </a:tc>
                <a:tc>
                  <a:txBody>
                    <a:bodyPr/>
                    <a:lstStyle/>
                    <a:p>
                      <a:pPr algn="l">
                        <a:defRPr sz="680">
                          <a:solidFill>
                            <a:srgbClr val="1E242B"/>
                          </a:solidFill>
                          <a:latin typeface="Arial"/>
                        </a:defRPr>
                      </a:pPr>
                      <a:r>
                        <a:t>• Đang xem xét phương án đầu tư phần mềm tự động nạp dữ liệu LSU để bỏ thao tác chỉnh U413 trên chuyền (chi phí khoảng 225~250 vạn JPY), hoặc tích hợp tự động hóa hoàn toàn trong chu trình in kiểm tra tại trạm A-2.</a:t>
                      </a:r>
                    </a:p>
                  </a:txBody>
                  <a:tcPr anchor="ctr" marL="36576" marR="36576" marT="9144" marB="9144">
                    <a:solidFill>
                      <a:srgbClr val="F7F9FC"/>
                    </a:solidFill>
                  </a:tcPr>
                </a:tc>
                <a:tc>
                  <a:txBody>
                    <a:bodyPr/>
                    <a:lstStyle/>
                    <a:p>
                      <a:pPr algn="l">
                        <a:defRPr sz="680">
                          <a:solidFill>
                            <a:srgbClr val="1E242B"/>
                          </a:solidFill>
                          <a:latin typeface="Arial"/>
                        </a:defRPr>
                      </a:pPr>
                      <a:r>
                        <a:t>主走査ビームピッチ補正.pptx;</a:t>
                      </a:r>
                      <a:br/>
                      <a:r>
                        <a:t>IrisEXP 工程 3.xlsx</a:t>
                      </a:r>
                    </a:p>
                  </a:txBody>
                  <a:tcPr anchor="ctr" marL="36576" marR="36576" marT="9144" marB="9144">
                    <a:solidFill>
                      <a:srgbClr val="F7F9FC"/>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Arial"/>
              </a:defRPr>
            </a:pPr>
            <a:r>
              <a:t>PHẦN THAM KHẢO (4/4)</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Bảng tra cứu đầy đủ 38 đề án cải tiến của 3 cứ điểm (No.1 ~ No.38)</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15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000" b="1">
                <a:solidFill>
                  <a:srgbClr val="0F203C"/>
                </a:solidFill>
                <a:latin typeface="Arial"/>
              </a:defRPr>
            </a:pPr>
            <a:r>
              <a:t>■ Danh mục toàn bộ 38 đề án (Nhật Bản: No.1~7 | Trung Quốc: No.8~17, No.38 | Việt Nam: No.18~37) trích xuất nguyên bản từ tài liệu tổng hợp chung (IrisEXP改善提案まとめ.xlsx).</a:t>
            </a:r>
          </a:p>
        </p:txBody>
      </p:sp>
      <p:graphicFrame>
        <p:nvGraphicFramePr>
          <p:cNvPr id="7" name="Table 6"/>
          <p:cNvGraphicFramePr>
            <a:graphicFrameLocks noGrp="1"/>
          </p:cNvGraphicFramePr>
          <p:nvPr/>
        </p:nvGraphicFramePr>
        <p:xfrm>
          <a:off x="256032" y="1152144"/>
          <a:ext cx="5760720" cy="5440680"/>
        </p:xfrm>
        <a:graphic>
          <a:graphicData uri="http://schemas.openxmlformats.org/drawingml/2006/table">
            <a:tbl>
              <a:tblPr firstRow="1" bandRow="1">
                <a:tableStyleId>{5C22544A-7EE6-4342-B048-85BDC9FD1C3A}</a:tableStyleId>
              </a:tblPr>
              <a:tblGrid>
                <a:gridCol w="475488"/>
                <a:gridCol w="713232"/>
                <a:gridCol w="3337560"/>
                <a:gridCol w="1234440"/>
              </a:tblGrid>
              <a:tr h="272034">
                <a:tc>
                  <a:txBody>
                    <a:bodyPr/>
                    <a:lstStyle/>
                    <a:p>
                      <a:pPr algn="ctr">
                        <a:defRPr sz="640" b="1">
                          <a:solidFill>
                            <a:srgbClr val="FFFFFF"/>
                          </a:solidFill>
                          <a:latin typeface="Arial"/>
                        </a:defRPr>
                      </a:pPr>
                      <a:r>
                        <a:t>No.</a:t>
                      </a:r>
                    </a:p>
                  </a:txBody>
                  <a:tcPr anchor="ctr" marL="36576" marR="36576" marT="9144" marB="9144">
                    <a:solidFill>
                      <a:srgbClr val="1B365D"/>
                    </a:solidFill>
                  </a:tcPr>
                </a:tc>
                <a:tc>
                  <a:txBody>
                    <a:bodyPr/>
                    <a:lstStyle/>
                    <a:p>
                      <a:pPr algn="ctr">
                        <a:defRPr sz="640" b="1">
                          <a:solidFill>
                            <a:srgbClr val="FFFFFF"/>
                          </a:solidFill>
                          <a:latin typeface="Arial"/>
                        </a:defRPr>
                      </a:pPr>
                      <a:r>
                        <a:t>Cứ điểm</a:t>
                      </a:r>
                    </a:p>
                  </a:txBody>
                  <a:tcPr anchor="ctr" marL="36576" marR="36576" marT="9144" marB="9144">
                    <a:solidFill>
                      <a:srgbClr val="1B365D"/>
                    </a:solidFill>
                  </a:tcPr>
                </a:tc>
                <a:tc>
                  <a:txBody>
                    <a:bodyPr/>
                    <a:lstStyle/>
                    <a:p>
                      <a:pPr algn="ctr">
                        <a:defRPr sz="640" b="1">
                          <a:solidFill>
                            <a:srgbClr val="FFFFFF"/>
                          </a:solidFill>
                          <a:latin typeface="Arial"/>
                        </a:defRPr>
                      </a:pPr>
                      <a:r>
                        <a:t>Nội dung đề án cải tiến (No.1 ~ No.19)</a:t>
                      </a:r>
                    </a:p>
                  </a:txBody>
                  <a:tcPr anchor="ctr" marL="36576" marR="36576" marT="9144" marB="9144">
                    <a:solidFill>
                      <a:srgbClr val="1B365D"/>
                    </a:solidFill>
                  </a:tcPr>
                </a:tc>
                <a:tc>
                  <a:txBody>
                    <a:bodyPr/>
                    <a:lstStyle/>
                    <a:p>
                      <a:pPr algn="ctr">
                        <a:defRPr sz="640" b="1">
                          <a:solidFill>
                            <a:srgbClr val="FFFFFF"/>
                          </a:solidFill>
                          <a:latin typeface="Arial"/>
                        </a:defRPr>
                      </a:pPr>
                      <a:r>
                        <a:t>Trạng thái chốt</a:t>
                      </a:r>
                    </a:p>
                  </a:txBody>
                  <a:tcPr anchor="ctr" marL="36576" marR="36576" marT="9144" marB="9144">
                    <a:solidFill>
                      <a:srgbClr val="1B365D"/>
                    </a:solidFill>
                  </a:tcPr>
                </a:tc>
              </a:tr>
              <a:tr h="272034">
                <a:tc>
                  <a:txBody>
                    <a:bodyPr/>
                    <a:lstStyle/>
                    <a:p>
                      <a:pPr algn="ctr">
                        <a:defRPr sz="550" b="1">
                          <a:solidFill>
                            <a:srgbClr val="1E242B"/>
                          </a:solidFill>
                          <a:latin typeface="Arial"/>
                        </a:defRPr>
                      </a:pPr>
                      <a:r>
                        <a:t>1</a:t>
                      </a:r>
                    </a:p>
                  </a:txBody>
                  <a:tcPr anchor="ctr" marL="36576" marR="36576" marT="9144" marB="9144">
                    <a:solidFill>
                      <a:srgbClr val="E8EEF5"/>
                    </a:solidFill>
                  </a:tcPr>
                </a:tc>
                <a:tc>
                  <a:txBody>
                    <a:bodyPr/>
                    <a:lstStyle/>
                    <a:p>
                      <a:pPr algn="ctr">
                        <a:defRPr sz="550">
                          <a:solidFill>
                            <a:srgbClr val="1E242B"/>
                          </a:solidFill>
                          <a:latin typeface="Arial"/>
                        </a:defRPr>
                      </a:pPr>
                      <a:r>
                        <a:t>Nhật Bản</a:t>
                      </a:r>
                    </a:p>
                  </a:txBody>
                  <a:tcPr anchor="ctr" marL="36576" marR="36576" marT="9144" marB="9144">
                    <a:solidFill>
                      <a:srgbClr val="E8EEF5"/>
                    </a:solidFill>
                  </a:tcPr>
                </a:tc>
                <a:tc>
                  <a:txBody>
                    <a:bodyPr/>
                    <a:lstStyle/>
                    <a:p>
                      <a:pPr algn="l">
                        <a:defRPr sz="550">
                          <a:solidFill>
                            <a:srgbClr val="1E242B"/>
                          </a:solidFill>
                          <a:latin typeface="Arial"/>
                        </a:defRPr>
                      </a:pPr>
                      <a:r>
                        <a:t>Thiết kế chuyền lấy A-1 làm trọng tâm (4 người, Takt 97s, mục tiêu 18-&gt;9 người)</a:t>
                      </a:r>
                    </a:p>
                  </a:txBody>
                  <a:tcPr anchor="ctr" marL="36576" marR="36576" marT="9144" marB="9144">
                    <a:solidFill>
                      <a:srgbClr val="E8EEF5"/>
                    </a:solidFill>
                  </a:tcPr>
                </a:tc>
                <a:tc>
                  <a:txBody>
                    <a:bodyPr/>
                    <a:lstStyle/>
                    <a:p>
                      <a:pPr algn="l">
                        <a:defRPr sz="550">
                          <a:solidFill>
                            <a:srgbClr val="1E242B"/>
                          </a:solidFill>
                          <a:latin typeface="Arial"/>
                        </a:defRPr>
                      </a:pPr>
                      <a:r>
                        <a:t>Triển khai ngay</a:t>
                      </a:r>
                    </a:p>
                  </a:txBody>
                  <a:tcPr anchor="ctr" marL="36576" marR="36576" marT="9144" marB="9144">
                    <a:solidFill>
                      <a:srgbClr val="E8EEF5"/>
                    </a:solidFill>
                  </a:tcPr>
                </a:tc>
              </a:tr>
              <a:tr h="272034">
                <a:tc>
                  <a:txBody>
                    <a:bodyPr/>
                    <a:lstStyle/>
                    <a:p>
                      <a:pPr algn="ctr">
                        <a:defRPr sz="550" b="1">
                          <a:solidFill>
                            <a:srgbClr val="1E242B"/>
                          </a:solidFill>
                          <a:latin typeface="Arial"/>
                        </a:defRPr>
                      </a:pPr>
                      <a:r>
                        <a:t>2</a:t>
                      </a:r>
                    </a:p>
                  </a:txBody>
                  <a:tcPr anchor="ctr" marL="36576" marR="36576" marT="9144" marB="9144">
                    <a:solidFill>
                      <a:srgbClr val="E8EEF5"/>
                    </a:solidFill>
                  </a:tcPr>
                </a:tc>
                <a:tc>
                  <a:txBody>
                    <a:bodyPr/>
                    <a:lstStyle/>
                    <a:p>
                      <a:pPr algn="ctr">
                        <a:defRPr sz="550">
                          <a:solidFill>
                            <a:srgbClr val="1E242B"/>
                          </a:solidFill>
                          <a:latin typeface="Arial"/>
                        </a:defRPr>
                      </a:pPr>
                      <a:r>
                        <a:t>Nhật Bản</a:t>
                      </a:r>
                    </a:p>
                  </a:txBody>
                  <a:tcPr anchor="ctr" marL="36576" marR="36576" marT="9144" marB="9144">
                    <a:solidFill>
                      <a:srgbClr val="E8EEF5"/>
                    </a:solidFill>
                  </a:tcPr>
                </a:tc>
                <a:tc>
                  <a:txBody>
                    <a:bodyPr/>
                    <a:lstStyle/>
                    <a:p>
                      <a:pPr algn="l">
                        <a:defRPr sz="550">
                          <a:solidFill>
                            <a:srgbClr val="1E242B"/>
                          </a:solidFill>
                          <a:latin typeface="Arial"/>
                        </a:defRPr>
                      </a:pPr>
                      <a:r>
                        <a:t>Bỏ bước cài đặt ngưỡng hộp mực thải (WTB - mã U155) tại điều chỉnh (-29,16s)</a:t>
                      </a:r>
                    </a:p>
                  </a:txBody>
                  <a:tcPr anchor="ctr" marL="36576" marR="36576" marT="9144" marB="9144">
                    <a:solidFill>
                      <a:srgbClr val="E8EEF5"/>
                    </a:solidFill>
                  </a:tcPr>
                </a:tc>
                <a:tc>
                  <a:txBody>
                    <a:bodyPr/>
                    <a:lstStyle/>
                    <a:p>
                      <a:pPr algn="l">
                        <a:defRPr sz="550">
                          <a:solidFill>
                            <a:srgbClr val="1E242B"/>
                          </a:solidFill>
                          <a:latin typeface="Arial"/>
                        </a:defRPr>
                      </a:pPr>
                      <a:r>
                        <a:t>Triển khai ngay</a:t>
                      </a:r>
                    </a:p>
                  </a:txBody>
                  <a:tcPr anchor="ctr" marL="36576" marR="36576" marT="9144" marB="9144">
                    <a:solidFill>
                      <a:srgbClr val="E8EEF5"/>
                    </a:solidFill>
                  </a:tcPr>
                </a:tc>
              </a:tr>
              <a:tr h="272034">
                <a:tc>
                  <a:txBody>
                    <a:bodyPr/>
                    <a:lstStyle/>
                    <a:p>
                      <a:pPr algn="ctr">
                        <a:defRPr sz="550" b="1">
                          <a:solidFill>
                            <a:srgbClr val="1E242B"/>
                          </a:solidFill>
                          <a:latin typeface="Arial"/>
                        </a:defRPr>
                      </a:pPr>
                      <a:r>
                        <a:t>3</a:t>
                      </a:r>
                    </a:p>
                  </a:txBody>
                  <a:tcPr anchor="ctr" marL="36576" marR="36576" marT="9144" marB="9144">
                    <a:solidFill>
                      <a:srgbClr val="E8EEF5"/>
                    </a:solidFill>
                  </a:tcPr>
                </a:tc>
                <a:tc>
                  <a:txBody>
                    <a:bodyPr/>
                    <a:lstStyle/>
                    <a:p>
                      <a:pPr algn="ctr">
                        <a:defRPr sz="550">
                          <a:solidFill>
                            <a:srgbClr val="1E242B"/>
                          </a:solidFill>
                          <a:latin typeface="Arial"/>
                        </a:defRPr>
                      </a:pPr>
                      <a:r>
                        <a:t>Nhật Bản</a:t>
                      </a:r>
                    </a:p>
                  </a:txBody>
                  <a:tcPr anchor="ctr" marL="36576" marR="36576" marT="9144" marB="9144">
                    <a:solidFill>
                      <a:srgbClr val="E8EEF5"/>
                    </a:solidFill>
                  </a:tcPr>
                </a:tc>
                <a:tc>
                  <a:txBody>
                    <a:bodyPr/>
                    <a:lstStyle/>
                    <a:p>
                      <a:pPr algn="l">
                        <a:defRPr sz="550">
                          <a:solidFill>
                            <a:srgbClr val="1E242B"/>
                          </a:solidFill>
                          <a:latin typeface="Arial"/>
                        </a:defRPr>
                      </a:pPr>
                      <a:r>
                        <a:t>Bỏ kiểm tra lại Panel U201 bằng tay, chuyển sang đọc log Host PC (-15,12s)</a:t>
                      </a:r>
                    </a:p>
                  </a:txBody>
                  <a:tcPr anchor="ctr" marL="36576" marR="36576" marT="9144" marB="9144">
                    <a:solidFill>
                      <a:srgbClr val="E8EEF5"/>
                    </a:solidFill>
                  </a:tcPr>
                </a:tc>
                <a:tc>
                  <a:txBody>
                    <a:bodyPr/>
                    <a:lstStyle/>
                    <a:p>
                      <a:pPr algn="l">
                        <a:defRPr sz="550">
                          <a:solidFill>
                            <a:srgbClr val="1E242B"/>
                          </a:solidFill>
                          <a:latin typeface="Arial"/>
                        </a:defRPr>
                      </a:pPr>
                      <a:r>
                        <a:t>Triển khai ngay</a:t>
                      </a:r>
                    </a:p>
                  </a:txBody>
                  <a:tcPr anchor="ctr" marL="36576" marR="36576" marT="9144" marB="9144">
                    <a:solidFill>
                      <a:srgbClr val="E8EEF5"/>
                    </a:solidFill>
                  </a:tcPr>
                </a:tc>
              </a:tr>
              <a:tr h="272034">
                <a:tc>
                  <a:txBody>
                    <a:bodyPr/>
                    <a:lstStyle/>
                    <a:p>
                      <a:pPr algn="ctr">
                        <a:defRPr sz="550" b="1">
                          <a:solidFill>
                            <a:srgbClr val="1E242B"/>
                          </a:solidFill>
                          <a:latin typeface="Arial"/>
                        </a:defRPr>
                      </a:pPr>
                      <a:r>
                        <a:t>4</a:t>
                      </a:r>
                    </a:p>
                  </a:txBody>
                  <a:tcPr anchor="ctr" marL="36576" marR="36576" marT="9144" marB="9144">
                    <a:solidFill>
                      <a:srgbClr val="E8EEF5"/>
                    </a:solidFill>
                  </a:tcPr>
                </a:tc>
                <a:tc>
                  <a:txBody>
                    <a:bodyPr/>
                    <a:lstStyle/>
                    <a:p>
                      <a:pPr algn="ctr">
                        <a:defRPr sz="550">
                          <a:solidFill>
                            <a:srgbClr val="1E242B"/>
                          </a:solidFill>
                          <a:latin typeface="Arial"/>
                        </a:defRPr>
                      </a:pPr>
                      <a:r>
                        <a:t>Nhật Bản</a:t>
                      </a:r>
                    </a:p>
                  </a:txBody>
                  <a:tcPr anchor="ctr" marL="36576" marR="36576" marT="9144" marB="9144">
                    <a:solidFill>
                      <a:srgbClr val="E8EEF5"/>
                    </a:solidFill>
                  </a:tcPr>
                </a:tc>
                <a:tc>
                  <a:txBody>
                    <a:bodyPr/>
                    <a:lstStyle/>
                    <a:p>
                      <a:pPr algn="l">
                        <a:defRPr sz="550">
                          <a:solidFill>
                            <a:srgbClr val="1E242B"/>
                          </a:solidFill>
                          <a:latin typeface="Arial"/>
                        </a:defRPr>
                      </a:pPr>
                      <a:r>
                        <a:t>Chuyển kiểm tra khay giấy 1 &amp; 2 từ nhìn mắt thường sang lệnh tự động (-66,68s)</a:t>
                      </a:r>
                    </a:p>
                  </a:txBody>
                  <a:tcPr anchor="ctr" marL="36576" marR="36576" marT="9144" marB="9144">
                    <a:solidFill>
                      <a:srgbClr val="E8EEF5"/>
                    </a:solidFill>
                  </a:tcPr>
                </a:tc>
                <a:tc>
                  <a:txBody>
                    <a:bodyPr/>
                    <a:lstStyle/>
                    <a:p>
                      <a:pPr algn="l">
                        <a:defRPr sz="550">
                          <a:solidFill>
                            <a:srgbClr val="1E242B"/>
                          </a:solidFill>
                          <a:latin typeface="Arial"/>
                        </a:defRPr>
                      </a:pPr>
                      <a:r>
                        <a:t>Triển khai ngay</a:t>
                      </a:r>
                    </a:p>
                  </a:txBody>
                  <a:tcPr anchor="ctr" marL="36576" marR="36576" marT="9144" marB="9144">
                    <a:solidFill>
                      <a:srgbClr val="E8EEF5"/>
                    </a:solidFill>
                  </a:tcPr>
                </a:tc>
              </a:tr>
              <a:tr h="272034">
                <a:tc>
                  <a:txBody>
                    <a:bodyPr/>
                    <a:lstStyle/>
                    <a:p>
                      <a:pPr algn="ctr">
                        <a:defRPr sz="550" b="1">
                          <a:solidFill>
                            <a:srgbClr val="1E242B"/>
                          </a:solidFill>
                          <a:latin typeface="Arial"/>
                        </a:defRPr>
                      </a:pPr>
                      <a:r>
                        <a:t>5</a:t>
                      </a:r>
                    </a:p>
                  </a:txBody>
                  <a:tcPr anchor="ctr" marL="36576" marR="36576" marT="9144" marB="9144">
                    <a:solidFill>
                      <a:srgbClr val="FFFFFF"/>
                    </a:solidFill>
                  </a:tcPr>
                </a:tc>
                <a:tc>
                  <a:txBody>
                    <a:bodyPr/>
                    <a:lstStyle/>
                    <a:p>
                      <a:pPr algn="ctr">
                        <a:defRPr sz="550">
                          <a:solidFill>
                            <a:srgbClr val="1E242B"/>
                          </a:solidFill>
                          <a:latin typeface="Arial"/>
                        </a:defRPr>
                      </a:pPr>
                      <a:r>
                        <a:t>Nhật Bản</a:t>
                      </a:r>
                    </a:p>
                  </a:txBody>
                  <a:tcPr anchor="ctr" marL="36576" marR="36576" marT="9144" marB="9144">
                    <a:solidFill>
                      <a:srgbClr val="FFFFFF"/>
                    </a:solidFill>
                  </a:tcPr>
                </a:tc>
                <a:tc>
                  <a:txBody>
                    <a:bodyPr/>
                    <a:lstStyle/>
                    <a:p>
                      <a:pPr algn="l">
                        <a:defRPr sz="550">
                          <a:solidFill>
                            <a:srgbClr val="1E242B"/>
                          </a:solidFill>
                          <a:latin typeface="Arial"/>
                        </a:defRPr>
                      </a:pPr>
                      <a:r>
                        <a:t>Thay đổi phương pháp kiểm tra cảm biến nhận diện người (Human sensor)</a:t>
                      </a:r>
                    </a:p>
                  </a:txBody>
                  <a:tcPr anchor="ctr" marL="36576" marR="36576" marT="9144" marB="9144">
                    <a:solidFill>
                      <a:srgbClr val="FFFFFF"/>
                    </a:solidFill>
                  </a:tcPr>
                </a:tc>
                <a:tc>
                  <a:txBody>
                    <a:bodyPr/>
                    <a:lstStyle/>
                    <a:p>
                      <a:pPr algn="l">
                        <a:defRPr sz="550">
                          <a:solidFill>
                            <a:srgbClr val="1E242B"/>
                          </a:solidFill>
                          <a:latin typeface="Arial"/>
                        </a:defRPr>
                      </a:pPr>
                      <a:r>
                        <a:t>Chờ tài liệu JP</a:t>
                      </a:r>
                    </a:p>
                  </a:txBody>
                  <a:tcPr anchor="ctr" marL="36576" marR="36576" marT="9144" marB="9144">
                    <a:solidFill>
                      <a:srgbClr val="FFFFFF"/>
                    </a:solidFill>
                  </a:tcPr>
                </a:tc>
              </a:tr>
              <a:tr h="272034">
                <a:tc>
                  <a:txBody>
                    <a:bodyPr/>
                    <a:lstStyle/>
                    <a:p>
                      <a:pPr algn="ctr">
                        <a:defRPr sz="550" b="1">
                          <a:solidFill>
                            <a:srgbClr val="1E242B"/>
                          </a:solidFill>
                          <a:latin typeface="Arial"/>
                        </a:defRPr>
                      </a:pPr>
                      <a:r>
                        <a:t>6</a:t>
                      </a:r>
                    </a:p>
                  </a:txBody>
                  <a:tcPr anchor="ctr" marL="36576" marR="36576" marT="9144" marB="9144">
                    <a:solidFill>
                      <a:srgbClr val="E8EEF5"/>
                    </a:solidFill>
                  </a:tcPr>
                </a:tc>
                <a:tc>
                  <a:txBody>
                    <a:bodyPr/>
                    <a:lstStyle/>
                    <a:p>
                      <a:pPr algn="ctr">
                        <a:defRPr sz="550">
                          <a:solidFill>
                            <a:srgbClr val="1E242B"/>
                          </a:solidFill>
                          <a:latin typeface="Arial"/>
                        </a:defRPr>
                      </a:pPr>
                      <a:r>
                        <a:t>Nhật Bản</a:t>
                      </a:r>
                    </a:p>
                  </a:txBody>
                  <a:tcPr anchor="ctr" marL="36576" marR="36576" marT="9144" marB="9144">
                    <a:solidFill>
                      <a:srgbClr val="E8EEF5"/>
                    </a:solidFill>
                  </a:tcPr>
                </a:tc>
                <a:tc>
                  <a:txBody>
                    <a:bodyPr/>
                    <a:lstStyle/>
                    <a:p>
                      <a:pPr algn="l">
                        <a:defRPr sz="550">
                          <a:solidFill>
                            <a:srgbClr val="1E242B"/>
                          </a:solidFill>
                          <a:latin typeface="Arial"/>
                        </a:defRPr>
                      </a:pPr>
                      <a:r>
                        <a:t>Bỏ bước kiểm tra nhận diện cổng USB riêng biệt (bảo chứng khi nạp FW)</a:t>
                      </a:r>
                    </a:p>
                  </a:txBody>
                  <a:tcPr anchor="ctr" marL="36576" marR="36576" marT="9144" marB="9144">
                    <a:solidFill>
                      <a:srgbClr val="E8EEF5"/>
                    </a:solidFill>
                  </a:tcPr>
                </a:tc>
                <a:tc>
                  <a:txBody>
                    <a:bodyPr/>
                    <a:lstStyle/>
                    <a:p>
                      <a:pPr algn="l">
                        <a:defRPr sz="550">
                          <a:solidFill>
                            <a:srgbClr val="1E242B"/>
                          </a:solidFill>
                          <a:latin typeface="Arial"/>
                        </a:defRPr>
                      </a:pPr>
                      <a:r>
                        <a:t>Triển khai ngay</a:t>
                      </a:r>
                    </a:p>
                  </a:txBody>
                  <a:tcPr anchor="ctr" marL="36576" marR="36576" marT="9144" marB="9144">
                    <a:solidFill>
                      <a:srgbClr val="E8EEF5"/>
                    </a:solidFill>
                  </a:tcPr>
                </a:tc>
              </a:tr>
              <a:tr h="272034">
                <a:tc>
                  <a:txBody>
                    <a:bodyPr/>
                    <a:lstStyle/>
                    <a:p>
                      <a:pPr algn="ctr">
                        <a:defRPr sz="550" b="1">
                          <a:solidFill>
                            <a:srgbClr val="1E242B"/>
                          </a:solidFill>
                          <a:latin typeface="Arial"/>
                        </a:defRPr>
                      </a:pPr>
                      <a:r>
                        <a:t>7</a:t>
                      </a:r>
                    </a:p>
                  </a:txBody>
                  <a:tcPr anchor="ctr" marL="36576" marR="36576" marT="9144" marB="9144">
                    <a:solidFill>
                      <a:srgbClr val="E8EEF5"/>
                    </a:solidFill>
                  </a:tcPr>
                </a:tc>
                <a:tc>
                  <a:txBody>
                    <a:bodyPr/>
                    <a:lstStyle/>
                    <a:p>
                      <a:pPr algn="ctr">
                        <a:defRPr sz="550">
                          <a:solidFill>
                            <a:srgbClr val="1E242B"/>
                          </a:solidFill>
                          <a:latin typeface="Arial"/>
                        </a:defRPr>
                      </a:pPr>
                      <a:r>
                        <a:t>Nhật Bản</a:t>
                      </a:r>
                    </a:p>
                  </a:txBody>
                  <a:tcPr anchor="ctr" marL="36576" marR="36576" marT="9144" marB="9144">
                    <a:solidFill>
                      <a:srgbClr val="E8EEF5"/>
                    </a:solidFill>
                  </a:tcPr>
                </a:tc>
                <a:tc>
                  <a:txBody>
                    <a:bodyPr/>
                    <a:lstStyle/>
                    <a:p>
                      <a:pPr algn="l">
                        <a:defRPr sz="550">
                          <a:solidFill>
                            <a:srgbClr val="1E242B"/>
                          </a:solidFill>
                          <a:latin typeface="Arial"/>
                        </a:defRPr>
                      </a:pPr>
                      <a:r>
                        <a:t>Tự động nhận diện công tắc cửa nắp máy; đo an toàn điện khi đóng kín nắp</a:t>
                      </a:r>
                    </a:p>
                  </a:txBody>
                  <a:tcPr anchor="ctr" marL="36576" marR="36576" marT="9144" marB="9144">
                    <a:solidFill>
                      <a:srgbClr val="E8EEF5"/>
                    </a:solidFill>
                  </a:tcPr>
                </a:tc>
                <a:tc>
                  <a:txBody>
                    <a:bodyPr/>
                    <a:lstStyle/>
                    <a:p>
                      <a:pPr algn="l">
                        <a:defRPr sz="550">
                          <a:solidFill>
                            <a:srgbClr val="1E242B"/>
                          </a:solidFill>
                          <a:latin typeface="Arial"/>
                        </a:defRPr>
                      </a:pPr>
                      <a:r>
                        <a:t>Triển khai ngay</a:t>
                      </a:r>
                    </a:p>
                  </a:txBody>
                  <a:tcPr anchor="ctr" marL="36576" marR="36576" marT="9144" marB="9144">
                    <a:solidFill>
                      <a:srgbClr val="E8EEF5"/>
                    </a:solidFill>
                  </a:tcPr>
                </a:tc>
              </a:tr>
              <a:tr h="272034">
                <a:tc>
                  <a:txBody>
                    <a:bodyPr/>
                    <a:lstStyle/>
                    <a:p>
                      <a:pPr algn="ctr">
                        <a:defRPr sz="550" b="1">
                          <a:solidFill>
                            <a:srgbClr val="1E242B"/>
                          </a:solidFill>
                          <a:latin typeface="Arial"/>
                        </a:defRPr>
                      </a:pPr>
                      <a:r>
                        <a:t>8</a:t>
                      </a:r>
                    </a:p>
                  </a:txBody>
                  <a:tcPr anchor="ctr" marL="36576" marR="36576" marT="9144" marB="9144">
                    <a:solidFill>
                      <a:srgbClr val="F7F9FC"/>
                    </a:solidFill>
                  </a:tcPr>
                </a:tc>
                <a:tc>
                  <a:txBody>
                    <a:bodyPr/>
                    <a:lstStyle/>
                    <a:p>
                      <a:pPr algn="ctr">
                        <a:defRPr sz="550">
                          <a:solidFill>
                            <a:srgbClr val="1E242B"/>
                          </a:solidFill>
                          <a:latin typeface="Arial"/>
                        </a:defRPr>
                      </a:pPr>
                      <a:r>
                        <a:t>Trung Quốc</a:t>
                      </a:r>
                    </a:p>
                  </a:txBody>
                  <a:tcPr anchor="ctr" marL="36576" marR="36576" marT="9144" marB="9144">
                    <a:solidFill>
                      <a:srgbClr val="F7F9FC"/>
                    </a:solidFill>
                  </a:tcPr>
                </a:tc>
                <a:tc>
                  <a:txBody>
                    <a:bodyPr/>
                    <a:lstStyle/>
                    <a:p>
                      <a:pPr algn="l">
                        <a:defRPr sz="550">
                          <a:solidFill>
                            <a:srgbClr val="1E242B"/>
                          </a:solidFill>
                          <a:latin typeface="Arial"/>
                        </a:defRPr>
                      </a:pPr>
                      <a:r>
                        <a:t>Xem xét bỏ bước đo khe hở cụm Belt truyền ảnh (Transfer Belt) tại điều chỉnh</a:t>
                      </a:r>
                    </a:p>
                  </a:txBody>
                  <a:tcPr anchor="ctr" marL="36576" marR="36576" marT="9144" marB="9144">
                    <a:solidFill>
                      <a:srgbClr val="F7F9FC"/>
                    </a:solidFill>
                  </a:tcPr>
                </a:tc>
                <a:tc>
                  <a:txBody>
                    <a:bodyPr/>
                    <a:lstStyle/>
                    <a:p>
                      <a:pPr algn="l">
                        <a:defRPr sz="550">
                          <a:solidFill>
                            <a:srgbClr val="1E242B"/>
                          </a:solidFill>
                          <a:latin typeface="Arial"/>
                        </a:defRPr>
                      </a:pPr>
                      <a:r>
                        <a:t>Chờ QA duyệt</a:t>
                      </a:r>
                    </a:p>
                  </a:txBody>
                  <a:tcPr anchor="ctr" marL="36576" marR="36576" marT="9144" marB="9144">
                    <a:solidFill>
                      <a:srgbClr val="F7F9FC"/>
                    </a:solidFill>
                  </a:tcPr>
                </a:tc>
              </a:tr>
              <a:tr h="272034">
                <a:tc>
                  <a:txBody>
                    <a:bodyPr/>
                    <a:lstStyle/>
                    <a:p>
                      <a:pPr algn="ctr">
                        <a:defRPr sz="550" b="1">
                          <a:solidFill>
                            <a:srgbClr val="1E242B"/>
                          </a:solidFill>
                          <a:latin typeface="Arial"/>
                        </a:defRPr>
                      </a:pPr>
                      <a:r>
                        <a:t>9</a:t>
                      </a:r>
                    </a:p>
                  </a:txBody>
                  <a:tcPr anchor="ctr" marL="36576" marR="36576" marT="9144" marB="9144">
                    <a:solidFill>
                      <a:srgbClr val="FFFFFF"/>
                    </a:solidFill>
                  </a:tcPr>
                </a:tc>
                <a:tc>
                  <a:txBody>
                    <a:bodyPr/>
                    <a:lstStyle/>
                    <a:p>
                      <a:pPr algn="ctr">
                        <a:defRPr sz="550">
                          <a:solidFill>
                            <a:srgbClr val="1E242B"/>
                          </a:solidFill>
                          <a:latin typeface="Arial"/>
                        </a:defRPr>
                      </a:pPr>
                      <a:r>
                        <a:t>Trung Quốc</a:t>
                      </a:r>
                    </a:p>
                  </a:txBody>
                  <a:tcPr anchor="ctr" marL="36576" marR="36576" marT="9144" marB="9144">
                    <a:solidFill>
                      <a:srgbClr val="FFFFFF"/>
                    </a:solidFill>
                  </a:tcPr>
                </a:tc>
                <a:tc>
                  <a:txBody>
                    <a:bodyPr/>
                    <a:lstStyle/>
                    <a:p>
                      <a:pPr algn="l">
                        <a:defRPr sz="550">
                          <a:solidFill>
                            <a:srgbClr val="1E242B"/>
                          </a:solidFill>
                          <a:latin typeface="Arial"/>
                        </a:defRPr>
                      </a:pPr>
                      <a:r>
                        <a:t>Giảm hoặc bỏ kiểm tra độ bám mực sấy (màu đen &amp; màu - hiện VN dùng 2 tờ)</a:t>
                      </a:r>
                    </a:p>
                  </a:txBody>
                  <a:tcPr anchor="ctr" marL="36576" marR="36576" marT="9144" marB="9144">
                    <a:solidFill>
                      <a:srgbClr val="FFFFFF"/>
                    </a:solidFill>
                  </a:tcPr>
                </a:tc>
                <a:tc>
                  <a:txBody>
                    <a:bodyPr/>
                    <a:lstStyle/>
                    <a:p>
                      <a:pPr algn="l">
                        <a:defRPr sz="550">
                          <a:solidFill>
                            <a:srgbClr val="1E242B"/>
                          </a:solidFill>
                          <a:latin typeface="Arial"/>
                        </a:defRPr>
                      </a:pPr>
                      <a:r>
                        <a:t>Chờ QA duyệt</a:t>
                      </a:r>
                    </a:p>
                  </a:txBody>
                  <a:tcPr anchor="ctr" marL="36576" marR="36576" marT="9144" marB="9144">
                    <a:solidFill>
                      <a:srgbClr val="FFFFFF"/>
                    </a:solidFill>
                  </a:tcPr>
                </a:tc>
              </a:tr>
              <a:tr h="272034">
                <a:tc>
                  <a:txBody>
                    <a:bodyPr/>
                    <a:lstStyle/>
                    <a:p>
                      <a:pPr algn="ctr">
                        <a:defRPr sz="550" b="1">
                          <a:solidFill>
                            <a:srgbClr val="1E242B"/>
                          </a:solidFill>
                          <a:latin typeface="Arial"/>
                        </a:defRPr>
                      </a:pPr>
                      <a:r>
                        <a:t>10</a:t>
                      </a:r>
                    </a:p>
                  </a:txBody>
                  <a:tcPr anchor="ctr" marL="36576" marR="36576" marT="9144" marB="9144">
                    <a:solidFill>
                      <a:srgbClr val="F7F9FC"/>
                    </a:solidFill>
                  </a:tcPr>
                </a:tc>
                <a:tc>
                  <a:txBody>
                    <a:bodyPr/>
                    <a:lstStyle/>
                    <a:p>
                      <a:pPr algn="ctr">
                        <a:defRPr sz="550">
                          <a:solidFill>
                            <a:srgbClr val="1E242B"/>
                          </a:solidFill>
                          <a:latin typeface="Arial"/>
                        </a:defRPr>
                      </a:pPr>
                      <a:r>
                        <a:t>Trung Quốc</a:t>
                      </a:r>
                    </a:p>
                  </a:txBody>
                  <a:tcPr anchor="ctr" marL="36576" marR="36576" marT="9144" marB="9144">
                    <a:solidFill>
                      <a:srgbClr val="F7F9FC"/>
                    </a:solidFill>
                  </a:tcPr>
                </a:tc>
                <a:tc>
                  <a:txBody>
                    <a:bodyPr/>
                    <a:lstStyle/>
                    <a:p>
                      <a:pPr algn="l">
                        <a:defRPr sz="550">
                          <a:solidFill>
                            <a:srgbClr val="1E242B"/>
                          </a:solidFill>
                          <a:latin typeface="Arial"/>
                        </a:defRPr>
                      </a:pPr>
                      <a:r>
                        <a:t>Xem xét lại quy trình kiểm tra chấm vàng chống tiền giả (bản in PPT/BCP)</a:t>
                      </a:r>
                    </a:p>
                  </a:txBody>
                  <a:tcPr anchor="ctr" marL="36576" marR="36576" marT="9144" marB="9144">
                    <a:solidFill>
                      <a:srgbClr val="F7F9FC"/>
                    </a:solidFill>
                  </a:tcPr>
                </a:tc>
                <a:tc>
                  <a:txBody>
                    <a:bodyPr/>
                    <a:lstStyle/>
                    <a:p>
                      <a:pPr algn="l">
                        <a:defRPr sz="550">
                          <a:solidFill>
                            <a:srgbClr val="1E242B"/>
                          </a:solidFill>
                          <a:latin typeface="Arial"/>
                        </a:defRPr>
                      </a:pPr>
                      <a:r>
                        <a:t>Giữ Scanner</a:t>
                      </a:r>
                    </a:p>
                  </a:txBody>
                  <a:tcPr anchor="ctr" marL="36576" marR="36576" marT="9144" marB="9144">
                    <a:solidFill>
                      <a:srgbClr val="F7F9FC"/>
                    </a:solidFill>
                  </a:tcPr>
                </a:tc>
              </a:tr>
              <a:tr h="272034">
                <a:tc>
                  <a:txBody>
                    <a:bodyPr/>
                    <a:lstStyle/>
                    <a:p>
                      <a:pPr algn="ctr">
                        <a:defRPr sz="550" b="1">
                          <a:solidFill>
                            <a:srgbClr val="1E242B"/>
                          </a:solidFill>
                          <a:latin typeface="Arial"/>
                        </a:defRPr>
                      </a:pPr>
                      <a:r>
                        <a:t>11</a:t>
                      </a:r>
                    </a:p>
                  </a:txBody>
                  <a:tcPr anchor="ctr" marL="36576" marR="36576" marT="9144" marB="9144">
                    <a:solidFill>
                      <a:srgbClr val="EAF7EE"/>
                    </a:solidFill>
                  </a:tcPr>
                </a:tc>
                <a:tc>
                  <a:txBody>
                    <a:bodyPr/>
                    <a:lstStyle/>
                    <a:p>
                      <a:pPr algn="ctr">
                        <a:defRPr sz="550">
                          <a:solidFill>
                            <a:srgbClr val="1E242B"/>
                          </a:solidFill>
                          <a:latin typeface="Arial"/>
                        </a:defRPr>
                      </a:pPr>
                      <a:r>
                        <a:t>Trung Quốc</a:t>
                      </a:r>
                    </a:p>
                  </a:txBody>
                  <a:tcPr anchor="ctr" marL="36576" marR="36576" marT="9144" marB="9144">
                    <a:solidFill>
                      <a:srgbClr val="EAF7EE"/>
                    </a:solidFill>
                  </a:tcPr>
                </a:tc>
                <a:tc>
                  <a:txBody>
                    <a:bodyPr/>
                    <a:lstStyle/>
                    <a:p>
                      <a:pPr algn="l">
                        <a:defRPr sz="550">
                          <a:solidFill>
                            <a:srgbClr val="1E242B"/>
                          </a:solidFill>
                          <a:latin typeface="Arial"/>
                        </a:defRPr>
                      </a:pPr>
                      <a:r>
                        <a:t>Gộp 2 tờ bản thảo DC-1 và bản xám (Gray) thành 1 tờ duy nhất (-5k RMB/5k máy)</a:t>
                      </a:r>
                    </a:p>
                  </a:txBody>
                  <a:tcPr anchor="ctr" marL="36576" marR="36576" marT="9144" marB="9144">
                    <a:solidFill>
                      <a:srgbClr val="EAF7EE"/>
                    </a:solidFill>
                  </a:tcPr>
                </a:tc>
                <a:tc>
                  <a:txBody>
                    <a:bodyPr/>
                    <a:lstStyle/>
                    <a:p>
                      <a:pPr algn="l">
                        <a:defRPr sz="550">
                          <a:solidFill>
                            <a:srgbClr val="1E242B"/>
                          </a:solidFill>
                          <a:latin typeface="Arial"/>
                        </a:defRPr>
                      </a:pPr>
                      <a:r>
                        <a:t>Triển khai ngay</a:t>
                      </a:r>
                    </a:p>
                  </a:txBody>
                  <a:tcPr anchor="ctr" marL="36576" marR="36576" marT="9144" marB="9144">
                    <a:solidFill>
                      <a:srgbClr val="EAF7EE"/>
                    </a:solidFill>
                  </a:tcPr>
                </a:tc>
              </a:tr>
              <a:tr h="272034">
                <a:tc>
                  <a:txBody>
                    <a:bodyPr/>
                    <a:lstStyle/>
                    <a:p>
                      <a:pPr algn="ctr">
                        <a:defRPr sz="550" b="1">
                          <a:solidFill>
                            <a:srgbClr val="1E242B"/>
                          </a:solidFill>
                          <a:latin typeface="Arial"/>
                        </a:defRPr>
                      </a:pPr>
                      <a:r>
                        <a:t>12</a:t>
                      </a:r>
                    </a:p>
                  </a:txBody>
                  <a:tcPr anchor="ctr" marL="36576" marR="36576" marT="9144" marB="9144">
                    <a:solidFill>
                      <a:srgbClr val="F7F9FC"/>
                    </a:solidFill>
                  </a:tcPr>
                </a:tc>
                <a:tc>
                  <a:txBody>
                    <a:bodyPr/>
                    <a:lstStyle/>
                    <a:p>
                      <a:pPr algn="ctr">
                        <a:defRPr sz="550">
                          <a:solidFill>
                            <a:srgbClr val="1E242B"/>
                          </a:solidFill>
                          <a:latin typeface="Arial"/>
                        </a:defRPr>
                      </a:pPr>
                      <a:r>
                        <a:t>Trung Quốc</a:t>
                      </a:r>
                    </a:p>
                  </a:txBody>
                  <a:tcPr anchor="ctr" marL="36576" marR="36576" marT="9144" marB="9144">
                    <a:solidFill>
                      <a:srgbClr val="F7F9FC"/>
                    </a:solidFill>
                  </a:tcPr>
                </a:tc>
                <a:tc>
                  <a:txBody>
                    <a:bodyPr/>
                    <a:lstStyle/>
                    <a:p>
                      <a:pPr algn="l">
                        <a:defRPr sz="550">
                          <a:solidFill>
                            <a:srgbClr val="1E242B"/>
                          </a:solidFill>
                          <a:latin typeface="Arial"/>
                        </a:defRPr>
                      </a:pPr>
                      <a:r>
                        <a:t>Đồ gá tự động quét đo lề bản in (Gray Margin ABCD) &amp; tự gửi lệnh bù U402</a:t>
                      </a:r>
                    </a:p>
                  </a:txBody>
                  <a:tcPr anchor="ctr" marL="36576" marR="36576" marT="9144" marB="9144">
                    <a:solidFill>
                      <a:srgbClr val="F7F9FC"/>
                    </a:solidFill>
                  </a:tcPr>
                </a:tc>
                <a:tc>
                  <a:txBody>
                    <a:bodyPr/>
                    <a:lstStyle/>
                    <a:p>
                      <a:pPr algn="l">
                        <a:defRPr sz="550">
                          <a:solidFill>
                            <a:srgbClr val="1E242B"/>
                          </a:solidFill>
                          <a:latin typeface="Arial"/>
                        </a:defRPr>
                      </a:pPr>
                      <a:r>
                        <a:t>Đang thiết kế</a:t>
                      </a:r>
                    </a:p>
                  </a:txBody>
                  <a:tcPr anchor="ctr" marL="36576" marR="36576" marT="9144" marB="9144">
                    <a:solidFill>
                      <a:srgbClr val="F7F9FC"/>
                    </a:solidFill>
                  </a:tcPr>
                </a:tc>
              </a:tr>
              <a:tr h="272034">
                <a:tc>
                  <a:txBody>
                    <a:bodyPr/>
                    <a:lstStyle/>
                    <a:p>
                      <a:pPr algn="ctr">
                        <a:defRPr sz="550" b="1">
                          <a:solidFill>
                            <a:srgbClr val="1E242B"/>
                          </a:solidFill>
                          <a:latin typeface="Arial"/>
                        </a:defRPr>
                      </a:pPr>
                      <a:r>
                        <a:t>13</a:t>
                      </a:r>
                    </a:p>
                  </a:txBody>
                  <a:tcPr anchor="ctr" marL="36576" marR="36576" marT="9144" marB="9144">
                    <a:solidFill>
                      <a:srgbClr val="FFFFFF"/>
                    </a:solidFill>
                  </a:tcPr>
                </a:tc>
                <a:tc>
                  <a:txBody>
                    <a:bodyPr/>
                    <a:lstStyle/>
                    <a:p>
                      <a:pPr algn="ctr">
                        <a:defRPr sz="550">
                          <a:solidFill>
                            <a:srgbClr val="1E242B"/>
                          </a:solidFill>
                          <a:latin typeface="Arial"/>
                        </a:defRPr>
                      </a:pPr>
                      <a:r>
                        <a:t>Trung Quốc</a:t>
                      </a:r>
                    </a:p>
                  </a:txBody>
                  <a:tcPr anchor="ctr" marL="36576" marR="36576" marT="9144" marB="9144">
                    <a:solidFill>
                      <a:srgbClr val="FFFFFF"/>
                    </a:solidFill>
                  </a:tcPr>
                </a:tc>
                <a:tc>
                  <a:txBody>
                    <a:bodyPr/>
                    <a:lstStyle/>
                    <a:p>
                      <a:pPr algn="l">
                        <a:defRPr sz="550">
                          <a:solidFill>
                            <a:srgbClr val="1E242B"/>
                          </a:solidFill>
                          <a:latin typeface="Arial"/>
                        </a:defRPr>
                      </a:pPr>
                      <a:r>
                        <a:t>Giảm số lượng tờ in kiểm tra (Print) từ 17 chủng loại xuống còn 9 tờ (-110s chờ)</a:t>
                      </a:r>
                    </a:p>
                  </a:txBody>
                  <a:tcPr anchor="ctr" marL="36576" marR="36576" marT="9144" marB="9144">
                    <a:solidFill>
                      <a:srgbClr val="FFFFFF"/>
                    </a:solidFill>
                  </a:tcPr>
                </a:tc>
                <a:tc>
                  <a:txBody>
                    <a:bodyPr/>
                    <a:lstStyle/>
                    <a:p>
                      <a:pPr algn="l">
                        <a:defRPr sz="550">
                          <a:solidFill>
                            <a:srgbClr val="1E242B"/>
                          </a:solidFill>
                          <a:latin typeface="Arial"/>
                        </a:defRPr>
                      </a:pPr>
                      <a:r>
                        <a:t>Chờ QA duyệt</a:t>
                      </a:r>
                    </a:p>
                  </a:txBody>
                  <a:tcPr anchor="ctr" marL="36576" marR="36576" marT="9144" marB="9144">
                    <a:solidFill>
                      <a:srgbClr val="FFFFFF"/>
                    </a:solidFill>
                  </a:tcPr>
                </a:tc>
              </a:tr>
              <a:tr h="272034">
                <a:tc>
                  <a:txBody>
                    <a:bodyPr/>
                    <a:lstStyle/>
                    <a:p>
                      <a:pPr algn="ctr">
                        <a:defRPr sz="550" b="1">
                          <a:solidFill>
                            <a:srgbClr val="1E242B"/>
                          </a:solidFill>
                          <a:latin typeface="Arial"/>
                        </a:defRPr>
                      </a:pPr>
                      <a:r>
                        <a:t>14</a:t>
                      </a:r>
                    </a:p>
                  </a:txBody>
                  <a:tcPr anchor="ctr" marL="36576" marR="36576" marT="9144" marB="9144">
                    <a:solidFill>
                      <a:srgbClr val="F7F9FC"/>
                    </a:solidFill>
                  </a:tcPr>
                </a:tc>
                <a:tc>
                  <a:txBody>
                    <a:bodyPr/>
                    <a:lstStyle/>
                    <a:p>
                      <a:pPr algn="ctr">
                        <a:defRPr sz="550">
                          <a:solidFill>
                            <a:srgbClr val="1E242B"/>
                          </a:solidFill>
                          <a:latin typeface="Arial"/>
                        </a:defRPr>
                      </a:pPr>
                      <a:r>
                        <a:t>Trung Quốc</a:t>
                      </a:r>
                    </a:p>
                  </a:txBody>
                  <a:tcPr anchor="ctr" marL="36576" marR="36576" marT="9144" marB="9144">
                    <a:solidFill>
                      <a:srgbClr val="F7F9FC"/>
                    </a:solidFill>
                  </a:tcPr>
                </a:tc>
                <a:tc>
                  <a:txBody>
                    <a:bodyPr/>
                    <a:lstStyle/>
                    <a:p>
                      <a:pPr algn="l">
                        <a:defRPr sz="550">
                          <a:solidFill>
                            <a:srgbClr val="1E242B"/>
                          </a:solidFill>
                          <a:latin typeface="Arial"/>
                        </a:defRPr>
                      </a:pPr>
                      <a:r>
                        <a:t>Tự động hóa vào chế độ bảo trì Maintenance Mode qua lệnh mạng Host PC</a:t>
                      </a:r>
                    </a:p>
                  </a:txBody>
                  <a:tcPr anchor="ctr" marL="36576" marR="36576" marT="9144" marB="9144">
                    <a:solidFill>
                      <a:srgbClr val="F7F9FC"/>
                    </a:solidFill>
                  </a:tcPr>
                </a:tc>
                <a:tc>
                  <a:txBody>
                    <a:bodyPr/>
                    <a:lstStyle/>
                    <a:p>
                      <a:pPr algn="l">
                        <a:defRPr sz="550">
                          <a:solidFill>
                            <a:srgbClr val="1E242B"/>
                          </a:solidFill>
                          <a:latin typeface="Arial"/>
                        </a:defRPr>
                      </a:pPr>
                      <a:r>
                        <a:t>Đang thiết kế</a:t>
                      </a:r>
                    </a:p>
                  </a:txBody>
                  <a:tcPr anchor="ctr" marL="36576" marR="36576" marT="9144" marB="9144">
                    <a:solidFill>
                      <a:srgbClr val="F7F9FC"/>
                    </a:solidFill>
                  </a:tcPr>
                </a:tc>
              </a:tr>
              <a:tr h="272034">
                <a:tc>
                  <a:txBody>
                    <a:bodyPr/>
                    <a:lstStyle/>
                    <a:p>
                      <a:pPr algn="ctr">
                        <a:defRPr sz="550" b="1">
                          <a:solidFill>
                            <a:srgbClr val="1E242B"/>
                          </a:solidFill>
                          <a:latin typeface="Arial"/>
                        </a:defRPr>
                      </a:pPr>
                      <a:r>
                        <a:t>15</a:t>
                      </a:r>
                    </a:p>
                  </a:txBody>
                  <a:tcPr anchor="ctr" marL="36576" marR="36576" marT="9144" marB="9144">
                    <a:solidFill>
                      <a:srgbClr val="FFFFFF"/>
                    </a:solidFill>
                  </a:tcPr>
                </a:tc>
                <a:tc>
                  <a:txBody>
                    <a:bodyPr/>
                    <a:lstStyle/>
                    <a:p>
                      <a:pPr algn="ctr">
                        <a:defRPr sz="550">
                          <a:solidFill>
                            <a:srgbClr val="1E242B"/>
                          </a:solidFill>
                          <a:latin typeface="Arial"/>
                        </a:defRPr>
                      </a:pPr>
                      <a:r>
                        <a:t>Trung Quốc</a:t>
                      </a:r>
                    </a:p>
                  </a:txBody>
                  <a:tcPr anchor="ctr" marL="36576" marR="36576" marT="9144" marB="9144">
                    <a:solidFill>
                      <a:srgbClr val="FFFFFF"/>
                    </a:solidFill>
                  </a:tcPr>
                </a:tc>
                <a:tc>
                  <a:txBody>
                    <a:bodyPr/>
                    <a:lstStyle/>
                    <a:p>
                      <a:pPr algn="l">
                        <a:defRPr sz="550">
                          <a:solidFill>
                            <a:srgbClr val="1E242B"/>
                          </a:solidFill>
                          <a:latin typeface="Arial"/>
                        </a:defRPr>
                      </a:pPr>
                      <a:r>
                        <a:t>Gộp thao tác: Chọn loại giấy -&gt; Bấm in -&gt; Trả về giấy thường vào 1 cú click</a:t>
                      </a:r>
                    </a:p>
                  </a:txBody>
                  <a:tcPr anchor="ctr" marL="36576" marR="36576" marT="9144" marB="9144">
                    <a:solidFill>
                      <a:srgbClr val="FFFFFF"/>
                    </a:solidFill>
                  </a:tcPr>
                </a:tc>
                <a:tc>
                  <a:txBody>
                    <a:bodyPr/>
                    <a:lstStyle/>
                    <a:p>
                      <a:pPr algn="l">
                        <a:defRPr sz="550">
                          <a:solidFill>
                            <a:srgbClr val="1E242B"/>
                          </a:solidFill>
                          <a:latin typeface="Arial"/>
                        </a:defRPr>
                      </a:pPr>
                      <a:r>
                        <a:t>Đang thiết kế</a:t>
                      </a:r>
                    </a:p>
                  </a:txBody>
                  <a:tcPr anchor="ctr" marL="36576" marR="36576" marT="9144" marB="9144">
                    <a:solidFill>
                      <a:srgbClr val="FFFFFF"/>
                    </a:solidFill>
                  </a:tcPr>
                </a:tc>
              </a:tr>
              <a:tr h="272034">
                <a:tc>
                  <a:txBody>
                    <a:bodyPr/>
                    <a:lstStyle/>
                    <a:p>
                      <a:pPr algn="ctr">
                        <a:defRPr sz="550" b="1">
                          <a:solidFill>
                            <a:srgbClr val="1E242B"/>
                          </a:solidFill>
                          <a:latin typeface="Arial"/>
                        </a:defRPr>
                      </a:pPr>
                      <a:r>
                        <a:t>16</a:t>
                      </a:r>
                    </a:p>
                  </a:txBody>
                  <a:tcPr anchor="ctr" marL="36576" marR="36576" marT="9144" marB="9144">
                    <a:solidFill>
                      <a:srgbClr val="F7F9FC"/>
                    </a:solidFill>
                  </a:tcPr>
                </a:tc>
                <a:tc>
                  <a:txBody>
                    <a:bodyPr/>
                    <a:lstStyle/>
                    <a:p>
                      <a:pPr algn="ctr">
                        <a:defRPr sz="550">
                          <a:solidFill>
                            <a:srgbClr val="1E242B"/>
                          </a:solidFill>
                          <a:latin typeface="Arial"/>
                        </a:defRPr>
                      </a:pPr>
                      <a:r>
                        <a:t>Trung Quốc</a:t>
                      </a:r>
                    </a:p>
                  </a:txBody>
                  <a:tcPr anchor="ctr" marL="36576" marR="36576" marT="9144" marB="9144">
                    <a:solidFill>
                      <a:srgbClr val="F7F9FC"/>
                    </a:solidFill>
                  </a:tcPr>
                </a:tc>
                <a:tc>
                  <a:txBody>
                    <a:bodyPr/>
                    <a:lstStyle/>
                    <a:p>
                      <a:pPr algn="l">
                        <a:defRPr sz="550">
                          <a:solidFill>
                            <a:srgbClr val="1E242B"/>
                          </a:solidFill>
                          <a:latin typeface="Arial"/>
                        </a:defRPr>
                      </a:pPr>
                      <a:r>
                        <a:t>Tích hợp đo tốc độ quạt làm mát (FAN) vào mã lệnh U037 (tách với nghe âm thanh)</a:t>
                      </a:r>
                    </a:p>
                  </a:txBody>
                  <a:tcPr anchor="ctr" marL="36576" marR="36576" marT="9144" marB="9144">
                    <a:solidFill>
                      <a:srgbClr val="F7F9FC"/>
                    </a:solidFill>
                  </a:tcPr>
                </a:tc>
                <a:tc>
                  <a:txBody>
                    <a:bodyPr/>
                    <a:lstStyle/>
                    <a:p>
                      <a:pPr algn="l">
                        <a:defRPr sz="550">
                          <a:solidFill>
                            <a:srgbClr val="1E242B"/>
                          </a:solidFill>
                          <a:latin typeface="Arial"/>
                        </a:defRPr>
                      </a:pPr>
                      <a:r>
                        <a:t>Tách module</a:t>
                      </a:r>
                    </a:p>
                  </a:txBody>
                  <a:tcPr anchor="ctr" marL="36576" marR="36576" marT="9144" marB="9144">
                    <a:solidFill>
                      <a:srgbClr val="F7F9FC"/>
                    </a:solidFill>
                  </a:tcPr>
                </a:tc>
              </a:tr>
              <a:tr h="272034">
                <a:tc>
                  <a:txBody>
                    <a:bodyPr/>
                    <a:lstStyle/>
                    <a:p>
                      <a:pPr algn="ctr">
                        <a:defRPr sz="550" b="1">
                          <a:solidFill>
                            <a:srgbClr val="1E242B"/>
                          </a:solidFill>
                          <a:latin typeface="Arial"/>
                        </a:defRPr>
                      </a:pPr>
                      <a:r>
                        <a:t>17</a:t>
                      </a:r>
                    </a:p>
                  </a:txBody>
                  <a:tcPr anchor="ctr" marL="36576" marR="36576" marT="9144" marB="9144">
                    <a:solidFill>
                      <a:srgbClr val="FFFFFF"/>
                    </a:solidFill>
                  </a:tcPr>
                </a:tc>
                <a:tc>
                  <a:txBody>
                    <a:bodyPr/>
                    <a:lstStyle/>
                    <a:p>
                      <a:pPr algn="ctr">
                        <a:defRPr sz="550">
                          <a:solidFill>
                            <a:srgbClr val="1E242B"/>
                          </a:solidFill>
                          <a:latin typeface="Arial"/>
                        </a:defRPr>
                      </a:pPr>
                      <a:r>
                        <a:t>Trung Quốc</a:t>
                      </a:r>
                    </a:p>
                  </a:txBody>
                  <a:tcPr anchor="ctr" marL="36576" marR="36576" marT="9144" marB="9144">
                    <a:solidFill>
                      <a:srgbClr val="FFFFFF"/>
                    </a:solidFill>
                  </a:tcPr>
                </a:tc>
                <a:tc>
                  <a:txBody>
                    <a:bodyPr/>
                    <a:lstStyle/>
                    <a:p>
                      <a:pPr algn="l">
                        <a:defRPr sz="550">
                          <a:solidFill>
                            <a:srgbClr val="1E242B"/>
                          </a:solidFill>
                          <a:latin typeface="Arial"/>
                        </a:defRPr>
                      </a:pPr>
                      <a:r>
                        <a:t>Đổi thứ tự thao tác khi quét SITC-2 (Bấm nút trên đồ gá trước khi đặt giấy)</a:t>
                      </a:r>
                    </a:p>
                  </a:txBody>
                  <a:tcPr anchor="ctr" marL="36576" marR="36576" marT="9144" marB="9144">
                    <a:solidFill>
                      <a:srgbClr val="FFFFFF"/>
                    </a:solidFill>
                  </a:tcPr>
                </a:tc>
                <a:tc>
                  <a:txBody>
                    <a:bodyPr/>
                    <a:lstStyle/>
                    <a:p>
                      <a:pPr algn="l">
                        <a:defRPr sz="550">
                          <a:solidFill>
                            <a:srgbClr val="1E242B"/>
                          </a:solidFill>
                          <a:latin typeface="Arial"/>
                        </a:defRPr>
                      </a:pPr>
                      <a:r>
                        <a:t>Đang thiết kế</a:t>
                      </a:r>
                    </a:p>
                  </a:txBody>
                  <a:tcPr anchor="ctr" marL="36576" marR="36576" marT="9144" marB="9144">
                    <a:solidFill>
                      <a:srgbClr val="FFFFFF"/>
                    </a:solidFill>
                  </a:tcPr>
                </a:tc>
              </a:tr>
              <a:tr h="272034">
                <a:tc>
                  <a:txBody>
                    <a:bodyPr/>
                    <a:lstStyle/>
                    <a:p>
                      <a:pPr algn="ctr">
                        <a:defRPr sz="550" b="1">
                          <a:solidFill>
                            <a:srgbClr val="1E242B"/>
                          </a:solidFill>
                          <a:latin typeface="Arial"/>
                        </a:defRPr>
                      </a:pPr>
                      <a:r>
                        <a:t>18</a:t>
                      </a:r>
                    </a:p>
                  </a:txBody>
                  <a:tcPr anchor="ctr" marL="36576" marR="36576" marT="9144" marB="9144">
                    <a:solidFill>
                      <a:srgbClr val="EAF7EE"/>
                    </a:solidFill>
                  </a:tcPr>
                </a:tc>
                <a:tc>
                  <a:txBody>
                    <a:bodyPr/>
                    <a:lstStyle/>
                    <a:p>
                      <a:pPr algn="ctr">
                        <a:defRPr sz="550">
                          <a:solidFill>
                            <a:srgbClr val="1E242B"/>
                          </a:solidFill>
                          <a:latin typeface="Arial"/>
                        </a:defRPr>
                      </a:pPr>
                      <a:r>
                        <a:t>Việt Nam</a:t>
                      </a:r>
                    </a:p>
                  </a:txBody>
                  <a:tcPr anchor="ctr" marL="36576" marR="36576" marT="9144" marB="9144">
                    <a:solidFill>
                      <a:srgbClr val="EAF7EE"/>
                    </a:solidFill>
                  </a:tcPr>
                </a:tc>
                <a:tc>
                  <a:txBody>
                    <a:bodyPr/>
                    <a:lstStyle/>
                    <a:p>
                      <a:pPr algn="l">
                        <a:defRPr sz="550">
                          <a:solidFill>
                            <a:srgbClr val="1E242B"/>
                          </a:solidFill>
                          <a:latin typeface="Arial"/>
                        </a:defRPr>
                      </a:pPr>
                      <a:r>
                        <a:t>Tự động nạp Firmware qua chương trình 7900/7910 (Tạm giữ cắm 2 USB tại A-1)</a:t>
                      </a:r>
                    </a:p>
                  </a:txBody>
                  <a:tcPr anchor="ctr" marL="36576" marR="36576" marT="9144" marB="9144">
                    <a:solidFill>
                      <a:srgbClr val="EAF7EE"/>
                    </a:solidFill>
                  </a:tcPr>
                </a:tc>
                <a:tc>
                  <a:txBody>
                    <a:bodyPr/>
                    <a:lstStyle/>
                    <a:p>
                      <a:pPr algn="l">
                        <a:defRPr sz="550">
                          <a:solidFill>
                            <a:srgbClr val="1E242B"/>
                          </a:solidFill>
                          <a:latin typeface="Arial"/>
                        </a:defRPr>
                      </a:pPr>
                      <a:r>
                        <a:t>Giữ nạp USB</a:t>
                      </a:r>
                    </a:p>
                  </a:txBody>
                  <a:tcPr anchor="ctr" marL="36576" marR="36576" marT="9144" marB="9144">
                    <a:solidFill>
                      <a:srgbClr val="EAF7EE"/>
                    </a:solidFill>
                  </a:tcPr>
                </a:tc>
              </a:tr>
              <a:tr h="272034">
                <a:tc>
                  <a:txBody>
                    <a:bodyPr/>
                    <a:lstStyle/>
                    <a:p>
                      <a:pPr algn="ctr">
                        <a:defRPr sz="550" b="1">
                          <a:solidFill>
                            <a:srgbClr val="1E242B"/>
                          </a:solidFill>
                          <a:latin typeface="Arial"/>
                        </a:defRPr>
                      </a:pPr>
                      <a:r>
                        <a:t>19</a:t>
                      </a:r>
                    </a:p>
                  </a:txBody>
                  <a:tcPr anchor="ctr" marL="36576" marR="36576" marT="9144" marB="9144">
                    <a:solidFill>
                      <a:srgbClr val="EAF7EE"/>
                    </a:solidFill>
                  </a:tcPr>
                </a:tc>
                <a:tc>
                  <a:txBody>
                    <a:bodyPr/>
                    <a:lstStyle/>
                    <a:p>
                      <a:pPr algn="ctr">
                        <a:defRPr sz="550">
                          <a:solidFill>
                            <a:srgbClr val="1E242B"/>
                          </a:solidFill>
                          <a:latin typeface="Arial"/>
                        </a:defRPr>
                      </a:pPr>
                      <a:r>
                        <a:t>Việt Nam</a:t>
                      </a:r>
                    </a:p>
                  </a:txBody>
                  <a:tcPr anchor="ctr" marL="36576" marR="36576" marT="9144" marB="9144">
                    <a:solidFill>
                      <a:srgbClr val="EAF7EE"/>
                    </a:solidFill>
                  </a:tcPr>
                </a:tc>
                <a:tc>
                  <a:txBody>
                    <a:bodyPr/>
                    <a:lstStyle/>
                    <a:p>
                      <a:pPr algn="l">
                        <a:defRPr sz="550">
                          <a:solidFill>
                            <a:srgbClr val="1E242B"/>
                          </a:solidFill>
                          <a:latin typeface="Arial"/>
                        </a:defRPr>
                      </a:pPr>
                      <a:r>
                        <a:t>Tự động chuyển ngôn ngữ sang tiếng Anh sau thiết lập ban đầu &amp; giảm tháo lắp</a:t>
                      </a:r>
                    </a:p>
                  </a:txBody>
                  <a:tcPr anchor="ctr" marL="36576" marR="36576" marT="9144" marB="9144">
                    <a:solidFill>
                      <a:srgbClr val="EAF7EE"/>
                    </a:solidFill>
                  </a:tcPr>
                </a:tc>
                <a:tc>
                  <a:txBody>
                    <a:bodyPr/>
                    <a:lstStyle/>
                    <a:p>
                      <a:pPr algn="l">
                        <a:defRPr sz="550">
                          <a:solidFill>
                            <a:srgbClr val="1E242B"/>
                          </a:solidFill>
                          <a:latin typeface="Arial"/>
                        </a:defRPr>
                      </a:pPr>
                      <a:r>
                        <a:t>Triển khai ngay</a:t>
                      </a:r>
                    </a:p>
                  </a:txBody>
                  <a:tcPr anchor="ctr" marL="36576" marR="36576" marT="9144" marB="9144">
                    <a:solidFill>
                      <a:srgbClr val="EAF7EE"/>
                    </a:solidFill>
                  </a:tcPr>
                </a:tc>
              </a:tr>
            </a:tbl>
          </a:graphicData>
        </a:graphic>
      </p:graphicFrame>
      <p:graphicFrame>
        <p:nvGraphicFramePr>
          <p:cNvPr id="8" name="Table 7"/>
          <p:cNvGraphicFramePr>
            <a:graphicFrameLocks noGrp="1"/>
          </p:cNvGraphicFramePr>
          <p:nvPr/>
        </p:nvGraphicFramePr>
        <p:xfrm>
          <a:off x="6172200" y="1152144"/>
          <a:ext cx="5763463" cy="5440680"/>
        </p:xfrm>
        <a:graphic>
          <a:graphicData uri="http://schemas.openxmlformats.org/drawingml/2006/table">
            <a:tbl>
              <a:tblPr firstRow="1" bandRow="1">
                <a:tableStyleId>{5C22544A-7EE6-4342-B048-85BDC9FD1C3A}</a:tableStyleId>
              </a:tblPr>
              <a:tblGrid>
                <a:gridCol w="475488"/>
                <a:gridCol w="713232"/>
                <a:gridCol w="3340303"/>
                <a:gridCol w="1234440"/>
              </a:tblGrid>
              <a:tr h="272034">
                <a:tc>
                  <a:txBody>
                    <a:bodyPr/>
                    <a:lstStyle/>
                    <a:p>
                      <a:pPr algn="ctr">
                        <a:defRPr sz="640" b="1">
                          <a:solidFill>
                            <a:srgbClr val="FFFFFF"/>
                          </a:solidFill>
                          <a:latin typeface="Arial"/>
                        </a:defRPr>
                      </a:pPr>
                      <a:r>
                        <a:t>No.</a:t>
                      </a:r>
                    </a:p>
                  </a:txBody>
                  <a:tcPr anchor="ctr" marL="36576" marR="36576" marT="9144" marB="9144">
                    <a:solidFill>
                      <a:srgbClr val="1B365D"/>
                    </a:solidFill>
                  </a:tcPr>
                </a:tc>
                <a:tc>
                  <a:txBody>
                    <a:bodyPr/>
                    <a:lstStyle/>
                    <a:p>
                      <a:pPr algn="ctr">
                        <a:defRPr sz="640" b="1">
                          <a:solidFill>
                            <a:srgbClr val="FFFFFF"/>
                          </a:solidFill>
                          <a:latin typeface="Arial"/>
                        </a:defRPr>
                      </a:pPr>
                      <a:r>
                        <a:t>Cứ điểm</a:t>
                      </a:r>
                    </a:p>
                  </a:txBody>
                  <a:tcPr anchor="ctr" marL="36576" marR="36576" marT="9144" marB="9144">
                    <a:solidFill>
                      <a:srgbClr val="1B365D"/>
                    </a:solidFill>
                  </a:tcPr>
                </a:tc>
                <a:tc>
                  <a:txBody>
                    <a:bodyPr/>
                    <a:lstStyle/>
                    <a:p>
                      <a:pPr algn="ctr">
                        <a:defRPr sz="640" b="1">
                          <a:solidFill>
                            <a:srgbClr val="FFFFFF"/>
                          </a:solidFill>
                          <a:latin typeface="Arial"/>
                        </a:defRPr>
                      </a:pPr>
                      <a:r>
                        <a:t>Nội dung đề án cải tiến (No.20 ~ No.38)</a:t>
                      </a:r>
                    </a:p>
                  </a:txBody>
                  <a:tcPr anchor="ctr" marL="36576" marR="36576" marT="9144" marB="9144">
                    <a:solidFill>
                      <a:srgbClr val="1B365D"/>
                    </a:solidFill>
                  </a:tcPr>
                </a:tc>
                <a:tc>
                  <a:txBody>
                    <a:bodyPr/>
                    <a:lstStyle/>
                    <a:p>
                      <a:pPr algn="ctr">
                        <a:defRPr sz="640" b="1">
                          <a:solidFill>
                            <a:srgbClr val="FFFFFF"/>
                          </a:solidFill>
                          <a:latin typeface="Arial"/>
                        </a:defRPr>
                      </a:pPr>
                      <a:r>
                        <a:t>Trạng thái chốt</a:t>
                      </a:r>
                    </a:p>
                  </a:txBody>
                  <a:tcPr anchor="ctr" marL="36576" marR="36576" marT="9144" marB="9144">
                    <a:solidFill>
                      <a:srgbClr val="1B365D"/>
                    </a:solidFill>
                  </a:tcPr>
                </a:tc>
              </a:tr>
              <a:tr h="272034">
                <a:tc>
                  <a:txBody>
                    <a:bodyPr/>
                    <a:lstStyle/>
                    <a:p>
                      <a:pPr algn="ctr">
                        <a:defRPr sz="550" b="1">
                          <a:solidFill>
                            <a:srgbClr val="1E242B"/>
                          </a:solidFill>
                          <a:latin typeface="Arial"/>
                        </a:defRPr>
                      </a:pPr>
                      <a:r>
                        <a:t>20</a:t>
                      </a:r>
                    </a:p>
                  </a:txBody>
                  <a:tcPr anchor="ctr" marL="36576" marR="36576" marT="9144" marB="9144">
                    <a:solidFill>
                      <a:srgbClr val="FFFFFF"/>
                    </a:solidFill>
                  </a:tcPr>
                </a:tc>
                <a:tc>
                  <a:txBody>
                    <a:bodyPr/>
                    <a:lstStyle/>
                    <a:p>
                      <a:pPr algn="ctr">
                        <a:defRPr sz="550">
                          <a:solidFill>
                            <a:srgbClr val="1E242B"/>
                          </a:solidFill>
                          <a:latin typeface="Arial"/>
                        </a:defRPr>
                      </a:pPr>
                      <a:r>
                        <a:t>Việt Nam</a:t>
                      </a:r>
                    </a:p>
                  </a:txBody>
                  <a:tcPr anchor="ctr" marL="36576" marR="36576" marT="9144" marB="9144">
                    <a:solidFill>
                      <a:srgbClr val="FFFFFF"/>
                    </a:solidFill>
                  </a:tcPr>
                </a:tc>
                <a:tc>
                  <a:txBody>
                    <a:bodyPr/>
                    <a:lstStyle/>
                    <a:p>
                      <a:pPr algn="l">
                        <a:defRPr sz="550">
                          <a:solidFill>
                            <a:srgbClr val="1E242B"/>
                          </a:solidFill>
                          <a:latin typeface="Arial"/>
                        </a:defRPr>
                      </a:pPr>
                      <a:r>
                        <a:t>Bỏ bước kiểm tra kéo đẩy khay giấy không tải &amp; truyền log USB qua mạng LAN</a:t>
                      </a:r>
                    </a:p>
                  </a:txBody>
                  <a:tcPr anchor="ctr" marL="36576" marR="36576" marT="9144" marB="9144">
                    <a:solidFill>
                      <a:srgbClr val="FFFFFF"/>
                    </a:solidFill>
                  </a:tcPr>
                </a:tc>
                <a:tc>
                  <a:txBody>
                    <a:bodyPr/>
                    <a:lstStyle/>
                    <a:p>
                      <a:pPr algn="l">
                        <a:defRPr sz="550">
                          <a:solidFill>
                            <a:srgbClr val="1E242B"/>
                          </a:solidFill>
                          <a:latin typeface="Arial"/>
                        </a:defRPr>
                      </a:pPr>
                      <a:r>
                        <a:t>Chờ QA duyệt</a:t>
                      </a:r>
                    </a:p>
                  </a:txBody>
                  <a:tcPr anchor="ctr" marL="36576" marR="36576" marT="9144" marB="9144">
                    <a:solidFill>
                      <a:srgbClr val="FFFFFF"/>
                    </a:solidFill>
                  </a:tcPr>
                </a:tc>
              </a:tr>
              <a:tr h="272034">
                <a:tc>
                  <a:txBody>
                    <a:bodyPr/>
                    <a:lstStyle/>
                    <a:p>
                      <a:pPr algn="ctr">
                        <a:defRPr sz="550" b="1">
                          <a:solidFill>
                            <a:srgbClr val="1E242B"/>
                          </a:solidFill>
                          <a:latin typeface="Arial"/>
                        </a:defRPr>
                      </a:pPr>
                      <a:r>
                        <a:t>21</a:t>
                      </a:r>
                    </a:p>
                  </a:txBody>
                  <a:tcPr anchor="ctr" marL="36576" marR="36576" marT="9144" marB="9144">
                    <a:solidFill>
                      <a:srgbClr val="F7F9FC"/>
                    </a:solidFill>
                  </a:tcPr>
                </a:tc>
                <a:tc>
                  <a:txBody>
                    <a:bodyPr/>
                    <a:lstStyle/>
                    <a:p>
                      <a:pPr algn="ctr">
                        <a:defRPr sz="550">
                          <a:solidFill>
                            <a:srgbClr val="1E242B"/>
                          </a:solidFill>
                          <a:latin typeface="Arial"/>
                        </a:defRPr>
                      </a:pPr>
                      <a:r>
                        <a:t>Việt Nam</a:t>
                      </a:r>
                    </a:p>
                  </a:txBody>
                  <a:tcPr anchor="ctr" marL="36576" marR="36576" marT="9144" marB="9144">
                    <a:solidFill>
                      <a:srgbClr val="F7F9FC"/>
                    </a:solidFill>
                  </a:tcPr>
                </a:tc>
                <a:tc>
                  <a:txBody>
                    <a:bodyPr/>
                    <a:lstStyle/>
                    <a:p>
                      <a:pPr algn="l">
                        <a:defRPr sz="550">
                          <a:solidFill>
                            <a:srgbClr val="1E242B"/>
                          </a:solidFill>
                          <a:latin typeface="Arial"/>
                        </a:defRPr>
                      </a:pPr>
                      <a:r>
                        <a:t>Làm đồ gá kết nối nhanh (1 chạm / nam châm) kiểm tra các cổng Option (~40s)</a:t>
                      </a:r>
                    </a:p>
                  </a:txBody>
                  <a:tcPr anchor="ctr" marL="36576" marR="36576" marT="9144" marB="9144">
                    <a:solidFill>
                      <a:srgbClr val="F7F9FC"/>
                    </a:solidFill>
                  </a:tcPr>
                </a:tc>
                <a:tc>
                  <a:txBody>
                    <a:bodyPr/>
                    <a:lstStyle/>
                    <a:p>
                      <a:pPr algn="l">
                        <a:defRPr sz="550">
                          <a:solidFill>
                            <a:srgbClr val="1E242B"/>
                          </a:solidFill>
                          <a:latin typeface="Arial"/>
                        </a:defRPr>
                      </a:pPr>
                      <a:r>
                        <a:t>Đang thiết kế</a:t>
                      </a:r>
                    </a:p>
                  </a:txBody>
                  <a:tcPr anchor="ctr" marL="36576" marR="36576" marT="9144" marB="9144">
                    <a:solidFill>
                      <a:srgbClr val="F7F9FC"/>
                    </a:solidFill>
                  </a:tcPr>
                </a:tc>
              </a:tr>
              <a:tr h="272034">
                <a:tc>
                  <a:txBody>
                    <a:bodyPr/>
                    <a:lstStyle/>
                    <a:p>
                      <a:pPr algn="ctr">
                        <a:defRPr sz="550" b="1">
                          <a:solidFill>
                            <a:srgbClr val="1E242B"/>
                          </a:solidFill>
                          <a:latin typeface="Arial"/>
                        </a:defRPr>
                      </a:pPr>
                      <a:r>
                        <a:t>22</a:t>
                      </a:r>
                    </a:p>
                  </a:txBody>
                  <a:tcPr anchor="ctr" marL="36576" marR="36576" marT="9144" marB="9144">
                    <a:solidFill>
                      <a:srgbClr val="EAF7EE"/>
                    </a:solidFill>
                  </a:tcPr>
                </a:tc>
                <a:tc>
                  <a:txBody>
                    <a:bodyPr/>
                    <a:lstStyle/>
                    <a:p>
                      <a:pPr algn="ctr">
                        <a:defRPr sz="550">
                          <a:solidFill>
                            <a:srgbClr val="1E242B"/>
                          </a:solidFill>
                          <a:latin typeface="Arial"/>
                        </a:defRPr>
                      </a:pPr>
                      <a:r>
                        <a:t>Việt Nam</a:t>
                      </a:r>
                    </a:p>
                  </a:txBody>
                  <a:tcPr anchor="ctr" marL="36576" marR="36576" marT="9144" marB="9144">
                    <a:solidFill>
                      <a:srgbClr val="EAF7EE"/>
                    </a:solidFill>
                  </a:tcPr>
                </a:tc>
                <a:tc>
                  <a:txBody>
                    <a:bodyPr/>
                    <a:lstStyle/>
                    <a:p>
                      <a:pPr algn="l">
                        <a:defRPr sz="550">
                          <a:solidFill>
                            <a:srgbClr val="1E242B"/>
                          </a:solidFill>
                          <a:latin typeface="Arial"/>
                        </a:defRPr>
                      </a:pPr>
                      <a:r>
                        <a:t>Thiết bị tự động kiểm tra an toàn điện khi đóng kín nắp (101,69tr / 3.911,15 USD)</a:t>
                      </a:r>
                    </a:p>
                  </a:txBody>
                  <a:tcPr anchor="ctr" marL="36576" marR="36576" marT="9144" marB="9144">
                    <a:solidFill>
                      <a:srgbClr val="EAF7EE"/>
                    </a:solidFill>
                  </a:tcPr>
                </a:tc>
                <a:tc>
                  <a:txBody>
                    <a:bodyPr/>
                    <a:lstStyle/>
                    <a:p>
                      <a:pPr algn="l">
                        <a:defRPr sz="550">
                          <a:solidFill>
                            <a:srgbClr val="1E242B"/>
                          </a:solidFill>
                          <a:latin typeface="Arial"/>
                        </a:defRPr>
                      </a:pPr>
                      <a:r>
                        <a:t>Triển khai ngay</a:t>
                      </a:r>
                    </a:p>
                  </a:txBody>
                  <a:tcPr anchor="ctr" marL="36576" marR="36576" marT="9144" marB="9144">
                    <a:solidFill>
                      <a:srgbClr val="EAF7EE"/>
                    </a:solidFill>
                  </a:tcPr>
                </a:tc>
              </a:tr>
              <a:tr h="272034">
                <a:tc>
                  <a:txBody>
                    <a:bodyPr/>
                    <a:lstStyle/>
                    <a:p>
                      <a:pPr algn="ctr">
                        <a:defRPr sz="550" b="1">
                          <a:solidFill>
                            <a:srgbClr val="1E242B"/>
                          </a:solidFill>
                          <a:latin typeface="Arial"/>
                        </a:defRPr>
                      </a:pPr>
                      <a:r>
                        <a:t>23</a:t>
                      </a:r>
                    </a:p>
                  </a:txBody>
                  <a:tcPr anchor="ctr" marL="36576" marR="36576" marT="9144" marB="9144">
                    <a:solidFill>
                      <a:srgbClr val="F7F9FC"/>
                    </a:solidFill>
                  </a:tcPr>
                </a:tc>
                <a:tc>
                  <a:txBody>
                    <a:bodyPr/>
                    <a:lstStyle/>
                    <a:p>
                      <a:pPr algn="ctr">
                        <a:defRPr sz="550">
                          <a:solidFill>
                            <a:srgbClr val="1E242B"/>
                          </a:solidFill>
                          <a:latin typeface="Arial"/>
                        </a:defRPr>
                      </a:pPr>
                      <a:r>
                        <a:t>Việt Nam</a:t>
                      </a:r>
                    </a:p>
                  </a:txBody>
                  <a:tcPr anchor="ctr" marL="36576" marR="36576" marT="9144" marB="9144">
                    <a:solidFill>
                      <a:srgbClr val="F7F9FC"/>
                    </a:solidFill>
                  </a:tcPr>
                </a:tc>
                <a:tc>
                  <a:txBody>
                    <a:bodyPr/>
                    <a:lstStyle/>
                    <a:p>
                      <a:pPr algn="l">
                        <a:defRPr sz="550">
                          <a:solidFill>
                            <a:srgbClr val="1E242B"/>
                          </a:solidFill>
                          <a:latin typeface="Arial"/>
                        </a:defRPr>
                      </a:pPr>
                      <a:r>
                        <a:t>Chuyển từ Robot đặt bản thảo ISU (25.000 USD) sang nạp quét liên tục qua khay DP</a:t>
                      </a:r>
                    </a:p>
                  </a:txBody>
                  <a:tcPr anchor="ctr" marL="36576" marR="36576" marT="9144" marB="9144">
                    <a:solidFill>
                      <a:srgbClr val="F7F9FC"/>
                    </a:solidFill>
                  </a:tcPr>
                </a:tc>
                <a:tc>
                  <a:txBody>
                    <a:bodyPr/>
                    <a:lstStyle/>
                    <a:p>
                      <a:pPr algn="l">
                        <a:defRPr sz="550">
                          <a:solidFill>
                            <a:srgbClr val="1E242B"/>
                          </a:solidFill>
                          <a:latin typeface="Arial"/>
                        </a:defRPr>
                      </a:pPr>
                      <a:r>
                        <a:t>Đang thiết kế</a:t>
                      </a:r>
                    </a:p>
                  </a:txBody>
                  <a:tcPr anchor="ctr" marL="36576" marR="36576" marT="9144" marB="9144">
                    <a:solidFill>
                      <a:srgbClr val="F7F9FC"/>
                    </a:solidFill>
                  </a:tcPr>
                </a:tc>
              </a:tr>
              <a:tr h="272034">
                <a:tc>
                  <a:txBody>
                    <a:bodyPr/>
                    <a:lstStyle/>
                    <a:p>
                      <a:pPr algn="ctr">
                        <a:defRPr sz="550" b="1">
                          <a:solidFill>
                            <a:srgbClr val="1E242B"/>
                          </a:solidFill>
                          <a:latin typeface="Arial"/>
                        </a:defRPr>
                      </a:pPr>
                      <a:r>
                        <a:t>24</a:t>
                      </a:r>
                    </a:p>
                  </a:txBody>
                  <a:tcPr anchor="ctr" marL="36576" marR="36576" marT="9144" marB="9144">
                    <a:solidFill>
                      <a:srgbClr val="FFFFFF"/>
                    </a:solidFill>
                  </a:tcPr>
                </a:tc>
                <a:tc>
                  <a:txBody>
                    <a:bodyPr/>
                    <a:lstStyle/>
                    <a:p>
                      <a:pPr algn="ctr">
                        <a:defRPr sz="550">
                          <a:solidFill>
                            <a:srgbClr val="1E242B"/>
                          </a:solidFill>
                          <a:latin typeface="Arial"/>
                        </a:defRPr>
                      </a:pPr>
                      <a:r>
                        <a:t>Việt Nam</a:t>
                      </a:r>
                    </a:p>
                  </a:txBody>
                  <a:tcPr anchor="ctr" marL="36576" marR="36576" marT="9144" marB="9144">
                    <a:solidFill>
                      <a:srgbClr val="FFFFFF"/>
                    </a:solidFill>
                  </a:tcPr>
                </a:tc>
                <a:tc>
                  <a:txBody>
                    <a:bodyPr/>
                    <a:lstStyle/>
                    <a:p>
                      <a:pPr algn="l">
                        <a:defRPr sz="550">
                          <a:solidFill>
                            <a:srgbClr val="1E242B"/>
                          </a:solidFill>
                          <a:latin typeface="Arial"/>
                        </a:defRPr>
                      </a:pPr>
                      <a:r>
                        <a:t>Hủy đầu tư Robot cắm USB &amp; chạm U201 (4.000 USD); thay bằng log Host PC</a:t>
                      </a:r>
                    </a:p>
                  </a:txBody>
                  <a:tcPr anchor="ctr" marL="36576" marR="36576" marT="9144" marB="9144">
                    <a:solidFill>
                      <a:srgbClr val="FFFFFF"/>
                    </a:solidFill>
                  </a:tcPr>
                </a:tc>
                <a:tc>
                  <a:txBody>
                    <a:bodyPr/>
                    <a:lstStyle/>
                    <a:p>
                      <a:pPr algn="l">
                        <a:defRPr sz="550">
                          <a:solidFill>
                            <a:srgbClr val="1E242B"/>
                          </a:solidFill>
                          <a:latin typeface="Arial"/>
                        </a:defRPr>
                      </a:pPr>
                      <a:r>
                        <a:t>Hủy Robot</a:t>
                      </a:r>
                    </a:p>
                  </a:txBody>
                  <a:tcPr anchor="ctr" marL="36576" marR="36576" marT="9144" marB="9144">
                    <a:solidFill>
                      <a:srgbClr val="FFFFFF"/>
                    </a:solidFill>
                  </a:tcPr>
                </a:tc>
              </a:tr>
              <a:tr h="272034">
                <a:tc>
                  <a:txBody>
                    <a:bodyPr/>
                    <a:lstStyle/>
                    <a:p>
                      <a:pPr algn="ctr">
                        <a:defRPr sz="550" b="1">
                          <a:solidFill>
                            <a:srgbClr val="1E242B"/>
                          </a:solidFill>
                          <a:latin typeface="Arial"/>
                        </a:defRPr>
                      </a:pPr>
                      <a:r>
                        <a:t>25</a:t>
                      </a:r>
                    </a:p>
                  </a:txBody>
                  <a:tcPr anchor="ctr" marL="36576" marR="36576" marT="9144" marB="9144">
                    <a:solidFill>
                      <a:srgbClr val="EAF7EE"/>
                    </a:solidFill>
                  </a:tcPr>
                </a:tc>
                <a:tc>
                  <a:txBody>
                    <a:bodyPr/>
                    <a:lstStyle/>
                    <a:p>
                      <a:pPr algn="ctr">
                        <a:defRPr sz="550">
                          <a:solidFill>
                            <a:srgbClr val="1E242B"/>
                          </a:solidFill>
                          <a:latin typeface="Arial"/>
                        </a:defRPr>
                      </a:pPr>
                      <a:r>
                        <a:t>Việt Nam</a:t>
                      </a:r>
                    </a:p>
                  </a:txBody>
                  <a:tcPr anchor="ctr" marL="36576" marR="36576" marT="9144" marB="9144">
                    <a:solidFill>
                      <a:srgbClr val="EAF7EE"/>
                    </a:solidFill>
                  </a:tcPr>
                </a:tc>
                <a:tc>
                  <a:txBody>
                    <a:bodyPr/>
                    <a:lstStyle/>
                    <a:p>
                      <a:pPr algn="l">
                        <a:defRPr sz="550">
                          <a:solidFill>
                            <a:srgbClr val="1E242B"/>
                          </a:solidFill>
                          <a:latin typeface="Arial"/>
                        </a:defRPr>
                      </a:pPr>
                      <a:r>
                        <a:t>Lắp thêm khay nạp bản gốc (DP) vào máy thực nghiệm để quét liên tục + PC chấm</a:t>
                      </a:r>
                    </a:p>
                  </a:txBody>
                  <a:tcPr anchor="ctr" marL="36576" marR="36576" marT="9144" marB="9144">
                    <a:solidFill>
                      <a:srgbClr val="EAF7EE"/>
                    </a:solidFill>
                  </a:tcPr>
                </a:tc>
                <a:tc>
                  <a:txBody>
                    <a:bodyPr/>
                    <a:lstStyle/>
                    <a:p>
                      <a:pPr algn="l">
                        <a:defRPr sz="550">
                          <a:solidFill>
                            <a:srgbClr val="1E242B"/>
                          </a:solidFill>
                          <a:latin typeface="Arial"/>
                        </a:defRPr>
                      </a:pPr>
                      <a:r>
                        <a:t>Đang thiết kế</a:t>
                      </a:r>
                    </a:p>
                  </a:txBody>
                  <a:tcPr anchor="ctr" marL="36576" marR="36576" marT="9144" marB="9144">
                    <a:solidFill>
                      <a:srgbClr val="EAF7EE"/>
                    </a:solidFill>
                  </a:tcPr>
                </a:tc>
              </a:tr>
              <a:tr h="272034">
                <a:tc>
                  <a:txBody>
                    <a:bodyPr/>
                    <a:lstStyle/>
                    <a:p>
                      <a:pPr algn="ctr">
                        <a:defRPr sz="550" b="1">
                          <a:solidFill>
                            <a:srgbClr val="1E242B"/>
                          </a:solidFill>
                          <a:latin typeface="Arial"/>
                        </a:defRPr>
                      </a:pPr>
                      <a:r>
                        <a:t>26</a:t>
                      </a:r>
                    </a:p>
                  </a:txBody>
                  <a:tcPr anchor="ctr" marL="36576" marR="36576" marT="9144" marB="9144">
                    <a:solidFill>
                      <a:srgbClr val="FFFFFF"/>
                    </a:solidFill>
                  </a:tcPr>
                </a:tc>
                <a:tc>
                  <a:txBody>
                    <a:bodyPr/>
                    <a:lstStyle/>
                    <a:p>
                      <a:pPr algn="ctr">
                        <a:defRPr sz="550">
                          <a:solidFill>
                            <a:srgbClr val="1E242B"/>
                          </a:solidFill>
                          <a:latin typeface="Arial"/>
                        </a:defRPr>
                      </a:pPr>
                      <a:r>
                        <a:t>Việt Nam</a:t>
                      </a:r>
                    </a:p>
                  </a:txBody>
                  <a:tcPr anchor="ctr" marL="36576" marR="36576" marT="9144" marB="9144">
                    <a:solidFill>
                      <a:srgbClr val="FFFFFF"/>
                    </a:solidFill>
                  </a:tcPr>
                </a:tc>
                <a:tc>
                  <a:txBody>
                    <a:bodyPr/>
                    <a:lstStyle/>
                    <a:p>
                      <a:pPr algn="l">
                        <a:defRPr sz="550">
                          <a:solidFill>
                            <a:srgbClr val="1E242B"/>
                          </a:solidFill>
                          <a:latin typeface="Arial"/>
                        </a:defRPr>
                      </a:pPr>
                      <a:r>
                        <a:t>Phát triển phần mềm AI tự động phát hiện tiếng kêu lạ &amp; nhiệt độ (~600 vạn JPY)</a:t>
                      </a:r>
                    </a:p>
                  </a:txBody>
                  <a:tcPr anchor="ctr" marL="36576" marR="36576" marT="9144" marB="9144">
                    <a:solidFill>
                      <a:srgbClr val="FFFFFF"/>
                    </a:solidFill>
                  </a:tcPr>
                </a:tc>
                <a:tc>
                  <a:txBody>
                    <a:bodyPr/>
                    <a:lstStyle/>
                    <a:p>
                      <a:pPr algn="l">
                        <a:defRPr sz="550">
                          <a:solidFill>
                            <a:srgbClr val="1E242B"/>
                          </a:solidFill>
                          <a:latin typeface="Arial"/>
                        </a:defRPr>
                      </a:pPr>
                      <a:r>
                        <a:t>R&amp;D 2026-2030</a:t>
                      </a:r>
                    </a:p>
                  </a:txBody>
                  <a:tcPr anchor="ctr" marL="36576" marR="36576" marT="9144" marB="9144">
                    <a:solidFill>
                      <a:srgbClr val="FFFFFF"/>
                    </a:solidFill>
                  </a:tcPr>
                </a:tc>
              </a:tr>
              <a:tr h="272034">
                <a:tc>
                  <a:txBody>
                    <a:bodyPr/>
                    <a:lstStyle/>
                    <a:p>
                      <a:pPr algn="ctr">
                        <a:defRPr sz="550" b="1">
                          <a:solidFill>
                            <a:srgbClr val="1E242B"/>
                          </a:solidFill>
                          <a:latin typeface="Arial"/>
                        </a:defRPr>
                      </a:pPr>
                      <a:r>
                        <a:t>27</a:t>
                      </a:r>
                    </a:p>
                  </a:txBody>
                  <a:tcPr anchor="ctr" marL="36576" marR="36576" marT="9144" marB="9144">
                    <a:solidFill>
                      <a:srgbClr val="EAF7EE"/>
                    </a:solidFill>
                  </a:tcPr>
                </a:tc>
                <a:tc>
                  <a:txBody>
                    <a:bodyPr/>
                    <a:lstStyle/>
                    <a:p>
                      <a:pPr algn="ctr">
                        <a:defRPr sz="550">
                          <a:solidFill>
                            <a:srgbClr val="1E242B"/>
                          </a:solidFill>
                          <a:latin typeface="Arial"/>
                        </a:defRPr>
                      </a:pPr>
                      <a:r>
                        <a:t>Việt Nam</a:t>
                      </a:r>
                    </a:p>
                  </a:txBody>
                  <a:tcPr anchor="ctr" marL="36576" marR="36576" marT="9144" marB="9144">
                    <a:solidFill>
                      <a:srgbClr val="EAF7EE"/>
                    </a:solidFill>
                  </a:tcPr>
                </a:tc>
                <a:tc>
                  <a:txBody>
                    <a:bodyPr/>
                    <a:lstStyle/>
                    <a:p>
                      <a:pPr algn="l">
                        <a:defRPr sz="550">
                          <a:solidFill>
                            <a:srgbClr val="1E242B"/>
                          </a:solidFill>
                          <a:latin typeface="Arial"/>
                        </a:defRPr>
                      </a:pPr>
                      <a:r>
                        <a:t>Cụm Camera HIKROBOT đo nồng độ màu (192s-&gt;15s), đo lề bản in và quét PPT</a:t>
                      </a:r>
                    </a:p>
                  </a:txBody>
                  <a:tcPr anchor="ctr" marL="36576" marR="36576" marT="9144" marB="9144">
                    <a:solidFill>
                      <a:srgbClr val="EAF7EE"/>
                    </a:solidFill>
                  </a:tcPr>
                </a:tc>
                <a:tc>
                  <a:txBody>
                    <a:bodyPr/>
                    <a:lstStyle/>
                    <a:p>
                      <a:pPr algn="l">
                        <a:defRPr sz="550">
                          <a:solidFill>
                            <a:srgbClr val="1E242B"/>
                          </a:solidFill>
                          <a:latin typeface="Arial"/>
                        </a:defRPr>
                      </a:pPr>
                      <a:r>
                        <a:t>Đang thiết kế</a:t>
                      </a:r>
                    </a:p>
                  </a:txBody>
                  <a:tcPr anchor="ctr" marL="36576" marR="36576" marT="9144" marB="9144">
                    <a:solidFill>
                      <a:srgbClr val="EAF7EE"/>
                    </a:solidFill>
                  </a:tcPr>
                </a:tc>
              </a:tr>
              <a:tr h="272034">
                <a:tc>
                  <a:txBody>
                    <a:bodyPr/>
                    <a:lstStyle/>
                    <a:p>
                      <a:pPr algn="ctr">
                        <a:defRPr sz="550" b="1">
                          <a:solidFill>
                            <a:srgbClr val="1E242B"/>
                          </a:solidFill>
                          <a:latin typeface="Arial"/>
                        </a:defRPr>
                      </a:pPr>
                      <a:r>
                        <a:t>28</a:t>
                      </a:r>
                    </a:p>
                  </a:txBody>
                  <a:tcPr anchor="ctr" marL="36576" marR="36576" marT="9144" marB="9144">
                    <a:solidFill>
                      <a:srgbClr val="EAF7EE"/>
                    </a:solidFill>
                  </a:tcPr>
                </a:tc>
                <a:tc>
                  <a:txBody>
                    <a:bodyPr/>
                    <a:lstStyle/>
                    <a:p>
                      <a:pPr algn="ctr">
                        <a:defRPr sz="550">
                          <a:solidFill>
                            <a:srgbClr val="1E242B"/>
                          </a:solidFill>
                          <a:latin typeface="Arial"/>
                        </a:defRPr>
                      </a:pPr>
                      <a:r>
                        <a:t>Việt Nam</a:t>
                      </a:r>
                    </a:p>
                  </a:txBody>
                  <a:tcPr anchor="ctr" marL="36576" marR="36576" marT="9144" marB="9144">
                    <a:solidFill>
                      <a:srgbClr val="EAF7EE"/>
                    </a:solidFill>
                  </a:tcPr>
                </a:tc>
                <a:tc>
                  <a:txBody>
                    <a:bodyPr/>
                    <a:lstStyle/>
                    <a:p>
                      <a:pPr algn="l">
                        <a:defRPr sz="550">
                          <a:solidFill>
                            <a:srgbClr val="1E242B"/>
                          </a:solidFill>
                          <a:latin typeface="Arial"/>
                        </a:defRPr>
                      </a:pPr>
                      <a:r>
                        <a:t>Ứng dụng AI phân tích video thao tác &amp; tự động hóa thiết lập xuất hàng (-50s)</a:t>
                      </a:r>
                    </a:p>
                  </a:txBody>
                  <a:tcPr anchor="ctr" marL="36576" marR="36576" marT="9144" marB="9144">
                    <a:solidFill>
                      <a:srgbClr val="EAF7EE"/>
                    </a:solidFill>
                  </a:tcPr>
                </a:tc>
                <a:tc>
                  <a:txBody>
                    <a:bodyPr/>
                    <a:lstStyle/>
                    <a:p>
                      <a:pPr algn="l">
                        <a:defRPr sz="550">
                          <a:solidFill>
                            <a:srgbClr val="1E242B"/>
                          </a:solidFill>
                          <a:latin typeface="Arial"/>
                        </a:defRPr>
                      </a:pPr>
                      <a:r>
                        <a:t>Triển khai ngay</a:t>
                      </a:r>
                    </a:p>
                  </a:txBody>
                  <a:tcPr anchor="ctr" marL="36576" marR="36576" marT="9144" marB="9144">
                    <a:solidFill>
                      <a:srgbClr val="EAF7EE"/>
                    </a:solidFill>
                  </a:tcPr>
                </a:tc>
              </a:tr>
              <a:tr h="272034">
                <a:tc>
                  <a:txBody>
                    <a:bodyPr/>
                    <a:lstStyle/>
                    <a:p>
                      <a:pPr algn="ctr">
                        <a:defRPr sz="550" b="1">
                          <a:solidFill>
                            <a:srgbClr val="1E242B"/>
                          </a:solidFill>
                          <a:latin typeface="Arial"/>
                        </a:defRPr>
                      </a:pPr>
                      <a:r>
                        <a:t>29</a:t>
                      </a:r>
                    </a:p>
                  </a:txBody>
                  <a:tcPr anchor="ctr" marL="36576" marR="36576" marT="9144" marB="9144">
                    <a:solidFill>
                      <a:srgbClr val="F7F9FC"/>
                    </a:solidFill>
                  </a:tcPr>
                </a:tc>
                <a:tc>
                  <a:txBody>
                    <a:bodyPr/>
                    <a:lstStyle/>
                    <a:p>
                      <a:pPr algn="ctr">
                        <a:defRPr sz="550">
                          <a:solidFill>
                            <a:srgbClr val="1E242B"/>
                          </a:solidFill>
                          <a:latin typeface="Arial"/>
                        </a:defRPr>
                      </a:pPr>
                      <a:r>
                        <a:t>VN bổ sung</a:t>
                      </a:r>
                    </a:p>
                  </a:txBody>
                  <a:tcPr anchor="ctr" marL="36576" marR="36576" marT="9144" marB="9144">
                    <a:solidFill>
                      <a:srgbClr val="F7F9FC"/>
                    </a:solidFill>
                  </a:tcPr>
                </a:tc>
                <a:tc>
                  <a:txBody>
                    <a:bodyPr/>
                    <a:lstStyle/>
                    <a:p>
                      <a:pPr algn="l">
                        <a:defRPr sz="550">
                          <a:solidFill>
                            <a:srgbClr val="1E242B"/>
                          </a:solidFill>
                          <a:latin typeface="Arial"/>
                        </a:defRPr>
                      </a:pPr>
                      <a:r>
                        <a:t>A1: Cải tiến FW/bản mạch để tự động kiểm tra hộp mực (bỏ gắn/tháo gá hộp mực)</a:t>
                      </a:r>
                    </a:p>
                  </a:txBody>
                  <a:tcPr anchor="ctr" marL="36576" marR="36576" marT="9144" marB="9144">
                    <a:solidFill>
                      <a:srgbClr val="F7F9FC"/>
                    </a:solidFill>
                  </a:tcPr>
                </a:tc>
                <a:tc>
                  <a:txBody>
                    <a:bodyPr/>
                    <a:lstStyle/>
                    <a:p>
                      <a:pPr algn="l">
                        <a:defRPr sz="550">
                          <a:solidFill>
                            <a:srgbClr val="1E242B"/>
                          </a:solidFill>
                          <a:latin typeface="Arial"/>
                        </a:defRPr>
                      </a:pPr>
                      <a:r>
                        <a:t>Chờ JP xác nhận</a:t>
                      </a:r>
                    </a:p>
                  </a:txBody>
                  <a:tcPr anchor="ctr" marL="36576" marR="36576" marT="9144" marB="9144">
                    <a:solidFill>
                      <a:srgbClr val="F7F9FC"/>
                    </a:solidFill>
                  </a:tcPr>
                </a:tc>
              </a:tr>
              <a:tr h="272034">
                <a:tc>
                  <a:txBody>
                    <a:bodyPr/>
                    <a:lstStyle/>
                    <a:p>
                      <a:pPr algn="ctr">
                        <a:defRPr sz="550" b="1">
                          <a:solidFill>
                            <a:srgbClr val="1E242B"/>
                          </a:solidFill>
                          <a:latin typeface="Arial"/>
                        </a:defRPr>
                      </a:pPr>
                      <a:r>
                        <a:t>30</a:t>
                      </a:r>
                    </a:p>
                  </a:txBody>
                  <a:tcPr anchor="ctr" marL="36576" marR="36576" marT="9144" marB="9144">
                    <a:solidFill>
                      <a:srgbClr val="EAF7EE"/>
                    </a:solidFill>
                  </a:tcPr>
                </a:tc>
                <a:tc>
                  <a:txBody>
                    <a:bodyPr/>
                    <a:lstStyle/>
                    <a:p>
                      <a:pPr algn="ctr">
                        <a:defRPr sz="550">
                          <a:solidFill>
                            <a:srgbClr val="1E242B"/>
                          </a:solidFill>
                          <a:latin typeface="Arial"/>
                        </a:defRPr>
                      </a:pPr>
                      <a:r>
                        <a:t>VN bổ sung</a:t>
                      </a:r>
                    </a:p>
                  </a:txBody>
                  <a:tcPr anchor="ctr" marL="36576" marR="36576" marT="9144" marB="9144">
                    <a:solidFill>
                      <a:srgbClr val="EAF7EE"/>
                    </a:solidFill>
                  </a:tcPr>
                </a:tc>
                <a:tc>
                  <a:txBody>
                    <a:bodyPr/>
                    <a:lstStyle/>
                    <a:p>
                      <a:pPr algn="l">
                        <a:defRPr sz="550">
                          <a:solidFill>
                            <a:srgbClr val="1E242B"/>
                          </a:solidFill>
                          <a:latin typeface="Arial"/>
                        </a:defRPr>
                      </a:pPr>
                      <a:r>
                        <a:t>A1: Đọc Barcode thân máy tự động &amp; đồng bộ xóa cài đặt ngưỡng WTB U155</a:t>
                      </a:r>
                    </a:p>
                  </a:txBody>
                  <a:tcPr anchor="ctr" marL="36576" marR="36576" marT="9144" marB="9144">
                    <a:solidFill>
                      <a:srgbClr val="EAF7EE"/>
                    </a:solidFill>
                  </a:tcPr>
                </a:tc>
                <a:tc>
                  <a:txBody>
                    <a:bodyPr/>
                    <a:lstStyle/>
                    <a:p>
                      <a:pPr algn="l">
                        <a:defRPr sz="550">
                          <a:solidFill>
                            <a:srgbClr val="1E242B"/>
                          </a:solidFill>
                          <a:latin typeface="Arial"/>
                        </a:defRPr>
                      </a:pPr>
                      <a:r>
                        <a:t>Triển khai ngay</a:t>
                      </a:r>
                    </a:p>
                  </a:txBody>
                  <a:tcPr anchor="ctr" marL="36576" marR="36576" marT="9144" marB="9144">
                    <a:solidFill>
                      <a:srgbClr val="EAF7EE"/>
                    </a:solidFill>
                  </a:tcPr>
                </a:tc>
              </a:tr>
              <a:tr h="272034">
                <a:tc>
                  <a:txBody>
                    <a:bodyPr/>
                    <a:lstStyle/>
                    <a:p>
                      <a:pPr algn="ctr">
                        <a:defRPr sz="550" b="1">
                          <a:solidFill>
                            <a:srgbClr val="1E242B"/>
                          </a:solidFill>
                          <a:latin typeface="Arial"/>
                        </a:defRPr>
                      </a:pPr>
                      <a:r>
                        <a:t>31</a:t>
                      </a:r>
                    </a:p>
                  </a:txBody>
                  <a:tcPr anchor="ctr" marL="36576" marR="36576" marT="9144" marB="9144">
                    <a:solidFill>
                      <a:srgbClr val="F7F9FC"/>
                    </a:solidFill>
                  </a:tcPr>
                </a:tc>
                <a:tc>
                  <a:txBody>
                    <a:bodyPr/>
                    <a:lstStyle/>
                    <a:p>
                      <a:pPr algn="ctr">
                        <a:defRPr sz="550">
                          <a:solidFill>
                            <a:srgbClr val="1E242B"/>
                          </a:solidFill>
                          <a:latin typeface="Arial"/>
                        </a:defRPr>
                      </a:pPr>
                      <a:r>
                        <a:t>VN bổ sung</a:t>
                      </a:r>
                    </a:p>
                  </a:txBody>
                  <a:tcPr anchor="ctr" marL="36576" marR="36576" marT="9144" marB="9144">
                    <a:solidFill>
                      <a:srgbClr val="F7F9FC"/>
                    </a:solidFill>
                  </a:tcPr>
                </a:tc>
                <a:tc>
                  <a:txBody>
                    <a:bodyPr/>
                    <a:lstStyle/>
                    <a:p>
                      <a:pPr algn="l">
                        <a:defRPr sz="550">
                          <a:solidFill>
                            <a:srgbClr val="1E242B"/>
                          </a:solidFill>
                          <a:latin typeface="Arial"/>
                        </a:defRPr>
                      </a:pPr>
                      <a:r>
                        <a:t>A5: Tích hợp kiểm tra 2Way Clutch vào Color Regist -&gt; Hủy in tờ RCG trước U950</a:t>
                      </a:r>
                    </a:p>
                  </a:txBody>
                  <a:tcPr anchor="ctr" marL="36576" marR="36576" marT="9144" marB="9144">
                    <a:solidFill>
                      <a:srgbClr val="F7F9FC"/>
                    </a:solidFill>
                  </a:tcPr>
                </a:tc>
                <a:tc>
                  <a:txBody>
                    <a:bodyPr/>
                    <a:lstStyle/>
                    <a:p>
                      <a:pPr algn="l">
                        <a:defRPr sz="550">
                          <a:solidFill>
                            <a:srgbClr val="1E242B"/>
                          </a:solidFill>
                          <a:latin typeface="Arial"/>
                        </a:defRPr>
                      </a:pPr>
                      <a:r>
                        <a:t>Chờ JP xác nhận</a:t>
                      </a:r>
                    </a:p>
                  </a:txBody>
                  <a:tcPr anchor="ctr" marL="36576" marR="36576" marT="9144" marB="9144">
                    <a:solidFill>
                      <a:srgbClr val="F7F9FC"/>
                    </a:solidFill>
                  </a:tcPr>
                </a:tc>
              </a:tr>
              <a:tr h="272034">
                <a:tc>
                  <a:txBody>
                    <a:bodyPr/>
                    <a:lstStyle/>
                    <a:p>
                      <a:pPr algn="ctr">
                        <a:defRPr sz="550" b="1">
                          <a:solidFill>
                            <a:srgbClr val="1E242B"/>
                          </a:solidFill>
                          <a:latin typeface="Arial"/>
                        </a:defRPr>
                      </a:pPr>
                      <a:r>
                        <a:t>32</a:t>
                      </a:r>
                    </a:p>
                  </a:txBody>
                  <a:tcPr anchor="ctr" marL="36576" marR="36576" marT="9144" marB="9144">
                    <a:solidFill>
                      <a:srgbClr val="FFFFFF"/>
                    </a:solidFill>
                  </a:tcPr>
                </a:tc>
                <a:tc>
                  <a:txBody>
                    <a:bodyPr/>
                    <a:lstStyle/>
                    <a:p>
                      <a:pPr algn="ctr">
                        <a:defRPr sz="550">
                          <a:solidFill>
                            <a:srgbClr val="1E242B"/>
                          </a:solidFill>
                          <a:latin typeface="Arial"/>
                        </a:defRPr>
                      </a:pPr>
                      <a:r>
                        <a:t>VN bổ sung</a:t>
                      </a:r>
                    </a:p>
                  </a:txBody>
                  <a:tcPr anchor="ctr" marL="36576" marR="36576" marT="9144" marB="9144">
                    <a:solidFill>
                      <a:srgbClr val="FFFFFF"/>
                    </a:solidFill>
                  </a:tcPr>
                </a:tc>
                <a:tc>
                  <a:txBody>
                    <a:bodyPr/>
                    <a:lstStyle/>
                    <a:p>
                      <a:pPr algn="l">
                        <a:defRPr sz="550">
                          <a:solidFill>
                            <a:srgbClr val="1E242B"/>
                          </a:solidFill>
                          <a:latin typeface="Arial"/>
                        </a:defRPr>
                      </a:pPr>
                      <a:r>
                        <a:t>A7: Xem xét lại quy trình Aging U950 (285s) để rút ngắn thời gian chu kỳ máy</a:t>
                      </a:r>
                    </a:p>
                  </a:txBody>
                  <a:tcPr anchor="ctr" marL="36576" marR="36576" marT="9144" marB="9144">
                    <a:solidFill>
                      <a:srgbClr val="FFFFFF"/>
                    </a:solidFill>
                  </a:tcPr>
                </a:tc>
                <a:tc>
                  <a:txBody>
                    <a:bodyPr/>
                    <a:lstStyle/>
                    <a:p>
                      <a:pPr algn="l">
                        <a:defRPr sz="550">
                          <a:solidFill>
                            <a:srgbClr val="1E242B"/>
                          </a:solidFill>
                          <a:latin typeface="Arial"/>
                        </a:defRPr>
                      </a:pPr>
                      <a:r>
                        <a:t>Chờ JP xác nhận</a:t>
                      </a:r>
                    </a:p>
                  </a:txBody>
                  <a:tcPr anchor="ctr" marL="36576" marR="36576" marT="9144" marB="9144">
                    <a:solidFill>
                      <a:srgbClr val="FFFFFF"/>
                    </a:solidFill>
                  </a:tcPr>
                </a:tc>
              </a:tr>
              <a:tr h="272034">
                <a:tc>
                  <a:txBody>
                    <a:bodyPr/>
                    <a:lstStyle/>
                    <a:p>
                      <a:pPr algn="ctr">
                        <a:defRPr sz="550" b="1">
                          <a:solidFill>
                            <a:srgbClr val="1E242B"/>
                          </a:solidFill>
                          <a:latin typeface="Arial"/>
                        </a:defRPr>
                      </a:pPr>
                      <a:r>
                        <a:t>33</a:t>
                      </a:r>
                    </a:p>
                  </a:txBody>
                  <a:tcPr anchor="ctr" marL="36576" marR="36576" marT="9144" marB="9144">
                    <a:solidFill>
                      <a:srgbClr val="F7F9FC"/>
                    </a:solidFill>
                  </a:tcPr>
                </a:tc>
                <a:tc>
                  <a:txBody>
                    <a:bodyPr/>
                    <a:lstStyle/>
                    <a:p>
                      <a:pPr algn="ctr">
                        <a:defRPr sz="550">
                          <a:solidFill>
                            <a:srgbClr val="1E242B"/>
                          </a:solidFill>
                          <a:latin typeface="Arial"/>
                        </a:defRPr>
                      </a:pPr>
                      <a:r>
                        <a:t>VN bổ sung</a:t>
                      </a:r>
                    </a:p>
                  </a:txBody>
                  <a:tcPr anchor="ctr" marL="36576" marR="36576" marT="9144" marB="9144">
                    <a:solidFill>
                      <a:srgbClr val="F7F9FC"/>
                    </a:solidFill>
                  </a:tcPr>
                </a:tc>
                <a:tc>
                  <a:txBody>
                    <a:bodyPr/>
                    <a:lstStyle/>
                    <a:p>
                      <a:pPr algn="l">
                        <a:defRPr sz="550">
                          <a:solidFill>
                            <a:srgbClr val="1E242B"/>
                          </a:solidFill>
                          <a:latin typeface="Arial"/>
                        </a:defRPr>
                      </a:pPr>
                      <a:r>
                        <a:t>A8: Tích hợp kiểm tra góc vuông RCG Ledger vào Color Regist -&gt; Hủy tờ RCG Ledger</a:t>
                      </a:r>
                    </a:p>
                  </a:txBody>
                  <a:tcPr anchor="ctr" marL="36576" marR="36576" marT="9144" marB="9144">
                    <a:solidFill>
                      <a:srgbClr val="F7F9FC"/>
                    </a:solidFill>
                  </a:tcPr>
                </a:tc>
                <a:tc>
                  <a:txBody>
                    <a:bodyPr/>
                    <a:lstStyle/>
                    <a:p>
                      <a:pPr algn="l">
                        <a:defRPr sz="550">
                          <a:solidFill>
                            <a:srgbClr val="1E242B"/>
                          </a:solidFill>
                          <a:latin typeface="Arial"/>
                        </a:defRPr>
                      </a:pPr>
                      <a:r>
                        <a:t>Chờ JP xác nhận</a:t>
                      </a:r>
                    </a:p>
                  </a:txBody>
                  <a:tcPr anchor="ctr" marL="36576" marR="36576" marT="9144" marB="9144">
                    <a:solidFill>
                      <a:srgbClr val="F7F9FC"/>
                    </a:solidFill>
                  </a:tcPr>
                </a:tc>
              </a:tr>
              <a:tr h="272034">
                <a:tc>
                  <a:txBody>
                    <a:bodyPr/>
                    <a:lstStyle/>
                    <a:p>
                      <a:pPr algn="ctr">
                        <a:defRPr sz="550" b="1">
                          <a:solidFill>
                            <a:srgbClr val="1E242B"/>
                          </a:solidFill>
                          <a:latin typeface="Arial"/>
                        </a:defRPr>
                      </a:pPr>
                      <a:r>
                        <a:t>34</a:t>
                      </a:r>
                    </a:p>
                  </a:txBody>
                  <a:tcPr anchor="ctr" marL="36576" marR="36576" marT="9144" marB="9144">
                    <a:solidFill>
                      <a:srgbClr val="FFFFFF"/>
                    </a:solidFill>
                  </a:tcPr>
                </a:tc>
                <a:tc>
                  <a:txBody>
                    <a:bodyPr/>
                    <a:lstStyle/>
                    <a:p>
                      <a:pPr algn="ctr">
                        <a:defRPr sz="550">
                          <a:solidFill>
                            <a:srgbClr val="1E242B"/>
                          </a:solidFill>
                          <a:latin typeface="Arial"/>
                        </a:defRPr>
                      </a:pPr>
                      <a:r>
                        <a:t>VN bổ sung</a:t>
                      </a:r>
                    </a:p>
                  </a:txBody>
                  <a:tcPr anchor="ctr" marL="36576" marR="36576" marT="9144" marB="9144">
                    <a:solidFill>
                      <a:srgbClr val="FFFFFF"/>
                    </a:solidFill>
                  </a:tcPr>
                </a:tc>
                <a:tc>
                  <a:txBody>
                    <a:bodyPr/>
                    <a:lstStyle/>
                    <a:p>
                      <a:pPr algn="l">
                        <a:defRPr sz="550">
                          <a:solidFill>
                            <a:srgbClr val="1E242B"/>
                          </a:solidFill>
                          <a:latin typeface="Arial"/>
                        </a:defRPr>
                      </a:pPr>
                      <a:r>
                        <a:t>A8: Tích hợp RCG LSU SKEW vào RCG Color Regist -&gt; Hủy tờ RCG LSU Skew</a:t>
                      </a:r>
                    </a:p>
                  </a:txBody>
                  <a:tcPr anchor="ctr" marL="36576" marR="36576" marT="9144" marB="9144">
                    <a:solidFill>
                      <a:srgbClr val="FFFFFF"/>
                    </a:solidFill>
                  </a:tcPr>
                </a:tc>
                <a:tc>
                  <a:txBody>
                    <a:bodyPr/>
                    <a:lstStyle/>
                    <a:p>
                      <a:pPr algn="l">
                        <a:defRPr sz="550">
                          <a:solidFill>
                            <a:srgbClr val="1E242B"/>
                          </a:solidFill>
                          <a:latin typeface="Arial"/>
                        </a:defRPr>
                      </a:pPr>
                      <a:r>
                        <a:t>Chờ JP xác nhận</a:t>
                      </a:r>
                    </a:p>
                  </a:txBody>
                  <a:tcPr anchor="ctr" marL="36576" marR="36576" marT="9144" marB="9144">
                    <a:solidFill>
                      <a:srgbClr val="FFFFFF"/>
                    </a:solidFill>
                  </a:tcPr>
                </a:tc>
              </a:tr>
              <a:tr h="272034">
                <a:tc>
                  <a:txBody>
                    <a:bodyPr/>
                    <a:lstStyle/>
                    <a:p>
                      <a:pPr algn="ctr">
                        <a:defRPr sz="550" b="1">
                          <a:solidFill>
                            <a:srgbClr val="1E242B"/>
                          </a:solidFill>
                          <a:latin typeface="Arial"/>
                        </a:defRPr>
                      </a:pPr>
                      <a:r>
                        <a:t>35</a:t>
                      </a:r>
                    </a:p>
                  </a:txBody>
                  <a:tcPr anchor="ctr" marL="36576" marR="36576" marT="9144" marB="9144">
                    <a:solidFill>
                      <a:srgbClr val="F7F9FC"/>
                    </a:solidFill>
                  </a:tcPr>
                </a:tc>
                <a:tc>
                  <a:txBody>
                    <a:bodyPr/>
                    <a:lstStyle/>
                    <a:p>
                      <a:pPr algn="ctr">
                        <a:defRPr sz="550">
                          <a:solidFill>
                            <a:srgbClr val="1E242B"/>
                          </a:solidFill>
                          <a:latin typeface="Arial"/>
                        </a:defRPr>
                      </a:pPr>
                      <a:r>
                        <a:t>VN bổ sung</a:t>
                      </a:r>
                    </a:p>
                  </a:txBody>
                  <a:tcPr anchor="ctr" marL="36576" marR="36576" marT="9144" marB="9144">
                    <a:solidFill>
                      <a:srgbClr val="F7F9FC"/>
                    </a:solidFill>
                  </a:tcPr>
                </a:tc>
                <a:tc>
                  <a:txBody>
                    <a:bodyPr/>
                    <a:lstStyle/>
                    <a:p>
                      <a:pPr algn="l">
                        <a:defRPr sz="550">
                          <a:solidFill>
                            <a:srgbClr val="1E242B"/>
                          </a:solidFill>
                          <a:latin typeface="Arial"/>
                        </a:defRPr>
                      </a:pPr>
                      <a:r>
                        <a:t>A8: Tích hợp Calibration của U410 Halftone thành 1 câu lệnh tự động</a:t>
                      </a:r>
                    </a:p>
                  </a:txBody>
                  <a:tcPr anchor="ctr" marL="36576" marR="36576" marT="9144" marB="9144">
                    <a:solidFill>
                      <a:srgbClr val="F7F9FC"/>
                    </a:solidFill>
                  </a:tcPr>
                </a:tc>
                <a:tc>
                  <a:txBody>
                    <a:bodyPr/>
                    <a:lstStyle/>
                    <a:p>
                      <a:pPr algn="l">
                        <a:defRPr sz="550">
                          <a:solidFill>
                            <a:srgbClr val="1E242B"/>
                          </a:solidFill>
                          <a:latin typeface="Arial"/>
                        </a:defRPr>
                      </a:pPr>
                      <a:r>
                        <a:t>Chờ JP xác nhận</a:t>
                      </a:r>
                    </a:p>
                  </a:txBody>
                  <a:tcPr anchor="ctr" marL="36576" marR="36576" marT="9144" marB="9144">
                    <a:solidFill>
                      <a:srgbClr val="F7F9FC"/>
                    </a:solidFill>
                  </a:tcPr>
                </a:tc>
              </a:tr>
              <a:tr h="272034">
                <a:tc>
                  <a:txBody>
                    <a:bodyPr/>
                    <a:lstStyle/>
                    <a:p>
                      <a:pPr algn="ctr">
                        <a:defRPr sz="550" b="1">
                          <a:solidFill>
                            <a:srgbClr val="1E242B"/>
                          </a:solidFill>
                          <a:latin typeface="Arial"/>
                        </a:defRPr>
                      </a:pPr>
                      <a:r>
                        <a:t>36</a:t>
                      </a:r>
                    </a:p>
                  </a:txBody>
                  <a:tcPr anchor="ctr" marL="36576" marR="36576" marT="9144" marB="9144">
                    <a:solidFill>
                      <a:srgbClr val="FFFFFF"/>
                    </a:solidFill>
                  </a:tcPr>
                </a:tc>
                <a:tc>
                  <a:txBody>
                    <a:bodyPr/>
                    <a:lstStyle/>
                    <a:p>
                      <a:pPr algn="ctr">
                        <a:defRPr sz="550">
                          <a:solidFill>
                            <a:srgbClr val="1E242B"/>
                          </a:solidFill>
                          <a:latin typeface="Arial"/>
                        </a:defRPr>
                      </a:pPr>
                      <a:r>
                        <a:t>VN bổ sung</a:t>
                      </a:r>
                    </a:p>
                  </a:txBody>
                  <a:tcPr anchor="ctr" marL="36576" marR="36576" marT="9144" marB="9144">
                    <a:solidFill>
                      <a:srgbClr val="FFFFFF"/>
                    </a:solidFill>
                  </a:tcPr>
                </a:tc>
                <a:tc>
                  <a:txBody>
                    <a:bodyPr/>
                    <a:lstStyle/>
                    <a:p>
                      <a:pPr algn="l">
                        <a:defRPr sz="550">
                          <a:solidFill>
                            <a:srgbClr val="1E242B"/>
                          </a:solidFill>
                          <a:latin typeface="Arial"/>
                        </a:defRPr>
                      </a:pPr>
                      <a:r>
                        <a:t>A8: Tích hợp Halftone Mono vào tờ Check Black -&gt; Hủy tờ Halftone Mono</a:t>
                      </a:r>
                    </a:p>
                  </a:txBody>
                  <a:tcPr anchor="ctr" marL="36576" marR="36576" marT="9144" marB="9144">
                    <a:solidFill>
                      <a:srgbClr val="FFFFFF"/>
                    </a:solidFill>
                  </a:tcPr>
                </a:tc>
                <a:tc>
                  <a:txBody>
                    <a:bodyPr/>
                    <a:lstStyle/>
                    <a:p>
                      <a:pPr algn="l">
                        <a:defRPr sz="550">
                          <a:solidFill>
                            <a:srgbClr val="1E242B"/>
                          </a:solidFill>
                          <a:latin typeface="Arial"/>
                        </a:defRPr>
                      </a:pPr>
                      <a:r>
                        <a:t>Chờ JP xác nhận</a:t>
                      </a:r>
                    </a:p>
                  </a:txBody>
                  <a:tcPr anchor="ctr" marL="36576" marR="36576" marT="9144" marB="9144">
                    <a:solidFill>
                      <a:srgbClr val="FFFFFF"/>
                    </a:solidFill>
                  </a:tcPr>
                </a:tc>
              </a:tr>
              <a:tr h="272034">
                <a:tc>
                  <a:txBody>
                    <a:bodyPr/>
                    <a:lstStyle/>
                    <a:p>
                      <a:pPr algn="ctr">
                        <a:defRPr sz="550" b="1">
                          <a:solidFill>
                            <a:srgbClr val="1E242B"/>
                          </a:solidFill>
                          <a:latin typeface="Arial"/>
                        </a:defRPr>
                      </a:pPr>
                      <a:r>
                        <a:t>37</a:t>
                      </a:r>
                    </a:p>
                  </a:txBody>
                  <a:tcPr anchor="ctr" marL="36576" marR="36576" marT="9144" marB="9144">
                    <a:solidFill>
                      <a:srgbClr val="F7F9FC"/>
                    </a:solidFill>
                  </a:tcPr>
                </a:tc>
                <a:tc>
                  <a:txBody>
                    <a:bodyPr/>
                    <a:lstStyle/>
                    <a:p>
                      <a:pPr algn="ctr">
                        <a:defRPr sz="550">
                          <a:solidFill>
                            <a:srgbClr val="1E242B"/>
                          </a:solidFill>
                          <a:latin typeface="Arial"/>
                        </a:defRPr>
                      </a:pPr>
                      <a:r>
                        <a:t>VN bổ sung</a:t>
                      </a:r>
                    </a:p>
                  </a:txBody>
                  <a:tcPr anchor="ctr" marL="36576" marR="36576" marT="9144" marB="9144">
                    <a:solidFill>
                      <a:srgbClr val="F7F9FC"/>
                    </a:solidFill>
                  </a:tcPr>
                </a:tc>
                <a:tc>
                  <a:txBody>
                    <a:bodyPr/>
                    <a:lstStyle/>
                    <a:p>
                      <a:pPr algn="l">
                        <a:defRPr sz="550">
                          <a:solidFill>
                            <a:srgbClr val="1E242B"/>
                          </a:solidFill>
                          <a:latin typeface="Arial"/>
                        </a:defRPr>
                      </a:pPr>
                      <a:r>
                        <a:t>A11: Xem xét tích hợp bước kiểm tra RCG Copy Check &amp; bỏ đo lệch Belt</a:t>
                      </a:r>
                    </a:p>
                  </a:txBody>
                  <a:tcPr anchor="ctr" marL="36576" marR="36576" marT="9144" marB="9144">
                    <a:solidFill>
                      <a:srgbClr val="F7F9FC"/>
                    </a:solidFill>
                  </a:tcPr>
                </a:tc>
                <a:tc>
                  <a:txBody>
                    <a:bodyPr/>
                    <a:lstStyle/>
                    <a:p>
                      <a:pPr algn="l">
                        <a:defRPr sz="550">
                          <a:solidFill>
                            <a:srgbClr val="1E242B"/>
                          </a:solidFill>
                          <a:latin typeface="Arial"/>
                        </a:defRPr>
                      </a:pPr>
                      <a:r>
                        <a:t>Chờ JP xác nhận</a:t>
                      </a:r>
                    </a:p>
                  </a:txBody>
                  <a:tcPr anchor="ctr" marL="36576" marR="36576" marT="9144" marB="9144">
                    <a:solidFill>
                      <a:srgbClr val="F7F9FC"/>
                    </a:solidFill>
                  </a:tcPr>
                </a:tc>
              </a:tr>
              <a:tr h="272034">
                <a:tc>
                  <a:txBody>
                    <a:bodyPr/>
                    <a:lstStyle/>
                    <a:p>
                      <a:pPr algn="ctr">
                        <a:defRPr sz="550" b="1">
                          <a:solidFill>
                            <a:srgbClr val="1E242B"/>
                          </a:solidFill>
                          <a:latin typeface="Arial"/>
                        </a:defRPr>
                      </a:pPr>
                      <a:r>
                        <a:t>38</a:t>
                      </a:r>
                    </a:p>
                  </a:txBody>
                  <a:tcPr anchor="ctr" marL="36576" marR="36576" marT="9144" marB="9144">
                    <a:solidFill>
                      <a:srgbClr val="E8EEF5"/>
                    </a:solidFill>
                  </a:tcPr>
                </a:tc>
                <a:tc>
                  <a:txBody>
                    <a:bodyPr/>
                    <a:lstStyle/>
                    <a:p>
                      <a:pPr algn="ctr">
                        <a:defRPr sz="550">
                          <a:solidFill>
                            <a:srgbClr val="1E242B"/>
                          </a:solidFill>
                          <a:latin typeface="Arial"/>
                        </a:defRPr>
                      </a:pPr>
                      <a:r>
                        <a:t>Trung Quốc</a:t>
                      </a:r>
                    </a:p>
                  </a:txBody>
                  <a:tcPr anchor="ctr" marL="36576" marR="36576" marT="9144" marB="9144">
                    <a:solidFill>
                      <a:srgbClr val="E8EEF5"/>
                    </a:solidFill>
                  </a:tcPr>
                </a:tc>
                <a:tc>
                  <a:txBody>
                    <a:bodyPr/>
                    <a:lstStyle/>
                    <a:p>
                      <a:pPr algn="l">
                        <a:defRPr sz="550">
                          <a:solidFill>
                            <a:srgbClr val="1E242B"/>
                          </a:solidFill>
                          <a:latin typeface="Arial"/>
                        </a:defRPr>
                      </a:pPr>
                      <a:r>
                        <a:t>Tự động hóa kiểm tra ảnh bằng đồ gá nhờ AI học ảnh lỗi (WeChat - Chen Zhi Feng)</a:t>
                      </a:r>
                    </a:p>
                  </a:txBody>
                  <a:tcPr anchor="ctr" marL="36576" marR="36576" marT="9144" marB="9144">
                    <a:solidFill>
                      <a:srgbClr val="E8EEF5"/>
                    </a:solidFill>
                  </a:tcPr>
                </a:tc>
                <a:tc>
                  <a:txBody>
                    <a:bodyPr/>
                    <a:lstStyle/>
                    <a:p>
                      <a:pPr algn="l">
                        <a:defRPr sz="550">
                          <a:solidFill>
                            <a:srgbClr val="1E242B"/>
                          </a:solidFill>
                          <a:latin typeface="Arial"/>
                        </a:defRPr>
                      </a:pPr>
                      <a:r>
                        <a:t>Chờ JP xác nhận</a:t>
                      </a:r>
                    </a:p>
                  </a:txBody>
                  <a:tcPr anchor="ctr" marL="36576" marR="36576" marT="9144" marB="9144">
                    <a:solidFill>
                      <a:srgbClr val="E8EEF5"/>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