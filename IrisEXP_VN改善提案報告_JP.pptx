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85800"/>
            <a:ext cx="164592" cy="544068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68680" y="713232"/>
            <a:ext cx="7086600" cy="411480"/>
          </a:xfrm>
          <a:prstGeom prst="round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latin typeface="Meiryo UI"/>
              </a:defRPr>
            </a:pPr>
            <a:r>
              <a:t>技術相談および設備投資予算の承認申請資料（稟議・相談資料）</a:t>
            </a:r>
          </a:p>
        </p:txBody>
      </p:sp>
      <p:sp>
        <p:nvSpPr>
          <p:cNvPr id="5" name="TextBox 4"/>
          <p:cNvSpPr txBox="1"/>
          <p:nvPr/>
        </p:nvSpPr>
        <p:spPr>
          <a:xfrm>
            <a:off x="868680" y="1280160"/>
            <a:ext cx="10607040" cy="1691640"/>
          </a:xfrm>
          <a:prstGeom prst="rect">
            <a:avLst/>
          </a:prstGeom>
          <a:noFill/>
        </p:spPr>
        <p:txBody>
          <a:bodyPr wrap="square">
            <a:spAutoFit/>
          </a:bodyPr>
          <a:lstStyle/>
          <a:p>
            <a:pPr>
              <a:spcAft>
                <a:spcPts val="1000"/>
              </a:spcAft>
              <a:defRPr sz="2600" b="1">
                <a:solidFill>
                  <a:srgbClr val="FFFFFF"/>
                </a:solidFill>
                <a:latin typeface="Meiryo UI"/>
              </a:defRPr>
            </a:pPr>
            <a:r>
              <a:t>Iris EXP 調整工程（本体保証工程）改善提案 報告書</a:t>
            </a:r>
          </a:p>
          <a:p>
            <a:pPr>
              <a:defRPr sz="1350">
                <a:solidFill>
                  <a:srgbClr val="D0DCEB"/>
                </a:solidFill>
                <a:latin typeface="Meiryo UI"/>
              </a:defRPr>
            </a:pPr>
            <a:r>
              <a:t>3拠点（日本・中国・ベトナム）全38改善提案におけるベトナム工場（KDTVN）20提案の詳細報告および投資予算申請</a:t>
            </a:r>
          </a:p>
        </p:txBody>
      </p:sp>
      <p:sp>
        <p:nvSpPr>
          <p:cNvPr id="6" name="Rounded Rectangle 5"/>
          <p:cNvSpPr/>
          <p:nvPr/>
        </p:nvSpPr>
        <p:spPr>
          <a:xfrm>
            <a:off x="868680" y="3090672"/>
            <a:ext cx="5166360" cy="1325880"/>
          </a:xfrm>
          <a:prstGeom prst="roundRect">
            <a:avLst/>
          </a:prstGeom>
          <a:solidFill>
            <a:srgbClr val="183052"/>
          </a:solidFill>
          <a:ln w="1905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defRPr sz="1200" b="1">
                <a:solidFill>
                  <a:srgbClr val="F5B041"/>
                </a:solidFill>
                <a:latin typeface="Meiryo UI"/>
              </a:defRPr>
            </a:pPr>
            <a:r>
              <a:t>目的 1：部門長への技術方針相談</a:t>
            </a:r>
          </a:p>
          <a:p>
            <a:pPr>
              <a:defRPr sz="980">
                <a:solidFill>
                  <a:srgbClr val="FFFFFF"/>
                </a:solidFill>
                <a:latin typeface="Meiryo UI"/>
              </a:defRPr>
            </a:pPr>
            <a:r>
              <a:t>• VN提案20件（No.18〜37＋パートナーでのFW書込案）、ロボット案（No.23, 24）とDP連続スキャン／Host PC案（No.25）の選定、および作業時間50%削減（2,350秒→1,175秒以下）に向けた推進方針のご相談。</a:t>
            </a:r>
          </a:p>
        </p:txBody>
      </p:sp>
      <p:sp>
        <p:nvSpPr>
          <p:cNvPr id="7" name="Rounded Rectangle 6"/>
          <p:cNvSpPr/>
          <p:nvPr/>
        </p:nvSpPr>
        <p:spPr>
          <a:xfrm>
            <a:off x="6263640" y="3090672"/>
            <a:ext cx="5166360" cy="1325880"/>
          </a:xfrm>
          <a:prstGeom prst="roundRect">
            <a:avLst/>
          </a:prstGeom>
          <a:solidFill>
            <a:srgbClr val="183052"/>
          </a:solidFill>
          <a:ln w="19050">
            <a:solidFill>
              <a:srgbClr val="58D68D"/>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defRPr sz="1200" b="1">
                <a:solidFill>
                  <a:srgbClr val="58D68D"/>
                </a:solidFill>
                <a:latin typeface="Meiryo UI"/>
              </a:defRPr>
            </a:pPr>
            <a:r>
              <a:t>目的 2：設備投資予算の承認申請</a:t>
            </a:r>
          </a:p>
          <a:p>
            <a:pPr>
              <a:defRPr sz="950">
                <a:solidFill>
                  <a:srgbClr val="FFFFFF"/>
                </a:solidFill>
                <a:latin typeface="Meiryo UI"/>
              </a:defRPr>
            </a:pPr>
            <a:r>
              <a:t>• 「Iris EXPのVN提案.xlsx」の見積済3案件の合計：855,690,000 VND（32,911.15 USD／纏めシート：33,000 USD）［No.22：101.69百万VND、No.23：650百万VND、No.24：104百万VND］。</a:t>
            </a:r>
            <a:br/>
            <a:r>
              <a:t>• DR4後の代替案（DP／Host PC活用）採用時は、No.22（101,690,000 VND）を先行申請。</a:t>
            </a:r>
          </a:p>
        </p:txBody>
      </p:sp>
      <p:sp>
        <p:nvSpPr>
          <p:cNvPr id="8" name="Rectangle 7"/>
          <p:cNvSpPr/>
          <p:nvPr/>
        </p:nvSpPr>
        <p:spPr>
          <a:xfrm>
            <a:off x="868680" y="4645152"/>
            <a:ext cx="10561320" cy="1508760"/>
          </a:xfrm>
          <a:prstGeom prst="rect">
            <a:avLst/>
          </a:prstGeom>
          <a:solidFill>
            <a:srgbClr val="142948"/>
          </a:solidFill>
          <a:ln w="1016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wrap="square" lIns="182880" tIns="109728"/>
          <a:lstStyle/>
          <a:p>
            <a:pPr algn="l">
              <a:spcAft>
                <a:spcPts val="300"/>
              </a:spcAft>
              <a:defRPr sz="980">
                <a:solidFill>
                  <a:srgbClr val="E5EBF2"/>
                </a:solidFill>
                <a:latin typeface="Meiryo UI"/>
              </a:defRPr>
            </a:pPr>
            <a:r>
              <a:t>• 対象機種：Iris EXP（カラー複合機・プリンタ 新規開発）  |  対象工程：調整工程 → 本体保証工程</a:t>
            </a:r>
          </a:p>
          <a:p>
            <a:pPr algn="l">
              <a:spcAft>
                <a:spcPts val="300"/>
              </a:spcAft>
              <a:defRPr sz="980">
                <a:solidFill>
                  <a:srgbClr val="E5EBF2"/>
                </a:solidFill>
                <a:latin typeface="Meiryo UI"/>
              </a:defRPr>
            </a:pPr>
            <a:r>
              <a:t>• 作成部署：KDTVN 製造技術部（メカ係 ＋ 製造システム開発係）</a:t>
            </a:r>
          </a:p>
          <a:p>
            <a:pPr algn="l">
              <a:spcAft>
                <a:spcPts val="300"/>
              </a:spcAft>
              <a:defRPr sz="980">
                <a:solidFill>
                  <a:srgbClr val="E5EBF2"/>
                </a:solidFill>
                <a:latin typeface="Meiryo UI"/>
              </a:defRPr>
            </a:pPr>
            <a:r>
              <a:t>• 報告日：2026年10月26日  |  報告者：Bùi Đức Vinh（ブイ・ドゥック・ヴィン）</a:t>
            </a:r>
          </a:p>
          <a:p>
            <a:pPr algn="l">
              <a:spcAft>
                <a:spcPts val="300"/>
              </a:spcAft>
              <a:defRPr sz="980">
                <a:solidFill>
                  <a:srgbClr val="E5EBF2"/>
                </a:solidFill>
                <a:latin typeface="Meiryo UI"/>
              </a:defRPr>
            </a:pPr>
            <a:r>
              <a:t>• 参照資料：調整工程／本体保証工程 技術資料一式（保証工程連携会 第2回〜第17回議事録［〜2026/10/15］、DR4資料、PE工数・見積集計表）</a:t>
            </a:r>
          </a:p>
          <a:p>
            <a:pPr algn="l">
              <a:spcAft>
                <a:spcPts val="300"/>
              </a:spcAft>
              <a:defRPr sz="980">
                <a:solidFill>
                  <a:srgbClr val="E5EBF2"/>
                </a:solidFill>
                <a:latin typeface="Meiryo UI"/>
              </a:defRPr>
            </a:pPr>
            <a:r>
              <a:t>• 添付データ：bang-so-lieu/Bang_so_lieu_chi_tiet_IrisEXP_VN.xlsx ＆ Bang_so_lieu_chi_tiet_IrisEXP_VN.md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91440"/>
            <a:ext cx="196596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第2章：報告目的</a:t>
            </a:r>
          </a:p>
        </p:txBody>
      </p:sp>
      <p:sp>
        <p:nvSpPr>
          <p:cNvPr id="4" name="TextBox 3"/>
          <p:cNvSpPr txBox="1"/>
          <p:nvPr/>
        </p:nvSpPr>
        <p:spPr>
          <a:xfrm>
            <a:off x="2286000" y="54864"/>
            <a:ext cx="9052560" cy="457200"/>
          </a:xfrm>
          <a:prstGeom prst="rect">
            <a:avLst/>
          </a:prstGeom>
          <a:noFill/>
        </p:spPr>
        <p:txBody>
          <a:bodyPr wrap="square" lIns="18288" rIns="18288">
            <a:spAutoFit/>
          </a:bodyPr>
          <a:lstStyle/>
          <a:p>
            <a:pPr>
              <a:defRPr sz="1450" b="1">
                <a:solidFill>
                  <a:srgbClr val="FFFFFF"/>
                </a:solidFill>
                <a:latin typeface="Meiryo UI"/>
              </a:defRPr>
            </a:pPr>
            <a:r>
              <a:t>報告の目的：技術方針のご相談および設備投資予算の承認申請</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2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lstStyle/>
          <a:p>
            <a:pPr algn="ctr">
              <a:defRPr sz="980" b="1">
                <a:solidFill>
                  <a:srgbClr val="1B365D"/>
                </a:solidFill>
                <a:latin typeface="Meiryo UI"/>
              </a:defRPr>
            </a:pPr>
            <a:r>
              <a:t>■ 部門長への上申事項：(a) VN改善提案20件の推進方針に関するご相談、(b)「Iris EXPのVN提案.xlsx」に基づく投資予算の承認申請（見積済3件合計：855.69百万VND／32,911.15 USD、No.22単独：101.69百万VND）。</a:t>
            </a:r>
          </a:p>
        </p:txBody>
      </p:sp>
      <p:sp>
        <p:nvSpPr>
          <p:cNvPr id="7" name="Rectangle 6"/>
          <p:cNvSpPr/>
          <p:nvPr/>
        </p:nvSpPr>
        <p:spPr>
          <a:xfrm>
            <a:off x="274320" y="1261872"/>
            <a:ext cx="5687568" cy="3794760"/>
          </a:xfrm>
          <a:prstGeom prst="rect">
            <a:avLst/>
          </a:prstGeom>
          <a:solidFill>
            <a:srgbClr val="FFFFFF"/>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261872"/>
            <a:ext cx="5687568"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36576"/>
          <a:lstStyle/>
          <a:p>
            <a:pPr algn="ctr">
              <a:defRPr sz="980" b="1">
                <a:solidFill>
                  <a:srgbClr val="FFFFFF"/>
                </a:solidFill>
                <a:latin typeface="Meiryo UI"/>
              </a:defRPr>
            </a:pPr>
            <a:r>
              <a:t>目的 (a)：VN改善提案に関する技術方針のご相談</a:t>
            </a:r>
          </a:p>
        </p:txBody>
      </p:sp>
      <p:sp>
        <p:nvSpPr>
          <p:cNvPr id="9" name="TextBox 8"/>
          <p:cNvSpPr txBox="1"/>
          <p:nvPr/>
        </p:nvSpPr>
        <p:spPr>
          <a:xfrm>
            <a:off x="347472" y="1600200"/>
            <a:ext cx="5541264" cy="3419856"/>
          </a:xfrm>
          <a:prstGeom prst="rect">
            <a:avLst/>
          </a:prstGeom>
          <a:noFill/>
        </p:spPr>
        <p:txBody>
          <a:bodyPr wrap="square" lIns="36576" rIns="36576" tIns="18288" bIns="18288">
            <a:spAutoFit/>
          </a:bodyPr>
          <a:lstStyle/>
          <a:p>
            <a:pPr>
              <a:spcAft>
                <a:spcPts val="250"/>
              </a:spcAft>
              <a:defRPr sz="860" b="1">
                <a:solidFill>
                  <a:srgbClr val="1E242B"/>
                </a:solidFill>
                <a:latin typeface="Meiryo UI"/>
              </a:defRPr>
            </a:pPr>
            <a:r>
              <a:t>■ 1. ロボット案（No.23, 24）とDP連続スキャン／Host PC案（No.25）の選定：</a:t>
            </a:r>
          </a:p>
          <a:p>
            <a:pPr>
              <a:spcAft>
                <a:spcPts val="250"/>
              </a:spcAft>
              <a:defRPr sz="860">
                <a:solidFill>
                  <a:srgbClr val="1E242B"/>
                </a:solidFill>
                <a:latin typeface="Meiryo UI"/>
              </a:defRPr>
            </a:pPr>
            <a:r>
              <a:t>   • 「Iris EXPのVN提案.xlsx」にて生技が確認済みの設備3案件：No.22（自動導通・接地・耐圧検査：101.69百万VND／3,911.15 USD［纏め：4,000 USD］）、No.23（ISU原稿セットロボット：650百万VND／25,000 USD）、No.24（USB接続・U201タッチロボット：104百万VND／4,000 USD）。</a:t>
            </a:r>
          </a:p>
          <a:p>
            <a:pPr>
              <a:spcAft>
                <a:spcPts val="250"/>
              </a:spcAft>
              <a:defRPr sz="860">
                <a:solidFill>
                  <a:srgbClr val="1E242B"/>
                </a:solidFill>
                <a:latin typeface="Meiryo UI"/>
              </a:defRPr>
            </a:pPr>
            <a:r>
              <a:t>   • 第7回連携会・DR4にて、投資抑制のためロボットを使わない代替案が提案：実機DPによる連続スキャン＋PC自動判定（No.25、-110秒）およびHost PCでのU201ログ確認（JP No.3、-15.12秒）。</a:t>
            </a:r>
          </a:p>
          <a:p>
            <a:pPr>
              <a:spcAft>
                <a:spcPts val="250"/>
              </a:spcAft>
              <a:defRPr sz="860" b="1">
                <a:solidFill>
                  <a:srgbClr val="1E242B"/>
                </a:solidFill>
                <a:latin typeface="Meiryo UI"/>
              </a:defRPr>
            </a:pPr>
            <a:r>
              <a:t>■ 2. ベトナム工場（KDTVN）固有の技術課題への対応：</a:t>
            </a:r>
          </a:p>
          <a:p>
            <a:pPr>
              <a:spcAft>
                <a:spcPts val="250"/>
              </a:spcAft>
              <a:defRPr sz="860">
                <a:solidFill>
                  <a:srgbClr val="1E242B"/>
                </a:solidFill>
                <a:latin typeface="Meiryo UI"/>
              </a:defRPr>
            </a:pPr>
            <a:r>
              <a:t>   • DR4指摘事項に基づき、自動導通・耐圧検査治具（No.22）を「外装カバー取付後」の検査（A-3終端）へ設計変更（ハーネス噛み込み検出のため）。</a:t>
            </a:r>
          </a:p>
          <a:p>
            <a:pPr>
              <a:spcAft>
                <a:spcPts val="250"/>
              </a:spcAft>
              <a:defRPr sz="860">
                <a:solidFill>
                  <a:srgbClr val="1E242B"/>
                </a:solidFill>
                <a:latin typeface="Meiryo UI"/>
              </a:defRPr>
            </a:pPr>
            <a:r>
              <a:t>   • 転写ベルト寄り測定廃止（No.37）に向けた品質確認手順（VNでは現在も月1〜2台のNG発生あり、過去に11台不具合実績あり）。</a:t>
            </a:r>
          </a:p>
          <a:p>
            <a:pPr>
              <a:spcAft>
                <a:spcPts val="250"/>
              </a:spcAft>
              <a:defRPr sz="860" b="1">
                <a:solidFill>
                  <a:srgbClr val="1E242B"/>
                </a:solidFill>
                <a:latin typeface="Meiryo UI"/>
              </a:defRPr>
            </a:pPr>
            <a:r>
              <a:t>■ 3. 部門間連携（パートナー・JP設計・JP生技）によるPDCA推進：</a:t>
            </a:r>
          </a:p>
          <a:p>
            <a:pPr>
              <a:spcAft>
                <a:spcPts val="250"/>
              </a:spcAft>
              <a:defRPr sz="860">
                <a:solidFill>
                  <a:srgbClr val="1E242B"/>
                </a:solidFill>
                <a:latin typeface="Meiryo UI"/>
              </a:defRPr>
            </a:pPr>
            <a:r>
              <a:t>   • パートナーでの基板FW事前書込によりA-1工程を1名削減（4名→3名）。</a:t>
            </a:r>
          </a:p>
          <a:p>
            <a:pPr>
              <a:spcAft>
                <a:spcPts val="250"/>
              </a:spcAft>
              <a:defRPr sz="860">
                <a:solidFill>
                  <a:srgbClr val="1E242B"/>
                </a:solidFill>
                <a:latin typeface="Meiryo UI"/>
              </a:defRPr>
            </a:pPr>
            <a:r>
              <a:t>   • JP生技との工程DRを早期に完了し、PDCA進捗遅れ（10月実績：-4.32秒／0.18%）を挽回。</a:t>
            </a:r>
          </a:p>
        </p:txBody>
      </p:sp>
      <p:sp>
        <p:nvSpPr>
          <p:cNvPr id="10" name="Rectangle 9"/>
          <p:cNvSpPr/>
          <p:nvPr/>
        </p:nvSpPr>
        <p:spPr>
          <a:xfrm>
            <a:off x="6227064" y="1261872"/>
            <a:ext cx="5687568" cy="3794760"/>
          </a:xfrm>
          <a:prstGeom prst="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27064" y="1261872"/>
            <a:ext cx="5687568" cy="310896"/>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36576"/>
          <a:lstStyle/>
          <a:p>
            <a:pPr algn="ctr">
              <a:defRPr sz="980" b="1">
                <a:solidFill>
                  <a:srgbClr val="FFFFFF"/>
                </a:solidFill>
                <a:latin typeface="Meiryo UI"/>
              </a:defRPr>
            </a:pPr>
            <a:r>
              <a:t>目的 (b)：設備投資予算の承認申請（Iris EXPのVN提案.xlsx）</a:t>
            </a:r>
          </a:p>
        </p:txBody>
      </p:sp>
      <p:sp>
        <p:nvSpPr>
          <p:cNvPr id="12" name="TextBox 11"/>
          <p:cNvSpPr txBox="1"/>
          <p:nvPr/>
        </p:nvSpPr>
        <p:spPr>
          <a:xfrm>
            <a:off x="6300216" y="1600200"/>
            <a:ext cx="5541264" cy="3419856"/>
          </a:xfrm>
          <a:prstGeom prst="rect">
            <a:avLst/>
          </a:prstGeom>
          <a:noFill/>
        </p:spPr>
        <p:txBody>
          <a:bodyPr wrap="square" lIns="36576" rIns="36576" tIns="18288" bIns="18288">
            <a:spAutoFit/>
          </a:bodyPr>
          <a:lstStyle/>
          <a:p>
            <a:pPr>
              <a:spcAft>
                <a:spcPts val="250"/>
              </a:spcAft>
              <a:defRPr sz="850" b="1">
                <a:solidFill>
                  <a:srgbClr val="1E242B"/>
                </a:solidFill>
                <a:latin typeface="Meiryo UI"/>
              </a:defRPr>
            </a:pPr>
            <a:r>
              <a:t>■ 1. 「Iris EXPのVN提案.xlsx」におけるVN自動化3案件の見積金額：</a:t>
            </a:r>
          </a:p>
          <a:p>
            <a:pPr>
              <a:spcAft>
                <a:spcPts val="250"/>
              </a:spcAft>
              <a:defRPr sz="850">
                <a:solidFill>
                  <a:srgbClr val="1E242B"/>
                </a:solidFill>
                <a:latin typeface="Meiryo UI"/>
              </a:defRPr>
            </a:pPr>
            <a:r>
              <a:t>   • 提案1（No.22 - 自動導通・接地・絶縁耐圧検査）：101,690,000 VND（BOM 25項目：3,911.15 USD／説明シート：101.7百万VND・3,911.54 USD／纏め：4,000 USD）。30秒/台削減、年間効果：29.6百万VND（1,138.46 USD/年）。</a:t>
            </a:r>
          </a:p>
          <a:p>
            <a:pPr>
              <a:spcAft>
                <a:spcPts val="250"/>
              </a:spcAft>
              <a:defRPr sz="850">
                <a:solidFill>
                  <a:srgbClr val="1E242B"/>
                </a:solidFill>
                <a:latin typeface="Meiryo UI"/>
              </a:defRPr>
            </a:pPr>
            <a:r>
              <a:t>   • 提案2（No.23 - ISU原稿セットロボット［U411・SITC-2・Halftone］）：650,000,000 VND（25,000 USD：コンベア2セル追加200M＋給電部50M＋USB/LAN位置決め50M＋ロボット350M）。110秒/台削減、年間効果：108.53百万VND（4,174.36 USD/年）。</a:t>
            </a:r>
          </a:p>
          <a:p>
            <a:pPr>
              <a:spcAft>
                <a:spcPts val="250"/>
              </a:spcAft>
              <a:defRPr sz="850">
                <a:solidFill>
                  <a:srgbClr val="1E242B"/>
                </a:solidFill>
                <a:latin typeface="Meiryo UI"/>
              </a:defRPr>
            </a:pPr>
            <a:r>
              <a:t>   • 提案3（No.24 - USB接続ロボット＆パネル評価カメラ・U201タッチロボット）：104,000,000 VND（4,000 USD）。30秒/台削減、年間効果：29.6百万VND（1,138.46 USD/年）。</a:t>
            </a:r>
          </a:p>
          <a:p>
            <a:pPr>
              <a:spcAft>
                <a:spcPts val="250"/>
              </a:spcAft>
              <a:defRPr sz="850">
                <a:solidFill>
                  <a:srgbClr val="1E242B"/>
                </a:solidFill>
                <a:latin typeface="Meiryo UI"/>
              </a:defRPr>
            </a:pPr>
            <a:r>
              <a:t>   • 見積済3案件の合計：855,690,000 VND（32,911.15 USD）［説明シート計：855.7百万VND／纏めシート：858百万VND・33,000 USD］。</a:t>
            </a:r>
          </a:p>
          <a:p>
            <a:pPr>
              <a:spcAft>
                <a:spcPts val="250"/>
              </a:spcAft>
              <a:defRPr sz="850" b="1">
                <a:solidFill>
                  <a:srgbClr val="1E242B"/>
                </a:solidFill>
                <a:latin typeface="Meiryo UI"/>
              </a:defRPr>
            </a:pPr>
            <a:r>
              <a:t>■ 2. 部門長へ上申する2つの投資案：</a:t>
            </a:r>
          </a:p>
          <a:p>
            <a:pPr>
              <a:spcAft>
                <a:spcPts val="250"/>
              </a:spcAft>
              <a:defRPr sz="850">
                <a:solidFill>
                  <a:srgbClr val="1E242B"/>
                </a:solidFill>
                <a:latin typeface="Meiryo UI"/>
              </a:defRPr>
            </a:pPr>
            <a:r>
              <a:t>   • A案（DR4方針・推奨）：No.22（101,690,000 VND／3,911.15 USD）を先行承認し、No.23・No.24はDP連続スキャン（No.25）およびHost PCログ方式へ切替。</a:t>
            </a:r>
          </a:p>
          <a:p>
            <a:pPr>
              <a:spcAft>
                <a:spcPts val="250"/>
              </a:spcAft>
              <a:defRPr sz="850">
                <a:solidFill>
                  <a:srgbClr val="1E242B"/>
                </a:solidFill>
                <a:latin typeface="Meiryo UI"/>
              </a:defRPr>
            </a:pPr>
            <a:r>
              <a:t>   • B案（VN提案.xlsx 全3案件承認）：No.22＋No.23＋No.24の計855,690,000 VND（32,911.15 USD／33,000 USD）を承認。※「見積中」案件は別枠管理。</a:t>
            </a:r>
          </a:p>
        </p:txBody>
      </p:sp>
      <p:graphicFrame>
        <p:nvGraphicFramePr>
          <p:cNvPr id="13" name="Table 12"/>
          <p:cNvGraphicFramePr>
            <a:graphicFrameLocks noGrp="1"/>
          </p:cNvGraphicFramePr>
          <p:nvPr/>
        </p:nvGraphicFramePr>
        <p:xfrm>
          <a:off x="274320" y="5166360"/>
          <a:ext cx="11643055" cy="1298448"/>
        </p:xfrm>
        <a:graphic>
          <a:graphicData uri="http://schemas.openxmlformats.org/drawingml/2006/table">
            <a:tbl>
              <a:tblPr firstRow="1" bandRow="1">
                <a:tableStyleId>{5C22544A-7EE6-4342-B048-85BDC9FD1C3A}</a:tableStyleId>
              </a:tblPr>
              <a:tblGrid>
                <a:gridCol w="2606040"/>
                <a:gridCol w="1600200"/>
                <a:gridCol w="2331720"/>
                <a:gridCol w="2606040"/>
                <a:gridCol w="2499055"/>
              </a:tblGrid>
              <a:tr h="324612">
                <a:tc>
                  <a:txBody>
                    <a:bodyPr wrap="square"/>
                    <a:lstStyle/>
                    <a:p>
                      <a:pPr algn="ctr">
                        <a:defRPr sz="850" b="1">
                          <a:solidFill>
                            <a:srgbClr val="FFFFFF"/>
                          </a:solidFill>
                          <a:latin typeface="Meiryo UI"/>
                        </a:defRPr>
                      </a:pPr>
                      <a:r>
                        <a:t>ベトナム改善提案の区分</a:t>
                      </a:r>
                    </a:p>
                  </a:txBody>
                  <a:tcPr anchor="ctr" marL="45720" marR="45720" marT="18288" marB="18288">
                    <a:solidFill>
                      <a:srgbClr val="1B365D"/>
                    </a:solidFill>
                  </a:tcPr>
                </a:tc>
                <a:tc>
                  <a:txBody>
                    <a:bodyPr wrap="square"/>
                    <a:lstStyle/>
                    <a:p>
                      <a:pPr algn="ctr">
                        <a:defRPr sz="850" b="1">
                          <a:solidFill>
                            <a:srgbClr val="FFFFFF"/>
                          </a:solidFill>
                          <a:latin typeface="Meiryo UI"/>
                        </a:defRPr>
                      </a:pPr>
                      <a:r>
                        <a:t>対象件数</a:t>
                      </a:r>
                    </a:p>
                  </a:txBody>
                  <a:tcPr anchor="ctr" marL="45720" marR="45720" marT="18288" marB="18288">
                    <a:solidFill>
                      <a:srgbClr val="1B365D"/>
                    </a:solidFill>
                  </a:tcPr>
                </a:tc>
                <a:tc>
                  <a:txBody>
                    <a:bodyPr wrap="square"/>
                    <a:lstStyle/>
                    <a:p>
                      <a:pPr algn="ctr">
                        <a:defRPr sz="850" b="1">
                          <a:solidFill>
                            <a:srgbClr val="FFFFFF"/>
                          </a:solidFill>
                          <a:latin typeface="Meiryo UI"/>
                        </a:defRPr>
                      </a:pPr>
                      <a:r>
                        <a:t>削減時間・年間削減効果</a:t>
                      </a:r>
                    </a:p>
                  </a:txBody>
                  <a:tcPr anchor="ctr" marL="45720" marR="45720" marT="18288" marB="18288">
                    <a:solidFill>
                      <a:srgbClr val="1B365D"/>
                    </a:solidFill>
                  </a:tcPr>
                </a:tc>
                <a:tc>
                  <a:txBody>
                    <a:bodyPr wrap="square"/>
                    <a:lstStyle/>
                    <a:p>
                      <a:pPr algn="ctr">
                        <a:defRPr sz="850" b="1">
                          <a:solidFill>
                            <a:srgbClr val="FFFFFF"/>
                          </a:solidFill>
                          <a:latin typeface="Meiryo UI"/>
                        </a:defRPr>
                      </a:pPr>
                      <a:r>
                        <a:t>設備投資金額（見積）</a:t>
                      </a:r>
                    </a:p>
                  </a:txBody>
                  <a:tcPr anchor="ctr" marL="45720" marR="45720" marT="18288" marB="18288">
                    <a:solidFill>
                      <a:srgbClr val="1B365D"/>
                    </a:solidFill>
                  </a:tcPr>
                </a:tc>
                <a:tc>
                  <a:txBody>
                    <a:bodyPr wrap="square"/>
                    <a:lstStyle/>
                    <a:p>
                      <a:pPr algn="ctr">
                        <a:defRPr sz="850" b="1">
                          <a:solidFill>
                            <a:srgbClr val="FFFFFF"/>
                          </a:solidFill>
                          <a:latin typeface="Meiryo UI"/>
                        </a:defRPr>
                      </a:pPr>
                      <a:r>
                        <a:t>部門長への上申内容</a:t>
                      </a:r>
                    </a:p>
                  </a:txBody>
                  <a:tcPr anchor="ctr" marL="45720" marR="45720" marT="18288" marB="18288">
                    <a:solidFill>
                      <a:srgbClr val="1B365D"/>
                    </a:solidFill>
                  </a:tcPr>
                </a:tc>
              </a:tr>
              <a:tr h="324612">
                <a:tc>
                  <a:txBody>
                    <a:bodyPr wrap="square"/>
                    <a:lstStyle/>
                    <a:p>
                      <a:pPr algn="l">
                        <a:defRPr sz="790" b="1">
                          <a:solidFill>
                            <a:srgbClr val="1E242B"/>
                          </a:solidFill>
                          <a:latin typeface="Meiryo UI"/>
                        </a:defRPr>
                      </a:pPr>
                      <a:r>
                        <a:t>1. No.22（自動導通・接地・耐圧検査設備）</a:t>
                      </a:r>
                    </a:p>
                  </a:txBody>
                  <a:tcPr anchor="ctr" marL="45720" marR="45720" marT="18288" marB="18288">
                    <a:solidFill>
                      <a:srgbClr val="EAF7EE"/>
                    </a:solidFill>
                  </a:tcPr>
                </a:tc>
                <a:tc>
                  <a:txBody>
                    <a:bodyPr wrap="square"/>
                    <a:lstStyle/>
                    <a:p>
                      <a:pPr algn="ctr">
                        <a:defRPr sz="790">
                          <a:solidFill>
                            <a:srgbClr val="1E242B"/>
                          </a:solidFill>
                          <a:latin typeface="Meiryo UI"/>
                        </a:defRPr>
                      </a:pPr>
                      <a:r>
                        <a:t>1件（BOM 25項目）</a:t>
                      </a:r>
                    </a:p>
                  </a:txBody>
                  <a:tcPr anchor="ctr" marL="45720" marR="45720" marT="18288" marB="18288">
                    <a:solidFill>
                      <a:srgbClr val="EAF7EE"/>
                    </a:solidFill>
                  </a:tcPr>
                </a:tc>
                <a:tc>
                  <a:txBody>
                    <a:bodyPr wrap="square"/>
                    <a:lstStyle/>
                    <a:p>
                      <a:pPr algn="ctr">
                        <a:defRPr sz="790">
                          <a:solidFill>
                            <a:srgbClr val="1E242B"/>
                          </a:solidFill>
                          <a:latin typeface="Meiryo UI"/>
                        </a:defRPr>
                      </a:pPr>
                      <a:r>
                        <a:t>-30.00 秒/台（年間 29.60百万VND）</a:t>
                      </a:r>
                    </a:p>
                  </a:txBody>
                  <a:tcPr anchor="ctr" marL="45720" marR="45720" marT="18288" marB="18288">
                    <a:solidFill>
                      <a:srgbClr val="EAF7EE"/>
                    </a:solidFill>
                  </a:tcPr>
                </a:tc>
                <a:tc>
                  <a:txBody>
                    <a:bodyPr wrap="square"/>
                    <a:lstStyle/>
                    <a:p>
                      <a:pPr algn="r">
                        <a:defRPr sz="790">
                          <a:solidFill>
                            <a:srgbClr val="1E242B"/>
                          </a:solidFill>
                          <a:latin typeface="Meiryo UI"/>
                        </a:defRPr>
                      </a:pPr>
                      <a:r>
                        <a:t>101,690,000 VND（3,911.15 USD）［纏め: 4,000$］</a:t>
                      </a:r>
                    </a:p>
                  </a:txBody>
                  <a:tcPr anchor="ctr" marL="45720" marR="45720" marT="18288" marB="18288">
                    <a:solidFill>
                      <a:srgbClr val="EAF7EE"/>
                    </a:solidFill>
                  </a:tcPr>
                </a:tc>
                <a:tc>
                  <a:txBody>
                    <a:bodyPr wrap="square"/>
                    <a:lstStyle/>
                    <a:p>
                      <a:pPr algn="l">
                        <a:defRPr sz="790">
                          <a:solidFill>
                            <a:srgbClr val="1E242B"/>
                          </a:solidFill>
                          <a:latin typeface="Meiryo UI"/>
                        </a:defRPr>
                      </a:pPr>
                      <a:r>
                        <a:t>第1次投資として即時承認申請（A案）</a:t>
                      </a:r>
                    </a:p>
                  </a:txBody>
                  <a:tcPr anchor="ctr" marL="45720" marR="45720" marT="18288" marB="18288">
                    <a:solidFill>
                      <a:srgbClr val="EAF7EE"/>
                    </a:solidFill>
                  </a:tcPr>
                </a:tc>
              </a:tr>
              <a:tr h="324612">
                <a:tc>
                  <a:txBody>
                    <a:bodyPr wrap="square"/>
                    <a:lstStyle/>
                    <a:p>
                      <a:pPr algn="l">
                        <a:defRPr sz="790" b="1">
                          <a:solidFill>
                            <a:srgbClr val="1E242B"/>
                          </a:solidFill>
                          <a:latin typeface="Meiryo UI"/>
                        </a:defRPr>
                      </a:pPr>
                      <a:r>
                        <a:t>2. No.23（ISUロボット 25k$）＆ No.24（USB/U201 4k$）</a:t>
                      </a:r>
                    </a:p>
                  </a:txBody>
                  <a:tcPr anchor="ctr" marL="45720" marR="45720" marT="18288" marB="18288">
                    <a:solidFill>
                      <a:srgbClr val="E8EEF5"/>
                    </a:solidFill>
                  </a:tcPr>
                </a:tc>
                <a:tc>
                  <a:txBody>
                    <a:bodyPr wrap="square"/>
                    <a:lstStyle/>
                    <a:p>
                      <a:pPr algn="ctr">
                        <a:defRPr sz="790">
                          <a:solidFill>
                            <a:srgbClr val="1E242B"/>
                          </a:solidFill>
                          <a:latin typeface="Meiryo UI"/>
                        </a:defRPr>
                      </a:pPr>
                      <a:r>
                        <a:t>2件（VN提案.xlsx）</a:t>
                      </a:r>
                    </a:p>
                  </a:txBody>
                  <a:tcPr anchor="ctr" marL="45720" marR="45720" marT="18288" marB="18288">
                    <a:solidFill>
                      <a:srgbClr val="E8EEF5"/>
                    </a:solidFill>
                  </a:tcPr>
                </a:tc>
                <a:tc>
                  <a:txBody>
                    <a:bodyPr wrap="square"/>
                    <a:lstStyle/>
                    <a:p>
                      <a:pPr algn="ctr">
                        <a:defRPr sz="790">
                          <a:solidFill>
                            <a:srgbClr val="1E242B"/>
                          </a:solidFill>
                          <a:latin typeface="Meiryo UI"/>
                        </a:defRPr>
                      </a:pPr>
                      <a:r>
                        <a:t>-140.00 秒/台（年間 138.13百万VND）</a:t>
                      </a:r>
                    </a:p>
                  </a:txBody>
                  <a:tcPr anchor="ctr" marL="45720" marR="45720" marT="18288" marB="18288">
                    <a:solidFill>
                      <a:srgbClr val="E8EEF5"/>
                    </a:solidFill>
                  </a:tcPr>
                </a:tc>
                <a:tc>
                  <a:txBody>
                    <a:bodyPr wrap="square"/>
                    <a:lstStyle/>
                    <a:p>
                      <a:pPr algn="r">
                        <a:defRPr sz="790">
                          <a:solidFill>
                            <a:srgbClr val="1E242B"/>
                          </a:solidFill>
                          <a:latin typeface="Meiryo UI"/>
                        </a:defRPr>
                      </a:pPr>
                      <a:r>
                        <a:t>754,000,000 VND（29,000 USD: 650M + 104M）</a:t>
                      </a:r>
                    </a:p>
                  </a:txBody>
                  <a:tcPr anchor="ctr" marL="45720" marR="45720" marT="18288" marB="18288">
                    <a:solidFill>
                      <a:srgbClr val="E8EEF5"/>
                    </a:solidFill>
                  </a:tcPr>
                </a:tc>
                <a:tc>
                  <a:txBody>
                    <a:bodyPr wrap="square"/>
                    <a:lstStyle/>
                    <a:p>
                      <a:pPr algn="l">
                        <a:defRPr sz="790" b="1">
                          <a:solidFill>
                            <a:srgbClr val="1E242B"/>
                          </a:solidFill>
                          <a:latin typeface="Meiryo UI"/>
                        </a:defRPr>
                      </a:pPr>
                      <a:r>
                        <a:t>3件合計（No.22+23+24）: 855.69百万VND（32,911.15$）</a:t>
                      </a:r>
                    </a:p>
                  </a:txBody>
                  <a:tcPr anchor="ctr" marL="45720" marR="45720" marT="18288" marB="18288">
                    <a:solidFill>
                      <a:srgbClr val="E8EEF5"/>
                    </a:solidFill>
                  </a:tcPr>
                </a:tc>
              </a:tr>
              <a:tr h="324612">
                <a:tc>
                  <a:txBody>
                    <a:bodyPr wrap="square"/>
                    <a:lstStyle/>
                    <a:p>
                      <a:pPr algn="l">
                        <a:defRPr sz="790" b="1">
                          <a:solidFill>
                            <a:srgbClr val="1E242B"/>
                          </a:solidFill>
                          <a:latin typeface="Meiryo UI"/>
                        </a:defRPr>
                      </a:pPr>
                      <a:r>
                        <a:t>3. 見積中・検討中（DP他）および設計/FW改善</a:t>
                      </a:r>
                    </a:p>
                  </a:txBody>
                  <a:tcPr anchor="ctr" marL="45720" marR="45720" marT="18288" marB="18288">
                    <a:solidFill>
                      <a:srgbClr val="FEF7E6"/>
                    </a:solidFill>
                  </a:tcPr>
                </a:tc>
                <a:tc>
                  <a:txBody>
                    <a:bodyPr wrap="square"/>
                    <a:lstStyle/>
                    <a:p>
                      <a:pPr algn="ctr">
                        <a:defRPr sz="790" b="1">
                          <a:solidFill>
                            <a:srgbClr val="1E242B"/>
                          </a:solidFill>
                          <a:latin typeface="Meiryo UI"/>
                        </a:defRPr>
                      </a:pPr>
                      <a:r>
                        <a:t>設備10件+設計6件+R&amp;D 1件</a:t>
                      </a:r>
                    </a:p>
                  </a:txBody>
                  <a:tcPr anchor="ctr" marL="45720" marR="45720" marT="18288" marB="18288">
                    <a:solidFill>
                      <a:srgbClr val="FEF7E6"/>
                    </a:solidFill>
                  </a:tcPr>
                </a:tc>
                <a:tc>
                  <a:txBody>
                    <a:bodyPr wrap="square"/>
                    <a:lstStyle/>
                    <a:p>
                      <a:pPr algn="ctr">
                        <a:defRPr sz="790">
                          <a:solidFill>
                            <a:srgbClr val="1E242B"/>
                          </a:solidFill>
                          <a:latin typeface="Meiryo UI"/>
                        </a:defRPr>
                      </a:pPr>
                      <a:r>
                        <a:t>-569.32 秒 〜 -581.32 秒/台</a:t>
                      </a:r>
                    </a:p>
                  </a:txBody>
                  <a:tcPr anchor="ctr" marL="45720" marR="45720" marT="18288" marB="18288">
                    <a:solidFill>
                      <a:srgbClr val="FEF7E6"/>
                    </a:solidFill>
                  </a:tcPr>
                </a:tc>
                <a:tc>
                  <a:txBody>
                    <a:bodyPr wrap="square"/>
                    <a:lstStyle/>
                    <a:p>
                      <a:pPr algn="r">
                        <a:defRPr sz="790">
                          <a:solidFill>
                            <a:srgbClr val="1E242B"/>
                          </a:solidFill>
                          <a:latin typeface="Meiryo UI"/>
                        </a:defRPr>
                      </a:pPr>
                      <a:r>
                        <a:t>見積中（10件） | No.26 AI異音: 600万円</a:t>
                      </a:r>
                    </a:p>
                  </a:txBody>
                  <a:tcPr anchor="ctr" marL="45720" marR="45720" marT="18288" marB="18288">
                    <a:solidFill>
                      <a:srgbClr val="FEF7E6"/>
                    </a:solidFill>
                  </a:tcPr>
                </a:tc>
                <a:tc>
                  <a:txBody>
                    <a:bodyPr wrap="square"/>
                    <a:lstStyle/>
                    <a:p>
                      <a:pPr algn="l">
                        <a:defRPr sz="790" b="1">
                          <a:solidFill>
                            <a:srgbClr val="1E242B"/>
                          </a:solidFill>
                          <a:latin typeface="Meiryo UI"/>
                        </a:defRPr>
                      </a:pPr>
                      <a:r>
                        <a:t>見積完了後に第2次申請（合算せず別枠管理）</a:t>
                      </a:r>
                    </a:p>
                  </a:txBody>
                  <a:tcPr anchor="ctr" marL="45720" marR="45720" marT="18288" marB="18288">
                    <a:solidFill>
                      <a:srgbClr val="FEF7E6"/>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91440"/>
            <a:ext cx="196596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第3章：背景・現状</a:t>
            </a:r>
          </a:p>
        </p:txBody>
      </p:sp>
      <p:sp>
        <p:nvSpPr>
          <p:cNvPr id="4" name="TextBox 3"/>
          <p:cNvSpPr txBox="1"/>
          <p:nvPr/>
        </p:nvSpPr>
        <p:spPr>
          <a:xfrm>
            <a:off x="2286000" y="54864"/>
            <a:ext cx="9052560" cy="457200"/>
          </a:xfrm>
          <a:prstGeom prst="rect">
            <a:avLst/>
          </a:prstGeom>
          <a:noFill/>
        </p:spPr>
        <p:txBody>
          <a:bodyPr wrap="square" lIns="18288" rIns="18288">
            <a:spAutoFit/>
          </a:bodyPr>
          <a:lstStyle/>
          <a:p>
            <a:pPr>
              <a:defRPr sz="1450" b="1">
                <a:solidFill>
                  <a:srgbClr val="FFFFFF"/>
                </a:solidFill>
                <a:latin typeface="Meiryo UI"/>
              </a:defRPr>
            </a:pPr>
            <a:r>
              <a:t>背景と現状：Iris EXP 月産16,000台への増産と Athena系／Spica系に基づく工程設計</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3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lstStyle/>
          <a:p>
            <a:pPr algn="ctr">
              <a:defRPr sz="980" b="1">
                <a:solidFill>
                  <a:srgbClr val="1B365D"/>
                </a:solidFill>
                <a:latin typeface="Meiryo UI"/>
              </a:defRPr>
            </a:pPr>
            <a:r>
              <a:t>■ VN工場のIris EXP月産台数は16,000台（タクトタイム：114秒→97秒）。現行Iris2024工程（2,350秒/台）のままでは人員が14〜15名から18名へ増加するため、Athena系・Spica系をベースとした工程再構築が必要。</a:t>
            </a:r>
          </a:p>
        </p:txBody>
      </p:sp>
      <p:graphicFrame>
        <p:nvGraphicFramePr>
          <p:cNvPr id="7" name="Table 6"/>
          <p:cNvGraphicFramePr>
            <a:graphicFrameLocks noGrp="1"/>
          </p:cNvGraphicFramePr>
          <p:nvPr/>
        </p:nvGraphicFramePr>
        <p:xfrm>
          <a:off x="274320" y="1243584"/>
          <a:ext cx="5989320" cy="3154680"/>
        </p:xfrm>
        <a:graphic>
          <a:graphicData uri="http://schemas.openxmlformats.org/drawingml/2006/table">
            <a:tbl>
              <a:tblPr firstRow="1" bandRow="1">
                <a:tableStyleId>{5C22544A-7EE6-4342-B048-85BDC9FD1C3A}</a:tableStyleId>
              </a:tblPr>
              <a:tblGrid>
                <a:gridCol w="1691640"/>
                <a:gridCol w="1371600"/>
                <a:gridCol w="1463040"/>
                <a:gridCol w="1463040"/>
              </a:tblGrid>
              <a:tr h="394335">
                <a:tc>
                  <a:txBody>
                    <a:bodyPr wrap="square"/>
                    <a:lstStyle/>
                    <a:p>
                      <a:pPr algn="ctr">
                        <a:defRPr sz="819" b="1">
                          <a:solidFill>
                            <a:srgbClr val="FFFFFF"/>
                          </a:solidFill>
                          <a:latin typeface="Meiryo UI"/>
                        </a:defRPr>
                      </a:pPr>
                      <a:r>
                        <a:t>評価項目</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現行 Iris2024 (VN)</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Iris EXP 改善前</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Athena系 / Spica系 構成</a:t>
                      </a:r>
                    </a:p>
                  </a:txBody>
                  <a:tcPr anchor="ctr" marL="45720" marR="45720" marT="18288" marB="18288">
                    <a:solidFill>
                      <a:srgbClr val="1B365D"/>
                    </a:solidFill>
                  </a:tcPr>
                </a:tc>
              </a:tr>
              <a:tr h="394335">
                <a:tc>
                  <a:txBody>
                    <a:bodyPr wrap="square"/>
                    <a:lstStyle/>
                    <a:p>
                      <a:pPr algn="l">
                        <a:defRPr sz="760" b="1">
                          <a:solidFill>
                            <a:srgbClr val="1E242B"/>
                          </a:solidFill>
                          <a:latin typeface="Meiryo UI"/>
                        </a:defRPr>
                      </a:pPr>
                      <a:r>
                        <a:t>月産台数</a:t>
                      </a:r>
                    </a:p>
                  </a:txBody>
                  <a:tcPr anchor="ctr" marL="45720" marR="45720" marT="18288" marB="18288">
                    <a:solidFill>
                      <a:srgbClr val="FFFFFF"/>
                    </a:solidFill>
                  </a:tcPr>
                </a:tc>
                <a:tc>
                  <a:txBody>
                    <a:bodyPr wrap="square"/>
                    <a:lstStyle/>
                    <a:p>
                      <a:pPr algn="ctr">
                        <a:defRPr sz="760">
                          <a:solidFill>
                            <a:srgbClr val="1E242B"/>
                          </a:solidFill>
                          <a:latin typeface="Meiryo UI"/>
                        </a:defRPr>
                      </a:pPr>
                      <a:r>
                        <a:t>KDTVN 現行量産中</a:t>
                      </a:r>
                    </a:p>
                  </a:txBody>
                  <a:tcPr anchor="ctr" marL="45720" marR="45720" marT="18288" marB="18288">
                    <a:solidFill>
                      <a:srgbClr val="FFFFFF"/>
                    </a:solidFill>
                  </a:tcPr>
                </a:tc>
                <a:tc>
                  <a:txBody>
                    <a:bodyPr wrap="square"/>
                    <a:lstStyle/>
                    <a:p>
                      <a:pPr algn="ctr">
                        <a:defRPr sz="760">
                          <a:solidFill>
                            <a:srgbClr val="1E242B"/>
                          </a:solidFill>
                          <a:latin typeface="Meiryo UI"/>
                        </a:defRPr>
                      </a:pPr>
                      <a:r>
                        <a:t>VN: 16,000台 | CN: 2,700台</a:t>
                      </a:r>
                    </a:p>
                  </a:txBody>
                  <a:tcPr anchor="ctr" marL="45720" marR="45720" marT="18288" marB="18288">
                    <a:solidFill>
                      <a:srgbClr val="FFFFFF"/>
                    </a:solidFill>
                  </a:tcPr>
                </a:tc>
                <a:tc>
                  <a:txBody>
                    <a:bodyPr wrap="square"/>
                    <a:lstStyle/>
                    <a:p>
                      <a:pPr algn="l">
                        <a:defRPr sz="760">
                          <a:solidFill>
                            <a:srgbClr val="1E242B"/>
                          </a:solidFill>
                          <a:latin typeface="Meiryo UI"/>
                        </a:defRPr>
                      </a:pPr>
                      <a:r>
                        <a:t>Athena: 1,000台 | Spica: 20,000台</a:t>
                      </a:r>
                    </a:p>
                  </a:txBody>
                  <a:tcPr anchor="ctr" marL="45720" marR="45720" marT="18288" marB="18288">
                    <a:solidFill>
                      <a:srgbClr val="FFFFFF"/>
                    </a:solidFill>
                  </a:tcPr>
                </a:tc>
              </a:tr>
              <a:tr h="394335">
                <a:tc>
                  <a:txBody>
                    <a:bodyPr wrap="square"/>
                    <a:lstStyle/>
                    <a:p>
                      <a:pPr algn="l">
                        <a:defRPr sz="760" b="1">
                          <a:solidFill>
                            <a:srgbClr val="1E242B"/>
                          </a:solidFill>
                          <a:latin typeface="Meiryo UI"/>
                        </a:defRPr>
                      </a:pPr>
                      <a:r>
                        <a:t>VN タクトタイム</a:t>
                      </a:r>
                    </a:p>
                  </a:txBody>
                  <a:tcPr anchor="ctr" marL="45720" marR="45720" marT="18288" marB="18288">
                    <a:solidFill>
                      <a:srgbClr val="F7F9FC"/>
                    </a:solidFill>
                  </a:tcPr>
                </a:tc>
                <a:tc>
                  <a:txBody>
                    <a:bodyPr wrap="square"/>
                    <a:lstStyle/>
                    <a:p>
                      <a:pPr algn="ctr">
                        <a:defRPr sz="760">
                          <a:solidFill>
                            <a:srgbClr val="1E242B"/>
                          </a:solidFill>
                          <a:latin typeface="Meiryo UI"/>
                        </a:defRPr>
                      </a:pPr>
                      <a:r>
                        <a:t>114 秒 / 台</a:t>
                      </a:r>
                    </a:p>
                  </a:txBody>
                  <a:tcPr anchor="ctr" marL="45720" marR="45720" marT="18288" marB="18288">
                    <a:solidFill>
                      <a:srgbClr val="F7F9FC"/>
                    </a:solidFill>
                  </a:tcPr>
                </a:tc>
                <a:tc>
                  <a:txBody>
                    <a:bodyPr wrap="square"/>
                    <a:lstStyle/>
                    <a:p>
                      <a:pPr algn="ctr">
                        <a:defRPr sz="760">
                          <a:solidFill>
                            <a:srgbClr val="1E242B"/>
                          </a:solidFill>
                          <a:latin typeface="Meiryo UI"/>
                        </a:defRPr>
                      </a:pPr>
                      <a:r>
                        <a:t>97 秒 / 台 (-17秒)</a:t>
                      </a:r>
                    </a:p>
                  </a:txBody>
                  <a:tcPr anchor="ctr" marL="45720" marR="45720" marT="18288" marB="18288">
                    <a:solidFill>
                      <a:srgbClr val="F7F9FC"/>
                    </a:solidFill>
                  </a:tcPr>
                </a:tc>
                <a:tc>
                  <a:txBody>
                    <a:bodyPr wrap="square"/>
                    <a:lstStyle/>
                    <a:p>
                      <a:pPr algn="l">
                        <a:defRPr sz="760">
                          <a:solidFill>
                            <a:srgbClr val="1E242B"/>
                          </a:solidFill>
                          <a:latin typeface="Meiryo UI"/>
                        </a:defRPr>
                      </a:pPr>
                      <a:r>
                        <a:t>自動コンベア連動タクト</a:t>
                      </a:r>
                    </a:p>
                  </a:txBody>
                  <a:tcPr anchor="ctr" marL="45720" marR="45720" marT="18288" marB="18288">
                    <a:solidFill>
                      <a:srgbClr val="F7F9FC"/>
                    </a:solidFill>
                  </a:tcPr>
                </a:tc>
              </a:tr>
              <a:tr h="394335">
                <a:tc>
                  <a:txBody>
                    <a:bodyPr wrap="square"/>
                    <a:lstStyle/>
                    <a:p>
                      <a:pPr algn="l">
                        <a:defRPr sz="760" b="1">
                          <a:solidFill>
                            <a:srgbClr val="1E242B"/>
                          </a:solidFill>
                          <a:latin typeface="Meiryo UI"/>
                        </a:defRPr>
                      </a:pPr>
                      <a:r>
                        <a:t>VN 調整工程 総時間</a:t>
                      </a:r>
                    </a:p>
                  </a:txBody>
                  <a:tcPr anchor="ctr" marL="45720" marR="45720" marT="18288" marB="18288">
                    <a:solidFill>
                      <a:srgbClr val="FEF7E6"/>
                    </a:solidFill>
                  </a:tcPr>
                </a:tc>
                <a:tc>
                  <a:txBody>
                    <a:bodyPr wrap="square"/>
                    <a:lstStyle/>
                    <a:p>
                      <a:pPr algn="ctr">
                        <a:defRPr sz="760" b="1">
                          <a:solidFill>
                            <a:srgbClr val="1E242B"/>
                          </a:solidFill>
                          <a:latin typeface="Meiryo UI"/>
                        </a:defRPr>
                      </a:pPr>
                      <a:r>
                        <a:t>2,350.00 秒 (K1〜K8 計39項)</a:t>
                      </a:r>
                    </a:p>
                  </a:txBody>
                  <a:tcPr anchor="ctr" marL="45720" marR="45720" marT="18288" marB="18288">
                    <a:solidFill>
                      <a:srgbClr val="FEF7E6"/>
                    </a:solidFill>
                  </a:tcPr>
                </a:tc>
                <a:tc>
                  <a:txBody>
                    <a:bodyPr wrap="square"/>
                    <a:lstStyle/>
                    <a:p>
                      <a:pPr algn="ctr">
                        <a:defRPr sz="760">
                          <a:solidFill>
                            <a:srgbClr val="1E242B"/>
                          </a:solidFill>
                          <a:latin typeface="Meiryo UI"/>
                        </a:defRPr>
                      </a:pPr>
                      <a:r>
                        <a:t>2,350.00 秒 (+新規項目)</a:t>
                      </a:r>
                    </a:p>
                  </a:txBody>
                  <a:tcPr anchor="ctr" marL="45720" marR="45720" marT="18288" marB="18288">
                    <a:solidFill>
                      <a:srgbClr val="FEF7E6"/>
                    </a:solidFill>
                  </a:tcPr>
                </a:tc>
                <a:tc>
                  <a:txBody>
                    <a:bodyPr wrap="square"/>
                    <a:lstStyle/>
                    <a:p>
                      <a:pPr algn="l">
                        <a:defRPr sz="760">
                          <a:solidFill>
                            <a:srgbClr val="1E242B"/>
                          </a:solidFill>
                          <a:latin typeface="Meiryo UI"/>
                        </a:defRPr>
                      </a:pPr>
                      <a:r>
                        <a:t>目標：50%以上削減 (≦1,175秒)</a:t>
                      </a:r>
                    </a:p>
                  </a:txBody>
                  <a:tcPr anchor="ctr" marL="45720" marR="45720" marT="18288" marB="18288">
                    <a:solidFill>
                      <a:srgbClr val="FEF7E6"/>
                    </a:solidFill>
                  </a:tcPr>
                </a:tc>
              </a:tr>
              <a:tr h="394335">
                <a:tc>
                  <a:txBody>
                    <a:bodyPr wrap="square"/>
                    <a:lstStyle/>
                    <a:p>
                      <a:pPr algn="l">
                        <a:defRPr sz="760" b="1">
                          <a:solidFill>
                            <a:srgbClr val="1E242B"/>
                          </a:solidFill>
                          <a:latin typeface="Meiryo UI"/>
                        </a:defRPr>
                      </a:pPr>
                      <a:r>
                        <a:t>JP標準 正味作業時間</a:t>
                      </a:r>
                    </a:p>
                  </a:txBody>
                  <a:tcPr anchor="ctr" marL="45720" marR="45720" marT="18288" marB="18288">
                    <a:solidFill>
                      <a:srgbClr val="F7F9FC"/>
                    </a:solidFill>
                  </a:tcPr>
                </a:tc>
                <a:tc>
                  <a:txBody>
                    <a:bodyPr wrap="square"/>
                    <a:lstStyle/>
                    <a:p>
                      <a:pPr algn="ctr">
                        <a:defRPr sz="760">
                          <a:solidFill>
                            <a:srgbClr val="1E242B"/>
                          </a:solidFill>
                          <a:latin typeface="Meiryo UI"/>
                        </a:defRPr>
                      </a:pPr>
                      <a:r>
                        <a:t>Color: 1,171.7s | Mono: 1,120.9s</a:t>
                      </a:r>
                    </a:p>
                  </a:txBody>
                  <a:tcPr anchor="ctr" marL="45720" marR="45720" marT="18288" marB="18288">
                    <a:solidFill>
                      <a:srgbClr val="F7F9FC"/>
                    </a:solidFill>
                  </a:tcPr>
                </a:tc>
                <a:tc>
                  <a:txBody>
                    <a:bodyPr wrap="square"/>
                    <a:lstStyle/>
                    <a:p>
                      <a:pPr algn="ctr">
                        <a:defRPr sz="760">
                          <a:solidFill>
                            <a:srgbClr val="1E242B"/>
                          </a:solidFill>
                          <a:latin typeface="Meiryo UI"/>
                        </a:defRPr>
                      </a:pPr>
                      <a:r>
                        <a:t>Color: 1,260.7s (+89s U413)</a:t>
                      </a:r>
                      <a:br/>
                      <a:r>
                        <a:t>Mono: 1,172.62s (+51.72s)</a:t>
                      </a:r>
                    </a:p>
                  </a:txBody>
                  <a:tcPr anchor="ctr" marL="45720" marR="45720" marT="18288" marB="18288">
                    <a:solidFill>
                      <a:srgbClr val="F7F9FC"/>
                    </a:solidFill>
                  </a:tcPr>
                </a:tc>
                <a:tc>
                  <a:txBody>
                    <a:bodyPr wrap="square"/>
                    <a:lstStyle/>
                    <a:p>
                      <a:pPr algn="l">
                        <a:defRPr sz="760">
                          <a:solidFill>
                            <a:srgbClr val="1E242B"/>
                          </a:solidFill>
                          <a:latin typeface="Meiryo UI"/>
                        </a:defRPr>
                      </a:pPr>
                      <a:r>
                        <a:t>Athena: Color 1,561s / Mono 1,276s</a:t>
                      </a:r>
                      <a:br/>
                      <a:r>
                        <a:t>IrisEXP改善有: 1,083.86s (Color)</a:t>
                      </a:r>
                    </a:p>
                  </a:txBody>
                  <a:tcPr anchor="ctr" marL="45720" marR="45720" marT="18288" marB="18288">
                    <a:solidFill>
                      <a:srgbClr val="F7F9FC"/>
                    </a:solidFill>
                  </a:tcPr>
                </a:tc>
              </a:tr>
              <a:tr h="394335">
                <a:tc>
                  <a:txBody>
                    <a:bodyPr wrap="square"/>
                    <a:lstStyle/>
                    <a:p>
                      <a:pPr algn="l">
                        <a:defRPr sz="760" b="1">
                          <a:solidFill>
                            <a:srgbClr val="1E242B"/>
                          </a:solidFill>
                          <a:latin typeface="Meiryo UI"/>
                        </a:defRPr>
                      </a:pPr>
                      <a:r>
                        <a:t>VN ライン人員数</a:t>
                      </a:r>
                    </a:p>
                  </a:txBody>
                  <a:tcPr anchor="ctr" marL="45720" marR="45720" marT="18288" marB="18288">
                    <a:solidFill>
                      <a:srgbClr val="FDEDEC"/>
                    </a:solidFill>
                  </a:tcPr>
                </a:tc>
                <a:tc>
                  <a:txBody>
                    <a:bodyPr wrap="square"/>
                    <a:lstStyle/>
                    <a:p>
                      <a:pPr algn="ctr">
                        <a:defRPr sz="760">
                          <a:solidFill>
                            <a:srgbClr val="1E242B"/>
                          </a:solidFill>
                          <a:latin typeface="Meiryo UI"/>
                        </a:defRPr>
                      </a:pPr>
                      <a:r>
                        <a:t>14 名 (K1〜K8詳細)</a:t>
                      </a:r>
                      <a:br/>
                      <a:r>
                        <a:t>15 名 (DR4資料 S2)</a:t>
                      </a:r>
                    </a:p>
                  </a:txBody>
                  <a:tcPr anchor="ctr" marL="45720" marR="45720" marT="18288" marB="18288">
                    <a:solidFill>
                      <a:srgbClr val="FDEDEC"/>
                    </a:solidFill>
                  </a:tcPr>
                </a:tc>
                <a:tc>
                  <a:txBody>
                    <a:bodyPr wrap="square"/>
                    <a:lstStyle/>
                    <a:p>
                      <a:pPr algn="ctr">
                        <a:defRPr sz="760">
                          <a:solidFill>
                            <a:srgbClr val="1E242B"/>
                          </a:solidFill>
                          <a:latin typeface="Meiryo UI"/>
                        </a:defRPr>
                      </a:pPr>
                      <a:r>
                        <a:t>18 名 (17.62名)</a:t>
                      </a:r>
                      <a:br/>
                      <a:r>
                        <a:t>※タクト97秒換算</a:t>
                      </a:r>
                    </a:p>
                  </a:txBody>
                  <a:tcPr anchor="ctr" marL="45720" marR="45720" marT="18288" marB="18288">
                    <a:solidFill>
                      <a:srgbClr val="FDEDEC"/>
                    </a:solidFill>
                  </a:tcPr>
                </a:tc>
                <a:tc>
                  <a:txBody>
                    <a:bodyPr wrap="square"/>
                    <a:lstStyle/>
                    <a:p>
                      <a:pPr algn="l">
                        <a:defRPr sz="760">
                          <a:solidFill>
                            <a:srgbClr val="1E242B"/>
                          </a:solidFill>
                          <a:latin typeface="Meiryo UI"/>
                        </a:defRPr>
                      </a:pPr>
                      <a:r>
                        <a:t>Athena: 16名 → 8名 (-50%)</a:t>
                      </a:r>
                      <a:br/>
                      <a:r>
                        <a:t>IrisEXP目標: 18名 → 9名</a:t>
                      </a:r>
                    </a:p>
                  </a:txBody>
                  <a:tcPr anchor="ctr" marL="45720" marR="45720" marT="18288" marB="18288">
                    <a:solidFill>
                      <a:srgbClr val="FDEDEC"/>
                    </a:solidFill>
                  </a:tcPr>
                </a:tc>
              </a:tr>
              <a:tr h="394335">
                <a:tc>
                  <a:txBody>
                    <a:bodyPr wrap="square"/>
                    <a:lstStyle/>
                    <a:p>
                      <a:pPr algn="l">
                        <a:defRPr sz="760" b="1">
                          <a:solidFill>
                            <a:srgbClr val="1E242B"/>
                          </a:solidFill>
                          <a:latin typeface="Meiryo UI"/>
                        </a:defRPr>
                      </a:pPr>
                      <a:r>
                        <a:t>ステーション構成</a:t>
                      </a:r>
                    </a:p>
                  </a:txBody>
                  <a:tcPr anchor="ctr" marL="45720" marR="45720" marT="18288" marB="18288">
                    <a:solidFill>
                      <a:srgbClr val="F7F9FC"/>
                    </a:solidFill>
                  </a:tcPr>
                </a:tc>
                <a:tc>
                  <a:txBody>
                    <a:bodyPr wrap="square"/>
                    <a:lstStyle/>
                    <a:p>
                      <a:pPr algn="ctr">
                        <a:defRPr sz="760">
                          <a:solidFill>
                            <a:srgbClr val="1E242B"/>
                          </a:solidFill>
                          <a:latin typeface="Meiryo UI"/>
                        </a:defRPr>
                      </a:pPr>
                      <a:r>
                        <a:t>8ステーション (K1〜K8)</a:t>
                      </a:r>
                      <a:br/>
                      <a:r>
                        <a:t>作業者1名＋PC 1台/機</a:t>
                      </a:r>
                    </a:p>
                  </a:txBody>
                  <a:tcPr anchor="ctr" marL="45720" marR="45720" marT="18288" marB="18288">
                    <a:solidFill>
                      <a:srgbClr val="F7F9FC"/>
                    </a:solidFill>
                  </a:tcPr>
                </a:tc>
                <a:tc>
                  <a:txBody>
                    <a:bodyPr wrap="square"/>
                    <a:lstStyle/>
                    <a:p>
                      <a:pPr algn="ctr">
                        <a:defRPr sz="760">
                          <a:solidFill>
                            <a:srgbClr val="1E242B"/>
                          </a:solidFill>
                          <a:latin typeface="Meiryo UI"/>
                        </a:defRPr>
                      </a:pPr>
                      <a:r>
                        <a:t>5回の分断 (接地→Check→耐圧→異音→出荷)</a:t>
                      </a:r>
                    </a:p>
                  </a:txBody>
                  <a:tcPr anchor="ctr" marL="45720" marR="45720" marT="18288" marB="18288">
                    <a:solidFill>
                      <a:srgbClr val="F7F9FC"/>
                    </a:solidFill>
                  </a:tcPr>
                </a:tc>
                <a:tc>
                  <a:txBody>
                    <a:bodyPr wrap="square"/>
                    <a:lstStyle/>
                    <a:p>
                      <a:pPr algn="l">
                        <a:defRPr sz="760">
                          <a:solidFill>
                            <a:srgbClr val="1E242B"/>
                          </a:solidFill>
                          <a:latin typeface="Meiryo UI"/>
                        </a:defRPr>
                      </a:pPr>
                      <a:r>
                        <a:t>4ゾーン集約 (A-1 〜 A-4)</a:t>
                      </a:r>
                      <a:br/>
                      <a:r>
                        <a:t>作業者1名で3〜4台を同時担当</a:t>
                      </a:r>
                    </a:p>
                  </a:txBody>
                  <a:tcPr anchor="ctr" marL="45720" marR="45720" marT="18288" marB="18288">
                    <a:solidFill>
                      <a:srgbClr val="F7F9FC"/>
                    </a:solidFill>
                  </a:tcPr>
                </a:tc>
              </a:tr>
              <a:tr h="394335">
                <a:tc>
                  <a:txBody>
                    <a:bodyPr wrap="square"/>
                    <a:lstStyle/>
                    <a:p>
                      <a:pPr algn="l">
                        <a:defRPr sz="760" b="1">
                          <a:solidFill>
                            <a:srgbClr val="1E242B"/>
                          </a:solidFill>
                          <a:latin typeface="Meiryo UI"/>
                        </a:defRPr>
                      </a:pPr>
                      <a:r>
                        <a:t>制御・通信システム</a:t>
                      </a:r>
                    </a:p>
                  </a:txBody>
                  <a:tcPr anchor="ctr" marL="45720" marR="45720" marT="18288" marB="18288">
                    <a:solidFill>
                      <a:srgbClr val="EAF7EE"/>
                    </a:solidFill>
                  </a:tcPr>
                </a:tc>
                <a:tc>
                  <a:txBody>
                    <a:bodyPr wrap="square"/>
                    <a:lstStyle/>
                    <a:p>
                      <a:pPr algn="ctr">
                        <a:defRPr sz="760">
                          <a:solidFill>
                            <a:srgbClr val="1E242B"/>
                          </a:solidFill>
                          <a:latin typeface="Meiryo UI"/>
                        </a:defRPr>
                      </a:pPr>
                      <a:r>
                        <a:t>7900 / 7910 プログラム</a:t>
                      </a:r>
                      <a:br/>
                      <a:r>
                        <a:t>ケーブル挿抜 約11回/台</a:t>
                      </a:r>
                    </a:p>
                  </a:txBody>
                  <a:tcPr anchor="ctr" marL="45720" marR="45720" marT="18288" marB="18288">
                    <a:solidFill>
                      <a:srgbClr val="EAF7EE"/>
                    </a:solidFill>
                  </a:tcPr>
                </a:tc>
                <a:tc>
                  <a:txBody>
                    <a:bodyPr wrap="square"/>
                    <a:lstStyle/>
                    <a:p>
                      <a:pPr algn="ctr">
                        <a:defRPr sz="760">
                          <a:solidFill>
                            <a:srgbClr val="1E242B"/>
                          </a:solidFill>
                          <a:latin typeface="Meiryo UI"/>
                        </a:defRPr>
                      </a:pPr>
                      <a:r>
                        <a:t>起動待ち・印刷待ち・FW書込待ちが大</a:t>
                      </a:r>
                    </a:p>
                  </a:txBody>
                  <a:tcPr anchor="ctr" marL="45720" marR="45720" marT="18288" marB="18288">
                    <a:solidFill>
                      <a:srgbClr val="EAF7EE"/>
                    </a:solidFill>
                  </a:tcPr>
                </a:tc>
                <a:tc>
                  <a:txBody>
                    <a:bodyPr wrap="square"/>
                    <a:lstStyle/>
                    <a:p>
                      <a:pPr algn="l">
                        <a:defRPr sz="760">
                          <a:solidFill>
                            <a:srgbClr val="1E242B"/>
                          </a:solidFill>
                          <a:latin typeface="Meiryo UI"/>
                        </a:defRPr>
                      </a:pPr>
                      <a:r>
                        <a:t>Host PC + Tablet + 画像PC +</a:t>
                      </a:r>
                      <a:br/>
                      <a:r>
                        <a:t>Spica式Mini PC (1台/4機、約4万円)</a:t>
                      </a:r>
                    </a:p>
                  </a:txBody>
                  <a:tcPr anchor="ctr" marL="45720" marR="45720" marT="18288" marB="18288">
                    <a:solidFill>
                      <a:srgbClr val="EAF7EE"/>
                    </a:solidFill>
                  </a:tcPr>
                </a:tc>
              </a:tr>
            </a:tbl>
          </a:graphicData>
        </a:graphic>
      </p:graphicFrame>
      <p:pic>
        <p:nvPicPr>
          <p:cNvPr id="8" name="Picture 7" descr="chart_s3_k1_k8_jp.png"/>
          <p:cNvPicPr>
            <a:picLocks noChangeAspect="1"/>
          </p:cNvPicPr>
          <p:nvPr/>
        </p:nvPicPr>
        <p:blipFill>
          <a:blip r:embed="rId2"/>
          <a:stretch>
            <a:fillRect/>
          </a:stretch>
        </p:blipFill>
        <p:spPr>
          <a:xfrm>
            <a:off x="6355080" y="1243584"/>
            <a:ext cx="5559552" cy="2959116"/>
          </a:xfrm>
          <a:prstGeom prst="rect">
            <a:avLst/>
          </a:prstGeom>
        </p:spPr>
      </p:pic>
      <p:sp>
        <p:nvSpPr>
          <p:cNvPr id="9" name="Rectangle 8"/>
          <p:cNvSpPr/>
          <p:nvPr/>
        </p:nvSpPr>
        <p:spPr>
          <a:xfrm>
            <a:off x="274320" y="4498848"/>
            <a:ext cx="11643055" cy="1993392"/>
          </a:xfrm>
          <a:prstGeom prst="rect">
            <a:avLst/>
          </a:prstGeom>
          <a:solidFill>
            <a:srgbClr val="F4F6F9"/>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4498848"/>
            <a:ext cx="11643055" cy="310896"/>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wrap="square" tIns="36576"/>
          <a:lstStyle/>
          <a:p>
            <a:pPr algn="ctr">
              <a:defRPr sz="980" b="1">
                <a:solidFill>
                  <a:srgbClr val="FFFFFF"/>
                </a:solidFill>
                <a:latin typeface="Meiryo UI"/>
              </a:defRPr>
            </a:pPr>
            <a:r>
              <a:t>ATHENA系・SPICA系に基づく工程設計の考え方</a:t>
            </a:r>
          </a:p>
        </p:txBody>
      </p:sp>
      <p:sp>
        <p:nvSpPr>
          <p:cNvPr id="11" name="TextBox 10"/>
          <p:cNvSpPr txBox="1"/>
          <p:nvPr/>
        </p:nvSpPr>
        <p:spPr>
          <a:xfrm>
            <a:off x="347472" y="4837176"/>
            <a:ext cx="11496751" cy="1618488"/>
          </a:xfrm>
          <a:prstGeom prst="rect">
            <a:avLst/>
          </a:prstGeom>
          <a:noFill/>
        </p:spPr>
        <p:txBody>
          <a:bodyPr wrap="square" lIns="36576" rIns="36576" tIns="18288" bIns="18288">
            <a:spAutoFit/>
          </a:bodyPr>
          <a:lstStyle/>
          <a:p>
            <a:pPr>
              <a:spcAft>
                <a:spcPts val="250"/>
              </a:spcAft>
              <a:defRPr sz="840" b="1">
                <a:solidFill>
                  <a:srgbClr val="1E242B"/>
                </a:solidFill>
                <a:latin typeface="Meiryo UI"/>
              </a:defRPr>
            </a:pPr>
            <a:r>
              <a:t>■ 1. 「調整工程」から「本体保証工程」への転換：</a:t>
            </a:r>
          </a:p>
          <a:p>
            <a:pPr>
              <a:spcAft>
                <a:spcPts val="250"/>
              </a:spcAft>
              <a:defRPr sz="840">
                <a:solidFill>
                  <a:srgbClr val="1E242B"/>
                </a:solidFill>
                <a:latin typeface="Meiryo UI"/>
              </a:defRPr>
            </a:pPr>
            <a:r>
              <a:t>   • 現行Iris2024ではライン上での手作業測定・調整が多い（ベルト寄り測定、ISU/RCG直角調整、RCCマージン調整［再調整率50%］、Gray US0調整［30〜40%］、作業者によるPC画面目視判定）。</a:t>
            </a:r>
          </a:p>
          <a:p>
            <a:pPr>
              <a:spcAft>
                <a:spcPts val="250"/>
              </a:spcAft>
              <a:defRPr sz="840">
                <a:solidFill>
                  <a:srgbClr val="1E242B"/>
                </a:solidFill>
                <a:latin typeface="Meiryo UI"/>
              </a:defRPr>
            </a:pPr>
            <a:r>
              <a:t>   • Athena系では操作を仕向別約60個のJSONスクリプト（Host PC 2V9_7401）に集約し、コマンド自動送信・自動判定により人員を16名（Mercury4）から8名（Athena）へ半減。</a:t>
            </a:r>
          </a:p>
          <a:p>
            <a:pPr>
              <a:spcAft>
                <a:spcPts val="250"/>
              </a:spcAft>
              <a:defRPr sz="840" b="1">
                <a:solidFill>
                  <a:srgbClr val="1E242B"/>
                </a:solidFill>
                <a:latin typeface="Meiryo UI"/>
              </a:defRPr>
            </a:pPr>
            <a:r>
              <a:t>■ 2. ベトナム工場の大量生産（月産16,000台）に向けたSpica式Mini PC構成の採用：</a:t>
            </a:r>
          </a:p>
          <a:p>
            <a:pPr>
              <a:spcAft>
                <a:spcPts val="250"/>
              </a:spcAft>
              <a:defRPr sz="840">
                <a:solidFill>
                  <a:srgbClr val="1E242B"/>
                </a:solidFill>
                <a:latin typeface="Meiryo UI"/>
              </a:defRPr>
            </a:pPr>
            <a:r>
              <a:t>   • Athena（月産1,000台）はAGV搭載のため本体毎にRaspberry Pi（8,000〜12,000円）＋モバイルバッテリー（9,600円＋充電器19万円）を使用するが、電源切れ・Wi-Fi切断が週2〜3回発生。</a:t>
            </a:r>
          </a:p>
          <a:p>
            <a:pPr>
              <a:spcAft>
                <a:spcPts val="250"/>
              </a:spcAft>
              <a:defRPr sz="840">
                <a:solidFill>
                  <a:srgbClr val="1E242B"/>
                </a:solidFill>
                <a:latin typeface="Meiryo UI"/>
              </a:defRPr>
            </a:pPr>
            <a:r>
              <a:t>   • Iris EXP（VN：16,000台/月、CN：2,700台/月）では、第8回・第15回連携会にて「PC＆Spicaシステム」に仮決定：AC常時給電、1セル（4台）あたりMini PC 1台（約40,000円）で安定制御。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91440"/>
            <a:ext cx="196596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第4章：開発目標</a:t>
            </a:r>
          </a:p>
        </p:txBody>
      </p:sp>
      <p:sp>
        <p:nvSpPr>
          <p:cNvPr id="4" name="TextBox 3"/>
          <p:cNvSpPr txBox="1"/>
          <p:nvPr/>
        </p:nvSpPr>
        <p:spPr>
          <a:xfrm>
            <a:off x="2286000" y="54864"/>
            <a:ext cx="9052560" cy="457200"/>
          </a:xfrm>
          <a:prstGeom prst="rect">
            <a:avLst/>
          </a:prstGeom>
          <a:noFill/>
        </p:spPr>
        <p:txBody>
          <a:bodyPr wrap="square" lIns="18288" rIns="18288">
            <a:spAutoFit/>
          </a:bodyPr>
          <a:lstStyle/>
          <a:p>
            <a:pPr>
              <a:defRPr sz="1450" b="1">
                <a:solidFill>
                  <a:srgbClr val="FFFFFF"/>
                </a:solidFill>
                <a:latin typeface="Meiryo UI"/>
              </a:defRPr>
            </a:pPr>
            <a:r>
              <a:t>プログラム目標および保証工程連携会における合意内容の推移</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4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lstStyle/>
          <a:p>
            <a:pPr algn="ctr">
              <a:defRPr sz="980" b="1">
                <a:solidFill>
                  <a:srgbClr val="1B365D"/>
                </a:solidFill>
                <a:latin typeface="Meiryo UI"/>
              </a:defRPr>
            </a:pPr>
            <a:r>
              <a:t>■ 第8回、DR4、第11〜12回および9/24資料の通り、「生産性2倍／人員半減」目標は第11回で一旦取り下げられた後、現在は「仮決定」として推進中。</a:t>
            </a:r>
          </a:p>
        </p:txBody>
      </p:sp>
      <p:graphicFrame>
        <p:nvGraphicFramePr>
          <p:cNvPr id="7" name="Table 6"/>
          <p:cNvGraphicFramePr>
            <a:graphicFrameLocks noGrp="1"/>
          </p:cNvGraphicFramePr>
          <p:nvPr/>
        </p:nvGraphicFramePr>
        <p:xfrm>
          <a:off x="274320" y="1243584"/>
          <a:ext cx="11643055" cy="3291840"/>
        </p:xfrm>
        <a:graphic>
          <a:graphicData uri="http://schemas.openxmlformats.org/drawingml/2006/table">
            <a:tbl>
              <a:tblPr firstRow="1" bandRow="1">
                <a:tableStyleId>{5C22544A-7EE6-4342-B048-85BDC9FD1C3A}</a:tableStyleId>
              </a:tblPr>
              <a:tblGrid>
                <a:gridCol w="1600200"/>
                <a:gridCol w="1965960"/>
                <a:gridCol w="1691640"/>
                <a:gridCol w="2057400"/>
                <a:gridCol w="2057400"/>
                <a:gridCol w="2270455"/>
              </a:tblGrid>
              <a:tr h="658368">
                <a:tc>
                  <a:txBody>
                    <a:bodyPr wrap="square"/>
                    <a:lstStyle/>
                    <a:p>
                      <a:pPr algn="ctr">
                        <a:defRPr sz="819" b="1">
                          <a:solidFill>
                            <a:srgbClr val="FFFFFF"/>
                          </a:solidFill>
                          <a:latin typeface="Meiryo UI"/>
                        </a:defRPr>
                      </a:pPr>
                      <a:r>
                        <a:t>フェーズ / 会議</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関連資料・会議体</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生産性・人員目標</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作業時間削減目標</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検査項目・サンプル枚数目標</a:t>
                      </a:r>
                    </a:p>
                  </a:txBody>
                  <a:tcPr anchor="ctr" marL="45720" marR="45720" marT="18288" marB="18288">
                    <a:solidFill>
                      <a:srgbClr val="1B365D"/>
                    </a:solidFill>
                  </a:tcPr>
                </a:tc>
                <a:tc>
                  <a:txBody>
                    <a:bodyPr wrap="square"/>
                    <a:lstStyle/>
                    <a:p>
                      <a:pPr algn="ctr">
                        <a:defRPr sz="819" b="1">
                          <a:solidFill>
                            <a:srgbClr val="FFFFFF"/>
                          </a:solidFill>
                          <a:latin typeface="Meiryo UI"/>
                        </a:defRPr>
                      </a:pPr>
                      <a:r>
                        <a:t>ステータス・備考</a:t>
                      </a:r>
                    </a:p>
                  </a:txBody>
                  <a:tcPr anchor="ctr" marL="45720" marR="45720" marT="18288" marB="18288">
                    <a:solidFill>
                      <a:srgbClr val="1B365D"/>
                    </a:solidFill>
                  </a:tcPr>
                </a:tc>
              </a:tr>
              <a:tr h="658368">
                <a:tc>
                  <a:txBody>
                    <a:bodyPr wrap="square"/>
                    <a:lstStyle/>
                    <a:p>
                      <a:pPr algn="ctr">
                        <a:defRPr sz="740" b="1">
                          <a:solidFill>
                            <a:srgbClr val="1E242B"/>
                          </a:solidFill>
                          <a:latin typeface="Meiryo UI"/>
                        </a:defRPr>
                      </a:pPr>
                      <a:r>
                        <a:t>1. 立ち上げ期</a:t>
                      </a:r>
                      <a:br/>
                      <a:r>
                        <a:t>(2026年6〜7月)</a:t>
                      </a:r>
                    </a:p>
                  </a:txBody>
                  <a:tcPr anchor="ctr" marL="45720" marR="45720" marT="18288" marB="18288">
                    <a:solidFill>
                      <a:srgbClr val="FFFFFF"/>
                    </a:solidFill>
                  </a:tcPr>
                </a:tc>
                <a:tc>
                  <a:txBody>
                    <a:bodyPr wrap="square"/>
                    <a:lstStyle/>
                    <a:p>
                      <a:pPr algn="l">
                        <a:defRPr sz="740">
                          <a:solidFill>
                            <a:srgbClr val="1E242B"/>
                          </a:solidFill>
                          <a:latin typeface="Meiryo UI"/>
                        </a:defRPr>
                      </a:pPr>
                      <a:r>
                        <a:t>IrisEXP 保証工程検討資料</a:t>
                      </a:r>
                      <a:br/>
                      <a:r>
                        <a:t>(第8回打ち合わせ資料 S3, 17)</a:t>
                      </a:r>
                    </a:p>
                  </a:txBody>
                  <a:tcPr anchor="ctr" marL="45720" marR="45720" marT="18288" marB="18288">
                    <a:solidFill>
                      <a:srgbClr val="FFFFFF"/>
                    </a:solidFill>
                  </a:tcPr>
                </a:tc>
                <a:tc>
                  <a:txBody>
                    <a:bodyPr wrap="square"/>
                    <a:lstStyle/>
                    <a:p>
                      <a:pPr algn="ctr">
                        <a:defRPr sz="740">
                          <a:solidFill>
                            <a:srgbClr val="1E242B"/>
                          </a:solidFill>
                          <a:latin typeface="Meiryo UI"/>
                        </a:defRPr>
                      </a:pPr>
                      <a:r>
                        <a:t>Iris2024比で</a:t>
                      </a:r>
                      <a:br/>
                      <a:r>
                        <a:t>生産性 +20% 向上</a:t>
                      </a:r>
                    </a:p>
                  </a:txBody>
                  <a:tcPr anchor="ctr" marL="45720" marR="45720" marT="18288" marB="18288">
                    <a:solidFill>
                      <a:srgbClr val="FFFFFF"/>
                    </a:solidFill>
                  </a:tcPr>
                </a:tc>
                <a:tc>
                  <a:txBody>
                    <a:bodyPr wrap="square"/>
                    <a:lstStyle/>
                    <a:p>
                      <a:pPr algn="l">
                        <a:defRPr sz="740">
                          <a:solidFill>
                            <a:srgbClr val="1E242B"/>
                          </a:solidFill>
                          <a:latin typeface="Meiryo UI"/>
                        </a:defRPr>
                      </a:pPr>
                      <a:r>
                        <a:t>生産性+20%相当の</a:t>
                      </a:r>
                      <a:br/>
                      <a:r>
                        <a:t>作業時間短縮</a:t>
                      </a:r>
                    </a:p>
                  </a:txBody>
                  <a:tcPr anchor="ctr" marL="45720" marR="45720" marT="18288" marB="18288">
                    <a:solidFill>
                      <a:srgbClr val="FFFFFF"/>
                    </a:solidFill>
                  </a:tcPr>
                </a:tc>
                <a:tc>
                  <a:txBody>
                    <a:bodyPr wrap="square"/>
                    <a:lstStyle/>
                    <a:p>
                      <a:pPr algn="l">
                        <a:defRPr sz="740" b="1">
                          <a:solidFill>
                            <a:srgbClr val="B8292F"/>
                          </a:solidFill>
                          <a:latin typeface="Meiryo UI"/>
                        </a:defRPr>
                      </a:pPr>
                      <a:r>
                        <a:t>• Iris2024比で検査3項目を廃止または時間半減</a:t>
                      </a:r>
                      <a:br/>
                      <a:r>
                        <a:t>• 印刷枚数1/2削減</a:t>
                      </a:r>
                    </a:p>
                  </a:txBody>
                  <a:tcPr anchor="ctr" marL="45720" marR="45720" marT="18288" marB="18288">
                    <a:solidFill>
                      <a:srgbClr val="FFFFFF"/>
                    </a:solidFill>
                  </a:tcPr>
                </a:tc>
                <a:tc>
                  <a:txBody>
                    <a:bodyPr wrap="square"/>
                    <a:lstStyle/>
                    <a:p>
                      <a:pPr algn="l">
                        <a:defRPr sz="740">
                          <a:solidFill>
                            <a:srgbClr val="1E242B"/>
                          </a:solidFill>
                          <a:latin typeface="Meiryo UI"/>
                        </a:defRPr>
                      </a:pPr>
                      <a:r>
                        <a:t>初期目標の設定</a:t>
                      </a:r>
                      <a:br/>
                      <a:r>
                        <a:t>Athena / Spica構成の比較開始</a:t>
                      </a:r>
                    </a:p>
                  </a:txBody>
                  <a:tcPr anchor="ctr" marL="45720" marR="45720" marT="18288" marB="18288">
                    <a:solidFill>
                      <a:srgbClr val="FFFFFF"/>
                    </a:solidFill>
                  </a:tcPr>
                </a:tc>
              </a:tr>
              <a:tr h="658368">
                <a:tc>
                  <a:txBody>
                    <a:bodyPr wrap="square"/>
                    <a:lstStyle/>
                    <a:p>
                      <a:pPr algn="ctr">
                        <a:defRPr sz="740" b="1">
                          <a:solidFill>
                            <a:srgbClr val="1E242B"/>
                          </a:solidFill>
                          <a:latin typeface="Meiryo UI"/>
                        </a:defRPr>
                      </a:pPr>
                      <a:r>
                        <a:t>2. DR4 ＆ 8月報告</a:t>
                      </a:r>
                      <a:br/>
                      <a:r>
                        <a:t>(2026年8月)</a:t>
                      </a:r>
                    </a:p>
                  </a:txBody>
                  <a:tcPr anchor="ctr" marL="45720" marR="45720" marT="18288" marB="18288">
                    <a:solidFill>
                      <a:srgbClr val="F7F9FC"/>
                    </a:solidFill>
                  </a:tcPr>
                </a:tc>
                <a:tc>
                  <a:txBody>
                    <a:bodyPr wrap="square"/>
                    <a:lstStyle/>
                    <a:p>
                      <a:pPr algn="l">
                        <a:defRPr sz="740" b="1">
                          <a:solidFill>
                            <a:srgbClr val="1E242B"/>
                          </a:solidFill>
                          <a:latin typeface="Meiryo UI"/>
                        </a:defRPr>
                      </a:pPr>
                      <a:r>
                        <a:t>DR 4.pdf (Slide 2);</a:t>
                      </a:r>
                      <a:br/>
                      <a:r>
                        <a:t>調整工程計画.xlsx;</a:t>
                      </a:r>
                      <a:br/>
                      <a:r>
                        <a:t>IrisEXP報告.pptx</a:t>
                      </a:r>
                    </a:p>
                  </a:txBody>
                  <a:tcPr anchor="ctr" marL="45720" marR="45720" marT="18288" marB="18288">
                    <a:solidFill>
                      <a:srgbClr val="F7F9FC"/>
                    </a:solidFill>
                  </a:tcPr>
                </a:tc>
                <a:tc>
                  <a:txBody>
                    <a:bodyPr wrap="square"/>
                    <a:lstStyle/>
                    <a:p>
                      <a:pPr algn="ctr">
                        <a:defRPr sz="740">
                          <a:solidFill>
                            <a:srgbClr val="1E242B"/>
                          </a:solidFill>
                          <a:latin typeface="Meiryo UI"/>
                        </a:defRPr>
                      </a:pPr>
                      <a:r>
                        <a:t>生産性2倍 (2x)</a:t>
                      </a:r>
                      <a:br/>
                      <a:r>
                        <a:t>VN人員：18名 → 9名</a:t>
                      </a:r>
                      <a:br/>
                      <a:r>
                        <a:t>(-50% 人員)</a:t>
                      </a:r>
                    </a:p>
                  </a:txBody>
                  <a:tcPr anchor="ctr" marL="45720" marR="45720" marT="18288" marB="18288">
                    <a:solidFill>
                      <a:srgbClr val="F7F9FC"/>
                    </a:solidFill>
                  </a:tcPr>
                </a:tc>
                <a:tc>
                  <a:txBody>
                    <a:bodyPr wrap="square"/>
                    <a:lstStyle/>
                    <a:p>
                      <a:pPr algn="l">
                        <a:defRPr sz="740">
                          <a:solidFill>
                            <a:srgbClr val="1E242B"/>
                          </a:solidFill>
                          <a:latin typeface="Meiryo UI"/>
                        </a:defRPr>
                      </a:pPr>
                      <a:r>
                        <a:t>VN：2,350秒から50%以上削減</a:t>
                      </a:r>
                      <a:br/>
                      <a:r>
                        <a:t>(2026/6〜2027/3 目標：≦1,175秒)</a:t>
                      </a:r>
                    </a:p>
                  </a:txBody>
                  <a:tcPr anchor="ctr" marL="45720" marR="45720" marT="18288" marB="18288">
                    <a:solidFill>
                      <a:srgbClr val="F7F9FC"/>
                    </a:solidFill>
                  </a:tcPr>
                </a:tc>
                <a:tc>
                  <a:txBody>
                    <a:bodyPr wrap="square"/>
                    <a:lstStyle/>
                    <a:p>
                      <a:pPr algn="l">
                        <a:defRPr sz="740">
                          <a:solidFill>
                            <a:srgbClr val="1E242B"/>
                          </a:solidFill>
                          <a:latin typeface="Meiryo UI"/>
                        </a:defRPr>
                      </a:pPr>
                      <a:r>
                        <a:t>• 全28改善提案を策定</a:t>
                      </a:r>
                      <a:br/>
                      <a:r>
                        <a:t>  (JP: 7, CN: 10, VN: 11)</a:t>
                      </a:r>
                      <a:br/>
                      <a:r>
                        <a:t>• A-1〜A-4の4ゾーン化</a:t>
                      </a:r>
                    </a:p>
                  </a:txBody>
                  <a:tcPr anchor="ctr" marL="45720" marR="45720" marT="18288" marB="18288">
                    <a:solidFill>
                      <a:srgbClr val="F7F9FC"/>
                    </a:solidFill>
                  </a:tcPr>
                </a:tc>
                <a:tc>
                  <a:txBody>
                    <a:bodyPr wrap="square"/>
                    <a:lstStyle/>
                    <a:p>
                      <a:pPr algn="l">
                        <a:defRPr sz="740">
                          <a:solidFill>
                            <a:srgbClr val="1E242B"/>
                          </a:solidFill>
                          <a:latin typeface="Meiryo UI"/>
                        </a:defRPr>
                      </a:pPr>
                      <a:r>
                        <a:t>DR4にてNo.22をカバー取付後検査へ変更、ロボット案見直し指示</a:t>
                      </a:r>
                    </a:p>
                  </a:txBody>
                  <a:tcPr anchor="ctr" marL="45720" marR="45720" marT="18288" marB="18288">
                    <a:solidFill>
                      <a:srgbClr val="F7F9FC"/>
                    </a:solidFill>
                  </a:tcPr>
                </a:tc>
              </a:tr>
              <a:tr h="658368">
                <a:tc>
                  <a:txBody>
                    <a:bodyPr wrap="square"/>
                    <a:lstStyle/>
                    <a:p>
                      <a:pPr algn="ctr">
                        <a:defRPr sz="740" b="1">
                          <a:solidFill>
                            <a:srgbClr val="1E242B"/>
                          </a:solidFill>
                          <a:latin typeface="Meiryo UI"/>
                        </a:defRPr>
                      </a:pPr>
                      <a:r>
                        <a:t>3. 第11〜12回連携会</a:t>
                      </a:r>
                      <a:br/>
                      <a:r>
                        <a:t>(2026年9月4日〜11日)</a:t>
                      </a:r>
                    </a:p>
                  </a:txBody>
                  <a:tcPr anchor="ctr" marL="45720" marR="45720" marT="18288" marB="18288">
                    <a:solidFill>
                      <a:srgbClr val="FEF7E6"/>
                    </a:solidFill>
                  </a:tcPr>
                </a:tc>
                <a:tc>
                  <a:txBody>
                    <a:bodyPr wrap="square"/>
                    <a:lstStyle/>
                    <a:p>
                      <a:pPr algn="l">
                        <a:defRPr sz="740">
                          <a:solidFill>
                            <a:srgbClr val="1E242B"/>
                          </a:solidFill>
                          <a:latin typeface="Meiryo UI"/>
                        </a:defRPr>
                      </a:pPr>
                      <a:r>
                        <a:t>保証工程連携会 第11回・第12回議事録;</a:t>
                      </a:r>
                      <a:br/>
                      <a:r>
                        <a:t>BM-003-F 9月</a:t>
                      </a:r>
                    </a:p>
                  </a:txBody>
                  <a:tcPr anchor="ctr" marL="45720" marR="45720" marT="18288" marB="18288">
                    <a:solidFill>
                      <a:srgbClr val="FEF7E6"/>
                    </a:solidFill>
                  </a:tcPr>
                </a:tc>
                <a:tc>
                  <a:txBody>
                    <a:bodyPr wrap="square"/>
                    <a:lstStyle/>
                    <a:p>
                      <a:pPr algn="ctr">
                        <a:defRPr sz="740">
                          <a:solidFill>
                            <a:srgbClr val="1E242B"/>
                          </a:solidFill>
                          <a:latin typeface="Meiryo UI"/>
                        </a:defRPr>
                      </a:pPr>
                      <a:r>
                        <a:t>第11回にて「人員半減／生産性2倍」目標を一旦取り下げ</a:t>
                      </a:r>
                    </a:p>
                  </a:txBody>
                  <a:tcPr anchor="ctr" marL="45720" marR="45720" marT="18288" marB="18288">
                    <a:solidFill>
                      <a:srgbClr val="FEF7E6"/>
                    </a:solidFill>
                  </a:tcPr>
                </a:tc>
                <a:tc>
                  <a:txBody>
                    <a:bodyPr wrap="square"/>
                    <a:lstStyle/>
                    <a:p>
                      <a:pPr algn="l">
                        <a:defRPr sz="740">
                          <a:solidFill>
                            <a:srgbClr val="1E242B"/>
                          </a:solidFill>
                          <a:latin typeface="Meiryo UI"/>
                        </a:defRPr>
                      </a:pPr>
                      <a:r>
                        <a:t>JP工程表上は1,260.7秒 → 1,083.86秒 (-14.0%) に留まるため</a:t>
                      </a:r>
                    </a:p>
                  </a:txBody>
                  <a:tcPr anchor="ctr" marL="45720" marR="45720" marT="18288" marB="18288">
                    <a:solidFill>
                      <a:srgbClr val="FEF7E6"/>
                    </a:solidFill>
                  </a:tcPr>
                </a:tc>
                <a:tc>
                  <a:txBody>
                    <a:bodyPr wrap="square"/>
                    <a:lstStyle/>
                    <a:p>
                      <a:pPr algn="l">
                        <a:defRPr sz="740" b="1">
                          <a:solidFill>
                            <a:srgbClr val="1E242B"/>
                          </a:solidFill>
                          <a:latin typeface="Meiryo UI"/>
                        </a:defRPr>
                      </a:pPr>
                      <a:r>
                        <a:t>• U201タッチ検査廃止を確定 (-15.12s)</a:t>
                      </a:r>
                      <a:br/>
                      <a:r>
                        <a:t>• 3拠点共通サンプルの統合承認</a:t>
                      </a:r>
                      <a:br/>
                      <a:r>
                        <a:t>• VNより9件追加 → 計37件</a:t>
                      </a:r>
                    </a:p>
                  </a:txBody>
                  <a:tcPr anchor="ctr" marL="45720" marR="45720" marT="18288" marB="18288">
                    <a:solidFill>
                      <a:srgbClr val="FEF7E6"/>
                    </a:solidFill>
                  </a:tcPr>
                </a:tc>
                <a:tc>
                  <a:txBody>
                    <a:bodyPr wrap="square"/>
                    <a:lstStyle/>
                    <a:p>
                      <a:pPr algn="l">
                        <a:defRPr sz="740">
                          <a:solidFill>
                            <a:srgbClr val="1E242B"/>
                          </a:solidFill>
                          <a:latin typeface="Meiryo UI"/>
                        </a:defRPr>
                      </a:pPr>
                      <a:r>
                        <a:t>工程削除のみでは50%に達しないため、公約から一旦除外</a:t>
                      </a:r>
                    </a:p>
                  </a:txBody>
                  <a:tcPr anchor="ctr" marL="45720" marR="45720" marT="18288" marB="18288">
                    <a:solidFill>
                      <a:srgbClr val="FEF7E6"/>
                    </a:solidFill>
                  </a:tcPr>
                </a:tc>
              </a:tr>
              <a:tr h="658368">
                <a:tc>
                  <a:txBody>
                    <a:bodyPr wrap="square"/>
                    <a:lstStyle/>
                    <a:p>
                      <a:pPr algn="ctr">
                        <a:defRPr sz="740" b="1">
                          <a:solidFill>
                            <a:srgbClr val="1E242B"/>
                          </a:solidFill>
                          <a:latin typeface="Meiryo UI"/>
                        </a:defRPr>
                      </a:pPr>
                      <a:r>
                        <a:t>4. 目標決定・第13〜17回</a:t>
                      </a:r>
                      <a:br/>
                      <a:r>
                        <a:t>(2026年9月24日〜10月15日)</a:t>
                      </a:r>
                    </a:p>
                  </a:txBody>
                  <a:tcPr anchor="ctr" marL="45720" marR="45720" marT="18288" marB="18288">
                    <a:solidFill>
                      <a:srgbClr val="EAF7EE"/>
                    </a:solidFill>
                  </a:tcPr>
                </a:tc>
                <a:tc>
                  <a:txBody>
                    <a:bodyPr wrap="square"/>
                    <a:lstStyle/>
                    <a:p>
                      <a:pPr algn="l">
                        <a:defRPr sz="740">
                          <a:solidFill>
                            <a:srgbClr val="1E242B"/>
                          </a:solidFill>
                          <a:latin typeface="Meiryo UI"/>
                        </a:defRPr>
                      </a:pPr>
                      <a:r>
                        <a:t>IrisEXP開発目標決定(9月24日).xlsx;</a:t>
                      </a:r>
                      <a:br/>
                      <a:r>
                        <a:t>第13〜17回議事録</a:t>
                      </a:r>
                    </a:p>
                  </a:txBody>
                  <a:tcPr anchor="ctr" marL="45720" marR="45720" marT="18288" marB="18288">
                    <a:solidFill>
                      <a:srgbClr val="EAF7EE"/>
                    </a:solidFill>
                  </a:tcPr>
                </a:tc>
                <a:tc>
                  <a:txBody>
                    <a:bodyPr wrap="square"/>
                    <a:lstStyle/>
                    <a:p>
                      <a:pPr algn="ctr">
                        <a:defRPr sz="740">
                          <a:solidFill>
                            <a:srgbClr val="1E242B"/>
                          </a:solidFill>
                          <a:latin typeface="Meiryo UI"/>
                        </a:defRPr>
                      </a:pPr>
                      <a:r>
                        <a:t>生産性2倍 (2倍)</a:t>
                      </a:r>
                      <a:br/>
                      <a:r>
                        <a:t>ステータス：【仮決定】</a:t>
                      </a:r>
                    </a:p>
                  </a:txBody>
                  <a:tcPr anchor="ctr" marL="45720" marR="45720" marT="18288" marB="18288">
                    <a:solidFill>
                      <a:srgbClr val="EAF7EE"/>
                    </a:solidFill>
                  </a:tcPr>
                </a:tc>
                <a:tc>
                  <a:txBody>
                    <a:bodyPr wrap="square"/>
                    <a:lstStyle/>
                    <a:p>
                      <a:pPr algn="l">
                        <a:defRPr sz="740">
                          <a:solidFill>
                            <a:srgbClr val="1E242B"/>
                          </a:solidFill>
                          <a:latin typeface="Meiryo UI"/>
                        </a:defRPr>
                      </a:pPr>
                      <a:r>
                        <a:t>• JP工程表（削除反映）：-267.74s</a:t>
                      </a:r>
                      <a:br/>
                      <a:r>
                        <a:t>• VN PDCA目標：50%削減維持</a:t>
                      </a:r>
                      <a:br/>
                      <a:r>
                        <a:t>  (10月実績：-4.32s / 0.18%)</a:t>
                      </a:r>
                    </a:p>
                  </a:txBody>
                  <a:tcPr anchor="ctr" marL="45720" marR="45720" marT="18288" marB="18288">
                    <a:solidFill>
                      <a:srgbClr val="EAF7EE"/>
                    </a:solidFill>
                  </a:tcPr>
                </a:tc>
                <a:tc>
                  <a:txBody>
                    <a:bodyPr wrap="square"/>
                    <a:lstStyle/>
                    <a:p>
                      <a:pPr algn="l">
                        <a:defRPr sz="740" b="1">
                          <a:solidFill>
                            <a:srgbClr val="1E242B"/>
                          </a:solidFill>
                          <a:latin typeface="Meiryo UI"/>
                        </a:defRPr>
                      </a:pPr>
                      <a:r>
                        <a:t>• Print：17枚 → 9枚</a:t>
                      </a:r>
                      <a:br/>
                      <a:r>
                        <a:t>• Copy：2枚 → 1枚</a:t>
                      </a:r>
                      <a:br/>
                      <a:r>
                        <a:t>• CN No.38追加 → 計38件</a:t>
                      </a:r>
                    </a:p>
                  </a:txBody>
                  <a:tcPr anchor="ctr" marL="45720" marR="45720" marT="18288" marB="18288">
                    <a:solidFill>
                      <a:srgbClr val="EAF7EE"/>
                    </a:solidFill>
                  </a:tcPr>
                </a:tc>
                <a:tc>
                  <a:txBody>
                    <a:bodyPr wrap="square"/>
                    <a:lstStyle/>
                    <a:p>
                      <a:pPr algn="l">
                        <a:defRPr sz="740">
                          <a:solidFill>
                            <a:srgbClr val="1E242B"/>
                          </a:solidFill>
                          <a:latin typeface="Meiryo UI"/>
                        </a:defRPr>
                      </a:pPr>
                      <a:r>
                        <a:t>現行の公式目標：</a:t>
                      </a:r>
                      <a:br/>
                      <a:r>
                        <a:t>Spica式Mini PC【仮決定】、DP連続スキャン検証中</a:t>
                      </a:r>
                    </a:p>
                  </a:txBody>
                  <a:tcPr anchor="ctr" marL="45720" marR="45720" marT="18288" marB="18288">
                    <a:solidFill>
                      <a:srgbClr val="EAF7EE"/>
                    </a:solidFill>
                  </a:tcPr>
                </a:tc>
              </a:tr>
            </a:tbl>
          </a:graphicData>
        </a:graphic>
      </p:graphicFrame>
      <p:sp>
        <p:nvSpPr>
          <p:cNvPr id="8" name="Rectangle 7"/>
          <p:cNvSpPr/>
          <p:nvPr/>
        </p:nvSpPr>
        <p:spPr>
          <a:xfrm>
            <a:off x="274320" y="4645152"/>
            <a:ext cx="5687568" cy="1828800"/>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4645152"/>
            <a:ext cx="5687568" cy="310896"/>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36576"/>
          <a:lstStyle/>
          <a:p>
            <a:pPr algn="ctr">
              <a:defRPr sz="980" b="1">
                <a:solidFill>
                  <a:srgbClr val="FFFFFF"/>
                </a:solidFill>
                <a:latin typeface="Meiryo UI"/>
              </a:defRPr>
            </a:pPr>
            <a:r>
              <a:t>3拠点で合意・推進中の主要技術目標</a:t>
            </a:r>
          </a:p>
        </p:txBody>
      </p:sp>
      <p:sp>
        <p:nvSpPr>
          <p:cNvPr id="10" name="TextBox 9"/>
          <p:cNvSpPr txBox="1"/>
          <p:nvPr/>
        </p:nvSpPr>
        <p:spPr>
          <a:xfrm>
            <a:off x="347472" y="4983480"/>
            <a:ext cx="5541264" cy="1453896"/>
          </a:xfrm>
          <a:prstGeom prst="rect">
            <a:avLst/>
          </a:prstGeom>
          <a:noFill/>
        </p:spPr>
        <p:txBody>
          <a:bodyPr wrap="square" lIns="36576" rIns="36576" tIns="18288" bIns="18288">
            <a:spAutoFit/>
          </a:bodyPr>
          <a:lstStyle/>
          <a:p>
            <a:pPr>
              <a:spcAft>
                <a:spcPts val="250"/>
              </a:spcAft>
              <a:defRPr sz="780" b="1">
                <a:solidFill>
                  <a:srgbClr val="1E242B"/>
                </a:solidFill>
                <a:latin typeface="Meiryo UI"/>
              </a:defRPr>
            </a:pPr>
            <a:r>
              <a:t>✔ 1. Iris2024の検査項目から少なくとも3項目を廃止または作業時間1/2以下へ短縮：</a:t>
            </a:r>
          </a:p>
          <a:p>
            <a:pPr>
              <a:spcAft>
                <a:spcPts val="250"/>
              </a:spcAft>
              <a:defRPr sz="780">
                <a:solidFill>
                  <a:srgbClr val="1E242B"/>
                </a:solidFill>
                <a:latin typeface="Meiryo UI"/>
              </a:defRPr>
            </a:pPr>
            <a:r>
              <a:t>   • 項目1：廃トナーボトル閾値設定 U155の廃止（JP No.2 / VN No.30、標準-29.16秒／VN K1で-60秒）。</a:t>
            </a:r>
          </a:p>
          <a:p>
            <a:pPr>
              <a:spcAft>
                <a:spcPts val="250"/>
              </a:spcAft>
              <a:defRPr sz="780">
                <a:solidFill>
                  <a:srgbClr val="1E242B"/>
                </a:solidFill>
                <a:latin typeface="Meiryo UI"/>
              </a:defRPr>
            </a:pPr>
            <a:r>
              <a:t>   • 項目2：パネル座標タッチ検査 U201の手作業廃止、Host PCログ照合へ切替（JP No.3、削除確定 -15.12秒）。</a:t>
            </a:r>
          </a:p>
          <a:p>
            <a:pPr>
              <a:spcAft>
                <a:spcPts val="250"/>
              </a:spcAft>
              <a:defRPr sz="780">
                <a:solidFill>
                  <a:srgbClr val="1E242B"/>
                </a:solidFill>
                <a:latin typeface="Meiryo UI"/>
              </a:defRPr>
            </a:pPr>
            <a:r>
              <a:t>   • 項目3：カセット1/2サイズ・残量センサの手動切替検査廃止（VN No.34、-66.68秒）およびカバー開閉スイッチ検査廃止。</a:t>
            </a:r>
          </a:p>
          <a:p>
            <a:pPr>
              <a:spcAft>
                <a:spcPts val="250"/>
              </a:spcAft>
              <a:defRPr sz="780" b="1">
                <a:solidFill>
                  <a:srgbClr val="1E242B"/>
                </a:solidFill>
                <a:latin typeface="Meiryo UI"/>
              </a:defRPr>
            </a:pPr>
            <a:r>
              <a:t>✔ 2. 検査サンプル枚数の半減：Print 17枚→9枚（Athena系に準拠しRC9+RCG統合等）、Copy 2枚→1枚（DC-1＋Gray統合）。</a:t>
            </a:r>
          </a:p>
        </p:txBody>
      </p:sp>
      <p:sp>
        <p:nvSpPr>
          <p:cNvPr id="11" name="Rectangle 10"/>
          <p:cNvSpPr/>
          <p:nvPr/>
        </p:nvSpPr>
        <p:spPr>
          <a:xfrm>
            <a:off x="6227064" y="4645152"/>
            <a:ext cx="5687568" cy="1828800"/>
          </a:xfrm>
          <a:prstGeom prst="rect">
            <a:avLst/>
          </a:prstGeom>
          <a:solidFill>
            <a:srgbClr val="FEF7E6"/>
          </a:solidFill>
          <a:ln w="12700">
            <a:solidFill>
              <a:srgbClr val="B96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27064" y="4645152"/>
            <a:ext cx="5687568" cy="310896"/>
          </a:xfrm>
          <a:prstGeom prst="rect">
            <a:avLst/>
          </a:prstGeom>
          <a:solidFill>
            <a:srgbClr val="B96800"/>
          </a:solidFill>
          <a:ln>
            <a:noFill/>
          </a:ln>
        </p:spPr>
        <p:style>
          <a:lnRef idx="1">
            <a:schemeClr val="accent1"/>
          </a:lnRef>
          <a:fillRef idx="3">
            <a:schemeClr val="accent1"/>
          </a:fillRef>
          <a:effectRef idx="2">
            <a:schemeClr val="accent1"/>
          </a:effectRef>
          <a:fontRef idx="minor">
            <a:schemeClr val="lt1"/>
          </a:fontRef>
        </p:style>
        <p:txBody>
          <a:bodyPr rtlCol="0" anchor="ctr" wrap="square" tIns="36576"/>
          <a:lstStyle/>
          <a:p>
            <a:pPr algn="ctr">
              <a:defRPr sz="980" b="1">
                <a:solidFill>
                  <a:srgbClr val="FFFFFF"/>
                </a:solidFill>
                <a:latin typeface="Meiryo UI"/>
              </a:defRPr>
            </a:pPr>
            <a:r>
              <a:t>本社（JP）標準工数とベトナム工場（KDTVN）目標の差異について</a:t>
            </a:r>
          </a:p>
        </p:txBody>
      </p:sp>
      <p:sp>
        <p:nvSpPr>
          <p:cNvPr id="13" name="TextBox 12"/>
          <p:cNvSpPr txBox="1"/>
          <p:nvPr/>
        </p:nvSpPr>
        <p:spPr>
          <a:xfrm>
            <a:off x="6300216" y="4983480"/>
            <a:ext cx="5541264" cy="1453896"/>
          </a:xfrm>
          <a:prstGeom prst="rect">
            <a:avLst/>
          </a:prstGeom>
          <a:noFill/>
        </p:spPr>
        <p:txBody>
          <a:bodyPr wrap="square" lIns="36576" rIns="36576" tIns="18288" bIns="18288">
            <a:spAutoFit/>
          </a:bodyPr>
          <a:lstStyle/>
          <a:p>
            <a:pPr>
              <a:spcAft>
                <a:spcPts val="250"/>
              </a:spcAft>
              <a:defRPr sz="780" b="1">
                <a:solidFill>
                  <a:srgbClr val="1E242B"/>
                </a:solidFill>
                <a:latin typeface="Meiryo UI"/>
              </a:defRPr>
            </a:pPr>
            <a:r>
              <a:t>⚠ 1. 第11回連携会にて「人員半減／生産性2倍」を一旦取り下げた理由：</a:t>
            </a:r>
          </a:p>
          <a:p>
            <a:pPr>
              <a:spcAft>
                <a:spcPts val="250"/>
              </a:spcAft>
              <a:defRPr sz="780">
                <a:solidFill>
                  <a:srgbClr val="1E242B"/>
                </a:solidFill>
                <a:latin typeface="Meiryo UI"/>
              </a:defRPr>
            </a:pPr>
            <a:r>
              <a:t>   • JP標準工数比較表（既存機との工数比較）では、正味手作業時間は1,260.70秒→1,083.86秒（-176.84秒＝-14.0%）、削除マーク（削）全項目合計でも-267.74秒（-21.2%）であり、項目廃止のみでは50%削減に届かないため。</a:t>
            </a:r>
          </a:p>
          <a:p>
            <a:pPr>
              <a:spcAft>
                <a:spcPts val="250"/>
              </a:spcAft>
              <a:defRPr sz="780" b="1">
                <a:solidFill>
                  <a:srgbClr val="1E242B"/>
                </a:solidFill>
                <a:latin typeface="Meiryo UI"/>
              </a:defRPr>
            </a:pPr>
            <a:r>
              <a:t>⚠ 2. ベトナム工場（KDTVN）における推進計画：</a:t>
            </a:r>
          </a:p>
          <a:p>
            <a:pPr>
              <a:spcAft>
                <a:spcPts val="250"/>
              </a:spcAft>
              <a:defRPr sz="780">
                <a:solidFill>
                  <a:srgbClr val="1E242B"/>
                </a:solidFill>
                <a:latin typeface="Meiryo UI"/>
              </a:defRPr>
            </a:pPr>
            <a:r>
              <a:t>   • 部門品質目標（KDTVN-A-QA-QA-BM-003-F）では、JP/CNの項目廃止とVN独自の自動化提案20件を組み合わせることで、2027年3月までに総時間50%以上削減（2,350秒→1,175秒以下）を目指す。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91440"/>
            <a:ext cx="196596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第5.1章：VN提案全体像</a:t>
            </a:r>
          </a:p>
        </p:txBody>
      </p:sp>
      <p:sp>
        <p:nvSpPr>
          <p:cNvPr id="4" name="TextBox 3"/>
          <p:cNvSpPr txBox="1"/>
          <p:nvPr/>
        </p:nvSpPr>
        <p:spPr>
          <a:xfrm>
            <a:off x="2286000" y="54864"/>
            <a:ext cx="9052560" cy="457200"/>
          </a:xfrm>
          <a:prstGeom prst="rect">
            <a:avLst/>
          </a:prstGeom>
          <a:noFill/>
        </p:spPr>
        <p:txBody>
          <a:bodyPr wrap="square" lIns="18288" rIns="18288">
            <a:spAutoFit/>
          </a:bodyPr>
          <a:lstStyle/>
          <a:p>
            <a:pPr>
              <a:defRPr sz="1450" b="1">
                <a:solidFill>
                  <a:srgbClr val="FFFFFF"/>
                </a:solidFill>
                <a:latin typeface="Meiryo UI"/>
              </a:defRPr>
            </a:pPr>
            <a:r>
              <a:t>全38改善提案におけるベトナム工場（KDTVN）20提案の全体像（JP・CN提案と明確に区分）</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5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lstStyle/>
          <a:p>
            <a:pPr algn="ctr">
              <a:defRPr sz="980" b="1">
                <a:solidFill>
                  <a:srgbClr val="1B365D"/>
                </a:solidFill>
                <a:latin typeface="Meiryo UI"/>
              </a:defRPr>
            </a:pPr>
            <a:r>
              <a:t>■ VN工場からは計20件（8月報告11件＋9月追加9件）およびパートナーでのFW書込案を提案。「Iris EXPのVN提案.xlsx」の見積済3案件の合計は855.69百万VND（32,911.15 USD／纏め：33,000 USD）。</a:t>
            </a:r>
          </a:p>
        </p:txBody>
      </p:sp>
      <p:pic>
        <p:nvPicPr>
          <p:cNvPr id="7" name="Picture 6" descr="chart_s5_overview_jp.png"/>
          <p:cNvPicPr>
            <a:picLocks noChangeAspect="1"/>
          </p:cNvPicPr>
          <p:nvPr/>
        </p:nvPicPr>
        <p:blipFill>
          <a:blip r:embed="rId2"/>
          <a:stretch>
            <a:fillRect/>
          </a:stretch>
        </p:blipFill>
        <p:spPr>
          <a:xfrm>
            <a:off x="274320" y="1243584"/>
            <a:ext cx="5623560" cy="2539672"/>
          </a:xfrm>
          <a:prstGeom prst="rect">
            <a:avLst/>
          </a:prstGeom>
        </p:spPr>
      </p:pic>
      <p:graphicFrame>
        <p:nvGraphicFramePr>
          <p:cNvPr id="8" name="Table 7"/>
          <p:cNvGraphicFramePr>
            <a:graphicFrameLocks noGrp="1"/>
          </p:cNvGraphicFramePr>
          <p:nvPr/>
        </p:nvGraphicFramePr>
        <p:xfrm>
          <a:off x="5989320" y="1243584"/>
          <a:ext cx="5928055" cy="2514600"/>
        </p:xfrm>
        <a:graphic>
          <a:graphicData uri="http://schemas.openxmlformats.org/drawingml/2006/table">
            <a:tbl>
              <a:tblPr firstRow="1" bandRow="1">
                <a:tableStyleId>{5C22544A-7EE6-4342-B048-85BDC9FD1C3A}</a:tableStyleId>
              </a:tblPr>
              <a:tblGrid>
                <a:gridCol w="1051560"/>
                <a:gridCol w="1371600"/>
                <a:gridCol w="1097280"/>
                <a:gridCol w="1143000"/>
                <a:gridCol w="1264615"/>
              </a:tblGrid>
              <a:tr h="359228">
                <a:tc>
                  <a:txBody>
                    <a:bodyPr wrap="square"/>
                    <a:lstStyle/>
                    <a:p>
                      <a:pPr algn="ctr">
                        <a:defRPr sz="760" b="1">
                          <a:solidFill>
                            <a:srgbClr val="FFFFFF"/>
                          </a:solidFill>
                          <a:latin typeface="Meiryo UI"/>
                        </a:defRPr>
                      </a:pPr>
                      <a:r>
                        <a:t>対象ゾーン</a:t>
                      </a:r>
                    </a:p>
                  </a:txBody>
                  <a:tcPr anchor="ctr" marL="45720" marR="45720" marT="18288" marB="18288">
                    <a:solidFill>
                      <a:srgbClr val="1B365D"/>
                    </a:solidFill>
                  </a:tcPr>
                </a:tc>
                <a:tc>
                  <a:txBody>
                    <a:bodyPr wrap="square"/>
                    <a:lstStyle/>
                    <a:p>
                      <a:pPr algn="ctr">
                        <a:defRPr sz="760" b="1">
                          <a:solidFill>
                            <a:srgbClr val="FFFFFF"/>
                          </a:solidFill>
                          <a:latin typeface="Meiryo UI"/>
                        </a:defRPr>
                      </a:pPr>
                      <a:r>
                        <a:t>VN提案番号 (No.18〜37)</a:t>
                      </a:r>
                    </a:p>
                  </a:txBody>
                  <a:tcPr anchor="ctr" marL="45720" marR="45720" marT="18288" marB="18288">
                    <a:solidFill>
                      <a:srgbClr val="1B365D"/>
                    </a:solidFill>
                  </a:tcPr>
                </a:tc>
                <a:tc>
                  <a:txBody>
                    <a:bodyPr wrap="square"/>
                    <a:lstStyle/>
                    <a:p>
                      <a:pPr algn="ctr">
                        <a:defRPr sz="760" b="1">
                          <a:solidFill>
                            <a:srgbClr val="FFFFFF"/>
                          </a:solidFill>
                          <a:latin typeface="Meiryo UI"/>
                        </a:defRPr>
                      </a:pPr>
                      <a:r>
                        <a:t>現行時間 (VN)</a:t>
                      </a:r>
                    </a:p>
                  </a:txBody>
                  <a:tcPr anchor="ctr" marL="45720" marR="45720" marT="18288" marB="18288">
                    <a:solidFill>
                      <a:srgbClr val="1B365D"/>
                    </a:solidFill>
                  </a:tcPr>
                </a:tc>
                <a:tc>
                  <a:txBody>
                    <a:bodyPr wrap="square"/>
                    <a:lstStyle/>
                    <a:p>
                      <a:pPr algn="ctr">
                        <a:defRPr sz="760" b="1">
                          <a:solidFill>
                            <a:srgbClr val="FFFFFF"/>
                          </a:solidFill>
                          <a:latin typeface="Meiryo UI"/>
                        </a:defRPr>
                      </a:pPr>
                      <a:r>
                        <a:t>期待削減時間</a:t>
                      </a:r>
                    </a:p>
                  </a:txBody>
                  <a:tcPr anchor="ctr" marL="45720" marR="45720" marT="18288" marB="18288">
                    <a:solidFill>
                      <a:srgbClr val="1B365D"/>
                    </a:solidFill>
                  </a:tcPr>
                </a:tc>
                <a:tc>
                  <a:txBody>
                    <a:bodyPr wrap="square"/>
                    <a:lstStyle/>
                    <a:p>
                      <a:pPr algn="ctr">
                        <a:defRPr sz="760" b="1">
                          <a:solidFill>
                            <a:srgbClr val="FFFFFF"/>
                          </a:solidFill>
                          <a:latin typeface="Meiryo UI"/>
                        </a:defRPr>
                      </a:pPr>
                      <a:r>
                        <a:t>見積金額 (VN提案.xlsx)</a:t>
                      </a:r>
                    </a:p>
                  </a:txBody>
                  <a:tcPr anchor="ctr" marL="45720" marR="45720" marT="18288" marB="18288">
                    <a:solidFill>
                      <a:srgbClr val="1B365D"/>
                    </a:solidFill>
                  </a:tcPr>
                </a:tc>
              </a:tr>
              <a:tr h="359228">
                <a:tc>
                  <a:txBody>
                    <a:bodyPr wrap="square"/>
                    <a:lstStyle/>
                    <a:p>
                      <a:pPr algn="ctr">
                        <a:defRPr sz="700" b="1">
                          <a:solidFill>
                            <a:srgbClr val="1E242B"/>
                          </a:solidFill>
                          <a:latin typeface="Meiryo UI"/>
                        </a:defRPr>
                      </a:pPr>
                      <a:r>
                        <a:t>K1 → A-1</a:t>
                      </a:r>
                      <a:br/>
                      <a:r>
                        <a:t>(FW書込・初期設定)</a:t>
                      </a:r>
                    </a:p>
                  </a:txBody>
                  <a:tcPr anchor="ctr" marL="45720" marR="45720" marT="18288" marB="18288">
                    <a:solidFill>
                      <a:srgbClr val="FFFFFF"/>
                    </a:solidFill>
                  </a:tcPr>
                </a:tc>
                <a:tc>
                  <a:txBody>
                    <a:bodyPr wrap="square"/>
                    <a:lstStyle/>
                    <a:p>
                      <a:pPr algn="l">
                        <a:defRPr sz="700">
                          <a:solidFill>
                            <a:srgbClr val="1E242B"/>
                          </a:solidFill>
                          <a:latin typeface="Meiryo UI"/>
                        </a:defRPr>
                      </a:pPr>
                      <a:r>
                        <a:t>No.18, 19, 20, 29, 30</a:t>
                      </a:r>
                      <a:br/>
                      <a:r>
                        <a:t>+ パートナーFW + 10月実績</a:t>
                      </a:r>
                    </a:p>
                  </a:txBody>
                  <a:tcPr anchor="ctr" marL="45720" marR="45720" marT="18288" marB="18288">
                    <a:solidFill>
                      <a:srgbClr val="FFFFFF"/>
                    </a:solidFill>
                  </a:tcPr>
                </a:tc>
                <a:tc>
                  <a:txBody>
                    <a:bodyPr wrap="square"/>
                    <a:lstStyle/>
                    <a:p>
                      <a:pPr algn="ctr">
                        <a:defRPr sz="700">
                          <a:solidFill>
                            <a:srgbClr val="1E242B"/>
                          </a:solidFill>
                          <a:latin typeface="Meiryo UI"/>
                        </a:defRPr>
                      </a:pPr>
                      <a:r>
                        <a:t>295.00 秒</a:t>
                      </a:r>
                      <a:br/>
                      <a:r>
                        <a:t>(1名)</a:t>
                      </a:r>
                    </a:p>
                  </a:txBody>
                  <a:tcPr anchor="ctr" marL="45720" marR="45720" marT="18288" marB="18288">
                    <a:solidFill>
                      <a:srgbClr val="FFFFFF"/>
                    </a:solidFill>
                  </a:tcPr>
                </a:tc>
                <a:tc>
                  <a:txBody>
                    <a:bodyPr wrap="square"/>
                    <a:lstStyle/>
                    <a:p>
                      <a:pPr algn="ctr">
                        <a:defRPr sz="700">
                          <a:solidFill>
                            <a:srgbClr val="1E242B"/>
                          </a:solidFill>
                          <a:latin typeface="Meiryo UI"/>
                        </a:defRPr>
                      </a:pPr>
                      <a:r>
                        <a:t>-112.48s 〜 -124.48s</a:t>
                      </a:r>
                      <a:br/>
                      <a:r>
                        <a:t>(A-1人員 1名削減)</a:t>
                      </a:r>
                    </a:p>
                  </a:txBody>
                  <a:tcPr anchor="ctr" marL="45720" marR="45720" marT="18288" marB="18288">
                    <a:solidFill>
                      <a:srgbClr val="FFFFFF"/>
                    </a:solidFill>
                  </a:tcPr>
                </a:tc>
                <a:tc>
                  <a:txBody>
                    <a:bodyPr wrap="square"/>
                    <a:lstStyle/>
                    <a:p>
                      <a:pPr algn="l">
                        <a:defRPr sz="700" b="1">
                          <a:solidFill>
                            <a:srgbClr val="1E242B"/>
                          </a:solidFill>
                          <a:latin typeface="Meiryo UI"/>
                        </a:defRPr>
                      </a:pPr>
                      <a:r>
                        <a:t>見積中 3件</a:t>
                      </a:r>
                      <a:br/>
                      <a:r>
                        <a:t>設計改善 2件 (0円)</a:t>
                      </a:r>
                    </a:p>
                  </a:txBody>
                  <a:tcPr anchor="ctr" marL="45720" marR="45720" marT="18288" marB="18288">
                    <a:solidFill>
                      <a:srgbClr val="FFFFFF"/>
                    </a:solidFill>
                  </a:tcPr>
                </a:tc>
              </a:tr>
              <a:tr h="359228">
                <a:tc>
                  <a:txBody>
                    <a:bodyPr wrap="square"/>
                    <a:lstStyle/>
                    <a:p>
                      <a:pPr algn="ctr">
                        <a:defRPr sz="700" b="1">
                          <a:solidFill>
                            <a:srgbClr val="1E242B"/>
                          </a:solidFill>
                          <a:latin typeface="Meiryo UI"/>
                        </a:defRPr>
                      </a:pPr>
                      <a:r>
                        <a:t>K2 → A-2</a:t>
                      </a:r>
                      <a:br/>
                      <a:r>
                        <a:t>(セミファイナル・OP)</a:t>
                      </a:r>
                    </a:p>
                  </a:txBody>
                  <a:tcPr anchor="ctr" marL="45720" marR="45720" marT="18288" marB="18288">
                    <a:solidFill>
                      <a:srgbClr val="F7F9FC"/>
                    </a:solidFill>
                  </a:tcPr>
                </a:tc>
                <a:tc>
                  <a:txBody>
                    <a:bodyPr wrap="square"/>
                    <a:lstStyle/>
                    <a:p>
                      <a:pPr algn="l">
                        <a:defRPr sz="700">
                          <a:solidFill>
                            <a:srgbClr val="1E242B"/>
                          </a:solidFill>
                          <a:latin typeface="Meiryo UI"/>
                        </a:defRPr>
                      </a:pPr>
                      <a:r>
                        <a:t>No.21, 31, 32</a:t>
                      </a:r>
                    </a:p>
                  </a:txBody>
                  <a:tcPr anchor="ctr" marL="45720" marR="45720" marT="18288" marB="18288">
                    <a:solidFill>
                      <a:srgbClr val="F7F9FC"/>
                    </a:solidFill>
                  </a:tcPr>
                </a:tc>
                <a:tc>
                  <a:txBody>
                    <a:bodyPr wrap="square"/>
                    <a:lstStyle/>
                    <a:p>
                      <a:pPr algn="ctr">
                        <a:defRPr sz="700">
                          <a:solidFill>
                            <a:srgbClr val="1E242B"/>
                          </a:solidFill>
                          <a:latin typeface="Meiryo UI"/>
                        </a:defRPr>
                      </a:pPr>
                      <a:r>
                        <a:t>150.00 秒</a:t>
                      </a:r>
                      <a:br/>
                      <a:r>
                        <a:t>(1名)</a:t>
                      </a:r>
                    </a:p>
                  </a:txBody>
                  <a:tcPr anchor="ctr" marL="45720" marR="45720" marT="18288" marB="18288">
                    <a:solidFill>
                      <a:srgbClr val="F7F9FC"/>
                    </a:solidFill>
                  </a:tcPr>
                </a:tc>
                <a:tc>
                  <a:txBody>
                    <a:bodyPr wrap="square"/>
                    <a:lstStyle/>
                    <a:p>
                      <a:pPr algn="ctr">
                        <a:defRPr sz="700">
                          <a:solidFill>
                            <a:srgbClr val="1E242B"/>
                          </a:solidFill>
                          <a:latin typeface="Meiryo UI"/>
                        </a:defRPr>
                      </a:pPr>
                      <a:r>
                        <a:t>-65.00s 〜 -110.00s</a:t>
                      </a:r>
                    </a:p>
                  </a:txBody>
                  <a:tcPr anchor="ctr" marL="45720" marR="45720" marT="18288" marB="18288">
                    <a:solidFill>
                      <a:srgbClr val="F7F9FC"/>
                    </a:solidFill>
                  </a:tcPr>
                </a:tc>
                <a:tc>
                  <a:txBody>
                    <a:bodyPr wrap="square"/>
                    <a:lstStyle/>
                    <a:p>
                      <a:pPr algn="l">
                        <a:defRPr sz="700" b="1">
                          <a:solidFill>
                            <a:srgbClr val="1E242B"/>
                          </a:solidFill>
                          <a:latin typeface="Meiryo UI"/>
                        </a:defRPr>
                      </a:pPr>
                      <a:r>
                        <a:t>見積中 2件</a:t>
                      </a:r>
                      <a:br/>
                      <a:r>
                        <a:t>設計改善 1件 (0円)</a:t>
                      </a:r>
                    </a:p>
                  </a:txBody>
                  <a:tcPr anchor="ctr" marL="45720" marR="45720" marT="18288" marB="18288">
                    <a:solidFill>
                      <a:srgbClr val="F7F9FC"/>
                    </a:solidFill>
                  </a:tcPr>
                </a:tc>
              </a:tr>
              <a:tr h="359228">
                <a:tc>
                  <a:txBody>
                    <a:bodyPr wrap="square"/>
                    <a:lstStyle/>
                    <a:p>
                      <a:pPr algn="ctr">
                        <a:defRPr sz="700" b="1">
                          <a:solidFill>
                            <a:srgbClr val="1E242B"/>
                          </a:solidFill>
                          <a:latin typeface="Meiryo UI"/>
                        </a:defRPr>
                      </a:pPr>
                      <a:r>
                        <a:t>K3 → A-3</a:t>
                      </a:r>
                      <a:br/>
                      <a:r>
                        <a:t>(外装・耐圧・給紙)</a:t>
                      </a:r>
                    </a:p>
                  </a:txBody>
                  <a:tcPr anchor="ctr" marL="45720" marR="45720" marT="18288" marB="18288">
                    <a:solidFill>
                      <a:srgbClr val="EAF7EE"/>
                    </a:solidFill>
                  </a:tcPr>
                </a:tc>
                <a:tc>
                  <a:txBody>
                    <a:bodyPr wrap="square"/>
                    <a:lstStyle/>
                    <a:p>
                      <a:pPr algn="l">
                        <a:defRPr sz="700">
                          <a:solidFill>
                            <a:srgbClr val="1E242B"/>
                          </a:solidFill>
                          <a:latin typeface="Meiryo UI"/>
                        </a:defRPr>
                      </a:pPr>
                      <a:r>
                        <a:t>No.22, 33, 34, 35</a:t>
                      </a:r>
                    </a:p>
                  </a:txBody>
                  <a:tcPr anchor="ctr" marL="45720" marR="45720" marT="18288" marB="18288">
                    <a:solidFill>
                      <a:srgbClr val="EAF7EE"/>
                    </a:solidFill>
                  </a:tcPr>
                </a:tc>
                <a:tc>
                  <a:txBody>
                    <a:bodyPr wrap="square"/>
                    <a:lstStyle/>
                    <a:p>
                      <a:pPr algn="ctr">
                        <a:defRPr sz="700">
                          <a:solidFill>
                            <a:srgbClr val="1E242B"/>
                          </a:solidFill>
                          <a:latin typeface="Meiryo UI"/>
                        </a:defRPr>
                      </a:pPr>
                      <a:r>
                        <a:t>180.00 秒</a:t>
                      </a:r>
                      <a:br/>
                      <a:r>
                        <a:t>(1名)</a:t>
                      </a:r>
                    </a:p>
                  </a:txBody>
                  <a:tcPr anchor="ctr" marL="45720" marR="45720" marT="18288" marB="18288">
                    <a:solidFill>
                      <a:srgbClr val="EAF7EE"/>
                    </a:solidFill>
                  </a:tcPr>
                </a:tc>
                <a:tc>
                  <a:txBody>
                    <a:bodyPr wrap="square"/>
                    <a:lstStyle/>
                    <a:p>
                      <a:pPr algn="ctr">
                        <a:defRPr sz="700">
                          <a:solidFill>
                            <a:srgbClr val="1E242B"/>
                          </a:solidFill>
                          <a:latin typeface="Meiryo UI"/>
                        </a:defRPr>
                      </a:pPr>
                      <a:r>
                        <a:t>-158.32s 〜 -200.00s</a:t>
                      </a:r>
                    </a:p>
                  </a:txBody>
                  <a:tcPr anchor="ctr" marL="45720" marR="45720" marT="18288" marB="18288">
                    <a:solidFill>
                      <a:srgbClr val="EAF7EE"/>
                    </a:solidFill>
                  </a:tcPr>
                </a:tc>
                <a:tc>
                  <a:txBody>
                    <a:bodyPr wrap="square"/>
                    <a:lstStyle/>
                    <a:p>
                      <a:pPr algn="l">
                        <a:defRPr sz="700">
                          <a:solidFill>
                            <a:srgbClr val="1E242B"/>
                          </a:solidFill>
                          <a:latin typeface="Meiryo UI"/>
                        </a:defRPr>
                      </a:pPr>
                      <a:r>
                        <a:t>No.22: 101.69M (3,911.15$)</a:t>
                      </a:r>
                      <a:br/>
                      <a:r>
                        <a:t>［纏め: 4,000 USD］</a:t>
                      </a:r>
                    </a:p>
                  </a:txBody>
                  <a:tcPr anchor="ctr" marL="45720" marR="45720" marT="18288" marB="18288">
                    <a:solidFill>
                      <a:srgbClr val="EAF7EE"/>
                    </a:solidFill>
                  </a:tcPr>
                </a:tc>
              </a:tr>
              <a:tr h="359228">
                <a:tc>
                  <a:txBody>
                    <a:bodyPr wrap="square"/>
                    <a:lstStyle/>
                    <a:p>
                      <a:pPr algn="ctr">
                        <a:defRPr sz="700" b="1">
                          <a:solidFill>
                            <a:srgbClr val="1E242B"/>
                          </a:solidFill>
                          <a:latin typeface="Meiryo UI"/>
                        </a:defRPr>
                      </a:pPr>
                      <a:r>
                        <a:t>K4 → A-4前半</a:t>
                      </a:r>
                      <a:br/>
                      <a:r>
                        <a:t>(Scan・USB・U201)</a:t>
                      </a:r>
                    </a:p>
                  </a:txBody>
                  <a:tcPr anchor="ctr" marL="45720" marR="45720" marT="18288" marB="18288">
                    <a:solidFill>
                      <a:srgbClr val="E8EEF5"/>
                    </a:solidFill>
                  </a:tcPr>
                </a:tc>
                <a:tc>
                  <a:txBody>
                    <a:bodyPr wrap="square"/>
                    <a:lstStyle/>
                    <a:p>
                      <a:pPr algn="l">
                        <a:defRPr sz="700">
                          <a:solidFill>
                            <a:srgbClr val="1E242B"/>
                          </a:solidFill>
                          <a:latin typeface="Meiryo UI"/>
                        </a:defRPr>
                      </a:pPr>
                      <a:r>
                        <a:t>No.23, 24, 25 (DP),</a:t>
                      </a:r>
                      <a:br/>
                      <a:r>
                        <a:t>No.36, 37</a:t>
                      </a:r>
                    </a:p>
                  </a:txBody>
                  <a:tcPr anchor="ctr" marL="45720" marR="45720" marT="18288" marB="18288">
                    <a:solidFill>
                      <a:srgbClr val="E8EEF5"/>
                    </a:solidFill>
                  </a:tcPr>
                </a:tc>
                <a:tc>
                  <a:txBody>
                    <a:bodyPr wrap="square"/>
                    <a:lstStyle/>
                    <a:p>
                      <a:pPr algn="ctr">
                        <a:defRPr sz="700">
                          <a:solidFill>
                            <a:srgbClr val="1E242B"/>
                          </a:solidFill>
                          <a:latin typeface="Meiryo UI"/>
                        </a:defRPr>
                      </a:pPr>
                      <a:r>
                        <a:t>480.00 秒</a:t>
                      </a:r>
                      <a:br/>
                      <a:r>
                        <a:t>(U950 285s含)</a:t>
                      </a:r>
                    </a:p>
                  </a:txBody>
                  <a:tcPr anchor="ctr" marL="45720" marR="45720" marT="18288" marB="18288">
                    <a:solidFill>
                      <a:srgbClr val="E8EEF5"/>
                    </a:solidFill>
                  </a:tcPr>
                </a:tc>
                <a:tc>
                  <a:txBody>
                    <a:bodyPr wrap="square"/>
                    <a:lstStyle/>
                    <a:p>
                      <a:pPr algn="ctr">
                        <a:defRPr sz="700">
                          <a:solidFill>
                            <a:srgbClr val="1E242B"/>
                          </a:solidFill>
                          <a:latin typeface="Meiryo UI"/>
                        </a:defRPr>
                      </a:pPr>
                      <a:r>
                        <a:t>-153.88s 〜 -170.00s</a:t>
                      </a:r>
                    </a:p>
                  </a:txBody>
                  <a:tcPr anchor="ctr" marL="45720" marR="45720" marT="18288" marB="18288">
                    <a:solidFill>
                      <a:srgbClr val="E8EEF5"/>
                    </a:solidFill>
                  </a:tcPr>
                </a:tc>
                <a:tc>
                  <a:txBody>
                    <a:bodyPr wrap="square"/>
                    <a:lstStyle/>
                    <a:p>
                      <a:pPr algn="l">
                        <a:defRPr sz="700">
                          <a:solidFill>
                            <a:srgbClr val="1E242B"/>
                          </a:solidFill>
                          <a:latin typeface="Meiryo UI"/>
                        </a:defRPr>
                      </a:pPr>
                      <a:r>
                        <a:t>No.23: 650M (25,000$)</a:t>
                      </a:r>
                      <a:br/>
                      <a:r>
                        <a:t>No.24: 104M (4,000$)</a:t>
                      </a:r>
                      <a:br/>
                      <a:r>
                        <a:t>No.25 (DP): 検討中</a:t>
                      </a:r>
                    </a:p>
                  </a:txBody>
                  <a:tcPr anchor="ctr" marL="45720" marR="45720" marT="18288" marB="18288">
                    <a:solidFill>
                      <a:srgbClr val="E8EEF5"/>
                    </a:solidFill>
                  </a:tcPr>
                </a:tc>
              </a:tr>
              <a:tr h="359228">
                <a:tc>
                  <a:txBody>
                    <a:bodyPr wrap="square"/>
                    <a:lstStyle/>
                    <a:p>
                      <a:pPr algn="ctr">
                        <a:defRPr sz="700" b="1">
                          <a:solidFill>
                            <a:srgbClr val="1E242B"/>
                          </a:solidFill>
                          <a:latin typeface="Meiryo UI"/>
                        </a:defRPr>
                      </a:pPr>
                      <a:r>
                        <a:t>K6, K7, K8 → A-4</a:t>
                      </a:r>
                      <a:br/>
                      <a:r>
                        <a:t>(画像・異音・出荷)</a:t>
                      </a:r>
                    </a:p>
                  </a:txBody>
                  <a:tcPr anchor="ctr" marL="45720" marR="45720" marT="18288" marB="18288">
                    <a:solidFill>
                      <a:srgbClr val="FFFFFF"/>
                    </a:solidFill>
                  </a:tcPr>
                </a:tc>
                <a:tc>
                  <a:txBody>
                    <a:bodyPr wrap="square"/>
                    <a:lstStyle/>
                    <a:p>
                      <a:pPr algn="l">
                        <a:defRPr sz="700">
                          <a:solidFill>
                            <a:srgbClr val="1E242B"/>
                          </a:solidFill>
                          <a:latin typeface="Meiryo UI"/>
                        </a:defRPr>
                      </a:pPr>
                      <a:r>
                        <a:t>No.26 (AI異音),</a:t>
                      </a:r>
                      <a:br/>
                      <a:r>
                        <a:t>No.27, No.28</a:t>
                      </a:r>
                    </a:p>
                  </a:txBody>
                  <a:tcPr anchor="ctr" marL="45720" marR="45720" marT="18288" marB="18288">
                    <a:solidFill>
                      <a:srgbClr val="FFFFFF"/>
                    </a:solidFill>
                  </a:tcPr>
                </a:tc>
                <a:tc>
                  <a:txBody>
                    <a:bodyPr wrap="square"/>
                    <a:lstStyle/>
                    <a:p>
                      <a:pPr algn="ctr">
                        <a:defRPr sz="700">
                          <a:solidFill>
                            <a:srgbClr val="1E242B"/>
                          </a:solidFill>
                          <a:latin typeface="Meiryo UI"/>
                        </a:defRPr>
                      </a:pPr>
                      <a:r>
                        <a:t>540.00 秒</a:t>
                      </a:r>
                      <a:br/>
                      <a:r>
                        <a:t>(K6+K7+K8)</a:t>
                      </a:r>
                    </a:p>
                  </a:txBody>
                  <a:tcPr anchor="ctr" marL="45720" marR="45720" marT="18288" marB="18288">
                    <a:solidFill>
                      <a:srgbClr val="FFFFFF"/>
                    </a:solidFill>
                  </a:tcPr>
                </a:tc>
                <a:tc>
                  <a:txBody>
                    <a:bodyPr wrap="square"/>
                    <a:lstStyle/>
                    <a:p>
                      <a:pPr algn="ctr">
                        <a:defRPr sz="700">
                          <a:solidFill>
                            <a:srgbClr val="1E242B"/>
                          </a:solidFill>
                          <a:latin typeface="Meiryo UI"/>
                        </a:defRPr>
                      </a:pPr>
                      <a:r>
                        <a:t>-227.00s 〜 -265.00s</a:t>
                      </a:r>
                      <a:br/>
                      <a:r>
                        <a:t>(+AI長期 40s)</a:t>
                      </a:r>
                    </a:p>
                  </a:txBody>
                  <a:tcPr anchor="ctr" marL="45720" marR="45720" marT="18288" marB="18288">
                    <a:solidFill>
                      <a:srgbClr val="FFFFFF"/>
                    </a:solidFill>
                  </a:tcPr>
                </a:tc>
                <a:tc>
                  <a:txBody>
                    <a:bodyPr wrap="square"/>
                    <a:lstStyle/>
                    <a:p>
                      <a:pPr algn="l">
                        <a:defRPr sz="700">
                          <a:solidFill>
                            <a:srgbClr val="1E242B"/>
                          </a:solidFill>
                          <a:latin typeface="Meiryo UI"/>
                        </a:defRPr>
                      </a:pPr>
                      <a:r>
                        <a:t>No.27, 28: 見積中</a:t>
                      </a:r>
                      <a:br/>
                      <a:r>
                        <a:t>No.26: 600万円 (~40k$)</a:t>
                      </a:r>
                    </a:p>
                  </a:txBody>
                  <a:tcPr anchor="ctr" marL="45720" marR="45720" marT="18288" marB="18288">
                    <a:solidFill>
                      <a:srgbClr val="FFFFFF"/>
                    </a:solidFill>
                  </a:tcPr>
                </a:tc>
              </a:tr>
              <a:tr h="359232">
                <a:tc>
                  <a:txBody>
                    <a:bodyPr wrap="square"/>
                    <a:lstStyle/>
                    <a:p>
                      <a:pPr algn="ctr">
                        <a:defRPr sz="700" b="1">
                          <a:solidFill>
                            <a:srgbClr val="1E242B"/>
                          </a:solidFill>
                          <a:latin typeface="Meiryo UI"/>
                        </a:defRPr>
                      </a:pPr>
                      <a:r>
                        <a:t>合計 (VN 20件)</a:t>
                      </a:r>
                    </a:p>
                  </a:txBody>
                  <a:tcPr anchor="ctr" marL="45720" marR="45720" marT="18288" marB="18288">
                    <a:solidFill>
                      <a:srgbClr val="EAF7EE"/>
                    </a:solidFill>
                  </a:tcPr>
                </a:tc>
                <a:tc>
                  <a:txBody>
                    <a:bodyPr wrap="square"/>
                    <a:lstStyle/>
                    <a:p>
                      <a:pPr algn="l">
                        <a:defRPr sz="700" b="1">
                          <a:solidFill>
                            <a:srgbClr val="1E6E3E"/>
                          </a:solidFill>
                          <a:latin typeface="Meiryo UI"/>
                        </a:defRPr>
                      </a:pPr>
                      <a:r>
                        <a:t>見積済3件 + 見積中10件</a:t>
                      </a:r>
                      <a:br/>
                      <a:r>
                        <a:t>+ 設計6件 + 長期1件</a:t>
                      </a:r>
                    </a:p>
                  </a:txBody>
                  <a:tcPr anchor="ctr" marL="45720" marR="45720" marT="18288" marB="18288">
                    <a:solidFill>
                      <a:srgbClr val="EAF7EE"/>
                    </a:solidFill>
                  </a:tcPr>
                </a:tc>
                <a:tc>
                  <a:txBody>
                    <a:bodyPr wrap="square"/>
                    <a:lstStyle/>
                    <a:p>
                      <a:pPr algn="ctr">
                        <a:defRPr sz="700">
                          <a:solidFill>
                            <a:srgbClr val="1E242B"/>
                          </a:solidFill>
                          <a:latin typeface="Meiryo UI"/>
                        </a:defRPr>
                      </a:pPr>
                      <a:r>
                        <a:t>2,350.00 秒</a:t>
                      </a:r>
                      <a:br/>
                      <a:r>
                        <a:t>(K5 705s含)</a:t>
                      </a:r>
                    </a:p>
                  </a:txBody>
                  <a:tcPr anchor="ctr" marL="45720" marR="45720" marT="18288" marB="18288">
                    <a:solidFill>
                      <a:srgbClr val="EAF7EE"/>
                    </a:solidFill>
                  </a:tcPr>
                </a:tc>
                <a:tc>
                  <a:txBody>
                    <a:bodyPr wrap="square"/>
                    <a:lstStyle/>
                    <a:p>
                      <a:pPr algn="ctr">
                        <a:defRPr sz="700">
                          <a:solidFill>
                            <a:srgbClr val="1E242B"/>
                          </a:solidFill>
                          <a:latin typeface="Meiryo UI"/>
                        </a:defRPr>
                      </a:pPr>
                      <a:r>
                        <a:t>10月実績: -4.32秒</a:t>
                      </a:r>
                      <a:br/>
                      <a:r>
                        <a:t>目標: ≧1,175秒 (50%)</a:t>
                      </a:r>
                    </a:p>
                  </a:txBody>
                  <a:tcPr anchor="ctr" marL="45720" marR="45720" marT="18288" marB="18288">
                    <a:solidFill>
                      <a:srgbClr val="EAF7EE"/>
                    </a:solidFill>
                  </a:tcPr>
                </a:tc>
                <a:tc>
                  <a:txBody>
                    <a:bodyPr wrap="square"/>
                    <a:lstStyle/>
                    <a:p>
                      <a:pPr algn="l">
                        <a:defRPr sz="700" b="1">
                          <a:solidFill>
                            <a:srgbClr val="1E242B"/>
                          </a:solidFill>
                          <a:latin typeface="Meiryo UI"/>
                        </a:defRPr>
                      </a:pPr>
                      <a:r>
                        <a:t>3件計: 855.69M (32,911.15$)</a:t>
                      </a:r>
                      <a:br/>
                      <a:r>
                        <a:t>No.22単独: 101.69M</a:t>
                      </a:r>
                    </a:p>
                  </a:txBody>
                  <a:tcPr anchor="ctr" marL="45720" marR="45720" marT="18288" marB="18288">
                    <a:solidFill>
                      <a:srgbClr val="EAF7EE"/>
                    </a:solidFill>
                  </a:tcPr>
                </a:tc>
              </a:tr>
            </a:tbl>
          </a:graphicData>
        </a:graphic>
      </p:graphicFrame>
      <p:sp>
        <p:nvSpPr>
          <p:cNvPr id="9" name="Rectangle 8"/>
          <p:cNvSpPr/>
          <p:nvPr/>
        </p:nvSpPr>
        <p:spPr>
          <a:xfrm>
            <a:off x="274320" y="3858768"/>
            <a:ext cx="11643055" cy="2615184"/>
          </a:xfrm>
          <a:prstGeom prst="rect">
            <a:avLst/>
          </a:prstGeom>
          <a:solidFill>
            <a:srgbClr val="F4F6F9"/>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3858768"/>
            <a:ext cx="11643055"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36576"/>
          <a:lstStyle/>
          <a:p>
            <a:pPr algn="ctr">
              <a:defRPr sz="980" b="1">
                <a:solidFill>
                  <a:srgbClr val="FFFFFF"/>
                </a:solidFill>
                <a:latin typeface="Meiryo UI"/>
              </a:defRPr>
            </a:pPr>
            <a:r>
              <a:t>ベトナム提案20件の分類および「Iris EXPのVN提案.xlsx」の見積内訳</a:t>
            </a:r>
          </a:p>
        </p:txBody>
      </p:sp>
      <p:sp>
        <p:nvSpPr>
          <p:cNvPr id="11" name="TextBox 10"/>
          <p:cNvSpPr txBox="1"/>
          <p:nvPr/>
        </p:nvSpPr>
        <p:spPr>
          <a:xfrm>
            <a:off x="347472" y="4197096"/>
            <a:ext cx="11496751" cy="2240279"/>
          </a:xfrm>
          <a:prstGeom prst="rect">
            <a:avLst/>
          </a:prstGeom>
          <a:noFill/>
        </p:spPr>
        <p:txBody>
          <a:bodyPr wrap="square" lIns="36576" rIns="36576" tIns="18288" bIns="18288">
            <a:spAutoFit/>
          </a:bodyPr>
          <a:lstStyle/>
          <a:p>
            <a:pPr>
              <a:spcAft>
                <a:spcPts val="250"/>
              </a:spcAft>
              <a:defRPr sz="790" b="1">
                <a:solidFill>
                  <a:srgbClr val="1E242B"/>
                </a:solidFill>
                <a:latin typeface="Meiryo UI"/>
              </a:defRPr>
            </a:pPr>
            <a:r>
              <a:t>■ 1. 「Iris EXPのVN提案.xlsx」記載の4案件の見積金額（ファイル内換算レート：26,000 VND/USD）：</a:t>
            </a:r>
          </a:p>
          <a:p>
            <a:pPr>
              <a:spcAft>
                <a:spcPts val="250"/>
              </a:spcAft>
              <a:defRPr sz="790">
                <a:solidFill>
                  <a:srgbClr val="1E242B"/>
                </a:solidFill>
                <a:latin typeface="Meiryo UI"/>
              </a:defRPr>
            </a:pPr>
            <a:r>
              <a:t>   • 項目1（No.22 - 導通・接地および絶縁耐圧の自動検査、30秒）：自動接続・検査JIG製作により30秒/台削減（年間削減効果：29.6百万VND＝1,138.46 USD/年）。設備費：101,690,000 VND（BOM 25項目：3,911.15 USD／自動導通・耐圧検査シート：101,700,000 VND・3,911.54 USD／纏めシート：4,000 USD）。</a:t>
            </a:r>
          </a:p>
          <a:p>
            <a:pPr>
              <a:spcAft>
                <a:spcPts val="250"/>
              </a:spcAft>
              <a:defRPr sz="790">
                <a:solidFill>
                  <a:srgbClr val="1E242B"/>
                </a:solidFill>
                <a:latin typeface="Meiryo UI"/>
              </a:defRPr>
            </a:pPr>
            <a:r>
              <a:t>   • 項目2（No.23 - ISU自動調整 U411［45秒］＋SITC-2［35秒］＋Halftone［30秒］＝110秒）：ISU原稿セットロボット製作＋7910プログラム連携により110秒/台削減（年間効果：108.53百万VND＝4,174.36 USD/年）。自動Scanシート見積：650,000,000 VND（25,000 USD：コンベア2セル追加200M＋給電部50M＋USB/LAN位置決め50M＋ロボット350M）。</a:t>
            </a:r>
          </a:p>
          <a:p>
            <a:pPr>
              <a:spcAft>
                <a:spcPts val="250"/>
              </a:spcAft>
              <a:defRPr sz="790">
                <a:solidFill>
                  <a:srgbClr val="1E242B"/>
                </a:solidFill>
                <a:latin typeface="Meiryo UI"/>
              </a:defRPr>
            </a:pPr>
            <a:r>
              <a:t>   • 項目3（No.24 - USB認識検査［15秒］＋U201パネル座標検査［15秒］＝30秒）：USB接続ロボット・パネル評価カメラ・AI座標センサ＆タッチロボットにより30秒/台削減（年間効果：29.6百万VND＝1,138.46 USD/年）。纏めシート見積：4,000 USD（104,000,000 VND）。</a:t>
            </a:r>
          </a:p>
          <a:p>
            <a:pPr>
              <a:spcAft>
                <a:spcPts val="250"/>
              </a:spcAft>
              <a:defRPr sz="790">
                <a:solidFill>
                  <a:srgbClr val="1E242B"/>
                </a:solidFill>
                <a:latin typeface="Meiryo UI"/>
              </a:defRPr>
            </a:pPr>
            <a:r>
              <a:t>   • 項目4（No.25 - 実機にDPを追加し連続スキャン＋PC自動判定）：検討中・見積中。見積済3案件（No.22＋23＋24）の合計＝855,690,000 VND（32,911.15 USD／纏めシート：33,000 USD・858,000,000 VND）。</a:t>
            </a:r>
          </a:p>
          <a:p>
            <a:pPr>
              <a:spcAft>
                <a:spcPts val="250"/>
              </a:spcAft>
              <a:defRPr sz="790" b="1">
                <a:solidFill>
                  <a:srgbClr val="1E242B"/>
                </a:solidFill>
                <a:latin typeface="Meiryo UI"/>
              </a:defRPr>
            </a:pPr>
            <a:r>
              <a:t>■ 2. その他のVN提案（No.18〜21、No.26〜37）：設備見積中10件、設計・FW改善6件（工場設備費0円）、長期R&amp;D 1件（No.26 AI異音検査：600万円≒40,000 USD、2026〜2030年）。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91440"/>
            <a:ext cx="196596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第5.2章：VN提案詳細 (1)</a:t>
            </a:r>
          </a:p>
        </p:txBody>
      </p:sp>
      <p:sp>
        <p:nvSpPr>
          <p:cNvPr id="4" name="TextBox 3"/>
          <p:cNvSpPr txBox="1"/>
          <p:nvPr/>
        </p:nvSpPr>
        <p:spPr>
          <a:xfrm>
            <a:off x="2286000" y="54864"/>
            <a:ext cx="9052560" cy="457200"/>
          </a:xfrm>
          <a:prstGeom prst="rect">
            <a:avLst/>
          </a:prstGeom>
          <a:noFill/>
        </p:spPr>
        <p:txBody>
          <a:bodyPr wrap="square" lIns="18288" rIns="18288">
            <a:spAutoFit/>
          </a:bodyPr>
          <a:lstStyle/>
          <a:p>
            <a:pPr>
              <a:defRPr sz="1450" b="1">
                <a:solidFill>
                  <a:srgbClr val="FFFFFF"/>
                </a:solidFill>
                <a:latin typeface="Meiryo UI"/>
              </a:defRPr>
            </a:pPr>
            <a:r>
              <a:t>ベトナム改善提案詳細：A-1・A-2・A-3工程（No.18 〜 No.22 およびパートナーFW書込案）</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6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lstStyle/>
          <a:p>
            <a:pPr algn="ctr">
              <a:defRPr sz="980" b="1">
                <a:solidFill>
                  <a:srgbClr val="1B365D"/>
                </a:solidFill>
                <a:latin typeface="Meiryo UI"/>
              </a:defRPr>
            </a:pPr>
            <a:r>
              <a:t>■ A-1〜A-3の5提案とパートナーFW事前書込案により約173〜185秒/台を削減、A-1の作業者を1名削減。うちNo.22はBOM 25項目で101,690,000 VND（3,911.15 USD／4,000 USD）の見積完了。</a:t>
            </a:r>
          </a:p>
        </p:txBody>
      </p:sp>
      <p:graphicFrame>
        <p:nvGraphicFramePr>
          <p:cNvPr id="7" name="Table 6"/>
          <p:cNvGraphicFramePr>
            <a:graphicFrameLocks noGrp="1"/>
          </p:cNvGraphicFramePr>
          <p:nvPr/>
        </p:nvGraphicFramePr>
        <p:xfrm>
          <a:off x="274320" y="1243584"/>
          <a:ext cx="11643055" cy="5193792"/>
        </p:xfrm>
        <a:graphic>
          <a:graphicData uri="http://schemas.openxmlformats.org/drawingml/2006/table">
            <a:tbl>
              <a:tblPr firstRow="1" bandRow="1">
                <a:tableStyleId>{5C22544A-7EE6-4342-B048-85BDC9FD1C3A}</a:tableStyleId>
              </a:tblPr>
              <a:tblGrid>
                <a:gridCol w="868680"/>
                <a:gridCol w="2057400"/>
                <a:gridCol w="2103120"/>
                <a:gridCol w="2423160"/>
                <a:gridCol w="1417320"/>
                <a:gridCol w="1417320"/>
                <a:gridCol w="1356055"/>
              </a:tblGrid>
              <a:tr h="741970">
                <a:tc>
                  <a:txBody>
                    <a:bodyPr wrap="square"/>
                    <a:lstStyle/>
                    <a:p>
                      <a:pPr algn="ctr">
                        <a:defRPr sz="800" b="1">
                          <a:solidFill>
                            <a:srgbClr val="FFFFFF"/>
                          </a:solidFill>
                          <a:latin typeface="Meiryo UI"/>
                        </a:defRPr>
                      </a:pPr>
                      <a:r>
                        <a:t>提案番号</a:t>
                      </a:r>
                      <a:br/>
                      <a:r>
                        <a:t>(工程)</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改善提案名</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現状の課題</a:t>
                      </a:r>
                      <a:br/>
                      <a:r>
                        <a:t>(VN Iris2024)</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改善内容および連携会・DR4での決定事項</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期待効果</a:t>
                      </a:r>
                      <a:br/>
                      <a:r>
                        <a:t>(時間・人員・金額)</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設備投資金額</a:t>
                      </a:r>
                    </a:p>
                  </a:txBody>
                  <a:tcPr anchor="ctr" marL="45720" marR="45720" marT="18288" marB="18288">
                    <a:solidFill>
                      <a:srgbClr val="1B365D"/>
                    </a:solidFill>
                  </a:tcPr>
                </a:tc>
                <a:tc>
                  <a:txBody>
                    <a:bodyPr wrap="square"/>
                    <a:lstStyle/>
                    <a:p>
                      <a:pPr algn="ctr">
                        <a:defRPr sz="800" b="1">
                          <a:solidFill>
                            <a:srgbClr val="FFFFFF"/>
                          </a:solidFill>
                          <a:latin typeface="Meiryo UI"/>
                        </a:defRPr>
                      </a:pPr>
                      <a:r>
                        <a:t>進捗状況</a:t>
                      </a:r>
                    </a:p>
                  </a:txBody>
                  <a:tcPr anchor="ctr" marL="45720" marR="45720" marT="18288" marB="18288">
                    <a:solidFill>
                      <a:srgbClr val="1B365D"/>
                    </a:solidFill>
                  </a:tcPr>
                </a:tc>
              </a:tr>
              <a:tr h="741970">
                <a:tc>
                  <a:txBody>
                    <a:bodyPr wrap="square"/>
                    <a:lstStyle/>
                    <a:p>
                      <a:pPr algn="ctr">
                        <a:defRPr sz="730" b="1">
                          <a:solidFill>
                            <a:srgbClr val="1E242B"/>
                          </a:solidFill>
                          <a:latin typeface="Meiryo UI"/>
                        </a:defRPr>
                      </a:pPr>
                      <a:r>
                        <a:t>No.18</a:t>
                      </a:r>
                      <a:br/>
                      <a:r>
                        <a:t>(K1 → A-1)</a:t>
                      </a:r>
                    </a:p>
                  </a:txBody>
                  <a:tcPr anchor="ctr" marL="45720" marR="45720" marT="18288" marB="18288">
                    <a:solidFill>
                      <a:srgbClr val="FFFFFF"/>
                    </a:solidFill>
                  </a:tcPr>
                </a:tc>
                <a:tc>
                  <a:txBody>
                    <a:bodyPr wrap="square"/>
                    <a:lstStyle/>
                    <a:p>
                      <a:pPr algn="l">
                        <a:defRPr sz="730">
                          <a:solidFill>
                            <a:srgbClr val="1E242B"/>
                          </a:solidFill>
                          <a:latin typeface="Meiryo UI"/>
                        </a:defRPr>
                      </a:pPr>
                      <a:r>
                        <a:t>複数台同時FW書込設備の改善</a:t>
                      </a:r>
                    </a:p>
                  </a:txBody>
                  <a:tcPr anchor="ctr" marL="45720" marR="45720" marT="18288" marB="18288">
                    <a:solidFill>
                      <a:srgbClr val="FFFFFF"/>
                    </a:solidFill>
                  </a:tcPr>
                </a:tc>
                <a:tc>
                  <a:txBody>
                    <a:bodyPr wrap="square"/>
                    <a:lstStyle/>
                    <a:p>
                      <a:pPr algn="l">
                        <a:defRPr sz="730">
                          <a:solidFill>
                            <a:srgbClr val="1E242B"/>
                          </a:solidFill>
                          <a:latin typeface="Meiryo UI"/>
                        </a:defRPr>
                      </a:pPr>
                      <a:r>
                        <a:t>USBメモリで1台ずつFW書込（90秒/台）。作業者1名がUSB挿抜・起動操作のため待機。</a:t>
                      </a:r>
                    </a:p>
                  </a:txBody>
                  <a:tcPr anchor="ctr" marL="45720" marR="45720" marT="18288" marB="18288">
                    <a:solidFill>
                      <a:srgbClr val="FFFFFF"/>
                    </a:solidFill>
                  </a:tcPr>
                </a:tc>
                <a:tc>
                  <a:txBody>
                    <a:bodyPr wrap="square"/>
                    <a:lstStyle/>
                    <a:p>
                      <a:pPr algn="l">
                        <a:defRPr sz="730">
                          <a:solidFill>
                            <a:srgbClr val="1E242B"/>
                          </a:solidFill>
                          <a:latin typeface="Meiryo UI"/>
                        </a:defRPr>
                      </a:pPr>
                      <a:r>
                        <a:t>A-1工程にて、作業者1名がMini PC／LAN経由で4台同時にFW書込できる設備構成へ改善。</a:t>
                      </a:r>
                    </a:p>
                  </a:txBody>
                  <a:tcPr anchor="ctr" marL="45720" marR="45720" marT="18288" marB="18288">
                    <a:solidFill>
                      <a:srgbClr val="FFFFFF"/>
                    </a:solidFill>
                  </a:tcPr>
                </a:tc>
                <a:tc>
                  <a:txBody>
                    <a:bodyPr wrap="square"/>
                    <a:lstStyle/>
                    <a:p>
                      <a:pPr algn="l">
                        <a:defRPr sz="730">
                          <a:solidFill>
                            <a:srgbClr val="1E242B"/>
                          </a:solidFill>
                          <a:latin typeface="Meiryo UI"/>
                        </a:defRPr>
                      </a:pPr>
                      <a:r>
                        <a:t>• FW書込待ち短縮（4台/セル同時処理）</a:t>
                      </a:r>
                      <a:br/>
                      <a:r>
                        <a:t>• A-1工程の生産性向上</a:t>
                      </a:r>
                    </a:p>
                  </a:txBody>
                  <a:tcPr anchor="ctr" marL="45720" marR="45720" marT="18288" marB="18288">
                    <a:solidFill>
                      <a:srgbClr val="FFFFFF"/>
                    </a:solidFill>
                  </a:tcPr>
                </a:tc>
                <a:tc>
                  <a:txBody>
                    <a:bodyPr wrap="square"/>
                    <a:lstStyle/>
                    <a:p>
                      <a:pPr algn="ctr">
                        <a:defRPr sz="730">
                          <a:solidFill>
                            <a:srgbClr val="1E242B"/>
                          </a:solidFill>
                          <a:latin typeface="Meiryo UI"/>
                        </a:defRPr>
                      </a:pPr>
                      <a:r>
                        <a:t>見積中</a:t>
                      </a:r>
                    </a:p>
                  </a:txBody>
                  <a:tcPr anchor="ctr" marL="45720" marR="45720" marT="18288" marB="18288">
                    <a:solidFill>
                      <a:srgbClr val="FFFFFF"/>
                    </a:solidFill>
                  </a:tcPr>
                </a:tc>
                <a:tc>
                  <a:txBody>
                    <a:bodyPr wrap="square"/>
                    <a:lstStyle/>
                    <a:p>
                      <a:pPr algn="l">
                        <a:defRPr sz="730" b="1">
                          <a:solidFill>
                            <a:srgbClr val="1E242B"/>
                          </a:solidFill>
                          <a:latin typeface="Meiryo UI"/>
                        </a:defRPr>
                      </a:pPr>
                      <a:r>
                        <a:t>A-1標準設備を設計中</a:t>
                      </a:r>
                    </a:p>
                  </a:txBody>
                  <a:tcPr anchor="ctr" marL="45720" marR="45720" marT="18288" marB="18288">
                    <a:solidFill>
                      <a:srgbClr val="FFFFFF"/>
                    </a:solidFill>
                  </a:tcPr>
                </a:tc>
              </a:tr>
              <a:tr h="741970">
                <a:tc>
                  <a:txBody>
                    <a:bodyPr wrap="square"/>
                    <a:lstStyle/>
                    <a:p>
                      <a:pPr algn="ctr">
                        <a:defRPr sz="730" b="1">
                          <a:solidFill>
                            <a:srgbClr val="1E242B"/>
                          </a:solidFill>
                          <a:latin typeface="Meiryo UI"/>
                        </a:defRPr>
                      </a:pPr>
                      <a:r>
                        <a:t>A-1追加案</a:t>
                      </a:r>
                      <a:br/>
                      <a:r>
                        <a:t>(第11, 13回)</a:t>
                      </a:r>
                    </a:p>
                  </a:txBody>
                  <a:tcPr anchor="ctr" marL="45720" marR="45720" marT="18288" marB="18288">
                    <a:solidFill>
                      <a:srgbClr val="E8EEF5"/>
                    </a:solidFill>
                  </a:tcPr>
                </a:tc>
                <a:tc>
                  <a:txBody>
                    <a:bodyPr wrap="square"/>
                    <a:lstStyle/>
                    <a:p>
                      <a:pPr algn="l">
                        <a:defRPr sz="730" b="1">
                          <a:solidFill>
                            <a:srgbClr val="B8292F"/>
                          </a:solidFill>
                          <a:latin typeface="Meiryo UI"/>
                        </a:defRPr>
                      </a:pPr>
                      <a:r>
                        <a:t>パートナーでのFW事前書込／ライン上ソフト書込廃止</a:t>
                      </a:r>
                    </a:p>
                  </a:txBody>
                  <a:tcPr anchor="ctr" marL="45720" marR="45720" marT="18288" marB="18288">
                    <a:solidFill>
                      <a:srgbClr val="E8EEF5"/>
                    </a:solidFill>
                  </a:tcPr>
                </a:tc>
                <a:tc>
                  <a:txBody>
                    <a:bodyPr wrap="square"/>
                    <a:lstStyle/>
                    <a:p>
                      <a:pPr algn="l">
                        <a:defRPr sz="730">
                          <a:solidFill>
                            <a:srgbClr val="1E242B"/>
                          </a:solidFill>
                          <a:latin typeface="Meiryo UI"/>
                        </a:defRPr>
                      </a:pPr>
                      <a:r>
                        <a:t>A-1にてFW書込待ち100秒＋USB操作13〜25秒が発生。A-1全体で379秒（OP1:78s, OP2:83s, OP3:95s, OP4:102s）要し4名配置。</a:t>
                      </a:r>
                    </a:p>
                  </a:txBody>
                  <a:tcPr anchor="ctr" marL="45720" marR="45720" marT="18288" marB="18288">
                    <a:solidFill>
                      <a:srgbClr val="E8EEF5"/>
                    </a:solidFill>
                  </a:tcPr>
                </a:tc>
                <a:tc>
                  <a:txBody>
                    <a:bodyPr wrap="square"/>
                    <a:lstStyle/>
                    <a:p>
                      <a:pPr algn="l">
                        <a:defRPr sz="730">
                          <a:solidFill>
                            <a:srgbClr val="1E242B"/>
                          </a:solidFill>
                          <a:latin typeface="Meiryo UI"/>
                        </a:defRPr>
                      </a:pPr>
                      <a:r>
                        <a:t>基板サプライヤ（パートナー）にて最新Main/Engine/Panel FWを事前書込し、ライン上ではバージョン自動照合のみ実施（一致時は書込スキップ）。</a:t>
                      </a:r>
                    </a:p>
                  </a:txBody>
                  <a:tcPr anchor="ctr" marL="45720" marR="45720" marT="18288" marB="18288">
                    <a:solidFill>
                      <a:srgbClr val="E8EEF5"/>
                    </a:solidFill>
                  </a:tcPr>
                </a:tc>
                <a:tc>
                  <a:txBody>
                    <a:bodyPr wrap="square"/>
                    <a:lstStyle/>
                    <a:p>
                      <a:pPr algn="l">
                        <a:defRPr sz="730">
                          <a:solidFill>
                            <a:srgbClr val="1E242B"/>
                          </a:solidFill>
                          <a:latin typeface="Meiryo UI"/>
                        </a:defRPr>
                      </a:pPr>
                      <a:r>
                        <a:t>• 手作業13〜25秒削減、A-1サイクル379s→279s（354s→254s）</a:t>
                      </a:r>
                      <a:br/>
                      <a:r>
                        <a:t>• A-1作業者を1名削減（4名→3名）</a:t>
                      </a:r>
                    </a:p>
                  </a:txBody>
                  <a:tcPr anchor="ctr" marL="45720" marR="45720" marT="18288" marB="18288">
                    <a:solidFill>
                      <a:srgbClr val="E8EEF5"/>
                    </a:solidFill>
                  </a:tcPr>
                </a:tc>
                <a:tc>
                  <a:txBody>
                    <a:bodyPr wrap="square"/>
                    <a:lstStyle/>
                    <a:p>
                      <a:pPr algn="ctr">
                        <a:defRPr sz="730" b="1">
                          <a:solidFill>
                            <a:srgbClr val="1E242B"/>
                          </a:solidFill>
                          <a:latin typeface="Meiryo UI"/>
                        </a:defRPr>
                      </a:pPr>
                      <a:r>
                        <a:t>設備費 0 VND</a:t>
                      </a:r>
                      <a:br/>
                      <a:r>
                        <a:t>(パートナー加工費・JP設計と調整)</a:t>
                      </a:r>
                    </a:p>
                  </a:txBody>
                  <a:tcPr anchor="ctr" marL="45720" marR="45720" marT="18288" marB="18288">
                    <a:solidFill>
                      <a:srgbClr val="E8EEF5"/>
                    </a:solidFill>
                  </a:tcPr>
                </a:tc>
                <a:tc>
                  <a:txBody>
                    <a:bodyPr wrap="square"/>
                    <a:lstStyle/>
                    <a:p>
                      <a:pPr algn="l">
                        <a:defRPr sz="730" b="1">
                          <a:solidFill>
                            <a:srgbClr val="1E242B"/>
                          </a:solidFill>
                          <a:latin typeface="Meiryo UI"/>
                        </a:defRPr>
                      </a:pPr>
                      <a:r>
                        <a:t>JP設計・パートナーと確認中</a:t>
                      </a:r>
                    </a:p>
                  </a:txBody>
                  <a:tcPr anchor="ctr" marL="45720" marR="45720" marT="18288" marB="18288">
                    <a:solidFill>
                      <a:srgbClr val="E8EEF5"/>
                    </a:solidFill>
                  </a:tcPr>
                </a:tc>
              </a:tr>
              <a:tr h="741970">
                <a:tc>
                  <a:txBody>
                    <a:bodyPr wrap="square"/>
                    <a:lstStyle/>
                    <a:p>
                      <a:pPr algn="ctr">
                        <a:defRPr sz="730" b="1">
                          <a:solidFill>
                            <a:srgbClr val="1E242B"/>
                          </a:solidFill>
                          <a:latin typeface="Meiryo UI"/>
                        </a:defRPr>
                      </a:pPr>
                      <a:r>
                        <a:t>No.19</a:t>
                      </a:r>
                      <a:br/>
                      <a:r>
                        <a:t>(K1 → A-1)</a:t>
                      </a:r>
                    </a:p>
                  </a:txBody>
                  <a:tcPr anchor="ctr" marL="45720" marR="45720" marT="18288" marB="18288">
                    <a:solidFill>
                      <a:srgbClr val="FFFFFF"/>
                    </a:solidFill>
                  </a:tcPr>
                </a:tc>
                <a:tc>
                  <a:txBody>
                    <a:bodyPr wrap="square"/>
                    <a:lstStyle/>
                    <a:p>
                      <a:pPr algn="l">
                        <a:defRPr sz="730" b="1">
                          <a:solidFill>
                            <a:srgbClr val="B8292F"/>
                          </a:solidFill>
                          <a:latin typeface="Meiryo UI"/>
                        </a:defRPr>
                      </a:pPr>
                      <a:r>
                        <a:t>FW書込・初期設定時のカバー・ケーブル着脱廃止</a:t>
                      </a:r>
                    </a:p>
                  </a:txBody>
                  <a:tcPr anchor="ctr" marL="45720" marR="45720" marT="18288" marB="18288">
                    <a:solidFill>
                      <a:srgbClr val="FFFFFF"/>
                    </a:solidFill>
                  </a:tcPr>
                </a:tc>
                <a:tc>
                  <a:txBody>
                    <a:bodyPr wrap="square"/>
                    <a:lstStyle/>
                    <a:p>
                      <a:pPr algn="l">
                        <a:defRPr sz="730" b="1">
                          <a:solidFill>
                            <a:srgbClr val="1E242B"/>
                          </a:solidFill>
                          <a:latin typeface="Meiryo UI"/>
                        </a:defRPr>
                      </a:pPr>
                      <a:r>
                        <a:t>FAX取付・電源ON・トナー治具取付（30秒）の後、FAX取外し・トナー治具取外し・ダミー及びカバー取付（25秒）＝計55秒/台。</a:t>
                      </a:r>
                    </a:p>
                  </a:txBody>
                  <a:tcPr anchor="ctr" marL="45720" marR="45720" marT="18288" marB="18288">
                    <a:solidFill>
                      <a:srgbClr val="FFFFFF"/>
                    </a:solidFill>
                  </a:tcPr>
                </a:tc>
                <a:tc>
                  <a:txBody>
                    <a:bodyPr wrap="square"/>
                    <a:lstStyle/>
                    <a:p>
                      <a:pPr algn="l">
                        <a:defRPr sz="730">
                          <a:solidFill>
                            <a:srgbClr val="1E242B"/>
                          </a:solidFill>
                          <a:latin typeface="Meiryo UI"/>
                        </a:defRPr>
                      </a:pPr>
                      <a:r>
                        <a:t>検査順序とソフトを改善し、カバーやケーブルの着脱なしでFW書込・初期設定を連続実施。既存のトナーコンテナ治具12セットを流用。</a:t>
                      </a:r>
                    </a:p>
                  </a:txBody>
                  <a:tcPr anchor="ctr" marL="45720" marR="45720" marT="18288" marB="18288">
                    <a:solidFill>
                      <a:srgbClr val="FFFFFF"/>
                    </a:solidFill>
                  </a:tcPr>
                </a:tc>
                <a:tc>
                  <a:txBody>
                    <a:bodyPr wrap="square"/>
                    <a:lstStyle/>
                    <a:p>
                      <a:pPr algn="l">
                        <a:defRPr sz="730">
                          <a:solidFill>
                            <a:srgbClr val="1E242B"/>
                          </a:solidFill>
                          <a:latin typeface="Meiryo UI"/>
                        </a:defRPr>
                      </a:pPr>
                      <a:r>
                        <a:t>• K1（A-1）の手作業 55.00秒/台削減</a:t>
                      </a:r>
                      <a:br/>
                      <a:r>
                        <a:t>• ライン全体のケーブル挿抜11回を削減</a:t>
                      </a:r>
                    </a:p>
                  </a:txBody>
                  <a:tcPr anchor="ctr" marL="45720" marR="45720" marT="18288" marB="18288">
                    <a:solidFill>
                      <a:srgbClr val="FFFFFF"/>
                    </a:solidFill>
                  </a:tcPr>
                </a:tc>
                <a:tc>
                  <a:txBody>
                    <a:bodyPr wrap="square"/>
                    <a:lstStyle/>
                    <a:p>
                      <a:pPr algn="ctr">
                        <a:defRPr sz="730">
                          <a:solidFill>
                            <a:srgbClr val="1E242B"/>
                          </a:solidFill>
                          <a:latin typeface="Meiryo UI"/>
                        </a:defRPr>
                      </a:pPr>
                      <a:r>
                        <a:t>見積中</a:t>
                      </a:r>
                      <a:br/>
                      <a:r>
                        <a:t>［既存治具12セット流用］</a:t>
                      </a:r>
                    </a:p>
                  </a:txBody>
                  <a:tcPr anchor="ctr" marL="45720" marR="45720" marT="18288" marB="18288">
                    <a:solidFill>
                      <a:srgbClr val="FFFFFF"/>
                    </a:solidFill>
                  </a:tcPr>
                </a:tc>
                <a:tc>
                  <a:txBody>
                    <a:bodyPr wrap="square"/>
                    <a:lstStyle/>
                    <a:p>
                      <a:pPr algn="l">
                        <a:defRPr sz="730" b="1">
                          <a:solidFill>
                            <a:srgbClr val="1E242B"/>
                          </a:solidFill>
                          <a:latin typeface="Meiryo UI"/>
                        </a:defRPr>
                      </a:pPr>
                      <a:r>
                        <a:t>JP設計と条件確認中</a:t>
                      </a:r>
                    </a:p>
                  </a:txBody>
                  <a:tcPr anchor="ctr" marL="45720" marR="45720" marT="18288" marB="18288">
                    <a:solidFill>
                      <a:srgbClr val="FFFFFF"/>
                    </a:solidFill>
                  </a:tcPr>
                </a:tc>
              </a:tr>
              <a:tr h="741970">
                <a:tc>
                  <a:txBody>
                    <a:bodyPr wrap="square"/>
                    <a:lstStyle/>
                    <a:p>
                      <a:pPr algn="ctr">
                        <a:defRPr sz="730" b="1">
                          <a:solidFill>
                            <a:srgbClr val="1E242B"/>
                          </a:solidFill>
                          <a:latin typeface="Meiryo UI"/>
                        </a:defRPr>
                      </a:pPr>
                      <a:r>
                        <a:t>No.20</a:t>
                      </a:r>
                      <a:br/>
                      <a:r>
                        <a:t>(K1 → A-1)</a:t>
                      </a:r>
                    </a:p>
                  </a:txBody>
                  <a:tcPr anchor="ctr" marL="45720" marR="45720" marT="18288" marB="18288">
                    <a:solidFill>
                      <a:srgbClr val="F7F9FC"/>
                    </a:solidFill>
                  </a:tcPr>
                </a:tc>
                <a:tc>
                  <a:txBody>
                    <a:bodyPr wrap="square"/>
                    <a:lstStyle/>
                    <a:p>
                      <a:pPr algn="l">
                        <a:defRPr sz="730">
                          <a:solidFill>
                            <a:srgbClr val="1E242B"/>
                          </a:solidFill>
                          <a:latin typeface="Meiryo UI"/>
                        </a:defRPr>
                      </a:pPr>
                      <a:r>
                        <a:t>USB検査ログ取得のネットワーク化</a:t>
                      </a:r>
                    </a:p>
                  </a:txBody>
                  <a:tcPr anchor="ctr" marL="45720" marR="45720" marT="18288" marB="18288">
                    <a:solidFill>
                      <a:srgbClr val="F7F9FC"/>
                    </a:solidFill>
                  </a:tcPr>
                </a:tc>
                <a:tc>
                  <a:txBody>
                    <a:bodyPr wrap="square"/>
                    <a:lstStyle/>
                    <a:p>
                      <a:pPr algn="l">
                        <a:defRPr sz="730">
                          <a:solidFill>
                            <a:srgbClr val="1E242B"/>
                          </a:solidFill>
                          <a:latin typeface="Meiryo UI"/>
                        </a:defRPr>
                      </a:pPr>
                      <a:r>
                        <a:t>作業者が各機体にUSBメモリを手動で挿抜し、検査ログを取得（10秒/台）。</a:t>
                      </a:r>
                    </a:p>
                  </a:txBody>
                  <a:tcPr anchor="ctr" marL="45720" marR="45720" marT="18288" marB="18288">
                    <a:solidFill>
                      <a:srgbClr val="F7F9FC"/>
                    </a:solidFill>
                  </a:tcPr>
                </a:tc>
                <a:tc>
                  <a:txBody>
                    <a:bodyPr wrap="square"/>
                    <a:lstStyle/>
                    <a:p>
                      <a:pPr algn="l">
                        <a:defRPr sz="730">
                          <a:solidFill>
                            <a:srgbClr val="1E242B"/>
                          </a:solidFill>
                          <a:latin typeface="Meiryo UI"/>
                        </a:defRPr>
                      </a:pPr>
                      <a:r>
                        <a:t>Mini PC経由の社内LAN/VLANにより、本体からHost PCへ検査ログを直接自動転送。</a:t>
                      </a:r>
                    </a:p>
                  </a:txBody>
                  <a:tcPr anchor="ctr" marL="45720" marR="45720" marT="18288" marB="18288">
                    <a:solidFill>
                      <a:srgbClr val="F7F9FC"/>
                    </a:solidFill>
                  </a:tcPr>
                </a:tc>
                <a:tc>
                  <a:txBody>
                    <a:bodyPr wrap="square"/>
                    <a:lstStyle/>
                    <a:p>
                      <a:pPr algn="l">
                        <a:defRPr sz="730" b="1">
                          <a:solidFill>
                            <a:srgbClr val="B8292F"/>
                          </a:solidFill>
                          <a:latin typeface="Meiryo UI"/>
                        </a:defRPr>
                      </a:pPr>
                      <a:r>
                        <a:t>• 10.00秒/台削減</a:t>
                      </a:r>
                      <a:br/>
                      <a:r>
                        <a:t>• USB挿抜によるログ取得作業を廃止</a:t>
                      </a:r>
                    </a:p>
                  </a:txBody>
                  <a:tcPr anchor="ctr" marL="45720" marR="45720" marT="18288" marB="18288">
                    <a:solidFill>
                      <a:srgbClr val="F7F9FC"/>
                    </a:solidFill>
                  </a:tcPr>
                </a:tc>
                <a:tc>
                  <a:txBody>
                    <a:bodyPr wrap="square"/>
                    <a:lstStyle/>
                    <a:p>
                      <a:pPr algn="ctr">
                        <a:defRPr sz="730">
                          <a:solidFill>
                            <a:srgbClr val="1E242B"/>
                          </a:solidFill>
                          <a:latin typeface="Meiryo UI"/>
                        </a:defRPr>
                      </a:pPr>
                      <a:r>
                        <a:t>見積中</a:t>
                      </a:r>
                    </a:p>
                  </a:txBody>
                  <a:tcPr anchor="ctr" marL="45720" marR="45720" marT="18288" marB="18288">
                    <a:solidFill>
                      <a:srgbClr val="F7F9FC"/>
                    </a:solidFill>
                  </a:tcPr>
                </a:tc>
                <a:tc>
                  <a:txBody>
                    <a:bodyPr wrap="square"/>
                    <a:lstStyle/>
                    <a:p>
                      <a:pPr algn="l">
                        <a:defRPr sz="730">
                          <a:solidFill>
                            <a:srgbClr val="1E242B"/>
                          </a:solidFill>
                          <a:latin typeface="Meiryo UI"/>
                        </a:defRPr>
                      </a:pPr>
                      <a:r>
                        <a:t>Host PC / Mini PCシステムへ統合中</a:t>
                      </a:r>
                    </a:p>
                  </a:txBody>
                  <a:tcPr anchor="ctr" marL="45720" marR="45720" marT="18288" marB="18288">
                    <a:solidFill>
                      <a:srgbClr val="F7F9FC"/>
                    </a:solidFill>
                  </a:tcPr>
                </a:tc>
              </a:tr>
              <a:tr h="741970">
                <a:tc>
                  <a:txBody>
                    <a:bodyPr wrap="square"/>
                    <a:lstStyle/>
                    <a:p>
                      <a:pPr algn="ctr">
                        <a:defRPr sz="730" b="1">
                          <a:solidFill>
                            <a:srgbClr val="1E242B"/>
                          </a:solidFill>
                          <a:latin typeface="Meiryo UI"/>
                        </a:defRPr>
                      </a:pPr>
                      <a:r>
                        <a:t>No.21</a:t>
                      </a:r>
                      <a:br/>
                      <a:r>
                        <a:t>(K2 → A-2)</a:t>
                      </a:r>
                    </a:p>
                  </a:txBody>
                  <a:tcPr anchor="ctr" marL="45720" marR="45720" marT="18288" marB="18288">
                    <a:solidFill>
                      <a:srgbClr val="FFFFFF"/>
                    </a:solidFill>
                  </a:tcPr>
                </a:tc>
                <a:tc>
                  <a:txBody>
                    <a:bodyPr wrap="square"/>
                    <a:lstStyle/>
                    <a:p>
                      <a:pPr algn="l">
                        <a:defRPr sz="730">
                          <a:solidFill>
                            <a:srgbClr val="1E242B"/>
                          </a:solidFill>
                          <a:latin typeface="Meiryo UI"/>
                        </a:defRPr>
                      </a:pPr>
                      <a:r>
                        <a:t>オプション検査治具の接続をマグネット固定化へ変更</a:t>
                      </a:r>
                    </a:p>
                  </a:txBody>
                  <a:tcPr anchor="ctr" marL="45720" marR="45720" marT="18288" marB="18288">
                    <a:solidFill>
                      <a:srgbClr val="FFFFFF"/>
                    </a:solidFill>
                  </a:tcPr>
                </a:tc>
                <a:tc>
                  <a:txBody>
                    <a:bodyPr wrap="square"/>
                    <a:lstStyle/>
                    <a:p>
                      <a:pPr algn="l">
                        <a:defRPr sz="730">
                          <a:solidFill>
                            <a:srgbClr val="1E242B"/>
                          </a:solidFill>
                          <a:latin typeface="Meiryo UI"/>
                        </a:defRPr>
                      </a:pPr>
                      <a:r>
                        <a:t>DP, DF, PF, IS/ZFの各コネクタを手動挿抜（90秒/台、工程表上44.26秒）。ピン摩耗や断線によるライン停止が発生。</a:t>
                      </a:r>
                    </a:p>
                  </a:txBody>
                  <a:tcPr anchor="ctr" marL="45720" marR="45720" marT="18288" marB="18288">
                    <a:solidFill>
                      <a:srgbClr val="FFFFFF"/>
                    </a:solidFill>
                  </a:tcPr>
                </a:tc>
                <a:tc>
                  <a:txBody>
                    <a:bodyPr wrap="square"/>
                    <a:lstStyle/>
                    <a:p>
                      <a:pPr algn="l">
                        <a:defRPr sz="730">
                          <a:solidFill>
                            <a:srgbClr val="1E242B"/>
                          </a:solidFill>
                          <a:latin typeface="Meiryo UI"/>
                        </a:defRPr>
                      </a:pPr>
                      <a:r>
                        <a:t>オプション検査治具のコネクタを従来のメカニカル嵌合からマグネット吸着式へ変更し、ワンタッチ接続と断線防止を実現。</a:t>
                      </a:r>
                    </a:p>
                  </a:txBody>
                  <a:tcPr anchor="ctr" marL="45720" marR="45720" marT="18288" marB="18288">
                    <a:solidFill>
                      <a:srgbClr val="FFFFFF"/>
                    </a:solidFill>
                  </a:tcPr>
                </a:tc>
                <a:tc>
                  <a:txBody>
                    <a:bodyPr wrap="square"/>
                    <a:lstStyle/>
                    <a:p>
                      <a:pPr algn="l">
                        <a:defRPr sz="730">
                          <a:solidFill>
                            <a:srgbClr val="1E242B"/>
                          </a:solidFill>
                          <a:latin typeface="Meiryo UI"/>
                        </a:defRPr>
                      </a:pPr>
                      <a:r>
                        <a:t>• 45.00秒/台削減（OP治具接続時間を半減）</a:t>
                      </a:r>
                      <a:br/>
                      <a:r>
                        <a:t>• 治具断線によるチョコ停を低減</a:t>
                      </a:r>
                    </a:p>
                  </a:txBody>
                  <a:tcPr anchor="ctr" marL="45720" marR="45720" marT="18288" marB="18288">
                    <a:solidFill>
                      <a:srgbClr val="FFFFFF"/>
                    </a:solidFill>
                  </a:tcPr>
                </a:tc>
                <a:tc>
                  <a:txBody>
                    <a:bodyPr wrap="square"/>
                    <a:lstStyle/>
                    <a:p>
                      <a:pPr algn="ctr">
                        <a:defRPr sz="730">
                          <a:solidFill>
                            <a:srgbClr val="1E242B"/>
                          </a:solidFill>
                          <a:latin typeface="Meiryo UI"/>
                        </a:defRPr>
                      </a:pPr>
                      <a:r>
                        <a:t>見積中</a:t>
                      </a:r>
                    </a:p>
                  </a:txBody>
                  <a:tcPr anchor="ctr" marL="45720" marR="45720" marT="18288" marB="18288">
                    <a:solidFill>
                      <a:srgbClr val="FFFFFF"/>
                    </a:solidFill>
                  </a:tcPr>
                </a:tc>
                <a:tc>
                  <a:txBody>
                    <a:bodyPr wrap="square"/>
                    <a:lstStyle/>
                    <a:p>
                      <a:pPr algn="l">
                        <a:defRPr sz="730">
                          <a:solidFill>
                            <a:srgbClr val="1E242B"/>
                          </a:solidFill>
                          <a:latin typeface="Meiryo UI"/>
                        </a:defRPr>
                      </a:pPr>
                      <a:r>
                        <a:t>治具製作見積中</a:t>
                      </a:r>
                      <a:br/>
                      <a:r>
                        <a:t>(CN No.17と同期)</a:t>
                      </a:r>
                    </a:p>
                  </a:txBody>
                  <a:tcPr anchor="ctr" marL="45720" marR="45720" marT="18288" marB="18288">
                    <a:solidFill>
                      <a:srgbClr val="FFFFFF"/>
                    </a:solidFill>
                  </a:tcPr>
                </a:tc>
              </a:tr>
              <a:tr h="741972">
                <a:tc>
                  <a:txBody>
                    <a:bodyPr wrap="square"/>
                    <a:lstStyle/>
                    <a:p>
                      <a:pPr algn="ctr">
                        <a:defRPr sz="730" b="1">
                          <a:solidFill>
                            <a:srgbClr val="1E242B"/>
                          </a:solidFill>
                          <a:latin typeface="Meiryo UI"/>
                        </a:defRPr>
                      </a:pPr>
                      <a:r>
                        <a:t>No.22</a:t>
                      </a:r>
                      <a:br/>
                      <a:r>
                        <a:t>(K3 → A-3)</a:t>
                      </a:r>
                    </a:p>
                  </a:txBody>
                  <a:tcPr anchor="ctr" marL="45720" marR="45720" marT="18288" marB="18288">
                    <a:solidFill>
                      <a:srgbClr val="EAF7EE"/>
                    </a:solidFill>
                  </a:tcPr>
                </a:tc>
                <a:tc>
                  <a:txBody>
                    <a:bodyPr wrap="square"/>
                    <a:lstStyle/>
                    <a:p>
                      <a:pPr algn="l">
                        <a:defRPr sz="730">
                          <a:solidFill>
                            <a:srgbClr val="1E242B"/>
                          </a:solidFill>
                          <a:latin typeface="Meiryo UI"/>
                        </a:defRPr>
                      </a:pPr>
                      <a:r>
                        <a:t>導通・接地および絶縁耐圧の自動検査化</a:t>
                      </a:r>
                    </a:p>
                  </a:txBody>
                  <a:tcPr anchor="ctr" marL="45720" marR="45720" marT="18288" marB="18288">
                    <a:solidFill>
                      <a:srgbClr val="EAF7EE"/>
                    </a:solidFill>
                  </a:tcPr>
                </a:tc>
                <a:tc>
                  <a:txBody>
                    <a:bodyPr wrap="square"/>
                    <a:lstStyle/>
                    <a:p>
                      <a:pPr algn="l">
                        <a:defRPr sz="730" b="1">
                          <a:solidFill>
                            <a:srgbClr val="1E242B"/>
                          </a:solidFill>
                          <a:latin typeface="Meiryo UI"/>
                        </a:defRPr>
                      </a:pPr>
                      <a:r>
                        <a:t>作業者が電源コード接続、アースプローブ挟み込み、耐圧計操作・目視確認を手作業で実施（導通・接地20秒＋絶縁耐圧10秒＝30秒/台）。</a:t>
                      </a:r>
                    </a:p>
                  </a:txBody>
                  <a:tcPr anchor="ctr" marL="45720" marR="45720" marT="18288" marB="18288">
                    <a:solidFill>
                      <a:srgbClr val="EAF7EE"/>
                    </a:solidFill>
                  </a:tcPr>
                </a:tc>
                <a:tc>
                  <a:txBody>
                    <a:bodyPr wrap="square"/>
                    <a:lstStyle/>
                    <a:p>
                      <a:pPr algn="l">
                        <a:defRPr sz="730">
                          <a:solidFill>
                            <a:srgbClr val="1E242B"/>
                          </a:solidFill>
                          <a:latin typeface="Meiryo UI"/>
                        </a:defRPr>
                      </a:pPr>
                      <a:r>
                        <a:t>自動接続・検査JIG製作（BOM 25項目）：三菱PLC FX5U-64MT/ES、拡張FX5-16EYR/ES、Wecon HMI PI3070ig、SMCシリンダ6本、電磁弁SY5120×5、光電センサE3Z-LS61×2、Misumiアルミフレーム。</a:t>
                      </a:r>
                      <a:br/>
                      <a:r>
                        <a:t>※DR4決定事項：外装カバー取付後に検査。</a:t>
                      </a:r>
                    </a:p>
                  </a:txBody>
                  <a:tcPr anchor="ctr" marL="45720" marR="45720" marT="18288" marB="18288">
                    <a:solidFill>
                      <a:srgbClr val="EAF7EE"/>
                    </a:solidFill>
                  </a:tcPr>
                </a:tc>
                <a:tc>
                  <a:txBody>
                    <a:bodyPr wrap="square"/>
                    <a:lstStyle/>
                    <a:p>
                      <a:pPr algn="l">
                        <a:defRPr sz="730">
                          <a:solidFill>
                            <a:srgbClr val="1E242B"/>
                          </a:solidFill>
                          <a:latin typeface="Meiryo UI"/>
                        </a:defRPr>
                      </a:pPr>
                      <a:r>
                        <a:t>• 30.00秒/台削減（導通20秒＋耐圧10秒）</a:t>
                      </a:r>
                      <a:br/>
                      <a:r>
                        <a:t>• 年間削減効果：29,600,000 VND/年（1,138.46 USD/年）</a:t>
                      </a:r>
                    </a:p>
                  </a:txBody>
                  <a:tcPr anchor="ctr" marL="45720" marR="45720" marT="18288" marB="18288">
                    <a:solidFill>
                      <a:srgbClr val="EAF7EE"/>
                    </a:solidFill>
                  </a:tcPr>
                </a:tc>
                <a:tc>
                  <a:txBody>
                    <a:bodyPr wrap="square"/>
                    <a:lstStyle/>
                    <a:p>
                      <a:pPr algn="ctr">
                        <a:defRPr sz="730" b="1">
                          <a:solidFill>
                            <a:srgbClr val="1E6E3E"/>
                          </a:solidFill>
                          <a:latin typeface="Meiryo UI"/>
                        </a:defRPr>
                      </a:pPr>
                      <a:r>
                        <a:t>見積済：</a:t>
                      </a:r>
                      <a:br/>
                      <a:r>
                        <a:t>101,690,000 VND</a:t>
                      </a:r>
                      <a:br/>
                      <a:r>
                        <a:t>(BOM 25項目: 3,911.15 USD)</a:t>
                      </a:r>
                      <a:br/>
                      <a:r>
                        <a:t>［説明: 101.7M / 3,911.54$;</a:t>
                      </a:r>
                      <a:br/>
                      <a:r>
                        <a:t>纏め: 4,000 USD］</a:t>
                      </a:r>
                    </a:p>
                  </a:txBody>
                  <a:tcPr anchor="ctr" marL="45720" marR="45720" marT="18288" marB="18288">
                    <a:solidFill>
                      <a:srgbClr val="EAF7EE"/>
                    </a:solidFill>
                  </a:tcPr>
                </a:tc>
                <a:tc>
                  <a:txBody>
                    <a:bodyPr wrap="square"/>
                    <a:lstStyle/>
                    <a:p>
                      <a:pPr algn="l">
                        <a:defRPr sz="730">
                          <a:solidFill>
                            <a:srgbClr val="1E242B"/>
                          </a:solidFill>
                          <a:latin typeface="Meiryo UI"/>
                        </a:defRPr>
                      </a:pPr>
                      <a:r>
                        <a:t>第1次投資として承認申請</a:t>
                      </a:r>
                    </a:p>
                  </a:txBody>
                  <a:tcPr anchor="ctr" marL="45720" marR="45720" marT="18288" marB="18288">
                    <a:solidFill>
                      <a:srgbClr val="EAF7EE"/>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91440"/>
            <a:ext cx="196596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第5.3章：VN提案詳細 (2)</a:t>
            </a:r>
          </a:p>
        </p:txBody>
      </p:sp>
      <p:sp>
        <p:nvSpPr>
          <p:cNvPr id="4" name="TextBox 3"/>
          <p:cNvSpPr txBox="1"/>
          <p:nvPr/>
        </p:nvSpPr>
        <p:spPr>
          <a:xfrm>
            <a:off x="2286000" y="54864"/>
            <a:ext cx="9052560" cy="457200"/>
          </a:xfrm>
          <a:prstGeom prst="rect">
            <a:avLst/>
          </a:prstGeom>
          <a:noFill/>
        </p:spPr>
        <p:txBody>
          <a:bodyPr wrap="square" lIns="18288" rIns="18288">
            <a:spAutoFit/>
          </a:bodyPr>
          <a:lstStyle/>
          <a:p>
            <a:pPr>
              <a:defRPr sz="1450" b="1">
                <a:solidFill>
                  <a:srgbClr val="FFFFFF"/>
                </a:solidFill>
                <a:latin typeface="Meiryo UI"/>
              </a:defRPr>
            </a:pPr>
            <a:r>
              <a:t>ベトナム改善提案詳細：A-4工程（No.23 〜 No.28）</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7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lstStyle/>
          <a:p>
            <a:pPr algn="ctr">
              <a:defRPr sz="980" b="1">
                <a:solidFill>
                  <a:srgbClr val="1B365D"/>
                </a:solidFill>
                <a:latin typeface="Meiryo UI"/>
              </a:defRPr>
            </a:pPr>
            <a:r>
              <a:t>■ 「Iris EXPのVN提案.xlsx」の見積にはNo.23 ISUスキャンロボット（650百万VND／25,000 USD、-110秒）およびNo.24 USB/U201ロボット（104百万VND／4,000 USD、-30秒）を計上。並行してDP連続スキャン（No.25）とカメラ検査（No.27）を推進。</a:t>
            </a:r>
          </a:p>
        </p:txBody>
      </p:sp>
      <p:graphicFrame>
        <p:nvGraphicFramePr>
          <p:cNvPr id="7" name="Table 6"/>
          <p:cNvGraphicFramePr>
            <a:graphicFrameLocks noGrp="1"/>
          </p:cNvGraphicFramePr>
          <p:nvPr/>
        </p:nvGraphicFramePr>
        <p:xfrm>
          <a:off x="274320" y="1243584"/>
          <a:ext cx="11643055" cy="3977639"/>
        </p:xfrm>
        <a:graphic>
          <a:graphicData uri="http://schemas.openxmlformats.org/drawingml/2006/table">
            <a:tbl>
              <a:tblPr firstRow="1" bandRow="1">
                <a:tableStyleId>{5C22544A-7EE6-4342-B048-85BDC9FD1C3A}</a:tableStyleId>
              </a:tblPr>
              <a:tblGrid>
                <a:gridCol w="868680"/>
                <a:gridCol w="2011680"/>
                <a:gridCol w="2011680"/>
                <a:gridCol w="2514600"/>
                <a:gridCol w="1417320"/>
                <a:gridCol w="1463040"/>
                <a:gridCol w="1356055"/>
              </a:tblGrid>
              <a:tr h="568234">
                <a:tc>
                  <a:txBody>
                    <a:bodyPr wrap="square"/>
                    <a:lstStyle/>
                    <a:p>
                      <a:pPr algn="ctr">
                        <a:defRPr sz="780" b="1">
                          <a:solidFill>
                            <a:srgbClr val="FFFFFF"/>
                          </a:solidFill>
                          <a:latin typeface="Meiryo UI"/>
                        </a:defRPr>
                      </a:pPr>
                      <a:r>
                        <a:t>提案番号</a:t>
                      </a:r>
                      <a:br/>
                      <a:r>
                        <a:t>(工程)</a:t>
                      </a:r>
                    </a:p>
                  </a:txBody>
                  <a:tcPr anchor="ctr" marL="45720" marR="45720" marT="18288" marB="18288">
                    <a:solidFill>
                      <a:srgbClr val="1B365D"/>
                    </a:solidFill>
                  </a:tcPr>
                </a:tc>
                <a:tc>
                  <a:txBody>
                    <a:bodyPr wrap="square"/>
                    <a:lstStyle/>
                    <a:p>
                      <a:pPr algn="ctr">
                        <a:defRPr sz="780" b="1">
                          <a:solidFill>
                            <a:srgbClr val="FFFFFF"/>
                          </a:solidFill>
                          <a:latin typeface="Meiryo UI"/>
                        </a:defRPr>
                      </a:pPr>
                      <a:r>
                        <a:t>改善提案名</a:t>
                      </a:r>
                    </a:p>
                  </a:txBody>
                  <a:tcPr anchor="ctr" marL="45720" marR="45720" marT="18288" marB="18288">
                    <a:solidFill>
                      <a:srgbClr val="1B365D"/>
                    </a:solidFill>
                  </a:tcPr>
                </a:tc>
                <a:tc>
                  <a:txBody>
                    <a:bodyPr wrap="square"/>
                    <a:lstStyle/>
                    <a:p>
                      <a:pPr algn="ctr">
                        <a:defRPr sz="780" b="1">
                          <a:solidFill>
                            <a:srgbClr val="FFFFFF"/>
                          </a:solidFill>
                          <a:latin typeface="Meiryo UI"/>
                        </a:defRPr>
                      </a:pPr>
                      <a:r>
                        <a:t>現状の課題</a:t>
                      </a:r>
                      <a:br/>
                      <a:r>
                        <a:t>(VN Iris2024)</a:t>
                      </a:r>
                    </a:p>
                  </a:txBody>
                  <a:tcPr anchor="ctr" marL="45720" marR="45720" marT="18288" marB="18288">
                    <a:solidFill>
                      <a:srgbClr val="1B365D"/>
                    </a:solidFill>
                  </a:tcPr>
                </a:tc>
                <a:tc>
                  <a:txBody>
                    <a:bodyPr wrap="square"/>
                    <a:lstStyle/>
                    <a:p>
                      <a:pPr algn="ctr">
                        <a:defRPr sz="780" b="1">
                          <a:solidFill>
                            <a:srgbClr val="FFFFFF"/>
                          </a:solidFill>
                          <a:latin typeface="Meiryo UI"/>
                        </a:defRPr>
                      </a:pPr>
                      <a:r>
                        <a:t>改善内容および連携会・DR4での検討方針</a:t>
                      </a:r>
                    </a:p>
                  </a:txBody>
                  <a:tcPr anchor="ctr" marL="45720" marR="45720" marT="18288" marB="18288">
                    <a:solidFill>
                      <a:srgbClr val="1B365D"/>
                    </a:solidFill>
                  </a:tcPr>
                </a:tc>
                <a:tc>
                  <a:txBody>
                    <a:bodyPr wrap="square"/>
                    <a:lstStyle/>
                    <a:p>
                      <a:pPr algn="ctr">
                        <a:defRPr sz="780" b="1">
                          <a:solidFill>
                            <a:srgbClr val="FFFFFF"/>
                          </a:solidFill>
                          <a:latin typeface="Meiryo UI"/>
                        </a:defRPr>
                      </a:pPr>
                      <a:r>
                        <a:t>期待効果</a:t>
                      </a:r>
                      <a:br/>
                      <a:r>
                        <a:t>(時間・人員・金額)</a:t>
                      </a:r>
                    </a:p>
                  </a:txBody>
                  <a:tcPr anchor="ctr" marL="45720" marR="45720" marT="18288" marB="18288">
                    <a:solidFill>
                      <a:srgbClr val="1B365D"/>
                    </a:solidFill>
                  </a:tcPr>
                </a:tc>
                <a:tc>
                  <a:txBody>
                    <a:bodyPr wrap="square"/>
                    <a:lstStyle/>
                    <a:p>
                      <a:pPr algn="ctr">
                        <a:defRPr sz="780" b="1">
                          <a:solidFill>
                            <a:srgbClr val="FFFFFF"/>
                          </a:solidFill>
                          <a:latin typeface="Meiryo UI"/>
                        </a:defRPr>
                      </a:pPr>
                      <a:r>
                        <a:t>設備投資金額</a:t>
                      </a:r>
                    </a:p>
                  </a:txBody>
                  <a:tcPr anchor="ctr" marL="45720" marR="45720" marT="18288" marB="18288">
                    <a:solidFill>
                      <a:srgbClr val="1B365D"/>
                    </a:solidFill>
                  </a:tcPr>
                </a:tc>
                <a:tc>
                  <a:txBody>
                    <a:bodyPr wrap="square"/>
                    <a:lstStyle/>
                    <a:p>
                      <a:pPr algn="ctr">
                        <a:defRPr sz="780" b="1">
                          <a:solidFill>
                            <a:srgbClr val="FFFFFF"/>
                          </a:solidFill>
                          <a:latin typeface="Meiryo UI"/>
                        </a:defRPr>
                      </a:pPr>
                      <a:r>
                        <a:t>進捗状況</a:t>
                      </a:r>
                    </a:p>
                  </a:txBody>
                  <a:tcPr anchor="ctr" marL="45720" marR="45720" marT="18288" marB="18288">
                    <a:solidFill>
                      <a:srgbClr val="1B365D"/>
                    </a:solidFill>
                  </a:tcPr>
                </a:tc>
              </a:tr>
              <a:tr h="568234">
                <a:tc>
                  <a:txBody>
                    <a:bodyPr wrap="square"/>
                    <a:lstStyle/>
                    <a:p>
                      <a:pPr algn="ctr">
                        <a:defRPr sz="710" b="1">
                          <a:solidFill>
                            <a:srgbClr val="1E242B"/>
                          </a:solidFill>
                          <a:latin typeface="Meiryo UI"/>
                        </a:defRPr>
                      </a:pPr>
                      <a:r>
                        <a:t>No.23</a:t>
                      </a:r>
                      <a:br/>
                      <a:r>
                        <a:t>(K4 → A-4)</a:t>
                      </a:r>
                    </a:p>
                  </a:txBody>
                  <a:tcPr anchor="ctr" marL="45720" marR="45720" marT="18288" marB="18288">
                    <a:solidFill>
                      <a:srgbClr val="EAF7EE"/>
                    </a:solidFill>
                  </a:tcPr>
                </a:tc>
                <a:tc>
                  <a:txBody>
                    <a:bodyPr wrap="square"/>
                    <a:lstStyle/>
                    <a:p>
                      <a:pPr algn="l">
                        <a:defRPr sz="710">
                          <a:solidFill>
                            <a:srgbClr val="1E242B"/>
                          </a:solidFill>
                          <a:latin typeface="Meiryo UI"/>
                        </a:defRPr>
                      </a:pPr>
                      <a:r>
                        <a:t>ISU原稿セットロボット製作＋プログラム連携による自動調整</a:t>
                      </a:r>
                    </a:p>
                  </a:txBody>
                  <a:tcPr anchor="ctr" marL="45720" marR="45720" marT="18288" marB="18288">
                    <a:solidFill>
                      <a:srgbClr val="EAF7EE"/>
                    </a:solidFill>
                  </a:tcPr>
                </a:tc>
                <a:tc>
                  <a:txBody>
                    <a:bodyPr wrap="square"/>
                    <a:lstStyle/>
                    <a:p>
                      <a:pPr algn="l">
                        <a:defRPr sz="710" b="1">
                          <a:solidFill>
                            <a:srgbClr val="1E242B"/>
                          </a:solidFill>
                          <a:latin typeface="Meiryo UI"/>
                        </a:defRPr>
                      </a:pPr>
                      <a:r>
                        <a:t>作業者がプラテンカバーを開閉し、ISUガラス面へ原稿3枚をセット：U411 Color chart（45秒）＋SITC-2（35秒）＋カラー機Halftone（30秒）＝計110秒/台。</a:t>
                      </a:r>
                    </a:p>
                  </a:txBody>
                  <a:tcPr anchor="ctr" marL="45720" marR="45720" marT="18288" marB="18288">
                    <a:solidFill>
                      <a:srgbClr val="EAF7EE"/>
                    </a:solidFill>
                  </a:tcPr>
                </a:tc>
                <a:tc>
                  <a:txBody>
                    <a:bodyPr wrap="square"/>
                    <a:lstStyle/>
                    <a:p>
                      <a:pPr algn="l">
                        <a:defRPr sz="710">
                          <a:solidFill>
                            <a:srgbClr val="1E242B"/>
                          </a:solidFill>
                          <a:latin typeface="Meiryo UI"/>
                        </a:defRPr>
                      </a:pPr>
                      <a:r>
                        <a:t>自動Scanシート見積（4項目）：(1)コンベア2セル追加：200M（$7,692.31）＋(2)本体給電装置：50M（$1,923.08）＋(3)USB/LANケーブル位置決め：50M（$1,923.08）＋(4)ロボットアーム：350M（$13,461.54）。7910プログラム改修が必要（DR4にてDP案No.25も並行検討）。</a:t>
                      </a:r>
                    </a:p>
                  </a:txBody>
                  <a:tcPr anchor="ctr" marL="45720" marR="45720" marT="18288" marB="18288">
                    <a:solidFill>
                      <a:srgbClr val="EAF7EE"/>
                    </a:solidFill>
                  </a:tcPr>
                </a:tc>
                <a:tc>
                  <a:txBody>
                    <a:bodyPr wrap="square"/>
                    <a:lstStyle/>
                    <a:p>
                      <a:pPr algn="l">
                        <a:defRPr sz="710">
                          <a:solidFill>
                            <a:srgbClr val="1E242B"/>
                          </a:solidFill>
                          <a:latin typeface="Meiryo UI"/>
                        </a:defRPr>
                      </a:pPr>
                      <a:r>
                        <a:t>• 110.00秒/台削減（U411:45s, SITC-2:35s, Halftone:30s）</a:t>
                      </a:r>
                      <a:br/>
                      <a:r>
                        <a:t>• 年間削減効果：108,533,333 VND/年（4,174.36 USD/年）</a:t>
                      </a:r>
                    </a:p>
                  </a:txBody>
                  <a:tcPr anchor="ctr" marL="45720" marR="45720" marT="18288" marB="18288">
                    <a:solidFill>
                      <a:srgbClr val="EAF7EE"/>
                    </a:solidFill>
                  </a:tcPr>
                </a:tc>
                <a:tc>
                  <a:txBody>
                    <a:bodyPr wrap="square"/>
                    <a:lstStyle/>
                    <a:p>
                      <a:pPr algn="ctr">
                        <a:defRPr sz="710" b="1">
                          <a:solidFill>
                            <a:srgbClr val="1E6E3E"/>
                          </a:solidFill>
                          <a:latin typeface="Meiryo UI"/>
                        </a:defRPr>
                      </a:pPr>
                      <a:r>
                        <a:t>見積済：</a:t>
                      </a:r>
                      <a:br/>
                      <a:r>
                        <a:t>650,000,000 VND</a:t>
                      </a:r>
                      <a:br/>
                      <a:r>
                        <a:t>(25,000.00 USD)</a:t>
                      </a:r>
                    </a:p>
                  </a:txBody>
                  <a:tcPr anchor="ctr" marL="45720" marR="45720" marT="18288" marB="18288">
                    <a:solidFill>
                      <a:srgbClr val="EAF7EE"/>
                    </a:solidFill>
                  </a:tcPr>
                </a:tc>
                <a:tc>
                  <a:txBody>
                    <a:bodyPr wrap="square"/>
                    <a:lstStyle/>
                    <a:p>
                      <a:pPr algn="l">
                        <a:defRPr sz="710" b="1">
                          <a:solidFill>
                            <a:srgbClr val="1E6E3E"/>
                          </a:solidFill>
                          <a:latin typeface="Meiryo UI"/>
                        </a:defRPr>
                      </a:pPr>
                      <a:r>
                        <a:t>設備見積済；</a:t>
                      </a:r>
                      <a:br/>
                      <a:r>
                        <a:t>DP案（No.25）と比較検討</a:t>
                      </a:r>
                    </a:p>
                  </a:txBody>
                  <a:tcPr anchor="ctr" marL="45720" marR="45720" marT="18288" marB="18288">
                    <a:solidFill>
                      <a:srgbClr val="EAF7EE"/>
                    </a:solidFill>
                  </a:tcPr>
                </a:tc>
              </a:tr>
              <a:tr h="568234">
                <a:tc>
                  <a:txBody>
                    <a:bodyPr wrap="square"/>
                    <a:lstStyle/>
                    <a:p>
                      <a:pPr algn="ctr">
                        <a:defRPr sz="710" b="1">
                          <a:solidFill>
                            <a:srgbClr val="1E242B"/>
                          </a:solidFill>
                          <a:latin typeface="Meiryo UI"/>
                        </a:defRPr>
                      </a:pPr>
                      <a:r>
                        <a:t>No.24</a:t>
                      </a:r>
                      <a:br/>
                      <a:r>
                        <a:t>(K4 → A-2)</a:t>
                      </a:r>
                    </a:p>
                  </a:txBody>
                  <a:tcPr anchor="ctr" marL="45720" marR="45720" marT="18288" marB="18288">
                    <a:solidFill>
                      <a:srgbClr val="EAF7EE"/>
                    </a:solidFill>
                  </a:tcPr>
                </a:tc>
                <a:tc>
                  <a:txBody>
                    <a:bodyPr wrap="square"/>
                    <a:lstStyle/>
                    <a:p>
                      <a:pPr algn="l">
                        <a:defRPr sz="710">
                          <a:solidFill>
                            <a:srgbClr val="1E242B"/>
                          </a:solidFill>
                          <a:latin typeface="Meiryo UI"/>
                        </a:defRPr>
                      </a:pPr>
                      <a:r>
                        <a:t>USB接続ロボット、パネル評価カメラ＆AI座標センサ＋U201タッチロボット</a:t>
                      </a:r>
                    </a:p>
                  </a:txBody>
                  <a:tcPr anchor="ctr" marL="45720" marR="45720" marT="18288" marB="18288">
                    <a:solidFill>
                      <a:srgbClr val="EAF7EE"/>
                    </a:solidFill>
                  </a:tcPr>
                </a:tc>
                <a:tc>
                  <a:txBody>
                    <a:bodyPr wrap="square"/>
                    <a:lstStyle/>
                    <a:p>
                      <a:pPr algn="l">
                        <a:defRPr sz="710" b="1">
                          <a:solidFill>
                            <a:srgbClr val="1E242B"/>
                          </a:solidFill>
                          <a:latin typeface="Meiryo UI"/>
                        </a:defRPr>
                      </a:pPr>
                      <a:r>
                        <a:t>作業者がUSBメモリを挿抜して認識確認（15秒）、およびタッチペンでパネルU201座標をタッチ（15秒）＝計30秒/台。</a:t>
                      </a:r>
                    </a:p>
                  </a:txBody>
                  <a:tcPr anchor="ctr" marL="45720" marR="45720" marT="18288" marB="18288">
                    <a:solidFill>
                      <a:srgbClr val="EAF7EE"/>
                    </a:solidFill>
                  </a:tcPr>
                </a:tc>
                <a:tc>
                  <a:txBody>
                    <a:bodyPr wrap="square"/>
                    <a:lstStyle/>
                    <a:p>
                      <a:pPr algn="l">
                        <a:defRPr sz="710">
                          <a:solidFill>
                            <a:srgbClr val="1E242B"/>
                          </a:solidFill>
                          <a:latin typeface="Meiryo UI"/>
                        </a:defRPr>
                      </a:pPr>
                      <a:r>
                        <a:t>纏めシート記載：USB接続ロボット＋パネル表示評価カメラ（15秒）およびAI座標センサカメラ＋パネル座標タッチロボット（15秒）を設置。（連携会でのロボットレス代替案：FW書込時のUSB保証［JP No.6］＆Host PCでのU201ログ読取［JP No.3］）。</a:t>
                      </a:r>
                    </a:p>
                  </a:txBody>
                  <a:tcPr anchor="ctr" marL="45720" marR="45720" marT="18288" marB="18288">
                    <a:solidFill>
                      <a:srgbClr val="EAF7EE"/>
                    </a:solidFill>
                  </a:tcPr>
                </a:tc>
                <a:tc>
                  <a:txBody>
                    <a:bodyPr wrap="square"/>
                    <a:lstStyle/>
                    <a:p>
                      <a:pPr algn="l">
                        <a:defRPr sz="710">
                          <a:solidFill>
                            <a:srgbClr val="1E242B"/>
                          </a:solidFill>
                          <a:latin typeface="Meiryo UI"/>
                        </a:defRPr>
                      </a:pPr>
                      <a:r>
                        <a:t>• 30.00秒/台削減</a:t>
                      </a:r>
                      <a:br/>
                      <a:r>
                        <a:t>• 年間削減効果：29,600,000 VND/年（1,138.46 USD/年）</a:t>
                      </a:r>
                    </a:p>
                  </a:txBody>
                  <a:tcPr anchor="ctr" marL="45720" marR="45720" marT="18288" marB="18288">
                    <a:solidFill>
                      <a:srgbClr val="EAF7EE"/>
                    </a:solidFill>
                  </a:tcPr>
                </a:tc>
                <a:tc>
                  <a:txBody>
                    <a:bodyPr wrap="square"/>
                    <a:lstStyle/>
                    <a:p>
                      <a:pPr algn="ctr">
                        <a:defRPr sz="710" b="1">
                          <a:solidFill>
                            <a:srgbClr val="1E6E3E"/>
                          </a:solidFill>
                          <a:latin typeface="Meiryo UI"/>
                        </a:defRPr>
                      </a:pPr>
                      <a:r>
                        <a:t>見積済：</a:t>
                      </a:r>
                      <a:br/>
                      <a:r>
                        <a:t>104,000,000 VND</a:t>
                      </a:r>
                      <a:br/>
                      <a:r>
                        <a:t>(4,000.00 USD)</a:t>
                      </a:r>
                    </a:p>
                  </a:txBody>
                  <a:tcPr anchor="ctr" marL="45720" marR="45720" marT="18288" marB="18288">
                    <a:solidFill>
                      <a:srgbClr val="EAF7EE"/>
                    </a:solidFill>
                  </a:tcPr>
                </a:tc>
                <a:tc>
                  <a:txBody>
                    <a:bodyPr wrap="square"/>
                    <a:lstStyle/>
                    <a:p>
                      <a:pPr algn="l">
                        <a:defRPr sz="710" b="1">
                          <a:solidFill>
                            <a:srgbClr val="1E6E3E"/>
                          </a:solidFill>
                          <a:latin typeface="Meiryo UI"/>
                        </a:defRPr>
                      </a:pPr>
                      <a:r>
                        <a:t>設備見積済；</a:t>
                      </a:r>
                      <a:br/>
                      <a:r>
                        <a:t>JP No.3・No.6と比較検討</a:t>
                      </a:r>
                    </a:p>
                  </a:txBody>
                  <a:tcPr anchor="ctr" marL="45720" marR="45720" marT="18288" marB="18288">
                    <a:solidFill>
                      <a:srgbClr val="EAF7EE"/>
                    </a:solidFill>
                  </a:tcPr>
                </a:tc>
              </a:tr>
              <a:tr h="568234">
                <a:tc>
                  <a:txBody>
                    <a:bodyPr wrap="square"/>
                    <a:lstStyle/>
                    <a:p>
                      <a:pPr algn="ctr">
                        <a:defRPr sz="710" b="1">
                          <a:solidFill>
                            <a:srgbClr val="1E242B"/>
                          </a:solidFill>
                          <a:latin typeface="Meiryo UI"/>
                        </a:defRPr>
                      </a:pPr>
                      <a:r>
                        <a:t>No.25</a:t>
                      </a:r>
                      <a:br/>
                      <a:r>
                        <a:t>(K4/K5 → A-4)</a:t>
                      </a:r>
                    </a:p>
                  </a:txBody>
                  <a:tcPr anchor="ctr" marL="45720" marR="45720" marT="18288" marB="18288">
                    <a:solidFill>
                      <a:srgbClr val="E8EEF5"/>
                    </a:solidFill>
                  </a:tcPr>
                </a:tc>
                <a:tc>
                  <a:txBody>
                    <a:bodyPr wrap="square"/>
                    <a:lstStyle/>
                    <a:p>
                      <a:pPr algn="l">
                        <a:defRPr sz="710">
                          <a:solidFill>
                            <a:srgbClr val="1E242B"/>
                          </a:solidFill>
                          <a:latin typeface="Meiryo UI"/>
                        </a:defRPr>
                      </a:pPr>
                      <a:r>
                        <a:t>実機にDPを追加し連続スキャン＋PC自動判定</a:t>
                      </a:r>
                    </a:p>
                  </a:txBody>
                  <a:tcPr anchor="ctr" marL="45720" marR="45720" marT="18288" marB="18288">
                    <a:solidFill>
                      <a:srgbClr val="E8EEF5"/>
                    </a:solidFill>
                  </a:tcPr>
                </a:tc>
                <a:tc>
                  <a:txBody>
                    <a:bodyPr wrap="square"/>
                    <a:lstStyle/>
                    <a:p>
                      <a:pPr algn="l">
                        <a:defRPr sz="710" b="1">
                          <a:solidFill>
                            <a:srgbClr val="1E242B"/>
                          </a:solidFill>
                          <a:latin typeface="Meiryo UI"/>
                        </a:defRPr>
                      </a:pPr>
                      <a:r>
                        <a:t>ISUガラス面への原稿手置き（110秒）およびK5での画像検査8工程（RCG Ledger 20s, Scan RCG 20s, LSU SKEW 130s, Color Regist 60s, RCC 100s, U410 110s, Process 190s, 厚紙 45s＝計675秒）。</a:t>
                      </a:r>
                    </a:p>
                  </a:txBody>
                  <a:tcPr anchor="ctr" marL="45720" marR="45720" marT="18288" marB="18288">
                    <a:solidFill>
                      <a:srgbClr val="E8EEF5"/>
                    </a:solidFill>
                  </a:tcPr>
                </a:tc>
                <a:tc>
                  <a:txBody>
                    <a:bodyPr wrap="square"/>
                    <a:lstStyle/>
                    <a:p>
                      <a:pPr algn="l">
                        <a:defRPr sz="710">
                          <a:solidFill>
                            <a:srgbClr val="1E242B"/>
                          </a:solidFill>
                          <a:latin typeface="Meiryo UI"/>
                        </a:defRPr>
                      </a:pPr>
                      <a:r>
                        <a:t>試験用の実機にDP（自動原稿送り装置）を追加搭載してチャートを連続スキャンさせ、画像をPCへ転送して自動合否判定（ISUロボットの代替）。</a:t>
                      </a:r>
                    </a:p>
                  </a:txBody>
                  <a:tcPr anchor="ctr" marL="45720" marR="45720" marT="18288" marB="18288">
                    <a:solidFill>
                      <a:srgbClr val="E8EEF5"/>
                    </a:solidFill>
                  </a:tcPr>
                </a:tc>
                <a:tc>
                  <a:txBody>
                    <a:bodyPr wrap="square"/>
                    <a:lstStyle/>
                    <a:p>
                      <a:pPr algn="l">
                        <a:defRPr sz="710">
                          <a:solidFill>
                            <a:srgbClr val="1E242B"/>
                          </a:solidFill>
                          <a:latin typeface="Meiryo UI"/>
                        </a:defRPr>
                      </a:pPr>
                      <a:r>
                        <a:t>• 原稿セット110.00秒/台を削減（及び画像検査675秒の短縮）</a:t>
                      </a:r>
                      <a:br/>
                      <a:r>
                        <a:t>• コンベア2セル拡張が不要</a:t>
                      </a:r>
                    </a:p>
                  </a:txBody>
                  <a:tcPr anchor="ctr" marL="45720" marR="45720" marT="18288" marB="18288">
                    <a:solidFill>
                      <a:srgbClr val="E8EEF5"/>
                    </a:solidFill>
                  </a:tcPr>
                </a:tc>
                <a:tc>
                  <a:txBody>
                    <a:bodyPr wrap="square"/>
                    <a:lstStyle/>
                    <a:p>
                      <a:pPr algn="ctr">
                        <a:defRPr sz="710">
                          <a:solidFill>
                            <a:srgbClr val="1E242B"/>
                          </a:solidFill>
                          <a:latin typeface="Meiryo UI"/>
                        </a:defRPr>
                      </a:pPr>
                      <a:r>
                        <a:t>検討中 / 見積中</a:t>
                      </a:r>
                    </a:p>
                  </a:txBody>
                  <a:tcPr anchor="ctr" marL="45720" marR="45720" marT="18288" marB="18288">
                    <a:solidFill>
                      <a:srgbClr val="E8EEF5"/>
                    </a:solidFill>
                  </a:tcPr>
                </a:tc>
                <a:tc>
                  <a:txBody>
                    <a:bodyPr wrap="square"/>
                    <a:lstStyle/>
                    <a:p>
                      <a:pPr algn="l">
                        <a:defRPr sz="710">
                          <a:solidFill>
                            <a:srgbClr val="1E242B"/>
                          </a:solidFill>
                          <a:latin typeface="Meiryo UI"/>
                        </a:defRPr>
                      </a:pPr>
                      <a:r>
                        <a:t>DPとISUの読取精度を比較検証中</a:t>
                      </a:r>
                    </a:p>
                  </a:txBody>
                  <a:tcPr anchor="ctr" marL="45720" marR="45720" marT="18288" marB="18288">
                    <a:solidFill>
                      <a:srgbClr val="E8EEF5"/>
                    </a:solidFill>
                  </a:tcPr>
                </a:tc>
              </a:tr>
              <a:tr h="568234">
                <a:tc>
                  <a:txBody>
                    <a:bodyPr wrap="square"/>
                    <a:lstStyle/>
                    <a:p>
                      <a:pPr algn="ctr">
                        <a:defRPr sz="710" b="1">
                          <a:solidFill>
                            <a:srgbClr val="1E242B"/>
                          </a:solidFill>
                          <a:latin typeface="Meiryo UI"/>
                        </a:defRPr>
                      </a:pPr>
                      <a:r>
                        <a:t>No.26</a:t>
                      </a:r>
                      <a:br/>
                      <a:r>
                        <a:t>(K6 → A-3)</a:t>
                      </a:r>
                    </a:p>
                  </a:txBody>
                  <a:tcPr anchor="ctr" marL="45720" marR="45720" marT="18288" marB="18288">
                    <a:solidFill>
                      <a:srgbClr val="FEF7E6"/>
                    </a:solidFill>
                  </a:tcPr>
                </a:tc>
                <a:tc>
                  <a:txBody>
                    <a:bodyPr wrap="square"/>
                    <a:lstStyle/>
                    <a:p>
                      <a:pPr algn="l">
                        <a:defRPr sz="710">
                          <a:solidFill>
                            <a:srgbClr val="1E242B"/>
                          </a:solidFill>
                          <a:latin typeface="Meiryo UI"/>
                        </a:defRPr>
                      </a:pPr>
                      <a:r>
                        <a:t>AIによる異音解析・温度検査ソフト開発</a:t>
                      </a:r>
                    </a:p>
                  </a:txBody>
                  <a:tcPr anchor="ctr" marL="45720" marR="45720" marT="18288" marB="18288">
                    <a:solidFill>
                      <a:srgbClr val="FEF7E6"/>
                    </a:solidFill>
                  </a:tcPr>
                </a:tc>
                <a:tc>
                  <a:txBody>
                    <a:bodyPr wrap="square"/>
                    <a:lstStyle/>
                    <a:p>
                      <a:pPr algn="l">
                        <a:defRPr sz="710">
                          <a:solidFill>
                            <a:srgbClr val="1E242B"/>
                          </a:solidFill>
                          <a:latin typeface="Meiryo UI"/>
                        </a:defRPr>
                      </a:pPr>
                      <a:r>
                        <a:t>防音室内にて作業者が耳で異音を聴き取り判定（Fuser, FAN, Operation, MPF/DU＝K6にて40秒/台）。</a:t>
                      </a:r>
                    </a:p>
                  </a:txBody>
                  <a:tcPr anchor="ctr" marL="45720" marR="45720" marT="18288" marB="18288">
                    <a:solidFill>
                      <a:srgbClr val="FEF7E6"/>
                    </a:solidFill>
                  </a:tcPr>
                </a:tc>
                <a:tc>
                  <a:txBody>
                    <a:bodyPr wrap="square"/>
                    <a:lstStyle/>
                    <a:p>
                      <a:pPr algn="l">
                        <a:defRPr sz="710">
                          <a:solidFill>
                            <a:srgbClr val="1E242B"/>
                          </a:solidFill>
                          <a:latin typeface="Meiryo UI"/>
                        </a:defRPr>
                      </a:pPr>
                      <a:r>
                        <a:t>マイク＋AI音響スペクトル解析およびサーモカメラを使用。JP試算費用は600万円（約40,000 USD：治具・マイク100万円＋AI開発500万円）。2026〜2030年の長期R&amp;Dテーマへ移行。</a:t>
                      </a:r>
                    </a:p>
                  </a:txBody>
                  <a:tcPr anchor="ctr" marL="45720" marR="45720" marT="18288" marB="18288">
                    <a:solidFill>
                      <a:srgbClr val="FEF7E6"/>
                    </a:solidFill>
                  </a:tcPr>
                </a:tc>
                <a:tc>
                  <a:txBody>
                    <a:bodyPr wrap="square"/>
                    <a:lstStyle/>
                    <a:p>
                      <a:pPr algn="l">
                        <a:defRPr sz="710">
                          <a:solidFill>
                            <a:srgbClr val="1E242B"/>
                          </a:solidFill>
                          <a:latin typeface="Meiryo UI"/>
                        </a:defRPr>
                      </a:pPr>
                      <a:r>
                        <a:t>• 長期期待効果：-40.00秒/台</a:t>
                      </a:r>
                      <a:br/>
                      <a:r>
                        <a:t>• 初回MPには非適用</a:t>
                      </a:r>
                    </a:p>
                  </a:txBody>
                  <a:tcPr anchor="ctr" marL="45720" marR="45720" marT="18288" marB="18288">
                    <a:solidFill>
                      <a:srgbClr val="FEF7E6"/>
                    </a:solidFill>
                  </a:tcPr>
                </a:tc>
                <a:tc>
                  <a:txBody>
                    <a:bodyPr wrap="square"/>
                    <a:lstStyle/>
                    <a:p>
                      <a:pPr algn="ctr">
                        <a:defRPr sz="710">
                          <a:solidFill>
                            <a:srgbClr val="1E242B"/>
                          </a:solidFill>
                          <a:latin typeface="Meiryo UI"/>
                        </a:defRPr>
                      </a:pPr>
                      <a:r>
                        <a:t>600万円</a:t>
                      </a:r>
                      <a:br/>
                      <a:r>
                        <a:t>(約40,000 USD)</a:t>
                      </a:r>
                      <a:br/>
                      <a:r>
                        <a:t>［長期R&amp;D 2026-2030］</a:t>
                      </a:r>
                    </a:p>
                  </a:txBody>
                  <a:tcPr anchor="ctr" marL="45720" marR="45720" marT="18288" marB="18288">
                    <a:solidFill>
                      <a:srgbClr val="FEF7E6"/>
                    </a:solidFill>
                  </a:tcPr>
                </a:tc>
                <a:tc>
                  <a:txBody>
                    <a:bodyPr wrap="square"/>
                    <a:lstStyle/>
                    <a:p>
                      <a:pPr algn="l">
                        <a:defRPr sz="710">
                          <a:solidFill>
                            <a:srgbClr val="1E242B"/>
                          </a:solidFill>
                          <a:latin typeface="Meiryo UI"/>
                        </a:defRPr>
                      </a:pPr>
                      <a:r>
                        <a:t>2026〜2030年長期R&amp;Dテーマへ移行</a:t>
                      </a:r>
                    </a:p>
                  </a:txBody>
                  <a:tcPr anchor="ctr" marL="45720" marR="45720" marT="18288" marB="18288">
                    <a:solidFill>
                      <a:srgbClr val="FEF7E6"/>
                    </a:solidFill>
                  </a:tcPr>
                </a:tc>
              </a:tr>
              <a:tr h="568234">
                <a:tc>
                  <a:txBody>
                    <a:bodyPr wrap="square"/>
                    <a:lstStyle/>
                    <a:p>
                      <a:pPr algn="ctr">
                        <a:defRPr sz="710" b="1">
                          <a:solidFill>
                            <a:srgbClr val="1E242B"/>
                          </a:solidFill>
                          <a:latin typeface="Meiryo UI"/>
                        </a:defRPr>
                      </a:pPr>
                      <a:r>
                        <a:t>No.27</a:t>
                      </a:r>
                      <a:br/>
                      <a:r>
                        <a:t>(K6, K7 → A-4)</a:t>
                      </a:r>
                    </a:p>
                  </a:txBody>
                  <a:tcPr anchor="ctr" marL="45720" marR="45720" marT="18288" marB="18288">
                    <a:solidFill>
                      <a:srgbClr val="EAF7EE"/>
                    </a:solidFill>
                  </a:tcPr>
                </a:tc>
                <a:tc>
                  <a:txBody>
                    <a:bodyPr wrap="square"/>
                    <a:lstStyle/>
                    <a:p>
                      <a:pPr algn="l">
                        <a:defRPr sz="710">
                          <a:solidFill>
                            <a:srgbClr val="1E242B"/>
                          </a:solidFill>
                          <a:latin typeface="Meiryo UI"/>
                        </a:defRPr>
                      </a:pPr>
                      <a:r>
                        <a:t>HIKROBOTカメラによる濃度・マージン・PPT・画像総合検査</a:t>
                      </a:r>
                    </a:p>
                  </a:txBody>
                  <a:tcPr anchor="ctr" marL="45720" marR="45720" marT="18288" marB="18288">
                    <a:solidFill>
                      <a:srgbClr val="EAF7EE"/>
                    </a:solidFill>
                  </a:tcPr>
                </a:tc>
                <a:tc>
                  <a:txBody>
                    <a:bodyPr wrap="square"/>
                    <a:lstStyle/>
                    <a:p>
                      <a:pPr algn="l">
                        <a:defRPr sz="710" b="1">
                          <a:solidFill>
                            <a:srgbClr val="1E242B"/>
                          </a:solidFill>
                          <a:latin typeface="Meiryo UI"/>
                        </a:defRPr>
                      </a:pPr>
                      <a:r>
                        <a:t>ハンディ濃度計による3枚測定（Check Black 45s＋Check Color 112s＋DC-1 35s＝192s）、スケールでのマージン測定（28s）、ルーペでのGY紙PPT確認（10s）＝計230秒/台。</a:t>
                      </a:r>
                    </a:p>
                  </a:txBody>
                  <a:tcPr anchor="ctr" marL="45720" marR="45720" marT="18288" marB="18288">
                    <a:solidFill>
                      <a:srgbClr val="EAF7EE"/>
                    </a:solidFill>
                  </a:tcPr>
                </a:tc>
                <a:tc>
                  <a:txBody>
                    <a:bodyPr wrap="square"/>
                    <a:lstStyle/>
                    <a:p>
                      <a:pPr algn="l">
                        <a:defRPr sz="710">
                          <a:solidFill>
                            <a:srgbClr val="1E242B"/>
                          </a:solidFill>
                          <a:latin typeface="Meiryo UI"/>
                        </a:defRPr>
                      </a:pPr>
                      <a:r>
                        <a:t>HIKROBOT産業用カメラシステムで画像を自動解析：3枚の濃度測定時間を192秒→15秒（5秒/枚、-177秒/台）へ短縮。マージン自動測定（-28秒）およびPPT検査（-10秒）も統合。</a:t>
                      </a:r>
                    </a:p>
                  </a:txBody>
                  <a:tcPr anchor="ctr" marL="45720" marR="45720" marT="18288" marB="18288">
                    <a:solidFill>
                      <a:srgbClr val="EAF7EE"/>
                    </a:solidFill>
                  </a:tcPr>
                </a:tc>
                <a:tc>
                  <a:txBody>
                    <a:bodyPr wrap="square"/>
                    <a:lstStyle/>
                    <a:p>
                      <a:pPr algn="l">
                        <a:defRPr sz="710">
                          <a:solidFill>
                            <a:srgbClr val="1E242B"/>
                          </a:solidFill>
                          <a:latin typeface="Meiryo UI"/>
                        </a:defRPr>
                      </a:pPr>
                      <a:r>
                        <a:t>• 濃度測定単独で 177.00秒/台削減</a:t>
                      </a:r>
                      <a:br/>
                      <a:r>
                        <a:t>• マージン(28s)・PPT(10s)統合で最大 215.00秒/台削減</a:t>
                      </a:r>
                      <a:br/>
                      <a:r>
                        <a:t>• 約2名省人化</a:t>
                      </a:r>
                    </a:p>
                  </a:txBody>
                  <a:tcPr anchor="ctr" marL="45720" marR="45720" marT="18288" marB="18288">
                    <a:solidFill>
                      <a:srgbClr val="EAF7EE"/>
                    </a:solidFill>
                  </a:tcPr>
                </a:tc>
                <a:tc>
                  <a:txBody>
                    <a:bodyPr wrap="square"/>
                    <a:lstStyle/>
                    <a:p>
                      <a:pPr algn="ctr">
                        <a:defRPr sz="710">
                          <a:solidFill>
                            <a:srgbClr val="1E242B"/>
                          </a:solidFill>
                          <a:latin typeface="Meiryo UI"/>
                        </a:defRPr>
                      </a:pPr>
                      <a:r>
                        <a:t>見積中</a:t>
                      </a:r>
                    </a:p>
                  </a:txBody>
                  <a:tcPr anchor="ctr" marL="45720" marR="45720" marT="18288" marB="18288">
                    <a:solidFill>
                      <a:srgbClr val="EAF7EE"/>
                    </a:solidFill>
                  </a:tcPr>
                </a:tc>
                <a:tc>
                  <a:txBody>
                    <a:bodyPr wrap="square"/>
                    <a:lstStyle/>
                    <a:p>
                      <a:pPr algn="l">
                        <a:defRPr sz="710" b="1">
                          <a:solidFill>
                            <a:srgbClr val="1E242B"/>
                          </a:solidFill>
                          <a:latin typeface="Meiryo UI"/>
                        </a:defRPr>
                      </a:pPr>
                      <a:r>
                        <a:t>カメラ構成の設計・検証中</a:t>
                      </a:r>
                    </a:p>
                  </a:txBody>
                  <a:tcPr anchor="ctr" marL="45720" marR="45720" marT="18288" marB="18288">
                    <a:solidFill>
                      <a:srgbClr val="EAF7EE"/>
                    </a:solidFill>
                  </a:tcPr>
                </a:tc>
              </a:tr>
              <a:tr h="568235">
                <a:tc>
                  <a:txBody>
                    <a:bodyPr wrap="square"/>
                    <a:lstStyle/>
                    <a:p>
                      <a:pPr algn="ctr">
                        <a:defRPr sz="710" b="1">
                          <a:solidFill>
                            <a:srgbClr val="1E242B"/>
                          </a:solidFill>
                          <a:latin typeface="Meiryo UI"/>
                        </a:defRPr>
                      </a:pPr>
                      <a:r>
                        <a:t>No.28</a:t>
                      </a:r>
                      <a:br/>
                      <a:r>
                        <a:t>(K8 → A-4)</a:t>
                      </a:r>
                    </a:p>
                  </a:txBody>
                  <a:tcPr anchor="ctr" marL="45720" marR="45720" marT="18288" marB="18288">
                    <a:solidFill>
                      <a:srgbClr val="EAF7EE"/>
                    </a:solidFill>
                  </a:tcPr>
                </a:tc>
                <a:tc>
                  <a:txBody>
                    <a:bodyPr wrap="square"/>
                    <a:lstStyle/>
                    <a:p>
                      <a:pPr algn="l">
                        <a:defRPr sz="710">
                          <a:solidFill>
                            <a:srgbClr val="1E242B"/>
                          </a:solidFill>
                          <a:latin typeface="Meiryo UI"/>
                        </a:defRPr>
                      </a:pPr>
                      <a:r>
                        <a:t>出荷設定（FinalSetup）のネットワーク自動化＆作業動作AI動画解析</a:t>
                      </a:r>
                    </a:p>
                  </a:txBody>
                  <a:tcPr anchor="ctr" marL="45720" marR="45720" marT="18288" marB="18288">
                    <a:solidFill>
                      <a:srgbClr val="EAF7EE"/>
                    </a:solidFill>
                  </a:tcPr>
                </a:tc>
                <a:tc>
                  <a:txBody>
                    <a:bodyPr wrap="square"/>
                    <a:lstStyle/>
                    <a:p>
                      <a:pPr algn="l">
                        <a:defRPr sz="710">
                          <a:solidFill>
                            <a:srgbClr val="1E242B"/>
                          </a:solidFill>
                          <a:latin typeface="Meiryo UI"/>
                        </a:defRPr>
                      </a:pPr>
                      <a:r>
                        <a:t>作業者がUSB挿抜、バーコード読取、パネル操作、PC画面での手動クリック確認を実施（K8にて130秒/台）。</a:t>
                      </a:r>
                    </a:p>
                  </a:txBody>
                  <a:tcPr anchor="ctr" marL="45720" marR="45720" marT="18288" marB="18288">
                    <a:solidFill>
                      <a:srgbClr val="EAF7EE"/>
                    </a:solidFill>
                  </a:tcPr>
                </a:tc>
                <a:tc>
                  <a:txBody>
                    <a:bodyPr wrap="square"/>
                    <a:lstStyle/>
                    <a:p>
                      <a:pPr algn="l">
                        <a:defRPr sz="710">
                          <a:solidFill>
                            <a:srgbClr val="1E242B"/>
                          </a:solidFill>
                          <a:latin typeface="Meiryo UI"/>
                        </a:defRPr>
                      </a:pPr>
                      <a:r>
                        <a:t>Host PC／Mini PCから社内ネットワーク経由で出荷設定（FinalSetup）コマンドを自動送信（K8にて-50秒）。併せて作業者の動作をAI動画解析し待ち時間を特定。</a:t>
                      </a:r>
                    </a:p>
                  </a:txBody>
                  <a:tcPr anchor="ctr" marL="45720" marR="45720" marT="18288" marB="18288">
                    <a:solidFill>
                      <a:srgbClr val="EAF7EE"/>
                    </a:solidFill>
                  </a:tcPr>
                </a:tc>
                <a:tc>
                  <a:txBody>
                    <a:bodyPr wrap="square"/>
                    <a:lstStyle/>
                    <a:p>
                      <a:pPr algn="l">
                        <a:defRPr sz="710">
                          <a:solidFill>
                            <a:srgbClr val="1E242B"/>
                          </a:solidFill>
                          <a:latin typeface="Meiryo UI"/>
                        </a:defRPr>
                      </a:pPr>
                      <a:r>
                        <a:t>• A-4最終工程にて 50.00秒/台削減</a:t>
                      </a:r>
                      <a:br/>
                      <a:r>
                        <a:t>• 仕向設定ミスの防止（ポカヨケ）</a:t>
                      </a:r>
                    </a:p>
                  </a:txBody>
                  <a:tcPr anchor="ctr" marL="45720" marR="45720" marT="18288" marB="18288">
                    <a:solidFill>
                      <a:srgbClr val="EAF7EE"/>
                    </a:solidFill>
                  </a:tcPr>
                </a:tc>
                <a:tc>
                  <a:txBody>
                    <a:bodyPr wrap="square"/>
                    <a:lstStyle/>
                    <a:p>
                      <a:pPr algn="ctr">
                        <a:defRPr sz="710">
                          <a:solidFill>
                            <a:srgbClr val="1E242B"/>
                          </a:solidFill>
                          <a:latin typeface="Meiryo UI"/>
                        </a:defRPr>
                      </a:pPr>
                      <a:r>
                        <a:t>見積中</a:t>
                      </a:r>
                    </a:p>
                  </a:txBody>
                  <a:tcPr anchor="ctr" marL="45720" marR="45720" marT="18288" marB="18288">
                    <a:solidFill>
                      <a:srgbClr val="EAF7EE"/>
                    </a:solidFill>
                  </a:tcPr>
                </a:tc>
                <a:tc>
                  <a:txBody>
                    <a:bodyPr wrap="square"/>
                    <a:lstStyle/>
                    <a:p>
                      <a:pPr algn="l">
                        <a:defRPr sz="710">
                          <a:solidFill>
                            <a:srgbClr val="1E242B"/>
                          </a:solidFill>
                          <a:latin typeface="Meiryo UI"/>
                        </a:defRPr>
                      </a:pPr>
                      <a:r>
                        <a:t>Host PC / Mini PCへ統合中</a:t>
                      </a:r>
                    </a:p>
                  </a:txBody>
                  <a:tcPr anchor="ctr" marL="45720" marR="45720" marT="18288" marB="18288">
                    <a:solidFill>
                      <a:srgbClr val="EAF7EE"/>
                    </a:solidFill>
                  </a:tcPr>
                </a:tc>
              </a:tr>
            </a:tbl>
          </a:graphicData>
        </a:graphic>
      </p:graphicFrame>
      <p:sp>
        <p:nvSpPr>
          <p:cNvPr id="8" name="Rectangle 7"/>
          <p:cNvSpPr/>
          <p:nvPr/>
        </p:nvSpPr>
        <p:spPr>
          <a:xfrm>
            <a:off x="274320" y="5303520"/>
            <a:ext cx="11643055" cy="1188720"/>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5303520"/>
            <a:ext cx="11643055"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36576"/>
          <a:lstStyle/>
          <a:p>
            <a:pPr algn="ctr">
              <a:defRPr sz="980" b="1">
                <a:solidFill>
                  <a:srgbClr val="FFFFFF"/>
                </a:solidFill>
                <a:latin typeface="Meiryo UI"/>
              </a:defRPr>
            </a:pPr>
            <a:r>
              <a:t>「IRIS EXPのVN提案.xlsx」における見積済3案件の費用・効果集計（換算レート：26,000 VND/USD）</a:t>
            </a:r>
          </a:p>
        </p:txBody>
      </p:sp>
      <p:sp>
        <p:nvSpPr>
          <p:cNvPr id="10" name="TextBox 9"/>
          <p:cNvSpPr txBox="1"/>
          <p:nvPr/>
        </p:nvSpPr>
        <p:spPr>
          <a:xfrm>
            <a:off x="347472" y="5641848"/>
            <a:ext cx="11496751" cy="813816"/>
          </a:xfrm>
          <a:prstGeom prst="rect">
            <a:avLst/>
          </a:prstGeom>
          <a:noFill/>
        </p:spPr>
        <p:txBody>
          <a:bodyPr wrap="square" lIns="36576" rIns="36576" tIns="18288" bIns="18288">
            <a:spAutoFit/>
          </a:bodyPr>
          <a:lstStyle/>
          <a:p>
            <a:pPr>
              <a:spcAft>
                <a:spcPts val="250"/>
              </a:spcAft>
              <a:defRPr sz="760">
                <a:solidFill>
                  <a:srgbClr val="1E242B"/>
                </a:solidFill>
                <a:latin typeface="Meiryo UI"/>
              </a:defRPr>
            </a:pPr>
            <a:r>
              <a:t>• 見積済3案件の内訳：(1) 提案1［No.22 - 自動導通・耐圧検査］：101,690,000 VND／3,911.15 USD（BOM 25項目、説明シート：101.7百万VND／3,911.54 USD、纏め：4,000 USD）、30秒削減、年間効果29,600,000 VND（$1,138.46/年） | (2) 提案2［No.23 - ISU原稿セットロボット］：650,000,000 VND／25,000 USD（U411 45s＝44.4M/年＋SITC-2 35s＝34.53M/年＋Halftone 30s＝29.6M/年）、110秒削減、年間効果108,533,333 VND（$4,174.36/年） | (3) 提案3［No.24 - USB・U201ロボット］：104,000,000 VND／4,000 USD、30秒削減、年間効果29,600,000 VND（$1,138.46/年）。</a:t>
            </a:r>
          </a:p>
          <a:p>
            <a:pPr>
              <a:spcAft>
                <a:spcPts val="250"/>
              </a:spcAft>
              <a:defRPr sz="760">
                <a:solidFill>
                  <a:srgbClr val="1E242B"/>
                </a:solidFill>
                <a:latin typeface="Meiryo UI"/>
              </a:defRPr>
            </a:pPr>
            <a:r>
              <a:t>• 3案件合計（No.22＋No.23＋No.24）：投資金額＝855,690,000 VND（BOM計：32,911.15 USD）［説明シート計：855,700,000 VND／32,911.54 USD、纏めシート：858,000,000 VND／33,000 USD］、合計削減時間＝170秒/台、年間労務費削減＝167,733,333 VND/年（6,451.28 USD/年）。DR4／連携会方針によりNo.23・No.24をDP連続スキャン（No.25）およびHost PC（JP No.3, 6）へ切り替える場合は、No.22の101,690,000 VND（3,911.15 USD）のみを先行承認。</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91440"/>
            <a:ext cx="196596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第5.4章：VN提案詳細 (3)</a:t>
            </a:r>
          </a:p>
        </p:txBody>
      </p:sp>
      <p:sp>
        <p:nvSpPr>
          <p:cNvPr id="4" name="TextBox 3"/>
          <p:cNvSpPr txBox="1"/>
          <p:nvPr/>
        </p:nvSpPr>
        <p:spPr>
          <a:xfrm>
            <a:off x="2286000" y="54864"/>
            <a:ext cx="9052560" cy="457200"/>
          </a:xfrm>
          <a:prstGeom prst="rect">
            <a:avLst/>
          </a:prstGeom>
          <a:noFill/>
        </p:spPr>
        <p:txBody>
          <a:bodyPr wrap="square" lIns="18288" rIns="18288">
            <a:spAutoFit/>
          </a:bodyPr>
          <a:lstStyle/>
          <a:p>
            <a:pPr>
              <a:defRPr sz="1450" b="1">
                <a:solidFill>
                  <a:srgbClr val="FFFFFF"/>
                </a:solidFill>
                <a:latin typeface="Meiryo UI"/>
              </a:defRPr>
            </a:pPr>
            <a:r>
              <a:t>ベトナム9月追加提案9件（No.29 〜 No.37）および2026年10月実施済み項目</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8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lstStyle/>
          <a:p>
            <a:pPr algn="ctr">
              <a:defRPr sz="980" b="1">
                <a:solidFill>
                  <a:srgbClr val="1B365D"/>
                </a:solidFill>
                <a:latin typeface="Meiryo UI"/>
              </a:defRPr>
            </a:pPr>
            <a:r>
              <a:t>■ 追加9提案（No.29〜37）は回路・FW改善要望6件（工場設備費0円）と設備見積中3件で構成。2026年10月には工程表上の4作業ステップを廃止し、実績で4.32秒/台を削減。</a:t>
            </a:r>
          </a:p>
        </p:txBody>
      </p:sp>
      <p:graphicFrame>
        <p:nvGraphicFramePr>
          <p:cNvPr id="7" name="Table 6"/>
          <p:cNvGraphicFramePr>
            <a:graphicFrameLocks noGrp="1"/>
          </p:cNvGraphicFramePr>
          <p:nvPr/>
        </p:nvGraphicFramePr>
        <p:xfrm>
          <a:off x="274320" y="1243584"/>
          <a:ext cx="11643055" cy="5212080"/>
        </p:xfrm>
        <a:graphic>
          <a:graphicData uri="http://schemas.openxmlformats.org/drawingml/2006/table">
            <a:tbl>
              <a:tblPr firstRow="1" bandRow="1">
                <a:tableStyleId>{5C22544A-7EE6-4342-B048-85BDC9FD1C3A}</a:tableStyleId>
              </a:tblPr>
              <a:tblGrid>
                <a:gridCol w="868680"/>
                <a:gridCol w="2057400"/>
                <a:gridCol w="2057400"/>
                <a:gridCol w="2423160"/>
                <a:gridCol w="1417320"/>
                <a:gridCol w="1417320"/>
                <a:gridCol w="1401775"/>
              </a:tblGrid>
              <a:tr h="473825">
                <a:tc>
                  <a:txBody>
                    <a:bodyPr wrap="square"/>
                    <a:lstStyle/>
                    <a:p>
                      <a:pPr algn="ctr">
                        <a:defRPr sz="730" b="1">
                          <a:solidFill>
                            <a:srgbClr val="FFFFFF"/>
                          </a:solidFill>
                          <a:latin typeface="Meiryo UI"/>
                        </a:defRPr>
                      </a:pPr>
                      <a:r>
                        <a:t>提案番号</a:t>
                      </a:r>
                      <a:br/>
                      <a:r>
                        <a:t>(工程)</a:t>
                      </a:r>
                    </a:p>
                  </a:txBody>
                  <a:tcPr anchor="ctr" marL="36576" marR="36576" marT="9144" marB="9144">
                    <a:solidFill>
                      <a:srgbClr val="1B365D"/>
                    </a:solidFill>
                  </a:tcPr>
                </a:tc>
                <a:tc>
                  <a:txBody>
                    <a:bodyPr wrap="square"/>
                    <a:lstStyle/>
                    <a:p>
                      <a:pPr algn="ctr">
                        <a:defRPr sz="730" b="1">
                          <a:solidFill>
                            <a:srgbClr val="FFFFFF"/>
                          </a:solidFill>
                          <a:latin typeface="Meiryo UI"/>
                        </a:defRPr>
                      </a:pPr>
                      <a:r>
                        <a:t>追加改善提案名</a:t>
                      </a:r>
                    </a:p>
                  </a:txBody>
                  <a:tcPr anchor="ctr" marL="36576" marR="36576" marT="9144" marB="9144">
                    <a:solidFill>
                      <a:srgbClr val="1B365D"/>
                    </a:solidFill>
                  </a:tcPr>
                </a:tc>
                <a:tc>
                  <a:txBody>
                    <a:bodyPr wrap="square"/>
                    <a:lstStyle/>
                    <a:p>
                      <a:pPr algn="ctr">
                        <a:defRPr sz="730" b="1">
                          <a:solidFill>
                            <a:srgbClr val="FFFFFF"/>
                          </a:solidFill>
                          <a:latin typeface="Meiryo UI"/>
                        </a:defRPr>
                      </a:pPr>
                      <a:r>
                        <a:t>現状の作業内容</a:t>
                      </a:r>
                      <a:br/>
                      <a:r>
                        <a:t>(VN Iris2024)</a:t>
                      </a:r>
                    </a:p>
                  </a:txBody>
                  <a:tcPr anchor="ctr" marL="36576" marR="36576" marT="9144" marB="9144">
                    <a:solidFill>
                      <a:srgbClr val="1B365D"/>
                    </a:solidFill>
                  </a:tcPr>
                </a:tc>
                <a:tc>
                  <a:txBody>
                    <a:bodyPr wrap="square"/>
                    <a:lstStyle/>
                    <a:p>
                      <a:pPr algn="ctr">
                        <a:defRPr sz="730" b="1">
                          <a:solidFill>
                            <a:srgbClr val="FFFFFF"/>
                          </a:solidFill>
                          <a:latin typeface="Meiryo UI"/>
                        </a:defRPr>
                      </a:pPr>
                      <a:r>
                        <a:t>改善内容および技術連携方針</a:t>
                      </a:r>
                    </a:p>
                  </a:txBody>
                  <a:tcPr anchor="ctr" marL="36576" marR="36576" marT="9144" marB="9144">
                    <a:solidFill>
                      <a:srgbClr val="1B365D"/>
                    </a:solidFill>
                  </a:tcPr>
                </a:tc>
                <a:tc>
                  <a:txBody>
                    <a:bodyPr wrap="square"/>
                    <a:lstStyle/>
                    <a:p>
                      <a:pPr algn="ctr">
                        <a:defRPr sz="730" b="1">
                          <a:solidFill>
                            <a:srgbClr val="FFFFFF"/>
                          </a:solidFill>
                          <a:latin typeface="Meiryo UI"/>
                        </a:defRPr>
                      </a:pPr>
                      <a:r>
                        <a:t>期待効果</a:t>
                      </a:r>
                      <a:br/>
                      <a:r>
                        <a:t>(時間・人員・金額)</a:t>
                      </a:r>
                    </a:p>
                  </a:txBody>
                  <a:tcPr anchor="ctr" marL="36576" marR="36576" marT="9144" marB="9144">
                    <a:solidFill>
                      <a:srgbClr val="1B365D"/>
                    </a:solidFill>
                  </a:tcPr>
                </a:tc>
                <a:tc>
                  <a:txBody>
                    <a:bodyPr wrap="square"/>
                    <a:lstStyle/>
                    <a:p>
                      <a:pPr algn="ctr">
                        <a:defRPr sz="730" b="1">
                          <a:solidFill>
                            <a:srgbClr val="FFFFFF"/>
                          </a:solidFill>
                          <a:latin typeface="Meiryo UI"/>
                        </a:defRPr>
                      </a:pPr>
                      <a:r>
                        <a:t>設備投資金額</a:t>
                      </a:r>
                    </a:p>
                  </a:txBody>
                  <a:tcPr anchor="ctr" marL="36576" marR="36576" marT="9144" marB="9144">
                    <a:solidFill>
                      <a:srgbClr val="1B365D"/>
                    </a:solidFill>
                  </a:tcPr>
                </a:tc>
                <a:tc>
                  <a:txBody>
                    <a:bodyPr wrap="square"/>
                    <a:lstStyle/>
                    <a:p>
                      <a:pPr algn="ctr">
                        <a:defRPr sz="730" b="1">
                          <a:solidFill>
                            <a:srgbClr val="FFFFFF"/>
                          </a:solidFill>
                          <a:latin typeface="Meiryo UI"/>
                        </a:defRPr>
                      </a:pPr>
                      <a:r>
                        <a:t>展開ステータス</a:t>
                      </a:r>
                    </a:p>
                  </a:txBody>
                  <a:tcPr anchor="ctr" marL="36576" marR="36576" marT="9144" marB="9144">
                    <a:solidFill>
                      <a:srgbClr val="1B365D"/>
                    </a:solidFill>
                  </a:tcPr>
                </a:tc>
              </a:tr>
              <a:tr h="473825">
                <a:tc>
                  <a:txBody>
                    <a:bodyPr wrap="square"/>
                    <a:lstStyle/>
                    <a:p>
                      <a:pPr algn="ctr">
                        <a:defRPr sz="640" b="1">
                          <a:solidFill>
                            <a:srgbClr val="1E242B"/>
                          </a:solidFill>
                          <a:latin typeface="Meiryo UI"/>
                        </a:defRPr>
                      </a:pPr>
                      <a:r>
                        <a:t>No.29</a:t>
                      </a:r>
                      <a:br/>
                      <a:r>
                        <a:t>(K1 → A-1)</a:t>
                      </a:r>
                    </a:p>
                  </a:txBody>
                  <a:tcPr anchor="ctr" marL="36576" marR="36576" marT="9144" marB="9144">
                    <a:solidFill>
                      <a:srgbClr val="FFFFFF"/>
                    </a:solidFill>
                  </a:tcPr>
                </a:tc>
                <a:tc>
                  <a:txBody>
                    <a:bodyPr wrap="square"/>
                    <a:lstStyle/>
                    <a:p>
                      <a:pPr algn="l">
                        <a:defRPr sz="640">
                          <a:solidFill>
                            <a:srgbClr val="1E242B"/>
                          </a:solidFill>
                          <a:latin typeface="Meiryo UI"/>
                        </a:defRPr>
                      </a:pPr>
                      <a:r>
                        <a:t>A1：トナーコンテナ認識を自動検査化するFW／基板改善</a:t>
                      </a:r>
                    </a:p>
                  </a:txBody>
                  <a:tcPr anchor="ctr" marL="36576" marR="36576" marT="9144" marB="9144">
                    <a:solidFill>
                      <a:srgbClr val="FFFFFF"/>
                    </a:solidFill>
                  </a:tcPr>
                </a:tc>
                <a:tc>
                  <a:txBody>
                    <a:bodyPr wrap="square"/>
                    <a:lstStyle/>
                    <a:p>
                      <a:pPr algn="l">
                        <a:defRPr sz="640">
                          <a:solidFill>
                            <a:srgbClr val="1E242B"/>
                          </a:solidFill>
                          <a:latin typeface="Meiryo UI"/>
                        </a:defRPr>
                      </a:pPr>
                      <a:r>
                        <a:t>トナーセンサ確認のため、検査用トナーコンテナ治具を手作業で着脱（K1の55秒の一部）。</a:t>
                      </a:r>
                    </a:p>
                  </a:txBody>
                  <a:tcPr anchor="ctr" marL="36576" marR="36576" marT="9144" marB="9144">
                    <a:solidFill>
                      <a:srgbClr val="FFFFFF"/>
                    </a:solidFill>
                  </a:tcPr>
                </a:tc>
                <a:tc>
                  <a:txBody>
                    <a:bodyPr wrap="square"/>
                    <a:lstStyle/>
                    <a:p>
                      <a:pPr algn="l">
                        <a:defRPr sz="640" b="1">
                          <a:solidFill>
                            <a:srgbClr val="1E242B"/>
                          </a:solidFill>
                          <a:latin typeface="Meiryo UI"/>
                        </a:defRPr>
                      </a:pPr>
                      <a:r>
                        <a:t>治具を着脱せずにトナー接点状態を自己診断できる回路／ソフト改善をJP設計へ要望。</a:t>
                      </a:r>
                    </a:p>
                  </a:txBody>
                  <a:tcPr anchor="ctr" marL="36576" marR="36576" marT="9144" marB="9144">
                    <a:solidFill>
                      <a:srgbClr val="FFFFFF"/>
                    </a:solidFill>
                  </a:tcPr>
                </a:tc>
                <a:tc>
                  <a:txBody>
                    <a:bodyPr wrap="square"/>
                    <a:lstStyle/>
                    <a:p>
                      <a:pPr algn="l">
                        <a:defRPr sz="640">
                          <a:solidFill>
                            <a:srgbClr val="1E242B"/>
                          </a:solidFill>
                          <a:latin typeface="Meiryo UI"/>
                        </a:defRPr>
                      </a:pPr>
                      <a:r>
                        <a:t>A-1での重量治具着脱作業を削減（No.19の55秒に包含）</a:t>
                      </a:r>
                    </a:p>
                  </a:txBody>
                  <a:tcPr anchor="ctr" marL="36576" marR="36576" marT="9144" marB="9144">
                    <a:solidFill>
                      <a:srgbClr val="FFFFFF"/>
                    </a:solidFill>
                  </a:tcPr>
                </a:tc>
                <a:tc>
                  <a:txBody>
                    <a:bodyPr wrap="square"/>
                    <a:lstStyle/>
                    <a:p>
                      <a:pPr algn="ctr">
                        <a:defRPr sz="640" b="1">
                          <a:solidFill>
                            <a:srgbClr val="1E242B"/>
                          </a:solidFill>
                          <a:latin typeface="Meiryo UI"/>
                        </a:defRPr>
                      </a:pPr>
                      <a:r>
                        <a:t>工場設備費 0 VND</a:t>
                      </a:r>
                      <a:br/>
                      <a:r>
                        <a:t>(設計・FW改善)</a:t>
                      </a:r>
                    </a:p>
                  </a:txBody>
                  <a:tcPr anchor="ctr" marL="36576" marR="36576" marT="9144" marB="9144">
                    <a:solidFill>
                      <a:srgbClr val="FFFFFF"/>
                    </a:solidFill>
                  </a:tcPr>
                </a:tc>
                <a:tc>
                  <a:txBody>
                    <a:bodyPr wrap="square"/>
                    <a:lstStyle/>
                    <a:p>
                      <a:pPr algn="l">
                        <a:defRPr sz="640" b="1">
                          <a:solidFill>
                            <a:srgbClr val="1E242B"/>
                          </a:solidFill>
                          <a:latin typeface="Meiryo UI"/>
                        </a:defRPr>
                      </a:pPr>
                      <a:r>
                        <a:t>JP設計の確認待ち</a:t>
                      </a:r>
                    </a:p>
                  </a:txBody>
                  <a:tcPr anchor="ctr" marL="36576" marR="36576" marT="9144" marB="9144">
                    <a:solidFill>
                      <a:srgbClr val="FFFFFF"/>
                    </a:solidFill>
                  </a:tcPr>
                </a:tc>
              </a:tr>
              <a:tr h="473825">
                <a:tc>
                  <a:txBody>
                    <a:bodyPr wrap="square"/>
                    <a:lstStyle/>
                    <a:p>
                      <a:pPr algn="ctr">
                        <a:defRPr sz="640" b="1">
                          <a:solidFill>
                            <a:srgbClr val="1E242B"/>
                          </a:solidFill>
                          <a:latin typeface="Meiryo UI"/>
                        </a:defRPr>
                      </a:pPr>
                      <a:r>
                        <a:t>No.30</a:t>
                      </a:r>
                      <a:br/>
                      <a:r>
                        <a:t>(K1 → A-1)</a:t>
                      </a:r>
                    </a:p>
                  </a:txBody>
                  <a:tcPr anchor="ctr" marL="36576" marR="36576" marT="9144" marB="9144">
                    <a:solidFill>
                      <a:srgbClr val="EAF7EE"/>
                    </a:solidFill>
                  </a:tcPr>
                </a:tc>
                <a:tc>
                  <a:txBody>
                    <a:bodyPr wrap="square"/>
                    <a:lstStyle/>
                    <a:p>
                      <a:pPr algn="l">
                        <a:defRPr sz="640">
                          <a:solidFill>
                            <a:srgbClr val="1E242B"/>
                          </a:solidFill>
                          <a:latin typeface="Meiryo UI"/>
                        </a:defRPr>
                      </a:pPr>
                      <a:r>
                        <a:t>A1：廃トナーボトル（WTB / U155）を自動検査化するFW／基板改善</a:t>
                      </a:r>
                    </a:p>
                  </a:txBody>
                  <a:tcPr anchor="ctr" marL="36576" marR="36576" marT="9144" marB="9144">
                    <a:solidFill>
                      <a:srgbClr val="EAF7EE"/>
                    </a:solidFill>
                  </a:tcPr>
                </a:tc>
                <a:tc>
                  <a:txBody>
                    <a:bodyPr wrap="square"/>
                    <a:lstStyle/>
                    <a:p>
                      <a:pPr algn="l">
                        <a:defRPr sz="640" b="1">
                          <a:solidFill>
                            <a:srgbClr val="1E242B"/>
                          </a:solidFill>
                          <a:latin typeface="Meiryo UI"/>
                        </a:defRPr>
                      </a:pPr>
                      <a:r>
                        <a:t>U155閾値設定（60秒）＋WTB認識確認（10秒）＝K1にて計70秒（工程表上はU155 29.16秒＋WTB 6.20秒）。</a:t>
                      </a:r>
                    </a:p>
                  </a:txBody>
                  <a:tcPr anchor="ctr" marL="36576" marR="36576" marT="9144" marB="9144">
                    <a:solidFill>
                      <a:srgbClr val="EAF7EE"/>
                    </a:solidFill>
                  </a:tcPr>
                </a:tc>
                <a:tc>
                  <a:txBody>
                    <a:bodyPr wrap="square"/>
                    <a:lstStyle/>
                    <a:p>
                      <a:pPr algn="l">
                        <a:defRPr sz="640" b="1">
                          <a:solidFill>
                            <a:srgbClr val="B8292F"/>
                          </a:solidFill>
                          <a:latin typeface="Meiryo UI"/>
                        </a:defRPr>
                      </a:pPr>
                      <a:r>
                        <a:t>JP提案No.2と同期：Sub-Assyでの抵抗値測定＋本体Push Switch追加により、調整工程でのU155設定を廃止。</a:t>
                      </a:r>
                    </a:p>
                  </a:txBody>
                  <a:tcPr anchor="ctr" marL="36576" marR="36576" marT="9144" marB="9144">
                    <a:solidFill>
                      <a:srgbClr val="EAF7EE"/>
                    </a:solidFill>
                  </a:tcPr>
                </a:tc>
                <a:tc>
                  <a:txBody>
                    <a:bodyPr wrap="square"/>
                    <a:lstStyle/>
                    <a:p>
                      <a:pPr algn="l">
                        <a:defRPr sz="640" b="1">
                          <a:solidFill>
                            <a:srgbClr val="B8292F"/>
                          </a:solidFill>
                          <a:latin typeface="Meiryo UI"/>
                        </a:defRPr>
                      </a:pPr>
                      <a:r>
                        <a:t>• 29.16秒（工程表）／約60秒（K1）削減</a:t>
                      </a:r>
                      <a:br/>
                      <a:r>
                        <a:t>• 21作業ステップを廃止</a:t>
                      </a:r>
                    </a:p>
                  </a:txBody>
                  <a:tcPr anchor="ctr" marL="36576" marR="36576" marT="9144" marB="9144">
                    <a:solidFill>
                      <a:srgbClr val="EAF7EE"/>
                    </a:solidFill>
                  </a:tcPr>
                </a:tc>
                <a:tc>
                  <a:txBody>
                    <a:bodyPr wrap="square"/>
                    <a:lstStyle/>
                    <a:p>
                      <a:pPr algn="ctr">
                        <a:defRPr sz="640" b="1">
                          <a:solidFill>
                            <a:srgbClr val="1E242B"/>
                          </a:solidFill>
                          <a:latin typeface="Meiryo UI"/>
                        </a:defRPr>
                      </a:pPr>
                      <a:r>
                        <a:t>工場設備費 0 VND</a:t>
                      </a:r>
                      <a:br/>
                      <a:r>
                        <a:t>(設計にてPush SW追加済)</a:t>
                      </a:r>
                    </a:p>
                  </a:txBody>
                  <a:tcPr anchor="ctr" marL="36576" marR="36576" marT="9144" marB="9144">
                    <a:solidFill>
                      <a:srgbClr val="EAF7EE"/>
                    </a:solidFill>
                  </a:tcPr>
                </a:tc>
                <a:tc>
                  <a:txBody>
                    <a:bodyPr wrap="square"/>
                    <a:lstStyle/>
                    <a:p>
                      <a:pPr algn="l">
                        <a:defRPr sz="640" b="1">
                          <a:solidFill>
                            <a:srgbClr val="B8292F"/>
                          </a:solidFill>
                          <a:latin typeface="Meiryo UI"/>
                        </a:defRPr>
                      </a:pPr>
                      <a:r>
                        <a:t>U155廃止承認済</a:t>
                      </a:r>
                      <a:br/>
                      <a:r>
                        <a:t>(先行実施)</a:t>
                      </a:r>
                    </a:p>
                  </a:txBody>
                  <a:tcPr anchor="ctr" marL="36576" marR="36576" marT="9144" marB="9144">
                    <a:solidFill>
                      <a:srgbClr val="EAF7EE"/>
                    </a:solidFill>
                  </a:tcPr>
                </a:tc>
              </a:tr>
              <a:tr h="473825">
                <a:tc>
                  <a:txBody>
                    <a:bodyPr wrap="square"/>
                    <a:lstStyle/>
                    <a:p>
                      <a:pPr algn="ctr">
                        <a:defRPr sz="640" b="1">
                          <a:solidFill>
                            <a:srgbClr val="1E242B"/>
                          </a:solidFill>
                          <a:latin typeface="Meiryo UI"/>
                        </a:defRPr>
                      </a:pPr>
                      <a:r>
                        <a:t>No.31</a:t>
                      </a:r>
                      <a:br/>
                      <a:r>
                        <a:t>(K2 → A-2)</a:t>
                      </a:r>
                    </a:p>
                  </a:txBody>
                  <a:tcPr anchor="ctr" marL="36576" marR="36576" marT="9144" marB="9144">
                    <a:solidFill>
                      <a:srgbClr val="FFFFFF"/>
                    </a:solidFill>
                  </a:tcPr>
                </a:tc>
                <a:tc>
                  <a:txBody>
                    <a:bodyPr wrap="square"/>
                    <a:lstStyle/>
                    <a:p>
                      <a:pPr algn="l">
                        <a:defRPr sz="640">
                          <a:solidFill>
                            <a:srgbClr val="1E242B"/>
                          </a:solidFill>
                          <a:latin typeface="Meiryo UI"/>
                        </a:defRPr>
                      </a:pPr>
                      <a:r>
                        <a:t>A2：重量物治具（2ND-6005/6006）によるカセット開閉検査の自動化</a:t>
                      </a:r>
                    </a:p>
                  </a:txBody>
                  <a:tcPr anchor="ctr" marL="36576" marR="36576" marT="9144" marB="9144">
                    <a:solidFill>
                      <a:srgbClr val="FFFFFF"/>
                    </a:solidFill>
                  </a:tcPr>
                </a:tc>
                <a:tc>
                  <a:txBody>
                    <a:bodyPr wrap="square"/>
                    <a:lstStyle/>
                    <a:p>
                      <a:pPr algn="l">
                        <a:defRPr sz="640">
                          <a:solidFill>
                            <a:srgbClr val="1E242B"/>
                          </a:solidFill>
                          <a:latin typeface="Meiryo UI"/>
                        </a:defRPr>
                      </a:pPr>
                      <a:r>
                        <a:t>作業者が重量物治具をカセット1・2へ載せ替え、開閉バネ力を検査（20秒/台）。作業負荷が高い。</a:t>
                      </a:r>
                    </a:p>
                  </a:txBody>
                  <a:tcPr anchor="ctr" marL="36576" marR="36576" marT="9144" marB="9144">
                    <a:solidFill>
                      <a:srgbClr val="FFFFFF"/>
                    </a:solidFill>
                  </a:tcPr>
                </a:tc>
                <a:tc>
                  <a:txBody>
                    <a:bodyPr wrap="square"/>
                    <a:lstStyle/>
                    <a:p>
                      <a:pPr algn="l">
                        <a:defRPr sz="640" b="1">
                          <a:solidFill>
                            <a:srgbClr val="B8292F"/>
                          </a:solidFill>
                          <a:latin typeface="Meiryo UI"/>
                        </a:defRPr>
                      </a:pPr>
                      <a:r>
                        <a:t>負荷付きカセット自動開閉機構の製作、または調整ライン上での重量物積載検査の廃止を検討。</a:t>
                      </a:r>
                    </a:p>
                  </a:txBody>
                  <a:tcPr anchor="ctr" marL="36576" marR="36576" marT="9144" marB="9144">
                    <a:solidFill>
                      <a:srgbClr val="FFFFFF"/>
                    </a:solidFill>
                  </a:tcPr>
                </a:tc>
                <a:tc>
                  <a:txBody>
                    <a:bodyPr wrap="square"/>
                    <a:lstStyle/>
                    <a:p>
                      <a:pPr algn="l">
                        <a:defRPr sz="640">
                          <a:solidFill>
                            <a:srgbClr val="1E242B"/>
                          </a:solidFill>
                          <a:latin typeface="Meiryo UI"/>
                        </a:defRPr>
                      </a:pPr>
                      <a:r>
                        <a:t>• 20.00秒/台削減</a:t>
                      </a:r>
                      <a:br/>
                      <a:r>
                        <a:t>• 重量物持ち上げ作業の排除</a:t>
                      </a:r>
                    </a:p>
                  </a:txBody>
                  <a:tcPr anchor="ctr" marL="36576" marR="36576" marT="9144" marB="9144">
                    <a:solidFill>
                      <a:srgbClr val="FFFFFF"/>
                    </a:solidFill>
                  </a:tcPr>
                </a:tc>
                <a:tc>
                  <a:txBody>
                    <a:bodyPr wrap="square"/>
                    <a:lstStyle/>
                    <a:p>
                      <a:pPr algn="ctr">
                        <a:defRPr sz="640">
                          <a:solidFill>
                            <a:srgbClr val="1E242B"/>
                          </a:solidFill>
                          <a:latin typeface="Meiryo UI"/>
                        </a:defRPr>
                      </a:pPr>
                      <a:r>
                        <a:t>見積中</a:t>
                      </a:r>
                    </a:p>
                  </a:txBody>
                  <a:tcPr anchor="ctr" marL="36576" marR="36576" marT="9144" marB="9144">
                    <a:solidFill>
                      <a:srgbClr val="FFFFFF"/>
                    </a:solidFill>
                  </a:tcPr>
                </a:tc>
                <a:tc>
                  <a:txBody>
                    <a:bodyPr wrap="square"/>
                    <a:lstStyle/>
                    <a:p>
                      <a:pPr algn="l">
                        <a:defRPr sz="640">
                          <a:solidFill>
                            <a:srgbClr val="1E242B"/>
                          </a:solidFill>
                          <a:latin typeface="Meiryo UI"/>
                        </a:defRPr>
                      </a:pPr>
                      <a:r>
                        <a:t>見積・仕様確認待ち</a:t>
                      </a:r>
                    </a:p>
                  </a:txBody>
                  <a:tcPr anchor="ctr" marL="36576" marR="36576" marT="9144" marB="9144">
                    <a:solidFill>
                      <a:srgbClr val="FFFFFF"/>
                    </a:solidFill>
                  </a:tcPr>
                </a:tc>
              </a:tr>
              <a:tr h="473825">
                <a:tc>
                  <a:txBody>
                    <a:bodyPr wrap="square"/>
                    <a:lstStyle/>
                    <a:p>
                      <a:pPr algn="ctr">
                        <a:defRPr sz="640" b="1">
                          <a:solidFill>
                            <a:srgbClr val="1E242B"/>
                          </a:solidFill>
                          <a:latin typeface="Meiryo UI"/>
                        </a:defRPr>
                      </a:pPr>
                      <a:r>
                        <a:t>No.32</a:t>
                      </a:r>
                      <a:br/>
                      <a:r>
                        <a:t>(K2 → A-2)</a:t>
                      </a:r>
                    </a:p>
                  </a:txBody>
                  <a:tcPr anchor="ctr" marL="36576" marR="36576" marT="9144" marB="9144">
                    <a:solidFill>
                      <a:srgbClr val="F7F9FC"/>
                    </a:solidFill>
                  </a:tcPr>
                </a:tc>
                <a:tc>
                  <a:txBody>
                    <a:bodyPr wrap="square"/>
                    <a:lstStyle/>
                    <a:p>
                      <a:pPr algn="l">
                        <a:defRPr sz="640">
                          <a:solidFill>
                            <a:srgbClr val="1E242B"/>
                          </a:solidFill>
                          <a:latin typeface="Meiryo UI"/>
                        </a:defRPr>
                      </a:pPr>
                      <a:r>
                        <a:t>A2：ケーブル接続なしでオプション検査を行うFW／基板改善</a:t>
                      </a:r>
                    </a:p>
                  </a:txBody>
                  <a:tcPr anchor="ctr" marL="36576" marR="36576" marT="9144" marB="9144">
                    <a:solidFill>
                      <a:srgbClr val="F7F9FC"/>
                    </a:solidFill>
                  </a:tcPr>
                </a:tc>
                <a:tc>
                  <a:txBody>
                    <a:bodyPr wrap="square"/>
                    <a:lstStyle/>
                    <a:p>
                      <a:pPr algn="l">
                        <a:defRPr sz="640">
                          <a:solidFill>
                            <a:srgbClr val="1E242B"/>
                          </a:solidFill>
                          <a:latin typeface="Meiryo UI"/>
                        </a:defRPr>
                      </a:pPr>
                      <a:r>
                        <a:t>DP, DF, PF, IS/ZFの各オプションポートへ検査用治具ケーブルを手動接続（K2にて90秒/台）。</a:t>
                      </a:r>
                    </a:p>
                  </a:txBody>
                  <a:tcPr anchor="ctr" marL="36576" marR="36576" marT="9144" marB="9144">
                    <a:solidFill>
                      <a:srgbClr val="F7F9FC"/>
                    </a:solidFill>
                  </a:tcPr>
                </a:tc>
                <a:tc>
                  <a:txBody>
                    <a:bodyPr wrap="square"/>
                    <a:lstStyle/>
                    <a:p>
                      <a:pPr algn="l">
                        <a:defRPr sz="640" b="1">
                          <a:solidFill>
                            <a:srgbClr val="B8292F"/>
                          </a:solidFill>
                          <a:latin typeface="Meiryo UI"/>
                        </a:defRPr>
                      </a:pPr>
                      <a:r>
                        <a:t>基板上の自己診断回路追加（またはSub-Assy保証）によりオプションケーブル接続を廃止するようJP設計へ提案。</a:t>
                      </a:r>
                    </a:p>
                  </a:txBody>
                  <a:tcPr anchor="ctr" marL="36576" marR="36576" marT="9144" marB="9144">
                    <a:solidFill>
                      <a:srgbClr val="F7F9FC"/>
                    </a:solidFill>
                  </a:tcPr>
                </a:tc>
                <a:tc>
                  <a:txBody>
                    <a:bodyPr wrap="square"/>
                    <a:lstStyle/>
                    <a:p>
                      <a:pPr algn="l">
                        <a:defRPr sz="640">
                          <a:solidFill>
                            <a:srgbClr val="1E242B"/>
                          </a:solidFill>
                          <a:latin typeface="Meiryo UI"/>
                        </a:defRPr>
                      </a:pPr>
                      <a:r>
                        <a:t>45〜90秒/台削減（No.21マグネット治具と併用または代替）</a:t>
                      </a:r>
                    </a:p>
                  </a:txBody>
                  <a:tcPr anchor="ctr" marL="36576" marR="36576" marT="9144" marB="9144">
                    <a:solidFill>
                      <a:srgbClr val="F7F9FC"/>
                    </a:solidFill>
                  </a:tcPr>
                </a:tc>
                <a:tc>
                  <a:txBody>
                    <a:bodyPr wrap="square"/>
                    <a:lstStyle/>
                    <a:p>
                      <a:pPr algn="ctr">
                        <a:defRPr sz="640" b="1">
                          <a:solidFill>
                            <a:srgbClr val="1E242B"/>
                          </a:solidFill>
                          <a:latin typeface="Meiryo UI"/>
                        </a:defRPr>
                      </a:pPr>
                      <a:r>
                        <a:t>工場設備費 0 VND</a:t>
                      </a:r>
                      <a:br/>
                      <a:r>
                        <a:t>(設計改善時／またはNo.21準拠)</a:t>
                      </a:r>
                    </a:p>
                  </a:txBody>
                  <a:tcPr anchor="ctr" marL="36576" marR="36576" marT="9144" marB="9144">
                    <a:solidFill>
                      <a:srgbClr val="F7F9FC"/>
                    </a:solidFill>
                  </a:tcPr>
                </a:tc>
                <a:tc>
                  <a:txBody>
                    <a:bodyPr wrap="square"/>
                    <a:lstStyle/>
                    <a:p>
                      <a:pPr algn="l">
                        <a:defRPr sz="640" b="1">
                          <a:solidFill>
                            <a:srgbClr val="1E242B"/>
                          </a:solidFill>
                          <a:latin typeface="Meiryo UI"/>
                        </a:defRPr>
                      </a:pPr>
                      <a:r>
                        <a:t>JP設計の確認待ち</a:t>
                      </a:r>
                    </a:p>
                  </a:txBody>
                  <a:tcPr anchor="ctr" marL="36576" marR="36576" marT="9144" marB="9144">
                    <a:solidFill>
                      <a:srgbClr val="F7F9FC"/>
                    </a:solidFill>
                  </a:tcPr>
                </a:tc>
              </a:tr>
              <a:tr h="473825">
                <a:tc>
                  <a:txBody>
                    <a:bodyPr wrap="square"/>
                    <a:lstStyle/>
                    <a:p>
                      <a:pPr algn="ctr">
                        <a:defRPr sz="640" b="1">
                          <a:solidFill>
                            <a:srgbClr val="1E242B"/>
                          </a:solidFill>
                          <a:latin typeface="Meiryo UI"/>
                        </a:defRPr>
                      </a:pPr>
                      <a:r>
                        <a:t>No.33</a:t>
                      </a:r>
                      <a:br/>
                      <a:r>
                        <a:t>(K3 → A-3)</a:t>
                      </a:r>
                    </a:p>
                  </a:txBody>
                  <a:tcPr anchor="ctr" marL="36576" marR="36576" marT="9144" marB="9144">
                    <a:solidFill>
                      <a:srgbClr val="FFFFFF"/>
                    </a:solidFill>
                  </a:tcPr>
                </a:tc>
                <a:tc>
                  <a:txBody>
                    <a:bodyPr wrap="square"/>
                    <a:lstStyle/>
                    <a:p>
                      <a:pPr algn="l">
                        <a:defRPr sz="640">
                          <a:solidFill>
                            <a:srgbClr val="1E242B"/>
                          </a:solidFill>
                          <a:latin typeface="Meiryo UI"/>
                        </a:defRPr>
                      </a:pPr>
                      <a:r>
                        <a:t>A3：外装カバー6点（Cover / Plate Option）取付の自動化または工程移管</a:t>
                      </a:r>
                    </a:p>
                  </a:txBody>
                  <a:tcPr anchor="ctr" marL="36576" marR="36576" marT="9144" marB="9144">
                    <a:solidFill>
                      <a:srgbClr val="FFFFFF"/>
                    </a:solidFill>
                  </a:tcPr>
                </a:tc>
                <a:tc>
                  <a:txBody>
                    <a:bodyPr wrap="square"/>
                    <a:lstStyle/>
                    <a:p>
                      <a:pPr algn="l">
                        <a:defRPr sz="640">
                          <a:solidFill>
                            <a:srgbClr val="1E242B"/>
                          </a:solidFill>
                          <a:latin typeface="Meiryo UI"/>
                        </a:defRPr>
                      </a:pPr>
                      <a:r>
                        <a:t>K3の作業者が外装カバー6点（TRAY INNER, COVER DP, REAR LOW/UP, FILTER, PLATE OPTION）をビス止め取付（90秒、工程表上48.32秒）。</a:t>
                      </a:r>
                    </a:p>
                  </a:txBody>
                  <a:tcPr anchor="ctr" marL="36576" marR="36576" marT="9144" marB="9144">
                    <a:solidFill>
                      <a:srgbClr val="FFFFFF"/>
                    </a:solidFill>
                  </a:tcPr>
                </a:tc>
                <a:tc>
                  <a:txBody>
                    <a:bodyPr wrap="square"/>
                    <a:lstStyle/>
                    <a:p>
                      <a:pPr algn="l">
                        <a:defRPr sz="640">
                          <a:solidFill>
                            <a:srgbClr val="1E242B"/>
                          </a:solidFill>
                          <a:latin typeface="Meiryo UI"/>
                        </a:defRPr>
                      </a:pPr>
                      <a:r>
                        <a:t>案1：カバー取付作業を本体組立工程へ移管。案2：自動取付・ビス締め設備を導入。</a:t>
                      </a:r>
                    </a:p>
                  </a:txBody>
                  <a:tcPr anchor="ctr" marL="36576" marR="36576" marT="9144" marB="9144">
                    <a:solidFill>
                      <a:srgbClr val="FFFFFF"/>
                    </a:solidFill>
                  </a:tcPr>
                </a:tc>
                <a:tc>
                  <a:txBody>
                    <a:bodyPr wrap="square"/>
                    <a:lstStyle/>
                    <a:p>
                      <a:pPr algn="l">
                        <a:defRPr sz="640">
                          <a:solidFill>
                            <a:srgbClr val="1E242B"/>
                          </a:solidFill>
                          <a:latin typeface="Meiryo UI"/>
                        </a:defRPr>
                      </a:pPr>
                      <a:r>
                        <a:t>• A-3での停止時間 48.32〜90.00秒削減</a:t>
                      </a:r>
                      <a:br/>
                      <a:r>
                        <a:t>• 自動検査フローの分断を防止</a:t>
                      </a:r>
                    </a:p>
                  </a:txBody>
                  <a:tcPr anchor="ctr" marL="36576" marR="36576" marT="9144" marB="9144">
                    <a:solidFill>
                      <a:srgbClr val="FFFFFF"/>
                    </a:solidFill>
                  </a:tcPr>
                </a:tc>
                <a:tc>
                  <a:txBody>
                    <a:bodyPr wrap="square"/>
                    <a:lstStyle/>
                    <a:p>
                      <a:pPr algn="ctr">
                        <a:defRPr sz="640">
                          <a:solidFill>
                            <a:srgbClr val="1E242B"/>
                          </a:solidFill>
                          <a:latin typeface="Meiryo UI"/>
                        </a:defRPr>
                      </a:pPr>
                      <a:r>
                        <a:t>見積中（設備導入時）</a:t>
                      </a:r>
                      <a:br/>
                      <a:r>
                        <a:t>／組立移管時は0円</a:t>
                      </a:r>
                    </a:p>
                  </a:txBody>
                  <a:tcPr anchor="ctr" marL="36576" marR="36576" marT="9144" marB="9144">
                    <a:solidFill>
                      <a:srgbClr val="FFFFFF"/>
                    </a:solidFill>
                  </a:tcPr>
                </a:tc>
                <a:tc>
                  <a:txBody>
                    <a:bodyPr wrap="square"/>
                    <a:lstStyle/>
                    <a:p>
                      <a:pPr algn="l">
                        <a:defRPr sz="640">
                          <a:solidFill>
                            <a:srgbClr val="1E242B"/>
                          </a:solidFill>
                          <a:latin typeface="Meiryo UI"/>
                        </a:defRPr>
                      </a:pPr>
                      <a:r>
                        <a:t>工程DRにて協議中</a:t>
                      </a:r>
                    </a:p>
                  </a:txBody>
                  <a:tcPr anchor="ctr" marL="36576" marR="36576" marT="9144" marB="9144">
                    <a:solidFill>
                      <a:srgbClr val="FFFFFF"/>
                    </a:solidFill>
                  </a:tcPr>
                </a:tc>
              </a:tr>
              <a:tr h="473825">
                <a:tc>
                  <a:txBody>
                    <a:bodyPr wrap="square"/>
                    <a:lstStyle/>
                    <a:p>
                      <a:pPr algn="ctr">
                        <a:defRPr sz="640" b="1">
                          <a:solidFill>
                            <a:srgbClr val="1E242B"/>
                          </a:solidFill>
                          <a:latin typeface="Meiryo UI"/>
                        </a:defRPr>
                      </a:pPr>
                      <a:r>
                        <a:t>No.34</a:t>
                      </a:r>
                      <a:br/>
                      <a:r>
                        <a:t>(K3 → A-3)</a:t>
                      </a:r>
                    </a:p>
                  </a:txBody>
                  <a:tcPr anchor="ctr" marL="36576" marR="36576" marT="9144" marB="9144">
                    <a:solidFill>
                      <a:srgbClr val="EAF7EE"/>
                    </a:solidFill>
                  </a:tcPr>
                </a:tc>
                <a:tc>
                  <a:txBody>
                    <a:bodyPr wrap="square"/>
                    <a:lstStyle/>
                    <a:p>
                      <a:pPr algn="l">
                        <a:defRPr sz="640">
                          <a:solidFill>
                            <a:srgbClr val="1E242B"/>
                          </a:solidFill>
                          <a:latin typeface="Meiryo UI"/>
                        </a:defRPr>
                      </a:pPr>
                      <a:r>
                        <a:t>A3：カセット1/2用紙サイズ・残量検査のFW／基板自動検査化</a:t>
                      </a:r>
                    </a:p>
                  </a:txBody>
                  <a:tcPr anchor="ctr" marL="36576" marR="36576" marT="9144" marB="9144">
                    <a:solidFill>
                      <a:srgbClr val="EAF7EE"/>
                    </a:solidFill>
                  </a:tcPr>
                </a:tc>
                <a:tc>
                  <a:txBody>
                    <a:bodyPr wrap="square"/>
                    <a:lstStyle/>
                    <a:p>
                      <a:pPr algn="l">
                        <a:defRPr sz="640">
                          <a:solidFill>
                            <a:srgbClr val="1E242B"/>
                          </a:solidFill>
                          <a:latin typeface="Meiryo UI"/>
                        </a:defRPr>
                      </a:pPr>
                      <a:r>
                        <a:t>カセット引出、A5R/A6R/Folio/B4R/A3ガイド切替、残量70%/30%治具セットを複数回実施（K3にて65秒、工程表上66.68秒）。</a:t>
                      </a:r>
                    </a:p>
                  </a:txBody>
                  <a:tcPr anchor="ctr" marL="36576" marR="36576" marT="9144" marB="9144">
                    <a:solidFill>
                      <a:srgbClr val="EAF7EE"/>
                    </a:solidFill>
                  </a:tcPr>
                </a:tc>
                <a:tc>
                  <a:txBody>
                    <a:bodyPr wrap="square"/>
                    <a:lstStyle/>
                    <a:p>
                      <a:pPr algn="l">
                        <a:defRPr sz="640" b="1">
                          <a:solidFill>
                            <a:srgbClr val="B8292F"/>
                          </a:solidFill>
                          <a:latin typeface="Meiryo UI"/>
                        </a:defRPr>
                      </a:pPr>
                      <a:r>
                        <a:t>中間サイズ切替・残量治具35ステップを廃止し、標準紙（A4R/A3）1回セットとセンサ自動読取へ変更。</a:t>
                      </a:r>
                    </a:p>
                  </a:txBody>
                  <a:tcPr anchor="ctr" marL="36576" marR="36576" marT="9144" marB="9144">
                    <a:solidFill>
                      <a:srgbClr val="EAF7EE"/>
                    </a:solidFill>
                  </a:tcPr>
                </a:tc>
                <a:tc>
                  <a:txBody>
                    <a:bodyPr wrap="square"/>
                    <a:lstStyle/>
                    <a:p>
                      <a:pPr algn="l">
                        <a:defRPr sz="640" b="1">
                          <a:solidFill>
                            <a:srgbClr val="B8292F"/>
                          </a:solidFill>
                          <a:latin typeface="Meiryo UI"/>
                        </a:defRPr>
                      </a:pPr>
                      <a:r>
                        <a:t>• 66.68秒/台（工程表）／65秒（K3）削減</a:t>
                      </a:r>
                      <a:br/>
                      <a:r>
                        <a:t>• 35作業ステップを廃止</a:t>
                      </a:r>
                    </a:p>
                  </a:txBody>
                  <a:tcPr anchor="ctr" marL="36576" marR="36576" marT="9144" marB="9144">
                    <a:solidFill>
                      <a:srgbClr val="EAF7EE"/>
                    </a:solidFill>
                  </a:tcPr>
                </a:tc>
                <a:tc>
                  <a:txBody>
                    <a:bodyPr wrap="square"/>
                    <a:lstStyle/>
                    <a:p>
                      <a:pPr algn="ctr">
                        <a:defRPr sz="640">
                          <a:solidFill>
                            <a:srgbClr val="1E242B"/>
                          </a:solidFill>
                          <a:latin typeface="Meiryo UI"/>
                        </a:defRPr>
                      </a:pPr>
                      <a:r>
                        <a:t>工場設備費 0 VND</a:t>
                      </a:r>
                      <a:br/>
                      <a:r>
                        <a:t>(工程・ソフト改善)</a:t>
                      </a:r>
                    </a:p>
                  </a:txBody>
                  <a:tcPr anchor="ctr" marL="36576" marR="36576" marT="9144" marB="9144">
                    <a:solidFill>
                      <a:srgbClr val="EAF7EE"/>
                    </a:solidFill>
                  </a:tcPr>
                </a:tc>
                <a:tc>
                  <a:txBody>
                    <a:bodyPr wrap="square"/>
                    <a:lstStyle/>
                    <a:p>
                      <a:pPr algn="l">
                        <a:defRPr sz="640">
                          <a:solidFill>
                            <a:srgbClr val="1E242B"/>
                          </a:solidFill>
                          <a:latin typeface="Meiryo UI"/>
                        </a:defRPr>
                      </a:pPr>
                      <a:r>
                        <a:t>工程表にて削除マーク（削）反映済</a:t>
                      </a:r>
                    </a:p>
                  </a:txBody>
                  <a:tcPr anchor="ctr" marL="36576" marR="36576" marT="9144" marB="9144">
                    <a:solidFill>
                      <a:srgbClr val="EAF7EE"/>
                    </a:solidFill>
                  </a:tcPr>
                </a:tc>
              </a:tr>
              <a:tr h="473825">
                <a:tc>
                  <a:txBody>
                    <a:bodyPr wrap="square"/>
                    <a:lstStyle/>
                    <a:p>
                      <a:pPr algn="ctr">
                        <a:defRPr sz="640" b="1">
                          <a:solidFill>
                            <a:srgbClr val="1E242B"/>
                          </a:solidFill>
                          <a:latin typeface="Meiryo UI"/>
                        </a:defRPr>
                      </a:pPr>
                      <a:r>
                        <a:t>No.35</a:t>
                      </a:r>
                      <a:br/>
                      <a:r>
                        <a:t>(K3 → A-3)</a:t>
                      </a:r>
                    </a:p>
                  </a:txBody>
                  <a:tcPr anchor="ctr" marL="36576" marR="36576" marT="9144" marB="9144">
                    <a:solidFill>
                      <a:srgbClr val="FFFFFF"/>
                    </a:solidFill>
                  </a:tcPr>
                </a:tc>
                <a:tc>
                  <a:txBody>
                    <a:bodyPr wrap="square"/>
                    <a:lstStyle/>
                    <a:p>
                      <a:pPr algn="l">
                        <a:defRPr sz="640">
                          <a:solidFill>
                            <a:srgbClr val="1E242B"/>
                          </a:solidFill>
                          <a:latin typeface="Meiryo UI"/>
                        </a:defRPr>
                      </a:pPr>
                      <a:r>
                        <a:t>A3：仕向（センチ／インチ）に応じたカセット1/2への用紙自動セット装置</a:t>
                      </a:r>
                    </a:p>
                  </a:txBody>
                  <a:tcPr anchor="ctr" marL="36576" marR="36576" marT="9144" marB="9144">
                    <a:solidFill>
                      <a:srgbClr val="FFFFFF"/>
                    </a:solidFill>
                  </a:tcPr>
                </a:tc>
                <a:tc>
                  <a:txBody>
                    <a:bodyPr wrap="square"/>
                    <a:lstStyle/>
                    <a:p>
                      <a:pPr algn="l">
                        <a:defRPr sz="640">
                          <a:solidFill>
                            <a:srgbClr val="1E242B"/>
                          </a:solidFill>
                          <a:latin typeface="Meiryo UI"/>
                        </a:defRPr>
                      </a:pPr>
                      <a:r>
                        <a:t>作業者が仕向（センチ／インチ）ごとに用紙を取り出し、カセット1/2へ手作業でセット（K3にて15秒/台）。</a:t>
                      </a:r>
                    </a:p>
                  </a:txBody>
                  <a:tcPr anchor="ctr" marL="36576" marR="36576" marT="9144" marB="9144">
                    <a:solidFill>
                      <a:srgbClr val="FFFFFF"/>
                    </a:solidFill>
                  </a:tcPr>
                </a:tc>
                <a:tc>
                  <a:txBody>
                    <a:bodyPr wrap="square"/>
                    <a:lstStyle/>
                    <a:p>
                      <a:pPr algn="l">
                        <a:defRPr sz="640">
                          <a:solidFill>
                            <a:srgbClr val="1E242B"/>
                          </a:solidFill>
                          <a:latin typeface="Meiryo UI"/>
                        </a:defRPr>
                      </a:pPr>
                      <a:r>
                        <a:t>カセットへの用紙自動供給機構の検討、またはライン検査用紙サイズの共通化を推進。</a:t>
                      </a:r>
                    </a:p>
                  </a:txBody>
                  <a:tcPr anchor="ctr" marL="36576" marR="36576" marT="9144" marB="9144">
                    <a:solidFill>
                      <a:srgbClr val="FFFFFF"/>
                    </a:solidFill>
                  </a:tcPr>
                </a:tc>
                <a:tc>
                  <a:txBody>
                    <a:bodyPr wrap="square"/>
                    <a:lstStyle/>
                    <a:p>
                      <a:pPr algn="l">
                        <a:defRPr sz="640">
                          <a:solidFill>
                            <a:srgbClr val="1E242B"/>
                          </a:solidFill>
                          <a:latin typeface="Meiryo UI"/>
                        </a:defRPr>
                      </a:pPr>
                      <a:r>
                        <a:t>• 15.00秒/台削減</a:t>
                      </a:r>
                      <a:br/>
                      <a:r>
                        <a:t>• センチ／インチ用紙のセットミス防止</a:t>
                      </a:r>
                    </a:p>
                  </a:txBody>
                  <a:tcPr anchor="ctr" marL="36576" marR="36576" marT="9144" marB="9144">
                    <a:solidFill>
                      <a:srgbClr val="FFFFFF"/>
                    </a:solidFill>
                  </a:tcPr>
                </a:tc>
                <a:tc>
                  <a:txBody>
                    <a:bodyPr wrap="square"/>
                    <a:lstStyle/>
                    <a:p>
                      <a:pPr algn="ctr">
                        <a:defRPr sz="640">
                          <a:solidFill>
                            <a:srgbClr val="1E242B"/>
                          </a:solidFill>
                          <a:latin typeface="Meiryo UI"/>
                        </a:defRPr>
                      </a:pPr>
                      <a:r>
                        <a:t>見積中</a:t>
                      </a:r>
                    </a:p>
                  </a:txBody>
                  <a:tcPr anchor="ctr" marL="36576" marR="36576" marT="9144" marB="9144">
                    <a:solidFill>
                      <a:srgbClr val="FFFFFF"/>
                    </a:solidFill>
                  </a:tcPr>
                </a:tc>
                <a:tc>
                  <a:txBody>
                    <a:bodyPr wrap="square"/>
                    <a:lstStyle/>
                    <a:p>
                      <a:pPr algn="l">
                        <a:defRPr sz="640">
                          <a:solidFill>
                            <a:srgbClr val="1E242B"/>
                          </a:solidFill>
                          <a:latin typeface="Meiryo UI"/>
                        </a:defRPr>
                      </a:pPr>
                      <a:r>
                        <a:t>見積・仕様確認待ち</a:t>
                      </a:r>
                    </a:p>
                  </a:txBody>
                  <a:tcPr anchor="ctr" marL="36576" marR="36576" marT="9144" marB="9144">
                    <a:solidFill>
                      <a:srgbClr val="FFFFFF"/>
                    </a:solidFill>
                  </a:tcPr>
                </a:tc>
              </a:tr>
              <a:tr h="473825">
                <a:tc>
                  <a:txBody>
                    <a:bodyPr wrap="square"/>
                    <a:lstStyle/>
                    <a:p>
                      <a:pPr algn="ctr">
                        <a:defRPr sz="640" b="1">
                          <a:solidFill>
                            <a:srgbClr val="1E242B"/>
                          </a:solidFill>
                          <a:latin typeface="Meiryo UI"/>
                        </a:defRPr>
                      </a:pPr>
                      <a:r>
                        <a:t>No.36</a:t>
                      </a:r>
                      <a:br/>
                      <a:r>
                        <a:t>(K4 → A-2)</a:t>
                      </a:r>
                    </a:p>
                  </a:txBody>
                  <a:tcPr anchor="ctr" marL="36576" marR="36576" marT="9144" marB="9144">
                    <a:solidFill>
                      <a:srgbClr val="EAF7EE"/>
                    </a:solidFill>
                  </a:tcPr>
                </a:tc>
                <a:tc>
                  <a:txBody>
                    <a:bodyPr wrap="square"/>
                    <a:lstStyle/>
                    <a:p>
                      <a:pPr algn="l">
                        <a:defRPr sz="640">
                          <a:solidFill>
                            <a:srgbClr val="1E242B"/>
                          </a:solidFill>
                          <a:latin typeface="Meiryo UI"/>
                        </a:defRPr>
                      </a:pPr>
                      <a:r>
                        <a:t>A4：右カバー（COVER RIGHT）開閉検査のFW／基板自動検査化</a:t>
                      </a:r>
                    </a:p>
                  </a:txBody>
                  <a:tcPr anchor="ctr" marL="36576" marR="36576" marT="9144" marB="9144">
                    <a:solidFill>
                      <a:srgbClr val="EAF7EE"/>
                    </a:solidFill>
                  </a:tcPr>
                </a:tc>
                <a:tc>
                  <a:txBody>
                    <a:bodyPr wrap="square"/>
                    <a:lstStyle/>
                    <a:p>
                      <a:pPr algn="l">
                        <a:defRPr sz="640">
                          <a:solidFill>
                            <a:srgbClr val="1E242B"/>
                          </a:solidFill>
                          <a:latin typeface="Meiryo UI"/>
                        </a:defRPr>
                      </a:pPr>
                      <a:r>
                        <a:t>作業者が電源ON後、右カバー（COVER RIGHT）を開閉してインターロックスイッチを確認（K4にて25秒/台）。</a:t>
                      </a:r>
                    </a:p>
                  </a:txBody>
                  <a:tcPr anchor="ctr" marL="36576" marR="36576" marT="9144" marB="9144">
                    <a:solidFill>
                      <a:srgbClr val="EAF7EE"/>
                    </a:solidFill>
                  </a:tcPr>
                </a:tc>
                <a:tc>
                  <a:txBody>
                    <a:bodyPr wrap="square"/>
                    <a:lstStyle/>
                    <a:p>
                      <a:pPr algn="l">
                        <a:defRPr sz="640" b="1">
                          <a:solidFill>
                            <a:srgbClr val="B8292F"/>
                          </a:solidFill>
                          <a:latin typeface="Meiryo UI"/>
                        </a:defRPr>
                      </a:pPr>
                      <a:r>
                        <a:t>セミファイナル自動シーケンス内でドアスイッチ信号を自動確認（JP提案No.4のカバー検査廃止 -8.88秒と同期）。</a:t>
                      </a:r>
                    </a:p>
                  </a:txBody>
                  <a:tcPr anchor="ctr" marL="36576" marR="36576" marT="9144" marB="9144">
                    <a:solidFill>
                      <a:srgbClr val="EAF7EE"/>
                    </a:solidFill>
                  </a:tcPr>
                </a:tc>
                <a:tc>
                  <a:txBody>
                    <a:bodyPr wrap="square"/>
                    <a:lstStyle/>
                    <a:p>
                      <a:pPr algn="l">
                        <a:defRPr sz="640" b="1">
                          <a:solidFill>
                            <a:srgbClr val="B8292F"/>
                          </a:solidFill>
                          <a:latin typeface="Meiryo UI"/>
                        </a:defRPr>
                      </a:pPr>
                      <a:r>
                        <a:t>• 8.88秒（工程表）〜25.00秒（K4）削減</a:t>
                      </a:r>
                      <a:br/>
                      <a:r>
                        <a:t>• 手動開閉ステップを廃止</a:t>
                      </a:r>
                    </a:p>
                  </a:txBody>
                  <a:tcPr anchor="ctr" marL="36576" marR="36576" marT="9144" marB="9144">
                    <a:solidFill>
                      <a:srgbClr val="EAF7EE"/>
                    </a:solidFill>
                  </a:tcPr>
                </a:tc>
                <a:tc>
                  <a:txBody>
                    <a:bodyPr wrap="square"/>
                    <a:lstStyle/>
                    <a:p>
                      <a:pPr algn="ctr">
                        <a:defRPr sz="640">
                          <a:solidFill>
                            <a:srgbClr val="1E242B"/>
                          </a:solidFill>
                          <a:latin typeface="Meiryo UI"/>
                        </a:defRPr>
                      </a:pPr>
                      <a:r>
                        <a:t>工場設備費 0 VND</a:t>
                      </a:r>
                      <a:br/>
                      <a:r>
                        <a:t>(JP No.4と同期)</a:t>
                      </a:r>
                    </a:p>
                  </a:txBody>
                  <a:tcPr anchor="ctr" marL="36576" marR="36576" marT="9144" marB="9144">
                    <a:solidFill>
                      <a:srgbClr val="EAF7EE"/>
                    </a:solidFill>
                  </a:tcPr>
                </a:tc>
                <a:tc>
                  <a:txBody>
                    <a:bodyPr wrap="square"/>
                    <a:lstStyle/>
                    <a:p>
                      <a:pPr algn="l">
                        <a:defRPr sz="640">
                          <a:solidFill>
                            <a:srgbClr val="1E242B"/>
                          </a:solidFill>
                          <a:latin typeface="Meiryo UI"/>
                        </a:defRPr>
                      </a:pPr>
                      <a:r>
                        <a:t>JP No.4と合わせ先行実施</a:t>
                      </a:r>
                    </a:p>
                  </a:txBody>
                  <a:tcPr anchor="ctr" marL="36576" marR="36576" marT="9144" marB="9144">
                    <a:solidFill>
                      <a:srgbClr val="EAF7EE"/>
                    </a:solidFill>
                  </a:tcPr>
                </a:tc>
              </a:tr>
              <a:tr h="473825">
                <a:tc>
                  <a:txBody>
                    <a:bodyPr wrap="square"/>
                    <a:lstStyle/>
                    <a:p>
                      <a:pPr algn="ctr">
                        <a:defRPr sz="640" b="1">
                          <a:solidFill>
                            <a:srgbClr val="1E242B"/>
                          </a:solidFill>
                          <a:latin typeface="Meiryo UI"/>
                        </a:defRPr>
                      </a:pPr>
                      <a:r>
                        <a:t>No.37</a:t>
                      </a:r>
                      <a:br/>
                      <a:r>
                        <a:t>(K4 → A-4)</a:t>
                      </a:r>
                    </a:p>
                  </a:txBody>
                  <a:tcPr anchor="ctr" marL="36576" marR="36576" marT="9144" marB="9144">
                    <a:solidFill>
                      <a:srgbClr val="FFFFFF"/>
                    </a:solidFill>
                  </a:tcPr>
                </a:tc>
                <a:tc>
                  <a:txBody>
                    <a:bodyPr wrap="square"/>
                    <a:lstStyle/>
                    <a:p>
                      <a:pPr algn="l">
                        <a:defRPr sz="640" b="1">
                          <a:solidFill>
                            <a:srgbClr val="B8292F"/>
                          </a:solidFill>
                          <a:latin typeface="Meiryo UI"/>
                        </a:defRPr>
                      </a:pPr>
                      <a:r>
                        <a:t>A4：部品・設計改善による転写ベルト寄り測定の廃止</a:t>
                      </a:r>
                    </a:p>
                  </a:txBody>
                  <a:tcPr anchor="ctr" marL="36576" marR="36576" marT="9144" marB="9144">
                    <a:solidFill>
                      <a:srgbClr val="FFFFFF"/>
                    </a:solidFill>
                  </a:tcPr>
                </a:tc>
                <a:tc>
                  <a:txBody>
                    <a:bodyPr wrap="square"/>
                    <a:lstStyle/>
                    <a:p>
                      <a:pPr algn="l">
                        <a:defRPr sz="640">
                          <a:solidFill>
                            <a:srgbClr val="1E242B"/>
                          </a:solidFill>
                          <a:latin typeface="Meiryo UI"/>
                        </a:defRPr>
                      </a:pPr>
                      <a:r>
                        <a:t>U950エージング後、作業者が機内を覗き込み転写ベルト寄りを測定（K4で5秒、DSLK 10.76秒、工程表15.36秒）。</a:t>
                      </a:r>
                    </a:p>
                  </a:txBody>
                  <a:tcPr anchor="ctr" marL="36576" marR="36576" marT="9144" marB="9144">
                    <a:solidFill>
                      <a:srgbClr val="FFFFFF"/>
                    </a:solidFill>
                  </a:tcPr>
                </a:tc>
                <a:tc>
                  <a:txBody>
                    <a:bodyPr wrap="square"/>
                    <a:lstStyle/>
                    <a:p>
                      <a:pPr algn="l">
                        <a:defRPr sz="640" b="1">
                          <a:solidFill>
                            <a:srgbClr val="B8292F"/>
                          </a:solidFill>
                          <a:latin typeface="Meiryo UI"/>
                        </a:defRPr>
                      </a:pPr>
                      <a:r>
                        <a:t>JP設計にてプーリーテーパー角を5°→35°へ変更し弾性ベルトを採用。VNでは月1〜2台のNGが残るため、新部品の安定確認後に廃止。</a:t>
                      </a:r>
                    </a:p>
                  </a:txBody>
                  <a:tcPr anchor="ctr" marL="36576" marR="36576" marT="9144" marB="9144">
                    <a:solidFill>
                      <a:srgbClr val="FFFFFF"/>
                    </a:solidFill>
                  </a:tcPr>
                </a:tc>
                <a:tc>
                  <a:txBody>
                    <a:bodyPr wrap="square"/>
                    <a:lstStyle/>
                    <a:p>
                      <a:pPr algn="l">
                        <a:defRPr sz="640">
                          <a:solidFill>
                            <a:srgbClr val="1E242B"/>
                          </a:solidFill>
                          <a:latin typeface="Meiryo UI"/>
                        </a:defRPr>
                      </a:pPr>
                      <a:r>
                        <a:t>• 新部品でCpk≧1.33確認後、5.00〜15.36秒/台削減</a:t>
                      </a:r>
                    </a:p>
                  </a:txBody>
                  <a:tcPr anchor="ctr" marL="36576" marR="36576" marT="9144" marB="9144">
                    <a:solidFill>
                      <a:srgbClr val="FFFFFF"/>
                    </a:solidFill>
                  </a:tcPr>
                </a:tc>
                <a:tc>
                  <a:txBody>
                    <a:bodyPr wrap="square"/>
                    <a:lstStyle/>
                    <a:p>
                      <a:pPr algn="ctr">
                        <a:defRPr sz="640">
                          <a:solidFill>
                            <a:srgbClr val="1E242B"/>
                          </a:solidFill>
                          <a:latin typeface="Meiryo UI"/>
                        </a:defRPr>
                      </a:pPr>
                      <a:r>
                        <a:t>工場設備費 0 VND</a:t>
                      </a:r>
                      <a:br/>
                      <a:r>
                        <a:t>(35°プーリー＋弾性ベルト改善)</a:t>
                      </a:r>
                    </a:p>
                  </a:txBody>
                  <a:tcPr anchor="ctr" marL="36576" marR="36576" marT="9144" marB="9144">
                    <a:solidFill>
                      <a:srgbClr val="FFFFFF"/>
                    </a:solidFill>
                  </a:tcPr>
                </a:tc>
                <a:tc>
                  <a:txBody>
                    <a:bodyPr wrap="square"/>
                    <a:lstStyle/>
                    <a:p>
                      <a:pPr algn="l">
                        <a:defRPr sz="640">
                          <a:solidFill>
                            <a:srgbClr val="1E242B"/>
                          </a:solidFill>
                          <a:latin typeface="Meiryo UI"/>
                        </a:defRPr>
                      </a:pPr>
                      <a:r>
                        <a:t>新ベルト評価後のQA承認待ち</a:t>
                      </a:r>
                    </a:p>
                  </a:txBody>
                  <a:tcPr anchor="ctr" marL="36576" marR="36576" marT="9144" marB="9144">
                    <a:solidFill>
                      <a:srgbClr val="FFFFFF"/>
                    </a:solidFill>
                  </a:tcPr>
                </a:tc>
              </a:tr>
              <a:tr h="473830">
                <a:tc>
                  <a:txBody>
                    <a:bodyPr wrap="square"/>
                    <a:lstStyle/>
                    <a:p>
                      <a:pPr algn="ctr">
                        <a:defRPr sz="640" b="1">
                          <a:solidFill>
                            <a:srgbClr val="1E242B"/>
                          </a:solidFill>
                          <a:latin typeface="Meiryo UI"/>
                        </a:defRPr>
                      </a:pPr>
                      <a:r>
                        <a:t>10月PDCA</a:t>
                      </a:r>
                      <a:br/>
                      <a:r>
                        <a:t>実績</a:t>
                      </a:r>
                      <a:br/>
                      <a:r>
                        <a:t>(作業確実)</a:t>
                      </a:r>
                    </a:p>
                  </a:txBody>
                  <a:tcPr anchor="ctr" marL="36576" marR="36576" marT="9144" marB="9144">
                    <a:solidFill>
                      <a:srgbClr val="EAF7EE"/>
                    </a:solidFill>
                  </a:tcPr>
                </a:tc>
                <a:tc>
                  <a:txBody>
                    <a:bodyPr wrap="square"/>
                    <a:lstStyle/>
                    <a:p>
                      <a:pPr algn="l">
                        <a:defRPr sz="640" b="1">
                          <a:solidFill>
                            <a:srgbClr val="B8292F"/>
                          </a:solidFill>
                          <a:latin typeface="Meiryo UI"/>
                        </a:defRPr>
                      </a:pPr>
                      <a:r>
                        <a:t>【2026年10月実施済】</a:t>
                      </a:r>
                      <a:br/>
                      <a:r>
                        <a:t>英語言語切替2ステップ＆TONER警告確認2ステップの廃止</a:t>
                      </a:r>
                    </a:p>
                  </a:txBody>
                  <a:tcPr anchor="ctr" marL="36576" marR="36576" marT="9144" marB="9144">
                    <a:solidFill>
                      <a:srgbClr val="EAF7EE"/>
                    </a:solidFill>
                  </a:tcPr>
                </a:tc>
                <a:tc>
                  <a:txBody>
                    <a:bodyPr wrap="square"/>
                    <a:lstStyle/>
                    <a:p>
                      <a:pPr algn="l">
                        <a:defRPr sz="640">
                          <a:solidFill>
                            <a:srgbClr val="1E242B"/>
                          </a:solidFill>
                          <a:latin typeface="Meiryo UI"/>
                        </a:defRPr>
                      </a:pPr>
                      <a:r>
                        <a:t>英語への言語切替ボタン操作（0.72秒×2＝1.44秒）およびトナー警告表示の点灯・消灯目視確認（1.44秒×2＝2.88秒）。</a:t>
                      </a:r>
                    </a:p>
                  </a:txBody>
                  <a:tcPr anchor="ctr" marL="36576" marR="36576" marT="9144" marB="9144">
                    <a:solidFill>
                      <a:srgbClr val="EAF7EE"/>
                    </a:solidFill>
                  </a:tcPr>
                </a:tc>
                <a:tc>
                  <a:txBody>
                    <a:bodyPr wrap="square"/>
                    <a:lstStyle/>
                    <a:p>
                      <a:pPr algn="l">
                        <a:defRPr sz="640" b="1">
                          <a:solidFill>
                            <a:srgbClr val="1E242B"/>
                          </a:solidFill>
                          <a:latin typeface="Meiryo UI"/>
                        </a:defRPr>
                      </a:pPr>
                      <a:r>
                        <a:t>手作業不要であることを確認し、10月版工程表（シート「作業確実」）から当該4ステップを削除完了。</a:t>
                      </a:r>
                    </a:p>
                  </a:txBody>
                  <a:tcPr anchor="ctr" marL="36576" marR="36576" marT="9144" marB="9144">
                    <a:solidFill>
                      <a:srgbClr val="EAF7EE"/>
                    </a:solidFill>
                  </a:tcPr>
                </a:tc>
                <a:tc>
                  <a:txBody>
                    <a:bodyPr wrap="square"/>
                    <a:lstStyle/>
                    <a:p>
                      <a:pPr algn="l">
                        <a:defRPr sz="640">
                          <a:solidFill>
                            <a:srgbClr val="1E242B"/>
                          </a:solidFill>
                          <a:latin typeface="Meiryo UI"/>
                        </a:defRPr>
                      </a:pPr>
                      <a:r>
                        <a:t>• 実績削減時間：</a:t>
                      </a:r>
                      <a:br/>
                      <a:r>
                        <a:t>  4.32 秒/台（目標2,350秒に対し0.18%）</a:t>
                      </a:r>
                    </a:p>
                  </a:txBody>
                  <a:tcPr anchor="ctr" marL="36576" marR="36576" marT="9144" marB="9144">
                    <a:solidFill>
                      <a:srgbClr val="EAF7EE"/>
                    </a:solidFill>
                  </a:tcPr>
                </a:tc>
                <a:tc>
                  <a:txBody>
                    <a:bodyPr wrap="square"/>
                    <a:lstStyle/>
                    <a:p>
                      <a:pPr algn="ctr">
                        <a:defRPr sz="640" b="1">
                          <a:solidFill>
                            <a:srgbClr val="1E242B"/>
                          </a:solidFill>
                          <a:latin typeface="Meiryo UI"/>
                        </a:defRPr>
                      </a:pPr>
                      <a:r>
                        <a:t>0 VND</a:t>
                      </a:r>
                      <a:br/>
                      <a:r>
                        <a:t>(実施完了)</a:t>
                      </a:r>
                    </a:p>
                  </a:txBody>
                  <a:tcPr anchor="ctr" marL="36576" marR="36576" marT="9144" marB="9144">
                    <a:solidFill>
                      <a:srgbClr val="EAF7EE"/>
                    </a:solidFill>
                  </a:tcPr>
                </a:tc>
                <a:tc>
                  <a:txBody>
                    <a:bodyPr wrap="square"/>
                    <a:lstStyle/>
                    <a:p>
                      <a:pPr algn="l">
                        <a:defRPr sz="640" b="1">
                          <a:solidFill>
                            <a:srgbClr val="1E242B"/>
                          </a:solidFill>
                          <a:latin typeface="Meiryo UI"/>
                        </a:defRPr>
                      </a:pPr>
                      <a:r>
                        <a:t>完了（2026年10月）</a:t>
                      </a:r>
                    </a:p>
                  </a:txBody>
                  <a:tcPr anchor="ctr" marL="36576" marR="36576" marT="9144" marB="9144">
                    <a:solidFill>
                      <a:srgbClr val="EAF7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91440"/>
            <a:ext cx="196596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第6.1章：3拠点総括</a:t>
            </a:r>
          </a:p>
        </p:txBody>
      </p:sp>
      <p:sp>
        <p:nvSpPr>
          <p:cNvPr id="4" name="TextBox 3"/>
          <p:cNvSpPr txBox="1"/>
          <p:nvPr/>
        </p:nvSpPr>
        <p:spPr>
          <a:xfrm>
            <a:off x="2286000" y="54864"/>
            <a:ext cx="9052560" cy="457200"/>
          </a:xfrm>
          <a:prstGeom prst="rect">
            <a:avLst/>
          </a:prstGeom>
          <a:noFill/>
        </p:spPr>
        <p:txBody>
          <a:bodyPr wrap="square" lIns="18288" rIns="18288">
            <a:spAutoFit/>
          </a:bodyPr>
          <a:lstStyle/>
          <a:p>
            <a:pPr>
              <a:defRPr sz="1450" b="1">
                <a:solidFill>
                  <a:srgbClr val="FFFFFF"/>
                </a:solidFill>
                <a:latin typeface="Meiryo UI"/>
              </a:defRPr>
            </a:pPr>
            <a:r>
              <a:t>3拠点（日本・中国・ベトナム）改善提案の総括（時間・人員・投資金額・見積状況）</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9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lstStyle/>
          <a:p>
            <a:pPr algn="ctr">
              <a:defRPr sz="980" b="1">
                <a:solidFill>
                  <a:srgbClr val="1B365D"/>
                </a:solidFill>
                <a:latin typeface="Meiryo UI"/>
              </a:defRPr>
            </a:pPr>
            <a:r>
              <a:t>■ 全38提案（JP：7件｜CN：11件｜VN：20件）。VN欄は第5章と完全一致：「Iris EXPのVN提案.xlsx」の見積済3案件合計は855,690,000 VND（32,911.15 USD／纏め：33,000 USD）、No.22単独は101,690,000 VND。</a:t>
            </a:r>
          </a:p>
        </p:txBody>
      </p:sp>
      <p:graphicFrame>
        <p:nvGraphicFramePr>
          <p:cNvPr id="7" name="Table 6"/>
          <p:cNvGraphicFramePr>
            <a:graphicFrameLocks noGrp="1"/>
          </p:cNvGraphicFramePr>
          <p:nvPr/>
        </p:nvGraphicFramePr>
        <p:xfrm>
          <a:off x="274320" y="1225296"/>
          <a:ext cx="11643055" cy="3474720"/>
        </p:xfrm>
        <a:graphic>
          <a:graphicData uri="http://schemas.openxmlformats.org/drawingml/2006/table">
            <a:tbl>
              <a:tblPr firstRow="1" bandRow="1">
                <a:tableStyleId>{5C22544A-7EE6-4342-B048-85BDC9FD1C3A}</a:tableStyleId>
              </a:tblPr>
              <a:tblGrid>
                <a:gridCol w="1463040"/>
                <a:gridCol w="2194560"/>
                <a:gridCol w="2194560"/>
                <a:gridCol w="2560320"/>
                <a:gridCol w="1965960"/>
                <a:gridCol w="1264615"/>
              </a:tblGrid>
              <a:tr h="386080">
                <a:tc>
                  <a:txBody>
                    <a:bodyPr wrap="square"/>
                    <a:lstStyle/>
                    <a:p>
                      <a:pPr algn="ctr">
                        <a:defRPr sz="670" b="1">
                          <a:solidFill>
                            <a:srgbClr val="FFFFFF"/>
                          </a:solidFill>
                          <a:latin typeface="Meiryo UI"/>
                        </a:defRPr>
                      </a:pPr>
                      <a:r>
                        <a:t>評価項目</a:t>
                      </a:r>
                    </a:p>
                  </a:txBody>
                  <a:tcPr anchor="ctr" marL="36576" marR="36576" marT="9144" marB="9144">
                    <a:solidFill>
                      <a:srgbClr val="1B365D"/>
                    </a:solidFill>
                  </a:tcPr>
                </a:tc>
                <a:tc>
                  <a:txBody>
                    <a:bodyPr wrap="square"/>
                    <a:lstStyle/>
                    <a:p>
                      <a:pPr algn="ctr">
                        <a:defRPr sz="670" b="1">
                          <a:solidFill>
                            <a:srgbClr val="FFFFFF"/>
                          </a:solidFill>
                          <a:latin typeface="Meiryo UI"/>
                        </a:defRPr>
                      </a:pPr>
                      <a:r>
                        <a:t>日本拠点 (JP：設計・生技)</a:t>
                      </a:r>
                    </a:p>
                  </a:txBody>
                  <a:tcPr anchor="ctr" marL="36576" marR="36576" marT="9144" marB="9144">
                    <a:solidFill>
                      <a:srgbClr val="1B365D"/>
                    </a:solidFill>
                  </a:tcPr>
                </a:tc>
                <a:tc>
                  <a:txBody>
                    <a:bodyPr wrap="square"/>
                    <a:lstStyle/>
                    <a:p>
                      <a:pPr algn="ctr">
                        <a:defRPr sz="670" b="1">
                          <a:solidFill>
                            <a:srgbClr val="FFFFFF"/>
                          </a:solidFill>
                          <a:latin typeface="Meiryo UI"/>
                        </a:defRPr>
                      </a:pPr>
                      <a:r>
                        <a:t>中国拠点 (CN：中国工場)</a:t>
                      </a:r>
                    </a:p>
                  </a:txBody>
                  <a:tcPr anchor="ctr" marL="36576" marR="36576" marT="9144" marB="9144">
                    <a:solidFill>
                      <a:srgbClr val="1B365D"/>
                    </a:solidFill>
                  </a:tcPr>
                </a:tc>
                <a:tc>
                  <a:txBody>
                    <a:bodyPr wrap="square"/>
                    <a:lstStyle/>
                    <a:p>
                      <a:pPr algn="ctr">
                        <a:defRPr sz="670" b="1">
                          <a:solidFill>
                            <a:srgbClr val="FFFFFF"/>
                          </a:solidFill>
                          <a:latin typeface="Meiryo UI"/>
                        </a:defRPr>
                      </a:pPr>
                      <a:r>
                        <a:t>ベトナム拠点 (VN：KDTVN)</a:t>
                      </a:r>
                    </a:p>
                  </a:txBody>
                  <a:tcPr anchor="ctr" marL="36576" marR="36576" marT="9144" marB="9144">
                    <a:solidFill>
                      <a:srgbClr val="1B365D"/>
                    </a:solidFill>
                  </a:tcPr>
                </a:tc>
                <a:tc>
                  <a:txBody>
                    <a:bodyPr wrap="square"/>
                    <a:lstStyle/>
                    <a:p>
                      <a:pPr algn="ctr">
                        <a:defRPr sz="670" b="1">
                          <a:solidFill>
                            <a:srgbClr val="FFFFFF"/>
                          </a:solidFill>
                          <a:latin typeface="Meiryo UI"/>
                        </a:defRPr>
                      </a:pPr>
                      <a:r>
                        <a:t>3拠点合計 (JP + CN + VN)</a:t>
                      </a:r>
                    </a:p>
                  </a:txBody>
                  <a:tcPr anchor="ctr" marL="36576" marR="36576" marT="9144" marB="9144">
                    <a:solidFill>
                      <a:srgbClr val="1B365D"/>
                    </a:solidFill>
                  </a:tcPr>
                </a:tc>
                <a:tc>
                  <a:txBody>
                    <a:bodyPr wrap="square"/>
                    <a:lstStyle/>
                    <a:p>
                      <a:pPr algn="ctr">
                        <a:defRPr sz="670" b="1">
                          <a:solidFill>
                            <a:srgbClr val="FFFFFF"/>
                          </a:solidFill>
                          <a:latin typeface="Meiryo UI"/>
                        </a:defRPr>
                      </a:pPr>
                      <a:r>
                        <a:t>備考・参照元</a:t>
                      </a:r>
                    </a:p>
                  </a:txBody>
                  <a:tcPr anchor="ctr" marL="36576" marR="36576" marT="9144" marB="9144">
                    <a:solidFill>
                      <a:srgbClr val="1B365D"/>
                    </a:solidFill>
                  </a:tcPr>
                </a:tc>
              </a:tr>
              <a:tr h="386080">
                <a:tc>
                  <a:txBody>
                    <a:bodyPr wrap="square"/>
                    <a:lstStyle/>
                    <a:p>
                      <a:pPr algn="l">
                        <a:defRPr sz="570" b="1">
                          <a:solidFill>
                            <a:srgbClr val="1E242B"/>
                          </a:solidFill>
                          <a:latin typeface="Meiryo UI"/>
                        </a:defRPr>
                      </a:pPr>
                      <a:r>
                        <a:t>1. 改善提案件数</a:t>
                      </a:r>
                    </a:p>
                  </a:txBody>
                  <a:tcPr anchor="ctr" marL="36576" marR="36576" marT="9144" marB="9144">
                    <a:solidFill>
                      <a:srgbClr val="FFFFFF"/>
                    </a:solidFill>
                  </a:tcPr>
                </a:tc>
                <a:tc>
                  <a:txBody>
                    <a:bodyPr wrap="square"/>
                    <a:lstStyle/>
                    <a:p>
                      <a:pPr algn="l">
                        <a:defRPr sz="570">
                          <a:solidFill>
                            <a:srgbClr val="1E242B"/>
                          </a:solidFill>
                          <a:latin typeface="Meiryo UI"/>
                        </a:defRPr>
                      </a:pPr>
                      <a:r>
                        <a:t>• 7件（No.1〜No.7）、8月〜10月まで変更なし</a:t>
                      </a:r>
                    </a:p>
                  </a:txBody>
                  <a:tcPr anchor="ctr" marL="36576" marR="36576" marT="9144" marB="9144">
                    <a:solidFill>
                      <a:srgbClr val="FFFFFF"/>
                    </a:solidFill>
                  </a:tcPr>
                </a:tc>
                <a:tc>
                  <a:txBody>
                    <a:bodyPr wrap="square"/>
                    <a:lstStyle/>
                    <a:p>
                      <a:pPr algn="l">
                        <a:defRPr sz="570">
                          <a:solidFill>
                            <a:srgbClr val="1E242B"/>
                          </a:solidFill>
                          <a:latin typeface="Meiryo UI"/>
                        </a:defRPr>
                      </a:pPr>
                      <a:r>
                        <a:t>• 8〜9月：10件（No.8〜17）</a:t>
                      </a:r>
                      <a:br/>
                      <a:r>
                        <a:t>• 最新版：11件（+No.38 WeChat AI）</a:t>
                      </a:r>
                    </a:p>
                  </a:txBody>
                  <a:tcPr anchor="ctr" marL="36576" marR="36576" marT="9144" marB="9144">
                    <a:solidFill>
                      <a:srgbClr val="FFFFFF"/>
                    </a:solidFill>
                  </a:tcPr>
                </a:tc>
                <a:tc>
                  <a:txBody>
                    <a:bodyPr wrap="square"/>
                    <a:lstStyle/>
                    <a:p>
                      <a:pPr algn="l">
                        <a:defRPr sz="570" b="1">
                          <a:solidFill>
                            <a:srgbClr val="1E6E3E"/>
                          </a:solidFill>
                          <a:latin typeface="Meiryo UI"/>
                        </a:defRPr>
                      </a:pPr>
                      <a:r>
                        <a:t>• 8月：11件（No.18〜28）＋9月：9件（No.29〜37）＝計20件（うちVN提案.xlsx見積済3件）</a:t>
                      </a:r>
                    </a:p>
                  </a:txBody>
                  <a:tcPr anchor="ctr" marL="36576" marR="36576" marT="9144" marB="9144">
                    <a:solidFill>
                      <a:srgbClr val="FFFFFF"/>
                    </a:solidFill>
                  </a:tcPr>
                </a:tc>
                <a:tc>
                  <a:txBody>
                    <a:bodyPr wrap="square"/>
                    <a:lstStyle/>
                    <a:p>
                      <a:pPr algn="l">
                        <a:defRPr sz="570">
                          <a:solidFill>
                            <a:srgbClr val="1E242B"/>
                          </a:solidFill>
                          <a:latin typeface="Meiryo UI"/>
                        </a:defRPr>
                      </a:pPr>
                      <a:r>
                        <a:t>• 8月報告：28件</a:t>
                      </a:r>
                      <a:br/>
                      <a:r>
                        <a:t>• 9〜10月：37件</a:t>
                      </a:r>
                      <a:br/>
                      <a:r>
                        <a:t>• 最新版：38件（7+11+20）</a:t>
                      </a:r>
                    </a:p>
                  </a:txBody>
                  <a:tcPr anchor="ctr" marL="36576" marR="36576" marT="9144" marB="9144">
                    <a:solidFill>
                      <a:srgbClr val="FFFFFF"/>
                    </a:solidFill>
                  </a:tcPr>
                </a:tc>
                <a:tc>
                  <a:txBody>
                    <a:bodyPr wrap="square"/>
                    <a:lstStyle/>
                    <a:p>
                      <a:pPr algn="l">
                        <a:defRPr sz="570">
                          <a:solidFill>
                            <a:srgbClr val="1E242B"/>
                          </a:solidFill>
                          <a:latin typeface="Meiryo UI"/>
                        </a:defRPr>
                      </a:pPr>
                      <a:r>
                        <a:t>IrisEXP改善提案まとめ</a:t>
                      </a:r>
                    </a:p>
                  </a:txBody>
                  <a:tcPr anchor="ctr" marL="36576" marR="36576" marT="9144" marB="9144">
                    <a:solidFill>
                      <a:srgbClr val="FFFFFF"/>
                    </a:solidFill>
                  </a:tcPr>
                </a:tc>
              </a:tr>
              <a:tr h="386080">
                <a:tc>
                  <a:txBody>
                    <a:bodyPr wrap="square"/>
                    <a:lstStyle/>
                    <a:p>
                      <a:pPr algn="l">
                        <a:defRPr sz="570" b="1">
                          <a:solidFill>
                            <a:srgbClr val="1E242B"/>
                          </a:solidFill>
                          <a:latin typeface="Meiryo UI"/>
                        </a:defRPr>
                      </a:pPr>
                      <a:r>
                        <a:t>2. 現行作業時間</a:t>
                      </a:r>
                      <a:br/>
                      <a:r>
                        <a:t>(Iris2024)</a:t>
                      </a:r>
                    </a:p>
                  </a:txBody>
                  <a:tcPr anchor="ctr" marL="36576" marR="36576" marT="9144" marB="9144">
                    <a:solidFill>
                      <a:srgbClr val="F7F9FC"/>
                    </a:solidFill>
                  </a:tcPr>
                </a:tc>
                <a:tc>
                  <a:txBody>
                    <a:bodyPr wrap="square"/>
                    <a:lstStyle/>
                    <a:p>
                      <a:pPr algn="l">
                        <a:defRPr sz="570">
                          <a:solidFill>
                            <a:srgbClr val="1E242B"/>
                          </a:solidFill>
                          <a:latin typeface="Meiryo UI"/>
                        </a:defRPr>
                      </a:pPr>
                      <a:r>
                        <a:t>• 正味手作業：1,171.70s (Color) / 1,120.90s (Mono)</a:t>
                      </a:r>
                      <a:br/>
                      <a:r>
                        <a:t>• IrisEXP改善無 (+89s U413)：1,260.70s Color / 1,172.62s Mono</a:t>
                      </a:r>
                    </a:p>
                  </a:txBody>
                  <a:tcPr anchor="ctr" marL="36576" marR="36576" marT="9144" marB="9144">
                    <a:solidFill>
                      <a:srgbClr val="F7F9FC"/>
                    </a:solidFill>
                  </a:tcPr>
                </a:tc>
                <a:tc>
                  <a:txBody>
                    <a:bodyPr wrap="square"/>
                    <a:lstStyle/>
                    <a:p>
                      <a:pPr algn="l">
                        <a:defRPr sz="570" b="1">
                          <a:solidFill>
                            <a:srgbClr val="1E242B"/>
                          </a:solidFill>
                          <a:latin typeface="Meiryo UI"/>
                        </a:defRPr>
                      </a:pPr>
                      <a:r>
                        <a:t>• 工程表575ステップ；CN提案対象の現行時間計：178.56秒＋印刷待ち230秒</a:t>
                      </a:r>
                    </a:p>
                  </a:txBody>
                  <a:tcPr anchor="ctr" marL="36576" marR="36576" marT="9144" marB="9144">
                    <a:solidFill>
                      <a:srgbClr val="F7F9FC"/>
                    </a:solidFill>
                  </a:tcPr>
                </a:tc>
                <a:tc>
                  <a:txBody>
                    <a:bodyPr wrap="square"/>
                    <a:lstStyle/>
                    <a:p>
                      <a:pPr algn="l">
                        <a:defRPr sz="570">
                          <a:solidFill>
                            <a:srgbClr val="1E242B"/>
                          </a:solidFill>
                          <a:latin typeface="Meiryo UI"/>
                        </a:defRPr>
                      </a:pPr>
                      <a:r>
                        <a:t>• K1〜K8総時間（機械待ち・U950 285秒含）：2,350.00 秒/台（39項目）、タクト114秒/台</a:t>
                      </a:r>
                    </a:p>
                  </a:txBody>
                  <a:tcPr anchor="ctr" marL="36576" marR="36576" marT="9144" marB="9144">
                    <a:solidFill>
                      <a:srgbClr val="F7F9FC"/>
                    </a:solidFill>
                  </a:tcPr>
                </a:tc>
                <a:tc>
                  <a:txBody>
                    <a:bodyPr wrap="square"/>
                    <a:lstStyle/>
                    <a:p>
                      <a:pPr algn="l">
                        <a:defRPr sz="570">
                          <a:solidFill>
                            <a:srgbClr val="1E242B"/>
                          </a:solidFill>
                          <a:latin typeface="Meiryo UI"/>
                        </a:defRPr>
                      </a:pPr>
                      <a:r>
                        <a:t>• JP標準（正味手作業）：1,171.70s</a:t>
                      </a:r>
                      <a:br/>
                      <a:r>
                        <a:t>• VN標準（K1〜K8総時間）：2,350.00s</a:t>
                      </a:r>
                    </a:p>
                  </a:txBody>
                  <a:tcPr anchor="ctr" marL="36576" marR="36576" marT="9144" marB="9144">
                    <a:solidFill>
                      <a:srgbClr val="F7F9FC"/>
                    </a:solidFill>
                  </a:tcPr>
                </a:tc>
                <a:tc>
                  <a:txBody>
                    <a:bodyPr wrap="square"/>
                    <a:lstStyle/>
                    <a:p>
                      <a:pPr algn="l">
                        <a:defRPr sz="570">
                          <a:solidFill>
                            <a:srgbClr val="1E242B"/>
                          </a:solidFill>
                          <a:latin typeface="Meiryo UI"/>
                        </a:defRPr>
                      </a:pPr>
                      <a:r>
                        <a:t>既存機との工数比較;</a:t>
                      </a:r>
                      <a:br/>
                      <a:r>
                        <a:t>DSLK</a:t>
                      </a:r>
                    </a:p>
                  </a:txBody>
                  <a:tcPr anchor="ctr" marL="36576" marR="36576" marT="9144" marB="9144">
                    <a:solidFill>
                      <a:srgbClr val="F7F9FC"/>
                    </a:solidFill>
                  </a:tcPr>
                </a:tc>
              </a:tr>
              <a:tr h="386080">
                <a:tc>
                  <a:txBody>
                    <a:bodyPr wrap="square"/>
                    <a:lstStyle/>
                    <a:p>
                      <a:pPr algn="l">
                        <a:defRPr sz="570" b="1">
                          <a:solidFill>
                            <a:srgbClr val="1E242B"/>
                          </a:solidFill>
                          <a:latin typeface="Meiryo UI"/>
                        </a:defRPr>
                      </a:pPr>
                      <a:r>
                        <a:t>3. 作業時間削減効果</a:t>
                      </a:r>
                      <a:br/>
                      <a:r>
                        <a:t>(秒/台)</a:t>
                      </a:r>
                    </a:p>
                  </a:txBody>
                  <a:tcPr anchor="ctr" marL="36576" marR="36576" marT="9144" marB="9144">
                    <a:solidFill>
                      <a:srgbClr val="FFFFFF"/>
                    </a:solidFill>
                  </a:tcPr>
                </a:tc>
                <a:tc>
                  <a:txBody>
                    <a:bodyPr wrap="square"/>
                    <a:lstStyle/>
                    <a:p>
                      <a:pPr algn="l">
                        <a:defRPr sz="570" b="1">
                          <a:solidFill>
                            <a:srgbClr val="1E242B"/>
                          </a:solidFill>
                          <a:latin typeface="Meiryo UI"/>
                        </a:defRPr>
                      </a:pPr>
                      <a:r>
                        <a:t>• 7案数式：Iris2024比 -87.84s（改善無比 -176.84s → 1,083.86s Color）</a:t>
                      </a:r>
                      <a:br/>
                      <a:r>
                        <a:t>• 削除マーク（削147＋確定6）計：-267.74s Color / -263.06s Mono</a:t>
                      </a:r>
                    </a:p>
                  </a:txBody>
                  <a:tcPr anchor="ctr" marL="36576" marR="36576" marT="9144" marB="9144">
                    <a:solidFill>
                      <a:srgbClr val="FFFFFF"/>
                    </a:solidFill>
                  </a:tcPr>
                </a:tc>
                <a:tc>
                  <a:txBody>
                    <a:bodyPr wrap="square"/>
                    <a:lstStyle/>
                    <a:p>
                      <a:pPr algn="l">
                        <a:defRPr sz="570" b="1">
                          <a:solidFill>
                            <a:srgbClr val="1E242B"/>
                          </a:solidFill>
                          <a:latin typeface="Meiryo UI"/>
                        </a:defRPr>
                      </a:pPr>
                      <a:r>
                        <a:t>• CNリスト時間記載10件計：手作業 -178.56秒/台</a:t>
                      </a:r>
                      <a:br/>
                      <a:r>
                        <a:t>• No.13：印刷待ち -110秒（230s→120s）、No.38：WeChat AI</a:t>
                      </a:r>
                    </a:p>
                  </a:txBody>
                  <a:tcPr anchor="ctr" marL="36576" marR="36576" marT="9144" marB="9144">
                    <a:solidFill>
                      <a:srgbClr val="FFFFFF"/>
                    </a:solidFill>
                  </a:tcPr>
                </a:tc>
                <a:tc>
                  <a:txBody>
                    <a:bodyPr wrap="square"/>
                    <a:lstStyle/>
                    <a:p>
                      <a:pPr algn="l">
                        <a:defRPr sz="570">
                          <a:solidFill>
                            <a:srgbClr val="1E242B"/>
                          </a:solidFill>
                          <a:latin typeface="Meiryo UI"/>
                        </a:defRPr>
                      </a:pPr>
                      <a:r>
                        <a:t>• VN提案.xlsx 3件：-170秒（No.22:-30s, No.23:-110s, No.24:-30s）</a:t>
                      </a:r>
                      <a:br/>
                      <a:r>
                        <a:t>• 10月PDCA実績：-4.32秒（0.18%）</a:t>
                      </a:r>
                      <a:br/>
                      <a:r>
                        <a:t>• 27年3月目標：≧1,175.00秒削減（≧50%）</a:t>
                      </a:r>
                    </a:p>
                  </a:txBody>
                  <a:tcPr anchor="ctr" marL="36576" marR="36576" marT="9144" marB="9144">
                    <a:solidFill>
                      <a:srgbClr val="FFFFFF"/>
                    </a:solidFill>
                  </a:tcPr>
                </a:tc>
                <a:tc>
                  <a:txBody>
                    <a:bodyPr wrap="square"/>
                    <a:lstStyle/>
                    <a:p>
                      <a:pPr algn="l">
                        <a:defRPr sz="570">
                          <a:solidFill>
                            <a:srgbClr val="1E242B"/>
                          </a:solidFill>
                          <a:latin typeface="Meiryo UI"/>
                        </a:defRPr>
                      </a:pPr>
                      <a:r>
                        <a:t>• JP：手作業 -176.84s 〜 -267.74s</a:t>
                      </a:r>
                      <a:br/>
                      <a:r>
                        <a:t>• CN：手作業 -178.56s ＋ 印刷 -110s</a:t>
                      </a:r>
                      <a:br/>
                      <a:r>
                        <a:t>• VN：目標 -1,175.00s（≧50%）</a:t>
                      </a:r>
                    </a:p>
                  </a:txBody>
                  <a:tcPr anchor="ctr" marL="36576" marR="36576" marT="9144" marB="9144">
                    <a:solidFill>
                      <a:srgbClr val="FFFFFF"/>
                    </a:solidFill>
                  </a:tcPr>
                </a:tc>
                <a:tc>
                  <a:txBody>
                    <a:bodyPr wrap="square"/>
                    <a:lstStyle/>
                    <a:p>
                      <a:pPr algn="l">
                        <a:defRPr sz="570">
                          <a:solidFill>
                            <a:srgbClr val="1E242B"/>
                          </a:solidFill>
                          <a:latin typeface="Meiryo UI"/>
                        </a:defRPr>
                      </a:pPr>
                      <a:r>
                        <a:t>IrisEXP 工程 3;</a:t>
                      </a:r>
                      <a:br/>
                      <a:r>
                        <a:t>cn改善案list</a:t>
                      </a:r>
                    </a:p>
                  </a:txBody>
                  <a:tcPr anchor="ctr" marL="36576" marR="36576" marT="9144" marB="9144">
                    <a:solidFill>
                      <a:srgbClr val="FFFFFF"/>
                    </a:solidFill>
                  </a:tcPr>
                </a:tc>
              </a:tr>
              <a:tr h="386080">
                <a:tc>
                  <a:txBody>
                    <a:bodyPr wrap="square"/>
                    <a:lstStyle/>
                    <a:p>
                      <a:pPr algn="l">
                        <a:defRPr sz="570" b="1">
                          <a:solidFill>
                            <a:srgbClr val="1E242B"/>
                          </a:solidFill>
                          <a:latin typeface="Meiryo UI"/>
                        </a:defRPr>
                      </a:pPr>
                      <a:r>
                        <a:t>4. 人員・生産性効果</a:t>
                      </a:r>
                    </a:p>
                  </a:txBody>
                  <a:tcPr anchor="ctr" marL="36576" marR="36576" marT="9144" marB="9144">
                    <a:solidFill>
                      <a:srgbClr val="F7F9FC"/>
                    </a:solidFill>
                  </a:tcPr>
                </a:tc>
                <a:tc>
                  <a:txBody>
                    <a:bodyPr wrap="square"/>
                    <a:lstStyle/>
                    <a:p>
                      <a:pPr algn="l">
                        <a:defRPr sz="570" b="1">
                          <a:solidFill>
                            <a:srgbClr val="1E242B"/>
                          </a:solidFill>
                          <a:latin typeface="Meiryo UI"/>
                        </a:defRPr>
                      </a:pPr>
                      <a:r>
                        <a:t>• Athena実績参照：16名 → 8名（-50%）、共通JIG・セミファイナルソフト設計</a:t>
                      </a:r>
                    </a:p>
                  </a:txBody>
                  <a:tcPr anchor="ctr" marL="36576" marR="36576" marT="9144" marB="9144">
                    <a:solidFill>
                      <a:srgbClr val="F7F9FC"/>
                    </a:solidFill>
                  </a:tcPr>
                </a:tc>
                <a:tc>
                  <a:txBody>
                    <a:bodyPr wrap="square"/>
                    <a:lstStyle/>
                    <a:p>
                      <a:pPr algn="l">
                        <a:defRPr sz="570">
                          <a:solidFill>
                            <a:srgbClr val="1E242B"/>
                          </a:solidFill>
                          <a:latin typeface="Meiryo UI"/>
                        </a:defRPr>
                      </a:pPr>
                      <a:r>
                        <a:t>• 金額記載分の労務費削減：11,160 RMB/月（No.8:4,500 + No.11:3,060 + No.15:3,600）＋ 5,000 RMB/5,000台（No.14）</a:t>
                      </a:r>
                    </a:p>
                  </a:txBody>
                  <a:tcPr anchor="ctr" marL="36576" marR="36576" marT="9144" marB="9144">
                    <a:solidFill>
                      <a:srgbClr val="F7F9FC"/>
                    </a:solidFill>
                  </a:tcPr>
                </a:tc>
                <a:tc>
                  <a:txBody>
                    <a:bodyPr wrap="square"/>
                    <a:lstStyle/>
                    <a:p>
                      <a:pPr algn="l">
                        <a:defRPr sz="570">
                          <a:solidFill>
                            <a:srgbClr val="1E242B"/>
                          </a:solidFill>
                          <a:latin typeface="Meiryo UI"/>
                        </a:defRPr>
                      </a:pPr>
                      <a:r>
                        <a:t>• 現行Iris2024：14名（DR4 114s時15名）</a:t>
                      </a:r>
                      <a:br/>
                      <a:r>
                        <a:t>• 月産16,000台（タクト97s）：改善なし18名 → 目標9名。VN提案3件で年間167.73百万VND（$6,451/年）削減</a:t>
                      </a:r>
                    </a:p>
                  </a:txBody>
                  <a:tcPr anchor="ctr" marL="36576" marR="36576" marT="9144" marB="9144">
                    <a:solidFill>
                      <a:srgbClr val="F7F9FC"/>
                    </a:solidFill>
                  </a:tcPr>
                </a:tc>
                <a:tc>
                  <a:txBody>
                    <a:bodyPr wrap="square"/>
                    <a:lstStyle/>
                    <a:p>
                      <a:pPr algn="l">
                        <a:defRPr sz="570">
                          <a:solidFill>
                            <a:srgbClr val="1E242B"/>
                          </a:solidFill>
                          <a:latin typeface="Meiryo UI"/>
                        </a:defRPr>
                      </a:pPr>
                      <a:r>
                        <a:t>• 生産性目標：2倍【仮決定】</a:t>
                      </a:r>
                      <a:br/>
                      <a:r>
                        <a:t>• VN：18名→9名、CN：-11,160 RMB/月</a:t>
                      </a:r>
                    </a:p>
                  </a:txBody>
                  <a:tcPr anchor="ctr" marL="36576" marR="36576" marT="9144" marB="9144">
                    <a:solidFill>
                      <a:srgbClr val="F7F9FC"/>
                    </a:solidFill>
                  </a:tcPr>
                </a:tc>
                <a:tc>
                  <a:txBody>
                    <a:bodyPr wrap="square"/>
                    <a:lstStyle/>
                    <a:p>
                      <a:pPr algn="l">
                        <a:defRPr sz="570" b="1">
                          <a:solidFill>
                            <a:srgbClr val="1E242B"/>
                          </a:solidFill>
                          <a:latin typeface="Meiryo UI"/>
                        </a:defRPr>
                      </a:pPr>
                      <a:r>
                        <a:t>調整工程計画.xlsx;</a:t>
                      </a:r>
                      <a:br/>
                      <a:r>
                        <a:t>DR 4.pdf</a:t>
                      </a:r>
                    </a:p>
                  </a:txBody>
                  <a:tcPr anchor="ctr" marL="36576" marR="36576" marT="9144" marB="9144">
                    <a:solidFill>
                      <a:srgbClr val="F7F9FC"/>
                    </a:solidFill>
                  </a:tcPr>
                </a:tc>
              </a:tr>
              <a:tr h="386080">
                <a:tc>
                  <a:txBody>
                    <a:bodyPr wrap="square"/>
                    <a:lstStyle/>
                    <a:p>
                      <a:pPr algn="l">
                        <a:defRPr sz="570" b="1">
                          <a:solidFill>
                            <a:srgbClr val="1E6E3E"/>
                          </a:solidFill>
                          <a:latin typeface="Meiryo UI"/>
                        </a:defRPr>
                      </a:pPr>
                      <a:r>
                        <a:t>5. 見積済の投資金額</a:t>
                      </a:r>
                    </a:p>
                  </a:txBody>
                  <a:tcPr anchor="ctr" marL="36576" marR="36576" marT="9144" marB="9144">
                    <a:solidFill>
                      <a:srgbClr val="EAF7EE"/>
                    </a:solidFill>
                  </a:tcPr>
                </a:tc>
                <a:tc>
                  <a:txBody>
                    <a:bodyPr wrap="square"/>
                    <a:lstStyle/>
                    <a:p>
                      <a:pPr algn="l">
                        <a:defRPr sz="570" b="1">
                          <a:solidFill>
                            <a:srgbClr val="B8292F"/>
                          </a:solidFill>
                          <a:latin typeface="Meiryo UI"/>
                        </a:defRPr>
                      </a:pPr>
                      <a:r>
                        <a:t>• Spica式Mini PC【仮決定】：約40,000円/セット（4台に1セット）［Athena RasPi 8〜12k＋電池9.6k＋充電器190k円と比較］</a:t>
                      </a:r>
                      <a:br/>
                      <a:r>
                        <a:t>• U413廃止ソフト（実施時）：225〜250万円</a:t>
                      </a:r>
                    </a:p>
                  </a:txBody>
                  <a:tcPr anchor="ctr" marL="36576" marR="36576" marT="9144" marB="9144">
                    <a:solidFill>
                      <a:srgbClr val="EAF7EE"/>
                    </a:solidFill>
                  </a:tcPr>
                </a:tc>
                <a:tc>
                  <a:txBody>
                    <a:bodyPr wrap="square"/>
                    <a:lstStyle/>
                    <a:p>
                      <a:pPr algn="l">
                        <a:defRPr sz="570" b="1">
                          <a:solidFill>
                            <a:srgbClr val="B8292F"/>
                          </a:solidFill>
                          <a:latin typeface="Meiryo UI"/>
                        </a:defRPr>
                      </a:pPr>
                      <a:r>
                        <a:t>• CNリストには設備投資金額の記載なし（U155廃止、サンプル削減、PPT/JAM廃止等は設備費0 RMB）</a:t>
                      </a:r>
                    </a:p>
                  </a:txBody>
                  <a:tcPr anchor="ctr" marL="36576" marR="36576" marT="9144" marB="9144">
                    <a:solidFill>
                      <a:srgbClr val="EAF7EE"/>
                    </a:solidFill>
                  </a:tcPr>
                </a:tc>
                <a:tc>
                  <a:txBody>
                    <a:bodyPr wrap="square"/>
                    <a:lstStyle/>
                    <a:p>
                      <a:pPr algn="l">
                        <a:defRPr sz="570" b="1">
                          <a:solidFill>
                            <a:srgbClr val="1E6E3E"/>
                          </a:solidFill>
                          <a:latin typeface="Meiryo UI"/>
                        </a:defRPr>
                      </a:pPr>
                      <a:r>
                        <a:t>• No.22（導通・耐圧）：101,690,000 VND（3,911.15 USD／纏め：4,000 USD）</a:t>
                      </a:r>
                      <a:br/>
                      <a:r>
                        <a:t>• No.23（ISUロボット）：650,000,000 VND（25,000 USD）</a:t>
                      </a:r>
                      <a:br/>
                      <a:r>
                        <a:t>• No.24（USB/U201ロボット）：104,000,000 VND（4,000 USD）</a:t>
                      </a:r>
                      <a:br/>
                      <a:r>
                        <a:t>⇒ 3件合計：855,690,000 VND（32,911.15 USD／33,000 USD）</a:t>
                      </a:r>
                    </a:p>
                  </a:txBody>
                  <a:tcPr anchor="ctr" marL="36576" marR="36576" marT="9144" marB="9144">
                    <a:solidFill>
                      <a:srgbClr val="EAF7EE"/>
                    </a:solidFill>
                  </a:tcPr>
                </a:tc>
                <a:tc>
                  <a:txBody>
                    <a:bodyPr wrap="square"/>
                    <a:lstStyle/>
                    <a:p>
                      <a:pPr algn="l">
                        <a:defRPr sz="570">
                          <a:solidFill>
                            <a:srgbClr val="1E242B"/>
                          </a:solidFill>
                          <a:latin typeface="Meiryo UI"/>
                        </a:defRPr>
                      </a:pPr>
                      <a:r>
                        <a:t>• VN（VN提案.xlsx 3件）：855,690,000 VND（32,911.15 USD／纏め：33,000 USD）［No.22単独：101.69M］</a:t>
                      </a:r>
                      <a:br/>
                      <a:r>
                        <a:t>• JP：Mini PC 約4万円/セット、U413ソフト：225〜250万円</a:t>
                      </a:r>
                    </a:p>
                  </a:txBody>
                  <a:tcPr anchor="ctr" marL="36576" marR="36576" marT="9144" marB="9144">
                    <a:solidFill>
                      <a:srgbClr val="EAF7EE"/>
                    </a:solidFill>
                  </a:tcPr>
                </a:tc>
                <a:tc>
                  <a:txBody>
                    <a:bodyPr wrap="square"/>
                    <a:lstStyle/>
                    <a:p>
                      <a:pPr algn="l">
                        <a:defRPr sz="570">
                          <a:solidFill>
                            <a:srgbClr val="1E242B"/>
                          </a:solidFill>
                          <a:latin typeface="Meiryo UI"/>
                        </a:defRPr>
                      </a:pPr>
                      <a:r>
                        <a:t>Iris EXPのVN提案;</a:t>
                      </a:r>
                      <a:br/>
                      <a:r>
                        <a:t>AthenaとSpica比較</a:t>
                      </a:r>
                    </a:p>
                  </a:txBody>
                  <a:tcPr anchor="ctr" marL="36576" marR="36576" marT="9144" marB="9144">
                    <a:solidFill>
                      <a:srgbClr val="EAF7EE"/>
                    </a:solidFill>
                  </a:tcPr>
                </a:tc>
              </a:tr>
              <a:tr h="386080">
                <a:tc>
                  <a:txBody>
                    <a:bodyPr wrap="square"/>
                    <a:lstStyle/>
                    <a:p>
                      <a:pPr algn="l">
                        <a:defRPr sz="570" b="1">
                          <a:solidFill>
                            <a:srgbClr val="1E242B"/>
                          </a:solidFill>
                          <a:latin typeface="Meiryo UI"/>
                        </a:defRPr>
                      </a:pPr>
                      <a:r>
                        <a:t>6. 見積中（見積中）項目</a:t>
                      </a:r>
                    </a:p>
                  </a:txBody>
                  <a:tcPr anchor="ctr" marL="36576" marR="36576" marT="9144" marB="9144">
                    <a:solidFill>
                      <a:srgbClr val="FEF7E6"/>
                    </a:solidFill>
                  </a:tcPr>
                </a:tc>
                <a:tc>
                  <a:txBody>
                    <a:bodyPr wrap="square"/>
                    <a:lstStyle/>
                    <a:p>
                      <a:pPr algn="l">
                        <a:defRPr sz="570" b="1">
                          <a:solidFill>
                            <a:srgbClr val="1E242B"/>
                          </a:solidFill>
                          <a:latin typeface="Meiryo UI"/>
                        </a:defRPr>
                      </a:pPr>
                      <a:r>
                        <a:t>• 7900/7910ソフト改修費および自己診断回路の設計変更費</a:t>
                      </a:r>
                    </a:p>
                  </a:txBody>
                  <a:tcPr anchor="ctr" marL="36576" marR="36576" marT="9144" marB="9144">
                    <a:solidFill>
                      <a:srgbClr val="FEF7E6"/>
                    </a:solidFill>
                  </a:tcPr>
                </a:tc>
                <a:tc>
                  <a:txBody>
                    <a:bodyPr wrap="square"/>
                    <a:lstStyle/>
                    <a:p>
                      <a:pPr algn="l">
                        <a:defRPr sz="570">
                          <a:solidFill>
                            <a:srgbClr val="1E242B"/>
                          </a:solidFill>
                          <a:latin typeface="Meiryo UI"/>
                        </a:defRPr>
                      </a:pPr>
                      <a:r>
                        <a:t>• 見積中4件：No.11（導電バーコンベア）、No.12（ケーブル自動挿抜）、No.16（一体型治具）、No.17（マグネット治具）</a:t>
                      </a:r>
                    </a:p>
                  </a:txBody>
                  <a:tcPr anchor="ctr" marL="36576" marR="36576" marT="9144" marB="9144">
                    <a:solidFill>
                      <a:srgbClr val="FEF7E6"/>
                    </a:solidFill>
                  </a:tcPr>
                </a:tc>
                <a:tc>
                  <a:txBody>
                    <a:bodyPr wrap="square"/>
                    <a:lstStyle/>
                    <a:p>
                      <a:pPr algn="l">
                        <a:defRPr sz="570">
                          <a:solidFill>
                            <a:srgbClr val="1E242B"/>
                          </a:solidFill>
                          <a:latin typeface="Meiryo UI"/>
                        </a:defRPr>
                      </a:pPr>
                      <a:r>
                        <a:t>• 設備・DP関連10件が「見積中／検討中」：No.18, No.19, No.20, No.21, No.25（DP連続スキャン）, No.27（HIKROBOTカメラ）, No.28, No.31, No.33, No.35（＋No.22の制御盤5M）</a:t>
                      </a:r>
                    </a:p>
                  </a:txBody>
                  <a:tcPr anchor="ctr" marL="36576" marR="36576" marT="9144" marB="9144">
                    <a:solidFill>
                      <a:srgbClr val="FEF7E6"/>
                    </a:solidFill>
                  </a:tcPr>
                </a:tc>
                <a:tc>
                  <a:txBody>
                    <a:bodyPr wrap="square"/>
                    <a:lstStyle/>
                    <a:p>
                      <a:pPr algn="l">
                        <a:defRPr sz="570">
                          <a:solidFill>
                            <a:srgbClr val="1E242B"/>
                          </a:solidFill>
                          <a:latin typeface="Meiryo UI"/>
                        </a:defRPr>
                      </a:pPr>
                      <a:r>
                        <a:t>• 「見積中」として明確に区分し、見積確定後に第2次申請を実施。</a:t>
                      </a:r>
                    </a:p>
                  </a:txBody>
                  <a:tcPr anchor="ctr" marL="36576" marR="36576" marT="9144" marB="9144">
                    <a:solidFill>
                      <a:srgbClr val="FEF7E6"/>
                    </a:solidFill>
                  </a:tcPr>
                </a:tc>
                <a:tc>
                  <a:txBody>
                    <a:bodyPr wrap="square"/>
                    <a:lstStyle/>
                    <a:p>
                      <a:pPr algn="l">
                        <a:defRPr sz="570">
                          <a:solidFill>
                            <a:srgbClr val="1E242B"/>
                          </a:solidFill>
                          <a:latin typeface="Meiryo UI"/>
                        </a:defRPr>
                      </a:pPr>
                      <a:r>
                        <a:t>IrisEXP改善提案まとめ;</a:t>
                      </a:r>
                      <a:br/>
                      <a:r>
                        <a:t>Iris EXPのVN提案</a:t>
                      </a:r>
                    </a:p>
                  </a:txBody>
                  <a:tcPr anchor="ctr" marL="36576" marR="36576" marT="9144" marB="9144">
                    <a:solidFill>
                      <a:srgbClr val="FEF7E6"/>
                    </a:solidFill>
                  </a:tcPr>
                </a:tc>
              </a:tr>
              <a:tr h="386080">
                <a:tc>
                  <a:txBody>
                    <a:bodyPr wrap="square"/>
                    <a:lstStyle/>
                    <a:p>
                      <a:pPr algn="l">
                        <a:defRPr sz="570" b="1">
                          <a:solidFill>
                            <a:srgbClr val="1E242B"/>
                          </a:solidFill>
                          <a:latin typeface="Meiryo UI"/>
                        </a:defRPr>
                      </a:pPr>
                      <a:r>
                        <a:t>7. 代替案・長期R&amp;D</a:t>
                      </a:r>
                    </a:p>
                  </a:txBody>
                  <a:tcPr anchor="ctr" marL="36576" marR="36576" marT="9144" marB="9144">
                    <a:solidFill>
                      <a:srgbClr val="E8EEF5"/>
                    </a:solidFill>
                  </a:tcPr>
                </a:tc>
                <a:tc>
                  <a:txBody>
                    <a:bodyPr wrap="square"/>
                    <a:lstStyle/>
                    <a:p>
                      <a:pPr algn="l">
                        <a:defRPr sz="570">
                          <a:solidFill>
                            <a:srgbClr val="1E242B"/>
                          </a:solidFill>
                          <a:latin typeface="Meiryo UI"/>
                        </a:defRPr>
                      </a:pPr>
                      <a:r>
                        <a:t>• バッテリー劣化・Wi-Fi切断のためAthena式RasPi＋モバイルバッテリー案を不採用</a:t>
                      </a:r>
                    </a:p>
                  </a:txBody>
                  <a:tcPr anchor="ctr" marL="36576" marR="36576" marT="9144" marB="9144">
                    <a:solidFill>
                      <a:srgbClr val="E8EEF5"/>
                    </a:solidFill>
                  </a:tcPr>
                </a:tc>
                <a:tc>
                  <a:txBody>
                    <a:bodyPr wrap="square"/>
                    <a:lstStyle/>
                    <a:p>
                      <a:pPr algn="l">
                        <a:defRPr sz="570" b="1">
                          <a:solidFill>
                            <a:srgbClr val="B8292F"/>
                          </a:solidFill>
                          <a:latin typeface="Meiryo UI"/>
                        </a:defRPr>
                      </a:pPr>
                      <a:r>
                        <a:t>• CNリスト内で単独金額記載のある廃止案件なし</a:t>
                      </a:r>
                    </a:p>
                  </a:txBody>
                  <a:tcPr anchor="ctr" marL="36576" marR="36576" marT="9144" marB="9144">
                    <a:solidFill>
                      <a:srgbClr val="E8EEF5"/>
                    </a:solidFill>
                  </a:tcPr>
                </a:tc>
                <a:tc>
                  <a:txBody>
                    <a:bodyPr wrap="square"/>
                    <a:lstStyle/>
                    <a:p>
                      <a:pPr algn="l">
                        <a:defRPr sz="570">
                          <a:solidFill>
                            <a:srgbClr val="1E242B"/>
                          </a:solidFill>
                          <a:latin typeface="Meiryo UI"/>
                        </a:defRPr>
                      </a:pPr>
                      <a:r>
                        <a:t>• 第7回連携会／DR4にて、No.23（650M）・No.24（104M）のロボットレス代替案としてDP連続スキャン（No.25）＆Host PC（JP No.3, 6）を提案</a:t>
                      </a:r>
                      <a:br/>
                      <a:r>
                        <a:t>• 長期R&amp;D（2026〜2030年）：No.26 AI異音検査（600万円≒40,000 USD）</a:t>
                      </a:r>
                    </a:p>
                  </a:txBody>
                  <a:tcPr anchor="ctr" marL="36576" marR="36576" marT="9144" marB="9144">
                    <a:solidFill>
                      <a:srgbClr val="E8EEF5"/>
                    </a:solidFill>
                  </a:tcPr>
                </a:tc>
                <a:tc>
                  <a:txBody>
                    <a:bodyPr wrap="square"/>
                    <a:lstStyle/>
                    <a:p>
                      <a:pPr algn="l">
                        <a:defRPr sz="570">
                          <a:solidFill>
                            <a:srgbClr val="1E242B"/>
                          </a:solidFill>
                          <a:latin typeface="Meiryo UI"/>
                        </a:defRPr>
                      </a:pPr>
                      <a:r>
                        <a:t>• 3件一括（855.69M／$32,911）またはNo.22先行（101.69M／$3,911）を上申</a:t>
                      </a:r>
                      <a:br/>
                      <a:r>
                        <a:t>• 長期R&amp;D：600万円</a:t>
                      </a:r>
                    </a:p>
                  </a:txBody>
                  <a:tcPr anchor="ctr" marL="36576" marR="36576" marT="9144" marB="9144">
                    <a:solidFill>
                      <a:srgbClr val="E8EEF5"/>
                    </a:solidFill>
                  </a:tcPr>
                </a:tc>
                <a:tc>
                  <a:txBody>
                    <a:bodyPr wrap="square"/>
                    <a:lstStyle/>
                    <a:p>
                      <a:pPr algn="l">
                        <a:defRPr sz="570">
                          <a:solidFill>
                            <a:srgbClr val="1E242B"/>
                          </a:solidFill>
                          <a:latin typeface="Meiryo UI"/>
                        </a:defRPr>
                      </a:pPr>
                      <a:r>
                        <a:t>連携会 第7回;</a:t>
                      </a:r>
                      <a:br/>
                      <a:r>
                        <a:t>検討資料 S8</a:t>
                      </a:r>
                    </a:p>
                  </a:txBody>
                  <a:tcPr anchor="ctr" marL="36576" marR="36576" marT="9144" marB="9144">
                    <a:solidFill>
                      <a:srgbClr val="E8EEF5"/>
                    </a:solidFill>
                  </a:tcPr>
                </a:tc>
              </a:tr>
              <a:tr h="386080">
                <a:tc>
                  <a:txBody>
                    <a:bodyPr wrap="square"/>
                    <a:lstStyle/>
                    <a:p>
                      <a:pPr algn="l">
                        <a:defRPr sz="570" b="1">
                          <a:solidFill>
                            <a:srgbClr val="1E242B"/>
                          </a:solidFill>
                          <a:latin typeface="Meiryo UI"/>
                        </a:defRPr>
                      </a:pPr>
                      <a:r>
                        <a:t>8. 2026年10月時点の進捗</a:t>
                      </a:r>
                    </a:p>
                  </a:txBody>
                  <a:tcPr anchor="ctr" marL="36576" marR="36576" marT="9144" marB="9144">
                    <a:solidFill>
                      <a:srgbClr val="F7F9FC"/>
                    </a:solidFill>
                  </a:tcPr>
                </a:tc>
                <a:tc>
                  <a:txBody>
                    <a:bodyPr wrap="square"/>
                    <a:lstStyle/>
                    <a:p>
                      <a:pPr algn="l">
                        <a:defRPr sz="570" b="1">
                          <a:solidFill>
                            <a:srgbClr val="B8292F"/>
                          </a:solidFill>
                          <a:latin typeface="Meiryo UI"/>
                        </a:defRPr>
                      </a:pPr>
                      <a:r>
                        <a:t>• Spica式Mini PC仮決定；U201廃止承認済（-15.12s）、U155廃止（-29.16s）・カバースイッチ（-8.88s）先行実施</a:t>
                      </a:r>
                    </a:p>
                  </a:txBody>
                  <a:tcPr anchor="ctr" marL="36576" marR="36576" marT="9144" marB="9144">
                    <a:solidFill>
                      <a:srgbClr val="F7F9FC"/>
                    </a:solidFill>
                  </a:tcPr>
                </a:tc>
                <a:tc>
                  <a:txBody>
                    <a:bodyPr wrap="square"/>
                    <a:lstStyle/>
                    <a:p>
                      <a:pPr algn="l">
                        <a:defRPr sz="570" b="1">
                          <a:solidFill>
                            <a:srgbClr val="B8292F"/>
                          </a:solidFill>
                          <a:latin typeface="Meiryo UI"/>
                        </a:defRPr>
                      </a:pPr>
                      <a:r>
                        <a:t>• PPT目視廃止（No.10）・U155廃止承認済；WeChat AI（No.38）をトライアル中</a:t>
                      </a:r>
                    </a:p>
                  </a:txBody>
                  <a:tcPr anchor="ctr" marL="36576" marR="36576" marT="9144" marB="9144">
                    <a:solidFill>
                      <a:srgbClr val="F7F9FC"/>
                    </a:solidFill>
                  </a:tcPr>
                </a:tc>
                <a:tc>
                  <a:txBody>
                    <a:bodyPr wrap="square"/>
                    <a:lstStyle/>
                    <a:p>
                      <a:pPr algn="l">
                        <a:defRPr sz="570" b="1">
                          <a:solidFill>
                            <a:srgbClr val="1E242B"/>
                          </a:solidFill>
                          <a:latin typeface="Meiryo UI"/>
                        </a:defRPr>
                      </a:pPr>
                      <a:r>
                        <a:t>• 10月工程表にて4ステップ削除済（-4.32秒/台）；VN提案.xlsxの見積完了；PMT1（2026年12月）準備中</a:t>
                      </a:r>
                    </a:p>
                  </a:txBody>
                  <a:tcPr anchor="ctr" marL="36576" marR="36576" marT="9144" marB="9144">
                    <a:solidFill>
                      <a:srgbClr val="F7F9FC"/>
                    </a:solidFill>
                  </a:tcPr>
                </a:tc>
                <a:tc>
                  <a:txBody>
                    <a:bodyPr wrap="square"/>
                    <a:lstStyle/>
                    <a:p>
                      <a:pPr algn="l">
                        <a:defRPr sz="570">
                          <a:solidFill>
                            <a:srgbClr val="1E242B"/>
                          </a:solidFill>
                          <a:latin typeface="Meiryo UI"/>
                        </a:defRPr>
                      </a:pPr>
                      <a:r>
                        <a:t>• 日程：DMT（8〜11月）→ PMT1（12月）→ PMT2（27年2月）→ MP（27年3月）</a:t>
                      </a:r>
                    </a:p>
                  </a:txBody>
                  <a:tcPr anchor="ctr" marL="36576" marR="36576" marT="9144" marB="9144">
                    <a:solidFill>
                      <a:srgbClr val="F7F9FC"/>
                    </a:solidFill>
                  </a:tcPr>
                </a:tc>
                <a:tc>
                  <a:txBody>
                    <a:bodyPr wrap="square"/>
                    <a:lstStyle/>
                    <a:p>
                      <a:pPr algn="l">
                        <a:defRPr sz="570">
                          <a:solidFill>
                            <a:srgbClr val="1E242B"/>
                          </a:solidFill>
                          <a:latin typeface="Meiryo UI"/>
                        </a:defRPr>
                      </a:pPr>
                      <a:r>
                        <a:t>連携会 第13〜17回;</a:t>
                      </a:r>
                      <a:br/>
                      <a:r>
                        <a:t>BM-003-F 10月</a:t>
                      </a:r>
                    </a:p>
                  </a:txBody>
                  <a:tcPr anchor="ctr" marL="36576" marR="36576" marT="9144" marB="9144">
                    <a:solidFill>
                      <a:srgbClr val="F7F9FC"/>
                    </a:solidFill>
                  </a:tcPr>
                </a:tc>
              </a:tr>
            </a:tbl>
          </a:graphicData>
        </a:graphic>
      </p:graphicFrame>
      <p:sp>
        <p:nvSpPr>
          <p:cNvPr id="8" name="Rectangle 7"/>
          <p:cNvSpPr/>
          <p:nvPr/>
        </p:nvSpPr>
        <p:spPr>
          <a:xfrm>
            <a:off x="274320" y="5596128"/>
            <a:ext cx="11643055" cy="896112"/>
          </a:xfrm>
          <a:prstGeom prst="rect">
            <a:avLst/>
          </a:prstGeom>
          <a:solidFill>
            <a:srgbClr val="F4F6F9"/>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5596128"/>
            <a:ext cx="11643055"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36576"/>
          <a:lstStyle/>
          <a:p>
            <a:pPr algn="ctr">
              <a:defRPr sz="980" b="1">
                <a:solidFill>
                  <a:srgbClr val="FFFFFF"/>
                </a:solidFill>
                <a:latin typeface="Meiryo UI"/>
              </a:defRPr>
            </a:pPr>
            <a:r>
              <a:t>提案件数の推移（28件 → 37件 → 38件）および標準時間の算出基準に関する補足</a:t>
            </a:r>
          </a:p>
        </p:txBody>
      </p:sp>
      <p:sp>
        <p:nvSpPr>
          <p:cNvPr id="10" name="TextBox 9"/>
          <p:cNvSpPr txBox="1"/>
          <p:nvPr/>
        </p:nvSpPr>
        <p:spPr>
          <a:xfrm>
            <a:off x="347472" y="5934456"/>
            <a:ext cx="11496751" cy="521208"/>
          </a:xfrm>
          <a:prstGeom prst="rect">
            <a:avLst/>
          </a:prstGeom>
          <a:noFill/>
        </p:spPr>
        <p:txBody>
          <a:bodyPr wrap="square" lIns="36576" rIns="36576" tIns="18288" bIns="18288">
            <a:spAutoFit/>
          </a:bodyPr>
          <a:lstStyle/>
          <a:p>
            <a:pPr>
              <a:spcAft>
                <a:spcPts val="250"/>
              </a:spcAft>
              <a:defRPr sz="720">
                <a:solidFill>
                  <a:srgbClr val="1E242B"/>
                </a:solidFill>
                <a:latin typeface="Meiryo UI"/>
              </a:defRPr>
            </a:pPr>
            <a:r>
              <a:t>• 提案件数の推移：(1) 8月報告時点では28件（JP：7件、CN：10件、VN：11件）、(2) 9月にVNが9件（No.29〜37）を追加し37件、(3) 最新の「IrisEXP改善提案まとめ.xlsx」にてCNのNo.38（WeChat AI画像判定）が追加され計38件（JP：7件、CN：11件、VN：20件）。なお「IrisEXP cn改善案list.xlsx」が11行あるのは、まとめ表でJP No.2に統合されたU155廃止（-28.2秒）を別行計上しているため。</a:t>
            </a:r>
          </a:p>
          <a:p>
            <a:pPr>
              <a:spcAft>
                <a:spcPts val="250"/>
              </a:spcAft>
              <a:defRPr sz="720">
                <a:solidFill>
                  <a:srgbClr val="1E242B"/>
                </a:solidFill>
                <a:latin typeface="Meiryo UI"/>
              </a:defRPr>
            </a:pPr>
            <a:r>
              <a:t>• 時間の算出基準：JPは「機械待ちを含まない正味手作業時間」（Iris2024：Color 1,171.70秒／Mono 1,120.90秒、IrisEXP改善無：U413 +89秒を含めColor 1,260.70秒）。VNは「機械待ち・印刷・U950エージング285秒を含むK1〜K8工程総時間」（Iris2024：2,350.00秒/台、14名）。</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91440"/>
            <a:ext cx="196596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第6.2章：JP・CN提案一覧</a:t>
            </a:r>
          </a:p>
        </p:txBody>
      </p:sp>
      <p:sp>
        <p:nvSpPr>
          <p:cNvPr id="4" name="TextBox 3"/>
          <p:cNvSpPr txBox="1"/>
          <p:nvPr/>
        </p:nvSpPr>
        <p:spPr>
          <a:xfrm>
            <a:off x="2286000" y="54864"/>
            <a:ext cx="9052560" cy="457200"/>
          </a:xfrm>
          <a:prstGeom prst="rect">
            <a:avLst/>
          </a:prstGeom>
          <a:noFill/>
        </p:spPr>
        <p:txBody>
          <a:bodyPr wrap="square" lIns="18288" rIns="18288">
            <a:spAutoFit/>
          </a:bodyPr>
          <a:lstStyle/>
          <a:p>
            <a:pPr>
              <a:defRPr sz="1450" b="1">
                <a:solidFill>
                  <a:srgbClr val="FFFFFF"/>
                </a:solidFill>
                <a:latin typeface="Meiryo UI"/>
              </a:defRPr>
            </a:pPr>
            <a:r>
              <a:t>日本提案7件（No.1 〜 No.7）および中国提案11件（No.8 〜 No.17, No.38）一覧</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10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lstStyle/>
          <a:p>
            <a:pPr algn="ctr">
              <a:defRPr sz="980" b="1">
                <a:solidFill>
                  <a:srgbClr val="1B365D"/>
                </a:solidFill>
                <a:latin typeface="Meiryo UI"/>
              </a:defRPr>
            </a:pPr>
            <a:r>
              <a:t>■ JP・CN提案はVN提案と明確に区分して管理。JP・CN主導のソフト改善および検査項目廃止はVNラインにも共通展開される。</a:t>
            </a:r>
          </a:p>
        </p:txBody>
      </p:sp>
      <p:sp>
        <p:nvSpPr>
          <p:cNvPr id="7" name="TextBox 6"/>
          <p:cNvSpPr txBox="1"/>
          <p:nvPr/>
        </p:nvSpPr>
        <p:spPr>
          <a:xfrm>
            <a:off x="274320" y="1216152"/>
            <a:ext cx="5440680" cy="201168"/>
          </a:xfrm>
          <a:prstGeom prst="rect">
            <a:avLst/>
          </a:prstGeom>
          <a:noFill/>
        </p:spPr>
        <p:txBody>
          <a:bodyPr wrap="square" lIns="18288" rIns="18288" tIns="9144" bIns="9144">
            <a:spAutoFit/>
          </a:bodyPr>
          <a:lstStyle/>
          <a:p>
            <a:pPr>
              <a:defRPr sz="780" b="1">
                <a:solidFill>
                  <a:srgbClr val="1B365D"/>
                </a:solidFill>
                <a:latin typeface="Meiryo UI"/>
              </a:defRPr>
            </a:pPr>
            <a:r>
              <a:t>■ 日本提案 7件（JP：No.1 〜 No.7）</a:t>
            </a:r>
          </a:p>
        </p:txBody>
      </p:sp>
      <p:graphicFrame>
        <p:nvGraphicFramePr>
          <p:cNvPr id="8" name="Table 7"/>
          <p:cNvGraphicFramePr>
            <a:graphicFrameLocks noGrp="1"/>
          </p:cNvGraphicFramePr>
          <p:nvPr/>
        </p:nvGraphicFramePr>
        <p:xfrm>
          <a:off x="274320" y="1426464"/>
          <a:ext cx="5440680" cy="4846320"/>
        </p:xfrm>
        <a:graphic>
          <a:graphicData uri="http://schemas.openxmlformats.org/drawingml/2006/table">
            <a:tbl>
              <a:tblPr firstRow="1" bandRow="1">
                <a:tableStyleId>{5C22544A-7EE6-4342-B048-85BDC9FD1C3A}</a:tableStyleId>
              </a:tblPr>
              <a:tblGrid>
                <a:gridCol w="594360"/>
                <a:gridCol w="1691640"/>
                <a:gridCol w="1417320"/>
                <a:gridCol w="822960"/>
                <a:gridCol w="914400"/>
              </a:tblGrid>
              <a:tr h="538480">
                <a:tc>
                  <a:txBody>
                    <a:bodyPr wrap="square"/>
                    <a:lstStyle/>
                    <a:p>
                      <a:pPr algn="ctr">
                        <a:defRPr sz="710" b="1">
                          <a:solidFill>
                            <a:srgbClr val="FFFFFF"/>
                          </a:solidFill>
                          <a:latin typeface="Meiryo UI"/>
                        </a:defRPr>
                      </a:pPr>
                      <a:r>
                        <a:t>番号</a:t>
                      </a:r>
                    </a:p>
                  </a:txBody>
                  <a:tcPr anchor="ctr" marL="36576" marR="36576" marT="9144" marB="9144">
                    <a:solidFill>
                      <a:srgbClr val="1B365D"/>
                    </a:solidFill>
                  </a:tcPr>
                </a:tc>
                <a:tc>
                  <a:txBody>
                    <a:bodyPr wrap="square"/>
                    <a:lstStyle/>
                    <a:p>
                      <a:pPr algn="ctr">
                        <a:defRPr sz="710" b="1">
                          <a:solidFill>
                            <a:srgbClr val="FFFFFF"/>
                          </a:solidFill>
                          <a:latin typeface="Meiryo UI"/>
                        </a:defRPr>
                      </a:pPr>
                      <a:r>
                        <a:t>改善提案名 (JP)</a:t>
                      </a:r>
                    </a:p>
                  </a:txBody>
                  <a:tcPr anchor="ctr" marL="36576" marR="36576" marT="9144" marB="9144">
                    <a:solidFill>
                      <a:srgbClr val="1B365D"/>
                    </a:solidFill>
                  </a:tcPr>
                </a:tc>
                <a:tc>
                  <a:txBody>
                    <a:bodyPr wrap="square"/>
                    <a:lstStyle/>
                    <a:p>
                      <a:pPr algn="ctr">
                        <a:defRPr sz="710" b="1">
                          <a:solidFill>
                            <a:srgbClr val="FFFFFF"/>
                          </a:solidFill>
                          <a:latin typeface="Meiryo UI"/>
                        </a:defRPr>
                      </a:pPr>
                      <a:r>
                        <a:t>改善内容・連携会方針</a:t>
                      </a:r>
                    </a:p>
                  </a:txBody>
                  <a:tcPr anchor="ctr" marL="36576" marR="36576" marT="9144" marB="9144">
                    <a:solidFill>
                      <a:srgbClr val="1B365D"/>
                    </a:solidFill>
                  </a:tcPr>
                </a:tc>
                <a:tc>
                  <a:txBody>
                    <a:bodyPr wrap="square"/>
                    <a:lstStyle/>
                    <a:p>
                      <a:pPr algn="ctr">
                        <a:defRPr sz="710" b="1">
                          <a:solidFill>
                            <a:srgbClr val="FFFFFF"/>
                          </a:solidFill>
                          <a:latin typeface="Meiryo UI"/>
                        </a:defRPr>
                      </a:pPr>
                      <a:r>
                        <a:t>削減時間 (秒)</a:t>
                      </a:r>
                    </a:p>
                  </a:txBody>
                  <a:tcPr anchor="ctr" marL="36576" marR="36576" marT="9144" marB="9144">
                    <a:solidFill>
                      <a:srgbClr val="1B365D"/>
                    </a:solidFill>
                  </a:tcPr>
                </a:tc>
                <a:tc>
                  <a:txBody>
                    <a:bodyPr wrap="square"/>
                    <a:lstStyle/>
                    <a:p>
                      <a:pPr algn="ctr">
                        <a:defRPr sz="710" b="1">
                          <a:solidFill>
                            <a:srgbClr val="FFFFFF"/>
                          </a:solidFill>
                          <a:latin typeface="Meiryo UI"/>
                        </a:defRPr>
                      </a:pPr>
                      <a:r>
                        <a:t>状況・費用</a:t>
                      </a:r>
                    </a:p>
                  </a:txBody>
                  <a:tcPr anchor="ctr" marL="36576" marR="36576" marT="9144" marB="9144">
                    <a:solidFill>
                      <a:srgbClr val="1B365D"/>
                    </a:solidFill>
                  </a:tcPr>
                </a:tc>
              </a:tr>
              <a:tr h="538480">
                <a:tc>
                  <a:txBody>
                    <a:bodyPr wrap="square"/>
                    <a:lstStyle/>
                    <a:p>
                      <a:pPr algn="ctr">
                        <a:defRPr sz="630" b="1">
                          <a:solidFill>
                            <a:srgbClr val="1E242B"/>
                          </a:solidFill>
                          <a:latin typeface="Meiryo UI"/>
                        </a:defRPr>
                      </a:pPr>
                      <a:r>
                        <a:t>No.1</a:t>
                      </a:r>
                      <a:br/>
                      <a:r>
                        <a:t>(JP)</a:t>
                      </a:r>
                    </a:p>
                  </a:txBody>
                  <a:tcPr anchor="ctr" marL="36576" marR="36576" marT="9144" marB="9144">
                    <a:solidFill>
                      <a:srgbClr val="FFFFFF"/>
                    </a:solidFill>
                  </a:tcPr>
                </a:tc>
                <a:tc>
                  <a:txBody>
                    <a:bodyPr wrap="square"/>
                    <a:lstStyle/>
                    <a:p>
                      <a:pPr algn="l">
                        <a:defRPr sz="630">
                          <a:solidFill>
                            <a:srgbClr val="1E242B"/>
                          </a:solidFill>
                          <a:latin typeface="Meiryo UI"/>
                        </a:defRPr>
                      </a:pPr>
                      <a:r>
                        <a:t>トナーキャニスター後入れ化</a:t>
                      </a:r>
                    </a:p>
                  </a:txBody>
                  <a:tcPr anchor="ctr" marL="36576" marR="36576" marT="9144" marB="9144">
                    <a:solidFill>
                      <a:srgbClr val="FFFFFF"/>
                    </a:solidFill>
                  </a:tcPr>
                </a:tc>
                <a:tc>
                  <a:txBody>
                    <a:bodyPr wrap="square"/>
                    <a:lstStyle/>
                    <a:p>
                      <a:pPr algn="l">
                        <a:defRPr sz="630">
                          <a:solidFill>
                            <a:srgbClr val="1E242B"/>
                          </a:solidFill>
                          <a:latin typeface="Meiryo UI"/>
                        </a:defRPr>
                      </a:pPr>
                      <a:r>
                        <a:t>検査中の機内トナー汚れ防止のため、トナー装着を最終工程へ移動。</a:t>
                      </a:r>
                    </a:p>
                  </a:txBody>
                  <a:tcPr anchor="ctr" marL="36576" marR="36576" marT="9144" marB="9144">
                    <a:solidFill>
                      <a:srgbClr val="FFFFFF"/>
                    </a:solidFill>
                  </a:tcPr>
                </a:tc>
                <a:tc>
                  <a:txBody>
                    <a:bodyPr wrap="square"/>
                    <a:lstStyle/>
                    <a:p>
                      <a:pPr algn="ctr">
                        <a:defRPr sz="630">
                          <a:solidFill>
                            <a:srgbClr val="1E242B"/>
                          </a:solidFill>
                          <a:latin typeface="Meiryo UI"/>
                        </a:defRPr>
                      </a:pPr>
                      <a:r>
                        <a:t>-13.00 秒</a:t>
                      </a:r>
                      <a:br/>
                      <a:r>
                        <a:t>(4ステップ)</a:t>
                      </a:r>
                    </a:p>
                  </a:txBody>
                  <a:tcPr anchor="ctr" marL="36576" marR="36576" marT="9144" marB="9144">
                    <a:solidFill>
                      <a:srgbClr val="FFFFFF"/>
                    </a:solidFill>
                  </a:tcPr>
                </a:tc>
                <a:tc>
                  <a:txBody>
                    <a:bodyPr wrap="square"/>
                    <a:lstStyle/>
                    <a:p>
                      <a:pPr algn="l">
                        <a:defRPr sz="630">
                          <a:solidFill>
                            <a:srgbClr val="1E242B"/>
                          </a:solidFill>
                          <a:latin typeface="Meiryo UI"/>
                        </a:defRPr>
                      </a:pPr>
                      <a:r>
                        <a:t>画質影響を確認中</a:t>
                      </a:r>
                    </a:p>
                  </a:txBody>
                  <a:tcPr anchor="ctr" marL="36576" marR="36576" marT="9144" marB="9144">
                    <a:solidFill>
                      <a:srgbClr val="FFFFFF"/>
                    </a:solidFill>
                  </a:tcPr>
                </a:tc>
              </a:tr>
              <a:tr h="538480">
                <a:tc>
                  <a:txBody>
                    <a:bodyPr wrap="square"/>
                    <a:lstStyle/>
                    <a:p>
                      <a:pPr algn="ctr">
                        <a:defRPr sz="630" b="1">
                          <a:solidFill>
                            <a:srgbClr val="1E242B"/>
                          </a:solidFill>
                          <a:latin typeface="Meiryo UI"/>
                        </a:defRPr>
                      </a:pPr>
                      <a:r>
                        <a:t>No.2</a:t>
                      </a:r>
                      <a:br/>
                      <a:r>
                        <a:t>(JP/CN/VN)</a:t>
                      </a:r>
                    </a:p>
                  </a:txBody>
                  <a:tcPr anchor="ctr" marL="36576" marR="36576" marT="9144" marB="9144">
                    <a:solidFill>
                      <a:srgbClr val="EAF7EE"/>
                    </a:solidFill>
                  </a:tcPr>
                </a:tc>
                <a:tc>
                  <a:txBody>
                    <a:bodyPr wrap="square"/>
                    <a:lstStyle/>
                    <a:p>
                      <a:pPr algn="l">
                        <a:defRPr sz="630" b="1">
                          <a:solidFill>
                            <a:srgbClr val="B8292F"/>
                          </a:solidFill>
                          <a:latin typeface="Meiryo UI"/>
                        </a:defRPr>
                      </a:pPr>
                      <a:r>
                        <a:t>U155設定（廃トナーセンサ）の廃止</a:t>
                      </a:r>
                    </a:p>
                  </a:txBody>
                  <a:tcPr anchor="ctr" marL="36576" marR="36576" marT="9144" marB="9144">
                    <a:solidFill>
                      <a:srgbClr val="EAF7EE"/>
                    </a:solidFill>
                  </a:tcPr>
                </a:tc>
                <a:tc>
                  <a:txBody>
                    <a:bodyPr wrap="square"/>
                    <a:lstStyle/>
                    <a:p>
                      <a:pPr algn="l">
                        <a:defRPr sz="630" b="1">
                          <a:solidFill>
                            <a:srgbClr val="B8292F"/>
                          </a:solidFill>
                          <a:latin typeface="Meiryo UI"/>
                        </a:defRPr>
                      </a:pPr>
                      <a:r>
                        <a:t>Sub-Assyでの抵抗測定＋本体Push SW追加によりU155設定を廃止。</a:t>
                      </a:r>
                    </a:p>
                  </a:txBody>
                  <a:tcPr anchor="ctr" marL="36576" marR="36576" marT="9144" marB="9144">
                    <a:solidFill>
                      <a:srgbClr val="EAF7EE"/>
                    </a:solidFill>
                  </a:tcPr>
                </a:tc>
                <a:tc>
                  <a:txBody>
                    <a:bodyPr wrap="square"/>
                    <a:lstStyle/>
                    <a:p>
                      <a:pPr algn="ctr">
                        <a:defRPr sz="630">
                          <a:solidFill>
                            <a:srgbClr val="1E242B"/>
                          </a:solidFill>
                          <a:latin typeface="Meiryo UI"/>
                        </a:defRPr>
                      </a:pPr>
                      <a:r>
                        <a:t>-29.16 秒</a:t>
                      </a:r>
                      <a:br/>
                      <a:r>
                        <a:t>(数式 -29.1s)</a:t>
                      </a:r>
                      <a:br/>
                      <a:r>
                        <a:t>［CN: -28.2s］</a:t>
                      </a:r>
                    </a:p>
                  </a:txBody>
                  <a:tcPr anchor="ctr" marL="36576" marR="36576" marT="9144" marB="9144">
                    <a:solidFill>
                      <a:srgbClr val="EAF7EE"/>
                    </a:solidFill>
                  </a:tcPr>
                </a:tc>
                <a:tc>
                  <a:txBody>
                    <a:bodyPr wrap="square"/>
                    <a:lstStyle/>
                    <a:p>
                      <a:pPr algn="l">
                        <a:defRPr sz="630">
                          <a:solidFill>
                            <a:srgbClr val="1E242B"/>
                          </a:solidFill>
                          <a:latin typeface="Meiryo UI"/>
                        </a:defRPr>
                      </a:pPr>
                      <a:r>
                        <a:t>先行実施</a:t>
                      </a:r>
                      <a:br/>
                      <a:r>
                        <a:t>工場設備費 0円</a:t>
                      </a:r>
                    </a:p>
                  </a:txBody>
                  <a:tcPr anchor="ctr" marL="36576" marR="36576" marT="9144" marB="9144">
                    <a:solidFill>
                      <a:srgbClr val="EAF7EE"/>
                    </a:solidFill>
                  </a:tcPr>
                </a:tc>
              </a:tr>
              <a:tr h="538480">
                <a:tc>
                  <a:txBody>
                    <a:bodyPr wrap="square"/>
                    <a:lstStyle/>
                    <a:p>
                      <a:pPr algn="ctr">
                        <a:defRPr sz="630" b="1">
                          <a:solidFill>
                            <a:srgbClr val="1E242B"/>
                          </a:solidFill>
                          <a:latin typeface="Meiryo UI"/>
                        </a:defRPr>
                      </a:pPr>
                      <a:r>
                        <a:t>No.3</a:t>
                      </a:r>
                      <a:br/>
                      <a:r>
                        <a:t>(JP/VN)</a:t>
                      </a:r>
                    </a:p>
                  </a:txBody>
                  <a:tcPr anchor="ctr" marL="36576" marR="36576" marT="9144" marB="9144">
                    <a:solidFill>
                      <a:srgbClr val="EAF7EE"/>
                    </a:solidFill>
                  </a:tcPr>
                </a:tc>
                <a:tc>
                  <a:txBody>
                    <a:bodyPr wrap="square"/>
                    <a:lstStyle/>
                    <a:p>
                      <a:pPr algn="l">
                        <a:defRPr sz="630" b="1">
                          <a:solidFill>
                            <a:srgbClr val="B8292F"/>
                          </a:solidFill>
                          <a:latin typeface="Meiryo UI"/>
                        </a:defRPr>
                      </a:pPr>
                      <a:r>
                        <a:t>U201タッチパネル検査の廃止</a:t>
                      </a:r>
                    </a:p>
                  </a:txBody>
                  <a:tcPr anchor="ctr" marL="36576" marR="36576" marT="9144" marB="9144">
                    <a:solidFill>
                      <a:srgbClr val="EAF7EE"/>
                    </a:solidFill>
                  </a:tcPr>
                </a:tc>
                <a:tc>
                  <a:txBody>
                    <a:bodyPr wrap="square"/>
                    <a:lstStyle/>
                    <a:p>
                      <a:pPr algn="l">
                        <a:defRPr sz="630" b="1">
                          <a:solidFill>
                            <a:srgbClr val="B8292F"/>
                          </a:solidFill>
                          <a:latin typeface="Meiryo UI"/>
                        </a:defRPr>
                      </a:pPr>
                      <a:r>
                        <a:t>3点タッチを廃止し、パネルAssy工場の検査データをHost PCで照合。</a:t>
                      </a:r>
                    </a:p>
                  </a:txBody>
                  <a:tcPr anchor="ctr" marL="36576" marR="36576" marT="9144" marB="9144">
                    <a:solidFill>
                      <a:srgbClr val="EAF7EE"/>
                    </a:solidFill>
                  </a:tcPr>
                </a:tc>
                <a:tc>
                  <a:txBody>
                    <a:bodyPr wrap="square"/>
                    <a:lstStyle/>
                    <a:p>
                      <a:pPr algn="ctr">
                        <a:defRPr sz="630">
                          <a:solidFill>
                            <a:srgbClr val="1E242B"/>
                          </a:solidFill>
                          <a:latin typeface="Meiryo UI"/>
                        </a:defRPr>
                      </a:pPr>
                      <a:r>
                        <a:t>-15.12 秒</a:t>
                      </a:r>
                      <a:br/>
                      <a:r>
                        <a:t>(数式 -15.0s)</a:t>
                      </a:r>
                      <a:br/>
                      <a:r>
                        <a:t>(6ステップ削除確定)</a:t>
                      </a:r>
                    </a:p>
                  </a:txBody>
                  <a:tcPr anchor="ctr" marL="36576" marR="36576" marT="9144" marB="9144">
                    <a:solidFill>
                      <a:srgbClr val="EAF7EE"/>
                    </a:solidFill>
                  </a:tcPr>
                </a:tc>
                <a:tc>
                  <a:txBody>
                    <a:bodyPr wrap="square"/>
                    <a:lstStyle/>
                    <a:p>
                      <a:pPr algn="l">
                        <a:defRPr sz="630" b="1">
                          <a:solidFill>
                            <a:srgbClr val="1E242B"/>
                          </a:solidFill>
                          <a:latin typeface="Meiryo UI"/>
                        </a:defRPr>
                      </a:pPr>
                      <a:r>
                        <a:t>廃止確定 (第11・12回)</a:t>
                      </a:r>
                      <a:br/>
                      <a:r>
                        <a:t>工場設備費 0円</a:t>
                      </a:r>
                    </a:p>
                  </a:txBody>
                  <a:tcPr anchor="ctr" marL="36576" marR="36576" marT="9144" marB="9144">
                    <a:solidFill>
                      <a:srgbClr val="EAF7EE"/>
                    </a:solidFill>
                  </a:tcPr>
                </a:tc>
              </a:tr>
              <a:tr h="538480">
                <a:tc>
                  <a:txBody>
                    <a:bodyPr wrap="square"/>
                    <a:lstStyle/>
                    <a:p>
                      <a:pPr algn="ctr">
                        <a:defRPr sz="630" b="1">
                          <a:solidFill>
                            <a:srgbClr val="1E242B"/>
                          </a:solidFill>
                          <a:latin typeface="Meiryo UI"/>
                        </a:defRPr>
                      </a:pPr>
                      <a:r>
                        <a:t>No.4</a:t>
                      </a:r>
                      <a:br/>
                      <a:r>
                        <a:t>(JP/VN)</a:t>
                      </a:r>
                    </a:p>
                  </a:txBody>
                  <a:tcPr anchor="ctr" marL="36576" marR="36576" marT="9144" marB="9144">
                    <a:solidFill>
                      <a:srgbClr val="EAF7EE"/>
                    </a:solidFill>
                  </a:tcPr>
                </a:tc>
                <a:tc>
                  <a:txBody>
                    <a:bodyPr wrap="square"/>
                    <a:lstStyle/>
                    <a:p>
                      <a:pPr algn="l">
                        <a:defRPr sz="630" b="1">
                          <a:solidFill>
                            <a:srgbClr val="B8292F"/>
                          </a:solidFill>
                          <a:latin typeface="Meiryo UI"/>
                        </a:defRPr>
                      </a:pPr>
                      <a:r>
                        <a:t>カバー開閉スイッチ検査の廃止</a:t>
                      </a:r>
                    </a:p>
                  </a:txBody>
                  <a:tcPr anchor="ctr" marL="36576" marR="36576" marT="9144" marB="9144">
                    <a:solidFill>
                      <a:srgbClr val="EAF7EE"/>
                    </a:solidFill>
                  </a:tcPr>
                </a:tc>
                <a:tc>
                  <a:txBody>
                    <a:bodyPr wrap="square"/>
                    <a:lstStyle/>
                    <a:p>
                      <a:pPr algn="l">
                        <a:defRPr sz="630">
                          <a:solidFill>
                            <a:srgbClr val="1E242B"/>
                          </a:solidFill>
                          <a:latin typeface="Meiryo UI"/>
                        </a:defRPr>
                      </a:pPr>
                      <a:r>
                        <a:t>セミファイナル自動シーケンス内でドアスイッチ信号を自動確認。</a:t>
                      </a:r>
                    </a:p>
                  </a:txBody>
                  <a:tcPr anchor="ctr" marL="36576" marR="36576" marT="9144" marB="9144">
                    <a:solidFill>
                      <a:srgbClr val="EAF7EE"/>
                    </a:solidFill>
                  </a:tcPr>
                </a:tc>
                <a:tc>
                  <a:txBody>
                    <a:bodyPr wrap="square"/>
                    <a:lstStyle/>
                    <a:p>
                      <a:pPr algn="ctr">
                        <a:defRPr sz="630">
                          <a:solidFill>
                            <a:srgbClr val="1E242B"/>
                          </a:solidFill>
                          <a:latin typeface="Meiryo UI"/>
                        </a:defRPr>
                      </a:pPr>
                      <a:r>
                        <a:t>-8.88 秒</a:t>
                      </a:r>
                      <a:br/>
                      <a:r>
                        <a:t>(数式 -8.0s)</a:t>
                      </a:r>
                      <a:br/>
                      <a:r>
                        <a:t>(12ステップ)</a:t>
                      </a:r>
                    </a:p>
                  </a:txBody>
                  <a:tcPr anchor="ctr" marL="36576" marR="36576" marT="9144" marB="9144">
                    <a:solidFill>
                      <a:srgbClr val="EAF7EE"/>
                    </a:solidFill>
                  </a:tcPr>
                </a:tc>
                <a:tc>
                  <a:txBody>
                    <a:bodyPr wrap="square"/>
                    <a:lstStyle/>
                    <a:p>
                      <a:pPr algn="l">
                        <a:defRPr sz="630">
                          <a:solidFill>
                            <a:srgbClr val="1E242B"/>
                          </a:solidFill>
                          <a:latin typeface="Meiryo UI"/>
                        </a:defRPr>
                      </a:pPr>
                      <a:r>
                        <a:t>先行実施</a:t>
                      </a:r>
                      <a:br/>
                      <a:r>
                        <a:t>VN No.36と同期</a:t>
                      </a:r>
                    </a:p>
                  </a:txBody>
                  <a:tcPr anchor="ctr" marL="36576" marR="36576" marT="9144" marB="9144">
                    <a:solidFill>
                      <a:srgbClr val="EAF7EE"/>
                    </a:solidFill>
                  </a:tcPr>
                </a:tc>
              </a:tr>
              <a:tr h="538480">
                <a:tc>
                  <a:txBody>
                    <a:bodyPr wrap="square"/>
                    <a:lstStyle/>
                    <a:p>
                      <a:pPr algn="ctr">
                        <a:defRPr sz="630" b="1">
                          <a:solidFill>
                            <a:srgbClr val="1E242B"/>
                          </a:solidFill>
                          <a:latin typeface="Meiryo UI"/>
                        </a:defRPr>
                      </a:pPr>
                      <a:r>
                        <a:t>No.5</a:t>
                      </a:r>
                      <a:br/>
                      <a:r>
                        <a:t>(JP)</a:t>
                      </a:r>
                    </a:p>
                  </a:txBody>
                  <a:tcPr anchor="ctr" marL="36576" marR="36576" marT="9144" marB="9144">
                    <a:solidFill>
                      <a:srgbClr val="EAF7EE"/>
                    </a:solidFill>
                  </a:tcPr>
                </a:tc>
                <a:tc>
                  <a:txBody>
                    <a:bodyPr wrap="square"/>
                    <a:lstStyle/>
                    <a:p>
                      <a:pPr algn="l">
                        <a:defRPr sz="630" b="1">
                          <a:solidFill>
                            <a:srgbClr val="B8292F"/>
                          </a:solidFill>
                          <a:latin typeface="Meiryo UI"/>
                        </a:defRPr>
                      </a:pPr>
                      <a:r>
                        <a:t>意図的JAM発生確認の廃止</a:t>
                      </a:r>
                    </a:p>
                  </a:txBody>
                  <a:tcPr anchor="ctr" marL="36576" marR="36576" marT="9144" marB="9144">
                    <a:solidFill>
                      <a:srgbClr val="EAF7EE"/>
                    </a:solidFill>
                  </a:tcPr>
                </a:tc>
                <a:tc>
                  <a:txBody>
                    <a:bodyPr wrap="square"/>
                    <a:lstStyle/>
                    <a:p>
                      <a:pPr algn="l">
                        <a:defRPr sz="630" b="1">
                          <a:solidFill>
                            <a:srgbClr val="B8292F"/>
                          </a:solidFill>
                          <a:latin typeface="Meiryo UI"/>
                        </a:defRPr>
                      </a:pPr>
                      <a:r>
                        <a:t>調整ライン上で意図的に紙詰まり（JAM）を発生させる検査を廃止。</a:t>
                      </a:r>
                    </a:p>
                  </a:txBody>
                  <a:tcPr anchor="ctr" marL="36576" marR="36576" marT="9144" marB="9144">
                    <a:solidFill>
                      <a:srgbClr val="EAF7EE"/>
                    </a:solidFill>
                  </a:tcPr>
                </a:tc>
                <a:tc>
                  <a:txBody>
                    <a:bodyPr wrap="square"/>
                    <a:lstStyle/>
                    <a:p>
                      <a:pPr algn="ctr">
                        <a:defRPr sz="630">
                          <a:solidFill>
                            <a:srgbClr val="1E242B"/>
                          </a:solidFill>
                          <a:latin typeface="Meiryo UI"/>
                        </a:defRPr>
                      </a:pPr>
                      <a:r>
                        <a:t>-11.16 秒</a:t>
                      </a:r>
                      <a:br/>
                      <a:r>
                        <a:t>(数式 -11.0s)</a:t>
                      </a:r>
                      <a:br/>
                      <a:r>
                        <a:t>(6ステップ)</a:t>
                      </a:r>
                    </a:p>
                  </a:txBody>
                  <a:tcPr anchor="ctr" marL="36576" marR="36576" marT="9144" marB="9144">
                    <a:solidFill>
                      <a:srgbClr val="EAF7EE"/>
                    </a:solidFill>
                  </a:tcPr>
                </a:tc>
                <a:tc>
                  <a:txBody>
                    <a:bodyPr wrap="square"/>
                    <a:lstStyle/>
                    <a:p>
                      <a:pPr algn="l">
                        <a:defRPr sz="630">
                          <a:solidFill>
                            <a:srgbClr val="1E242B"/>
                          </a:solidFill>
                          <a:latin typeface="Meiryo UI"/>
                        </a:defRPr>
                      </a:pPr>
                      <a:r>
                        <a:t>先行実施</a:t>
                      </a:r>
                      <a:br/>
                      <a:r>
                        <a:t>CN No.14と同期</a:t>
                      </a:r>
                    </a:p>
                  </a:txBody>
                  <a:tcPr anchor="ctr" marL="36576" marR="36576" marT="9144" marB="9144">
                    <a:solidFill>
                      <a:srgbClr val="EAF7EE"/>
                    </a:solidFill>
                  </a:tcPr>
                </a:tc>
              </a:tr>
              <a:tr h="538480">
                <a:tc>
                  <a:txBody>
                    <a:bodyPr wrap="square"/>
                    <a:lstStyle/>
                    <a:p>
                      <a:pPr algn="ctr">
                        <a:defRPr sz="630" b="1">
                          <a:solidFill>
                            <a:srgbClr val="1E242B"/>
                          </a:solidFill>
                          <a:latin typeface="Meiryo UI"/>
                        </a:defRPr>
                      </a:pPr>
                      <a:r>
                        <a:t>No.6</a:t>
                      </a:r>
                      <a:br/>
                      <a:r>
                        <a:t>(JP/VN)</a:t>
                      </a:r>
                    </a:p>
                  </a:txBody>
                  <a:tcPr anchor="ctr" marL="36576" marR="36576" marT="9144" marB="9144">
                    <a:solidFill>
                      <a:srgbClr val="EAF7EE"/>
                    </a:solidFill>
                  </a:tcPr>
                </a:tc>
                <a:tc>
                  <a:txBody>
                    <a:bodyPr wrap="square"/>
                    <a:lstStyle/>
                    <a:p>
                      <a:pPr algn="l">
                        <a:defRPr sz="630" b="1">
                          <a:solidFill>
                            <a:srgbClr val="B8292F"/>
                          </a:solidFill>
                          <a:latin typeface="Meiryo UI"/>
                        </a:defRPr>
                      </a:pPr>
                      <a:r>
                        <a:t>USBホスト検査（U208）の廃止</a:t>
                      </a:r>
                    </a:p>
                  </a:txBody>
                  <a:tcPr anchor="ctr" marL="36576" marR="36576" marT="9144" marB="9144">
                    <a:solidFill>
                      <a:srgbClr val="EAF7EE"/>
                    </a:solidFill>
                  </a:tcPr>
                </a:tc>
                <a:tc>
                  <a:txBody>
                    <a:bodyPr wrap="square"/>
                    <a:lstStyle/>
                    <a:p>
                      <a:pPr algn="l">
                        <a:defRPr sz="630">
                          <a:solidFill>
                            <a:srgbClr val="1E242B"/>
                          </a:solidFill>
                          <a:latin typeface="Meiryo UI"/>
                        </a:defRPr>
                      </a:pPr>
                      <a:r>
                        <a:t>冒頭のFW書込用USBメモリ接続にてUSBホスト機能を同時に保証。</a:t>
                      </a:r>
                    </a:p>
                  </a:txBody>
                  <a:tcPr anchor="ctr" marL="36576" marR="36576" marT="9144" marB="9144">
                    <a:solidFill>
                      <a:srgbClr val="EAF7EE"/>
                    </a:solidFill>
                  </a:tcPr>
                </a:tc>
                <a:tc>
                  <a:txBody>
                    <a:bodyPr wrap="square"/>
                    <a:lstStyle/>
                    <a:p>
                      <a:pPr algn="ctr">
                        <a:defRPr sz="630">
                          <a:solidFill>
                            <a:srgbClr val="1E242B"/>
                          </a:solidFill>
                          <a:latin typeface="Meiryo UI"/>
                        </a:defRPr>
                      </a:pPr>
                      <a:r>
                        <a:t>-3.96 秒</a:t>
                      </a:r>
                      <a:br/>
                      <a:r>
                        <a:t>(数式 -2.24s)</a:t>
                      </a:r>
                      <a:br/>
                      <a:r>
                        <a:t>(3ステップ)</a:t>
                      </a:r>
                    </a:p>
                  </a:txBody>
                  <a:tcPr anchor="ctr" marL="36576" marR="36576" marT="9144" marB="9144">
                    <a:solidFill>
                      <a:srgbClr val="EAF7EE"/>
                    </a:solidFill>
                  </a:tcPr>
                </a:tc>
                <a:tc>
                  <a:txBody>
                    <a:bodyPr wrap="square"/>
                    <a:lstStyle/>
                    <a:p>
                      <a:pPr algn="l">
                        <a:defRPr sz="630">
                          <a:solidFill>
                            <a:srgbClr val="1E242B"/>
                          </a:solidFill>
                          <a:latin typeface="Meiryo UI"/>
                        </a:defRPr>
                      </a:pPr>
                      <a:r>
                        <a:t>先行実施</a:t>
                      </a:r>
                      <a:br/>
                      <a:r>
                        <a:t>No.24ロボット代替</a:t>
                      </a:r>
                    </a:p>
                  </a:txBody>
                  <a:tcPr anchor="ctr" marL="36576" marR="36576" marT="9144" marB="9144">
                    <a:solidFill>
                      <a:srgbClr val="EAF7EE"/>
                    </a:solidFill>
                  </a:tcPr>
                </a:tc>
              </a:tr>
              <a:tr h="538480">
                <a:tc>
                  <a:txBody>
                    <a:bodyPr wrap="square"/>
                    <a:lstStyle/>
                    <a:p>
                      <a:pPr algn="ctr">
                        <a:defRPr sz="630" b="1">
                          <a:solidFill>
                            <a:srgbClr val="1E242B"/>
                          </a:solidFill>
                          <a:latin typeface="Meiryo UI"/>
                        </a:defRPr>
                      </a:pPr>
                      <a:r>
                        <a:t>No.7</a:t>
                      </a:r>
                      <a:br/>
                      <a:r>
                        <a:t>(JP)</a:t>
                      </a:r>
                    </a:p>
                  </a:txBody>
                  <a:tcPr anchor="ctr" marL="36576" marR="36576" marT="9144" marB="9144">
                    <a:solidFill>
                      <a:srgbClr val="EAF7EE"/>
                    </a:solidFill>
                  </a:tcPr>
                </a:tc>
                <a:tc>
                  <a:txBody>
                    <a:bodyPr wrap="square"/>
                    <a:lstStyle/>
                    <a:p>
                      <a:pPr algn="l">
                        <a:defRPr sz="630" b="1">
                          <a:solidFill>
                            <a:srgbClr val="B8292F"/>
                          </a:solidFill>
                          <a:latin typeface="Meiryo UI"/>
                        </a:defRPr>
                      </a:pPr>
                      <a:r>
                        <a:t>U051トレイ寄り調整の廃止</a:t>
                      </a:r>
                    </a:p>
                  </a:txBody>
                  <a:tcPr anchor="ctr" marL="36576" marR="36576" marT="9144" marB="9144">
                    <a:solidFill>
                      <a:srgbClr val="EAF7EE"/>
                    </a:solidFill>
                  </a:tcPr>
                </a:tc>
                <a:tc>
                  <a:txBody>
                    <a:bodyPr wrap="square"/>
                    <a:lstStyle/>
                    <a:p>
                      <a:pPr algn="l">
                        <a:defRPr sz="630">
                          <a:solidFill>
                            <a:srgbClr val="1E242B"/>
                          </a:solidFill>
                          <a:latin typeface="Meiryo UI"/>
                        </a:defRPr>
                      </a:pPr>
                      <a:r>
                        <a:t>メカ位置決め精度向上により、ライン上でのU051調整頻度を削減。</a:t>
                      </a:r>
                    </a:p>
                  </a:txBody>
                  <a:tcPr anchor="ctr" marL="36576" marR="36576" marT="9144" marB="9144">
                    <a:solidFill>
                      <a:srgbClr val="EAF7EE"/>
                    </a:solidFill>
                  </a:tcPr>
                </a:tc>
                <a:tc>
                  <a:txBody>
                    <a:bodyPr wrap="square"/>
                    <a:lstStyle/>
                    <a:p>
                      <a:pPr algn="ctr">
                        <a:defRPr sz="630">
                          <a:solidFill>
                            <a:srgbClr val="1E242B"/>
                          </a:solidFill>
                          <a:latin typeface="Meiryo UI"/>
                        </a:defRPr>
                      </a:pPr>
                      <a:r>
                        <a:t>-9.50 秒</a:t>
                      </a:r>
                      <a:br/>
                      <a:r>
                        <a:t>(数式内)</a:t>
                      </a:r>
                    </a:p>
                  </a:txBody>
                  <a:tcPr anchor="ctr" marL="36576" marR="36576" marT="9144" marB="9144">
                    <a:solidFill>
                      <a:srgbClr val="EAF7EE"/>
                    </a:solidFill>
                  </a:tcPr>
                </a:tc>
                <a:tc>
                  <a:txBody>
                    <a:bodyPr wrap="square"/>
                    <a:lstStyle/>
                    <a:p>
                      <a:pPr algn="l">
                        <a:defRPr sz="630">
                          <a:solidFill>
                            <a:srgbClr val="1E242B"/>
                          </a:solidFill>
                          <a:latin typeface="Meiryo UI"/>
                        </a:defRPr>
                      </a:pPr>
                      <a:r>
                        <a:t>先行実施</a:t>
                      </a:r>
                    </a:p>
                  </a:txBody>
                  <a:tcPr anchor="ctr" marL="36576" marR="36576" marT="9144" marB="9144">
                    <a:solidFill>
                      <a:srgbClr val="EAF7EE"/>
                    </a:solidFill>
                  </a:tcPr>
                </a:tc>
              </a:tr>
              <a:tr h="538480">
                <a:tc>
                  <a:txBody>
                    <a:bodyPr wrap="square"/>
                    <a:lstStyle/>
                    <a:p>
                      <a:pPr algn="ctr">
                        <a:defRPr sz="630" b="1">
                          <a:solidFill>
                            <a:srgbClr val="1E242B"/>
                          </a:solidFill>
                          <a:latin typeface="Meiryo UI"/>
                        </a:defRPr>
                      </a:pPr>
                      <a:r>
                        <a:t>JP合計</a:t>
                      </a:r>
                      <a:br/>
                      <a:r>
                        <a:t>・参照</a:t>
                      </a:r>
                    </a:p>
                  </a:txBody>
                  <a:tcPr anchor="ctr" marL="36576" marR="36576" marT="9144" marB="9144">
                    <a:solidFill>
                      <a:srgbClr val="E8EEF5"/>
                    </a:solidFill>
                  </a:tcPr>
                </a:tc>
                <a:tc>
                  <a:txBody>
                    <a:bodyPr wrap="square"/>
                    <a:lstStyle/>
                    <a:p>
                      <a:pPr algn="l">
                        <a:defRPr sz="630" b="1">
                          <a:solidFill>
                            <a:srgbClr val="1E242B"/>
                          </a:solidFill>
                          <a:latin typeface="Meiryo UI"/>
                        </a:defRPr>
                      </a:pPr>
                      <a:r>
                        <a:t>• 工数比較数式：Iris2024比 -87.84s（改善無比 -176.84s）</a:t>
                      </a:r>
                      <a:br/>
                      <a:r>
                        <a:t>• 工程表の削除（削147＋確定6）合計：Color -267.74s / Mono -263.06s</a:t>
                      </a:r>
                    </a:p>
                  </a:txBody>
                  <a:tcPr anchor="ctr" marL="36576" marR="36576" marT="9144" marB="9144">
                    <a:solidFill>
                      <a:srgbClr val="E8EEF5"/>
                    </a:solidFill>
                  </a:tcPr>
                </a:tc>
                <a:tc>
                  <a:txBody>
                    <a:bodyPr wrap="square"/>
                    <a:lstStyle/>
                    <a:p>
                      <a:pPr algn="l">
                        <a:defRPr sz="630" b="1">
                          <a:solidFill>
                            <a:srgbClr val="B8292F"/>
                          </a:solidFill>
                          <a:latin typeface="Meiryo UI"/>
                        </a:defRPr>
                      </a:pPr>
                      <a:r>
                        <a:t>• 制御ハード：Spica式Mini PC（約40,000円/セット、4台制御）</a:t>
                      </a:r>
                      <a:br/>
                      <a:r>
                        <a:t>• U413ソフト廃止案：225〜250万円</a:t>
                      </a:r>
                    </a:p>
                  </a:txBody>
                  <a:tcPr anchor="ctr" marL="36576" marR="36576" marT="9144" marB="9144">
                    <a:solidFill>
                      <a:srgbClr val="E8EEF5"/>
                    </a:solidFill>
                  </a:tcPr>
                </a:tc>
                <a:tc>
                  <a:txBody>
                    <a:bodyPr wrap="square"/>
                    <a:lstStyle/>
                    <a:p>
                      <a:pPr algn="ctr">
                        <a:defRPr sz="630">
                          <a:solidFill>
                            <a:srgbClr val="1E242B"/>
                          </a:solidFill>
                          <a:latin typeface="Meiryo UI"/>
                        </a:defRPr>
                      </a:pPr>
                      <a:r>
                        <a:t>-87.84 秒</a:t>
                      </a:r>
                      <a:br/>
                      <a:r>
                        <a:t>〜 -267.74 秒</a:t>
                      </a:r>
                    </a:p>
                  </a:txBody>
                  <a:tcPr anchor="ctr" marL="36576" marR="36576" marT="9144" marB="9144">
                    <a:solidFill>
                      <a:srgbClr val="E8EEF5"/>
                    </a:solidFill>
                  </a:tcPr>
                </a:tc>
                <a:tc>
                  <a:txBody>
                    <a:bodyPr wrap="square"/>
                    <a:lstStyle/>
                    <a:p>
                      <a:pPr algn="l">
                        <a:defRPr sz="630">
                          <a:solidFill>
                            <a:srgbClr val="1E242B"/>
                          </a:solidFill>
                          <a:latin typeface="Meiryo UI"/>
                        </a:defRPr>
                      </a:pPr>
                      <a:r>
                        <a:t>Mini PC: 約4万円</a:t>
                      </a:r>
                      <a:br/>
                      <a:r>
                        <a:t>U413: 225〜250万円</a:t>
                      </a:r>
                    </a:p>
                  </a:txBody>
                  <a:tcPr anchor="ctr" marL="36576" marR="36576" marT="9144" marB="9144">
                    <a:solidFill>
                      <a:srgbClr val="E8EEF5"/>
                    </a:solidFill>
                  </a:tcPr>
                </a:tc>
              </a:tr>
            </a:tbl>
          </a:graphicData>
        </a:graphic>
      </p:graphicFrame>
      <p:sp>
        <p:nvSpPr>
          <p:cNvPr id="9" name="TextBox 8"/>
          <p:cNvSpPr txBox="1"/>
          <p:nvPr/>
        </p:nvSpPr>
        <p:spPr>
          <a:xfrm>
            <a:off x="5852160" y="1216152"/>
            <a:ext cx="6065215" cy="201168"/>
          </a:xfrm>
          <a:prstGeom prst="rect">
            <a:avLst/>
          </a:prstGeom>
          <a:noFill/>
        </p:spPr>
        <p:txBody>
          <a:bodyPr wrap="square" lIns="18288" rIns="18288" tIns="9144" bIns="9144">
            <a:spAutoFit/>
          </a:bodyPr>
          <a:lstStyle/>
          <a:p>
            <a:pPr>
              <a:defRPr sz="780" b="1">
                <a:solidFill>
                  <a:srgbClr val="1B365D"/>
                </a:solidFill>
                <a:latin typeface="Meiryo UI"/>
              </a:defRPr>
            </a:pPr>
            <a:r>
              <a:t>■ 中国提案 11件（CN：No.8 〜 No.17, No.38）</a:t>
            </a:r>
          </a:p>
        </p:txBody>
      </p:sp>
      <p:graphicFrame>
        <p:nvGraphicFramePr>
          <p:cNvPr id="10" name="Table 9"/>
          <p:cNvGraphicFramePr>
            <a:graphicFrameLocks noGrp="1"/>
          </p:cNvGraphicFramePr>
          <p:nvPr/>
        </p:nvGraphicFramePr>
        <p:xfrm>
          <a:off x="5852160" y="1426464"/>
          <a:ext cx="6065215" cy="4846320"/>
        </p:xfrm>
        <a:graphic>
          <a:graphicData uri="http://schemas.openxmlformats.org/drawingml/2006/table">
            <a:tbl>
              <a:tblPr firstRow="1" bandRow="1">
                <a:tableStyleId>{5C22544A-7EE6-4342-B048-85BDC9FD1C3A}</a:tableStyleId>
              </a:tblPr>
              <a:tblGrid>
                <a:gridCol w="594360"/>
                <a:gridCol w="1783080"/>
                <a:gridCol w="1676095"/>
                <a:gridCol w="960120"/>
                <a:gridCol w="1051560"/>
              </a:tblGrid>
              <a:tr h="403860">
                <a:tc>
                  <a:txBody>
                    <a:bodyPr wrap="square"/>
                    <a:lstStyle/>
                    <a:p>
                      <a:pPr algn="ctr">
                        <a:defRPr sz="670" b="1">
                          <a:solidFill>
                            <a:srgbClr val="FFFFFF"/>
                          </a:solidFill>
                          <a:latin typeface="Meiryo UI"/>
                        </a:defRPr>
                      </a:pPr>
                      <a:r>
                        <a:t>番号</a:t>
                      </a:r>
                    </a:p>
                  </a:txBody>
                  <a:tcPr anchor="ctr" marL="36576" marR="36576" marT="9144" marB="9144">
                    <a:solidFill>
                      <a:srgbClr val="1B365D"/>
                    </a:solidFill>
                  </a:tcPr>
                </a:tc>
                <a:tc>
                  <a:txBody>
                    <a:bodyPr wrap="square"/>
                    <a:lstStyle/>
                    <a:p>
                      <a:pPr algn="ctr">
                        <a:defRPr sz="670" b="1">
                          <a:solidFill>
                            <a:srgbClr val="FFFFFF"/>
                          </a:solidFill>
                          <a:latin typeface="Meiryo UI"/>
                        </a:defRPr>
                      </a:pPr>
                      <a:r>
                        <a:t>改善提案名 (CN)</a:t>
                      </a:r>
                    </a:p>
                  </a:txBody>
                  <a:tcPr anchor="ctr" marL="36576" marR="36576" marT="9144" marB="9144">
                    <a:solidFill>
                      <a:srgbClr val="1B365D"/>
                    </a:solidFill>
                  </a:tcPr>
                </a:tc>
                <a:tc>
                  <a:txBody>
                    <a:bodyPr wrap="square"/>
                    <a:lstStyle/>
                    <a:p>
                      <a:pPr algn="ctr">
                        <a:defRPr sz="670" b="1">
                          <a:solidFill>
                            <a:srgbClr val="FFFFFF"/>
                          </a:solidFill>
                          <a:latin typeface="Meiryo UI"/>
                        </a:defRPr>
                      </a:pPr>
                      <a:r>
                        <a:t>提案内容</a:t>
                      </a:r>
                    </a:p>
                  </a:txBody>
                  <a:tcPr anchor="ctr" marL="36576" marR="36576" marT="9144" marB="9144">
                    <a:solidFill>
                      <a:srgbClr val="1B365D"/>
                    </a:solidFill>
                  </a:tcPr>
                </a:tc>
                <a:tc>
                  <a:txBody>
                    <a:bodyPr wrap="square"/>
                    <a:lstStyle/>
                    <a:p>
                      <a:pPr algn="ctr">
                        <a:defRPr sz="670" b="1">
                          <a:solidFill>
                            <a:srgbClr val="FFFFFF"/>
                          </a:solidFill>
                          <a:latin typeface="Meiryo UI"/>
                        </a:defRPr>
                      </a:pPr>
                      <a:r>
                        <a:t>削減時間 (秒)</a:t>
                      </a:r>
                    </a:p>
                  </a:txBody>
                  <a:tcPr anchor="ctr" marL="36576" marR="36576" marT="9144" marB="9144">
                    <a:solidFill>
                      <a:srgbClr val="1B365D"/>
                    </a:solidFill>
                  </a:tcPr>
                </a:tc>
                <a:tc>
                  <a:txBody>
                    <a:bodyPr wrap="square"/>
                    <a:lstStyle/>
                    <a:p>
                      <a:pPr algn="ctr">
                        <a:defRPr sz="670" b="1">
                          <a:solidFill>
                            <a:srgbClr val="FFFFFF"/>
                          </a:solidFill>
                          <a:latin typeface="Meiryo UI"/>
                        </a:defRPr>
                      </a:pPr>
                      <a:r>
                        <a:t>削減効果・見積状況</a:t>
                      </a:r>
                    </a:p>
                  </a:txBody>
                  <a:tcPr anchor="ctr" marL="36576" marR="36576" marT="9144" marB="9144">
                    <a:solidFill>
                      <a:srgbClr val="1B365D"/>
                    </a:solidFill>
                  </a:tcPr>
                </a:tc>
              </a:tr>
              <a:tr h="403860">
                <a:tc>
                  <a:txBody>
                    <a:bodyPr wrap="square"/>
                    <a:lstStyle/>
                    <a:p>
                      <a:pPr algn="ctr">
                        <a:defRPr sz="580" b="1">
                          <a:solidFill>
                            <a:srgbClr val="1E242B"/>
                          </a:solidFill>
                          <a:latin typeface="Meiryo UI"/>
                        </a:defRPr>
                      </a:pPr>
                      <a:r>
                        <a:t>No.8</a:t>
                      </a:r>
                    </a:p>
                  </a:txBody>
                  <a:tcPr anchor="ctr" marL="36576" marR="36576" marT="9144" marB="9144">
                    <a:solidFill>
                      <a:srgbClr val="EAF7EE"/>
                    </a:solidFill>
                  </a:tcPr>
                </a:tc>
                <a:tc>
                  <a:txBody>
                    <a:bodyPr wrap="square"/>
                    <a:lstStyle/>
                    <a:p>
                      <a:pPr algn="l">
                        <a:defRPr sz="580">
                          <a:solidFill>
                            <a:srgbClr val="1E242B"/>
                          </a:solidFill>
                          <a:latin typeface="Meiryo UI"/>
                        </a:defRPr>
                      </a:pPr>
                      <a:r>
                        <a:t>画像検査サンプル枚数の削減</a:t>
                      </a:r>
                    </a:p>
                  </a:txBody>
                  <a:tcPr anchor="ctr" marL="36576" marR="36576" marT="9144" marB="9144">
                    <a:solidFill>
                      <a:srgbClr val="EAF7EE"/>
                    </a:solidFill>
                  </a:tcPr>
                </a:tc>
                <a:tc>
                  <a:txBody>
                    <a:bodyPr wrap="square"/>
                    <a:lstStyle/>
                    <a:p>
                      <a:pPr algn="l">
                        <a:defRPr sz="580">
                          <a:solidFill>
                            <a:srgbClr val="1E242B"/>
                          </a:solidFill>
                          <a:latin typeface="Meiryo UI"/>
                        </a:defRPr>
                      </a:pPr>
                      <a:r>
                        <a:t>Athena系に準拠し、検査サンプル枚数を統合・削減（17枚→9枚）。</a:t>
                      </a:r>
                    </a:p>
                  </a:txBody>
                  <a:tcPr anchor="ctr" marL="36576" marR="36576" marT="9144" marB="9144">
                    <a:solidFill>
                      <a:srgbClr val="EAF7EE"/>
                    </a:solidFill>
                  </a:tcPr>
                </a:tc>
                <a:tc>
                  <a:txBody>
                    <a:bodyPr wrap="square"/>
                    <a:lstStyle/>
                    <a:p>
                      <a:pPr algn="ctr">
                        <a:defRPr sz="580">
                          <a:solidFill>
                            <a:srgbClr val="1E242B"/>
                          </a:solidFill>
                          <a:latin typeface="Meiryo UI"/>
                        </a:defRPr>
                      </a:pPr>
                      <a:r>
                        <a:t>-63.36 秒</a:t>
                      </a:r>
                      <a:br/>
                      <a:r>
                        <a:t>(52ステップ)</a:t>
                      </a:r>
                    </a:p>
                  </a:txBody>
                  <a:tcPr anchor="ctr" marL="36576" marR="36576" marT="9144" marB="9144">
                    <a:solidFill>
                      <a:srgbClr val="EAF7EE"/>
                    </a:solidFill>
                  </a:tcPr>
                </a:tc>
                <a:tc>
                  <a:txBody>
                    <a:bodyPr wrap="square"/>
                    <a:lstStyle/>
                    <a:p>
                      <a:pPr algn="l">
                        <a:defRPr sz="580">
                          <a:solidFill>
                            <a:srgbClr val="1E242B"/>
                          </a:solidFill>
                          <a:latin typeface="Meiryo UI"/>
                        </a:defRPr>
                      </a:pPr>
                      <a:r>
                        <a:t>効果: 4,500 RMB/月</a:t>
                      </a:r>
                      <a:br/>
                      <a:r>
                        <a:t>(設備費 0円)</a:t>
                      </a:r>
                    </a:p>
                  </a:txBody>
                  <a:tcPr anchor="ctr" marL="36576" marR="36576" marT="9144" marB="9144">
                    <a:solidFill>
                      <a:srgbClr val="EAF7EE"/>
                    </a:solidFill>
                  </a:tcPr>
                </a:tc>
              </a:tr>
              <a:tr h="403860">
                <a:tc>
                  <a:txBody>
                    <a:bodyPr wrap="square"/>
                    <a:lstStyle/>
                    <a:p>
                      <a:pPr algn="ctr">
                        <a:defRPr sz="580" b="1">
                          <a:solidFill>
                            <a:srgbClr val="1E242B"/>
                          </a:solidFill>
                          <a:latin typeface="Meiryo UI"/>
                        </a:defRPr>
                      </a:pPr>
                      <a:r>
                        <a:t>No.9</a:t>
                      </a:r>
                    </a:p>
                  </a:txBody>
                  <a:tcPr anchor="ctr" marL="36576" marR="36576" marT="9144" marB="9144">
                    <a:solidFill>
                      <a:srgbClr val="F7F9FC"/>
                    </a:solidFill>
                  </a:tcPr>
                </a:tc>
                <a:tc>
                  <a:txBody>
                    <a:bodyPr wrap="square"/>
                    <a:lstStyle/>
                    <a:p>
                      <a:pPr algn="l">
                        <a:defRPr sz="580">
                          <a:solidFill>
                            <a:srgbClr val="1E242B"/>
                          </a:solidFill>
                          <a:latin typeface="Meiryo UI"/>
                        </a:defRPr>
                      </a:pPr>
                      <a:r>
                        <a:t>手差しトレイ（MPF）検査方法の変更</a:t>
                      </a:r>
                    </a:p>
                  </a:txBody>
                  <a:tcPr anchor="ctr" marL="36576" marR="36576" marT="9144" marB="9144">
                    <a:solidFill>
                      <a:srgbClr val="F7F9FC"/>
                    </a:solidFill>
                  </a:tcPr>
                </a:tc>
                <a:tc>
                  <a:txBody>
                    <a:bodyPr wrap="square"/>
                    <a:lstStyle/>
                    <a:p>
                      <a:pPr algn="l">
                        <a:defRPr sz="580" b="1">
                          <a:solidFill>
                            <a:srgbClr val="B8292F"/>
                          </a:solidFill>
                          <a:latin typeface="Meiryo UI"/>
                        </a:defRPr>
                      </a:pPr>
                      <a:r>
                        <a:t>複数サイズの用紙セットを廃止し、信号によるMPFセンサ確認へ変更。</a:t>
                      </a:r>
                    </a:p>
                  </a:txBody>
                  <a:tcPr anchor="ctr" marL="36576" marR="36576" marT="9144" marB="9144">
                    <a:solidFill>
                      <a:srgbClr val="F7F9FC"/>
                    </a:solidFill>
                  </a:tcPr>
                </a:tc>
                <a:tc>
                  <a:txBody>
                    <a:bodyPr wrap="square"/>
                    <a:lstStyle/>
                    <a:p>
                      <a:pPr algn="ctr">
                        <a:defRPr sz="580">
                          <a:solidFill>
                            <a:srgbClr val="1E242B"/>
                          </a:solidFill>
                          <a:latin typeface="Meiryo UI"/>
                        </a:defRPr>
                      </a:pPr>
                      <a:r>
                        <a:t>-1.40 秒</a:t>
                      </a:r>
                      <a:br/>
                      <a:r>
                        <a:t>(6ステップ)</a:t>
                      </a:r>
                    </a:p>
                  </a:txBody>
                  <a:tcPr anchor="ctr" marL="36576" marR="36576" marT="9144" marB="9144">
                    <a:solidFill>
                      <a:srgbClr val="F7F9FC"/>
                    </a:solidFill>
                  </a:tcPr>
                </a:tc>
                <a:tc>
                  <a:txBody>
                    <a:bodyPr wrap="square"/>
                    <a:lstStyle/>
                    <a:p>
                      <a:pPr algn="l">
                        <a:defRPr sz="580" b="1">
                          <a:solidFill>
                            <a:srgbClr val="1E242B"/>
                          </a:solidFill>
                          <a:latin typeface="Meiryo UI"/>
                        </a:defRPr>
                      </a:pPr>
                      <a:r>
                        <a:t>JP設計の確認待ち</a:t>
                      </a:r>
                    </a:p>
                  </a:txBody>
                  <a:tcPr anchor="ctr" marL="36576" marR="36576" marT="9144" marB="9144">
                    <a:solidFill>
                      <a:srgbClr val="F7F9FC"/>
                    </a:solidFill>
                  </a:tcPr>
                </a:tc>
              </a:tr>
              <a:tr h="403860">
                <a:tc>
                  <a:txBody>
                    <a:bodyPr wrap="square"/>
                    <a:lstStyle/>
                    <a:p>
                      <a:pPr algn="ctr">
                        <a:defRPr sz="580" b="1">
                          <a:solidFill>
                            <a:srgbClr val="1E242B"/>
                          </a:solidFill>
                          <a:latin typeface="Meiryo UI"/>
                        </a:defRPr>
                      </a:pPr>
                      <a:r>
                        <a:t>No.10</a:t>
                      </a:r>
                    </a:p>
                  </a:txBody>
                  <a:tcPr anchor="ctr" marL="36576" marR="36576" marT="9144" marB="9144">
                    <a:solidFill>
                      <a:srgbClr val="EAF7EE"/>
                    </a:solidFill>
                  </a:tcPr>
                </a:tc>
                <a:tc>
                  <a:txBody>
                    <a:bodyPr wrap="square"/>
                    <a:lstStyle/>
                    <a:p>
                      <a:pPr algn="l">
                        <a:defRPr sz="580" b="1">
                          <a:solidFill>
                            <a:srgbClr val="B8292F"/>
                          </a:solidFill>
                          <a:latin typeface="Meiryo UI"/>
                        </a:defRPr>
                      </a:pPr>
                      <a:r>
                        <a:t>PPT目視検査の廃止</a:t>
                      </a:r>
                    </a:p>
                  </a:txBody>
                  <a:tcPr anchor="ctr" marL="36576" marR="36576" marT="9144" marB="9144">
                    <a:solidFill>
                      <a:srgbClr val="EAF7EE"/>
                    </a:solidFill>
                  </a:tcPr>
                </a:tc>
                <a:tc>
                  <a:txBody>
                    <a:bodyPr wrap="square"/>
                    <a:lstStyle/>
                    <a:p>
                      <a:pPr algn="l">
                        <a:defRPr sz="580" b="1">
                          <a:solidFill>
                            <a:srgbClr val="B8292F"/>
                          </a:solidFill>
                          <a:latin typeface="Meiryo UI"/>
                        </a:defRPr>
                      </a:pPr>
                      <a:r>
                        <a:t>GY印字サンプルのPPTルーペ目視検査を廃止（VN No.27と同期）。</a:t>
                      </a:r>
                    </a:p>
                  </a:txBody>
                  <a:tcPr anchor="ctr" marL="36576" marR="36576" marT="9144" marB="9144">
                    <a:solidFill>
                      <a:srgbClr val="EAF7EE"/>
                    </a:solidFill>
                  </a:tcPr>
                </a:tc>
                <a:tc>
                  <a:txBody>
                    <a:bodyPr wrap="square"/>
                    <a:lstStyle/>
                    <a:p>
                      <a:pPr algn="ctr">
                        <a:defRPr sz="580">
                          <a:solidFill>
                            <a:srgbClr val="1E242B"/>
                          </a:solidFill>
                          <a:latin typeface="Meiryo UI"/>
                        </a:defRPr>
                      </a:pPr>
                      <a:r>
                        <a:t>-22.50 秒 (CN)</a:t>
                      </a:r>
                      <a:br/>
                      <a:r>
                        <a:t>［VN: -10.0s］</a:t>
                      </a:r>
                    </a:p>
                  </a:txBody>
                  <a:tcPr anchor="ctr" marL="36576" marR="36576" marT="9144" marB="9144">
                    <a:solidFill>
                      <a:srgbClr val="EAF7EE"/>
                    </a:solidFill>
                  </a:tcPr>
                </a:tc>
                <a:tc>
                  <a:txBody>
                    <a:bodyPr wrap="square"/>
                    <a:lstStyle/>
                    <a:p>
                      <a:pPr algn="l">
                        <a:defRPr sz="580" b="1">
                          <a:solidFill>
                            <a:srgbClr val="B8292F"/>
                          </a:solidFill>
                          <a:latin typeface="Meiryo UI"/>
                        </a:defRPr>
                      </a:pPr>
                      <a:r>
                        <a:t>廃止承認済</a:t>
                      </a:r>
                    </a:p>
                  </a:txBody>
                  <a:tcPr anchor="ctr" marL="36576" marR="36576" marT="9144" marB="9144">
                    <a:solidFill>
                      <a:srgbClr val="EAF7EE"/>
                    </a:solidFill>
                  </a:tcPr>
                </a:tc>
              </a:tr>
              <a:tr h="403860">
                <a:tc>
                  <a:txBody>
                    <a:bodyPr wrap="square"/>
                    <a:lstStyle/>
                    <a:p>
                      <a:pPr algn="ctr">
                        <a:defRPr sz="580" b="1">
                          <a:solidFill>
                            <a:srgbClr val="1E242B"/>
                          </a:solidFill>
                          <a:latin typeface="Meiryo UI"/>
                        </a:defRPr>
                      </a:pPr>
                      <a:r>
                        <a:t>No.11</a:t>
                      </a:r>
                    </a:p>
                  </a:txBody>
                  <a:tcPr anchor="ctr" marL="36576" marR="36576" marT="9144" marB="9144">
                    <a:solidFill>
                      <a:srgbClr val="F7F9FC"/>
                    </a:solidFill>
                  </a:tcPr>
                </a:tc>
                <a:tc>
                  <a:txBody>
                    <a:bodyPr wrap="square"/>
                    <a:lstStyle/>
                    <a:p>
                      <a:pPr algn="l">
                        <a:defRPr sz="580">
                          <a:solidFill>
                            <a:srgbClr val="1E242B"/>
                          </a:solidFill>
                          <a:latin typeface="Meiryo UI"/>
                        </a:defRPr>
                      </a:pPr>
                      <a:r>
                        <a:t>導電バー付きコンベアへの変更</a:t>
                      </a:r>
                    </a:p>
                  </a:txBody>
                  <a:tcPr anchor="ctr" marL="36576" marR="36576" marT="9144" marB="9144">
                    <a:solidFill>
                      <a:srgbClr val="F7F9FC"/>
                    </a:solidFill>
                  </a:tcPr>
                </a:tc>
                <a:tc>
                  <a:txBody>
                    <a:bodyPr wrap="square"/>
                    <a:lstStyle/>
                    <a:p>
                      <a:pPr algn="l">
                        <a:defRPr sz="580" b="1">
                          <a:solidFill>
                            <a:srgbClr val="B8292F"/>
                          </a:solidFill>
                          <a:latin typeface="Meiryo UI"/>
                        </a:defRPr>
                      </a:pPr>
                      <a:r>
                        <a:t>コンベア上の導電バーから自動給電し、電源プラグ挿抜作業を廃止。</a:t>
                      </a:r>
                    </a:p>
                  </a:txBody>
                  <a:tcPr anchor="ctr" marL="36576" marR="36576" marT="9144" marB="9144">
                    <a:solidFill>
                      <a:srgbClr val="F7F9FC"/>
                    </a:solidFill>
                  </a:tcPr>
                </a:tc>
                <a:tc>
                  <a:txBody>
                    <a:bodyPr wrap="square"/>
                    <a:lstStyle/>
                    <a:p>
                      <a:pPr algn="ctr">
                        <a:defRPr sz="580">
                          <a:solidFill>
                            <a:srgbClr val="1E242B"/>
                          </a:solidFill>
                          <a:latin typeface="Meiryo UI"/>
                        </a:defRPr>
                      </a:pPr>
                      <a:r>
                        <a:t>-31.40 秒</a:t>
                      </a:r>
                      <a:br/>
                      <a:r>
                        <a:t>(14ステップ)</a:t>
                      </a:r>
                    </a:p>
                  </a:txBody>
                  <a:tcPr anchor="ctr" marL="36576" marR="36576" marT="9144" marB="9144">
                    <a:solidFill>
                      <a:srgbClr val="F7F9FC"/>
                    </a:solidFill>
                  </a:tcPr>
                </a:tc>
                <a:tc>
                  <a:txBody>
                    <a:bodyPr wrap="square"/>
                    <a:lstStyle/>
                    <a:p>
                      <a:pPr algn="l">
                        <a:defRPr sz="580">
                          <a:solidFill>
                            <a:srgbClr val="1E242B"/>
                          </a:solidFill>
                          <a:latin typeface="Meiryo UI"/>
                        </a:defRPr>
                      </a:pPr>
                      <a:r>
                        <a:t>効果: 3,060 RMB/月</a:t>
                      </a:r>
                      <a:br/>
                      <a:r>
                        <a:t>設備費: 見積中</a:t>
                      </a:r>
                    </a:p>
                  </a:txBody>
                  <a:tcPr anchor="ctr" marL="36576" marR="36576" marT="9144" marB="9144">
                    <a:solidFill>
                      <a:srgbClr val="F7F9FC"/>
                    </a:solidFill>
                  </a:tcPr>
                </a:tc>
              </a:tr>
              <a:tr h="403860">
                <a:tc>
                  <a:txBody>
                    <a:bodyPr wrap="square"/>
                    <a:lstStyle/>
                    <a:p>
                      <a:pPr algn="ctr">
                        <a:defRPr sz="580" b="1">
                          <a:solidFill>
                            <a:srgbClr val="1E242B"/>
                          </a:solidFill>
                          <a:latin typeface="Meiryo UI"/>
                        </a:defRPr>
                      </a:pPr>
                      <a:r>
                        <a:t>No.12</a:t>
                      </a:r>
                    </a:p>
                  </a:txBody>
                  <a:tcPr anchor="ctr" marL="36576" marR="36576" marT="9144" marB="9144">
                    <a:solidFill>
                      <a:srgbClr val="FFFFFF"/>
                    </a:solidFill>
                  </a:tcPr>
                </a:tc>
                <a:tc>
                  <a:txBody>
                    <a:bodyPr wrap="square"/>
                    <a:lstStyle/>
                    <a:p>
                      <a:pPr algn="l">
                        <a:defRPr sz="580">
                          <a:solidFill>
                            <a:srgbClr val="1E242B"/>
                          </a:solidFill>
                          <a:latin typeface="Meiryo UI"/>
                        </a:defRPr>
                      </a:pPr>
                      <a:r>
                        <a:t>ケーブル自動挿抜装置／ロボット</a:t>
                      </a:r>
                    </a:p>
                  </a:txBody>
                  <a:tcPr anchor="ctr" marL="36576" marR="36576" marT="9144" marB="9144">
                    <a:solidFill>
                      <a:srgbClr val="FFFFFF"/>
                    </a:solidFill>
                  </a:tcPr>
                </a:tc>
                <a:tc>
                  <a:txBody>
                    <a:bodyPr wrap="square"/>
                    <a:lstStyle/>
                    <a:p>
                      <a:pPr algn="l">
                        <a:defRPr sz="580">
                          <a:solidFill>
                            <a:srgbClr val="1E242B"/>
                          </a:solidFill>
                          <a:latin typeface="Meiryo UI"/>
                        </a:defRPr>
                      </a:pPr>
                      <a:r>
                        <a:t>電源・通信ケーブルの挿抜作業をメカ機構で自動化。</a:t>
                      </a:r>
                    </a:p>
                  </a:txBody>
                  <a:tcPr anchor="ctr" marL="36576" marR="36576" marT="9144" marB="9144">
                    <a:solidFill>
                      <a:srgbClr val="FFFFFF"/>
                    </a:solidFill>
                  </a:tcPr>
                </a:tc>
                <a:tc>
                  <a:txBody>
                    <a:bodyPr wrap="square"/>
                    <a:lstStyle/>
                    <a:p>
                      <a:pPr algn="ctr">
                        <a:defRPr sz="580">
                          <a:solidFill>
                            <a:srgbClr val="1E242B"/>
                          </a:solidFill>
                          <a:latin typeface="Meiryo UI"/>
                        </a:defRPr>
                      </a:pPr>
                      <a:r>
                        <a:t>-15.40 秒</a:t>
                      </a:r>
                      <a:br/>
                      <a:r>
                        <a:t>(10ステップ)</a:t>
                      </a:r>
                    </a:p>
                  </a:txBody>
                  <a:tcPr anchor="ctr" marL="36576" marR="36576" marT="9144" marB="9144">
                    <a:solidFill>
                      <a:srgbClr val="FFFFFF"/>
                    </a:solidFill>
                  </a:tcPr>
                </a:tc>
                <a:tc>
                  <a:txBody>
                    <a:bodyPr wrap="square"/>
                    <a:lstStyle/>
                    <a:p>
                      <a:pPr algn="l">
                        <a:defRPr sz="580">
                          <a:solidFill>
                            <a:srgbClr val="1E242B"/>
                          </a:solidFill>
                          <a:latin typeface="Meiryo UI"/>
                        </a:defRPr>
                      </a:pPr>
                      <a:r>
                        <a:t>見積中</a:t>
                      </a:r>
                    </a:p>
                  </a:txBody>
                  <a:tcPr anchor="ctr" marL="36576" marR="36576" marT="9144" marB="9144">
                    <a:solidFill>
                      <a:srgbClr val="FFFFFF"/>
                    </a:solidFill>
                  </a:tcPr>
                </a:tc>
              </a:tr>
              <a:tr h="403860">
                <a:tc>
                  <a:txBody>
                    <a:bodyPr wrap="square"/>
                    <a:lstStyle/>
                    <a:p>
                      <a:pPr algn="ctr">
                        <a:defRPr sz="580" b="1">
                          <a:solidFill>
                            <a:srgbClr val="1E242B"/>
                          </a:solidFill>
                          <a:latin typeface="Meiryo UI"/>
                        </a:defRPr>
                      </a:pPr>
                      <a:r>
                        <a:t>No.13</a:t>
                      </a:r>
                    </a:p>
                  </a:txBody>
                  <a:tcPr anchor="ctr" marL="36576" marR="36576" marT="9144" marB="9144">
                    <a:solidFill>
                      <a:srgbClr val="F7F9FC"/>
                    </a:solidFill>
                  </a:tcPr>
                </a:tc>
                <a:tc>
                  <a:txBody>
                    <a:bodyPr wrap="square"/>
                    <a:lstStyle/>
                    <a:p>
                      <a:pPr algn="l">
                        <a:defRPr sz="580">
                          <a:solidFill>
                            <a:srgbClr val="1E242B"/>
                          </a:solidFill>
                          <a:latin typeface="Meiryo UI"/>
                        </a:defRPr>
                      </a:pPr>
                      <a:r>
                        <a:t>画像印刷待ち時間の短縮</a:t>
                      </a:r>
                    </a:p>
                  </a:txBody>
                  <a:tcPr anchor="ctr" marL="36576" marR="36576" marT="9144" marB="9144">
                    <a:solidFill>
                      <a:srgbClr val="F7F9FC"/>
                    </a:solidFill>
                  </a:tcPr>
                </a:tc>
                <a:tc>
                  <a:txBody>
                    <a:bodyPr wrap="square"/>
                    <a:lstStyle/>
                    <a:p>
                      <a:pPr algn="l">
                        <a:defRPr sz="580">
                          <a:solidFill>
                            <a:srgbClr val="1E242B"/>
                          </a:solidFill>
                          <a:latin typeface="Meiryo UI"/>
                        </a:defRPr>
                      </a:pPr>
                      <a:r>
                        <a:t>起動・連続印刷シーケンスの最適化により印刷待ちを230秒→120秒へ短縮。</a:t>
                      </a:r>
                    </a:p>
                  </a:txBody>
                  <a:tcPr anchor="ctr" marL="36576" marR="36576" marT="9144" marB="9144">
                    <a:solidFill>
                      <a:srgbClr val="F7F9FC"/>
                    </a:solidFill>
                  </a:tcPr>
                </a:tc>
                <a:tc>
                  <a:txBody>
                    <a:bodyPr wrap="square"/>
                    <a:lstStyle/>
                    <a:p>
                      <a:pPr algn="ctr">
                        <a:defRPr sz="580">
                          <a:solidFill>
                            <a:srgbClr val="1E242B"/>
                          </a:solidFill>
                          <a:latin typeface="Meiryo UI"/>
                        </a:defRPr>
                      </a:pPr>
                      <a:r>
                        <a:t>230s → 120s</a:t>
                      </a:r>
                      <a:br/>
                      <a:r>
                        <a:t>(印刷待ち -110s)</a:t>
                      </a:r>
                    </a:p>
                  </a:txBody>
                  <a:tcPr anchor="ctr" marL="36576" marR="36576" marT="9144" marB="9144">
                    <a:solidFill>
                      <a:srgbClr val="F7F9FC"/>
                    </a:solidFill>
                  </a:tcPr>
                </a:tc>
                <a:tc>
                  <a:txBody>
                    <a:bodyPr wrap="square"/>
                    <a:lstStyle/>
                    <a:p>
                      <a:pPr algn="l">
                        <a:defRPr sz="580">
                          <a:solidFill>
                            <a:srgbClr val="1E242B"/>
                          </a:solidFill>
                          <a:latin typeface="Meiryo UI"/>
                        </a:defRPr>
                      </a:pPr>
                      <a:r>
                        <a:t>FW・シーケンス改善</a:t>
                      </a:r>
                    </a:p>
                  </a:txBody>
                  <a:tcPr anchor="ctr" marL="36576" marR="36576" marT="9144" marB="9144">
                    <a:solidFill>
                      <a:srgbClr val="F7F9FC"/>
                    </a:solidFill>
                  </a:tcPr>
                </a:tc>
              </a:tr>
              <a:tr h="403860">
                <a:tc>
                  <a:txBody>
                    <a:bodyPr wrap="square"/>
                    <a:lstStyle/>
                    <a:p>
                      <a:pPr algn="ctr">
                        <a:defRPr sz="580" b="1">
                          <a:solidFill>
                            <a:srgbClr val="1E242B"/>
                          </a:solidFill>
                          <a:latin typeface="Meiryo UI"/>
                        </a:defRPr>
                      </a:pPr>
                      <a:r>
                        <a:t>No.14</a:t>
                      </a:r>
                    </a:p>
                  </a:txBody>
                  <a:tcPr anchor="ctr" marL="36576" marR="36576" marT="9144" marB="9144">
                    <a:solidFill>
                      <a:srgbClr val="EAF7EE"/>
                    </a:solidFill>
                  </a:tcPr>
                </a:tc>
                <a:tc>
                  <a:txBody>
                    <a:bodyPr wrap="square"/>
                    <a:lstStyle/>
                    <a:p>
                      <a:pPr algn="l">
                        <a:defRPr sz="580" b="1">
                          <a:solidFill>
                            <a:srgbClr val="B8292F"/>
                          </a:solidFill>
                          <a:latin typeface="Meiryo UI"/>
                        </a:defRPr>
                      </a:pPr>
                      <a:r>
                        <a:t>手動JAM処理検査の廃止</a:t>
                      </a:r>
                    </a:p>
                  </a:txBody>
                  <a:tcPr anchor="ctr" marL="36576" marR="36576" marT="9144" marB="9144">
                    <a:solidFill>
                      <a:srgbClr val="EAF7EE"/>
                    </a:solidFill>
                  </a:tcPr>
                </a:tc>
                <a:tc>
                  <a:txBody>
                    <a:bodyPr wrap="square"/>
                    <a:lstStyle/>
                    <a:p>
                      <a:pPr algn="l">
                        <a:defRPr sz="580" b="1">
                          <a:solidFill>
                            <a:srgbClr val="B8292F"/>
                          </a:solidFill>
                          <a:latin typeface="Meiryo UI"/>
                        </a:defRPr>
                      </a:pPr>
                      <a:r>
                        <a:t>JP No.5と同期し、意図的なJAM発生・用紙除去確認ステップを廃止。</a:t>
                      </a:r>
                    </a:p>
                  </a:txBody>
                  <a:tcPr anchor="ctr" marL="36576" marR="36576" marT="9144" marB="9144">
                    <a:solidFill>
                      <a:srgbClr val="EAF7EE"/>
                    </a:solidFill>
                  </a:tcPr>
                </a:tc>
                <a:tc>
                  <a:txBody>
                    <a:bodyPr wrap="square"/>
                    <a:lstStyle/>
                    <a:p>
                      <a:pPr algn="ctr">
                        <a:defRPr sz="580">
                          <a:solidFill>
                            <a:srgbClr val="1E242B"/>
                          </a:solidFill>
                          <a:latin typeface="Meiryo UI"/>
                        </a:defRPr>
                      </a:pPr>
                      <a:r>
                        <a:t>-3.60 秒</a:t>
                      </a:r>
                      <a:br/>
                      <a:r>
                        <a:t>(3ステップ)</a:t>
                      </a:r>
                    </a:p>
                  </a:txBody>
                  <a:tcPr anchor="ctr" marL="36576" marR="36576" marT="9144" marB="9144">
                    <a:solidFill>
                      <a:srgbClr val="EAF7EE"/>
                    </a:solidFill>
                  </a:tcPr>
                </a:tc>
                <a:tc>
                  <a:txBody>
                    <a:bodyPr wrap="square"/>
                    <a:lstStyle/>
                    <a:p>
                      <a:pPr algn="l">
                        <a:defRPr sz="580">
                          <a:solidFill>
                            <a:srgbClr val="1E242B"/>
                          </a:solidFill>
                          <a:latin typeface="Meiryo UI"/>
                        </a:defRPr>
                      </a:pPr>
                      <a:r>
                        <a:t>効果:</a:t>
                      </a:r>
                      <a:br/>
                      <a:r>
                        <a:t>5,000 RMB / 5,000台</a:t>
                      </a:r>
                    </a:p>
                  </a:txBody>
                  <a:tcPr anchor="ctr" marL="36576" marR="36576" marT="9144" marB="9144">
                    <a:solidFill>
                      <a:srgbClr val="EAF7EE"/>
                    </a:solidFill>
                  </a:tcPr>
                </a:tc>
              </a:tr>
              <a:tr h="403860">
                <a:tc>
                  <a:txBody>
                    <a:bodyPr wrap="square"/>
                    <a:lstStyle/>
                    <a:p>
                      <a:pPr algn="ctr">
                        <a:defRPr sz="580" b="1">
                          <a:solidFill>
                            <a:srgbClr val="1E242B"/>
                          </a:solidFill>
                          <a:latin typeface="Meiryo UI"/>
                        </a:defRPr>
                      </a:pPr>
                      <a:r>
                        <a:t>No.15</a:t>
                      </a:r>
                    </a:p>
                  </a:txBody>
                  <a:tcPr anchor="ctr" marL="36576" marR="36576" marT="9144" marB="9144">
                    <a:solidFill>
                      <a:srgbClr val="F7F9FC"/>
                    </a:solidFill>
                  </a:tcPr>
                </a:tc>
                <a:tc>
                  <a:txBody>
                    <a:bodyPr wrap="square"/>
                    <a:lstStyle/>
                    <a:p>
                      <a:pPr algn="l">
                        <a:defRPr sz="580" b="1">
                          <a:solidFill>
                            <a:srgbClr val="B8292F"/>
                          </a:solidFill>
                          <a:latin typeface="Meiryo UI"/>
                        </a:defRPr>
                      </a:pPr>
                      <a:r>
                        <a:t>出荷設定の画面目視確認廃止</a:t>
                      </a:r>
                    </a:p>
                  </a:txBody>
                  <a:tcPr anchor="ctr" marL="36576" marR="36576" marT="9144" marB="9144">
                    <a:solidFill>
                      <a:srgbClr val="F7F9FC"/>
                    </a:solidFill>
                  </a:tcPr>
                </a:tc>
                <a:tc>
                  <a:txBody>
                    <a:bodyPr wrap="square"/>
                    <a:lstStyle/>
                    <a:p>
                      <a:pPr algn="l">
                        <a:defRPr sz="580" b="1">
                          <a:solidFill>
                            <a:srgbClr val="B8292F"/>
                          </a:solidFill>
                          <a:latin typeface="Meiryo UI"/>
                        </a:defRPr>
                      </a:pPr>
                      <a:r>
                        <a:t>システム上で出荷設定値を自動照合し、作業者の画面目視を廃止。</a:t>
                      </a:r>
                    </a:p>
                  </a:txBody>
                  <a:tcPr anchor="ctr" marL="36576" marR="36576" marT="9144" marB="9144">
                    <a:solidFill>
                      <a:srgbClr val="F7F9FC"/>
                    </a:solidFill>
                  </a:tcPr>
                </a:tc>
                <a:tc>
                  <a:txBody>
                    <a:bodyPr wrap="square"/>
                    <a:lstStyle/>
                    <a:p>
                      <a:pPr algn="ctr">
                        <a:defRPr sz="580">
                          <a:solidFill>
                            <a:srgbClr val="1E242B"/>
                          </a:solidFill>
                          <a:latin typeface="Meiryo UI"/>
                        </a:defRPr>
                      </a:pPr>
                      <a:r>
                        <a:t>-1.50 秒</a:t>
                      </a:r>
                      <a:br/>
                      <a:r>
                        <a:t>(5ステップ)</a:t>
                      </a:r>
                    </a:p>
                  </a:txBody>
                  <a:tcPr anchor="ctr" marL="36576" marR="36576" marT="9144" marB="9144">
                    <a:solidFill>
                      <a:srgbClr val="F7F9FC"/>
                    </a:solidFill>
                  </a:tcPr>
                </a:tc>
                <a:tc>
                  <a:txBody>
                    <a:bodyPr wrap="square"/>
                    <a:lstStyle/>
                    <a:p>
                      <a:pPr algn="l">
                        <a:defRPr sz="580">
                          <a:solidFill>
                            <a:srgbClr val="1E242B"/>
                          </a:solidFill>
                          <a:latin typeface="Meiryo UI"/>
                        </a:defRPr>
                      </a:pPr>
                      <a:r>
                        <a:t>効果:</a:t>
                      </a:r>
                      <a:br/>
                      <a:r>
                        <a:t>3,600 RMB/月</a:t>
                      </a:r>
                    </a:p>
                  </a:txBody>
                  <a:tcPr anchor="ctr" marL="36576" marR="36576" marT="9144" marB="9144">
                    <a:solidFill>
                      <a:srgbClr val="F7F9FC"/>
                    </a:solidFill>
                  </a:tcPr>
                </a:tc>
              </a:tr>
              <a:tr h="403860">
                <a:tc>
                  <a:txBody>
                    <a:bodyPr wrap="square"/>
                    <a:lstStyle/>
                    <a:p>
                      <a:pPr algn="ctr">
                        <a:defRPr sz="580" b="1">
                          <a:solidFill>
                            <a:srgbClr val="1E242B"/>
                          </a:solidFill>
                          <a:latin typeface="Meiryo UI"/>
                        </a:defRPr>
                      </a:pPr>
                      <a:r>
                        <a:t>No.16</a:t>
                      </a:r>
                    </a:p>
                  </a:txBody>
                  <a:tcPr anchor="ctr" marL="36576" marR="36576" marT="9144" marB="9144">
                    <a:solidFill>
                      <a:srgbClr val="FFFFFF"/>
                    </a:solidFill>
                  </a:tcPr>
                </a:tc>
                <a:tc>
                  <a:txBody>
                    <a:bodyPr wrap="square"/>
                    <a:lstStyle/>
                    <a:p>
                      <a:pPr algn="l">
                        <a:defRPr sz="580">
                          <a:solidFill>
                            <a:srgbClr val="1E242B"/>
                          </a:solidFill>
                          <a:latin typeface="Meiryo UI"/>
                        </a:defRPr>
                      </a:pPr>
                      <a:r>
                        <a:t>コネクタ一体型検査治具</a:t>
                      </a:r>
                    </a:p>
                  </a:txBody>
                  <a:tcPr anchor="ctr" marL="36576" marR="36576" marT="9144" marB="9144">
                    <a:solidFill>
                      <a:srgbClr val="FFFFFF"/>
                    </a:solidFill>
                  </a:tcPr>
                </a:tc>
                <a:tc>
                  <a:txBody>
                    <a:bodyPr wrap="square"/>
                    <a:lstStyle/>
                    <a:p>
                      <a:pPr algn="l">
                        <a:defRPr sz="580">
                          <a:solidFill>
                            <a:srgbClr val="1E242B"/>
                          </a:solidFill>
                          <a:latin typeface="Meiryo UI"/>
                        </a:defRPr>
                      </a:pPr>
                      <a:r>
                        <a:t>複数の個別検査コネクタを一体型治具に集約し一括接続。</a:t>
                      </a:r>
                    </a:p>
                  </a:txBody>
                  <a:tcPr anchor="ctr" marL="36576" marR="36576" marT="9144" marB="9144">
                    <a:solidFill>
                      <a:srgbClr val="FFFFFF"/>
                    </a:solidFill>
                  </a:tcPr>
                </a:tc>
                <a:tc>
                  <a:txBody>
                    <a:bodyPr wrap="square"/>
                    <a:lstStyle/>
                    <a:p>
                      <a:pPr algn="ctr">
                        <a:defRPr sz="580">
                          <a:solidFill>
                            <a:srgbClr val="1E242B"/>
                          </a:solidFill>
                          <a:latin typeface="Meiryo UI"/>
                        </a:defRPr>
                      </a:pPr>
                      <a:r>
                        <a:t>-9.70 秒</a:t>
                      </a:r>
                      <a:br/>
                      <a:r>
                        <a:t>(9ステップ)</a:t>
                      </a:r>
                    </a:p>
                  </a:txBody>
                  <a:tcPr anchor="ctr" marL="36576" marR="36576" marT="9144" marB="9144">
                    <a:solidFill>
                      <a:srgbClr val="FFFFFF"/>
                    </a:solidFill>
                  </a:tcPr>
                </a:tc>
                <a:tc>
                  <a:txBody>
                    <a:bodyPr wrap="square"/>
                    <a:lstStyle/>
                    <a:p>
                      <a:pPr algn="l">
                        <a:defRPr sz="580">
                          <a:solidFill>
                            <a:srgbClr val="1E242B"/>
                          </a:solidFill>
                          <a:latin typeface="Meiryo UI"/>
                        </a:defRPr>
                      </a:pPr>
                      <a:r>
                        <a:t>見積中</a:t>
                      </a:r>
                    </a:p>
                  </a:txBody>
                  <a:tcPr anchor="ctr" marL="36576" marR="36576" marT="9144" marB="9144">
                    <a:solidFill>
                      <a:srgbClr val="FFFFFF"/>
                    </a:solidFill>
                  </a:tcPr>
                </a:tc>
              </a:tr>
              <a:tr h="403860">
                <a:tc>
                  <a:txBody>
                    <a:bodyPr wrap="square"/>
                    <a:lstStyle/>
                    <a:p>
                      <a:pPr algn="ctr">
                        <a:defRPr sz="580" b="1">
                          <a:solidFill>
                            <a:srgbClr val="1E242B"/>
                          </a:solidFill>
                          <a:latin typeface="Meiryo UI"/>
                        </a:defRPr>
                      </a:pPr>
                      <a:r>
                        <a:t>No.17</a:t>
                      </a:r>
                    </a:p>
                  </a:txBody>
                  <a:tcPr anchor="ctr" marL="36576" marR="36576" marT="9144" marB="9144">
                    <a:solidFill>
                      <a:srgbClr val="F7F9FC"/>
                    </a:solidFill>
                  </a:tcPr>
                </a:tc>
                <a:tc>
                  <a:txBody>
                    <a:bodyPr wrap="square"/>
                    <a:lstStyle/>
                    <a:p>
                      <a:pPr algn="l">
                        <a:defRPr sz="580">
                          <a:solidFill>
                            <a:srgbClr val="1E242B"/>
                          </a:solidFill>
                          <a:latin typeface="Meiryo UI"/>
                        </a:defRPr>
                      </a:pPr>
                      <a:r>
                        <a:t>検査コネクタのマグネット式化</a:t>
                      </a:r>
                    </a:p>
                  </a:txBody>
                  <a:tcPr anchor="ctr" marL="36576" marR="36576" marT="9144" marB="9144">
                    <a:solidFill>
                      <a:srgbClr val="F7F9FC"/>
                    </a:solidFill>
                  </a:tcPr>
                </a:tc>
                <a:tc>
                  <a:txBody>
                    <a:bodyPr wrap="square"/>
                    <a:lstStyle/>
                    <a:p>
                      <a:pPr algn="l">
                        <a:defRPr sz="580">
                          <a:solidFill>
                            <a:srgbClr val="1E242B"/>
                          </a:solidFill>
                          <a:latin typeface="Meiryo UI"/>
                        </a:defRPr>
                      </a:pPr>
                      <a:r>
                        <a:t>マグネット式コネクタで自動位置決め接続（VN No.21と同期）。</a:t>
                      </a:r>
                    </a:p>
                  </a:txBody>
                  <a:tcPr anchor="ctr" marL="36576" marR="36576" marT="9144" marB="9144">
                    <a:solidFill>
                      <a:srgbClr val="F7F9FC"/>
                    </a:solidFill>
                  </a:tcPr>
                </a:tc>
                <a:tc>
                  <a:txBody>
                    <a:bodyPr wrap="square"/>
                    <a:lstStyle/>
                    <a:p>
                      <a:pPr algn="ctr">
                        <a:defRPr sz="580">
                          <a:solidFill>
                            <a:srgbClr val="1E242B"/>
                          </a:solidFill>
                          <a:latin typeface="Meiryo UI"/>
                        </a:defRPr>
                      </a:pPr>
                      <a:r>
                        <a:t>-1.50 秒 (CN)</a:t>
                      </a:r>
                      <a:br/>
                      <a:r>
                        <a:t>［VN: -45.0s］</a:t>
                      </a:r>
                    </a:p>
                  </a:txBody>
                  <a:tcPr anchor="ctr" marL="36576" marR="36576" marT="9144" marB="9144">
                    <a:solidFill>
                      <a:srgbClr val="F7F9FC"/>
                    </a:solidFill>
                  </a:tcPr>
                </a:tc>
                <a:tc>
                  <a:txBody>
                    <a:bodyPr wrap="square"/>
                    <a:lstStyle/>
                    <a:p>
                      <a:pPr algn="l">
                        <a:defRPr sz="580">
                          <a:solidFill>
                            <a:srgbClr val="1E242B"/>
                          </a:solidFill>
                          <a:latin typeface="Meiryo UI"/>
                        </a:defRPr>
                      </a:pPr>
                      <a:r>
                        <a:t>見積中</a:t>
                      </a:r>
                    </a:p>
                  </a:txBody>
                  <a:tcPr anchor="ctr" marL="36576" marR="36576" marT="9144" marB="9144">
                    <a:solidFill>
                      <a:srgbClr val="F7F9FC"/>
                    </a:solidFill>
                  </a:tcPr>
                </a:tc>
              </a:tr>
              <a:tr h="403860">
                <a:tc>
                  <a:txBody>
                    <a:bodyPr wrap="square"/>
                    <a:lstStyle/>
                    <a:p>
                      <a:pPr algn="ctr">
                        <a:defRPr sz="580" b="1">
                          <a:solidFill>
                            <a:srgbClr val="1E242B"/>
                          </a:solidFill>
                          <a:latin typeface="Meiryo UI"/>
                        </a:defRPr>
                      </a:pPr>
                      <a:r>
                        <a:t>No.38</a:t>
                      </a:r>
                      <a:br/>
                      <a:r>
                        <a:t>・CN計</a:t>
                      </a:r>
                    </a:p>
                  </a:txBody>
                  <a:tcPr anchor="ctr" marL="36576" marR="36576" marT="9144" marB="9144">
                    <a:solidFill>
                      <a:srgbClr val="E8EEF5"/>
                    </a:solidFill>
                  </a:tcPr>
                </a:tc>
                <a:tc>
                  <a:txBody>
                    <a:bodyPr wrap="square"/>
                    <a:lstStyle/>
                    <a:p>
                      <a:pPr algn="l">
                        <a:defRPr sz="580" b="1">
                          <a:solidFill>
                            <a:srgbClr val="1E242B"/>
                          </a:solidFill>
                          <a:latin typeface="Meiryo UI"/>
                        </a:defRPr>
                      </a:pPr>
                      <a:r>
                        <a:t>• No.38：WeChatミニプログラム＋AIによる印字画像判定（陳志峰、第13〜17回）</a:t>
                      </a:r>
                      <a:br/>
                      <a:r>
                        <a:t>• CNリスト時間記載10件計（U155 -28.2s含）：-178.56s＋印刷待ち-110s</a:t>
                      </a:r>
                    </a:p>
                  </a:txBody>
                  <a:tcPr anchor="ctr" marL="36576" marR="36576" marT="9144" marB="9144">
                    <a:solidFill>
                      <a:srgbClr val="E8EEF5"/>
                    </a:solidFill>
                  </a:tcPr>
                </a:tc>
                <a:tc>
                  <a:txBody>
                    <a:bodyPr wrap="square"/>
                    <a:lstStyle/>
                    <a:p>
                      <a:pPr algn="l">
                        <a:defRPr sz="580" b="1">
                          <a:solidFill>
                            <a:srgbClr val="1E242B"/>
                          </a:solidFill>
                          <a:latin typeface="Meiryo UI"/>
                        </a:defRPr>
                      </a:pPr>
                      <a:r>
                        <a:t>• CNリスト記載の労務費削減合計：11,160 RMB/月 ＋ 5,000 RMB/5,000台</a:t>
                      </a:r>
                    </a:p>
                  </a:txBody>
                  <a:tcPr anchor="ctr" marL="36576" marR="36576" marT="9144" marB="9144">
                    <a:solidFill>
                      <a:srgbClr val="E8EEF5"/>
                    </a:solidFill>
                  </a:tcPr>
                </a:tc>
                <a:tc>
                  <a:txBody>
                    <a:bodyPr wrap="square"/>
                    <a:lstStyle/>
                    <a:p>
                      <a:pPr algn="ctr">
                        <a:defRPr sz="580">
                          <a:solidFill>
                            <a:srgbClr val="1E242B"/>
                          </a:solidFill>
                          <a:latin typeface="Meiryo UI"/>
                        </a:defRPr>
                      </a:pPr>
                      <a:r>
                        <a:t>-178.56 秒</a:t>
                      </a:r>
                      <a:br/>
                      <a:r>
                        <a:t>(印刷待ち -110s)</a:t>
                      </a:r>
                    </a:p>
                  </a:txBody>
                  <a:tcPr anchor="ctr" marL="36576" marR="36576" marT="9144" marB="9144">
                    <a:solidFill>
                      <a:srgbClr val="E8EEF5"/>
                    </a:solidFill>
                  </a:tcPr>
                </a:tc>
                <a:tc>
                  <a:txBody>
                    <a:bodyPr wrap="square"/>
                    <a:lstStyle/>
                    <a:p>
                      <a:pPr algn="l">
                        <a:defRPr sz="580">
                          <a:solidFill>
                            <a:srgbClr val="1E242B"/>
                          </a:solidFill>
                          <a:latin typeface="Meiryo UI"/>
                        </a:defRPr>
                      </a:pPr>
                      <a:r>
                        <a:t>11,160 RMB/月</a:t>
                      </a:r>
                      <a:br/>
                      <a:r>
                        <a:t>+ 5,000 RMB/5k台</a:t>
                      </a:r>
                    </a:p>
                  </a:txBody>
                  <a:tcPr anchor="ctr" marL="36576" marR="36576" marT="9144" marB="9144">
                    <a:solidFill>
                      <a:srgbClr val="E8EEF5"/>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91440"/>
            <a:ext cx="196596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第7章：総合効果</a:t>
            </a:r>
          </a:p>
        </p:txBody>
      </p:sp>
      <p:sp>
        <p:nvSpPr>
          <p:cNvPr id="4" name="TextBox 3"/>
          <p:cNvSpPr txBox="1"/>
          <p:nvPr/>
        </p:nvSpPr>
        <p:spPr>
          <a:xfrm>
            <a:off x="2286000" y="54864"/>
            <a:ext cx="9052560" cy="457200"/>
          </a:xfrm>
          <a:prstGeom prst="rect">
            <a:avLst/>
          </a:prstGeom>
          <a:noFill/>
        </p:spPr>
        <p:txBody>
          <a:bodyPr wrap="square" lIns="18288" rIns="18288">
            <a:spAutoFit/>
          </a:bodyPr>
          <a:lstStyle/>
          <a:p>
            <a:pPr>
              <a:defRPr sz="1450" b="1">
                <a:solidFill>
                  <a:srgbClr val="FFFFFF"/>
                </a:solidFill>
                <a:latin typeface="Meiryo UI"/>
              </a:defRPr>
            </a:pPr>
            <a:r>
              <a:t>改善前後の比較（Before / After）：2026年10月までのPDCA実績および全面展開時の目標</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11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lstStyle/>
          <a:p>
            <a:pPr algn="ctr">
              <a:defRPr sz="980" b="1">
                <a:solidFill>
                  <a:srgbClr val="1B365D"/>
                </a:solidFill>
                <a:latin typeface="Meiryo UI"/>
              </a:defRPr>
            </a:pPr>
            <a:r>
              <a:t>■ VNの10月時点PDCA実績は4.32秒/台削減（0.18%）。JP工程表上は176.84〜267.74秒削減。全面展開時の目標は1,175秒以上削減（50%以上）および人員18名→9名への半減。</a:t>
            </a:r>
          </a:p>
        </p:txBody>
      </p:sp>
      <p:graphicFrame>
        <p:nvGraphicFramePr>
          <p:cNvPr id="7" name="Table 6"/>
          <p:cNvGraphicFramePr>
            <a:graphicFrameLocks noGrp="1"/>
          </p:cNvGraphicFramePr>
          <p:nvPr/>
        </p:nvGraphicFramePr>
        <p:xfrm>
          <a:off x="274320" y="1243584"/>
          <a:ext cx="6263640" cy="5230368"/>
        </p:xfrm>
        <a:graphic>
          <a:graphicData uri="http://schemas.openxmlformats.org/drawingml/2006/table">
            <a:tbl>
              <a:tblPr firstRow="1" bandRow="1">
                <a:tableStyleId>{5C22544A-7EE6-4342-B048-85BDC9FD1C3A}</a:tableStyleId>
              </a:tblPr>
              <a:tblGrid>
                <a:gridCol w="1508760"/>
                <a:gridCol w="1143000"/>
                <a:gridCol w="1234440"/>
                <a:gridCol w="1234440"/>
                <a:gridCol w="1143000"/>
              </a:tblGrid>
              <a:tr h="523036">
                <a:tc>
                  <a:txBody>
                    <a:bodyPr wrap="square"/>
                    <a:lstStyle/>
                    <a:p>
                      <a:pPr algn="ctr">
                        <a:defRPr sz="730" b="1">
                          <a:solidFill>
                            <a:srgbClr val="FFFFFF"/>
                          </a:solidFill>
                          <a:latin typeface="Meiryo UI"/>
                        </a:defRPr>
                      </a:pPr>
                      <a:r>
                        <a:t>評価指標</a:t>
                      </a:r>
                    </a:p>
                  </a:txBody>
                  <a:tcPr anchor="ctr" marL="36576" marR="36576" marT="9144" marB="9144">
                    <a:solidFill>
                      <a:srgbClr val="1B365D"/>
                    </a:solidFill>
                  </a:tcPr>
                </a:tc>
                <a:tc>
                  <a:txBody>
                    <a:bodyPr wrap="square"/>
                    <a:lstStyle/>
                    <a:p>
                      <a:pPr algn="ctr">
                        <a:defRPr sz="730" b="1">
                          <a:solidFill>
                            <a:srgbClr val="FFFFFF"/>
                          </a:solidFill>
                          <a:latin typeface="Meiryo UI"/>
                        </a:defRPr>
                      </a:pPr>
                      <a:r>
                        <a:t>改善前</a:t>
                      </a:r>
                      <a:br/>
                      <a:r>
                        <a:t>(Iris2024)</a:t>
                      </a:r>
                    </a:p>
                  </a:txBody>
                  <a:tcPr anchor="ctr" marL="36576" marR="36576" marT="9144" marB="9144">
                    <a:solidFill>
                      <a:srgbClr val="1B365D"/>
                    </a:solidFill>
                  </a:tcPr>
                </a:tc>
                <a:tc>
                  <a:txBody>
                    <a:bodyPr wrap="square"/>
                    <a:lstStyle/>
                    <a:p>
                      <a:pPr algn="ctr">
                        <a:defRPr sz="730" b="1">
                          <a:solidFill>
                            <a:srgbClr val="FFFFFF"/>
                          </a:solidFill>
                          <a:latin typeface="Meiryo UI"/>
                        </a:defRPr>
                      </a:pPr>
                      <a:r>
                        <a:t>2026年10月時点</a:t>
                      </a:r>
                      <a:br/>
                      <a:r>
                        <a:t>実績 (PDCA)</a:t>
                      </a:r>
                    </a:p>
                  </a:txBody>
                  <a:tcPr anchor="ctr" marL="36576" marR="36576" marT="9144" marB="9144">
                    <a:solidFill>
                      <a:srgbClr val="1B365D"/>
                    </a:solidFill>
                  </a:tcPr>
                </a:tc>
                <a:tc>
                  <a:txBody>
                    <a:bodyPr wrap="square"/>
                    <a:lstStyle/>
                    <a:p>
                      <a:pPr algn="ctr">
                        <a:defRPr sz="730" b="1">
                          <a:solidFill>
                            <a:srgbClr val="FFFFFF"/>
                          </a:solidFill>
                          <a:latin typeface="Meiryo UI"/>
                        </a:defRPr>
                      </a:pPr>
                      <a:r>
                        <a:t>全面展開後の目標</a:t>
                      </a:r>
                      <a:br/>
                      <a:r>
                        <a:t>(2027年3月)</a:t>
                      </a:r>
                    </a:p>
                  </a:txBody>
                  <a:tcPr anchor="ctr" marL="36576" marR="36576" marT="9144" marB="9144">
                    <a:solidFill>
                      <a:srgbClr val="1B365D"/>
                    </a:solidFill>
                  </a:tcPr>
                </a:tc>
                <a:tc>
                  <a:txBody>
                    <a:bodyPr wrap="square"/>
                    <a:lstStyle/>
                    <a:p>
                      <a:pPr algn="ctr">
                        <a:defRPr sz="730" b="1">
                          <a:solidFill>
                            <a:srgbClr val="FFFFFF"/>
                          </a:solidFill>
                          <a:latin typeface="Meiryo UI"/>
                        </a:defRPr>
                      </a:pPr>
                      <a:r>
                        <a:t>改善幅</a:t>
                      </a:r>
                      <a:br/>
                      <a:r>
                        <a:t>(Before → After)</a:t>
                      </a:r>
                    </a:p>
                  </a:txBody>
                  <a:tcPr anchor="ctr" marL="36576" marR="36576" marT="9144" marB="9144">
                    <a:solidFill>
                      <a:srgbClr val="1B365D"/>
                    </a:solidFill>
                  </a:tcPr>
                </a:tc>
              </a:tr>
              <a:tr h="523036">
                <a:tc>
                  <a:txBody>
                    <a:bodyPr wrap="square"/>
                    <a:lstStyle/>
                    <a:p>
                      <a:pPr algn="l">
                        <a:defRPr sz="650" b="1">
                          <a:solidFill>
                            <a:srgbClr val="1E242B"/>
                          </a:solidFill>
                          <a:latin typeface="Meiryo UI"/>
                        </a:defRPr>
                      </a:pPr>
                      <a:r>
                        <a:t>1. VN 調整工程 総時間</a:t>
                      </a:r>
                      <a:br/>
                      <a:r>
                        <a:t>(機械待ち・エージング・印刷含)</a:t>
                      </a:r>
                    </a:p>
                  </a:txBody>
                  <a:tcPr anchor="ctr" marL="36576" marR="36576" marT="9144" marB="9144">
                    <a:solidFill>
                      <a:srgbClr val="EAF7EE"/>
                    </a:solidFill>
                  </a:tcPr>
                </a:tc>
                <a:tc>
                  <a:txBody>
                    <a:bodyPr wrap="square"/>
                    <a:lstStyle/>
                    <a:p>
                      <a:pPr algn="ctr">
                        <a:defRPr sz="650">
                          <a:solidFill>
                            <a:srgbClr val="1E242B"/>
                          </a:solidFill>
                          <a:latin typeface="Meiryo UI"/>
                        </a:defRPr>
                      </a:pPr>
                      <a:r>
                        <a:t>2,350.00 秒/台</a:t>
                      </a:r>
                      <a:br/>
                      <a:r>
                        <a:t>(K1〜K8 8工程、</a:t>
                      </a:r>
                      <a:br/>
                      <a:r>
                        <a:t>主要39項目)</a:t>
                      </a:r>
                    </a:p>
                  </a:txBody>
                  <a:tcPr anchor="ctr" marL="36576" marR="36576" marT="9144" marB="9144">
                    <a:solidFill>
                      <a:srgbClr val="EAF7EE"/>
                    </a:solidFill>
                  </a:tcPr>
                </a:tc>
                <a:tc>
                  <a:txBody>
                    <a:bodyPr wrap="square"/>
                    <a:lstStyle/>
                    <a:p>
                      <a:pPr algn="ctr">
                        <a:defRPr sz="650" b="1">
                          <a:solidFill>
                            <a:srgbClr val="B8292F"/>
                          </a:solidFill>
                          <a:latin typeface="Meiryo UI"/>
                        </a:defRPr>
                      </a:pPr>
                      <a:r>
                        <a:t>2,345.68 秒/台</a:t>
                      </a:r>
                      <a:br/>
                      <a:r>
                        <a:t>(4ステップ廃止済＝</a:t>
                      </a:r>
                      <a:br/>
                      <a:r>
                        <a:t>-4.32 秒/台 | 0.18%)</a:t>
                      </a:r>
                    </a:p>
                  </a:txBody>
                  <a:tcPr anchor="ctr" marL="36576" marR="36576" marT="9144" marB="9144">
                    <a:solidFill>
                      <a:srgbClr val="EAF7EE"/>
                    </a:solidFill>
                  </a:tcPr>
                </a:tc>
                <a:tc>
                  <a:txBody>
                    <a:bodyPr wrap="square"/>
                    <a:lstStyle/>
                    <a:p>
                      <a:pPr algn="ctr">
                        <a:defRPr sz="650">
                          <a:solidFill>
                            <a:srgbClr val="1E242B"/>
                          </a:solidFill>
                          <a:latin typeface="Meiryo UI"/>
                        </a:defRPr>
                      </a:pPr>
                      <a:r>
                        <a:t>≦ 1,175.00 秒/台</a:t>
                      </a:r>
                      <a:br/>
                      <a:r>
                        <a:t>(Athena系に準拠した</a:t>
                      </a:r>
                      <a:br/>
                      <a:r>
                        <a:t>A-1〜A-4 4ゾーン構成)</a:t>
                      </a:r>
                    </a:p>
                  </a:txBody>
                  <a:tcPr anchor="ctr" marL="36576" marR="36576" marT="9144" marB="9144">
                    <a:solidFill>
                      <a:srgbClr val="EAF7EE"/>
                    </a:solidFill>
                  </a:tcPr>
                </a:tc>
                <a:tc>
                  <a:txBody>
                    <a:bodyPr wrap="square"/>
                    <a:lstStyle/>
                    <a:p>
                      <a:pPr algn="l">
                        <a:defRPr sz="650">
                          <a:solidFill>
                            <a:srgbClr val="1E242B"/>
                          </a:solidFill>
                          <a:latin typeface="Meiryo UI"/>
                        </a:defRPr>
                      </a:pPr>
                      <a:r>
                        <a:t>≧ 1,175.00 秒削減</a:t>
                      </a:r>
                      <a:br/>
                      <a:r>
                        <a:t>(≧ 50.0% 削減)</a:t>
                      </a:r>
                      <a:br/>
                      <a:r>
                        <a:t>［26/6〜27/3 目標］</a:t>
                      </a:r>
                    </a:p>
                  </a:txBody>
                  <a:tcPr anchor="ctr" marL="36576" marR="36576" marT="9144" marB="9144">
                    <a:solidFill>
                      <a:srgbClr val="EAF7EE"/>
                    </a:solidFill>
                  </a:tcPr>
                </a:tc>
              </a:tr>
              <a:tr h="523036">
                <a:tc>
                  <a:txBody>
                    <a:bodyPr wrap="square"/>
                    <a:lstStyle/>
                    <a:p>
                      <a:pPr algn="l">
                        <a:defRPr sz="650" b="1">
                          <a:solidFill>
                            <a:srgbClr val="1E242B"/>
                          </a:solidFill>
                          <a:latin typeface="Meiryo UI"/>
                        </a:defRPr>
                      </a:pPr>
                      <a:r>
                        <a:t>2. JP 正味手作業時間</a:t>
                      </a:r>
                      <a:br/>
                      <a:r>
                        <a:t>(Color機、機械待ち除く)</a:t>
                      </a:r>
                    </a:p>
                  </a:txBody>
                  <a:tcPr anchor="ctr" marL="36576" marR="36576" marT="9144" marB="9144">
                    <a:solidFill>
                      <a:srgbClr val="F7F9FC"/>
                    </a:solidFill>
                  </a:tcPr>
                </a:tc>
                <a:tc>
                  <a:txBody>
                    <a:bodyPr wrap="square"/>
                    <a:lstStyle/>
                    <a:p>
                      <a:pPr algn="ctr">
                        <a:defRPr sz="650">
                          <a:solidFill>
                            <a:srgbClr val="1E242B"/>
                          </a:solidFill>
                          <a:latin typeface="Meiryo UI"/>
                        </a:defRPr>
                      </a:pPr>
                      <a:r>
                        <a:t>1,171.70 秒 (Iris2024)</a:t>
                      </a:r>
                      <a:br/>
                      <a:r>
                        <a:t>1,260.70 秒 (IrisEXP</a:t>
                      </a:r>
                      <a:br/>
                      <a:r>
                        <a:t>改善無、+89s U413)</a:t>
                      </a:r>
                    </a:p>
                  </a:txBody>
                  <a:tcPr anchor="ctr" marL="36576" marR="36576" marT="9144" marB="9144">
                    <a:solidFill>
                      <a:srgbClr val="F7F9FC"/>
                    </a:solidFill>
                  </a:tcPr>
                </a:tc>
                <a:tc>
                  <a:txBody>
                    <a:bodyPr wrap="square"/>
                    <a:lstStyle/>
                    <a:p>
                      <a:pPr algn="ctr">
                        <a:defRPr sz="650">
                          <a:solidFill>
                            <a:srgbClr val="1E242B"/>
                          </a:solidFill>
                          <a:latin typeface="Meiryo UI"/>
                        </a:defRPr>
                      </a:pPr>
                      <a:r>
                        <a:t>1,083.86 秒 (7提案数式:</a:t>
                      </a:r>
                      <a:br/>
                      <a:r>
                        <a:t>改善無比 -176.84s |</a:t>
                      </a:r>
                      <a:br/>
                      <a:r>
                        <a:t>既存機比 -87.84s)</a:t>
                      </a:r>
                    </a:p>
                  </a:txBody>
                  <a:tcPr anchor="ctr" marL="36576" marR="36576" marT="9144" marB="9144">
                    <a:solidFill>
                      <a:srgbClr val="F7F9FC"/>
                    </a:solidFill>
                  </a:tcPr>
                </a:tc>
                <a:tc>
                  <a:txBody>
                    <a:bodyPr wrap="square"/>
                    <a:lstStyle/>
                    <a:p>
                      <a:pPr algn="ctr">
                        <a:defRPr sz="650">
                          <a:solidFill>
                            <a:srgbClr val="1E242B"/>
                          </a:solidFill>
                          <a:latin typeface="Meiryo UI"/>
                        </a:defRPr>
                      </a:pPr>
                      <a:r>
                        <a:t>1,034.04 秒 (削147項</a:t>
                      </a:r>
                      <a:br/>
                      <a:r>
                        <a:t>+ U201 6項削除後</a:t>
                      </a:r>
                      <a:br/>
                      <a:r>
                        <a:t>= -267.74s)</a:t>
                      </a:r>
                    </a:p>
                  </a:txBody>
                  <a:tcPr anchor="ctr" marL="36576" marR="36576" marT="9144" marB="9144">
                    <a:solidFill>
                      <a:srgbClr val="F7F9FC"/>
                    </a:solidFill>
                  </a:tcPr>
                </a:tc>
                <a:tc>
                  <a:txBody>
                    <a:bodyPr wrap="square"/>
                    <a:lstStyle/>
                    <a:p>
                      <a:pPr algn="l">
                        <a:defRPr sz="650">
                          <a:solidFill>
                            <a:srgbClr val="1E242B"/>
                          </a:solidFill>
                          <a:latin typeface="Meiryo UI"/>
                        </a:defRPr>
                      </a:pPr>
                      <a:r>
                        <a:t>正味手作業時間を</a:t>
                      </a:r>
                      <a:br/>
                      <a:r>
                        <a:t>176.84 〜 267.74 秒削減</a:t>
                      </a:r>
                      <a:br/>
                      <a:r>
                        <a:t>(残 85.97% 〜 82.0%)</a:t>
                      </a:r>
                    </a:p>
                  </a:txBody>
                  <a:tcPr anchor="ctr" marL="36576" marR="36576" marT="9144" marB="9144">
                    <a:solidFill>
                      <a:srgbClr val="F7F9FC"/>
                    </a:solidFill>
                  </a:tcPr>
                </a:tc>
              </a:tr>
              <a:tr h="523036">
                <a:tc>
                  <a:txBody>
                    <a:bodyPr wrap="square"/>
                    <a:lstStyle/>
                    <a:p>
                      <a:pPr algn="l">
                        <a:defRPr sz="650" b="1">
                          <a:solidFill>
                            <a:srgbClr val="1E242B"/>
                          </a:solidFill>
                          <a:latin typeface="Meiryo UI"/>
                        </a:defRPr>
                      </a:pPr>
                      <a:r>
                        <a:t>3. JP 正味手作業時間</a:t>
                      </a:r>
                      <a:br/>
                      <a:r>
                        <a:t>(Mono機、機械待ち除く)</a:t>
                      </a:r>
                    </a:p>
                  </a:txBody>
                  <a:tcPr anchor="ctr" marL="36576" marR="36576" marT="9144" marB="9144">
                    <a:solidFill>
                      <a:srgbClr val="FFFFFF"/>
                    </a:solidFill>
                  </a:tcPr>
                </a:tc>
                <a:tc>
                  <a:txBody>
                    <a:bodyPr wrap="square"/>
                    <a:lstStyle/>
                    <a:p>
                      <a:pPr algn="ctr">
                        <a:defRPr sz="650">
                          <a:solidFill>
                            <a:srgbClr val="1E242B"/>
                          </a:solidFill>
                          <a:latin typeface="Meiryo UI"/>
                        </a:defRPr>
                      </a:pPr>
                      <a:r>
                        <a:t>1,120.90 秒 (Iris2024)</a:t>
                      </a:r>
                      <a:br/>
                      <a:r>
                        <a:t>1,172.62 秒 (IrisEXP</a:t>
                      </a:r>
                      <a:br/>
                      <a:r>
                        <a:t>改善無、+51.72s U413)</a:t>
                      </a:r>
                    </a:p>
                  </a:txBody>
                  <a:tcPr anchor="ctr" marL="36576" marR="36576" marT="9144" marB="9144">
                    <a:solidFill>
                      <a:srgbClr val="FFFFFF"/>
                    </a:solidFill>
                  </a:tcPr>
                </a:tc>
                <a:tc>
                  <a:txBody>
                    <a:bodyPr wrap="square"/>
                    <a:lstStyle/>
                    <a:p>
                      <a:pPr algn="ctr">
                        <a:defRPr sz="650">
                          <a:solidFill>
                            <a:srgbClr val="1E242B"/>
                          </a:solidFill>
                          <a:latin typeface="Meiryo UI"/>
                        </a:defRPr>
                      </a:pPr>
                      <a:r>
                        <a:t>1,033.06 秒 (7提案数式:</a:t>
                      </a:r>
                      <a:br/>
                      <a:r>
                        <a:t>改善無比 -139.56s |</a:t>
                      </a:r>
                      <a:br/>
                      <a:r>
                        <a:t>既存機比 -87.84s)</a:t>
                      </a:r>
                    </a:p>
                  </a:txBody>
                  <a:tcPr anchor="ctr" marL="36576" marR="36576" marT="9144" marB="9144">
                    <a:solidFill>
                      <a:srgbClr val="FFFFFF"/>
                    </a:solidFill>
                  </a:tcPr>
                </a:tc>
                <a:tc>
                  <a:txBody>
                    <a:bodyPr wrap="square"/>
                    <a:lstStyle/>
                    <a:p>
                      <a:pPr algn="ctr">
                        <a:defRPr sz="650">
                          <a:solidFill>
                            <a:srgbClr val="1E242B"/>
                          </a:solidFill>
                          <a:latin typeface="Meiryo UI"/>
                        </a:defRPr>
                      </a:pPr>
                      <a:r>
                        <a:t>884.10 秒 (削147項</a:t>
                      </a:r>
                      <a:br/>
                      <a:r>
                        <a:t>+ U201 6項削除後</a:t>
                      </a:r>
                      <a:br/>
                      <a:r>
                        <a:t>= -263.06s)</a:t>
                      </a:r>
                    </a:p>
                  </a:txBody>
                  <a:tcPr anchor="ctr" marL="36576" marR="36576" marT="9144" marB="9144">
                    <a:solidFill>
                      <a:srgbClr val="FFFFFF"/>
                    </a:solidFill>
                  </a:tcPr>
                </a:tc>
                <a:tc>
                  <a:txBody>
                    <a:bodyPr wrap="square"/>
                    <a:lstStyle/>
                    <a:p>
                      <a:pPr algn="l">
                        <a:defRPr sz="650">
                          <a:solidFill>
                            <a:srgbClr val="1E242B"/>
                          </a:solidFill>
                          <a:latin typeface="Meiryo UI"/>
                        </a:defRPr>
                      </a:pPr>
                      <a:r>
                        <a:t>正味手作業時間を</a:t>
                      </a:r>
                      <a:br/>
                      <a:r>
                        <a:t>139.56 〜 263.06 秒削減</a:t>
                      </a:r>
                      <a:br/>
                      <a:r>
                        <a:t>(残 88.10% 〜 75.4%)</a:t>
                      </a:r>
                    </a:p>
                  </a:txBody>
                  <a:tcPr anchor="ctr" marL="36576" marR="36576" marT="9144" marB="9144">
                    <a:solidFill>
                      <a:srgbClr val="FFFFFF"/>
                    </a:solidFill>
                  </a:tcPr>
                </a:tc>
              </a:tr>
              <a:tr h="523036">
                <a:tc>
                  <a:txBody>
                    <a:bodyPr wrap="square"/>
                    <a:lstStyle/>
                    <a:p>
                      <a:pPr algn="l">
                        <a:defRPr sz="650" b="1">
                          <a:solidFill>
                            <a:srgbClr val="1E242B"/>
                          </a:solidFill>
                          <a:latin typeface="Meiryo UI"/>
                        </a:defRPr>
                      </a:pPr>
                      <a:r>
                        <a:t>4. VN ライン人員数</a:t>
                      </a:r>
                      <a:br/>
                      <a:r>
                        <a:t>(月産16,000台、</a:t>
                      </a:r>
                      <a:br/>
                      <a:r>
                        <a:t>タクトタイム 97秒)</a:t>
                      </a:r>
                    </a:p>
                  </a:txBody>
                  <a:tcPr anchor="ctr" marL="36576" marR="36576" marT="9144" marB="9144">
                    <a:solidFill>
                      <a:srgbClr val="EAF7EE"/>
                    </a:solidFill>
                  </a:tcPr>
                </a:tc>
                <a:tc>
                  <a:txBody>
                    <a:bodyPr wrap="square"/>
                    <a:lstStyle/>
                    <a:p>
                      <a:pPr algn="ctr">
                        <a:defRPr sz="650">
                          <a:solidFill>
                            <a:srgbClr val="1E242B"/>
                          </a:solidFill>
                          <a:latin typeface="Meiryo UI"/>
                        </a:defRPr>
                      </a:pPr>
                      <a:r>
                        <a:t>14 名 (Iris2024 114s)</a:t>
                      </a:r>
                      <a:br/>
                      <a:r>
                        <a:t>18 名 (タクト97sで</a:t>
                      </a:r>
                      <a:br/>
                      <a:r>
                        <a:t>従来工程のままの場合)</a:t>
                      </a:r>
                    </a:p>
                  </a:txBody>
                  <a:tcPr anchor="ctr" marL="36576" marR="36576" marT="9144" marB="9144">
                    <a:solidFill>
                      <a:srgbClr val="EAF7EE"/>
                    </a:solidFill>
                  </a:tcPr>
                </a:tc>
                <a:tc>
                  <a:txBody>
                    <a:bodyPr wrap="square"/>
                    <a:lstStyle/>
                    <a:p>
                      <a:pPr algn="ctr">
                        <a:defRPr sz="650">
                          <a:solidFill>
                            <a:srgbClr val="1E242B"/>
                          </a:solidFill>
                          <a:latin typeface="Meiryo UI"/>
                        </a:defRPr>
                      </a:pPr>
                      <a:r>
                        <a:t>14 名</a:t>
                      </a:r>
                      <a:br/>
                      <a:r>
                        <a:t>(現行ライン並行稼働・</a:t>
                      </a:r>
                      <a:br/>
                      <a:r>
                        <a:t>PDCA検証中)</a:t>
                      </a:r>
                    </a:p>
                  </a:txBody>
                  <a:tcPr anchor="ctr" marL="36576" marR="36576" marT="9144" marB="9144">
                    <a:solidFill>
                      <a:srgbClr val="EAF7EE"/>
                    </a:solidFill>
                  </a:tcPr>
                </a:tc>
                <a:tc>
                  <a:txBody>
                    <a:bodyPr wrap="square"/>
                    <a:lstStyle/>
                    <a:p>
                      <a:pPr algn="ctr">
                        <a:defRPr sz="650">
                          <a:solidFill>
                            <a:srgbClr val="1E242B"/>
                          </a:solidFill>
                          <a:latin typeface="Meiryo UI"/>
                        </a:defRPr>
                      </a:pPr>
                      <a:r>
                        <a:t>9 名</a:t>
                      </a:r>
                      <a:br/>
                      <a:r>
                        <a:t>(Athena系に準拠した</a:t>
                      </a:r>
                      <a:br/>
                      <a:r>
                        <a:t>A-1〜A-4 4ゾーン配置)</a:t>
                      </a:r>
                    </a:p>
                  </a:txBody>
                  <a:tcPr anchor="ctr" marL="36576" marR="36576" marT="9144" marB="9144">
                    <a:solidFill>
                      <a:srgbClr val="EAF7EE"/>
                    </a:solidFill>
                  </a:tcPr>
                </a:tc>
                <a:tc>
                  <a:txBody>
                    <a:bodyPr wrap="square"/>
                    <a:lstStyle/>
                    <a:p>
                      <a:pPr algn="l">
                        <a:defRPr sz="650">
                          <a:solidFill>
                            <a:srgbClr val="1E242B"/>
                          </a:solidFill>
                          <a:latin typeface="Meiryo UI"/>
                        </a:defRPr>
                      </a:pPr>
                      <a:r>
                        <a:t>タクト97s従来方式比で</a:t>
                      </a:r>
                      <a:br/>
                      <a:r>
                        <a:t>9名削減 (-50%)</a:t>
                      </a:r>
                      <a:br/>
                      <a:r>
                        <a:t>(現行14名比で5名削減)</a:t>
                      </a:r>
                    </a:p>
                  </a:txBody>
                  <a:tcPr anchor="ctr" marL="36576" marR="36576" marT="9144" marB="9144">
                    <a:solidFill>
                      <a:srgbClr val="EAF7EE"/>
                    </a:solidFill>
                  </a:tcPr>
                </a:tc>
              </a:tr>
              <a:tr h="523036">
                <a:tc>
                  <a:txBody>
                    <a:bodyPr wrap="square"/>
                    <a:lstStyle/>
                    <a:p>
                      <a:pPr algn="l">
                        <a:defRPr sz="650" b="1">
                          <a:solidFill>
                            <a:srgbClr val="1E242B"/>
                          </a:solidFill>
                          <a:latin typeface="Meiryo UI"/>
                        </a:defRPr>
                      </a:pPr>
                      <a:r>
                        <a:t>5. 労働生産性</a:t>
                      </a:r>
                      <a:br/>
                      <a:r>
                        <a:t>(生産性)</a:t>
                      </a:r>
                    </a:p>
                  </a:txBody>
                  <a:tcPr anchor="ctr" marL="36576" marR="36576" marT="9144" marB="9144">
                    <a:solidFill>
                      <a:srgbClr val="E8EEF5"/>
                    </a:solidFill>
                  </a:tcPr>
                </a:tc>
                <a:tc>
                  <a:txBody>
                    <a:bodyPr wrap="square"/>
                    <a:lstStyle/>
                    <a:p>
                      <a:pPr algn="ctr">
                        <a:defRPr sz="650">
                          <a:solidFill>
                            <a:srgbClr val="1E242B"/>
                          </a:solidFill>
                          <a:latin typeface="Meiryo UI"/>
                        </a:defRPr>
                      </a:pPr>
                      <a:r>
                        <a:t>1.0倍 (Iris2024基準:</a:t>
                      </a:r>
                      <a:br/>
                      <a:r>
                        <a:t>VN 約167.86 秒/人)</a:t>
                      </a:r>
                    </a:p>
                  </a:txBody>
                  <a:tcPr anchor="ctr" marL="36576" marR="36576" marT="9144" marB="9144">
                    <a:solidFill>
                      <a:srgbClr val="E8EEF5"/>
                    </a:solidFill>
                  </a:tcPr>
                </a:tc>
                <a:tc>
                  <a:txBody>
                    <a:bodyPr wrap="square"/>
                    <a:lstStyle/>
                    <a:p>
                      <a:pPr algn="ctr">
                        <a:defRPr sz="650">
                          <a:solidFill>
                            <a:srgbClr val="1E242B"/>
                          </a:solidFill>
                          <a:latin typeface="Meiryo UI"/>
                        </a:defRPr>
                      </a:pPr>
                      <a:r>
                        <a:t>共通JIG・セミファイナル</a:t>
                      </a:r>
                      <a:br/>
                      <a:r>
                        <a:t>ソフトを整備中</a:t>
                      </a:r>
                    </a:p>
                  </a:txBody>
                  <a:tcPr anchor="ctr" marL="36576" marR="36576" marT="9144" marB="9144">
                    <a:solidFill>
                      <a:srgbClr val="E8EEF5"/>
                    </a:solidFill>
                  </a:tcPr>
                </a:tc>
                <a:tc>
                  <a:txBody>
                    <a:bodyPr wrap="square"/>
                    <a:lstStyle/>
                    <a:p>
                      <a:pPr algn="ctr">
                        <a:defRPr sz="650">
                          <a:solidFill>
                            <a:srgbClr val="1E242B"/>
                          </a:solidFill>
                          <a:latin typeface="Meiryo UI"/>
                        </a:defRPr>
                      </a:pPr>
                      <a:r>
                        <a:t>2.0倍 (生産性2倍目標</a:t>
                      </a:r>
                      <a:br/>
                      <a:r>
                        <a:t>【仮決定】)</a:t>
                      </a:r>
                    </a:p>
                  </a:txBody>
                  <a:tcPr anchor="ctr" marL="36576" marR="36576" marT="9144" marB="9144">
                    <a:solidFill>
                      <a:srgbClr val="E8EEF5"/>
                    </a:solidFill>
                  </a:tcPr>
                </a:tc>
                <a:tc>
                  <a:txBody>
                    <a:bodyPr wrap="square"/>
                    <a:lstStyle/>
                    <a:p>
                      <a:pPr algn="l">
                        <a:defRPr sz="650">
                          <a:solidFill>
                            <a:srgbClr val="1E242B"/>
                          </a:solidFill>
                          <a:latin typeface="Meiryo UI"/>
                        </a:defRPr>
                      </a:pPr>
                      <a:r>
                        <a:t>+100% 向上 (2倍)</a:t>
                      </a:r>
                      <a:br/>
                      <a:r>
                        <a:t>(労務費50%以上削減)</a:t>
                      </a:r>
                    </a:p>
                  </a:txBody>
                  <a:tcPr anchor="ctr" marL="36576" marR="36576" marT="9144" marB="9144">
                    <a:solidFill>
                      <a:srgbClr val="E8EEF5"/>
                    </a:solidFill>
                  </a:tcPr>
                </a:tc>
              </a:tr>
              <a:tr h="523036">
                <a:tc>
                  <a:txBody>
                    <a:bodyPr wrap="square"/>
                    <a:lstStyle/>
                    <a:p>
                      <a:pPr algn="l">
                        <a:defRPr sz="650" b="1">
                          <a:solidFill>
                            <a:srgbClr val="1E242B"/>
                          </a:solidFill>
                          <a:latin typeface="Meiryo UI"/>
                        </a:defRPr>
                      </a:pPr>
                      <a:r>
                        <a:t>6. 印字サンプル枚数 / 台</a:t>
                      </a:r>
                      <a:br/>
                      <a:r>
                        <a:t>(Print)</a:t>
                      </a:r>
                    </a:p>
                  </a:txBody>
                  <a:tcPr anchor="ctr" marL="36576" marR="36576" marT="9144" marB="9144">
                    <a:solidFill>
                      <a:srgbClr val="F7F9FC"/>
                    </a:solidFill>
                  </a:tcPr>
                </a:tc>
                <a:tc>
                  <a:txBody>
                    <a:bodyPr wrap="square"/>
                    <a:lstStyle/>
                    <a:p>
                      <a:pPr algn="ctr">
                        <a:defRPr sz="650">
                          <a:solidFill>
                            <a:srgbClr val="1E242B"/>
                          </a:solidFill>
                          <a:latin typeface="Meiryo UI"/>
                        </a:defRPr>
                      </a:pPr>
                      <a:r>
                        <a:t>17 枚 / 台</a:t>
                      </a:r>
                      <a:br/>
                      <a:r>
                        <a:t>(CNでの印刷待ち時間</a:t>
                      </a:r>
                      <a:br/>
                      <a:r>
                        <a:t>約230秒)</a:t>
                      </a:r>
                    </a:p>
                  </a:txBody>
                  <a:tcPr anchor="ctr" marL="36576" marR="36576" marT="9144" marB="9144">
                    <a:solidFill>
                      <a:srgbClr val="F7F9FC"/>
                    </a:solidFill>
                  </a:tcPr>
                </a:tc>
                <a:tc>
                  <a:txBody>
                    <a:bodyPr wrap="square"/>
                    <a:lstStyle/>
                    <a:p>
                      <a:pPr algn="ctr">
                        <a:defRPr sz="650">
                          <a:solidFill>
                            <a:srgbClr val="1E242B"/>
                          </a:solidFill>
                          <a:latin typeface="Meiryo UI"/>
                        </a:defRPr>
                      </a:pPr>
                      <a:r>
                        <a:t>JP・CN・VN間で統合</a:t>
                      </a:r>
                      <a:br/>
                      <a:r>
                        <a:t>チャート仕様を合意済</a:t>
                      </a:r>
                    </a:p>
                  </a:txBody>
                  <a:tcPr anchor="ctr" marL="36576" marR="36576" marT="9144" marB="9144">
                    <a:solidFill>
                      <a:srgbClr val="F7F9FC"/>
                    </a:solidFill>
                  </a:tcPr>
                </a:tc>
                <a:tc>
                  <a:txBody>
                    <a:bodyPr wrap="square"/>
                    <a:lstStyle/>
                    <a:p>
                      <a:pPr algn="ctr">
                        <a:defRPr sz="650">
                          <a:solidFill>
                            <a:srgbClr val="1E242B"/>
                          </a:solidFill>
                          <a:latin typeface="Meiryo UI"/>
                        </a:defRPr>
                      </a:pPr>
                      <a:r>
                        <a:t>9 枚 / 台</a:t>
                      </a:r>
                      <a:br/>
                      <a:r>
                        <a:t>(印刷待ち時間を</a:t>
                      </a:r>
                      <a:br/>
                      <a:r>
                        <a:t>約120秒へ短縮)</a:t>
                      </a:r>
                    </a:p>
                  </a:txBody>
                  <a:tcPr anchor="ctr" marL="36576" marR="36576" marT="9144" marB="9144">
                    <a:solidFill>
                      <a:srgbClr val="F7F9FC"/>
                    </a:solidFill>
                  </a:tcPr>
                </a:tc>
                <a:tc>
                  <a:txBody>
                    <a:bodyPr wrap="square"/>
                    <a:lstStyle/>
                    <a:p>
                      <a:pPr algn="l">
                        <a:defRPr sz="650">
                          <a:solidFill>
                            <a:srgbClr val="1E242B"/>
                          </a:solidFill>
                          <a:latin typeface="Meiryo UI"/>
                        </a:defRPr>
                      </a:pPr>
                      <a:r>
                        <a:t>8 枚/台 削減</a:t>
                      </a:r>
                      <a:br/>
                      <a:r>
                        <a:t>(用紙・トナー -47.1%；</a:t>
                      </a:r>
                      <a:br/>
                      <a:r>
                        <a:t>印刷待ち -110秒)</a:t>
                      </a:r>
                    </a:p>
                  </a:txBody>
                  <a:tcPr anchor="ctr" marL="36576" marR="36576" marT="9144" marB="9144">
                    <a:solidFill>
                      <a:srgbClr val="F7F9FC"/>
                    </a:solidFill>
                  </a:tcPr>
                </a:tc>
              </a:tr>
              <a:tr h="523036">
                <a:tc>
                  <a:txBody>
                    <a:bodyPr wrap="square"/>
                    <a:lstStyle/>
                    <a:p>
                      <a:pPr algn="l">
                        <a:defRPr sz="650" b="1">
                          <a:solidFill>
                            <a:srgbClr val="1E242B"/>
                          </a:solidFill>
                          <a:latin typeface="Meiryo UI"/>
                        </a:defRPr>
                      </a:pPr>
                      <a:r>
                        <a:t>7. コピーサンプル枚数 / 台</a:t>
                      </a:r>
                      <a:br/>
                      <a:r>
                        <a:t>(Copy)</a:t>
                      </a:r>
                    </a:p>
                  </a:txBody>
                  <a:tcPr anchor="ctr" marL="36576" marR="36576" marT="9144" marB="9144">
                    <a:solidFill>
                      <a:srgbClr val="FFFFFF"/>
                    </a:solidFill>
                  </a:tcPr>
                </a:tc>
                <a:tc>
                  <a:txBody>
                    <a:bodyPr wrap="square"/>
                    <a:lstStyle/>
                    <a:p>
                      <a:pPr algn="ctr">
                        <a:defRPr sz="650">
                          <a:solidFill>
                            <a:srgbClr val="1E242B"/>
                          </a:solidFill>
                          <a:latin typeface="Meiryo UI"/>
                        </a:defRPr>
                      </a:pPr>
                      <a:r>
                        <a:t>2 枚 / 台</a:t>
                      </a:r>
                      <a:br/>
                      <a:r>
                        <a:t>(ISUガラス面への手置き</a:t>
                      </a:r>
                      <a:br/>
                      <a:r>
                        <a:t>作業 110秒)</a:t>
                      </a:r>
                    </a:p>
                  </a:txBody>
                  <a:tcPr anchor="ctr" marL="36576" marR="36576" marT="9144" marB="9144">
                    <a:solidFill>
                      <a:srgbClr val="FFFFFF"/>
                    </a:solidFill>
                  </a:tcPr>
                </a:tc>
                <a:tc>
                  <a:txBody>
                    <a:bodyPr wrap="square"/>
                    <a:lstStyle/>
                    <a:p>
                      <a:pPr algn="ctr">
                        <a:defRPr sz="650">
                          <a:solidFill>
                            <a:srgbClr val="1E242B"/>
                          </a:solidFill>
                          <a:latin typeface="Meiryo UI"/>
                        </a:defRPr>
                      </a:pPr>
                      <a:r>
                        <a:t>DP連続スキャンの</a:t>
                      </a:r>
                      <a:br/>
                      <a:r>
                        <a:t>読取精度を検証中</a:t>
                      </a:r>
                    </a:p>
                  </a:txBody>
                  <a:tcPr anchor="ctr" marL="36576" marR="36576" marT="9144" marB="9144">
                    <a:solidFill>
                      <a:srgbClr val="FFFFFF"/>
                    </a:solidFill>
                  </a:tcPr>
                </a:tc>
                <a:tc>
                  <a:txBody>
                    <a:bodyPr wrap="square"/>
                    <a:lstStyle/>
                    <a:p>
                      <a:pPr algn="ctr">
                        <a:defRPr sz="650">
                          <a:solidFill>
                            <a:srgbClr val="1E242B"/>
                          </a:solidFill>
                          <a:latin typeface="Meiryo UI"/>
                        </a:defRPr>
                      </a:pPr>
                      <a:r>
                        <a:t>1 枚 / 台</a:t>
                      </a:r>
                      <a:br/>
                      <a:r>
                        <a:t>(DP連続スキャン＋</a:t>
                      </a:r>
                      <a:br/>
                      <a:r>
                        <a:t>PC自動判定)</a:t>
                      </a:r>
                    </a:p>
                  </a:txBody>
                  <a:tcPr anchor="ctr" marL="36576" marR="36576" marT="9144" marB="9144">
                    <a:solidFill>
                      <a:srgbClr val="FFFFFF"/>
                    </a:solidFill>
                  </a:tcPr>
                </a:tc>
                <a:tc>
                  <a:txBody>
                    <a:bodyPr wrap="square"/>
                    <a:lstStyle/>
                    <a:p>
                      <a:pPr algn="l">
                        <a:defRPr sz="650">
                          <a:solidFill>
                            <a:srgbClr val="1E242B"/>
                          </a:solidFill>
                          <a:latin typeface="Meiryo UI"/>
                        </a:defRPr>
                      </a:pPr>
                      <a:r>
                        <a:t>1 枚/台 削減</a:t>
                      </a:r>
                      <a:br/>
                      <a:r>
                        <a:t>(-50.0%；原稿セット作業</a:t>
                      </a:r>
                      <a:br/>
                      <a:r>
                        <a:t>110秒を削減)</a:t>
                      </a:r>
                    </a:p>
                  </a:txBody>
                  <a:tcPr anchor="ctr" marL="36576" marR="36576" marT="9144" marB="9144">
                    <a:solidFill>
                      <a:srgbClr val="FFFFFF"/>
                    </a:solidFill>
                  </a:tcPr>
                </a:tc>
              </a:tr>
              <a:tr h="523036">
                <a:tc>
                  <a:txBody>
                    <a:bodyPr wrap="square"/>
                    <a:lstStyle/>
                    <a:p>
                      <a:pPr algn="l">
                        <a:defRPr sz="650" b="1">
                          <a:solidFill>
                            <a:srgbClr val="1E242B"/>
                          </a:solidFill>
                          <a:latin typeface="Meiryo UI"/>
                        </a:defRPr>
                      </a:pPr>
                      <a:r>
                        <a:t>8. ケーブル・USB挿抜回数</a:t>
                      </a:r>
                    </a:p>
                  </a:txBody>
                  <a:tcPr anchor="ctr" marL="36576" marR="36576" marT="9144" marB="9144">
                    <a:solidFill>
                      <a:srgbClr val="F7F9FC"/>
                    </a:solidFill>
                  </a:tcPr>
                </a:tc>
                <a:tc>
                  <a:txBody>
                    <a:bodyPr wrap="square"/>
                    <a:lstStyle/>
                    <a:p>
                      <a:pPr algn="ctr">
                        <a:defRPr sz="650">
                          <a:solidFill>
                            <a:srgbClr val="1E242B"/>
                          </a:solidFill>
                          <a:latin typeface="Meiryo UI"/>
                        </a:defRPr>
                      </a:pPr>
                      <a:r>
                        <a:t>ケーブル挿抜 11回/台</a:t>
                      </a:r>
                      <a:br/>
                      <a:r>
                        <a:t>＋ USB挿抜 3回/台</a:t>
                      </a:r>
                    </a:p>
                  </a:txBody>
                  <a:tcPr anchor="ctr" marL="36576" marR="36576" marT="9144" marB="9144">
                    <a:solidFill>
                      <a:srgbClr val="F7F9FC"/>
                    </a:solidFill>
                  </a:tcPr>
                </a:tc>
                <a:tc>
                  <a:txBody>
                    <a:bodyPr wrap="square"/>
                    <a:lstStyle/>
                    <a:p>
                      <a:pPr algn="ctr">
                        <a:defRPr sz="650" b="1">
                          <a:solidFill>
                            <a:srgbClr val="B8292F"/>
                          </a:solidFill>
                          <a:latin typeface="Meiryo UI"/>
                        </a:defRPr>
                      </a:pPr>
                      <a:r>
                        <a:t>USB検査U208廃止承認</a:t>
                      </a:r>
                      <a:br/>
                      <a:r>
                        <a:t>(-3.96s) ＆ Spica式</a:t>
                      </a:r>
                      <a:br/>
                      <a:r>
                        <a:t>Mini PC仮決定</a:t>
                      </a:r>
                    </a:p>
                  </a:txBody>
                  <a:tcPr anchor="ctr" marL="36576" marR="36576" marT="9144" marB="9144">
                    <a:solidFill>
                      <a:srgbClr val="F7F9FC"/>
                    </a:solidFill>
                  </a:tcPr>
                </a:tc>
                <a:tc>
                  <a:txBody>
                    <a:bodyPr wrap="square"/>
                    <a:lstStyle/>
                    <a:p>
                      <a:pPr algn="ctr">
                        <a:defRPr sz="650">
                          <a:solidFill>
                            <a:srgbClr val="1E242B"/>
                          </a:solidFill>
                          <a:latin typeface="Meiryo UI"/>
                        </a:defRPr>
                      </a:pPr>
                      <a:r>
                        <a:t>ライン先頭での1回接続</a:t>
                      </a:r>
                      <a:br/>
                      <a:r>
                        <a:t>または自動給電＋LAN</a:t>
                      </a:r>
                      <a:br/>
                      <a:r>
                        <a:t>経由ログ転送</a:t>
                      </a:r>
                    </a:p>
                  </a:txBody>
                  <a:tcPr anchor="ctr" marL="36576" marR="36576" marT="9144" marB="9144">
                    <a:solidFill>
                      <a:srgbClr val="F7F9FC"/>
                    </a:solidFill>
                  </a:tcPr>
                </a:tc>
                <a:tc>
                  <a:txBody>
                    <a:bodyPr wrap="square"/>
                    <a:lstStyle/>
                    <a:p>
                      <a:pPr algn="l">
                        <a:defRPr sz="650" b="1">
                          <a:solidFill>
                            <a:srgbClr val="B8292F"/>
                          </a:solidFill>
                          <a:latin typeface="Meiryo UI"/>
                        </a:defRPr>
                      </a:pPr>
                      <a:r>
                        <a:t>ケーブル挿抜約11回および</a:t>
                      </a:r>
                      <a:br/>
                      <a:r>
                        <a:t>USB手動ログ取得・出荷設定</a:t>
                      </a:r>
                      <a:br/>
                      <a:r>
                        <a:t>作業を廃止</a:t>
                      </a:r>
                    </a:p>
                  </a:txBody>
                  <a:tcPr anchor="ctr" marL="36576" marR="36576" marT="9144" marB="9144">
                    <a:solidFill>
                      <a:srgbClr val="F7F9FC"/>
                    </a:solidFill>
                  </a:tcPr>
                </a:tc>
              </a:tr>
              <a:tr h="523044">
                <a:tc>
                  <a:txBody>
                    <a:bodyPr wrap="square"/>
                    <a:lstStyle/>
                    <a:p>
                      <a:pPr algn="l">
                        <a:defRPr sz="650" b="1">
                          <a:solidFill>
                            <a:srgbClr val="1E242B"/>
                          </a:solidFill>
                          <a:latin typeface="Meiryo UI"/>
                        </a:defRPr>
                      </a:pPr>
                      <a:r>
                        <a:t>9. VN 月次PDCA進捗</a:t>
                      </a:r>
                      <a:br/>
                      <a:r>
                        <a:t>(KDTVN-PE-3)</a:t>
                      </a:r>
                    </a:p>
                  </a:txBody>
                  <a:tcPr anchor="ctr" marL="36576" marR="36576" marT="9144" marB="9144">
                    <a:solidFill>
                      <a:srgbClr val="FEF7E6"/>
                    </a:solidFill>
                  </a:tcPr>
                </a:tc>
                <a:tc>
                  <a:txBody>
                    <a:bodyPr wrap="square"/>
                    <a:lstStyle/>
                    <a:p>
                      <a:pPr algn="ctr">
                        <a:defRPr sz="650" b="1">
                          <a:solidFill>
                            <a:srgbClr val="1E242B"/>
                          </a:solidFill>
                          <a:latin typeface="Meiryo UI"/>
                        </a:defRPr>
                      </a:pPr>
                      <a:r>
                        <a:t>8月: 0% (計画策定)</a:t>
                      </a:r>
                      <a:br/>
                      <a:r>
                        <a:t>9月: 目標1% (-23.5s)</a:t>
                      </a:r>
                      <a:br/>
                      <a:r>
                        <a:t>→ 実績 0%</a:t>
                      </a:r>
                    </a:p>
                  </a:txBody>
                  <a:tcPr anchor="ctr" marL="36576" marR="36576" marT="9144" marB="9144">
                    <a:solidFill>
                      <a:srgbClr val="FEF7E6"/>
                    </a:solidFill>
                  </a:tcPr>
                </a:tc>
                <a:tc>
                  <a:txBody>
                    <a:bodyPr wrap="square"/>
                    <a:lstStyle/>
                    <a:p>
                      <a:pPr algn="ctr">
                        <a:defRPr sz="650">
                          <a:solidFill>
                            <a:srgbClr val="1E242B"/>
                          </a:solidFill>
                          <a:latin typeface="Meiryo UI"/>
                        </a:defRPr>
                      </a:pPr>
                      <a:r>
                        <a:t>10月: 目標3% (-47.0s)</a:t>
                      </a:r>
                      <a:br/>
                      <a:r>
                        <a:t>→ 実績 -4.32s (0.18%、</a:t>
                      </a:r>
                      <a:br/>
                      <a:r>
                        <a:t>評価「×」)</a:t>
                      </a:r>
                    </a:p>
                  </a:txBody>
                  <a:tcPr anchor="ctr" marL="36576" marR="36576" marT="9144" marB="9144">
                    <a:solidFill>
                      <a:srgbClr val="FEF7E6"/>
                    </a:solidFill>
                  </a:tcPr>
                </a:tc>
                <a:tc>
                  <a:txBody>
                    <a:bodyPr wrap="square"/>
                    <a:lstStyle/>
                    <a:p>
                      <a:pPr algn="ctr">
                        <a:defRPr sz="650">
                          <a:solidFill>
                            <a:srgbClr val="1E242B"/>
                          </a:solidFill>
                          <a:latin typeface="Meiryo UI"/>
                        </a:defRPr>
                      </a:pPr>
                      <a:r>
                        <a:t>11月: 15% (-282s) | 12月: 30%</a:t>
                      </a:r>
                      <a:br/>
                      <a:r>
                        <a:t>1月: 50% (-1,175s)</a:t>
                      </a:r>
                      <a:br/>
                      <a:r>
                        <a:t>2月: 80% | 27年3月: 100%</a:t>
                      </a:r>
                    </a:p>
                  </a:txBody>
                  <a:tcPr anchor="ctr" marL="36576" marR="36576" marT="9144" marB="9144">
                    <a:solidFill>
                      <a:srgbClr val="FEF7E6"/>
                    </a:solidFill>
                  </a:tcPr>
                </a:tc>
                <a:tc>
                  <a:txBody>
                    <a:bodyPr wrap="square"/>
                    <a:lstStyle/>
                    <a:p>
                      <a:pPr algn="l">
                        <a:defRPr sz="650" b="1">
                          <a:solidFill>
                            <a:srgbClr val="1E242B"/>
                          </a:solidFill>
                          <a:latin typeface="Meiryo UI"/>
                        </a:defRPr>
                      </a:pPr>
                      <a:r>
                        <a:t>11〜12月の遅れ挽回には</a:t>
                      </a:r>
                      <a:br/>
                      <a:r>
                        <a:t>No.22承認とJPとの工程DR</a:t>
                      </a:r>
                      <a:br/>
                      <a:r>
                        <a:t>完了が不可欠</a:t>
                      </a:r>
                    </a:p>
                  </a:txBody>
                  <a:tcPr anchor="ctr" marL="36576" marR="36576" marT="9144" marB="9144">
                    <a:solidFill>
                      <a:srgbClr val="FEF7E6"/>
                    </a:solidFill>
                  </a:tcPr>
                </a:tc>
              </a:tr>
            </a:tbl>
          </a:graphicData>
        </a:graphic>
      </p:graphicFrame>
      <p:pic>
        <p:nvPicPr>
          <p:cNvPr id="8" name="Picture 7" descr="chart_s11_before_after_pdca_jp.png"/>
          <p:cNvPicPr>
            <a:picLocks noChangeAspect="1"/>
          </p:cNvPicPr>
          <p:nvPr/>
        </p:nvPicPr>
        <p:blipFill>
          <a:blip r:embed="rId2"/>
          <a:stretch>
            <a:fillRect/>
          </a:stretch>
        </p:blipFill>
        <p:spPr>
          <a:xfrm>
            <a:off x="6629400" y="1243584"/>
            <a:ext cx="5285232" cy="366556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91440"/>
            <a:ext cx="196596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第8章：推進計画・日程</a:t>
            </a:r>
          </a:p>
        </p:txBody>
      </p:sp>
      <p:sp>
        <p:nvSpPr>
          <p:cNvPr id="4" name="TextBox 3"/>
          <p:cNvSpPr txBox="1"/>
          <p:nvPr/>
        </p:nvSpPr>
        <p:spPr>
          <a:xfrm>
            <a:off x="2286000" y="54864"/>
            <a:ext cx="9052560" cy="457200"/>
          </a:xfrm>
          <a:prstGeom prst="rect">
            <a:avLst/>
          </a:prstGeom>
          <a:noFill/>
        </p:spPr>
        <p:txBody>
          <a:bodyPr wrap="square" lIns="18288" rIns="18288">
            <a:spAutoFit/>
          </a:bodyPr>
          <a:lstStyle/>
          <a:p>
            <a:pPr>
              <a:defRPr sz="1450" b="1">
                <a:solidFill>
                  <a:srgbClr val="FFFFFF"/>
                </a:solidFill>
                <a:latin typeface="Meiryo UI"/>
              </a:defRPr>
            </a:pPr>
            <a:r>
              <a:t>全体推進スケジュール（2026年5月 〜 2027年3月）および今後のアクションアイテム</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12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lstStyle/>
          <a:p>
            <a:pPr algn="ctr">
              <a:defRPr sz="980" b="1">
                <a:solidFill>
                  <a:srgbClr val="1B365D"/>
                </a:solidFill>
                <a:latin typeface="Meiryo UI"/>
              </a:defRPr>
            </a:pPr>
            <a:r>
              <a:t>■ 開発マイルストーン：DMT（8〜11月）→ PMT1（12月）→ PMT2（27年2月）→ MP（27年3月）。11月の最優先事項はNo.22予算承認、第2次見積確定、およびJP生技との工程DR完了。</a:t>
            </a:r>
          </a:p>
        </p:txBody>
      </p:sp>
      <p:sp>
        <p:nvSpPr>
          <p:cNvPr id="7" name="TextBox 6"/>
          <p:cNvSpPr txBox="1"/>
          <p:nvPr/>
        </p:nvSpPr>
        <p:spPr>
          <a:xfrm>
            <a:off x="274320" y="1197864"/>
            <a:ext cx="11643055" cy="201168"/>
          </a:xfrm>
          <a:prstGeom prst="rect">
            <a:avLst/>
          </a:prstGeom>
          <a:noFill/>
        </p:spPr>
        <p:txBody>
          <a:bodyPr wrap="square" lIns="18288" rIns="18288" tIns="9144" bIns="9144">
            <a:spAutoFit/>
          </a:bodyPr>
          <a:lstStyle/>
          <a:p>
            <a:pPr>
              <a:defRPr sz="819" b="1">
                <a:solidFill>
                  <a:srgbClr val="1B365D"/>
                </a:solidFill>
                <a:latin typeface="Meiryo UI"/>
              </a:defRPr>
            </a:pPr>
            <a:r>
              <a:t>■ 1. IRIS EXP 調整工程（本体保証工程）改善 マスタースケジュール（2026年5月 〜 2027年3月）</a:t>
            </a:r>
          </a:p>
        </p:txBody>
      </p:sp>
      <p:graphicFrame>
        <p:nvGraphicFramePr>
          <p:cNvPr id="8" name="Table 7"/>
          <p:cNvGraphicFramePr>
            <a:graphicFrameLocks noGrp="1"/>
          </p:cNvGraphicFramePr>
          <p:nvPr/>
        </p:nvGraphicFramePr>
        <p:xfrm>
          <a:off x="274320" y="1399032"/>
          <a:ext cx="11643055" cy="2057400"/>
        </p:xfrm>
        <a:graphic>
          <a:graphicData uri="http://schemas.openxmlformats.org/drawingml/2006/table">
            <a:tbl>
              <a:tblPr firstRow="1" bandRow="1">
                <a:tableStyleId>{5C22544A-7EE6-4342-B048-85BDC9FD1C3A}</a:tableStyleId>
              </a:tblPr>
              <a:tblGrid>
                <a:gridCol w="1691640"/>
                <a:gridCol w="1234440"/>
                <a:gridCol w="1234440"/>
                <a:gridCol w="1325880"/>
                <a:gridCol w="1417320"/>
                <a:gridCol w="1508760"/>
                <a:gridCol w="1600200"/>
                <a:gridCol w="1630375"/>
              </a:tblGrid>
              <a:tr h="293914">
                <a:tc>
                  <a:txBody>
                    <a:bodyPr wrap="square"/>
                    <a:lstStyle/>
                    <a:p>
                      <a:pPr algn="ctr">
                        <a:defRPr sz="690" b="1">
                          <a:solidFill>
                            <a:srgbClr val="FFFFFF"/>
                          </a:solidFill>
                          <a:latin typeface="Meiryo UI"/>
                        </a:defRPr>
                      </a:pPr>
                      <a:r>
                        <a:t>推進項目</a:t>
                      </a:r>
                    </a:p>
                  </a:txBody>
                  <a:tcPr anchor="ctr" marL="36576" marR="36576" marT="9144" marB="9144">
                    <a:solidFill>
                      <a:srgbClr val="1B365D"/>
                    </a:solidFill>
                  </a:tcPr>
                </a:tc>
                <a:tc>
                  <a:txBody>
                    <a:bodyPr wrap="square"/>
                    <a:lstStyle/>
                    <a:p>
                      <a:pPr algn="ctr">
                        <a:defRPr sz="690" b="1">
                          <a:solidFill>
                            <a:srgbClr val="FFFFFF"/>
                          </a:solidFill>
                          <a:latin typeface="Meiryo UI"/>
                        </a:defRPr>
                      </a:pPr>
                      <a:r>
                        <a:t>26年5〜7月</a:t>
                      </a:r>
                      <a:br/>
                      <a:r>
                        <a:t>(立ち上げ)</a:t>
                      </a:r>
                    </a:p>
                  </a:txBody>
                  <a:tcPr anchor="ctr" marL="36576" marR="36576" marT="9144" marB="9144">
                    <a:solidFill>
                      <a:srgbClr val="1B365D"/>
                    </a:solidFill>
                  </a:tcPr>
                </a:tc>
                <a:tc>
                  <a:txBody>
                    <a:bodyPr wrap="square"/>
                    <a:lstStyle/>
                    <a:p>
                      <a:pPr algn="ctr">
                        <a:defRPr sz="690" b="1">
                          <a:solidFill>
                            <a:srgbClr val="FFFFFF"/>
                          </a:solidFill>
                          <a:latin typeface="Meiryo UI"/>
                        </a:defRPr>
                      </a:pPr>
                      <a:r>
                        <a:t>26年8〜9月</a:t>
                      </a:r>
                      <a:br/>
                      <a:r>
                        <a:t>(DMT1 / 提案)</a:t>
                      </a:r>
                    </a:p>
                  </a:txBody>
                  <a:tcPr anchor="ctr" marL="36576" marR="36576" marT="9144" marB="9144">
                    <a:solidFill>
                      <a:srgbClr val="1B365D"/>
                    </a:solidFill>
                  </a:tcPr>
                </a:tc>
                <a:tc>
                  <a:txBody>
                    <a:bodyPr wrap="square"/>
                    <a:lstStyle/>
                    <a:p>
                      <a:pPr algn="ctr">
                        <a:defRPr sz="690" b="1">
                          <a:solidFill>
                            <a:srgbClr val="FFFFFF"/>
                          </a:solidFill>
                          <a:latin typeface="Meiryo UI"/>
                        </a:defRPr>
                      </a:pPr>
                      <a:r>
                        <a:t>26年10月</a:t>
                      </a:r>
                      <a:br/>
                      <a:r>
                        <a:t>(DMT2 / 見積)</a:t>
                      </a:r>
                    </a:p>
                  </a:txBody>
                  <a:tcPr anchor="ctr" marL="36576" marR="36576" marT="9144" marB="9144">
                    <a:solidFill>
                      <a:srgbClr val="1B365D"/>
                    </a:solidFill>
                  </a:tcPr>
                </a:tc>
                <a:tc>
                  <a:txBody>
                    <a:bodyPr wrap="square"/>
                    <a:lstStyle/>
                    <a:p>
                      <a:pPr algn="ctr">
                        <a:defRPr sz="690" b="1">
                          <a:solidFill>
                            <a:srgbClr val="FFFFFF"/>
                          </a:solidFill>
                          <a:latin typeface="Meiryo UI"/>
                        </a:defRPr>
                      </a:pPr>
                      <a:r>
                        <a:t>26年11月</a:t>
                      </a:r>
                      <a:br/>
                      <a:r>
                        <a:t>(工程DR・製作)</a:t>
                      </a:r>
                    </a:p>
                  </a:txBody>
                  <a:tcPr anchor="ctr" marL="36576" marR="36576" marT="9144" marB="9144">
                    <a:solidFill>
                      <a:srgbClr val="1B365D"/>
                    </a:solidFill>
                  </a:tcPr>
                </a:tc>
                <a:tc>
                  <a:txBody>
                    <a:bodyPr wrap="square"/>
                    <a:lstStyle/>
                    <a:p>
                      <a:pPr algn="ctr">
                        <a:defRPr sz="690" b="1">
                          <a:solidFill>
                            <a:srgbClr val="FFFFFF"/>
                          </a:solidFill>
                          <a:latin typeface="Meiryo UI"/>
                        </a:defRPr>
                      </a:pPr>
                      <a:r>
                        <a:t>26年12月</a:t>
                      </a:r>
                      <a:br/>
                      <a:r>
                        <a:t>(PMT1 / 試作)</a:t>
                      </a:r>
                    </a:p>
                  </a:txBody>
                  <a:tcPr anchor="ctr" marL="36576" marR="36576" marT="9144" marB="9144">
                    <a:solidFill>
                      <a:srgbClr val="1B365D"/>
                    </a:solidFill>
                  </a:tcPr>
                </a:tc>
                <a:tc>
                  <a:txBody>
                    <a:bodyPr wrap="square"/>
                    <a:lstStyle/>
                    <a:p>
                      <a:pPr algn="ctr">
                        <a:defRPr sz="690" b="1">
                          <a:solidFill>
                            <a:srgbClr val="FFFFFF"/>
                          </a:solidFill>
                          <a:latin typeface="Meiryo UI"/>
                        </a:defRPr>
                      </a:pPr>
                      <a:r>
                        <a:t>27年1〜2月</a:t>
                      </a:r>
                      <a:br/>
                      <a:r>
                        <a:t>(PMT2 / 同期)</a:t>
                      </a:r>
                    </a:p>
                  </a:txBody>
                  <a:tcPr anchor="ctr" marL="36576" marR="36576" marT="9144" marB="9144">
                    <a:solidFill>
                      <a:srgbClr val="1B365D"/>
                    </a:solidFill>
                  </a:tcPr>
                </a:tc>
                <a:tc>
                  <a:txBody>
                    <a:bodyPr wrap="square"/>
                    <a:lstStyle/>
                    <a:p>
                      <a:pPr algn="ctr">
                        <a:defRPr sz="690" b="1">
                          <a:solidFill>
                            <a:srgbClr val="FFFFFF"/>
                          </a:solidFill>
                          <a:latin typeface="Meiryo UI"/>
                        </a:defRPr>
                      </a:pPr>
                      <a:r>
                        <a:t>27年3月</a:t>
                      </a:r>
                      <a:br/>
                      <a:r>
                        <a:t>(MP / 量産開始)</a:t>
                      </a:r>
                    </a:p>
                  </a:txBody>
                  <a:tcPr anchor="ctr" marL="36576" marR="36576" marT="9144" marB="9144">
                    <a:solidFill>
                      <a:srgbClr val="1B365D"/>
                    </a:solidFill>
                  </a:tcPr>
                </a:tc>
              </a:tr>
              <a:tr h="293914">
                <a:tc>
                  <a:txBody>
                    <a:bodyPr wrap="square"/>
                    <a:lstStyle/>
                    <a:p>
                      <a:pPr algn="l">
                        <a:defRPr sz="620" b="1">
                          <a:solidFill>
                            <a:srgbClr val="1E242B"/>
                          </a:solidFill>
                          <a:latin typeface="Meiryo UI"/>
                        </a:defRPr>
                      </a:pPr>
                      <a:r>
                        <a:t>開発マイルストーン</a:t>
                      </a:r>
                    </a:p>
                  </a:txBody>
                  <a:tcPr anchor="ctr" marL="36576" marR="36576" marT="9144" marB="9144">
                    <a:solidFill>
                      <a:srgbClr val="E8EEF5"/>
                    </a:solidFill>
                  </a:tcPr>
                </a:tc>
                <a:tc>
                  <a:txBody>
                    <a:bodyPr wrap="square"/>
                    <a:lstStyle/>
                    <a:p>
                      <a:pPr algn="ctr">
                        <a:defRPr sz="620">
                          <a:solidFill>
                            <a:srgbClr val="1E242B"/>
                          </a:solidFill>
                          <a:latin typeface="Meiryo UI"/>
                        </a:defRPr>
                      </a:pPr>
                      <a:r>
                        <a:t>Iris2024・Athena</a:t>
                      </a:r>
                      <a:br/>
                      <a:r>
                        <a:t>現状調査</a:t>
                      </a:r>
                    </a:p>
                  </a:txBody>
                  <a:tcPr anchor="ctr" marL="36576" marR="36576" marT="9144" marB="9144">
                    <a:solidFill>
                      <a:srgbClr val="E8EEF5"/>
                    </a:solidFill>
                  </a:tcPr>
                </a:tc>
                <a:tc>
                  <a:txBody>
                    <a:bodyPr wrap="square"/>
                    <a:lstStyle/>
                    <a:p>
                      <a:pPr algn="ctr">
                        <a:defRPr sz="620">
                          <a:solidFill>
                            <a:srgbClr val="1E242B"/>
                          </a:solidFill>
                          <a:latin typeface="Meiryo UI"/>
                        </a:defRPr>
                      </a:pPr>
                      <a:r>
                        <a:t>DMT1 (8月)</a:t>
                      </a:r>
                      <a:br/>
                      <a:r>
                        <a:t>連携会 第2〜12回</a:t>
                      </a:r>
                    </a:p>
                  </a:txBody>
                  <a:tcPr anchor="ctr" marL="36576" marR="36576" marT="9144" marB="9144">
                    <a:solidFill>
                      <a:srgbClr val="E8EEF5"/>
                    </a:solidFill>
                  </a:tcPr>
                </a:tc>
                <a:tc>
                  <a:txBody>
                    <a:bodyPr wrap="square"/>
                    <a:lstStyle/>
                    <a:p>
                      <a:pPr algn="ctr">
                        <a:defRPr sz="620">
                          <a:solidFill>
                            <a:srgbClr val="1E242B"/>
                          </a:solidFill>
                          <a:latin typeface="Meiryo UI"/>
                        </a:defRPr>
                      </a:pPr>
                      <a:r>
                        <a:t>DMT2 (10月)</a:t>
                      </a:r>
                      <a:br/>
                      <a:r>
                        <a:t>連携会 第13〜17回</a:t>
                      </a:r>
                    </a:p>
                  </a:txBody>
                  <a:tcPr anchor="ctr" marL="36576" marR="36576" marT="9144" marB="9144">
                    <a:solidFill>
                      <a:srgbClr val="E8EEF5"/>
                    </a:solidFill>
                  </a:tcPr>
                </a:tc>
                <a:tc>
                  <a:txBody>
                    <a:bodyPr wrap="square"/>
                    <a:lstStyle/>
                    <a:p>
                      <a:pPr algn="ctr">
                        <a:defRPr sz="620" b="1">
                          <a:solidFill>
                            <a:srgbClr val="1E242B"/>
                          </a:solidFill>
                          <a:latin typeface="Meiryo UI"/>
                        </a:defRPr>
                      </a:pPr>
                      <a:r>
                        <a:t>工程DR完了</a:t>
                      </a:r>
                      <a:br/>
                      <a:r>
                        <a:t>JIG・設備製作</a:t>
                      </a:r>
                    </a:p>
                  </a:txBody>
                  <a:tcPr anchor="ctr" marL="36576" marR="36576" marT="9144" marB="9144">
                    <a:solidFill>
                      <a:srgbClr val="E8EEF5"/>
                    </a:solidFill>
                  </a:tcPr>
                </a:tc>
                <a:tc>
                  <a:txBody>
                    <a:bodyPr wrap="square"/>
                    <a:lstStyle/>
                    <a:p>
                      <a:pPr algn="ctr">
                        <a:defRPr sz="620">
                          <a:solidFill>
                            <a:srgbClr val="1E242B"/>
                          </a:solidFill>
                          <a:latin typeface="Meiryo UI"/>
                        </a:defRPr>
                      </a:pPr>
                      <a:r>
                        <a:t>PMT1 (12月)</a:t>
                      </a:r>
                      <a:br/>
                      <a:r>
                        <a:t>ライン試作・検証</a:t>
                      </a:r>
                    </a:p>
                  </a:txBody>
                  <a:tcPr anchor="ctr" marL="36576" marR="36576" marT="9144" marB="9144">
                    <a:solidFill>
                      <a:srgbClr val="E8EEF5"/>
                    </a:solidFill>
                  </a:tcPr>
                </a:tc>
                <a:tc>
                  <a:txBody>
                    <a:bodyPr wrap="square"/>
                    <a:lstStyle/>
                    <a:p>
                      <a:pPr algn="ctr">
                        <a:defRPr sz="620">
                          <a:solidFill>
                            <a:srgbClr val="1E242B"/>
                          </a:solidFill>
                          <a:latin typeface="Meiryo UI"/>
                        </a:defRPr>
                      </a:pPr>
                      <a:r>
                        <a:t>PMT2 (27年2月)</a:t>
                      </a:r>
                      <a:br/>
                      <a:r>
                        <a:t>Cpk・QA承認</a:t>
                      </a:r>
                    </a:p>
                  </a:txBody>
                  <a:tcPr anchor="ctr" marL="36576" marR="36576" marT="9144" marB="9144">
                    <a:solidFill>
                      <a:srgbClr val="E8EEF5"/>
                    </a:solidFill>
                  </a:tcPr>
                </a:tc>
                <a:tc>
                  <a:txBody>
                    <a:bodyPr wrap="square"/>
                    <a:lstStyle/>
                    <a:p>
                      <a:pPr algn="ctr">
                        <a:defRPr sz="620">
                          <a:solidFill>
                            <a:srgbClr val="1E242B"/>
                          </a:solidFill>
                          <a:latin typeface="Meiryo UI"/>
                        </a:defRPr>
                      </a:pPr>
                      <a:r>
                        <a:t>MP (27年3月)</a:t>
                      </a:r>
                      <a:br/>
                      <a:r>
                        <a:t>量産開始 (16k台/月)</a:t>
                      </a:r>
                    </a:p>
                  </a:txBody>
                  <a:tcPr anchor="ctr" marL="36576" marR="36576" marT="9144" marB="9144">
                    <a:solidFill>
                      <a:srgbClr val="E8EEF5"/>
                    </a:solidFill>
                  </a:tcPr>
                </a:tc>
              </a:tr>
              <a:tr h="293914">
                <a:tc>
                  <a:txBody>
                    <a:bodyPr wrap="square"/>
                    <a:lstStyle/>
                    <a:p>
                      <a:pPr algn="l">
                        <a:defRPr sz="620" b="1">
                          <a:solidFill>
                            <a:srgbClr val="1E242B"/>
                          </a:solidFill>
                          <a:latin typeface="Meiryo UI"/>
                        </a:defRPr>
                      </a:pPr>
                      <a:r>
                        <a:t>Step 1：改善案の策定</a:t>
                      </a:r>
                    </a:p>
                  </a:txBody>
                  <a:tcPr anchor="ctr" marL="36576" marR="36576" marT="9144" marB="9144">
                    <a:solidFill>
                      <a:srgbClr val="F7F9FC"/>
                    </a:solidFill>
                  </a:tcPr>
                </a:tc>
                <a:tc>
                  <a:txBody>
                    <a:bodyPr wrap="square"/>
                    <a:lstStyle/>
                    <a:p>
                      <a:pPr algn="ctr">
                        <a:defRPr sz="620">
                          <a:solidFill>
                            <a:srgbClr val="1E242B"/>
                          </a:solidFill>
                          <a:latin typeface="Meiryo UI"/>
                        </a:defRPr>
                      </a:pPr>
                      <a:r>
                        <a:t>K1〜K8 39項目分析</a:t>
                      </a:r>
                      <a:br/>
                      <a:r>
                        <a:t>(2,350秒)</a:t>
                      </a:r>
                    </a:p>
                  </a:txBody>
                  <a:tcPr anchor="ctr" marL="36576" marR="36576" marT="9144" marB="9144">
                    <a:solidFill>
                      <a:srgbClr val="F7F9FC"/>
                    </a:solidFill>
                  </a:tcPr>
                </a:tc>
                <a:tc>
                  <a:txBody>
                    <a:bodyPr wrap="square"/>
                    <a:lstStyle/>
                    <a:p>
                      <a:pPr algn="ctr">
                        <a:defRPr sz="620">
                          <a:solidFill>
                            <a:srgbClr val="1E242B"/>
                          </a:solidFill>
                          <a:latin typeface="Meiryo UI"/>
                        </a:defRPr>
                      </a:pPr>
                      <a:r>
                        <a:t>28件 → 37件策定</a:t>
                      </a:r>
                      <a:br/>
                      <a:r>
                        <a:t>(VN：20件)</a:t>
                      </a:r>
                    </a:p>
                  </a:txBody>
                  <a:tcPr anchor="ctr" marL="36576" marR="36576" marT="9144" marB="9144">
                    <a:solidFill>
                      <a:srgbClr val="F7F9FC"/>
                    </a:solidFill>
                  </a:tcPr>
                </a:tc>
                <a:tc>
                  <a:txBody>
                    <a:bodyPr wrap="square"/>
                    <a:lstStyle/>
                    <a:p>
                      <a:pPr algn="ctr">
                        <a:defRPr sz="620">
                          <a:solidFill>
                            <a:srgbClr val="1E242B"/>
                          </a:solidFill>
                          <a:latin typeface="Meiryo UI"/>
                        </a:defRPr>
                      </a:pPr>
                      <a:r>
                        <a:t>全38件へ更新</a:t>
                      </a:r>
                      <a:br/>
                      <a:r>
                        <a:t>(CN No.38追加)</a:t>
                      </a:r>
                    </a:p>
                  </a:txBody>
                  <a:tcPr anchor="ctr" marL="36576" marR="36576" marT="9144" marB="9144">
                    <a:solidFill>
                      <a:srgbClr val="F7F9FC"/>
                    </a:solidFill>
                  </a:tcPr>
                </a:tc>
                <a:tc>
                  <a:txBody>
                    <a:bodyPr wrap="square"/>
                    <a:lstStyle/>
                    <a:p>
                      <a:pPr algn="ctr">
                        <a:defRPr sz="620">
                          <a:solidFill>
                            <a:srgbClr val="1E242B"/>
                          </a:solidFill>
                          <a:latin typeface="Meiryo UI"/>
                        </a:defRPr>
                      </a:pPr>
                      <a:r>
                        <a:t>正式採用項目の確定</a:t>
                      </a:r>
                    </a:p>
                  </a:txBody>
                  <a:tcPr anchor="ctr" marL="36576" marR="36576" marT="9144" marB="9144">
                    <a:solidFill>
                      <a:srgbClr val="F7F9FC"/>
                    </a:solidFill>
                  </a:tcPr>
                </a:tc>
                <a:tc>
                  <a:txBody>
                    <a:bodyPr wrap="square"/>
                    <a:lstStyle/>
                    <a:p>
                      <a:pPr algn="ctr">
                        <a:defRPr sz="620">
                          <a:solidFill>
                            <a:srgbClr val="1E242B"/>
                          </a:solidFill>
                          <a:latin typeface="Meiryo UI"/>
                        </a:defRPr>
                      </a:pPr>
                      <a:r>
                        <a:t>PMT1機での</a:t>
                      </a:r>
                      <a:br/>
                      <a:r>
                        <a:t>効果測定</a:t>
                      </a:r>
                    </a:p>
                  </a:txBody>
                  <a:tcPr anchor="ctr" marL="36576" marR="36576" marT="9144" marB="9144">
                    <a:solidFill>
                      <a:srgbClr val="F7F9FC"/>
                    </a:solidFill>
                  </a:tcPr>
                </a:tc>
                <a:tc>
                  <a:txBody>
                    <a:bodyPr wrap="square"/>
                    <a:lstStyle/>
                    <a:p>
                      <a:pPr algn="ctr">
                        <a:defRPr sz="620">
                          <a:solidFill>
                            <a:srgbClr val="1E242B"/>
                          </a:solidFill>
                          <a:latin typeface="Meiryo UI"/>
                        </a:defRPr>
                      </a:pPr>
                      <a:r>
                        <a:t>PMT1後の微調整</a:t>
                      </a:r>
                    </a:p>
                  </a:txBody>
                  <a:tcPr anchor="ctr" marL="36576" marR="36576" marT="9144" marB="9144">
                    <a:solidFill>
                      <a:srgbClr val="F7F9FC"/>
                    </a:solidFill>
                  </a:tcPr>
                </a:tc>
                <a:tc>
                  <a:txBody>
                    <a:bodyPr wrap="square"/>
                    <a:lstStyle/>
                    <a:p>
                      <a:pPr algn="ctr">
                        <a:defRPr sz="620" b="1">
                          <a:solidFill>
                            <a:srgbClr val="1E242B"/>
                          </a:solidFill>
                          <a:latin typeface="Meiryo UI"/>
                        </a:defRPr>
                      </a:pPr>
                      <a:r>
                        <a:t>完了</a:t>
                      </a:r>
                    </a:p>
                  </a:txBody>
                  <a:tcPr anchor="ctr" marL="36576" marR="36576" marT="9144" marB="9144">
                    <a:solidFill>
                      <a:srgbClr val="F7F9FC"/>
                    </a:solidFill>
                  </a:tcPr>
                </a:tc>
              </a:tr>
              <a:tr h="293914">
                <a:tc>
                  <a:txBody>
                    <a:bodyPr wrap="square"/>
                    <a:lstStyle/>
                    <a:p>
                      <a:pPr algn="l">
                        <a:defRPr sz="620" b="1">
                          <a:solidFill>
                            <a:srgbClr val="1E242B"/>
                          </a:solidFill>
                          <a:latin typeface="Meiryo UI"/>
                        </a:defRPr>
                      </a:pPr>
                      <a:r>
                        <a:t>Step 2：JP・CNとの</a:t>
                      </a:r>
                      <a:br/>
                      <a:r>
                        <a:t>実現性協議</a:t>
                      </a:r>
                    </a:p>
                  </a:txBody>
                  <a:tcPr anchor="ctr" marL="36576" marR="36576" marT="9144" marB="9144">
                    <a:solidFill>
                      <a:srgbClr val="FFFFFF"/>
                    </a:solidFill>
                  </a:tcPr>
                </a:tc>
                <a:tc>
                  <a:txBody>
                    <a:bodyPr wrap="square"/>
                    <a:lstStyle/>
                    <a:p>
                      <a:pPr algn="ctr">
                        <a:defRPr sz="620">
                          <a:solidFill>
                            <a:srgbClr val="1E242B"/>
                          </a:solidFill>
                          <a:latin typeface="Meiryo UI"/>
                        </a:defRPr>
                      </a:pPr>
                      <a:r>
                        <a:t>保証工程連携会</a:t>
                      </a:r>
                      <a:br/>
                      <a:r>
                        <a:t>定例開始</a:t>
                      </a:r>
                    </a:p>
                  </a:txBody>
                  <a:tcPr anchor="ctr" marL="36576" marR="36576" marT="9144" marB="9144">
                    <a:solidFill>
                      <a:srgbClr val="FFFFFF"/>
                    </a:solidFill>
                  </a:tcPr>
                </a:tc>
                <a:tc>
                  <a:txBody>
                    <a:bodyPr wrap="square"/>
                    <a:lstStyle/>
                    <a:p>
                      <a:pPr algn="ctr">
                        <a:defRPr sz="620">
                          <a:solidFill>
                            <a:srgbClr val="1E242B"/>
                          </a:solidFill>
                          <a:latin typeface="Meiryo UI"/>
                        </a:defRPr>
                      </a:pPr>
                      <a:r>
                        <a:t>生産性2倍目標設定；</a:t>
                      </a:r>
                      <a:br/>
                      <a:r>
                        <a:t>No.23, 24見直し</a:t>
                      </a:r>
                    </a:p>
                  </a:txBody>
                  <a:tcPr anchor="ctr" marL="36576" marR="36576" marT="9144" marB="9144">
                    <a:solidFill>
                      <a:srgbClr val="FFFFFF"/>
                    </a:solidFill>
                  </a:tcPr>
                </a:tc>
                <a:tc>
                  <a:txBody>
                    <a:bodyPr wrap="square"/>
                    <a:lstStyle/>
                    <a:p>
                      <a:pPr algn="ctr">
                        <a:defRPr sz="620" b="1">
                          <a:solidFill>
                            <a:srgbClr val="B8292F"/>
                          </a:solidFill>
                          <a:latin typeface="Meiryo UI"/>
                        </a:defRPr>
                      </a:pPr>
                      <a:r>
                        <a:t>Spica Mini PC仮決定；</a:t>
                      </a:r>
                      <a:br/>
                      <a:r>
                        <a:t>4ステップ廃止(-4.32s)</a:t>
                      </a:r>
                    </a:p>
                  </a:txBody>
                  <a:tcPr anchor="ctr" marL="36576" marR="36576" marT="9144" marB="9144">
                    <a:solidFill>
                      <a:srgbClr val="FFFFFF"/>
                    </a:solidFill>
                  </a:tcPr>
                </a:tc>
                <a:tc>
                  <a:txBody>
                    <a:bodyPr wrap="square"/>
                    <a:lstStyle/>
                    <a:p>
                      <a:pPr algn="ctr">
                        <a:defRPr sz="620">
                          <a:solidFill>
                            <a:srgbClr val="1E242B"/>
                          </a:solidFill>
                          <a:latin typeface="Meiryo UI"/>
                        </a:defRPr>
                      </a:pPr>
                      <a:r>
                        <a:t>JP生技と公式</a:t>
                      </a:r>
                      <a:br/>
                      <a:r>
                        <a:t>工程DRを実施</a:t>
                      </a:r>
                    </a:p>
                  </a:txBody>
                  <a:tcPr anchor="ctr" marL="36576" marR="36576" marT="9144" marB="9144">
                    <a:solidFill>
                      <a:srgbClr val="FFFFFF"/>
                    </a:solidFill>
                  </a:tcPr>
                </a:tc>
                <a:tc>
                  <a:txBody>
                    <a:bodyPr wrap="square"/>
                    <a:lstStyle/>
                    <a:p>
                      <a:pPr algn="ctr">
                        <a:defRPr sz="620">
                          <a:solidFill>
                            <a:srgbClr val="1E242B"/>
                          </a:solidFill>
                          <a:latin typeface="Meiryo UI"/>
                        </a:defRPr>
                      </a:pPr>
                      <a:r>
                        <a:t>DP連続スキャン・</a:t>
                      </a:r>
                      <a:br/>
                      <a:r>
                        <a:t>カメラ結果確認</a:t>
                      </a:r>
                    </a:p>
                  </a:txBody>
                  <a:tcPr anchor="ctr" marL="36576" marR="36576" marT="9144" marB="9144">
                    <a:solidFill>
                      <a:srgbClr val="FFFFFF"/>
                    </a:solidFill>
                  </a:tcPr>
                </a:tc>
                <a:tc>
                  <a:txBody>
                    <a:bodyPr wrap="square"/>
                    <a:lstStyle/>
                    <a:p>
                      <a:pPr algn="ctr">
                        <a:defRPr sz="620" b="1">
                          <a:solidFill>
                            <a:srgbClr val="B8292F"/>
                          </a:solidFill>
                          <a:latin typeface="Meiryo UI"/>
                        </a:defRPr>
                      </a:pPr>
                      <a:r>
                        <a:t>転写ベルト・U155廃止</a:t>
                      </a:r>
                      <a:br/>
                      <a:r>
                        <a:t>のQA最終承認</a:t>
                      </a:r>
                    </a:p>
                  </a:txBody>
                  <a:tcPr anchor="ctr" marL="36576" marR="36576" marT="9144" marB="9144">
                    <a:solidFill>
                      <a:srgbClr val="FFFFFF"/>
                    </a:solidFill>
                  </a:tcPr>
                </a:tc>
                <a:tc>
                  <a:txBody>
                    <a:bodyPr wrap="square"/>
                    <a:lstStyle/>
                    <a:p>
                      <a:pPr algn="ctr">
                        <a:defRPr sz="620">
                          <a:solidFill>
                            <a:srgbClr val="1E242B"/>
                          </a:solidFill>
                          <a:latin typeface="Meiryo UI"/>
                        </a:defRPr>
                      </a:pPr>
                      <a:r>
                        <a:t>JP・CN・VN</a:t>
                      </a:r>
                      <a:br/>
                      <a:r>
                        <a:t>3拠点同期展開</a:t>
                      </a:r>
                    </a:p>
                  </a:txBody>
                  <a:tcPr anchor="ctr" marL="36576" marR="36576" marT="9144" marB="9144">
                    <a:solidFill>
                      <a:srgbClr val="FFFFFF"/>
                    </a:solidFill>
                  </a:tcPr>
                </a:tc>
              </a:tr>
              <a:tr h="293914">
                <a:tc>
                  <a:txBody>
                    <a:bodyPr wrap="square"/>
                    <a:lstStyle/>
                    <a:p>
                      <a:pPr algn="l">
                        <a:defRPr sz="620" b="1">
                          <a:solidFill>
                            <a:srgbClr val="1E242B"/>
                          </a:solidFill>
                          <a:latin typeface="Meiryo UI"/>
                        </a:defRPr>
                      </a:pPr>
                      <a:r>
                        <a:t>Step 3：稟議承認および</a:t>
                      </a:r>
                      <a:br/>
                      <a:r>
                        <a:t>治具・自動設備の製作</a:t>
                      </a:r>
                    </a:p>
                  </a:txBody>
                  <a:tcPr anchor="ctr" marL="36576" marR="36576" marT="9144" marB="9144">
                    <a:solidFill>
                      <a:srgbClr val="F7F9FC"/>
                    </a:solidFill>
                  </a:tcPr>
                </a:tc>
                <a:tc>
                  <a:txBody>
                    <a:bodyPr wrap="square"/>
                    <a:lstStyle/>
                    <a:p>
                      <a:pPr algn="ctr">
                        <a:defRPr sz="620">
                          <a:solidFill>
                            <a:srgbClr val="1E242B"/>
                          </a:solidFill>
                          <a:latin typeface="Meiryo UI"/>
                        </a:defRPr>
                      </a:pPr>
                      <a:r>
                        <a:t>VN現地サプライヤ</a:t>
                      </a:r>
                      <a:br/>
                      <a:r>
                        <a:t>調査</a:t>
                      </a:r>
                    </a:p>
                  </a:txBody>
                  <a:tcPr anchor="ctr" marL="36576" marR="36576" marT="9144" marB="9144">
                    <a:solidFill>
                      <a:srgbClr val="F7F9FC"/>
                    </a:solidFill>
                  </a:tcPr>
                </a:tc>
                <a:tc>
                  <a:txBody>
                    <a:bodyPr wrap="square"/>
                    <a:lstStyle/>
                    <a:p>
                      <a:pPr algn="ctr">
                        <a:defRPr sz="620">
                          <a:solidFill>
                            <a:srgbClr val="1E242B"/>
                          </a:solidFill>
                          <a:latin typeface="Meiryo UI"/>
                        </a:defRPr>
                      </a:pPr>
                      <a:r>
                        <a:t>概算見積作成</a:t>
                      </a:r>
                      <a:br/>
                      <a:r>
                        <a:t>(Iris EXPのVN提案)</a:t>
                      </a:r>
                    </a:p>
                  </a:txBody>
                  <a:tcPr anchor="ctr" marL="36576" marR="36576" marT="9144" marB="9144">
                    <a:solidFill>
                      <a:srgbClr val="F7F9FC"/>
                    </a:solidFill>
                  </a:tcPr>
                </a:tc>
                <a:tc>
                  <a:txBody>
                    <a:bodyPr wrap="square"/>
                    <a:lstStyle/>
                    <a:p>
                      <a:pPr algn="ctr">
                        <a:defRPr sz="620">
                          <a:solidFill>
                            <a:srgbClr val="1E242B"/>
                          </a:solidFill>
                          <a:latin typeface="Meiryo UI"/>
                        </a:defRPr>
                      </a:pPr>
                      <a:r>
                        <a:t>No.22 BOM 25項目</a:t>
                      </a:r>
                      <a:br/>
                      <a:r>
                        <a:t>確定 (101.69M VND)</a:t>
                      </a:r>
                    </a:p>
                  </a:txBody>
                  <a:tcPr anchor="ctr" marL="36576" marR="36576" marT="9144" marB="9144">
                    <a:solidFill>
                      <a:srgbClr val="F7F9FC"/>
                    </a:solidFill>
                  </a:tcPr>
                </a:tc>
                <a:tc>
                  <a:txBody>
                    <a:bodyPr wrap="square"/>
                    <a:lstStyle/>
                    <a:p>
                      <a:pPr algn="ctr">
                        <a:defRPr sz="620">
                          <a:solidFill>
                            <a:srgbClr val="1E242B"/>
                          </a:solidFill>
                          <a:latin typeface="Meiryo UI"/>
                        </a:defRPr>
                      </a:pPr>
                      <a:r>
                        <a:t>No.22予算承認申請＆</a:t>
                      </a:r>
                      <a:br/>
                      <a:r>
                        <a:t>見積中案件の確定</a:t>
                      </a:r>
                    </a:p>
                  </a:txBody>
                  <a:tcPr anchor="ctr" marL="36576" marR="36576" marT="9144" marB="9144">
                    <a:solidFill>
                      <a:srgbClr val="F7F9FC"/>
                    </a:solidFill>
                  </a:tcPr>
                </a:tc>
                <a:tc>
                  <a:txBody>
                    <a:bodyPr wrap="square"/>
                    <a:lstStyle/>
                    <a:p>
                      <a:pPr algn="ctr">
                        <a:defRPr sz="620">
                          <a:solidFill>
                            <a:srgbClr val="1E242B"/>
                          </a:solidFill>
                          <a:latin typeface="Meiryo UI"/>
                        </a:defRPr>
                      </a:pPr>
                      <a:r>
                        <a:t>A-1〜A-4へ自動設備</a:t>
                      </a:r>
                      <a:br/>
                      <a:r>
                        <a:t>設置・トライアル</a:t>
                      </a:r>
                    </a:p>
                  </a:txBody>
                  <a:tcPr anchor="ctr" marL="36576" marR="36576" marT="9144" marB="9144">
                    <a:solidFill>
                      <a:srgbClr val="F7F9FC"/>
                    </a:solidFill>
                  </a:tcPr>
                </a:tc>
                <a:tc>
                  <a:txBody>
                    <a:bodyPr wrap="square"/>
                    <a:lstStyle/>
                    <a:p>
                      <a:pPr algn="ctr">
                        <a:defRPr sz="620">
                          <a:solidFill>
                            <a:srgbClr val="1E242B"/>
                          </a:solidFill>
                          <a:latin typeface="Meiryo UI"/>
                        </a:defRPr>
                      </a:pPr>
                      <a:r>
                        <a:t>設備デバッグ・</a:t>
                      </a:r>
                      <a:br/>
                      <a:r>
                        <a:t>安全校正</a:t>
                      </a:r>
                    </a:p>
                  </a:txBody>
                  <a:tcPr anchor="ctr" marL="36576" marR="36576" marT="9144" marB="9144">
                    <a:solidFill>
                      <a:srgbClr val="F7F9FC"/>
                    </a:solidFill>
                  </a:tcPr>
                </a:tc>
                <a:tc>
                  <a:txBody>
                    <a:bodyPr wrap="square"/>
                    <a:lstStyle/>
                    <a:p>
                      <a:pPr algn="ctr">
                        <a:defRPr sz="620">
                          <a:solidFill>
                            <a:srgbClr val="1E242B"/>
                          </a:solidFill>
                          <a:latin typeface="Meiryo UI"/>
                        </a:defRPr>
                      </a:pPr>
                      <a:r>
                        <a:t>製造部門（MFG）へ</a:t>
                      </a:r>
                      <a:br/>
                      <a:r>
                        <a:t>引き渡し</a:t>
                      </a:r>
                    </a:p>
                  </a:txBody>
                  <a:tcPr anchor="ctr" marL="36576" marR="36576" marT="9144" marB="9144">
                    <a:solidFill>
                      <a:srgbClr val="F7F9FC"/>
                    </a:solidFill>
                  </a:tcPr>
                </a:tc>
              </a:tr>
              <a:tr h="293914">
                <a:tc>
                  <a:txBody>
                    <a:bodyPr wrap="square"/>
                    <a:lstStyle/>
                    <a:p>
                      <a:pPr algn="l">
                        <a:defRPr sz="620" b="1">
                          <a:solidFill>
                            <a:srgbClr val="1E242B"/>
                          </a:solidFill>
                          <a:latin typeface="Meiryo UI"/>
                        </a:defRPr>
                      </a:pPr>
                      <a:r>
                        <a:t>Step 4：効果確認および</a:t>
                      </a:r>
                      <a:br/>
                      <a:r>
                        <a:t>量産ラインへの適用</a:t>
                      </a:r>
                    </a:p>
                  </a:txBody>
                  <a:tcPr anchor="ctr" marL="36576" marR="36576" marT="9144" marB="9144">
                    <a:solidFill>
                      <a:srgbClr val="EAF7EE"/>
                    </a:solidFill>
                  </a:tcPr>
                </a:tc>
                <a:tc>
                  <a:txBody>
                    <a:bodyPr wrap="square"/>
                    <a:lstStyle/>
                    <a:p>
                      <a:pPr algn="ctr">
                        <a:defRPr sz="620">
                          <a:solidFill>
                            <a:srgbClr val="1E242B"/>
                          </a:solidFill>
                          <a:latin typeface="Meiryo UI"/>
                        </a:defRPr>
                      </a:pPr>
                      <a:r>
                        <a:t>-</a:t>
                      </a:r>
                    </a:p>
                  </a:txBody>
                  <a:tcPr anchor="ctr" marL="36576" marR="36576" marT="9144" marB="9144">
                    <a:solidFill>
                      <a:srgbClr val="EAF7EE"/>
                    </a:solidFill>
                  </a:tcPr>
                </a:tc>
                <a:tc>
                  <a:txBody>
                    <a:bodyPr wrap="square"/>
                    <a:lstStyle/>
                    <a:p>
                      <a:pPr algn="ctr">
                        <a:defRPr sz="620">
                          <a:solidFill>
                            <a:srgbClr val="1E242B"/>
                          </a:solidFill>
                          <a:latin typeface="Meiryo UI"/>
                        </a:defRPr>
                      </a:pPr>
                      <a:r>
                        <a:t>-</a:t>
                      </a:r>
                    </a:p>
                  </a:txBody>
                  <a:tcPr anchor="ctr" marL="36576" marR="36576" marT="9144" marB="9144">
                    <a:solidFill>
                      <a:srgbClr val="EAF7EE"/>
                    </a:solidFill>
                  </a:tcPr>
                </a:tc>
                <a:tc>
                  <a:txBody>
                    <a:bodyPr wrap="square"/>
                    <a:lstStyle/>
                    <a:p>
                      <a:pPr algn="ctr">
                        <a:defRPr sz="620" b="1">
                          <a:solidFill>
                            <a:srgbClr val="B8292F"/>
                          </a:solidFill>
                          <a:latin typeface="Meiryo UI"/>
                        </a:defRPr>
                      </a:pPr>
                      <a:r>
                        <a:t>言語・トナー確認4項</a:t>
                      </a:r>
                      <a:br/>
                      <a:r>
                        <a:t>先行廃止 (-4.32s)</a:t>
                      </a:r>
                    </a:p>
                  </a:txBody>
                  <a:tcPr anchor="ctr" marL="36576" marR="36576" marT="9144" marB="9144">
                    <a:solidFill>
                      <a:srgbClr val="EAF7EE"/>
                    </a:solidFill>
                  </a:tcPr>
                </a:tc>
                <a:tc>
                  <a:txBody>
                    <a:bodyPr wrap="square"/>
                    <a:lstStyle/>
                    <a:p>
                      <a:pPr algn="ctr">
                        <a:defRPr sz="620" b="1">
                          <a:solidFill>
                            <a:srgbClr val="1E242B"/>
                          </a:solidFill>
                          <a:latin typeface="Meiryo UI"/>
                        </a:defRPr>
                      </a:pPr>
                      <a:r>
                        <a:t>累計目標：15%</a:t>
                      </a:r>
                      <a:br/>
                      <a:r>
                        <a:t>(282秒/台削減)</a:t>
                      </a:r>
                    </a:p>
                  </a:txBody>
                  <a:tcPr anchor="ctr" marL="36576" marR="36576" marT="9144" marB="9144">
                    <a:solidFill>
                      <a:srgbClr val="EAF7EE"/>
                    </a:solidFill>
                  </a:tcPr>
                </a:tc>
                <a:tc>
                  <a:txBody>
                    <a:bodyPr wrap="square"/>
                    <a:lstStyle/>
                    <a:p>
                      <a:pPr algn="ctr">
                        <a:defRPr sz="620" b="1">
                          <a:solidFill>
                            <a:srgbClr val="1E242B"/>
                          </a:solidFill>
                          <a:latin typeface="Meiryo UI"/>
                        </a:defRPr>
                      </a:pPr>
                      <a:r>
                        <a:t>累計目標：30%</a:t>
                      </a:r>
                      <a:br/>
                      <a:r>
                        <a:t>(705秒/台削減)</a:t>
                      </a:r>
                    </a:p>
                  </a:txBody>
                  <a:tcPr anchor="ctr" marL="36576" marR="36576" marT="9144" marB="9144">
                    <a:solidFill>
                      <a:srgbClr val="EAF7EE"/>
                    </a:solidFill>
                  </a:tcPr>
                </a:tc>
                <a:tc>
                  <a:txBody>
                    <a:bodyPr wrap="square"/>
                    <a:lstStyle/>
                    <a:p>
                      <a:pPr algn="ctr">
                        <a:defRPr sz="620">
                          <a:solidFill>
                            <a:srgbClr val="1E242B"/>
                          </a:solidFill>
                          <a:latin typeface="Meiryo UI"/>
                        </a:defRPr>
                      </a:pPr>
                      <a:r>
                        <a:t>1月：50% (-1,175s)</a:t>
                      </a:r>
                      <a:br/>
                      <a:r>
                        <a:t>2月：80% (-1,880s)</a:t>
                      </a:r>
                    </a:p>
                  </a:txBody>
                  <a:tcPr anchor="ctr" marL="36576" marR="36576" marT="9144" marB="9144">
                    <a:solidFill>
                      <a:srgbClr val="EAF7EE"/>
                    </a:solidFill>
                  </a:tcPr>
                </a:tc>
                <a:tc>
                  <a:txBody>
                    <a:bodyPr wrap="square"/>
                    <a:lstStyle/>
                    <a:p>
                      <a:pPr algn="ctr">
                        <a:defRPr sz="620">
                          <a:solidFill>
                            <a:srgbClr val="1E242B"/>
                          </a:solidFill>
                          <a:latin typeface="Meiryo UI"/>
                        </a:defRPr>
                      </a:pPr>
                      <a:r>
                        <a:t>50%以上削減達成</a:t>
                      </a:r>
                      <a:br/>
                      <a:r>
                        <a:t>(≦1,175s、9名、2倍)</a:t>
                      </a:r>
                    </a:p>
                  </a:txBody>
                  <a:tcPr anchor="ctr" marL="36576" marR="36576" marT="9144" marB="9144">
                    <a:solidFill>
                      <a:srgbClr val="EAF7EE"/>
                    </a:solidFill>
                  </a:tcPr>
                </a:tc>
              </a:tr>
              <a:tr h="293916">
                <a:tc>
                  <a:txBody>
                    <a:bodyPr wrap="square"/>
                    <a:lstStyle/>
                    <a:p>
                      <a:pPr algn="l">
                        <a:defRPr sz="620" b="1">
                          <a:solidFill>
                            <a:srgbClr val="1E242B"/>
                          </a:solidFill>
                          <a:latin typeface="Meiryo UI"/>
                        </a:defRPr>
                      </a:pPr>
                      <a:r>
                        <a:t>PDCA目標達成率</a:t>
                      </a:r>
                      <a:br/>
                      <a:r>
                        <a:t>(KDTVN-PE-3)</a:t>
                      </a:r>
                    </a:p>
                  </a:txBody>
                  <a:tcPr anchor="ctr" marL="36576" marR="36576" marT="9144" marB="9144">
                    <a:solidFill>
                      <a:srgbClr val="FEF7E6"/>
                    </a:solidFill>
                  </a:tcPr>
                </a:tc>
                <a:tc>
                  <a:txBody>
                    <a:bodyPr wrap="square"/>
                    <a:lstStyle/>
                    <a:p>
                      <a:pPr algn="ctr">
                        <a:defRPr sz="620">
                          <a:solidFill>
                            <a:srgbClr val="1E242B"/>
                          </a:solidFill>
                          <a:latin typeface="Meiryo UI"/>
                        </a:defRPr>
                      </a:pPr>
                      <a:r>
                        <a:t>ベースライン</a:t>
                      </a:r>
                      <a:br/>
                      <a:r>
                        <a:t>データ整備</a:t>
                      </a:r>
                    </a:p>
                  </a:txBody>
                  <a:tcPr anchor="ctr" marL="36576" marR="36576" marT="9144" marB="9144">
                    <a:solidFill>
                      <a:srgbClr val="FEF7E6"/>
                    </a:solidFill>
                  </a:tcPr>
                </a:tc>
                <a:tc>
                  <a:txBody>
                    <a:bodyPr wrap="square"/>
                    <a:lstStyle/>
                    <a:p>
                      <a:pPr algn="ctr">
                        <a:defRPr sz="620" b="1">
                          <a:solidFill>
                            <a:srgbClr val="1E242B"/>
                          </a:solidFill>
                          <a:latin typeface="Meiryo UI"/>
                        </a:defRPr>
                      </a:pPr>
                      <a:r>
                        <a:t>計画：1% (-23.5s)</a:t>
                      </a:r>
                      <a:br/>
                      <a:r>
                        <a:t>実績：0%</a:t>
                      </a:r>
                    </a:p>
                  </a:txBody>
                  <a:tcPr anchor="ctr" marL="36576" marR="36576" marT="9144" marB="9144">
                    <a:solidFill>
                      <a:srgbClr val="FEF7E6"/>
                    </a:solidFill>
                  </a:tcPr>
                </a:tc>
                <a:tc>
                  <a:txBody>
                    <a:bodyPr wrap="square"/>
                    <a:lstStyle/>
                    <a:p>
                      <a:pPr algn="ctr">
                        <a:defRPr sz="620" b="1">
                          <a:solidFill>
                            <a:srgbClr val="1E242B"/>
                          </a:solidFill>
                          <a:latin typeface="Meiryo UI"/>
                        </a:defRPr>
                      </a:pPr>
                      <a:r>
                        <a:t>計画：3% (-47.0s)</a:t>
                      </a:r>
                      <a:br/>
                      <a:r>
                        <a:t>実績：0.18% (-4.32s)</a:t>
                      </a:r>
                    </a:p>
                  </a:txBody>
                  <a:tcPr anchor="ctr" marL="36576" marR="36576" marT="9144" marB="9144">
                    <a:solidFill>
                      <a:srgbClr val="FEF7E6"/>
                    </a:solidFill>
                  </a:tcPr>
                </a:tc>
                <a:tc>
                  <a:txBody>
                    <a:bodyPr wrap="square"/>
                    <a:lstStyle/>
                    <a:p>
                      <a:pPr algn="ctr">
                        <a:defRPr sz="620" b="1">
                          <a:solidFill>
                            <a:srgbClr val="1E242B"/>
                          </a:solidFill>
                          <a:latin typeface="Meiryo UI"/>
                        </a:defRPr>
                      </a:pPr>
                      <a:r>
                        <a:t>11月計画：15%</a:t>
                      </a:r>
                      <a:br/>
                      <a:r>
                        <a:t>(10月未達分66.18s挽回)</a:t>
                      </a:r>
                    </a:p>
                  </a:txBody>
                  <a:tcPr anchor="ctr" marL="36576" marR="36576" marT="9144" marB="9144">
                    <a:solidFill>
                      <a:srgbClr val="FEF7E6"/>
                    </a:solidFill>
                  </a:tcPr>
                </a:tc>
                <a:tc>
                  <a:txBody>
                    <a:bodyPr wrap="square"/>
                    <a:lstStyle/>
                    <a:p>
                      <a:pPr algn="ctr">
                        <a:defRPr sz="620" b="1">
                          <a:solidFill>
                            <a:srgbClr val="1E242B"/>
                          </a:solidFill>
                          <a:latin typeface="Meiryo UI"/>
                        </a:defRPr>
                      </a:pPr>
                      <a:r>
                        <a:t>12月計画：30%</a:t>
                      </a:r>
                    </a:p>
                  </a:txBody>
                  <a:tcPr anchor="ctr" marL="36576" marR="36576" marT="9144" marB="9144">
                    <a:solidFill>
                      <a:srgbClr val="FEF7E6"/>
                    </a:solidFill>
                  </a:tcPr>
                </a:tc>
                <a:tc>
                  <a:txBody>
                    <a:bodyPr wrap="square"/>
                    <a:lstStyle/>
                    <a:p>
                      <a:pPr algn="ctr">
                        <a:defRPr sz="620">
                          <a:solidFill>
                            <a:srgbClr val="1E242B"/>
                          </a:solidFill>
                          <a:latin typeface="Meiryo UI"/>
                        </a:defRPr>
                      </a:pPr>
                      <a:r>
                        <a:t>27年1月：50%</a:t>
                      </a:r>
                      <a:br/>
                      <a:r>
                        <a:t>27年2月：80%</a:t>
                      </a:r>
                    </a:p>
                  </a:txBody>
                  <a:tcPr anchor="ctr" marL="36576" marR="36576" marT="9144" marB="9144">
                    <a:solidFill>
                      <a:srgbClr val="FEF7E6"/>
                    </a:solidFill>
                  </a:tcPr>
                </a:tc>
                <a:tc>
                  <a:txBody>
                    <a:bodyPr wrap="square"/>
                    <a:lstStyle/>
                    <a:p>
                      <a:pPr algn="ctr">
                        <a:defRPr sz="620" b="1">
                          <a:solidFill>
                            <a:srgbClr val="1E242B"/>
                          </a:solidFill>
                          <a:latin typeface="Meiryo UI"/>
                        </a:defRPr>
                      </a:pPr>
                      <a:r>
                        <a:t>27年3月：100%</a:t>
                      </a:r>
                      <a:br/>
                      <a:r>
                        <a:t>全項目完了</a:t>
                      </a:r>
                    </a:p>
                  </a:txBody>
                  <a:tcPr anchor="ctr" marL="36576" marR="36576" marT="9144" marB="9144">
                    <a:solidFill>
                      <a:srgbClr val="FEF7E6"/>
                    </a:solidFill>
                  </a:tcPr>
                </a:tc>
              </a:tr>
            </a:tbl>
          </a:graphicData>
        </a:graphic>
      </p:graphicFrame>
      <p:sp>
        <p:nvSpPr>
          <p:cNvPr id="9" name="TextBox 8"/>
          <p:cNvSpPr txBox="1"/>
          <p:nvPr/>
        </p:nvSpPr>
        <p:spPr>
          <a:xfrm>
            <a:off x="274320" y="3639312"/>
            <a:ext cx="11643055" cy="201168"/>
          </a:xfrm>
          <a:prstGeom prst="rect">
            <a:avLst/>
          </a:prstGeom>
          <a:noFill/>
        </p:spPr>
        <p:txBody>
          <a:bodyPr wrap="square" lIns="18288" rIns="18288" tIns="9144" bIns="9144">
            <a:spAutoFit/>
          </a:bodyPr>
          <a:lstStyle/>
          <a:p>
            <a:pPr>
              <a:defRPr sz="819" b="1">
                <a:solidFill>
                  <a:srgbClr val="1B365D"/>
                </a:solidFill>
                <a:latin typeface="Meiryo UI"/>
              </a:defRPr>
            </a:pPr>
            <a:r>
              <a:t>■ 2. 今後のアクションアイテムおよび担当部署</a:t>
            </a:r>
          </a:p>
        </p:txBody>
      </p:sp>
      <p:graphicFrame>
        <p:nvGraphicFramePr>
          <p:cNvPr id="10" name="Table 9"/>
          <p:cNvGraphicFramePr>
            <a:graphicFrameLocks noGrp="1"/>
          </p:cNvGraphicFramePr>
          <p:nvPr/>
        </p:nvGraphicFramePr>
        <p:xfrm>
          <a:off x="274320" y="3840480"/>
          <a:ext cx="11643055" cy="2377440"/>
        </p:xfrm>
        <a:graphic>
          <a:graphicData uri="http://schemas.openxmlformats.org/drawingml/2006/table">
            <a:tbl>
              <a:tblPr firstRow="1" bandRow="1">
                <a:tableStyleId>{5C22544A-7EE6-4342-B048-85BDC9FD1C3A}</a:tableStyleId>
              </a:tblPr>
              <a:tblGrid>
                <a:gridCol w="502920"/>
                <a:gridCol w="3337560"/>
                <a:gridCol w="2606040"/>
                <a:gridCol w="2880360"/>
                <a:gridCol w="2316175"/>
              </a:tblGrid>
              <a:tr h="339634">
                <a:tc>
                  <a:txBody>
                    <a:bodyPr wrap="square"/>
                    <a:lstStyle/>
                    <a:p>
                      <a:pPr algn="ctr">
                        <a:defRPr sz="690" b="1">
                          <a:solidFill>
                            <a:srgbClr val="FFFFFF"/>
                          </a:solidFill>
                          <a:latin typeface="Meiryo UI"/>
                        </a:defRPr>
                      </a:pPr>
                      <a:r>
                        <a:t>No.</a:t>
                      </a:r>
                    </a:p>
                  </a:txBody>
                  <a:tcPr anchor="ctr" marL="36576" marR="36576" marT="9144" marB="9144">
                    <a:solidFill>
                      <a:srgbClr val="1B365D"/>
                    </a:solidFill>
                  </a:tcPr>
                </a:tc>
                <a:tc>
                  <a:txBody>
                    <a:bodyPr wrap="square"/>
                    <a:lstStyle/>
                    <a:p>
                      <a:pPr algn="ctr">
                        <a:defRPr sz="690" b="1">
                          <a:solidFill>
                            <a:srgbClr val="FFFFFF"/>
                          </a:solidFill>
                          <a:latin typeface="Meiryo UI"/>
                        </a:defRPr>
                      </a:pPr>
                      <a:r>
                        <a:t>今後のアクションアイテム</a:t>
                      </a:r>
                    </a:p>
                  </a:txBody>
                  <a:tcPr anchor="ctr" marL="36576" marR="36576" marT="9144" marB="9144">
                    <a:solidFill>
                      <a:srgbClr val="1B365D"/>
                    </a:solidFill>
                  </a:tcPr>
                </a:tc>
                <a:tc>
                  <a:txBody>
                    <a:bodyPr wrap="square"/>
                    <a:lstStyle/>
                    <a:p>
                      <a:pPr algn="ctr">
                        <a:defRPr sz="690" b="1">
                          <a:solidFill>
                            <a:srgbClr val="FFFFFF"/>
                          </a:solidFill>
                          <a:latin typeface="Meiryo UI"/>
                        </a:defRPr>
                      </a:pPr>
                      <a:r>
                        <a:t>期限・時期</a:t>
                      </a:r>
                    </a:p>
                  </a:txBody>
                  <a:tcPr anchor="ctr" marL="36576" marR="36576" marT="9144" marB="9144">
                    <a:solidFill>
                      <a:srgbClr val="1B365D"/>
                    </a:solidFill>
                  </a:tcPr>
                </a:tc>
                <a:tc>
                  <a:txBody>
                    <a:bodyPr wrap="square"/>
                    <a:lstStyle/>
                    <a:p>
                      <a:pPr algn="ctr">
                        <a:defRPr sz="690" b="1">
                          <a:solidFill>
                            <a:srgbClr val="FFFFFF"/>
                          </a:solidFill>
                          <a:latin typeface="Meiryo UI"/>
                        </a:defRPr>
                      </a:pPr>
                      <a:r>
                        <a:t>担当部署・担当者</a:t>
                      </a:r>
                    </a:p>
                  </a:txBody>
                  <a:tcPr anchor="ctr" marL="36576" marR="36576" marT="9144" marB="9144">
                    <a:solidFill>
                      <a:srgbClr val="1B365D"/>
                    </a:solidFill>
                  </a:tcPr>
                </a:tc>
                <a:tc>
                  <a:txBody>
                    <a:bodyPr wrap="square"/>
                    <a:lstStyle/>
                    <a:p>
                      <a:pPr algn="ctr">
                        <a:defRPr sz="690" b="1">
                          <a:solidFill>
                            <a:srgbClr val="FFFFFF"/>
                          </a:solidFill>
                          <a:latin typeface="Meiryo UI"/>
                        </a:defRPr>
                      </a:pPr>
                      <a:r>
                        <a:t>備考</a:t>
                      </a:r>
                    </a:p>
                  </a:txBody>
                  <a:tcPr anchor="ctr" marL="36576" marR="36576" marT="9144" marB="9144">
                    <a:solidFill>
                      <a:srgbClr val="1B365D"/>
                    </a:solidFill>
                  </a:tcPr>
                </a:tc>
              </a:tr>
              <a:tr h="339634">
                <a:tc>
                  <a:txBody>
                    <a:bodyPr wrap="square"/>
                    <a:lstStyle/>
                    <a:p>
                      <a:pPr algn="ctr">
                        <a:defRPr sz="610" b="1">
                          <a:solidFill>
                            <a:srgbClr val="1E242B"/>
                          </a:solidFill>
                          <a:latin typeface="Meiryo UI"/>
                        </a:defRPr>
                      </a:pPr>
                      <a:r>
                        <a:t>1</a:t>
                      </a:r>
                    </a:p>
                  </a:txBody>
                  <a:tcPr anchor="ctr" marL="36576" marR="36576" marT="9144" marB="9144">
                    <a:solidFill>
                      <a:srgbClr val="EAF7EE"/>
                    </a:solidFill>
                  </a:tcPr>
                </a:tc>
                <a:tc>
                  <a:txBody>
                    <a:bodyPr wrap="square"/>
                    <a:lstStyle/>
                    <a:p>
                      <a:pPr algn="l">
                        <a:defRPr sz="610">
                          <a:solidFill>
                            <a:srgbClr val="1E242B"/>
                          </a:solidFill>
                          <a:latin typeface="Meiryo UI"/>
                        </a:defRPr>
                      </a:pPr>
                      <a:r>
                        <a:t>自動導通・接地・耐圧検査設備（No.22：101,690,000 VND／3,911.15 USD）の予算承認および部品手配。項目17（制御盤筐体：5百万VND）の正式見積確定。</a:t>
                      </a:r>
                    </a:p>
                  </a:txBody>
                  <a:tcPr anchor="ctr" marL="36576" marR="36576" marT="9144" marB="9144">
                    <a:solidFill>
                      <a:srgbClr val="EAF7EE"/>
                    </a:solidFill>
                  </a:tcPr>
                </a:tc>
                <a:tc>
                  <a:txBody>
                    <a:bodyPr wrap="square"/>
                    <a:lstStyle/>
                    <a:p>
                      <a:pPr algn="ctr">
                        <a:defRPr sz="610" b="1">
                          <a:solidFill>
                            <a:srgbClr val="1E242B"/>
                          </a:solidFill>
                          <a:latin typeface="Meiryo UI"/>
                        </a:defRPr>
                      </a:pPr>
                      <a:r>
                        <a:t>2026年10月 〜 11月</a:t>
                      </a:r>
                      <a:br/>
                      <a:r>
                        <a:t>(12月PMT1前に設置完了)</a:t>
                      </a:r>
                    </a:p>
                  </a:txBody>
                  <a:tcPr anchor="ctr" marL="36576" marR="36576" marT="9144" marB="9144">
                    <a:solidFill>
                      <a:srgbClr val="EAF7EE"/>
                    </a:solidFill>
                  </a:tcPr>
                </a:tc>
                <a:tc>
                  <a:txBody>
                    <a:bodyPr wrap="square"/>
                    <a:lstStyle/>
                    <a:p>
                      <a:pPr algn="l">
                        <a:defRPr sz="610">
                          <a:solidFill>
                            <a:srgbClr val="1E242B"/>
                          </a:solidFill>
                          <a:latin typeface="Meiryo UI"/>
                        </a:defRPr>
                      </a:pPr>
                      <a:r>
                        <a:t>VN生技：KDTVN-PE-3</a:t>
                      </a:r>
                      <a:br/>
                      <a:r>
                        <a:t>(部門長へ承認申請)</a:t>
                      </a:r>
                    </a:p>
                  </a:txBody>
                  <a:tcPr anchor="ctr" marL="36576" marR="36576" marT="9144" marB="9144">
                    <a:solidFill>
                      <a:srgbClr val="EAF7EE"/>
                    </a:solidFill>
                  </a:tcPr>
                </a:tc>
                <a:tc>
                  <a:txBody>
                    <a:bodyPr wrap="square"/>
                    <a:lstStyle/>
                    <a:p>
                      <a:pPr algn="l">
                        <a:defRPr sz="610">
                          <a:solidFill>
                            <a:srgbClr val="1E242B"/>
                          </a:solidFill>
                          <a:latin typeface="Meiryo UI"/>
                        </a:defRPr>
                      </a:pPr>
                      <a:r>
                        <a:t>Iris EXPのVN提案.xlsx;</a:t>
                      </a:r>
                      <a:br/>
                      <a:r>
                        <a:t>BM-003-F 10月</a:t>
                      </a:r>
                    </a:p>
                  </a:txBody>
                  <a:tcPr anchor="ctr" marL="36576" marR="36576" marT="9144" marB="9144">
                    <a:solidFill>
                      <a:srgbClr val="EAF7EE"/>
                    </a:solidFill>
                  </a:tcPr>
                </a:tc>
              </a:tr>
              <a:tr h="339634">
                <a:tc>
                  <a:txBody>
                    <a:bodyPr wrap="square"/>
                    <a:lstStyle/>
                    <a:p>
                      <a:pPr algn="ctr">
                        <a:defRPr sz="610" b="1">
                          <a:solidFill>
                            <a:srgbClr val="1E242B"/>
                          </a:solidFill>
                          <a:latin typeface="Meiryo UI"/>
                        </a:defRPr>
                      </a:pPr>
                      <a:r>
                        <a:t>2</a:t>
                      </a:r>
                    </a:p>
                  </a:txBody>
                  <a:tcPr anchor="ctr" marL="36576" marR="36576" marT="9144" marB="9144">
                    <a:solidFill>
                      <a:srgbClr val="FEF7E6"/>
                    </a:solidFill>
                  </a:tcPr>
                </a:tc>
                <a:tc>
                  <a:txBody>
                    <a:bodyPr wrap="square"/>
                    <a:lstStyle/>
                    <a:p>
                      <a:pPr algn="l">
                        <a:defRPr sz="610" b="1">
                          <a:solidFill>
                            <a:srgbClr val="1E242B"/>
                          </a:solidFill>
                          <a:latin typeface="Meiryo UI"/>
                        </a:defRPr>
                      </a:pPr>
                      <a:r>
                        <a:t>「見積中」のVN設備案件（重点：No.25 DP連続スキャン＋PC、No.27 HIKROBOTカメラ濃度/マージン測定、No.28 出荷設定自動化、No.21 マグネット治具）の見積完了。</a:t>
                      </a:r>
                    </a:p>
                  </a:txBody>
                  <a:tcPr anchor="ctr" marL="36576" marR="36576" marT="9144" marB="9144">
                    <a:solidFill>
                      <a:srgbClr val="FEF7E6"/>
                    </a:solidFill>
                  </a:tcPr>
                </a:tc>
                <a:tc>
                  <a:txBody>
                    <a:bodyPr wrap="square"/>
                    <a:lstStyle/>
                    <a:p>
                      <a:pPr algn="ctr">
                        <a:defRPr sz="610">
                          <a:solidFill>
                            <a:srgbClr val="1E242B"/>
                          </a:solidFill>
                          <a:latin typeface="Meiryo UI"/>
                        </a:defRPr>
                      </a:pPr>
                      <a:r>
                        <a:t>2026年11月</a:t>
                      </a:r>
                      <a:br/>
                      <a:r>
                        <a:t>(ハード構成確定後)</a:t>
                      </a:r>
                    </a:p>
                  </a:txBody>
                  <a:tcPr anchor="ctr" marL="36576" marR="36576" marT="9144" marB="9144">
                    <a:solidFill>
                      <a:srgbClr val="FEF7E6"/>
                    </a:solidFill>
                  </a:tcPr>
                </a:tc>
                <a:tc>
                  <a:txBody>
                    <a:bodyPr wrap="square"/>
                    <a:lstStyle/>
                    <a:p>
                      <a:pPr algn="l">
                        <a:defRPr sz="610">
                          <a:solidFill>
                            <a:srgbClr val="1E242B"/>
                          </a:solidFill>
                          <a:latin typeface="Meiryo UI"/>
                        </a:defRPr>
                      </a:pPr>
                      <a:r>
                        <a:t>VN生技（KDTVN-PE-3）・現地サプライヤ・JP生技</a:t>
                      </a:r>
                    </a:p>
                  </a:txBody>
                  <a:tcPr anchor="ctr" marL="36576" marR="36576" marT="9144" marB="9144">
                    <a:solidFill>
                      <a:srgbClr val="FEF7E6"/>
                    </a:solidFill>
                  </a:tcPr>
                </a:tc>
                <a:tc>
                  <a:txBody>
                    <a:bodyPr wrap="square"/>
                    <a:lstStyle/>
                    <a:p>
                      <a:pPr algn="l">
                        <a:defRPr sz="610">
                          <a:solidFill>
                            <a:srgbClr val="1E242B"/>
                          </a:solidFill>
                          <a:latin typeface="Meiryo UI"/>
                        </a:defRPr>
                      </a:pPr>
                      <a:r>
                        <a:t>IrisEXP改善提案まとめ.xlsx</a:t>
                      </a:r>
                    </a:p>
                  </a:txBody>
                  <a:tcPr anchor="ctr" marL="36576" marR="36576" marT="9144" marB="9144">
                    <a:solidFill>
                      <a:srgbClr val="FEF7E6"/>
                    </a:solidFill>
                  </a:tcPr>
                </a:tc>
              </a:tr>
              <a:tr h="339634">
                <a:tc>
                  <a:txBody>
                    <a:bodyPr wrap="square"/>
                    <a:lstStyle/>
                    <a:p>
                      <a:pPr algn="ctr">
                        <a:defRPr sz="610" b="1">
                          <a:solidFill>
                            <a:srgbClr val="1E242B"/>
                          </a:solidFill>
                          <a:latin typeface="Meiryo UI"/>
                        </a:defRPr>
                      </a:pPr>
                      <a:r>
                        <a:t>3</a:t>
                      </a:r>
                    </a:p>
                  </a:txBody>
                  <a:tcPr anchor="ctr" marL="36576" marR="36576" marT="9144" marB="9144">
                    <a:solidFill>
                      <a:srgbClr val="FFFFFF"/>
                    </a:solidFill>
                  </a:tcPr>
                </a:tc>
                <a:tc>
                  <a:txBody>
                    <a:bodyPr wrap="square"/>
                    <a:lstStyle/>
                    <a:p>
                      <a:pPr algn="l">
                        <a:defRPr sz="610">
                          <a:solidFill>
                            <a:srgbClr val="1E242B"/>
                          </a:solidFill>
                          <a:latin typeface="Meiryo UI"/>
                        </a:defRPr>
                      </a:pPr>
                      <a:r>
                        <a:t>実機DPによる連続スキャン（No.25）とISUガラス面スキャンの精度比較検証（マージンずれ・画質均一性）およびPC自動判定ソフトの完成。</a:t>
                      </a:r>
                    </a:p>
                  </a:txBody>
                  <a:tcPr anchor="ctr" marL="36576" marR="36576" marT="9144" marB="9144">
                    <a:solidFill>
                      <a:srgbClr val="FFFFFF"/>
                    </a:solidFill>
                  </a:tcPr>
                </a:tc>
                <a:tc>
                  <a:txBody>
                    <a:bodyPr wrap="square"/>
                    <a:lstStyle/>
                    <a:p>
                      <a:pPr algn="ctr">
                        <a:defRPr sz="610">
                          <a:solidFill>
                            <a:srgbClr val="1E242B"/>
                          </a:solidFill>
                          <a:latin typeface="Meiryo UI"/>
                        </a:defRPr>
                      </a:pPr>
                      <a:r>
                        <a:t>第13〜17回連携会（9〜10月）</a:t>
                      </a:r>
                      <a:br/>
                      <a:r>
                        <a:t>→ PMT1（12月）にて検証</a:t>
                      </a:r>
                    </a:p>
                  </a:txBody>
                  <a:tcPr anchor="ctr" marL="36576" marR="36576" marT="9144" marB="9144">
                    <a:solidFill>
                      <a:srgbClr val="FFFFFF"/>
                    </a:solidFill>
                  </a:tcPr>
                </a:tc>
                <a:tc>
                  <a:txBody>
                    <a:bodyPr wrap="square"/>
                    <a:lstStyle/>
                    <a:p>
                      <a:pPr algn="l">
                        <a:defRPr sz="610">
                          <a:solidFill>
                            <a:srgbClr val="1E242B"/>
                          </a:solidFill>
                          <a:latin typeface="Meiryo UI"/>
                        </a:defRPr>
                      </a:pPr>
                      <a:r>
                        <a:t>連携会 技術チーム：</a:t>
                      </a:r>
                      <a:br/>
                      <a:r>
                        <a:t>• JP：植村、岡本、井ノ口、三輪</a:t>
                      </a:r>
                      <a:br/>
                      <a:r>
                        <a:t>• CN/VN：鄧、陳志峰、KDTVN-PE-3</a:t>
                      </a:r>
                    </a:p>
                  </a:txBody>
                  <a:tcPr anchor="ctr" marL="36576" marR="36576" marT="9144" marB="9144">
                    <a:solidFill>
                      <a:srgbClr val="FFFFFF"/>
                    </a:solidFill>
                  </a:tcPr>
                </a:tc>
                <a:tc>
                  <a:txBody>
                    <a:bodyPr wrap="square"/>
                    <a:lstStyle/>
                    <a:p>
                      <a:pPr algn="l">
                        <a:defRPr sz="610">
                          <a:solidFill>
                            <a:srgbClr val="1E242B"/>
                          </a:solidFill>
                          <a:latin typeface="Meiryo UI"/>
                        </a:defRPr>
                      </a:pPr>
                      <a:r>
                        <a:t>保証工程連携会</a:t>
                      </a:r>
                      <a:br/>
                      <a:r>
                        <a:t>第13回〜第17回</a:t>
                      </a:r>
                    </a:p>
                  </a:txBody>
                  <a:tcPr anchor="ctr" marL="36576" marR="36576" marT="9144" marB="9144">
                    <a:solidFill>
                      <a:srgbClr val="FFFFFF"/>
                    </a:solidFill>
                  </a:tcPr>
                </a:tc>
              </a:tr>
              <a:tr h="339634">
                <a:tc>
                  <a:txBody>
                    <a:bodyPr wrap="square"/>
                    <a:lstStyle/>
                    <a:p>
                      <a:pPr algn="ctr">
                        <a:defRPr sz="610" b="1">
                          <a:solidFill>
                            <a:srgbClr val="1E242B"/>
                          </a:solidFill>
                          <a:latin typeface="Meiryo UI"/>
                        </a:defRPr>
                      </a:pPr>
                      <a:r>
                        <a:t>4</a:t>
                      </a:r>
                    </a:p>
                  </a:txBody>
                  <a:tcPr anchor="ctr" marL="36576" marR="36576" marT="9144" marB="9144">
                    <a:solidFill>
                      <a:srgbClr val="F7F9FC"/>
                    </a:solidFill>
                  </a:tcPr>
                </a:tc>
                <a:tc>
                  <a:txBody>
                    <a:bodyPr wrap="square"/>
                    <a:lstStyle/>
                    <a:p>
                      <a:pPr algn="l">
                        <a:defRPr sz="610" b="1">
                          <a:solidFill>
                            <a:srgbClr val="1E242B"/>
                          </a:solidFill>
                          <a:latin typeface="Meiryo UI"/>
                        </a:defRPr>
                      </a:pPr>
                      <a:r>
                        <a:t>公式「工程DR」を開催し、IrisEXP工程表の確定、外装カバー6点取付（No.33）の本体組立への移管、および中間検査ステップ廃止を承認。</a:t>
                      </a:r>
                    </a:p>
                  </a:txBody>
                  <a:tcPr anchor="ctr" marL="36576" marR="36576" marT="9144" marB="9144">
                    <a:solidFill>
                      <a:srgbClr val="F7F9FC"/>
                    </a:solidFill>
                  </a:tcPr>
                </a:tc>
                <a:tc>
                  <a:txBody>
                    <a:bodyPr wrap="square"/>
                    <a:lstStyle/>
                    <a:p>
                      <a:pPr algn="ctr">
                        <a:defRPr sz="610">
                          <a:solidFill>
                            <a:srgbClr val="1E242B"/>
                          </a:solidFill>
                          <a:latin typeface="Meiryo UI"/>
                        </a:defRPr>
                      </a:pPr>
                      <a:r>
                        <a:t>2026年11月</a:t>
                      </a:r>
                      <a:br/>
                      <a:r>
                        <a:t>(当初予定9〜10月より遅延中)</a:t>
                      </a:r>
                    </a:p>
                  </a:txBody>
                  <a:tcPr anchor="ctr" marL="36576" marR="36576" marT="9144" marB="9144">
                    <a:solidFill>
                      <a:srgbClr val="F7F9FC"/>
                    </a:solidFill>
                  </a:tcPr>
                </a:tc>
                <a:tc>
                  <a:txBody>
                    <a:bodyPr wrap="square"/>
                    <a:lstStyle/>
                    <a:p>
                      <a:pPr algn="l">
                        <a:defRPr sz="610">
                          <a:solidFill>
                            <a:srgbClr val="1E242B"/>
                          </a:solidFill>
                          <a:latin typeface="Meiryo UI"/>
                        </a:defRPr>
                      </a:pPr>
                      <a:r>
                        <a:t>JP生技（生産技術）主導、JP品質保証（QA）、KDTVN-PE-3、CN工場</a:t>
                      </a:r>
                    </a:p>
                  </a:txBody>
                  <a:tcPr anchor="ctr" marL="36576" marR="36576" marT="9144" marB="9144">
                    <a:solidFill>
                      <a:srgbClr val="F7F9FC"/>
                    </a:solidFill>
                  </a:tcPr>
                </a:tc>
                <a:tc>
                  <a:txBody>
                    <a:bodyPr wrap="square"/>
                    <a:lstStyle/>
                    <a:p>
                      <a:pPr algn="l">
                        <a:defRPr sz="610">
                          <a:solidFill>
                            <a:srgbClr val="1E242B"/>
                          </a:solidFill>
                          <a:latin typeface="Meiryo UI"/>
                        </a:defRPr>
                      </a:pPr>
                      <a:r>
                        <a:t>BM-003-F 9月・10月;</a:t>
                      </a:r>
                      <a:br/>
                      <a:r>
                        <a:t>調整工程DR議事録</a:t>
                      </a:r>
                    </a:p>
                  </a:txBody>
                  <a:tcPr anchor="ctr" marL="36576" marR="36576" marT="9144" marB="9144">
                    <a:solidFill>
                      <a:srgbClr val="F7F9FC"/>
                    </a:solidFill>
                  </a:tcPr>
                </a:tc>
              </a:tr>
              <a:tr h="339634">
                <a:tc>
                  <a:txBody>
                    <a:bodyPr wrap="square"/>
                    <a:lstStyle/>
                    <a:p>
                      <a:pPr algn="ctr">
                        <a:defRPr sz="610" b="1">
                          <a:solidFill>
                            <a:srgbClr val="1E242B"/>
                          </a:solidFill>
                          <a:latin typeface="Meiryo UI"/>
                        </a:defRPr>
                      </a:pPr>
                      <a:r>
                        <a:t>5</a:t>
                      </a:r>
                    </a:p>
                  </a:txBody>
                  <a:tcPr anchor="ctr" marL="36576" marR="36576" marT="9144" marB="9144">
                    <a:solidFill>
                      <a:srgbClr val="FFFFFF"/>
                    </a:solidFill>
                  </a:tcPr>
                </a:tc>
                <a:tc>
                  <a:txBody>
                    <a:bodyPr wrap="square"/>
                    <a:lstStyle/>
                    <a:p>
                      <a:pPr algn="l">
                        <a:defRPr sz="610">
                          <a:solidFill>
                            <a:srgbClr val="1E242B"/>
                          </a:solidFill>
                          <a:latin typeface="Meiryo UI"/>
                        </a:defRPr>
                      </a:pPr>
                      <a:r>
                        <a:t>35°プーリー＆新型弾性転写ベルト（No.37）の安定性確認、および廃トナーボトルへのトナーパージ時のクリーニングブレードめくれ対策の検証。</a:t>
                      </a:r>
                    </a:p>
                  </a:txBody>
                  <a:tcPr anchor="ctr" marL="36576" marR="36576" marT="9144" marB="9144">
                    <a:solidFill>
                      <a:srgbClr val="FFFFFF"/>
                    </a:solidFill>
                  </a:tcPr>
                </a:tc>
                <a:tc>
                  <a:txBody>
                    <a:bodyPr wrap="square"/>
                    <a:lstStyle/>
                    <a:p>
                      <a:pPr algn="ctr">
                        <a:defRPr sz="610">
                          <a:solidFill>
                            <a:srgbClr val="1E242B"/>
                          </a:solidFill>
                          <a:latin typeface="Meiryo UI"/>
                        </a:defRPr>
                      </a:pPr>
                      <a:r>
                        <a:t>DMT2 / PMT1機にて評価</a:t>
                      </a:r>
                      <a:br/>
                      <a:r>
                        <a:t>(2026年10月 〜 12月)</a:t>
                      </a:r>
                    </a:p>
                  </a:txBody>
                  <a:tcPr anchor="ctr" marL="36576" marR="36576" marT="9144" marB="9144">
                    <a:solidFill>
                      <a:srgbClr val="FFFFFF"/>
                    </a:solidFill>
                  </a:tcPr>
                </a:tc>
                <a:tc>
                  <a:txBody>
                    <a:bodyPr wrap="square"/>
                    <a:lstStyle/>
                    <a:p>
                      <a:pPr algn="l">
                        <a:defRPr sz="610" b="1">
                          <a:solidFill>
                            <a:srgbClr val="1E242B"/>
                          </a:solidFill>
                          <a:latin typeface="Meiryo UI"/>
                        </a:defRPr>
                      </a:pPr>
                      <a:r>
                        <a:t>JP設計・品質保証（QA）・KDTVN-PE-3</a:t>
                      </a:r>
                    </a:p>
                  </a:txBody>
                  <a:tcPr anchor="ctr" marL="36576" marR="36576" marT="9144" marB="9144">
                    <a:solidFill>
                      <a:srgbClr val="FFFFFF"/>
                    </a:solidFill>
                  </a:tcPr>
                </a:tc>
                <a:tc>
                  <a:txBody>
                    <a:bodyPr wrap="square"/>
                    <a:lstStyle/>
                    <a:p>
                      <a:pPr algn="l">
                        <a:defRPr sz="610">
                          <a:solidFill>
                            <a:srgbClr val="1E242B"/>
                          </a:solidFill>
                          <a:latin typeface="Meiryo UI"/>
                        </a:defRPr>
                      </a:pPr>
                      <a:r>
                        <a:t>調整工程DR議事録;</a:t>
                      </a:r>
                      <a:br/>
                      <a:r>
                        <a:t>第17回議事録</a:t>
                      </a:r>
                    </a:p>
                  </a:txBody>
                  <a:tcPr anchor="ctr" marL="36576" marR="36576" marT="9144" marB="9144">
                    <a:solidFill>
                      <a:srgbClr val="FFFFFF"/>
                    </a:solidFill>
                  </a:tcPr>
                </a:tc>
              </a:tr>
              <a:tr h="339636">
                <a:tc>
                  <a:txBody>
                    <a:bodyPr wrap="square"/>
                    <a:lstStyle/>
                    <a:p>
                      <a:pPr algn="ctr">
                        <a:defRPr sz="610" b="1">
                          <a:solidFill>
                            <a:srgbClr val="1E242B"/>
                          </a:solidFill>
                          <a:latin typeface="Meiryo UI"/>
                        </a:defRPr>
                      </a:pPr>
                      <a:r>
                        <a:t>6</a:t>
                      </a:r>
                    </a:p>
                  </a:txBody>
                  <a:tcPr anchor="ctr" marL="36576" marR="36576" marT="9144" marB="9144">
                    <a:solidFill>
                      <a:srgbClr val="F7F9FC"/>
                    </a:solidFill>
                  </a:tcPr>
                </a:tc>
                <a:tc>
                  <a:txBody>
                    <a:bodyPr wrap="square"/>
                    <a:lstStyle/>
                    <a:p>
                      <a:pPr algn="l">
                        <a:defRPr sz="610" b="1">
                          <a:solidFill>
                            <a:srgbClr val="B8292F"/>
                          </a:solidFill>
                          <a:latin typeface="Meiryo UI"/>
                        </a:defRPr>
                      </a:pPr>
                      <a:r>
                        <a:t>主走査ビームピッチ補正 U413（Color +89秒／Mono +51.72秒増加）の対応方針決定：ライン上自動化か、225〜250万円でソフト開発しライン作業を廃止するか。</a:t>
                      </a:r>
                    </a:p>
                  </a:txBody>
                  <a:tcPr anchor="ctr" marL="36576" marR="36576" marT="9144" marB="9144">
                    <a:solidFill>
                      <a:srgbClr val="F7F9FC"/>
                    </a:solidFill>
                  </a:tcPr>
                </a:tc>
                <a:tc>
                  <a:txBody>
                    <a:bodyPr wrap="square"/>
                    <a:lstStyle/>
                    <a:p>
                      <a:pPr algn="ctr">
                        <a:defRPr sz="610">
                          <a:solidFill>
                            <a:srgbClr val="1E242B"/>
                          </a:solidFill>
                          <a:latin typeface="Meiryo UI"/>
                        </a:defRPr>
                      </a:pPr>
                      <a:r>
                        <a:t>PMT1前</a:t>
                      </a:r>
                      <a:br/>
                      <a:r>
                        <a:t>(2026年11月 〜 12月)</a:t>
                      </a:r>
                    </a:p>
                  </a:txBody>
                  <a:tcPr anchor="ctr" marL="36576" marR="36576" marT="9144" marB="9144">
                    <a:solidFill>
                      <a:srgbClr val="F7F9FC"/>
                    </a:solidFill>
                  </a:tcPr>
                </a:tc>
                <a:tc>
                  <a:txBody>
                    <a:bodyPr wrap="square"/>
                    <a:lstStyle/>
                    <a:p>
                      <a:pPr algn="l">
                        <a:defRPr sz="610" b="1">
                          <a:solidFill>
                            <a:srgbClr val="1E242B"/>
                          </a:solidFill>
                          <a:latin typeface="Meiryo UI"/>
                        </a:defRPr>
                      </a:pPr>
                      <a:r>
                        <a:t>JP LSU設計・ソフト設計・JP生技</a:t>
                      </a:r>
                      <a:br/>
                      <a:r>
                        <a:t>(マネジメント層へ上申)</a:t>
                      </a:r>
                    </a:p>
                  </a:txBody>
                  <a:tcPr anchor="ctr" marL="36576" marR="36576" marT="9144" marB="9144">
                    <a:solidFill>
                      <a:srgbClr val="F7F9FC"/>
                    </a:solidFill>
                  </a:tcPr>
                </a:tc>
                <a:tc>
                  <a:txBody>
                    <a:bodyPr wrap="square"/>
                    <a:lstStyle/>
                    <a:p>
                      <a:pPr algn="l">
                        <a:defRPr sz="610">
                          <a:solidFill>
                            <a:srgbClr val="1E242B"/>
                          </a:solidFill>
                          <a:latin typeface="Meiryo UI"/>
                        </a:defRPr>
                      </a:pPr>
                      <a:r>
                        <a:t>主走査ビームピッチ補正資料;</a:t>
                      </a:r>
                      <a:br/>
                      <a:r>
                        <a:t>IrisEXP 工程 3.xlsx</a:t>
                      </a:r>
                    </a:p>
                  </a:txBody>
                  <a:tcPr anchor="ctr" marL="36576" marR="36576" marT="9144" marB="9144">
                    <a:solidFill>
                      <a:srgbClr val="F7F9FC"/>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91440"/>
            <a:ext cx="196596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第9章：課題と対策</a:t>
            </a:r>
          </a:p>
        </p:txBody>
      </p:sp>
      <p:sp>
        <p:nvSpPr>
          <p:cNvPr id="4" name="TextBox 3"/>
          <p:cNvSpPr txBox="1"/>
          <p:nvPr/>
        </p:nvSpPr>
        <p:spPr>
          <a:xfrm>
            <a:off x="2286000" y="54864"/>
            <a:ext cx="9052560" cy="457200"/>
          </a:xfrm>
          <a:prstGeom prst="rect">
            <a:avLst/>
          </a:prstGeom>
          <a:noFill/>
        </p:spPr>
        <p:txBody>
          <a:bodyPr wrap="square" lIns="18288" rIns="18288">
            <a:spAutoFit/>
          </a:bodyPr>
          <a:lstStyle/>
          <a:p>
            <a:pPr>
              <a:defRPr sz="1450" b="1">
                <a:solidFill>
                  <a:srgbClr val="FFFFFF"/>
                </a:solidFill>
                <a:latin typeface="Meiryo UI"/>
              </a:defRPr>
            </a:pPr>
            <a:r>
              <a:t>技術面・投資面における主な課題および対策方針</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13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lstStyle/>
          <a:p>
            <a:pPr algn="ctr">
              <a:defRPr sz="980" b="1">
                <a:solidFill>
                  <a:srgbClr val="1B365D"/>
                </a:solidFill>
                <a:latin typeface="Meiryo UI"/>
              </a:defRPr>
            </a:pPr>
            <a:r>
              <a:t>■ DR4、保証工程連携会（第2〜17回）および技術検討資料で確認された主要課題6項目（ロボット案の費用対効果、Athena電源・通信課題ほか）と対策。</a:t>
            </a:r>
          </a:p>
        </p:txBody>
      </p:sp>
      <p:graphicFrame>
        <p:nvGraphicFramePr>
          <p:cNvPr id="7" name="Table 6"/>
          <p:cNvGraphicFramePr>
            <a:graphicFrameLocks noGrp="1"/>
          </p:cNvGraphicFramePr>
          <p:nvPr/>
        </p:nvGraphicFramePr>
        <p:xfrm>
          <a:off x="274320" y="1243584"/>
          <a:ext cx="11643055" cy="5230368"/>
        </p:xfrm>
        <a:graphic>
          <a:graphicData uri="http://schemas.openxmlformats.org/drawingml/2006/table">
            <a:tbl>
              <a:tblPr firstRow="1" bandRow="1">
                <a:tableStyleId>{5C22544A-7EE6-4342-B048-85BDC9FD1C3A}</a:tableStyleId>
              </a:tblPr>
              <a:tblGrid>
                <a:gridCol w="502920"/>
                <a:gridCol w="2148840"/>
                <a:gridCol w="3520440"/>
                <a:gridCol w="3794760"/>
                <a:gridCol w="1676095"/>
              </a:tblGrid>
              <a:tr h="747195">
                <a:tc>
                  <a:txBody>
                    <a:bodyPr wrap="square"/>
                    <a:lstStyle/>
                    <a:p>
                      <a:pPr algn="ctr">
                        <a:defRPr sz="740" b="1">
                          <a:solidFill>
                            <a:srgbClr val="FFFFFF"/>
                          </a:solidFill>
                          <a:latin typeface="Meiryo UI"/>
                        </a:defRPr>
                      </a:pPr>
                      <a:r>
                        <a:t>No.</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課題・リスク項目</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詳細内容および発生原因</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対策方針および会議体での決定事項</a:t>
                      </a:r>
                    </a:p>
                  </a:txBody>
                  <a:tcPr anchor="ctr" marL="36576" marR="36576" marT="9144" marB="9144">
                    <a:solidFill>
                      <a:srgbClr val="1B365D"/>
                    </a:solidFill>
                  </a:tcPr>
                </a:tc>
                <a:tc>
                  <a:txBody>
                    <a:bodyPr wrap="square"/>
                    <a:lstStyle/>
                    <a:p>
                      <a:pPr algn="ctr">
                        <a:defRPr sz="740" b="1">
                          <a:solidFill>
                            <a:srgbClr val="FFFFFF"/>
                          </a:solidFill>
                          <a:latin typeface="Meiryo UI"/>
                        </a:defRPr>
                      </a:pPr>
                      <a:r>
                        <a:t>備考</a:t>
                      </a:r>
                    </a:p>
                  </a:txBody>
                  <a:tcPr anchor="ctr" marL="36576" marR="36576" marT="9144" marB="9144">
                    <a:solidFill>
                      <a:srgbClr val="1B365D"/>
                    </a:solidFill>
                  </a:tcPr>
                </a:tc>
              </a:tr>
              <a:tr h="747195">
                <a:tc>
                  <a:txBody>
                    <a:bodyPr wrap="square"/>
                    <a:lstStyle/>
                    <a:p>
                      <a:pPr algn="ctr">
                        <a:defRPr sz="660" b="1">
                          <a:solidFill>
                            <a:srgbClr val="1E242B"/>
                          </a:solidFill>
                          <a:latin typeface="Meiryo UI"/>
                        </a:defRPr>
                      </a:pPr>
                      <a:r>
                        <a:t>1</a:t>
                      </a:r>
                    </a:p>
                  </a:txBody>
                  <a:tcPr anchor="ctr" marL="36576" marR="36576" marT="9144" marB="9144">
                    <a:solidFill>
                      <a:srgbClr val="FDEDEC"/>
                    </a:solidFill>
                  </a:tcPr>
                </a:tc>
                <a:tc>
                  <a:txBody>
                    <a:bodyPr wrap="square"/>
                    <a:lstStyle/>
                    <a:p>
                      <a:pPr algn="l">
                        <a:defRPr sz="660">
                          <a:solidFill>
                            <a:srgbClr val="1E242B"/>
                          </a:solidFill>
                          <a:latin typeface="Meiryo UI"/>
                        </a:defRPr>
                      </a:pPr>
                      <a:r>
                        <a:t>投資対効果（ROI）の課題：</a:t>
                      </a:r>
                      <a:br/>
                      <a:r>
                        <a:t>原稿セットロボット（No.23）＆USB/U201ロボット（No.24）が高額</a:t>
                      </a:r>
                    </a:p>
                  </a:txBody>
                  <a:tcPr anchor="ctr" marL="36576" marR="36576" marT="9144" marB="9144">
                    <a:solidFill>
                      <a:srgbClr val="FDEDEC"/>
                    </a:solidFill>
                  </a:tcPr>
                </a:tc>
                <a:tc>
                  <a:txBody>
                    <a:bodyPr wrap="square"/>
                    <a:lstStyle/>
                    <a:p>
                      <a:pPr algn="l">
                        <a:defRPr sz="660">
                          <a:solidFill>
                            <a:srgbClr val="1E242B"/>
                          </a:solidFill>
                          <a:latin typeface="Meiryo UI"/>
                        </a:defRPr>
                      </a:pPr>
                      <a:r>
                        <a:t>• No.23（ISU原稿セットロボット）は650,000,000 VND（25,000 USD）を要しコンベア2セル拡張も必要だが、年間削減効果は108.53百万VND（回収期間6年以上）。</a:t>
                      </a:r>
                      <a:br/>
                      <a:r>
                        <a:t>• No.24（USB接続・U201タッチロボット）は30秒の作業に対し4,000 USD（104百万VND）を要する。</a:t>
                      </a:r>
                    </a:p>
                  </a:txBody>
                  <a:tcPr anchor="ctr" marL="36576" marR="36576" marT="9144" marB="9144">
                    <a:solidFill>
                      <a:srgbClr val="FDEDEC"/>
                    </a:solidFill>
                  </a:tcPr>
                </a:tc>
                <a:tc>
                  <a:txBody>
                    <a:bodyPr wrap="square"/>
                    <a:lstStyle/>
                    <a:p>
                      <a:pPr algn="l">
                        <a:defRPr sz="660" b="1">
                          <a:solidFill>
                            <a:srgbClr val="B8292F"/>
                          </a:solidFill>
                          <a:latin typeface="Meiryo UI"/>
                        </a:defRPr>
                      </a:pPr>
                      <a:r>
                        <a:t>• DR4／第7回連携会にてロボット2案の見送り（廃止／代替検討）を提案。</a:t>
                      </a:r>
                      <a:br/>
                      <a:r>
                        <a:t>• No.23はNo.25（実機DP連続スキャン＋PC自動判定）へ切替。</a:t>
                      </a:r>
                      <a:br/>
                      <a:r>
                        <a:t>• No.24はJP No.3（ネットワーク経由のパネルAssyログ照合）＆JP No.6（FW書込時のUSB保証）へ切替。</a:t>
                      </a:r>
                    </a:p>
                  </a:txBody>
                  <a:tcPr anchor="ctr" marL="36576" marR="36576" marT="9144" marB="9144">
                    <a:solidFill>
                      <a:srgbClr val="FDEDEC"/>
                    </a:solidFill>
                  </a:tcPr>
                </a:tc>
                <a:tc>
                  <a:txBody>
                    <a:bodyPr wrap="square"/>
                    <a:lstStyle/>
                    <a:p>
                      <a:pPr algn="l">
                        <a:defRPr sz="660">
                          <a:solidFill>
                            <a:srgbClr val="1E242B"/>
                          </a:solidFill>
                          <a:latin typeface="Meiryo UI"/>
                        </a:defRPr>
                      </a:pPr>
                      <a:r>
                        <a:t>Iris EXPのVN提案.xlsx;</a:t>
                      </a:r>
                      <a:br/>
                      <a:r>
                        <a:t>連携会 第7回</a:t>
                      </a:r>
                    </a:p>
                  </a:txBody>
                  <a:tcPr anchor="ctr" marL="36576" marR="36576" marT="9144" marB="9144">
                    <a:solidFill>
                      <a:srgbClr val="FDEDEC"/>
                    </a:solidFill>
                  </a:tcPr>
                </a:tc>
              </a:tr>
              <a:tr h="747195">
                <a:tc>
                  <a:txBody>
                    <a:bodyPr wrap="square"/>
                    <a:lstStyle/>
                    <a:p>
                      <a:pPr algn="ctr">
                        <a:defRPr sz="660" b="1">
                          <a:solidFill>
                            <a:srgbClr val="1E242B"/>
                          </a:solidFill>
                          <a:latin typeface="Meiryo UI"/>
                        </a:defRPr>
                      </a:pPr>
                      <a:r>
                        <a:t>2</a:t>
                      </a:r>
                    </a:p>
                  </a:txBody>
                  <a:tcPr anchor="ctr" marL="36576" marR="36576" marT="9144" marB="9144">
                    <a:solidFill>
                      <a:srgbClr val="FEF7E6"/>
                    </a:solidFill>
                  </a:tcPr>
                </a:tc>
                <a:tc>
                  <a:txBody>
                    <a:bodyPr wrap="square"/>
                    <a:lstStyle/>
                    <a:p>
                      <a:pPr algn="l">
                        <a:defRPr sz="660">
                          <a:solidFill>
                            <a:srgbClr val="1E242B"/>
                          </a:solidFill>
                          <a:latin typeface="Meiryo UI"/>
                        </a:defRPr>
                      </a:pPr>
                      <a:r>
                        <a:t>Athenaシステムの課題：</a:t>
                      </a:r>
                      <a:br/>
                      <a:r>
                        <a:t>モバイルバッテリー劣化＆Raspberry PiのWi-Fi切断</a:t>
                      </a:r>
                    </a:p>
                  </a:txBody>
                  <a:tcPr anchor="ctr" marL="36576" marR="36576" marT="9144" marB="9144">
                    <a:solidFill>
                      <a:srgbClr val="FEF7E6"/>
                    </a:solidFill>
                  </a:tcPr>
                </a:tc>
                <a:tc>
                  <a:txBody>
                    <a:bodyPr wrap="square"/>
                    <a:lstStyle/>
                    <a:p>
                      <a:pPr algn="l">
                        <a:defRPr sz="660">
                          <a:solidFill>
                            <a:srgbClr val="1E242B"/>
                          </a:solidFill>
                          <a:latin typeface="Meiryo UI"/>
                        </a:defRPr>
                      </a:pPr>
                      <a:r>
                        <a:t>• Athena方式はパレット上の機体ごとにRaspberry Pi＋モバイルバッテリーを搭載：バッテリーの早期劣化、10口充電器が高額（190,000円）、取り回しが煩雑。</a:t>
                      </a:r>
                      <a:br/>
                      <a:r>
                        <a:t>• 工場内Wi-Fiの電波干渉によりセミファイナル設定中に通信切断が発生。</a:t>
                      </a:r>
                    </a:p>
                  </a:txBody>
                  <a:tcPr anchor="ctr" marL="36576" marR="36576" marT="9144" marB="9144">
                    <a:solidFill>
                      <a:srgbClr val="FEF7E6"/>
                    </a:solidFill>
                  </a:tcPr>
                </a:tc>
                <a:tc>
                  <a:txBody>
                    <a:bodyPr wrap="square"/>
                    <a:lstStyle/>
                    <a:p>
                      <a:pPr algn="l">
                        <a:defRPr sz="660">
                          <a:solidFill>
                            <a:srgbClr val="1E242B"/>
                          </a:solidFill>
                          <a:latin typeface="Meiryo UI"/>
                        </a:defRPr>
                      </a:pPr>
                      <a:r>
                        <a:t>• 第15回連携会にて【仮決定】：検査台固定のSpica式Mini PC構成へ移行（約40,000円/セット、AC常時給電、Mini PC 1台でMFP 4台を制御）。</a:t>
                      </a:r>
                      <a:br/>
                      <a:r>
                        <a:t>• 有線ネットワーク（VLAN/LAN）およびUSB/Network通信を採用し安定化。</a:t>
                      </a:r>
                    </a:p>
                  </a:txBody>
                  <a:tcPr anchor="ctr" marL="36576" marR="36576" marT="9144" marB="9144">
                    <a:solidFill>
                      <a:srgbClr val="FEF7E6"/>
                    </a:solidFill>
                  </a:tcPr>
                </a:tc>
                <a:tc>
                  <a:txBody>
                    <a:bodyPr wrap="square"/>
                    <a:lstStyle/>
                    <a:p>
                      <a:pPr algn="l">
                        <a:defRPr sz="660">
                          <a:solidFill>
                            <a:srgbClr val="1E242B"/>
                          </a:solidFill>
                          <a:latin typeface="Meiryo UI"/>
                        </a:defRPr>
                      </a:pPr>
                      <a:r>
                        <a:t>AthenaとSpicaの比較;</a:t>
                      </a:r>
                      <a:br/>
                      <a:r>
                        <a:t>第8, 9, 15回議事録</a:t>
                      </a:r>
                    </a:p>
                  </a:txBody>
                  <a:tcPr anchor="ctr" marL="36576" marR="36576" marT="9144" marB="9144">
                    <a:solidFill>
                      <a:srgbClr val="FEF7E6"/>
                    </a:solidFill>
                  </a:tcPr>
                </a:tc>
              </a:tr>
              <a:tr h="747195">
                <a:tc>
                  <a:txBody>
                    <a:bodyPr wrap="square"/>
                    <a:lstStyle/>
                    <a:p>
                      <a:pPr algn="ctr">
                        <a:defRPr sz="660" b="1">
                          <a:solidFill>
                            <a:srgbClr val="1E242B"/>
                          </a:solidFill>
                          <a:latin typeface="Meiryo UI"/>
                        </a:defRPr>
                      </a:pPr>
                      <a:r>
                        <a:t>3</a:t>
                      </a:r>
                    </a:p>
                  </a:txBody>
                  <a:tcPr anchor="ctr" marL="36576" marR="36576" marT="9144" marB="9144">
                    <a:solidFill>
                      <a:srgbClr val="FFFFFF"/>
                    </a:solidFill>
                  </a:tcPr>
                </a:tc>
                <a:tc>
                  <a:txBody>
                    <a:bodyPr wrap="square"/>
                    <a:lstStyle/>
                    <a:p>
                      <a:pPr algn="l">
                        <a:defRPr sz="660">
                          <a:solidFill>
                            <a:srgbClr val="1E242B"/>
                          </a:solidFill>
                          <a:latin typeface="Meiryo UI"/>
                        </a:defRPr>
                      </a:pPr>
                      <a:r>
                        <a:t>DPスキャン品質のリスク：</a:t>
                      </a:r>
                      <a:br/>
                      <a:r>
                        <a:t>DP連続スキャン（No.25）とISUガラス面の精度差</a:t>
                      </a:r>
                    </a:p>
                  </a:txBody>
                  <a:tcPr anchor="ctr" marL="36576" marR="36576" marT="9144" marB="9144">
                    <a:solidFill>
                      <a:srgbClr val="FFFFFF"/>
                    </a:solidFill>
                  </a:tcPr>
                </a:tc>
                <a:tc>
                  <a:txBody>
                    <a:bodyPr wrap="square"/>
                    <a:lstStyle/>
                    <a:p>
                      <a:pPr algn="l">
                        <a:defRPr sz="660">
                          <a:solidFill>
                            <a:srgbClr val="1E242B"/>
                          </a:solidFill>
                          <a:latin typeface="Meiryo UI"/>
                        </a:defRPr>
                      </a:pPr>
                      <a:r>
                        <a:t>• ISUガラス面への手置きからDP連続スキャン（No.25）へ変更した際、用紙搬送速度やマージン位置のばらつきがU411／SITC-2／Halftone調整精度に影響する懸念。</a:t>
                      </a:r>
                    </a:p>
                  </a:txBody>
                  <a:tcPr anchor="ctr" marL="36576" marR="36576" marT="9144" marB="9144">
                    <a:solidFill>
                      <a:srgbClr val="FFFFFF"/>
                    </a:solidFill>
                  </a:tcPr>
                </a:tc>
                <a:tc>
                  <a:txBody>
                    <a:bodyPr wrap="square"/>
                    <a:lstStyle/>
                    <a:p>
                      <a:pPr algn="l">
                        <a:defRPr sz="660">
                          <a:solidFill>
                            <a:srgbClr val="1E242B"/>
                          </a:solidFill>
                          <a:latin typeface="Meiryo UI"/>
                        </a:defRPr>
                      </a:pPr>
                      <a:r>
                        <a:t>• JP・CN・VN技術チーム（植村・岡本・鄧・陳志峰）にてDPとISUの比較データを取得し、PC自動判定アルゴリズムを補正中（第13〜17回）。</a:t>
                      </a:r>
                      <a:br/>
                      <a:r>
                        <a:t>• 工程能力Cpk≧1.33を確認した上で正式適用。</a:t>
                      </a:r>
                    </a:p>
                  </a:txBody>
                  <a:tcPr anchor="ctr" marL="36576" marR="36576" marT="9144" marB="9144">
                    <a:solidFill>
                      <a:srgbClr val="FFFFFF"/>
                    </a:solidFill>
                  </a:tcPr>
                </a:tc>
                <a:tc>
                  <a:txBody>
                    <a:bodyPr wrap="square"/>
                    <a:lstStyle/>
                    <a:p>
                      <a:pPr algn="l">
                        <a:defRPr sz="660">
                          <a:solidFill>
                            <a:srgbClr val="1E242B"/>
                          </a:solidFill>
                          <a:latin typeface="Meiryo UI"/>
                        </a:defRPr>
                      </a:pPr>
                      <a:r>
                        <a:t>連携会 第13回〜第17回</a:t>
                      </a:r>
                    </a:p>
                  </a:txBody>
                  <a:tcPr anchor="ctr" marL="36576" marR="36576" marT="9144" marB="9144">
                    <a:solidFill>
                      <a:srgbClr val="FFFFFF"/>
                    </a:solidFill>
                  </a:tcPr>
                </a:tc>
              </a:tr>
              <a:tr h="747195">
                <a:tc>
                  <a:txBody>
                    <a:bodyPr wrap="square"/>
                    <a:lstStyle/>
                    <a:p>
                      <a:pPr algn="ctr">
                        <a:defRPr sz="660" b="1">
                          <a:solidFill>
                            <a:srgbClr val="1E242B"/>
                          </a:solidFill>
                          <a:latin typeface="Meiryo UI"/>
                        </a:defRPr>
                      </a:pPr>
                      <a:r>
                        <a:t>4</a:t>
                      </a:r>
                    </a:p>
                  </a:txBody>
                  <a:tcPr anchor="ctr" marL="36576" marR="36576" marT="9144" marB="9144">
                    <a:solidFill>
                      <a:srgbClr val="EAF7EE"/>
                    </a:solidFill>
                  </a:tcPr>
                </a:tc>
                <a:tc>
                  <a:txBody>
                    <a:bodyPr wrap="square"/>
                    <a:lstStyle/>
                    <a:p>
                      <a:pPr algn="l">
                        <a:defRPr sz="660">
                          <a:solidFill>
                            <a:srgbClr val="1E242B"/>
                          </a:solidFill>
                          <a:latin typeface="Meiryo UI"/>
                        </a:defRPr>
                      </a:pPr>
                      <a:r>
                        <a:t>A-3での電気安全と作業順序：</a:t>
                      </a:r>
                      <a:br/>
                      <a:r>
                        <a:t>カバー取付後の耐圧検査（No.22）vs FAN確認</a:t>
                      </a:r>
                    </a:p>
                  </a:txBody>
                  <a:tcPr anchor="ctr" marL="36576" marR="36576" marT="9144" marB="9144">
                    <a:solidFill>
                      <a:srgbClr val="EAF7EE"/>
                    </a:solidFill>
                  </a:tcPr>
                </a:tc>
                <a:tc>
                  <a:txBody>
                    <a:bodyPr wrap="square"/>
                    <a:lstStyle/>
                    <a:p>
                      <a:pPr algn="l">
                        <a:defRPr sz="660" b="1">
                          <a:solidFill>
                            <a:srgbClr val="1E242B"/>
                          </a:solidFill>
                          <a:latin typeface="Meiryo UI"/>
                        </a:defRPr>
                      </a:pPr>
                      <a:r>
                        <a:t>• DR4にて、フレームへのハーネス噛み込みを検出するため、耐圧・絶縁検査は「外装カバー取付後」に実施するよう設計より指示あり。</a:t>
                      </a:r>
                      <a:br/>
                      <a:r>
                        <a:t>• 一方、A-3ではカバー開放状態でのFAN確認があり、外装カバー6点の取付に48.32〜90秒を要している。</a:t>
                      </a:r>
                    </a:p>
                  </a:txBody>
                  <a:tcPr anchor="ctr" marL="36576" marR="36576" marT="9144" marB="9144">
                    <a:solidFill>
                      <a:srgbClr val="EAF7EE"/>
                    </a:solidFill>
                  </a:tcPr>
                </a:tc>
                <a:tc>
                  <a:txBody>
                    <a:bodyPr wrap="square"/>
                    <a:lstStyle/>
                    <a:p>
                      <a:pPr algn="l">
                        <a:defRPr sz="660">
                          <a:solidFill>
                            <a:srgbClr val="1E242B"/>
                          </a:solidFill>
                          <a:latin typeface="Meiryo UI"/>
                        </a:defRPr>
                      </a:pPr>
                      <a:r>
                        <a:t>• 自動検査設備No.22はA-3工程の終端（カバー閉鎖後）に配置。</a:t>
                      </a:r>
                      <a:br/>
                      <a:r>
                        <a:t>• No.33を推進：外装カバー6点の取付作業を本体組立工程へ移管し、FAN回転確認はソフト信号判定へ切り替えることでA-3でのカバー開閉をなくす。</a:t>
                      </a:r>
                    </a:p>
                  </a:txBody>
                  <a:tcPr anchor="ctr" marL="36576" marR="36576" marT="9144" marB="9144">
                    <a:solidFill>
                      <a:srgbClr val="EAF7EE"/>
                    </a:solidFill>
                  </a:tcPr>
                </a:tc>
                <a:tc>
                  <a:txBody>
                    <a:bodyPr wrap="square"/>
                    <a:lstStyle/>
                    <a:p>
                      <a:pPr algn="l">
                        <a:defRPr sz="660">
                          <a:solidFill>
                            <a:srgbClr val="1E242B"/>
                          </a:solidFill>
                          <a:latin typeface="Meiryo UI"/>
                        </a:defRPr>
                      </a:pPr>
                      <a:r>
                        <a:t>DR 4.pdf (Slide 6);</a:t>
                      </a:r>
                      <a:br/>
                      <a:r>
                        <a:t>調整工程DR議事録</a:t>
                      </a:r>
                    </a:p>
                  </a:txBody>
                  <a:tcPr anchor="ctr" marL="36576" marR="36576" marT="9144" marB="9144">
                    <a:solidFill>
                      <a:srgbClr val="EAF7EE"/>
                    </a:solidFill>
                  </a:tcPr>
                </a:tc>
              </a:tr>
              <a:tr h="747195">
                <a:tc>
                  <a:txBody>
                    <a:bodyPr wrap="square"/>
                    <a:lstStyle/>
                    <a:p>
                      <a:pPr algn="ctr">
                        <a:defRPr sz="660" b="1">
                          <a:solidFill>
                            <a:srgbClr val="1E242B"/>
                          </a:solidFill>
                          <a:latin typeface="Meiryo UI"/>
                        </a:defRPr>
                      </a:pPr>
                      <a:r>
                        <a:t>5</a:t>
                      </a:r>
                    </a:p>
                  </a:txBody>
                  <a:tcPr anchor="ctr" marL="36576" marR="36576" marT="9144" marB="9144">
                    <a:solidFill>
                      <a:srgbClr val="FEF7E6"/>
                    </a:solidFill>
                  </a:tcPr>
                </a:tc>
                <a:tc>
                  <a:txBody>
                    <a:bodyPr wrap="square"/>
                    <a:lstStyle/>
                    <a:p>
                      <a:pPr algn="l">
                        <a:defRPr sz="660">
                          <a:solidFill>
                            <a:srgbClr val="1E242B"/>
                          </a:solidFill>
                          <a:latin typeface="Meiryo UI"/>
                        </a:defRPr>
                      </a:pPr>
                      <a:r>
                        <a:t>VN工場固有の品質課題：</a:t>
                      </a:r>
                      <a:br/>
                      <a:r>
                        <a:t>転写ベルト寄り（月1〜2件）＆クリーニングブレードめくれ</a:t>
                      </a:r>
                    </a:p>
                  </a:txBody>
                  <a:tcPr anchor="ctr" marL="36576" marR="36576" marT="9144" marB="9144">
                    <a:solidFill>
                      <a:srgbClr val="FEF7E6"/>
                    </a:solidFill>
                  </a:tcPr>
                </a:tc>
                <a:tc>
                  <a:txBody>
                    <a:bodyPr wrap="square"/>
                    <a:lstStyle/>
                    <a:p>
                      <a:pPr algn="l">
                        <a:defRPr sz="660" b="1">
                          <a:solidFill>
                            <a:srgbClr val="B8292F"/>
                          </a:solidFill>
                          <a:latin typeface="Meiryo UI"/>
                        </a:defRPr>
                      </a:pPr>
                      <a:r>
                        <a:t>• VN工場では調整工程にて転写ベルト寄りNGが月1〜2台発生しており、JP提案通りに検査ステップを即時廃止できない。</a:t>
                      </a:r>
                      <a:br/>
                      <a:r>
                        <a:t>• 検査時にドラム／ベルト上の残留トナーを廃トナーボトルへパージする際、潤滑トナー不足によりクリーニングブレードめくれが発生。</a:t>
                      </a:r>
                    </a:p>
                  </a:txBody>
                  <a:tcPr anchor="ctr" marL="36576" marR="36576" marT="9144" marB="9144">
                    <a:solidFill>
                      <a:srgbClr val="FEF7E6"/>
                    </a:solidFill>
                  </a:tcPr>
                </a:tc>
                <a:tc>
                  <a:txBody>
                    <a:bodyPr wrap="square"/>
                    <a:lstStyle/>
                    <a:p>
                      <a:pPr algn="l">
                        <a:defRPr sz="660" b="1">
                          <a:solidFill>
                            <a:srgbClr val="B8292F"/>
                          </a:solidFill>
                          <a:latin typeface="Meiryo UI"/>
                        </a:defRPr>
                      </a:pPr>
                      <a:r>
                        <a:t>• 転写ベルト（No.37）：JP設計にてプーリー角5°→35°変更＋新型弾性ベルトを採用。VNでは新部品の品質安定を確認後に検査廃止。</a:t>
                      </a:r>
                      <a:br/>
                      <a:r>
                        <a:t>• ブレードめくれ：第17回連携会にてトナーパージシーケンスを調整し、ブレード保護用の潤滑トナー層を維持。</a:t>
                      </a:r>
                    </a:p>
                  </a:txBody>
                  <a:tcPr anchor="ctr" marL="36576" marR="36576" marT="9144" marB="9144">
                    <a:solidFill>
                      <a:srgbClr val="FEF7E6"/>
                    </a:solidFill>
                  </a:tcPr>
                </a:tc>
                <a:tc>
                  <a:txBody>
                    <a:bodyPr wrap="square"/>
                    <a:lstStyle/>
                    <a:p>
                      <a:pPr algn="l">
                        <a:defRPr sz="660">
                          <a:solidFill>
                            <a:srgbClr val="1E242B"/>
                          </a:solidFill>
                          <a:latin typeface="Meiryo UI"/>
                        </a:defRPr>
                      </a:pPr>
                      <a:r>
                        <a:t>調整工程DR議事録;</a:t>
                      </a:r>
                      <a:br/>
                      <a:r>
                        <a:t>第17回議事録</a:t>
                      </a:r>
                    </a:p>
                  </a:txBody>
                  <a:tcPr anchor="ctr" marL="36576" marR="36576" marT="9144" marB="9144">
                    <a:solidFill>
                      <a:srgbClr val="FEF7E6"/>
                    </a:solidFill>
                  </a:tcPr>
                </a:tc>
              </a:tr>
              <a:tr h="747198">
                <a:tc>
                  <a:txBody>
                    <a:bodyPr wrap="square"/>
                    <a:lstStyle/>
                    <a:p>
                      <a:pPr algn="ctr">
                        <a:defRPr sz="660" b="1">
                          <a:solidFill>
                            <a:srgbClr val="1E242B"/>
                          </a:solidFill>
                          <a:latin typeface="Meiryo UI"/>
                        </a:defRPr>
                      </a:pPr>
                      <a:r>
                        <a:t>6</a:t>
                      </a:r>
                    </a:p>
                  </a:txBody>
                  <a:tcPr anchor="ctr" marL="36576" marR="36576" marT="9144" marB="9144">
                    <a:solidFill>
                      <a:srgbClr val="F7F9FC"/>
                    </a:solidFill>
                  </a:tcPr>
                </a:tc>
                <a:tc>
                  <a:txBody>
                    <a:bodyPr wrap="square"/>
                    <a:lstStyle/>
                    <a:p>
                      <a:pPr algn="l">
                        <a:defRPr sz="660">
                          <a:solidFill>
                            <a:srgbClr val="1E242B"/>
                          </a:solidFill>
                          <a:latin typeface="Meiryo UI"/>
                        </a:defRPr>
                      </a:pPr>
                      <a:r>
                        <a:t>新規作業時間の増加リスク：</a:t>
                      </a:r>
                      <a:br/>
                      <a:r>
                        <a:t>U413追加（Color +89秒）＆パートナーFW書込時のUSB保証</a:t>
                      </a:r>
                    </a:p>
                  </a:txBody>
                  <a:tcPr anchor="ctr" marL="36576" marR="36576" marT="9144" marB="9144">
                    <a:solidFill>
                      <a:srgbClr val="F7F9FC"/>
                    </a:solidFill>
                  </a:tcPr>
                </a:tc>
                <a:tc>
                  <a:txBody>
                    <a:bodyPr wrap="square"/>
                    <a:lstStyle/>
                    <a:p>
                      <a:pPr algn="l">
                        <a:defRPr sz="660">
                          <a:solidFill>
                            <a:srgbClr val="1E242B"/>
                          </a:solidFill>
                          <a:latin typeface="Meiryo UI"/>
                        </a:defRPr>
                      </a:pPr>
                      <a:r>
                        <a:t>• IrisEXPより主走査ビームピッチ補正 U413が新規追加され、工程表上でColor +89.00秒／Mono +51.72秒の工数増が発生。</a:t>
                      </a:r>
                      <a:br/>
                      <a:r>
                        <a:t>• パートナーでFW事前書込（No.18）を行う場合、USBホスト（U208）の保証方法が必要。</a:t>
                      </a:r>
                    </a:p>
                  </a:txBody>
                  <a:tcPr anchor="ctr" marL="36576" marR="36576" marT="9144" marB="9144">
                    <a:solidFill>
                      <a:srgbClr val="F7F9FC"/>
                    </a:solidFill>
                  </a:tcPr>
                </a:tc>
                <a:tc>
                  <a:txBody>
                    <a:bodyPr wrap="square"/>
                    <a:lstStyle/>
                    <a:p>
                      <a:pPr algn="l">
                        <a:defRPr sz="660" b="1">
                          <a:solidFill>
                            <a:srgbClr val="B8292F"/>
                          </a:solidFill>
                          <a:latin typeface="Meiryo UI"/>
                        </a:defRPr>
                      </a:pPr>
                      <a:r>
                        <a:t>• U413：225〜250万円を投資してLSUデータ自動書込ソフトを開発し、ライン上でのU413作業を廃止する案を検討中（年間42万円削減）。</a:t>
                      </a:r>
                      <a:br/>
                      <a:r>
                        <a:t>• No.18：パートナーFW書込時は、ログ取得またはFinalSetup書込ステップでUSBポート認識を保証。</a:t>
                      </a:r>
                    </a:p>
                  </a:txBody>
                  <a:tcPr anchor="ctr" marL="36576" marR="36576" marT="9144" marB="9144">
                    <a:solidFill>
                      <a:srgbClr val="F7F9FC"/>
                    </a:solidFill>
                  </a:tcPr>
                </a:tc>
                <a:tc>
                  <a:txBody>
                    <a:bodyPr wrap="square"/>
                    <a:lstStyle/>
                    <a:p>
                      <a:pPr algn="l">
                        <a:defRPr sz="660">
                          <a:solidFill>
                            <a:srgbClr val="1E242B"/>
                          </a:solidFill>
                          <a:latin typeface="Meiryo UI"/>
                        </a:defRPr>
                      </a:pPr>
                      <a:r>
                        <a:t>主走査ビームピッチ補正;</a:t>
                      </a:r>
                      <a:br/>
                      <a:r>
                        <a:t>IrisEXP 工程 3.xlsx</a:t>
                      </a:r>
                    </a:p>
                  </a:txBody>
                  <a:tcPr anchor="ctr" marL="36576" marR="36576" marT="9144" marB="9144">
                    <a:solidFill>
                      <a:srgbClr val="F7F9FC"/>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91440"/>
            <a:ext cx="196596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第10.1章：技術方針の相談</a:t>
            </a:r>
          </a:p>
        </p:txBody>
      </p:sp>
      <p:sp>
        <p:nvSpPr>
          <p:cNvPr id="4" name="TextBox 3"/>
          <p:cNvSpPr txBox="1"/>
          <p:nvPr/>
        </p:nvSpPr>
        <p:spPr>
          <a:xfrm>
            <a:off x="2286000" y="54864"/>
            <a:ext cx="9052560" cy="457200"/>
          </a:xfrm>
          <a:prstGeom prst="rect">
            <a:avLst/>
          </a:prstGeom>
          <a:noFill/>
        </p:spPr>
        <p:txBody>
          <a:bodyPr wrap="square" lIns="18288" rIns="18288">
            <a:spAutoFit/>
          </a:bodyPr>
          <a:lstStyle/>
          <a:p>
            <a:pPr>
              <a:defRPr sz="1450" b="1">
                <a:solidFill>
                  <a:srgbClr val="FFFFFF"/>
                </a:solidFill>
                <a:latin typeface="Meiryo UI"/>
              </a:defRPr>
            </a:pPr>
            <a:r>
              <a:t>部門長への上申（目的 1/2）：技術方針および部門間連携に関するご相談</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14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lstStyle/>
          <a:p>
            <a:pPr algn="ctr">
              <a:defRPr sz="980" b="1">
                <a:solidFill>
                  <a:srgbClr val="1B365D"/>
                </a:solidFill>
                <a:latin typeface="Meiryo UI"/>
              </a:defRPr>
            </a:pPr>
            <a:r>
              <a:t>■ PDCAの進捗遅れ（10月時点0.18%）を挽回し、PMT1（2026年12月）までに工程設計を確定させるため、以下5項目について部門長のご指示・ご支援を仰ぎたい。</a:t>
            </a:r>
          </a:p>
        </p:txBody>
      </p:sp>
      <p:graphicFrame>
        <p:nvGraphicFramePr>
          <p:cNvPr id="7" name="Table 6"/>
          <p:cNvGraphicFramePr>
            <a:graphicFrameLocks noGrp="1"/>
          </p:cNvGraphicFramePr>
          <p:nvPr/>
        </p:nvGraphicFramePr>
        <p:xfrm>
          <a:off x="274320" y="1243584"/>
          <a:ext cx="11643055" cy="5230368"/>
        </p:xfrm>
        <a:graphic>
          <a:graphicData uri="http://schemas.openxmlformats.org/drawingml/2006/table">
            <a:tbl>
              <a:tblPr firstRow="1" bandRow="1">
                <a:tableStyleId>{5C22544A-7EE6-4342-B048-85BDC9FD1C3A}</a:tableStyleId>
              </a:tblPr>
              <a:tblGrid>
                <a:gridCol w="548640"/>
                <a:gridCol w="2331720"/>
                <a:gridCol w="3520440"/>
                <a:gridCol w="3520440"/>
                <a:gridCol w="1721815"/>
              </a:tblGrid>
              <a:tr h="871728">
                <a:tc>
                  <a:txBody>
                    <a:bodyPr wrap="square"/>
                    <a:lstStyle/>
                    <a:p>
                      <a:pPr algn="ctr">
                        <a:defRPr sz="750" b="1">
                          <a:solidFill>
                            <a:srgbClr val="FFFFFF"/>
                          </a:solidFill>
                          <a:latin typeface="Meiryo UI"/>
                        </a:defRPr>
                      </a:pPr>
                      <a:r>
                        <a:t>No.</a:t>
                      </a:r>
                    </a:p>
                  </a:txBody>
                  <a:tcPr anchor="ctr" marL="36576" marR="36576" marT="9144" marB="9144">
                    <a:solidFill>
                      <a:srgbClr val="1B365D"/>
                    </a:solidFill>
                  </a:tcPr>
                </a:tc>
                <a:tc>
                  <a:txBody>
                    <a:bodyPr wrap="square"/>
                    <a:lstStyle/>
                    <a:p>
                      <a:pPr algn="ctr">
                        <a:defRPr sz="750" b="1">
                          <a:solidFill>
                            <a:srgbClr val="FFFFFF"/>
                          </a:solidFill>
                          <a:latin typeface="Meiryo UI"/>
                        </a:defRPr>
                      </a:pPr>
                      <a:r>
                        <a:t>部門長への相談事項</a:t>
                      </a:r>
                    </a:p>
                  </a:txBody>
                  <a:tcPr anchor="ctr" marL="36576" marR="36576" marT="9144" marB="9144">
                    <a:solidFill>
                      <a:srgbClr val="1B365D"/>
                    </a:solidFill>
                  </a:tcPr>
                </a:tc>
                <a:tc>
                  <a:txBody>
                    <a:bodyPr wrap="square"/>
                    <a:lstStyle/>
                    <a:p>
                      <a:pPr algn="ctr">
                        <a:defRPr sz="750" b="1">
                          <a:solidFill>
                            <a:srgbClr val="FFFFFF"/>
                          </a:solidFill>
                          <a:latin typeface="Meiryo UI"/>
                        </a:defRPr>
                      </a:pPr>
                      <a:r>
                        <a:t>現状および実務上の課題</a:t>
                      </a:r>
                    </a:p>
                  </a:txBody>
                  <a:tcPr anchor="ctr" marL="36576" marR="36576" marT="9144" marB="9144">
                    <a:solidFill>
                      <a:srgbClr val="1B365D"/>
                    </a:solidFill>
                  </a:tcPr>
                </a:tc>
                <a:tc>
                  <a:txBody>
                    <a:bodyPr wrap="square"/>
                    <a:lstStyle/>
                    <a:p>
                      <a:pPr algn="ctr">
                        <a:defRPr sz="750" b="1">
                          <a:solidFill>
                            <a:srgbClr val="FFFFFF"/>
                          </a:solidFill>
                          <a:latin typeface="Meiryo UI"/>
                        </a:defRPr>
                      </a:pPr>
                      <a:r>
                        <a:t>製造技術部（KDTVN-PE-3）の提案方針</a:t>
                      </a:r>
                    </a:p>
                  </a:txBody>
                  <a:tcPr anchor="ctr" marL="36576" marR="36576" marT="9144" marB="9144">
                    <a:solidFill>
                      <a:srgbClr val="1B365D"/>
                    </a:solidFill>
                  </a:tcPr>
                </a:tc>
                <a:tc>
                  <a:txBody>
                    <a:bodyPr wrap="square"/>
                    <a:lstStyle/>
                    <a:p>
                      <a:pPr algn="ctr">
                        <a:defRPr sz="750" b="1">
                          <a:solidFill>
                            <a:srgbClr val="FFFFFF"/>
                          </a:solidFill>
                          <a:latin typeface="Meiryo UI"/>
                        </a:defRPr>
                      </a:pPr>
                      <a:r>
                        <a:t>仰ぎたいご指示・期限</a:t>
                      </a:r>
                    </a:p>
                  </a:txBody>
                  <a:tcPr anchor="ctr" marL="36576" marR="36576" marT="9144" marB="9144">
                    <a:solidFill>
                      <a:srgbClr val="1B365D"/>
                    </a:solidFill>
                  </a:tcPr>
                </a:tc>
              </a:tr>
              <a:tr h="871728">
                <a:tc>
                  <a:txBody>
                    <a:bodyPr wrap="square"/>
                    <a:lstStyle/>
                    <a:p>
                      <a:pPr algn="ctr">
                        <a:defRPr sz="680" b="1">
                          <a:solidFill>
                            <a:srgbClr val="1E242B"/>
                          </a:solidFill>
                          <a:latin typeface="Meiryo UI"/>
                        </a:defRPr>
                      </a:pPr>
                      <a:r>
                        <a:t>相談</a:t>
                      </a:r>
                      <a:br/>
                      <a:r>
                        <a:t>01</a:t>
                      </a:r>
                    </a:p>
                  </a:txBody>
                  <a:tcPr anchor="ctr" marL="36576" marR="36576" marT="9144" marB="9144">
                    <a:solidFill>
                      <a:srgbClr val="E8EEF5"/>
                    </a:solidFill>
                  </a:tcPr>
                </a:tc>
                <a:tc>
                  <a:txBody>
                    <a:bodyPr wrap="square"/>
                    <a:lstStyle/>
                    <a:p>
                      <a:pPr algn="l">
                        <a:defRPr sz="680">
                          <a:solidFill>
                            <a:srgbClr val="1E242B"/>
                          </a:solidFill>
                          <a:latin typeface="Meiryo UI"/>
                        </a:defRPr>
                      </a:pPr>
                      <a:r>
                        <a:t>「VN提案.xlsx」3案件一括投資（855.69百万VND）か、ロボットをDP／Host PCへ代替する案かの選定</a:t>
                      </a:r>
                    </a:p>
                  </a:txBody>
                  <a:tcPr anchor="ctr" marL="36576" marR="36576" marT="9144" marB="9144">
                    <a:solidFill>
                      <a:srgbClr val="E8EEF5"/>
                    </a:solidFill>
                  </a:tcPr>
                </a:tc>
                <a:tc>
                  <a:txBody>
                    <a:bodyPr wrap="square"/>
                    <a:lstStyle/>
                    <a:p>
                      <a:pPr algn="l">
                        <a:defRPr sz="680" b="1">
                          <a:solidFill>
                            <a:srgbClr val="1E242B"/>
                          </a:solidFill>
                          <a:latin typeface="Meiryo UI"/>
                        </a:defRPr>
                      </a:pPr>
                      <a:r>
                        <a:t>「Iris EXPのVN提案.xlsx」にて生技が確認済みの3案件：No.22（導通・耐圧：101.69M／$3,911.15）、No.23（ISUロボット：650M／$25,000）、No.24（USB/U201ロボット：104M／$4,000）、計855.69百万VND（32,911.15 USD）。他10件は「見積中」。</a:t>
                      </a:r>
                    </a:p>
                  </a:txBody>
                  <a:tcPr anchor="ctr" marL="36576" marR="36576" marT="9144" marB="9144">
                    <a:solidFill>
                      <a:srgbClr val="E8EEF5"/>
                    </a:solidFill>
                  </a:tcPr>
                </a:tc>
                <a:tc>
                  <a:txBody>
                    <a:bodyPr wrap="square"/>
                    <a:lstStyle/>
                    <a:p>
                      <a:pPr algn="l">
                        <a:defRPr sz="680" b="1">
                          <a:solidFill>
                            <a:srgbClr val="1E242B"/>
                          </a:solidFill>
                          <a:latin typeface="Meiryo UI"/>
                        </a:defRPr>
                      </a:pPr>
                      <a:r>
                        <a:t>• A案（DR4／連携会推奨）：No.22（101.69百万VND）を即時承認・製作し、No.23・No.24はDP連続スキャン（No.25）およびHost PCログ照合へ切替。併せてNo.27（HIKROBOTカメラ：-177〜-215s）、No.25（-110s）、No.28（-50s）の見積を最優先で完了。</a:t>
                      </a:r>
                      <a:br/>
                      <a:r>
                        <a:t>• B案：VN提案.xlsxの3案件すべて（855.69百万VND／32,911.15 USD［纏め：33,000 USD］）を承認。</a:t>
                      </a:r>
                    </a:p>
                  </a:txBody>
                  <a:tcPr anchor="ctr" marL="36576" marR="36576" marT="9144" marB="9144">
                    <a:solidFill>
                      <a:srgbClr val="E8EEF5"/>
                    </a:solidFill>
                  </a:tcPr>
                </a:tc>
                <a:tc>
                  <a:txBody>
                    <a:bodyPr wrap="square"/>
                    <a:lstStyle/>
                    <a:p>
                      <a:pPr algn="l">
                        <a:defRPr sz="680">
                          <a:solidFill>
                            <a:srgbClr val="1E242B"/>
                          </a:solidFill>
                          <a:latin typeface="Meiryo UI"/>
                        </a:defRPr>
                      </a:pPr>
                      <a:r>
                        <a:t>A案／B案の選定および第2次投資予算枠について、11月15日までにご指示を仰ぎたい。</a:t>
                      </a:r>
                    </a:p>
                  </a:txBody>
                  <a:tcPr anchor="ctr" marL="36576" marR="36576" marT="9144" marB="9144">
                    <a:solidFill>
                      <a:srgbClr val="E8EEF5"/>
                    </a:solidFill>
                  </a:tcPr>
                </a:tc>
              </a:tr>
              <a:tr h="871728">
                <a:tc>
                  <a:txBody>
                    <a:bodyPr wrap="square"/>
                    <a:lstStyle/>
                    <a:p>
                      <a:pPr algn="ctr">
                        <a:defRPr sz="680" b="1">
                          <a:solidFill>
                            <a:srgbClr val="1E242B"/>
                          </a:solidFill>
                          <a:latin typeface="Meiryo UI"/>
                        </a:defRPr>
                      </a:pPr>
                      <a:r>
                        <a:t>相談</a:t>
                      </a:r>
                      <a:br/>
                      <a:r>
                        <a:t>02</a:t>
                      </a:r>
                    </a:p>
                  </a:txBody>
                  <a:tcPr anchor="ctr" marL="36576" marR="36576" marT="9144" marB="9144">
                    <a:solidFill>
                      <a:srgbClr val="F7F9FC"/>
                    </a:solidFill>
                  </a:tcPr>
                </a:tc>
                <a:tc>
                  <a:txBody>
                    <a:bodyPr wrap="square"/>
                    <a:lstStyle/>
                    <a:p>
                      <a:pPr algn="l">
                        <a:defRPr sz="680">
                          <a:solidFill>
                            <a:srgbClr val="1E242B"/>
                          </a:solidFill>
                          <a:latin typeface="Meiryo UI"/>
                        </a:defRPr>
                      </a:pPr>
                      <a:r>
                        <a:t>A-3工程における外装カバー6点取付作業（No.33：48.32〜90秒/台）の扱い</a:t>
                      </a:r>
                    </a:p>
                  </a:txBody>
                  <a:tcPr anchor="ctr" marL="36576" marR="36576" marT="9144" marB="9144">
                    <a:solidFill>
                      <a:srgbClr val="F7F9FC"/>
                    </a:solidFill>
                  </a:tcPr>
                </a:tc>
                <a:tc>
                  <a:txBody>
                    <a:bodyPr wrap="square"/>
                    <a:lstStyle/>
                    <a:p>
                      <a:pPr algn="l">
                        <a:defRPr sz="680">
                          <a:solidFill>
                            <a:srgbClr val="1E242B"/>
                          </a:solidFill>
                          <a:latin typeface="Meiryo UI"/>
                        </a:defRPr>
                      </a:pPr>
                      <a:r>
                        <a:t>K3（A-3）にて調整作業者が外装カバー6点（TRAY INNER, COVER DP, REAR LOW/UP, FILTER, PLATE OPTION）をビス止めしており（48.32〜90秒/台）、No.22耐圧検査前の自動フローを分断している。</a:t>
                      </a:r>
                    </a:p>
                  </a:txBody>
                  <a:tcPr anchor="ctr" marL="36576" marR="36576" marT="9144" marB="9144">
                    <a:solidFill>
                      <a:srgbClr val="F7F9FC"/>
                    </a:solidFill>
                  </a:tcPr>
                </a:tc>
                <a:tc>
                  <a:txBody>
                    <a:bodyPr wrap="square"/>
                    <a:lstStyle/>
                    <a:p>
                      <a:pPr algn="l">
                        <a:defRPr sz="680">
                          <a:solidFill>
                            <a:srgbClr val="1E242B"/>
                          </a:solidFill>
                          <a:latin typeface="Meiryo UI"/>
                        </a:defRPr>
                      </a:pPr>
                      <a:r>
                        <a:t>• A案（優先・設備費0円）：外装カバー6点の取付工程を調整ライン投入前の「本体組立工程」の最終ステップへ移管。</a:t>
                      </a:r>
                      <a:br/>
                      <a:r>
                        <a:t>• B案：A-3工程に自動取付・ビス締め機構を導入（設備費が発生）。</a:t>
                      </a:r>
                    </a:p>
                  </a:txBody>
                  <a:tcPr anchor="ctr" marL="36576" marR="36576" marT="9144" marB="9144">
                    <a:solidFill>
                      <a:srgbClr val="F7F9FC"/>
                    </a:solidFill>
                  </a:tcPr>
                </a:tc>
                <a:tc>
                  <a:txBody>
                    <a:bodyPr wrap="square"/>
                    <a:lstStyle/>
                    <a:p>
                      <a:pPr algn="l">
                        <a:defRPr sz="680">
                          <a:solidFill>
                            <a:srgbClr val="1E242B"/>
                          </a:solidFill>
                          <a:latin typeface="Meiryo UI"/>
                        </a:defRPr>
                      </a:pPr>
                      <a:r>
                        <a:t>組立部門（Assy）およびJP生技との調整に向け、11月の工程DRにてA案で確定させる方針のご承認。</a:t>
                      </a:r>
                    </a:p>
                  </a:txBody>
                  <a:tcPr anchor="ctr" marL="36576" marR="36576" marT="9144" marB="9144">
                    <a:solidFill>
                      <a:srgbClr val="F7F9FC"/>
                    </a:solidFill>
                  </a:tcPr>
                </a:tc>
              </a:tr>
              <a:tr h="871728">
                <a:tc>
                  <a:txBody>
                    <a:bodyPr wrap="square"/>
                    <a:lstStyle/>
                    <a:p>
                      <a:pPr algn="ctr">
                        <a:defRPr sz="680" b="1">
                          <a:solidFill>
                            <a:srgbClr val="1E242B"/>
                          </a:solidFill>
                          <a:latin typeface="Meiryo UI"/>
                        </a:defRPr>
                      </a:pPr>
                      <a:r>
                        <a:t>相談</a:t>
                      </a:r>
                      <a:br/>
                      <a:r>
                        <a:t>03</a:t>
                      </a:r>
                    </a:p>
                  </a:txBody>
                  <a:tcPr anchor="ctr" marL="36576" marR="36576" marT="9144" marB="9144">
                    <a:solidFill>
                      <a:srgbClr val="FEF7E6"/>
                    </a:solidFill>
                  </a:tcPr>
                </a:tc>
                <a:tc>
                  <a:txBody>
                    <a:bodyPr wrap="square"/>
                    <a:lstStyle/>
                    <a:p>
                      <a:pPr algn="l">
                        <a:defRPr sz="680" b="1">
                          <a:solidFill>
                            <a:srgbClr val="1E242B"/>
                          </a:solidFill>
                          <a:latin typeface="Meiryo UI"/>
                        </a:defRPr>
                      </a:pPr>
                      <a:r>
                        <a:t>JP設計・JP生技との「工程DR」早期開催およびVNからの回路／FW改善要望6件への回答促進</a:t>
                      </a:r>
                    </a:p>
                  </a:txBody>
                  <a:tcPr anchor="ctr" marL="36576" marR="36576" marT="9144" marB="9144">
                    <a:solidFill>
                      <a:srgbClr val="FEF7E6"/>
                    </a:solidFill>
                  </a:tcPr>
                </a:tc>
                <a:tc>
                  <a:txBody>
                    <a:bodyPr wrap="square"/>
                    <a:lstStyle/>
                    <a:p>
                      <a:pPr algn="l">
                        <a:defRPr sz="680" b="1">
                          <a:solidFill>
                            <a:srgbClr val="1E242B"/>
                          </a:solidFill>
                          <a:latin typeface="Meiryo UI"/>
                        </a:defRPr>
                      </a:pPr>
                      <a:r>
                        <a:t>9月・10月のPDCA報告（BM-003-F）はJP生技の工程DR未完了により「×」評価（目標47秒に対し実績4.32秒）。またVNからのFW／回路改善要望6件（No.19, 29, 30, 32, 34, 36）がJP回答待ち。</a:t>
                      </a:r>
                    </a:p>
                  </a:txBody>
                  <a:tcPr anchor="ctr" marL="36576" marR="36576" marT="9144" marB="9144">
                    <a:solidFill>
                      <a:srgbClr val="FEF7E6"/>
                    </a:solidFill>
                  </a:tcPr>
                </a:tc>
                <a:tc>
                  <a:txBody>
                    <a:bodyPr wrap="square"/>
                    <a:lstStyle/>
                    <a:p>
                      <a:pPr algn="l">
                        <a:defRPr sz="680" b="1">
                          <a:solidFill>
                            <a:srgbClr val="1E242B"/>
                          </a:solidFill>
                          <a:latin typeface="Meiryo UI"/>
                        </a:defRPr>
                      </a:pPr>
                      <a:r>
                        <a:t>KDTVNとJP設計／JP生技のマネジメント会議にて本件を提起し、12月PMT1試作に間に合わせるため2026年11月中に工程DRを完了させる。</a:t>
                      </a:r>
                    </a:p>
                  </a:txBody>
                  <a:tcPr anchor="ctr" marL="36576" marR="36576" marT="9144" marB="9144">
                    <a:solidFill>
                      <a:srgbClr val="FEF7E6"/>
                    </a:solidFill>
                  </a:tcPr>
                </a:tc>
                <a:tc>
                  <a:txBody>
                    <a:bodyPr wrap="square"/>
                    <a:lstStyle/>
                    <a:p>
                      <a:pPr algn="l">
                        <a:defRPr sz="680" b="1">
                          <a:solidFill>
                            <a:srgbClr val="1E242B"/>
                          </a:solidFill>
                          <a:latin typeface="Meiryo UI"/>
                        </a:defRPr>
                      </a:pPr>
                      <a:r>
                        <a:t>11月第1週にJP生技／設計マネジメント層への働きかけをご支援いただきたい。</a:t>
                      </a:r>
                    </a:p>
                  </a:txBody>
                  <a:tcPr anchor="ctr" marL="36576" marR="36576" marT="9144" marB="9144">
                    <a:solidFill>
                      <a:srgbClr val="FEF7E6"/>
                    </a:solidFill>
                  </a:tcPr>
                </a:tc>
              </a:tr>
              <a:tr h="871728">
                <a:tc>
                  <a:txBody>
                    <a:bodyPr wrap="square"/>
                    <a:lstStyle/>
                    <a:p>
                      <a:pPr algn="ctr">
                        <a:defRPr sz="680" b="1">
                          <a:solidFill>
                            <a:srgbClr val="1E242B"/>
                          </a:solidFill>
                          <a:latin typeface="Meiryo UI"/>
                        </a:defRPr>
                      </a:pPr>
                      <a:r>
                        <a:t>相談</a:t>
                      </a:r>
                      <a:br/>
                      <a:r>
                        <a:t>04</a:t>
                      </a:r>
                    </a:p>
                  </a:txBody>
                  <a:tcPr anchor="ctr" marL="36576" marR="36576" marT="9144" marB="9144">
                    <a:solidFill>
                      <a:srgbClr val="F7F9FC"/>
                    </a:solidFill>
                  </a:tcPr>
                </a:tc>
                <a:tc>
                  <a:txBody>
                    <a:bodyPr wrap="square"/>
                    <a:lstStyle/>
                    <a:p>
                      <a:pPr algn="l">
                        <a:defRPr sz="680" b="1">
                          <a:solidFill>
                            <a:srgbClr val="B8292F"/>
                          </a:solidFill>
                          <a:latin typeface="Meiryo UI"/>
                        </a:defRPr>
                      </a:pPr>
                      <a:r>
                        <a:t>VN工場における転写ベルト寄り測定廃止（No.37）の品質承認条件</a:t>
                      </a:r>
                    </a:p>
                  </a:txBody>
                  <a:tcPr anchor="ctr" marL="36576" marR="36576" marT="9144" marB="9144">
                    <a:solidFill>
                      <a:srgbClr val="F7F9FC"/>
                    </a:solidFill>
                  </a:tcPr>
                </a:tc>
                <a:tc>
                  <a:txBody>
                    <a:bodyPr wrap="square"/>
                    <a:lstStyle/>
                    <a:p>
                      <a:pPr algn="l">
                        <a:defRPr sz="680" b="1">
                          <a:solidFill>
                            <a:srgbClr val="B8292F"/>
                          </a:solidFill>
                          <a:latin typeface="Meiryo UI"/>
                        </a:defRPr>
                      </a:pPr>
                      <a:r>
                        <a:t>JPからは転写ベルト寄り測定の廃止（工程表 -15.36秒）が提案されているが、VN工場では月1〜2台のNGが発生しているため、35°プーリー＋新型弾性ベルトの実績確認なしではVN QAが廃止に同意できない。</a:t>
                      </a:r>
                    </a:p>
                  </a:txBody>
                  <a:tcPr anchor="ctr" marL="36576" marR="36576" marT="9144" marB="9144">
                    <a:solidFill>
                      <a:srgbClr val="F7F9FC"/>
                    </a:solidFill>
                  </a:tcPr>
                </a:tc>
                <a:tc>
                  <a:txBody>
                    <a:bodyPr wrap="square"/>
                    <a:lstStyle/>
                    <a:p>
                      <a:pPr algn="l">
                        <a:defRPr sz="680" b="1">
                          <a:solidFill>
                            <a:srgbClr val="B8292F"/>
                          </a:solidFill>
                          <a:latin typeface="Meiryo UI"/>
                        </a:defRPr>
                      </a:pPr>
                      <a:r>
                        <a:t>PMT1（2026年12月）段階では転写ベルト検査を継続し、35°プーリー＋弾性ベルト採用ロットでCpk≧1.33かつ2ヶ月連続NGゼロを確認した後にVNでの検査を廃止する。</a:t>
                      </a:r>
                    </a:p>
                  </a:txBody>
                  <a:tcPr anchor="ctr" marL="36576" marR="36576" marT="9144" marB="9144">
                    <a:solidFill>
                      <a:srgbClr val="F7F9FC"/>
                    </a:solidFill>
                  </a:tcPr>
                </a:tc>
                <a:tc>
                  <a:txBody>
                    <a:bodyPr wrap="square"/>
                    <a:lstStyle/>
                    <a:p>
                      <a:pPr algn="l">
                        <a:defRPr sz="680" b="1">
                          <a:solidFill>
                            <a:srgbClr val="B8292F"/>
                          </a:solidFill>
                          <a:latin typeface="Meiryo UI"/>
                        </a:defRPr>
                      </a:pPr>
                      <a:r>
                        <a:t>VN QAおよびJP生技と合意するため、上記段階的廃止方針のご承認。</a:t>
                      </a:r>
                    </a:p>
                  </a:txBody>
                  <a:tcPr anchor="ctr" marL="36576" marR="36576" marT="9144" marB="9144">
                    <a:solidFill>
                      <a:srgbClr val="F7F9FC"/>
                    </a:solidFill>
                  </a:tcPr>
                </a:tc>
              </a:tr>
              <a:tr h="871728">
                <a:tc>
                  <a:txBody>
                    <a:bodyPr wrap="square"/>
                    <a:lstStyle/>
                    <a:p>
                      <a:pPr algn="ctr">
                        <a:defRPr sz="680" b="1">
                          <a:solidFill>
                            <a:srgbClr val="1E242B"/>
                          </a:solidFill>
                          <a:latin typeface="Meiryo UI"/>
                        </a:defRPr>
                      </a:pPr>
                      <a:r>
                        <a:t>相談</a:t>
                      </a:r>
                      <a:br/>
                      <a:r>
                        <a:t>05</a:t>
                      </a:r>
                    </a:p>
                  </a:txBody>
                  <a:tcPr anchor="ctr" marL="36576" marR="36576" marT="9144" marB="9144">
                    <a:solidFill>
                      <a:srgbClr val="EAF7EE"/>
                    </a:solidFill>
                  </a:tcPr>
                </a:tc>
                <a:tc>
                  <a:txBody>
                    <a:bodyPr wrap="square"/>
                    <a:lstStyle/>
                    <a:p>
                      <a:pPr algn="l">
                        <a:defRPr sz="680">
                          <a:solidFill>
                            <a:srgbClr val="1E242B"/>
                          </a:solidFill>
                          <a:latin typeface="Meiryo UI"/>
                        </a:defRPr>
                      </a:pPr>
                      <a:r>
                        <a:t>Spica構成（Mini PC）に準拠したVN工場の自動制御ハード・ネットワークインフラ準備</a:t>
                      </a:r>
                    </a:p>
                  </a:txBody>
                  <a:tcPr anchor="ctr" marL="36576" marR="36576" marT="9144" marB="9144">
                    <a:solidFill>
                      <a:srgbClr val="EAF7EE"/>
                    </a:solidFill>
                  </a:tcPr>
                </a:tc>
                <a:tc>
                  <a:txBody>
                    <a:bodyPr wrap="square"/>
                    <a:lstStyle/>
                    <a:p>
                      <a:pPr algn="l">
                        <a:defRPr sz="680">
                          <a:solidFill>
                            <a:srgbClr val="1E242B"/>
                          </a:solidFill>
                          <a:latin typeface="Meiryo UI"/>
                        </a:defRPr>
                      </a:pPr>
                      <a:r>
                        <a:t>第15回連携会（10/2）にて、Athenaのバッテリー駆動RasPiに代わり、Spica式Mini PC（約40,000円/セットで4台制御、AC給電）の採用が【仮決定】した（No.20, 25, 28の基盤）。</a:t>
                      </a:r>
                    </a:p>
                  </a:txBody>
                  <a:tcPr anchor="ctr" marL="36576" marR="36576" marT="9144" marB="9144">
                    <a:solidFill>
                      <a:srgbClr val="EAF7EE"/>
                    </a:solidFill>
                  </a:tcPr>
                </a:tc>
                <a:tc>
                  <a:txBody>
                    <a:bodyPr wrap="square"/>
                    <a:lstStyle/>
                    <a:p>
                      <a:pPr algn="l">
                        <a:defRPr sz="680">
                          <a:solidFill>
                            <a:srgbClr val="1E242B"/>
                          </a:solidFill>
                          <a:latin typeface="Meiryo UI"/>
                        </a:defRPr>
                      </a:pPr>
                      <a:r>
                        <a:t>JP共通ソフトをそのまま適用できるよう、KDTVN-PE-3にてSpica構成（MFP 4台につきMini PC 1台）に準拠した社内LAN/VLAN配線およびMini PC設置レイアウトを準備する。</a:t>
                      </a:r>
                    </a:p>
                  </a:txBody>
                  <a:tcPr anchor="ctr" marL="36576" marR="36576" marT="9144" marB="9144">
                    <a:solidFill>
                      <a:srgbClr val="EAF7EE"/>
                    </a:solidFill>
                  </a:tcPr>
                </a:tc>
                <a:tc>
                  <a:txBody>
                    <a:bodyPr wrap="square"/>
                    <a:lstStyle/>
                    <a:p>
                      <a:pPr algn="l">
                        <a:defRPr sz="680">
                          <a:solidFill>
                            <a:srgbClr val="1E242B"/>
                          </a:solidFill>
                          <a:latin typeface="Meiryo UI"/>
                        </a:defRPr>
                      </a:pPr>
                      <a:r>
                        <a:t>Spica式ハードウェア同期方針のご承認（ネットワーク化見積へ反映）。</a:t>
                      </a:r>
                    </a:p>
                  </a:txBody>
                  <a:tcPr anchor="ctr" marL="36576" marR="36576" marT="9144" marB="9144">
                    <a:solidFill>
                      <a:srgbClr val="EAF7EE"/>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28600" y="91440"/>
            <a:ext cx="1965960" cy="384048"/>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950" b="1">
                <a:solidFill>
                  <a:srgbClr val="FFFFFF"/>
                </a:solidFill>
                <a:latin typeface="Meiryo UI"/>
              </a:defRPr>
            </a:pPr>
            <a:r>
              <a:t>第10.2章：投資予算の承認申請</a:t>
            </a:r>
          </a:p>
        </p:txBody>
      </p:sp>
      <p:sp>
        <p:nvSpPr>
          <p:cNvPr id="4" name="TextBox 3"/>
          <p:cNvSpPr txBox="1"/>
          <p:nvPr/>
        </p:nvSpPr>
        <p:spPr>
          <a:xfrm>
            <a:off x="2286000" y="54864"/>
            <a:ext cx="9052560" cy="457200"/>
          </a:xfrm>
          <a:prstGeom prst="rect">
            <a:avLst/>
          </a:prstGeom>
          <a:noFill/>
        </p:spPr>
        <p:txBody>
          <a:bodyPr wrap="square" lIns="18288" rIns="18288">
            <a:spAutoFit/>
          </a:bodyPr>
          <a:lstStyle/>
          <a:p>
            <a:pPr>
              <a:defRPr sz="1450" b="1">
                <a:solidFill>
                  <a:srgbClr val="FFFFFF"/>
                </a:solidFill>
                <a:latin typeface="Meiryo UI"/>
              </a:defRPr>
            </a:pPr>
            <a:r>
              <a:t>部門長への上申（目的 2/2）：「Iris EXPのVN提案.xlsx」に基づく設備投資予算の承認申請</a:t>
            </a:r>
          </a:p>
        </p:txBody>
      </p:sp>
      <p:sp>
        <p:nvSpPr>
          <p:cNvPr id="5" name="TextBox 4"/>
          <p:cNvSpPr txBox="1"/>
          <p:nvPr/>
        </p:nvSpPr>
        <p:spPr>
          <a:xfrm>
            <a:off x="11292840" y="109728"/>
            <a:ext cx="731520" cy="347472"/>
          </a:xfrm>
          <a:prstGeom prst="rect">
            <a:avLst/>
          </a:prstGeom>
          <a:noFill/>
        </p:spPr>
        <p:txBody>
          <a:bodyPr wrap="none">
            <a:spAutoFit/>
          </a:bodyPr>
          <a:lstStyle/>
          <a:p>
            <a:pPr algn="r">
              <a:defRPr sz="1000" b="1">
                <a:solidFill>
                  <a:srgbClr val="D0D8E8"/>
                </a:solidFill>
                <a:latin typeface="Meiryo UI"/>
              </a:defRPr>
            </a:pPr>
            <a:r>
              <a:t>15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09728" rIns="109728" tIns="36576" bIns="36576"/>
          <a:lstStyle/>
          <a:p>
            <a:pPr algn="ctr">
              <a:defRPr sz="980" b="1">
                <a:solidFill>
                  <a:srgbClr val="1B365D"/>
                </a:solidFill>
                <a:latin typeface="Meiryo UI"/>
              </a:defRPr>
            </a:pPr>
            <a:r>
              <a:t>■ 「Iris EXPのVN提案.xlsx」における見積済3案件の合計は855,690,000 VND（32,911.15 USD／纏めシート：33,000 USD・858百万VND）。DR4方針に基づきロボットをDP／Host PCへ代替する場合は、No.22の101,690,000 VND（3,911.15 USD）を先行承認申請。</a:t>
            </a:r>
          </a:p>
        </p:txBody>
      </p:sp>
      <p:sp>
        <p:nvSpPr>
          <p:cNvPr id="7" name="TextBox 6"/>
          <p:cNvSpPr txBox="1"/>
          <p:nvPr/>
        </p:nvSpPr>
        <p:spPr>
          <a:xfrm>
            <a:off x="274320" y="1197864"/>
            <a:ext cx="6629400" cy="201168"/>
          </a:xfrm>
          <a:prstGeom prst="rect">
            <a:avLst/>
          </a:prstGeom>
          <a:noFill/>
        </p:spPr>
        <p:txBody>
          <a:bodyPr wrap="square" lIns="18288" rIns="18288" tIns="9144" bIns="9144">
            <a:spAutoFit/>
          </a:bodyPr>
          <a:lstStyle/>
          <a:p>
            <a:pPr>
              <a:defRPr sz="760" b="1">
                <a:solidFill>
                  <a:srgbClr val="1E6E3E"/>
                </a:solidFill>
                <a:latin typeface="Meiryo UI"/>
              </a:defRPr>
            </a:pPr>
            <a:r>
              <a:t>■ 1. 「IRIS EXPのVN提案.xlsx」に基づく承認申請予算一覧（換算レート：26,000 VND/USD）</a:t>
            </a:r>
          </a:p>
        </p:txBody>
      </p:sp>
      <p:graphicFrame>
        <p:nvGraphicFramePr>
          <p:cNvPr id="8" name="Table 7"/>
          <p:cNvGraphicFramePr>
            <a:graphicFrameLocks noGrp="1"/>
          </p:cNvGraphicFramePr>
          <p:nvPr/>
        </p:nvGraphicFramePr>
        <p:xfrm>
          <a:off x="274320" y="1389888"/>
          <a:ext cx="6629400" cy="2606040"/>
        </p:xfrm>
        <a:graphic>
          <a:graphicData uri="http://schemas.openxmlformats.org/drawingml/2006/table">
            <a:tbl>
              <a:tblPr firstRow="1" bandRow="1">
                <a:tableStyleId>{5C22544A-7EE6-4342-B048-85BDC9FD1C3A}</a:tableStyleId>
              </a:tblPr>
              <a:tblGrid>
                <a:gridCol w="502920"/>
                <a:gridCol w="2697480"/>
                <a:gridCol w="1188720"/>
                <a:gridCol w="1097280"/>
                <a:gridCol w="1143000"/>
              </a:tblGrid>
              <a:tr h="236912">
                <a:tc>
                  <a:txBody>
                    <a:bodyPr wrap="square"/>
                    <a:lstStyle/>
                    <a:p>
                      <a:pPr algn="ctr">
                        <a:defRPr sz="610" b="1">
                          <a:solidFill>
                            <a:srgbClr val="FFFFFF"/>
                          </a:solidFill>
                          <a:latin typeface="Meiryo UI"/>
                        </a:defRPr>
                      </a:pPr>
                      <a:r>
                        <a:t>区分</a:t>
                      </a:r>
                    </a:p>
                  </a:txBody>
                  <a:tcPr anchor="ctr" marL="36576" marR="36576" marT="9144" marB="9144">
                    <a:solidFill>
                      <a:srgbClr val="1B365D"/>
                    </a:solidFill>
                  </a:tcPr>
                </a:tc>
                <a:tc>
                  <a:txBody>
                    <a:bodyPr wrap="square"/>
                    <a:lstStyle/>
                    <a:p>
                      <a:pPr algn="ctr">
                        <a:defRPr sz="610" b="1">
                          <a:solidFill>
                            <a:srgbClr val="FFFFFF"/>
                          </a:solidFill>
                          <a:latin typeface="Meiryo UI"/>
                        </a:defRPr>
                      </a:pPr>
                      <a:r>
                        <a:t>設備・部品項目 (Iris EXPのVN提案.xlsx)</a:t>
                      </a:r>
                    </a:p>
                  </a:txBody>
                  <a:tcPr anchor="ctr" marL="36576" marR="36576" marT="9144" marB="9144">
                    <a:solidFill>
                      <a:srgbClr val="1B365D"/>
                    </a:solidFill>
                  </a:tcPr>
                </a:tc>
                <a:tc>
                  <a:txBody>
                    <a:bodyPr wrap="square"/>
                    <a:lstStyle/>
                    <a:p>
                      <a:pPr algn="ctr">
                        <a:defRPr sz="610" b="1">
                          <a:solidFill>
                            <a:srgbClr val="FFFFFF"/>
                          </a:solidFill>
                          <a:latin typeface="Meiryo UI"/>
                        </a:defRPr>
                      </a:pPr>
                      <a:r>
                        <a:t>金額 (VND)</a:t>
                      </a:r>
                      <a:br/>
                      <a:r>
                        <a:t>(レート 26,000)</a:t>
                      </a:r>
                    </a:p>
                  </a:txBody>
                  <a:tcPr anchor="ctr" marL="36576" marR="36576" marT="9144" marB="9144">
                    <a:solidFill>
                      <a:srgbClr val="1B365D"/>
                    </a:solidFill>
                  </a:tcPr>
                </a:tc>
                <a:tc>
                  <a:txBody>
                    <a:bodyPr wrap="square"/>
                    <a:lstStyle/>
                    <a:p>
                      <a:pPr algn="ctr">
                        <a:defRPr sz="610" b="1">
                          <a:solidFill>
                            <a:srgbClr val="FFFFFF"/>
                          </a:solidFill>
                          <a:latin typeface="Meiryo UI"/>
                        </a:defRPr>
                      </a:pPr>
                      <a:r>
                        <a:t>USD換算額</a:t>
                      </a:r>
                    </a:p>
                  </a:txBody>
                  <a:tcPr anchor="ctr" marL="36576" marR="36576" marT="9144" marB="9144">
                    <a:solidFill>
                      <a:srgbClr val="1B365D"/>
                    </a:solidFill>
                  </a:tcPr>
                </a:tc>
                <a:tc>
                  <a:txBody>
                    <a:bodyPr wrap="square"/>
                    <a:lstStyle/>
                    <a:p>
                      <a:pPr algn="ctr">
                        <a:defRPr sz="610" b="1">
                          <a:solidFill>
                            <a:srgbClr val="FFFFFF"/>
                          </a:solidFill>
                          <a:latin typeface="Meiryo UI"/>
                        </a:defRPr>
                      </a:pPr>
                      <a:r>
                        <a:t>削減時間・</a:t>
                      </a:r>
                      <a:br/>
                      <a:r>
                        <a:t>年間削減効果</a:t>
                      </a:r>
                    </a:p>
                  </a:txBody>
                  <a:tcPr anchor="ctr" marL="36576" marR="36576" marT="9144" marB="9144">
                    <a:solidFill>
                      <a:srgbClr val="1B365D"/>
                    </a:solidFill>
                  </a:tcPr>
                </a:tc>
              </a:tr>
              <a:tr h="236912">
                <a:tc>
                  <a:txBody>
                    <a:bodyPr wrap="square"/>
                    <a:lstStyle/>
                    <a:p>
                      <a:pPr algn="ctr">
                        <a:defRPr sz="520" b="1">
                          <a:solidFill>
                            <a:srgbClr val="1E242B"/>
                          </a:solidFill>
                          <a:latin typeface="Meiryo UI"/>
                        </a:defRPr>
                      </a:pPr>
                      <a:r>
                        <a:t>No.22</a:t>
                      </a:r>
                      <a:br/>
                      <a:r>
                        <a:t>分類1</a:t>
                      </a:r>
                    </a:p>
                  </a:txBody>
                  <a:tcPr anchor="ctr" marL="36576" marR="36576" marT="9144" marB="9144">
                    <a:solidFill>
                      <a:srgbClr val="FFFFFF"/>
                    </a:solidFill>
                  </a:tcPr>
                </a:tc>
                <a:tc>
                  <a:txBody>
                    <a:bodyPr wrap="square"/>
                    <a:lstStyle/>
                    <a:p>
                      <a:pPr algn="l">
                        <a:defRPr sz="520">
                          <a:solidFill>
                            <a:srgbClr val="1E242B"/>
                          </a:solidFill>
                          <a:latin typeface="Meiryo UI"/>
                        </a:defRPr>
                      </a:pPr>
                      <a:r>
                        <a:t>SMC空圧機器（項目18〜19）：電磁弁SY5120-5LZD-01×5個（5M）＋シリンダMGCLB16-50（4M）、CXSL15-50（5.1M）、CXSL15-70（5.6M）、CXSL15-100×3本（18M）</a:t>
                      </a:r>
                    </a:p>
                  </a:txBody>
                  <a:tcPr anchor="ctr" marL="36576" marR="36576" marT="9144" marB="9144">
                    <a:solidFill>
                      <a:srgbClr val="FFFFFF"/>
                    </a:solidFill>
                  </a:tcPr>
                </a:tc>
                <a:tc>
                  <a:txBody>
                    <a:bodyPr wrap="square"/>
                    <a:lstStyle/>
                    <a:p>
                      <a:pPr algn="r">
                        <a:defRPr sz="520">
                          <a:solidFill>
                            <a:srgbClr val="1E242B"/>
                          </a:solidFill>
                          <a:latin typeface="Meiryo UI"/>
                        </a:defRPr>
                      </a:pPr>
                      <a:r>
                        <a:t>37,700,000 VND</a:t>
                      </a:r>
                    </a:p>
                  </a:txBody>
                  <a:tcPr anchor="ctr" marL="36576" marR="36576" marT="9144" marB="9144">
                    <a:solidFill>
                      <a:srgbClr val="FFFFFF"/>
                    </a:solidFill>
                  </a:tcPr>
                </a:tc>
                <a:tc>
                  <a:txBody>
                    <a:bodyPr wrap="square"/>
                    <a:lstStyle/>
                    <a:p>
                      <a:pPr algn="r">
                        <a:defRPr sz="520">
                          <a:solidFill>
                            <a:srgbClr val="1E242B"/>
                          </a:solidFill>
                          <a:latin typeface="Meiryo UI"/>
                        </a:defRPr>
                      </a:pPr>
                      <a:r>
                        <a:t>1,450.00 USD</a:t>
                      </a:r>
                    </a:p>
                  </a:txBody>
                  <a:tcPr anchor="ctr" marL="36576" marR="36576" marT="9144" marB="9144">
                    <a:solidFill>
                      <a:srgbClr val="FFFFFF"/>
                    </a:solidFill>
                  </a:tcPr>
                </a:tc>
                <a:tc>
                  <a:txBody>
                    <a:bodyPr wrap="square"/>
                    <a:lstStyle/>
                    <a:p>
                      <a:pPr algn="l">
                        <a:defRPr sz="520">
                          <a:solidFill>
                            <a:srgbClr val="1E242B"/>
                          </a:solidFill>
                          <a:latin typeface="Meiryo UI"/>
                        </a:defRPr>
                      </a:pPr>
                      <a:r>
                        <a:t>No.22 BOMの37.1%</a:t>
                      </a:r>
                    </a:p>
                  </a:txBody>
                  <a:tcPr anchor="ctr" marL="36576" marR="36576" marT="9144" marB="9144">
                    <a:solidFill>
                      <a:srgbClr val="FFFFFF"/>
                    </a:solidFill>
                  </a:tcPr>
                </a:tc>
              </a:tr>
              <a:tr h="236912">
                <a:tc>
                  <a:txBody>
                    <a:bodyPr wrap="square"/>
                    <a:lstStyle/>
                    <a:p>
                      <a:pPr algn="ctr">
                        <a:defRPr sz="520" b="1">
                          <a:solidFill>
                            <a:srgbClr val="1E242B"/>
                          </a:solidFill>
                          <a:latin typeface="Meiryo UI"/>
                        </a:defRPr>
                      </a:pPr>
                      <a:r>
                        <a:t>No.22</a:t>
                      </a:r>
                      <a:br/>
                      <a:r>
                        <a:t>分類2</a:t>
                      </a:r>
                    </a:p>
                  </a:txBody>
                  <a:tcPr anchor="ctr" marL="36576" marR="36576" marT="9144" marB="9144">
                    <a:solidFill>
                      <a:srgbClr val="F7F9FC"/>
                    </a:solidFill>
                  </a:tcPr>
                </a:tc>
                <a:tc>
                  <a:txBody>
                    <a:bodyPr wrap="square"/>
                    <a:lstStyle/>
                    <a:p>
                      <a:pPr algn="l">
                        <a:defRPr sz="520">
                          <a:solidFill>
                            <a:srgbClr val="1E242B"/>
                          </a:solidFill>
                          <a:latin typeface="Meiryo UI"/>
                        </a:defRPr>
                      </a:pPr>
                      <a:r>
                        <a:t>機械加工費および付帯電材費（項目25：治具機械加工部品および雑電材一式）</a:t>
                      </a:r>
                    </a:p>
                  </a:txBody>
                  <a:tcPr anchor="ctr" marL="36576" marR="36576" marT="9144" marB="9144">
                    <a:solidFill>
                      <a:srgbClr val="F7F9FC"/>
                    </a:solidFill>
                  </a:tcPr>
                </a:tc>
                <a:tc>
                  <a:txBody>
                    <a:bodyPr wrap="square"/>
                    <a:lstStyle/>
                    <a:p>
                      <a:pPr algn="r">
                        <a:defRPr sz="520">
                          <a:solidFill>
                            <a:srgbClr val="1E242B"/>
                          </a:solidFill>
                          <a:latin typeface="Meiryo UI"/>
                        </a:defRPr>
                      </a:pPr>
                      <a:r>
                        <a:t>20,000,000 VND</a:t>
                      </a:r>
                    </a:p>
                  </a:txBody>
                  <a:tcPr anchor="ctr" marL="36576" marR="36576" marT="9144" marB="9144">
                    <a:solidFill>
                      <a:srgbClr val="F7F9FC"/>
                    </a:solidFill>
                  </a:tcPr>
                </a:tc>
                <a:tc>
                  <a:txBody>
                    <a:bodyPr wrap="square"/>
                    <a:lstStyle/>
                    <a:p>
                      <a:pPr algn="r">
                        <a:defRPr sz="520">
                          <a:solidFill>
                            <a:srgbClr val="1E242B"/>
                          </a:solidFill>
                          <a:latin typeface="Meiryo UI"/>
                        </a:defRPr>
                      </a:pPr>
                      <a:r>
                        <a:t>769.23 USD</a:t>
                      </a:r>
                    </a:p>
                  </a:txBody>
                  <a:tcPr anchor="ctr" marL="36576" marR="36576" marT="9144" marB="9144">
                    <a:solidFill>
                      <a:srgbClr val="F7F9FC"/>
                    </a:solidFill>
                  </a:tcPr>
                </a:tc>
                <a:tc>
                  <a:txBody>
                    <a:bodyPr wrap="square"/>
                    <a:lstStyle/>
                    <a:p>
                      <a:pPr algn="l">
                        <a:defRPr sz="520">
                          <a:solidFill>
                            <a:srgbClr val="1E242B"/>
                          </a:solidFill>
                          <a:latin typeface="Meiryo UI"/>
                        </a:defRPr>
                      </a:pPr>
                      <a:r>
                        <a:t>No.22 BOMの19.7%</a:t>
                      </a:r>
                    </a:p>
                  </a:txBody>
                  <a:tcPr anchor="ctr" marL="36576" marR="36576" marT="9144" marB="9144">
                    <a:solidFill>
                      <a:srgbClr val="F7F9FC"/>
                    </a:solidFill>
                  </a:tcPr>
                </a:tc>
              </a:tr>
              <a:tr h="236912">
                <a:tc>
                  <a:txBody>
                    <a:bodyPr wrap="square"/>
                    <a:lstStyle/>
                    <a:p>
                      <a:pPr algn="ctr">
                        <a:defRPr sz="520" b="1">
                          <a:solidFill>
                            <a:srgbClr val="1E242B"/>
                          </a:solidFill>
                          <a:latin typeface="Meiryo UI"/>
                        </a:defRPr>
                      </a:pPr>
                      <a:r>
                        <a:t>No.22</a:t>
                      </a:r>
                      <a:br/>
                      <a:r>
                        <a:t>分類3</a:t>
                      </a:r>
                    </a:p>
                  </a:txBody>
                  <a:tcPr anchor="ctr" marL="36576" marR="36576" marT="9144" marB="9144">
                    <a:solidFill>
                      <a:srgbClr val="FFFFFF"/>
                    </a:solidFill>
                  </a:tcPr>
                </a:tc>
                <a:tc>
                  <a:txBody>
                    <a:bodyPr wrap="square"/>
                    <a:lstStyle/>
                    <a:p>
                      <a:pPr algn="l">
                        <a:defRPr sz="520">
                          <a:solidFill>
                            <a:srgbClr val="1E242B"/>
                          </a:solidFill>
                          <a:latin typeface="Meiryo UI"/>
                        </a:defRPr>
                      </a:pPr>
                      <a:r>
                        <a:t>制御機器・センサ（項目1, 3, 20, 21）：三菱PLC FX5U-64MT/ES（9.5M）＋FX5-16EYR/ES（2M）＋Wecon HMI PI3070ig（5M）＋光電センサE3Z-LS61×2（3M）</a:t>
                      </a:r>
                    </a:p>
                  </a:txBody>
                  <a:tcPr anchor="ctr" marL="36576" marR="36576" marT="9144" marB="9144">
                    <a:solidFill>
                      <a:srgbClr val="FFFFFF"/>
                    </a:solidFill>
                  </a:tcPr>
                </a:tc>
                <a:tc>
                  <a:txBody>
                    <a:bodyPr wrap="square"/>
                    <a:lstStyle/>
                    <a:p>
                      <a:pPr algn="r">
                        <a:defRPr sz="520">
                          <a:solidFill>
                            <a:srgbClr val="1E242B"/>
                          </a:solidFill>
                          <a:latin typeface="Meiryo UI"/>
                        </a:defRPr>
                      </a:pPr>
                      <a:r>
                        <a:t>19,500,000 VND</a:t>
                      </a:r>
                    </a:p>
                  </a:txBody>
                  <a:tcPr anchor="ctr" marL="36576" marR="36576" marT="9144" marB="9144">
                    <a:solidFill>
                      <a:srgbClr val="FFFFFF"/>
                    </a:solidFill>
                  </a:tcPr>
                </a:tc>
                <a:tc>
                  <a:txBody>
                    <a:bodyPr wrap="square"/>
                    <a:lstStyle/>
                    <a:p>
                      <a:pPr algn="r">
                        <a:defRPr sz="520">
                          <a:solidFill>
                            <a:srgbClr val="1E242B"/>
                          </a:solidFill>
                          <a:latin typeface="Meiryo UI"/>
                        </a:defRPr>
                      </a:pPr>
                      <a:r>
                        <a:t>750.00 USD</a:t>
                      </a:r>
                    </a:p>
                  </a:txBody>
                  <a:tcPr anchor="ctr" marL="36576" marR="36576" marT="9144" marB="9144">
                    <a:solidFill>
                      <a:srgbClr val="FFFFFF"/>
                    </a:solidFill>
                  </a:tcPr>
                </a:tc>
                <a:tc>
                  <a:txBody>
                    <a:bodyPr wrap="square"/>
                    <a:lstStyle/>
                    <a:p>
                      <a:pPr algn="l">
                        <a:defRPr sz="520">
                          <a:solidFill>
                            <a:srgbClr val="1E242B"/>
                          </a:solidFill>
                          <a:latin typeface="Meiryo UI"/>
                        </a:defRPr>
                      </a:pPr>
                      <a:r>
                        <a:t>No.22 BOMの19.2%</a:t>
                      </a:r>
                    </a:p>
                  </a:txBody>
                  <a:tcPr anchor="ctr" marL="36576" marR="36576" marT="9144" marB="9144">
                    <a:solidFill>
                      <a:srgbClr val="FFFFFF"/>
                    </a:solidFill>
                  </a:tcPr>
                </a:tc>
              </a:tr>
              <a:tr h="236912">
                <a:tc>
                  <a:txBody>
                    <a:bodyPr wrap="square"/>
                    <a:lstStyle/>
                    <a:p>
                      <a:pPr algn="ctr">
                        <a:defRPr sz="520" b="1">
                          <a:solidFill>
                            <a:srgbClr val="1E242B"/>
                          </a:solidFill>
                          <a:latin typeface="Meiryo UI"/>
                        </a:defRPr>
                      </a:pPr>
                      <a:r>
                        <a:t>No.22</a:t>
                      </a:r>
                      <a:br/>
                      <a:r>
                        <a:t>分類4</a:t>
                      </a:r>
                    </a:p>
                  </a:txBody>
                  <a:tcPr anchor="ctr" marL="36576" marR="36576" marT="9144" marB="9144">
                    <a:solidFill>
                      <a:srgbClr val="F7F9FC"/>
                    </a:solidFill>
                  </a:tcPr>
                </a:tc>
                <a:tc>
                  <a:txBody>
                    <a:bodyPr wrap="square"/>
                    <a:lstStyle/>
                    <a:p>
                      <a:pPr algn="l">
                        <a:defRPr sz="520">
                          <a:solidFill>
                            <a:srgbClr val="1E242B"/>
                          </a:solidFill>
                          <a:latin typeface="Meiryo UI"/>
                        </a:defRPr>
                      </a:pPr>
                      <a:r>
                        <a:t>Misumiアルミフレーム（項目22〜24）：フレームLCF8-4040-2000×15本（7.5M）＋ブラケットHBLTS8-45×50個（3M）＋ナットHNTP8-8×100個（2M）</a:t>
                      </a:r>
                    </a:p>
                  </a:txBody>
                  <a:tcPr anchor="ctr" marL="36576" marR="36576" marT="9144" marB="9144">
                    <a:solidFill>
                      <a:srgbClr val="F7F9FC"/>
                    </a:solidFill>
                  </a:tcPr>
                </a:tc>
                <a:tc>
                  <a:txBody>
                    <a:bodyPr wrap="square"/>
                    <a:lstStyle/>
                    <a:p>
                      <a:pPr algn="r">
                        <a:defRPr sz="520">
                          <a:solidFill>
                            <a:srgbClr val="1E242B"/>
                          </a:solidFill>
                          <a:latin typeface="Meiryo UI"/>
                        </a:defRPr>
                      </a:pPr>
                      <a:r>
                        <a:t>12,500,000 VND</a:t>
                      </a:r>
                    </a:p>
                  </a:txBody>
                  <a:tcPr anchor="ctr" marL="36576" marR="36576" marT="9144" marB="9144">
                    <a:solidFill>
                      <a:srgbClr val="F7F9FC"/>
                    </a:solidFill>
                  </a:tcPr>
                </a:tc>
                <a:tc>
                  <a:txBody>
                    <a:bodyPr wrap="square"/>
                    <a:lstStyle/>
                    <a:p>
                      <a:pPr algn="r">
                        <a:defRPr sz="520">
                          <a:solidFill>
                            <a:srgbClr val="1E242B"/>
                          </a:solidFill>
                          <a:latin typeface="Meiryo UI"/>
                        </a:defRPr>
                      </a:pPr>
                      <a:r>
                        <a:t>480.77 USD</a:t>
                      </a:r>
                    </a:p>
                  </a:txBody>
                  <a:tcPr anchor="ctr" marL="36576" marR="36576" marT="9144" marB="9144">
                    <a:solidFill>
                      <a:srgbClr val="F7F9FC"/>
                    </a:solidFill>
                  </a:tcPr>
                </a:tc>
                <a:tc>
                  <a:txBody>
                    <a:bodyPr wrap="square"/>
                    <a:lstStyle/>
                    <a:p>
                      <a:pPr algn="l">
                        <a:defRPr sz="520">
                          <a:solidFill>
                            <a:srgbClr val="1E242B"/>
                          </a:solidFill>
                          <a:latin typeface="Meiryo UI"/>
                        </a:defRPr>
                      </a:pPr>
                      <a:r>
                        <a:t>No.22 BOMの12.3%</a:t>
                      </a:r>
                    </a:p>
                  </a:txBody>
                  <a:tcPr anchor="ctr" marL="36576" marR="36576" marT="9144" marB="9144">
                    <a:solidFill>
                      <a:srgbClr val="F7F9FC"/>
                    </a:solidFill>
                  </a:tcPr>
                </a:tc>
              </a:tr>
              <a:tr h="236912">
                <a:tc>
                  <a:txBody>
                    <a:bodyPr wrap="square"/>
                    <a:lstStyle/>
                    <a:p>
                      <a:pPr algn="ctr">
                        <a:defRPr sz="520" b="1">
                          <a:solidFill>
                            <a:srgbClr val="1E242B"/>
                          </a:solidFill>
                          <a:latin typeface="Meiryo UI"/>
                        </a:defRPr>
                      </a:pPr>
                      <a:r>
                        <a:t>No.22</a:t>
                      </a:r>
                      <a:br/>
                      <a:r>
                        <a:t>分類5</a:t>
                      </a:r>
                    </a:p>
                  </a:txBody>
                  <a:tcPr anchor="ctr" marL="36576" marR="36576" marT="9144" marB="9144">
                    <a:solidFill>
                      <a:srgbClr val="FFFFFF"/>
                    </a:solidFill>
                  </a:tcPr>
                </a:tc>
                <a:tc>
                  <a:txBody>
                    <a:bodyPr wrap="square"/>
                    <a:lstStyle/>
                    <a:p>
                      <a:pPr algn="l">
                        <a:defRPr sz="520">
                          <a:solidFill>
                            <a:srgbClr val="1E242B"/>
                          </a:solidFill>
                          <a:latin typeface="Meiryo UI"/>
                        </a:defRPr>
                      </a:pPr>
                      <a:r>
                        <a:t>制御盤内電装品（項目2, 4〜16）：CP30-BA（0.65M）、電磁接触器S-T32×3（1.5M）、Omron電源S8VK（0.7M）、端子台・スイッチ・ブザー・表示灯・ダクト・レール（4.14M）</a:t>
                      </a:r>
                    </a:p>
                  </a:txBody>
                  <a:tcPr anchor="ctr" marL="36576" marR="36576" marT="9144" marB="9144">
                    <a:solidFill>
                      <a:srgbClr val="FFFFFF"/>
                    </a:solidFill>
                  </a:tcPr>
                </a:tc>
                <a:tc>
                  <a:txBody>
                    <a:bodyPr wrap="square"/>
                    <a:lstStyle/>
                    <a:p>
                      <a:pPr algn="r">
                        <a:defRPr sz="520">
                          <a:solidFill>
                            <a:srgbClr val="1E242B"/>
                          </a:solidFill>
                          <a:latin typeface="Meiryo UI"/>
                        </a:defRPr>
                      </a:pPr>
                      <a:r>
                        <a:t>6,990,000 VND</a:t>
                      </a:r>
                    </a:p>
                  </a:txBody>
                  <a:tcPr anchor="ctr" marL="36576" marR="36576" marT="9144" marB="9144">
                    <a:solidFill>
                      <a:srgbClr val="FFFFFF"/>
                    </a:solidFill>
                  </a:tcPr>
                </a:tc>
                <a:tc>
                  <a:txBody>
                    <a:bodyPr wrap="square"/>
                    <a:lstStyle/>
                    <a:p>
                      <a:pPr algn="r">
                        <a:defRPr sz="520">
                          <a:solidFill>
                            <a:srgbClr val="1E242B"/>
                          </a:solidFill>
                          <a:latin typeface="Meiryo UI"/>
                        </a:defRPr>
                      </a:pPr>
                      <a:r>
                        <a:t>268.85 USD</a:t>
                      </a:r>
                    </a:p>
                  </a:txBody>
                  <a:tcPr anchor="ctr" marL="36576" marR="36576" marT="9144" marB="9144">
                    <a:solidFill>
                      <a:srgbClr val="FFFFFF"/>
                    </a:solidFill>
                  </a:tcPr>
                </a:tc>
                <a:tc>
                  <a:txBody>
                    <a:bodyPr wrap="square"/>
                    <a:lstStyle/>
                    <a:p>
                      <a:pPr algn="l">
                        <a:defRPr sz="520">
                          <a:solidFill>
                            <a:srgbClr val="1E242B"/>
                          </a:solidFill>
                          <a:latin typeface="Meiryo UI"/>
                        </a:defRPr>
                      </a:pPr>
                      <a:r>
                        <a:t>No.22 BOMの6.9%</a:t>
                      </a:r>
                    </a:p>
                  </a:txBody>
                  <a:tcPr anchor="ctr" marL="36576" marR="36576" marT="9144" marB="9144">
                    <a:solidFill>
                      <a:srgbClr val="FFFFFF"/>
                    </a:solidFill>
                  </a:tcPr>
                </a:tc>
              </a:tr>
              <a:tr h="236912">
                <a:tc>
                  <a:txBody>
                    <a:bodyPr wrap="square"/>
                    <a:lstStyle/>
                    <a:p>
                      <a:pPr algn="ctr">
                        <a:defRPr sz="520" b="1">
                          <a:solidFill>
                            <a:srgbClr val="1E242B"/>
                          </a:solidFill>
                          <a:latin typeface="Meiryo UI"/>
                        </a:defRPr>
                      </a:pPr>
                      <a:r>
                        <a:t>No.22</a:t>
                      </a:r>
                      <a:br/>
                      <a:r>
                        <a:t>分類6</a:t>
                      </a:r>
                    </a:p>
                  </a:txBody>
                  <a:tcPr anchor="ctr" marL="36576" marR="36576" marT="9144" marB="9144">
                    <a:solidFill>
                      <a:srgbClr val="F7F9FC"/>
                    </a:solidFill>
                  </a:tcPr>
                </a:tc>
                <a:tc>
                  <a:txBody>
                    <a:bodyPr wrap="square"/>
                    <a:lstStyle/>
                    <a:p>
                      <a:pPr algn="l">
                        <a:defRPr sz="520">
                          <a:solidFill>
                            <a:srgbClr val="1E242B"/>
                          </a:solidFill>
                          <a:latin typeface="Meiryo UI"/>
                        </a:defRPr>
                      </a:pPr>
                      <a:r>
                        <a:t>制御盤筐体（項目17：電装ボックス 1式 × 5,000,000 VND ※備考欄「見積確認中」）</a:t>
                      </a:r>
                    </a:p>
                  </a:txBody>
                  <a:tcPr anchor="ctr" marL="36576" marR="36576" marT="9144" marB="9144">
                    <a:solidFill>
                      <a:srgbClr val="F7F9FC"/>
                    </a:solidFill>
                  </a:tcPr>
                </a:tc>
                <a:tc>
                  <a:txBody>
                    <a:bodyPr wrap="square"/>
                    <a:lstStyle/>
                    <a:p>
                      <a:pPr algn="r">
                        <a:defRPr sz="520">
                          <a:solidFill>
                            <a:srgbClr val="1E242B"/>
                          </a:solidFill>
                          <a:latin typeface="Meiryo UI"/>
                        </a:defRPr>
                      </a:pPr>
                      <a:r>
                        <a:t>5,000,000 VND</a:t>
                      </a:r>
                    </a:p>
                  </a:txBody>
                  <a:tcPr anchor="ctr" marL="36576" marR="36576" marT="9144" marB="9144">
                    <a:solidFill>
                      <a:srgbClr val="F7F9FC"/>
                    </a:solidFill>
                  </a:tcPr>
                </a:tc>
                <a:tc>
                  <a:txBody>
                    <a:bodyPr wrap="square"/>
                    <a:lstStyle/>
                    <a:p>
                      <a:pPr algn="r">
                        <a:defRPr sz="520">
                          <a:solidFill>
                            <a:srgbClr val="1E242B"/>
                          </a:solidFill>
                          <a:latin typeface="Meiryo UI"/>
                        </a:defRPr>
                      </a:pPr>
                      <a:r>
                        <a:t>192.31 USD</a:t>
                      </a:r>
                    </a:p>
                  </a:txBody>
                  <a:tcPr anchor="ctr" marL="36576" marR="36576" marT="9144" marB="9144">
                    <a:solidFill>
                      <a:srgbClr val="F7F9FC"/>
                    </a:solidFill>
                  </a:tcPr>
                </a:tc>
                <a:tc>
                  <a:txBody>
                    <a:bodyPr wrap="square"/>
                    <a:lstStyle/>
                    <a:p>
                      <a:pPr algn="l">
                        <a:defRPr sz="520">
                          <a:solidFill>
                            <a:srgbClr val="1E242B"/>
                          </a:solidFill>
                          <a:latin typeface="Meiryo UI"/>
                        </a:defRPr>
                      </a:pPr>
                      <a:r>
                        <a:t>No.22 BOMの4.9%</a:t>
                      </a:r>
                    </a:p>
                  </a:txBody>
                  <a:tcPr anchor="ctr" marL="36576" marR="36576" marT="9144" marB="9144">
                    <a:solidFill>
                      <a:srgbClr val="F7F9FC"/>
                    </a:solidFill>
                  </a:tcPr>
                </a:tc>
              </a:tr>
              <a:tr h="236912">
                <a:tc>
                  <a:txBody>
                    <a:bodyPr wrap="square"/>
                    <a:lstStyle/>
                    <a:p>
                      <a:pPr algn="ctr">
                        <a:defRPr sz="520" b="1">
                          <a:solidFill>
                            <a:srgbClr val="1E242B"/>
                          </a:solidFill>
                          <a:latin typeface="Meiryo UI"/>
                        </a:defRPr>
                      </a:pPr>
                      <a:r>
                        <a:t>No.22</a:t>
                      </a:r>
                      <a:br/>
                      <a:r>
                        <a:t>合計</a:t>
                      </a:r>
                    </a:p>
                  </a:txBody>
                  <a:tcPr anchor="ctr" marL="36576" marR="36576" marT="9144" marB="9144">
                    <a:solidFill>
                      <a:srgbClr val="EAF7EE"/>
                    </a:solidFill>
                  </a:tcPr>
                </a:tc>
                <a:tc>
                  <a:txBody>
                    <a:bodyPr wrap="square"/>
                    <a:lstStyle/>
                    <a:p>
                      <a:pPr algn="l">
                        <a:defRPr sz="520" b="1">
                          <a:solidFill>
                            <a:srgbClr val="1E242B"/>
                          </a:solidFill>
                          <a:latin typeface="Meiryo UI"/>
                        </a:defRPr>
                      </a:pPr>
                      <a:r>
                        <a:t>提案1 合計（No.22 - 自動導通・接地・耐圧検査設備）【A案：先行承認申請】</a:t>
                      </a:r>
                      <a:br/>
                      <a:r>
                        <a:t>（自動導通・耐圧検査シート：101,700,000 VND／3,911.54 USD｜纏めシート：4,000 USD）</a:t>
                      </a:r>
                    </a:p>
                  </a:txBody>
                  <a:tcPr anchor="ctr" marL="36576" marR="36576" marT="9144" marB="9144">
                    <a:solidFill>
                      <a:srgbClr val="EAF7EE"/>
                    </a:solidFill>
                  </a:tcPr>
                </a:tc>
                <a:tc>
                  <a:txBody>
                    <a:bodyPr wrap="square"/>
                    <a:lstStyle/>
                    <a:p>
                      <a:pPr algn="r">
                        <a:defRPr sz="520">
                          <a:solidFill>
                            <a:srgbClr val="1E242B"/>
                          </a:solidFill>
                          <a:latin typeface="Meiryo UI"/>
                        </a:defRPr>
                      </a:pPr>
                      <a:r>
                        <a:t>101,690,000 VND</a:t>
                      </a:r>
                    </a:p>
                  </a:txBody>
                  <a:tcPr anchor="ctr" marL="36576" marR="36576" marT="9144" marB="9144">
                    <a:solidFill>
                      <a:srgbClr val="EAF7EE"/>
                    </a:solidFill>
                  </a:tcPr>
                </a:tc>
                <a:tc>
                  <a:txBody>
                    <a:bodyPr wrap="square"/>
                    <a:lstStyle/>
                    <a:p>
                      <a:pPr algn="r">
                        <a:defRPr sz="520">
                          <a:solidFill>
                            <a:srgbClr val="1E242B"/>
                          </a:solidFill>
                          <a:latin typeface="Meiryo UI"/>
                        </a:defRPr>
                      </a:pPr>
                      <a:r>
                        <a:t>3,911.15 USD</a:t>
                      </a:r>
                      <a:br/>
                      <a:r>
                        <a:t>(纏め: 4,000$)</a:t>
                      </a:r>
                    </a:p>
                  </a:txBody>
                  <a:tcPr anchor="ctr" marL="36576" marR="36576" marT="9144" marB="9144">
                    <a:solidFill>
                      <a:srgbClr val="EAF7EE"/>
                    </a:solidFill>
                  </a:tcPr>
                </a:tc>
                <a:tc>
                  <a:txBody>
                    <a:bodyPr wrap="square"/>
                    <a:lstStyle/>
                    <a:p>
                      <a:pPr algn="l">
                        <a:defRPr sz="520">
                          <a:solidFill>
                            <a:srgbClr val="1E242B"/>
                          </a:solidFill>
                          <a:latin typeface="Meiryo UI"/>
                        </a:defRPr>
                      </a:pPr>
                      <a:r>
                        <a:t>-30秒/台</a:t>
                      </a:r>
                      <a:br/>
                      <a:r>
                        <a:t>29.60M/年 ($1,138)</a:t>
                      </a:r>
                    </a:p>
                  </a:txBody>
                  <a:tcPr anchor="ctr" marL="36576" marR="36576" marT="9144" marB="9144">
                    <a:solidFill>
                      <a:srgbClr val="EAF7EE"/>
                    </a:solidFill>
                  </a:tcPr>
                </a:tc>
              </a:tr>
              <a:tr h="236912">
                <a:tc>
                  <a:txBody>
                    <a:bodyPr wrap="square"/>
                    <a:lstStyle/>
                    <a:p>
                      <a:pPr algn="ctr">
                        <a:defRPr sz="520" b="1">
                          <a:solidFill>
                            <a:srgbClr val="1E242B"/>
                          </a:solidFill>
                          <a:latin typeface="Meiryo UI"/>
                        </a:defRPr>
                      </a:pPr>
                      <a:r>
                        <a:t>No.23</a:t>
                      </a:r>
                      <a:br/>
                      <a:r>
                        <a:t>(提案2)</a:t>
                      </a:r>
                    </a:p>
                  </a:txBody>
                  <a:tcPr anchor="ctr" marL="36576" marR="36576" marT="9144" marB="9144">
                    <a:solidFill>
                      <a:srgbClr val="E8EEF5"/>
                    </a:solidFill>
                  </a:tcPr>
                </a:tc>
                <a:tc>
                  <a:txBody>
                    <a:bodyPr wrap="square"/>
                    <a:lstStyle/>
                    <a:p>
                      <a:pPr algn="l">
                        <a:defRPr sz="520">
                          <a:solidFill>
                            <a:srgbClr val="1E242B"/>
                          </a:solidFill>
                          <a:latin typeface="Meiryo UI"/>
                        </a:defRPr>
                      </a:pPr>
                      <a:r>
                        <a:t>提案2（No.23 - ISU原稿セットロボット：U411＋SITC-2＋Halftone）：</a:t>
                      </a:r>
                      <a:br/>
                      <a:r>
                        <a:t>コンベア2セル追加（200M/$7,692）＋給電部（50M/$1,923）＋ケーブル位置決め（50M/$1,923）＋ロボット（350M/$13,462）</a:t>
                      </a:r>
                    </a:p>
                  </a:txBody>
                  <a:tcPr anchor="ctr" marL="36576" marR="36576" marT="9144" marB="9144">
                    <a:solidFill>
                      <a:srgbClr val="E8EEF5"/>
                    </a:solidFill>
                  </a:tcPr>
                </a:tc>
                <a:tc>
                  <a:txBody>
                    <a:bodyPr wrap="square"/>
                    <a:lstStyle/>
                    <a:p>
                      <a:pPr algn="r">
                        <a:defRPr sz="520">
                          <a:solidFill>
                            <a:srgbClr val="1E242B"/>
                          </a:solidFill>
                          <a:latin typeface="Meiryo UI"/>
                        </a:defRPr>
                      </a:pPr>
                      <a:r>
                        <a:t>650,000,000 VND</a:t>
                      </a:r>
                    </a:p>
                  </a:txBody>
                  <a:tcPr anchor="ctr" marL="36576" marR="36576" marT="9144" marB="9144">
                    <a:solidFill>
                      <a:srgbClr val="E8EEF5"/>
                    </a:solidFill>
                  </a:tcPr>
                </a:tc>
                <a:tc>
                  <a:txBody>
                    <a:bodyPr wrap="square"/>
                    <a:lstStyle/>
                    <a:p>
                      <a:pPr algn="r">
                        <a:defRPr sz="520">
                          <a:solidFill>
                            <a:srgbClr val="1E242B"/>
                          </a:solidFill>
                          <a:latin typeface="Meiryo UI"/>
                        </a:defRPr>
                      </a:pPr>
                      <a:r>
                        <a:t>25,000.00 USD</a:t>
                      </a:r>
                    </a:p>
                  </a:txBody>
                  <a:tcPr anchor="ctr" marL="36576" marR="36576" marT="9144" marB="9144">
                    <a:solidFill>
                      <a:srgbClr val="E8EEF5"/>
                    </a:solidFill>
                  </a:tcPr>
                </a:tc>
                <a:tc>
                  <a:txBody>
                    <a:bodyPr wrap="square"/>
                    <a:lstStyle/>
                    <a:p>
                      <a:pPr algn="l">
                        <a:defRPr sz="520">
                          <a:solidFill>
                            <a:srgbClr val="1E242B"/>
                          </a:solidFill>
                          <a:latin typeface="Meiryo UI"/>
                        </a:defRPr>
                      </a:pPr>
                      <a:r>
                        <a:t>-110秒/台</a:t>
                      </a:r>
                      <a:br/>
                      <a:r>
                        <a:t>108.53M/年 ($4,174)</a:t>
                      </a:r>
                    </a:p>
                  </a:txBody>
                  <a:tcPr anchor="ctr" marL="36576" marR="36576" marT="9144" marB="9144">
                    <a:solidFill>
                      <a:srgbClr val="E8EEF5"/>
                    </a:solidFill>
                  </a:tcPr>
                </a:tc>
              </a:tr>
              <a:tr h="236912">
                <a:tc>
                  <a:txBody>
                    <a:bodyPr wrap="square"/>
                    <a:lstStyle/>
                    <a:p>
                      <a:pPr algn="ctr">
                        <a:defRPr sz="520" b="1">
                          <a:solidFill>
                            <a:srgbClr val="1E242B"/>
                          </a:solidFill>
                          <a:latin typeface="Meiryo UI"/>
                        </a:defRPr>
                      </a:pPr>
                      <a:r>
                        <a:t>No.24</a:t>
                      </a:r>
                      <a:br/>
                      <a:r>
                        <a:t>(提案3)</a:t>
                      </a:r>
                    </a:p>
                  </a:txBody>
                  <a:tcPr anchor="ctr" marL="36576" marR="36576" marT="9144" marB="9144">
                    <a:solidFill>
                      <a:srgbClr val="E8EEF5"/>
                    </a:solidFill>
                  </a:tcPr>
                </a:tc>
                <a:tc>
                  <a:txBody>
                    <a:bodyPr wrap="square"/>
                    <a:lstStyle/>
                    <a:p>
                      <a:pPr algn="l">
                        <a:defRPr sz="520">
                          <a:solidFill>
                            <a:srgbClr val="1E242B"/>
                          </a:solidFill>
                          <a:latin typeface="Meiryo UI"/>
                        </a:defRPr>
                      </a:pPr>
                      <a:r>
                        <a:t>提案3（No.24 - USB接続ロボット、パネル表示評価カメラ＆AI座標センサ＋U201タッチロボット）</a:t>
                      </a:r>
                    </a:p>
                  </a:txBody>
                  <a:tcPr anchor="ctr" marL="36576" marR="36576" marT="9144" marB="9144">
                    <a:solidFill>
                      <a:srgbClr val="E8EEF5"/>
                    </a:solidFill>
                  </a:tcPr>
                </a:tc>
                <a:tc>
                  <a:txBody>
                    <a:bodyPr wrap="square"/>
                    <a:lstStyle/>
                    <a:p>
                      <a:pPr algn="r">
                        <a:defRPr sz="520">
                          <a:solidFill>
                            <a:srgbClr val="1E242B"/>
                          </a:solidFill>
                          <a:latin typeface="Meiryo UI"/>
                        </a:defRPr>
                      </a:pPr>
                      <a:r>
                        <a:t>104,000,000 VND</a:t>
                      </a:r>
                    </a:p>
                  </a:txBody>
                  <a:tcPr anchor="ctr" marL="36576" marR="36576" marT="9144" marB="9144">
                    <a:solidFill>
                      <a:srgbClr val="E8EEF5"/>
                    </a:solidFill>
                  </a:tcPr>
                </a:tc>
                <a:tc>
                  <a:txBody>
                    <a:bodyPr wrap="square"/>
                    <a:lstStyle/>
                    <a:p>
                      <a:pPr algn="r">
                        <a:defRPr sz="520">
                          <a:solidFill>
                            <a:srgbClr val="1E242B"/>
                          </a:solidFill>
                          <a:latin typeface="Meiryo UI"/>
                        </a:defRPr>
                      </a:pPr>
                      <a:r>
                        <a:t>4,000.00 USD</a:t>
                      </a:r>
                    </a:p>
                  </a:txBody>
                  <a:tcPr anchor="ctr" marL="36576" marR="36576" marT="9144" marB="9144">
                    <a:solidFill>
                      <a:srgbClr val="E8EEF5"/>
                    </a:solidFill>
                  </a:tcPr>
                </a:tc>
                <a:tc>
                  <a:txBody>
                    <a:bodyPr wrap="square"/>
                    <a:lstStyle/>
                    <a:p>
                      <a:pPr algn="l">
                        <a:defRPr sz="520">
                          <a:solidFill>
                            <a:srgbClr val="1E242B"/>
                          </a:solidFill>
                          <a:latin typeface="Meiryo UI"/>
                        </a:defRPr>
                      </a:pPr>
                      <a:r>
                        <a:t>-30秒/台</a:t>
                      </a:r>
                      <a:br/>
                      <a:r>
                        <a:t>29.60M/年 ($1,138)</a:t>
                      </a:r>
                    </a:p>
                  </a:txBody>
                  <a:tcPr anchor="ctr" marL="36576" marR="36576" marT="9144" marB="9144">
                    <a:solidFill>
                      <a:srgbClr val="E8EEF5"/>
                    </a:solidFill>
                  </a:tcPr>
                </a:tc>
              </a:tr>
              <a:tr h="236920">
                <a:tc>
                  <a:txBody>
                    <a:bodyPr wrap="square"/>
                    <a:lstStyle/>
                    <a:p>
                      <a:pPr algn="ctr">
                        <a:defRPr sz="520" b="1">
                          <a:solidFill>
                            <a:srgbClr val="1E242B"/>
                          </a:solidFill>
                          <a:latin typeface="Meiryo UI"/>
                        </a:defRPr>
                      </a:pPr>
                      <a:r>
                        <a:t>3案件</a:t>
                      </a:r>
                      <a:br/>
                      <a:r>
                        <a:t>総合計</a:t>
                      </a:r>
                    </a:p>
                  </a:txBody>
                  <a:tcPr anchor="ctr" marL="36576" marR="36576" marT="9144" marB="9144">
                    <a:solidFill>
                      <a:srgbClr val="EAF7EE"/>
                    </a:solidFill>
                  </a:tcPr>
                </a:tc>
                <a:tc>
                  <a:txBody>
                    <a:bodyPr wrap="square"/>
                    <a:lstStyle/>
                    <a:p>
                      <a:pPr algn="l">
                        <a:defRPr sz="520" b="1">
                          <a:solidFill>
                            <a:srgbClr val="1E6E3E"/>
                          </a:solidFill>
                          <a:latin typeface="Meiryo UI"/>
                        </a:defRPr>
                      </a:pPr>
                      <a:r>
                        <a:t>「IRIS EXPのVN提案.xlsx」見積済3案件 総合計（No.22＋No.23＋No.24）【B案】</a:t>
                      </a:r>
                      <a:br/>
                      <a:r>
                        <a:t>（説明シート計：855,700,000 VND／32,911.54 USD｜纏めシート計：858,000,000 VND／33,000 USD）</a:t>
                      </a:r>
                    </a:p>
                  </a:txBody>
                  <a:tcPr anchor="ctr" marL="36576" marR="36576" marT="9144" marB="9144">
                    <a:solidFill>
                      <a:srgbClr val="EAF7EE"/>
                    </a:solidFill>
                  </a:tcPr>
                </a:tc>
                <a:tc>
                  <a:txBody>
                    <a:bodyPr wrap="square"/>
                    <a:lstStyle/>
                    <a:p>
                      <a:pPr algn="r">
                        <a:defRPr sz="520">
                          <a:solidFill>
                            <a:srgbClr val="1E242B"/>
                          </a:solidFill>
                          <a:latin typeface="Meiryo UI"/>
                        </a:defRPr>
                      </a:pPr>
                      <a:r>
                        <a:t>855,690,000 VND</a:t>
                      </a:r>
                    </a:p>
                  </a:txBody>
                  <a:tcPr anchor="ctr" marL="36576" marR="36576" marT="9144" marB="9144">
                    <a:solidFill>
                      <a:srgbClr val="EAF7EE"/>
                    </a:solidFill>
                  </a:tcPr>
                </a:tc>
                <a:tc>
                  <a:txBody>
                    <a:bodyPr wrap="square"/>
                    <a:lstStyle/>
                    <a:p>
                      <a:pPr algn="r">
                        <a:defRPr sz="520">
                          <a:solidFill>
                            <a:srgbClr val="1E242B"/>
                          </a:solidFill>
                          <a:latin typeface="Meiryo UI"/>
                        </a:defRPr>
                      </a:pPr>
                      <a:r>
                        <a:t>32,911.15 USD</a:t>
                      </a:r>
                      <a:br/>
                      <a:r>
                        <a:t>(纏め: 33,000$)</a:t>
                      </a:r>
                    </a:p>
                  </a:txBody>
                  <a:tcPr anchor="ctr" marL="36576" marR="36576" marT="9144" marB="9144">
                    <a:solidFill>
                      <a:srgbClr val="EAF7EE"/>
                    </a:solidFill>
                  </a:tcPr>
                </a:tc>
                <a:tc>
                  <a:txBody>
                    <a:bodyPr wrap="square"/>
                    <a:lstStyle/>
                    <a:p>
                      <a:pPr algn="l">
                        <a:defRPr sz="520">
                          <a:solidFill>
                            <a:srgbClr val="1E242B"/>
                          </a:solidFill>
                          <a:latin typeface="Meiryo UI"/>
                        </a:defRPr>
                      </a:pPr>
                      <a:r>
                        <a:t>-170秒/台</a:t>
                      </a:r>
                      <a:br/>
                      <a:r>
                        <a:t>167.73M/年 ($6,451)</a:t>
                      </a:r>
                    </a:p>
                  </a:txBody>
                  <a:tcPr anchor="ctr" marL="36576" marR="36576" marT="9144" marB="9144">
                    <a:solidFill>
                      <a:srgbClr val="EAF7EE"/>
                    </a:solidFill>
                  </a:tcPr>
                </a:tc>
              </a:tr>
            </a:tbl>
          </a:graphicData>
        </a:graphic>
      </p:graphicFrame>
      <p:sp>
        <p:nvSpPr>
          <p:cNvPr id="9" name="TextBox 8"/>
          <p:cNvSpPr txBox="1"/>
          <p:nvPr/>
        </p:nvSpPr>
        <p:spPr>
          <a:xfrm>
            <a:off x="274320" y="4069080"/>
            <a:ext cx="6629400" cy="182880"/>
          </a:xfrm>
          <a:prstGeom prst="rect">
            <a:avLst/>
          </a:prstGeom>
          <a:noFill/>
        </p:spPr>
        <p:txBody>
          <a:bodyPr wrap="square" lIns="18288" rIns="18288" tIns="9144" bIns="9144">
            <a:spAutoFit/>
          </a:bodyPr>
          <a:lstStyle/>
          <a:p>
            <a:pPr>
              <a:defRPr sz="760" b="1">
                <a:solidFill>
                  <a:srgbClr val="B96800"/>
                </a:solidFill>
                <a:latin typeface="Meiryo UI"/>
              </a:defRPr>
            </a:pPr>
            <a:r>
              <a:t>■ 2. 「見積中・検討中」案件の区分管理（承認申請額には合算せず別枠管理）</a:t>
            </a:r>
          </a:p>
        </p:txBody>
      </p:sp>
      <p:graphicFrame>
        <p:nvGraphicFramePr>
          <p:cNvPr id="10" name="Table 9"/>
          <p:cNvGraphicFramePr>
            <a:graphicFrameLocks noGrp="1"/>
          </p:cNvGraphicFramePr>
          <p:nvPr/>
        </p:nvGraphicFramePr>
        <p:xfrm>
          <a:off x="274320" y="4261104"/>
          <a:ext cx="6629400" cy="1993392"/>
        </p:xfrm>
        <a:graphic>
          <a:graphicData uri="http://schemas.openxmlformats.org/drawingml/2006/table">
            <a:tbl>
              <a:tblPr firstRow="1" bandRow="1">
                <a:tableStyleId>{5C22544A-7EE6-4342-B048-85BDC9FD1C3A}</a:tableStyleId>
              </a:tblPr>
              <a:tblGrid>
                <a:gridCol w="1234440"/>
                <a:gridCol w="3108960"/>
                <a:gridCol w="1097280"/>
                <a:gridCol w="1188720"/>
              </a:tblGrid>
              <a:tr h="398678">
                <a:tc>
                  <a:txBody>
                    <a:bodyPr wrap="square"/>
                    <a:lstStyle/>
                    <a:p>
                      <a:pPr algn="ctr">
                        <a:defRPr sz="620" b="1">
                          <a:solidFill>
                            <a:srgbClr val="FFFFFF"/>
                          </a:solidFill>
                          <a:latin typeface="Meiryo UI"/>
                        </a:defRPr>
                      </a:pPr>
                      <a:r>
                        <a:t>ステータス区分</a:t>
                      </a:r>
                    </a:p>
                  </a:txBody>
                  <a:tcPr anchor="ctr" marL="36576" marR="36576" marT="9144" marB="9144">
                    <a:solidFill>
                      <a:srgbClr val="1B365D"/>
                    </a:solidFill>
                  </a:tcPr>
                </a:tc>
                <a:tc>
                  <a:txBody>
                    <a:bodyPr wrap="square"/>
                    <a:lstStyle/>
                    <a:p>
                      <a:pPr algn="ctr">
                        <a:defRPr sz="620" b="1">
                          <a:solidFill>
                            <a:srgbClr val="FFFFFF"/>
                          </a:solidFill>
                          <a:latin typeface="Meiryo UI"/>
                        </a:defRPr>
                      </a:pPr>
                      <a:r>
                        <a:t>対象となる改善提案</a:t>
                      </a:r>
                    </a:p>
                  </a:txBody>
                  <a:tcPr anchor="ctr" marL="36576" marR="36576" marT="9144" marB="9144">
                    <a:solidFill>
                      <a:srgbClr val="1B365D"/>
                    </a:solidFill>
                  </a:tcPr>
                </a:tc>
                <a:tc>
                  <a:txBody>
                    <a:bodyPr wrap="square"/>
                    <a:lstStyle/>
                    <a:p>
                      <a:pPr algn="ctr">
                        <a:defRPr sz="620" b="1">
                          <a:solidFill>
                            <a:srgbClr val="FFFFFF"/>
                          </a:solidFill>
                          <a:latin typeface="Meiryo UI"/>
                        </a:defRPr>
                      </a:pPr>
                      <a:r>
                        <a:t>期待削減効果</a:t>
                      </a:r>
                    </a:p>
                  </a:txBody>
                  <a:tcPr anchor="ctr" marL="36576" marR="36576" marT="9144" marB="9144">
                    <a:solidFill>
                      <a:srgbClr val="1B365D"/>
                    </a:solidFill>
                  </a:tcPr>
                </a:tc>
                <a:tc>
                  <a:txBody>
                    <a:bodyPr wrap="square"/>
                    <a:lstStyle/>
                    <a:p>
                      <a:pPr algn="ctr">
                        <a:defRPr sz="620" b="1">
                          <a:solidFill>
                            <a:srgbClr val="FFFFFF"/>
                          </a:solidFill>
                          <a:latin typeface="Meiryo UI"/>
                        </a:defRPr>
                      </a:pPr>
                      <a:r>
                        <a:t>予算上の扱い</a:t>
                      </a:r>
                    </a:p>
                  </a:txBody>
                  <a:tcPr anchor="ctr" marL="36576" marR="36576" marT="9144" marB="9144">
                    <a:solidFill>
                      <a:srgbClr val="1B365D"/>
                    </a:solidFill>
                  </a:tcPr>
                </a:tc>
              </a:tr>
              <a:tr h="398678">
                <a:tc>
                  <a:txBody>
                    <a:bodyPr wrap="square"/>
                    <a:lstStyle/>
                    <a:p>
                      <a:pPr algn="l">
                        <a:defRPr sz="550" b="1">
                          <a:solidFill>
                            <a:srgbClr val="1E242B"/>
                          </a:solidFill>
                          <a:latin typeface="Meiryo UI"/>
                        </a:defRPr>
                      </a:pPr>
                      <a:r>
                        <a:t>A. 見積中・検討中</a:t>
                      </a:r>
                      <a:br/>
                      <a:r>
                        <a:t>(見積中 / 検討中)</a:t>
                      </a:r>
                      <a:br/>
                      <a:r>
                        <a:t>［設備・DP 10件］</a:t>
                      </a:r>
                    </a:p>
                  </a:txBody>
                  <a:tcPr anchor="ctr" marL="36576" marR="36576" marT="9144" marB="9144">
                    <a:solidFill>
                      <a:srgbClr val="FEF7E6"/>
                    </a:solidFill>
                  </a:tcPr>
                </a:tc>
                <a:tc>
                  <a:txBody>
                    <a:bodyPr wrap="square"/>
                    <a:lstStyle/>
                    <a:p>
                      <a:pPr algn="l">
                        <a:defRPr sz="550" b="1">
                          <a:solidFill>
                            <a:srgbClr val="B8292F"/>
                          </a:solidFill>
                          <a:latin typeface="Meiryo UI"/>
                        </a:defRPr>
                      </a:pPr>
                      <a:r>
                        <a:t>• VN提案.xlsx 項目4（No.25）：実機にDPを追加し連続スキャン＋PC自動判定（検討中／見積中）</a:t>
                      </a:r>
                      <a:br/>
                      <a:r>
                        <a:t>• A-1〜A-4設備：No.18（同時FW書込）、No.19（カバー着脱廃止）、No.20（USBログLAN化）、No.21（マグネット治具）、No.27（HIKROBOTカメラ）、No.28、No.31、No.33、No.35</a:t>
                      </a:r>
                    </a:p>
                  </a:txBody>
                  <a:tcPr anchor="ctr" marL="36576" marR="36576" marT="9144" marB="9144">
                    <a:solidFill>
                      <a:srgbClr val="FEF7E6"/>
                    </a:solidFill>
                  </a:tcPr>
                </a:tc>
                <a:tc>
                  <a:txBody>
                    <a:bodyPr wrap="square"/>
                    <a:lstStyle/>
                    <a:p>
                      <a:pPr algn="ctr">
                        <a:defRPr sz="550">
                          <a:solidFill>
                            <a:srgbClr val="1E242B"/>
                          </a:solidFill>
                          <a:latin typeface="Meiryo UI"/>
                        </a:defRPr>
                      </a:pPr>
                      <a:r>
                        <a:t>ポテンシャル：</a:t>
                      </a:r>
                      <a:br/>
                      <a:r>
                        <a:t>手作業 約500〜</a:t>
                      </a:r>
                      <a:br/>
                      <a:r>
                        <a:t>540秒削減</a:t>
                      </a:r>
                    </a:p>
                  </a:txBody>
                  <a:tcPr anchor="ctr" marL="36576" marR="36576" marT="9144" marB="9144">
                    <a:solidFill>
                      <a:srgbClr val="FEF7E6"/>
                    </a:solidFill>
                  </a:tcPr>
                </a:tc>
                <a:tc>
                  <a:txBody>
                    <a:bodyPr wrap="square"/>
                    <a:lstStyle/>
                    <a:p>
                      <a:pPr algn="l">
                        <a:defRPr sz="550">
                          <a:solidFill>
                            <a:srgbClr val="1E242B"/>
                          </a:solidFill>
                          <a:latin typeface="Meiryo UI"/>
                        </a:defRPr>
                      </a:pPr>
                      <a:r>
                        <a:t>見積中（見積中）</a:t>
                      </a:r>
                      <a:br/>
                      <a:r>
                        <a:t>→ 見積確定後に第2次申請として別途上申</a:t>
                      </a:r>
                    </a:p>
                  </a:txBody>
                  <a:tcPr anchor="ctr" marL="36576" marR="36576" marT="9144" marB="9144">
                    <a:solidFill>
                      <a:srgbClr val="FEF7E6"/>
                    </a:solidFill>
                  </a:tcPr>
                </a:tc>
              </a:tr>
              <a:tr h="398678">
                <a:tc>
                  <a:txBody>
                    <a:bodyPr wrap="square"/>
                    <a:lstStyle/>
                    <a:p>
                      <a:pPr algn="l">
                        <a:defRPr sz="550" b="1">
                          <a:solidFill>
                            <a:srgbClr val="1E242B"/>
                          </a:solidFill>
                          <a:latin typeface="Meiryo UI"/>
                        </a:defRPr>
                      </a:pPr>
                      <a:r>
                        <a:t>B. ソフト・回路・</a:t>
                      </a:r>
                      <a:br/>
                      <a:r>
                        <a:t>工程改善</a:t>
                      </a:r>
                      <a:br/>
                      <a:r>
                        <a:t>［VN 6件＋10月実績］</a:t>
                      </a:r>
                    </a:p>
                  </a:txBody>
                  <a:tcPr anchor="ctr" marL="36576" marR="36576" marT="9144" marB="9144">
                    <a:solidFill>
                      <a:srgbClr val="EAF7EE"/>
                    </a:solidFill>
                  </a:tcPr>
                </a:tc>
                <a:tc>
                  <a:txBody>
                    <a:bodyPr wrap="square"/>
                    <a:lstStyle/>
                    <a:p>
                      <a:pPr algn="l">
                        <a:defRPr sz="550" b="1">
                          <a:solidFill>
                            <a:srgbClr val="B8292F"/>
                          </a:solidFill>
                          <a:latin typeface="Meiryo UI"/>
                        </a:defRPr>
                      </a:pPr>
                      <a:r>
                        <a:t>• 承認済・先行実施：No.30（U155廃止）、No.34（カセット検査廃止）、No.36（右カバー検査廃止）、10月実績（4ステップ削除＝-4.32秒）、パートナーFW事前書込</a:t>
                      </a:r>
                      <a:br/>
                      <a:r>
                        <a:t>• JP設計/QA確認待ち：No.29（トナー）、No.32（OPケーブルレス）、No.37（転写ベルト寄り）</a:t>
                      </a:r>
                    </a:p>
                  </a:txBody>
                  <a:tcPr anchor="ctr" marL="36576" marR="36576" marT="9144" marB="9144">
                    <a:solidFill>
                      <a:srgbClr val="EAF7EE"/>
                    </a:solidFill>
                  </a:tcPr>
                </a:tc>
                <a:tc>
                  <a:txBody>
                    <a:bodyPr wrap="square"/>
                    <a:lstStyle/>
                    <a:p>
                      <a:pPr algn="ctr">
                        <a:defRPr sz="550">
                          <a:solidFill>
                            <a:srgbClr val="1E242B"/>
                          </a:solidFill>
                          <a:latin typeface="Meiryo UI"/>
                        </a:defRPr>
                      </a:pPr>
                      <a:r>
                        <a:t>約125〜180秒削減</a:t>
                      </a:r>
                      <a:br/>
                      <a:r>
                        <a:t>(実績 -4.32秒；</a:t>
                      </a:r>
                      <a:br/>
                      <a:r>
                        <a:t>A-1人員1名削減)</a:t>
                      </a:r>
                    </a:p>
                  </a:txBody>
                  <a:tcPr anchor="ctr" marL="36576" marR="36576" marT="9144" marB="9144">
                    <a:solidFill>
                      <a:srgbClr val="EAF7EE"/>
                    </a:solidFill>
                  </a:tcPr>
                </a:tc>
                <a:tc>
                  <a:txBody>
                    <a:bodyPr wrap="square"/>
                    <a:lstStyle/>
                    <a:p>
                      <a:pPr algn="l">
                        <a:defRPr sz="550">
                          <a:solidFill>
                            <a:srgbClr val="1E242B"/>
                          </a:solidFill>
                          <a:latin typeface="Meiryo UI"/>
                        </a:defRPr>
                      </a:pPr>
                      <a:r>
                        <a:t>VN工場での設備投資</a:t>
                      </a:r>
                      <a:br/>
                      <a:r>
                        <a:t>0 VND</a:t>
                      </a:r>
                    </a:p>
                  </a:txBody>
                  <a:tcPr anchor="ctr" marL="36576" marR="36576" marT="9144" marB="9144">
                    <a:solidFill>
                      <a:srgbClr val="EAF7EE"/>
                    </a:solidFill>
                  </a:tcPr>
                </a:tc>
              </a:tr>
              <a:tr h="398678">
                <a:tc>
                  <a:txBody>
                    <a:bodyPr wrap="square"/>
                    <a:lstStyle/>
                    <a:p>
                      <a:pPr algn="l">
                        <a:defRPr sz="550" b="1">
                          <a:solidFill>
                            <a:srgbClr val="1E242B"/>
                          </a:solidFill>
                          <a:latin typeface="Meiryo UI"/>
                        </a:defRPr>
                      </a:pPr>
                      <a:r>
                        <a:t>C. JP側参考費用</a:t>
                      </a:r>
                      <a:br/>
                      <a:r>
                        <a:t>(適用時)</a:t>
                      </a:r>
                    </a:p>
                  </a:txBody>
                  <a:tcPr anchor="ctr" marL="36576" marR="36576" marT="9144" marB="9144">
                    <a:solidFill>
                      <a:srgbClr val="FFFFFF"/>
                    </a:solidFill>
                  </a:tcPr>
                </a:tc>
                <a:tc>
                  <a:txBody>
                    <a:bodyPr wrap="square"/>
                    <a:lstStyle/>
                    <a:p>
                      <a:pPr algn="l">
                        <a:defRPr sz="550" b="1">
                          <a:solidFill>
                            <a:srgbClr val="B8292F"/>
                          </a:solidFill>
                          <a:latin typeface="Meiryo UI"/>
                        </a:defRPr>
                      </a:pPr>
                      <a:r>
                        <a:t>• Spica式Mini PCハードウェア：約40,000円/セット（1セットでMFP 4台を制御）</a:t>
                      </a:r>
                      <a:br/>
                      <a:r>
                        <a:t>• 主走査ビームピッチ補正 U413廃止ソフト開発：225〜250万円（JPにて開発決定時）</a:t>
                      </a:r>
                    </a:p>
                  </a:txBody>
                  <a:tcPr anchor="ctr" marL="36576" marR="36576" marT="9144" marB="9144">
                    <a:solidFill>
                      <a:srgbClr val="FFFFFF"/>
                    </a:solidFill>
                  </a:tcPr>
                </a:tc>
                <a:tc>
                  <a:txBody>
                    <a:bodyPr wrap="square"/>
                    <a:lstStyle/>
                    <a:p>
                      <a:pPr algn="ctr">
                        <a:defRPr sz="550">
                          <a:solidFill>
                            <a:srgbClr val="1E242B"/>
                          </a:solidFill>
                          <a:latin typeface="Meiryo UI"/>
                        </a:defRPr>
                      </a:pPr>
                      <a:r>
                        <a:t>ネットワーク化基盤</a:t>
                      </a:r>
                      <a:br/>
                      <a:r>
                        <a:t>＆ +89秒増加回避</a:t>
                      </a:r>
                    </a:p>
                  </a:txBody>
                  <a:tcPr anchor="ctr" marL="36576" marR="36576" marT="9144" marB="9144">
                    <a:solidFill>
                      <a:srgbClr val="FFFFFF"/>
                    </a:solidFill>
                  </a:tcPr>
                </a:tc>
                <a:tc>
                  <a:txBody>
                    <a:bodyPr wrap="square"/>
                    <a:lstStyle/>
                    <a:p>
                      <a:pPr algn="l">
                        <a:defRPr sz="550">
                          <a:solidFill>
                            <a:srgbClr val="1E242B"/>
                          </a:solidFill>
                          <a:latin typeface="Meiryo UI"/>
                        </a:defRPr>
                      </a:pPr>
                      <a:r>
                        <a:t>JP側予算／仕様確定後に別途申請</a:t>
                      </a:r>
                    </a:p>
                  </a:txBody>
                  <a:tcPr anchor="ctr" marL="36576" marR="36576" marT="9144" marB="9144">
                    <a:solidFill>
                      <a:srgbClr val="FFFFFF"/>
                    </a:solidFill>
                  </a:tcPr>
                </a:tc>
              </a:tr>
              <a:tr h="398680">
                <a:tc>
                  <a:txBody>
                    <a:bodyPr wrap="square"/>
                    <a:lstStyle/>
                    <a:p>
                      <a:pPr algn="l">
                        <a:defRPr sz="550" b="1">
                          <a:solidFill>
                            <a:srgbClr val="1E242B"/>
                          </a:solidFill>
                          <a:latin typeface="Meiryo UI"/>
                        </a:defRPr>
                      </a:pPr>
                      <a:r>
                        <a:t>D. 長期R&amp;Dテーマ</a:t>
                      </a:r>
                      <a:br/>
                      <a:r>
                        <a:t>(2026〜2030年)</a:t>
                      </a:r>
                    </a:p>
                  </a:txBody>
                  <a:tcPr anchor="ctr" marL="36576" marR="36576" marT="9144" marB="9144">
                    <a:solidFill>
                      <a:srgbClr val="F7F9FC"/>
                    </a:solidFill>
                  </a:tcPr>
                </a:tc>
                <a:tc>
                  <a:txBody>
                    <a:bodyPr wrap="square"/>
                    <a:lstStyle/>
                    <a:p>
                      <a:pPr algn="l">
                        <a:defRPr sz="550">
                          <a:solidFill>
                            <a:srgbClr val="1E242B"/>
                          </a:solidFill>
                          <a:latin typeface="Meiryo UI"/>
                        </a:defRPr>
                      </a:pPr>
                      <a:r>
                        <a:t>• No.26：AIによる異音解析・温度検査ソフト開発（600万円≒40,000 USD：治具・マイク100万円＋AI開発500万円）</a:t>
                      </a:r>
                    </a:p>
                  </a:txBody>
                  <a:tcPr anchor="ctr" marL="36576" marR="36576" marT="9144" marB="9144">
                    <a:solidFill>
                      <a:srgbClr val="F7F9FC"/>
                    </a:solidFill>
                  </a:tcPr>
                </a:tc>
                <a:tc>
                  <a:txBody>
                    <a:bodyPr wrap="square"/>
                    <a:lstStyle/>
                    <a:p>
                      <a:pPr algn="ctr">
                        <a:defRPr sz="550">
                          <a:solidFill>
                            <a:srgbClr val="1E242B"/>
                          </a:solidFill>
                          <a:latin typeface="Meiryo UI"/>
                        </a:defRPr>
                      </a:pPr>
                      <a:r>
                        <a:t>長期期待効果：</a:t>
                      </a:r>
                      <a:br/>
                      <a:r>
                        <a:t>-40秒/台</a:t>
                      </a:r>
                    </a:p>
                  </a:txBody>
                  <a:tcPr anchor="ctr" marL="36576" marR="36576" marT="9144" marB="9144">
                    <a:solidFill>
                      <a:srgbClr val="F7F9FC"/>
                    </a:solidFill>
                  </a:tcPr>
                </a:tc>
                <a:tc>
                  <a:txBody>
                    <a:bodyPr wrap="square"/>
                    <a:lstStyle/>
                    <a:p>
                      <a:pPr algn="l">
                        <a:defRPr sz="550">
                          <a:solidFill>
                            <a:srgbClr val="1E242B"/>
                          </a:solidFill>
                          <a:latin typeface="Meiryo UI"/>
                        </a:defRPr>
                      </a:pPr>
                      <a:r>
                        <a:t>2026-30年R&amp;Dへ移行</a:t>
                      </a:r>
                      <a:br/>
                      <a:r>
                        <a:t>今回の申請対象外</a:t>
                      </a:r>
                    </a:p>
                  </a:txBody>
                  <a:tcPr anchor="ctr" marL="36576" marR="36576" marT="9144" marB="9144">
                    <a:solidFill>
                      <a:srgbClr val="F7F9FC"/>
                    </a:solidFill>
                  </a:tcPr>
                </a:tc>
              </a:tr>
            </a:tbl>
          </a:graphicData>
        </a:graphic>
      </p:graphicFrame>
      <p:pic>
        <p:nvPicPr>
          <p:cNvPr id="11" name="Picture 10" descr="chart_s15_bom22_jp.png"/>
          <p:cNvPicPr>
            <a:picLocks noChangeAspect="1"/>
          </p:cNvPicPr>
          <p:nvPr/>
        </p:nvPicPr>
        <p:blipFill>
          <a:blip r:embed="rId2"/>
          <a:stretch>
            <a:fillRect/>
          </a:stretch>
        </p:blipFill>
        <p:spPr>
          <a:xfrm>
            <a:off x="6995160" y="1225296"/>
            <a:ext cx="4919472" cy="2723279"/>
          </a:xfrm>
          <a:prstGeom prst="rect">
            <a:avLst/>
          </a:prstGeom>
        </p:spPr>
      </p:pic>
      <p:sp>
        <p:nvSpPr>
          <p:cNvPr id="12" name="Rectangle 11"/>
          <p:cNvSpPr/>
          <p:nvPr/>
        </p:nvSpPr>
        <p:spPr>
          <a:xfrm>
            <a:off x="6995160" y="4261104"/>
            <a:ext cx="4919472" cy="2176272"/>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995160" y="4261104"/>
            <a:ext cx="4919472" cy="310896"/>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36576"/>
          <a:lstStyle/>
          <a:p>
            <a:pPr algn="ctr">
              <a:defRPr sz="980" b="1">
                <a:solidFill>
                  <a:srgbClr val="FFFFFF"/>
                </a:solidFill>
                <a:latin typeface="Meiryo UI"/>
              </a:defRPr>
            </a:pPr>
            <a:r>
              <a:t>部門長へ上申する投資予算案（2案）のまとめ</a:t>
            </a:r>
          </a:p>
        </p:txBody>
      </p:sp>
      <p:sp>
        <p:nvSpPr>
          <p:cNvPr id="14" name="TextBox 13"/>
          <p:cNvSpPr txBox="1"/>
          <p:nvPr/>
        </p:nvSpPr>
        <p:spPr>
          <a:xfrm>
            <a:off x="7068312" y="4599432"/>
            <a:ext cx="4773168" cy="1801368"/>
          </a:xfrm>
          <a:prstGeom prst="rect">
            <a:avLst/>
          </a:prstGeom>
          <a:noFill/>
        </p:spPr>
        <p:txBody>
          <a:bodyPr wrap="square" lIns="36576" rIns="36576" tIns="18288" bIns="18288">
            <a:spAutoFit/>
          </a:bodyPr>
          <a:lstStyle/>
          <a:p>
            <a:pPr>
              <a:spcAft>
                <a:spcPts val="250"/>
              </a:spcAft>
              <a:defRPr sz="680" b="1">
                <a:solidFill>
                  <a:srgbClr val="1E242B"/>
                </a:solidFill>
                <a:latin typeface="Meiryo UI"/>
              </a:defRPr>
            </a:pPr>
            <a:r>
              <a:t>■ A案（No.22を先行実施、ロボット2案はDP／Host PCへ切替）：</a:t>
            </a:r>
          </a:p>
          <a:p>
            <a:pPr>
              <a:spcAft>
                <a:spcPts val="250"/>
              </a:spcAft>
              <a:defRPr sz="680">
                <a:solidFill>
                  <a:srgbClr val="1E242B"/>
                </a:solidFill>
                <a:latin typeface="Meiryo UI"/>
              </a:defRPr>
            </a:pPr>
            <a:r>
              <a:t>   • No.22（BOM 25項目）を承認：101,690,000 VND（3,911.15 USD）</a:t>
            </a:r>
          </a:p>
          <a:p>
            <a:pPr>
              <a:spcAft>
                <a:spcPts val="250"/>
              </a:spcAft>
              <a:defRPr sz="680">
                <a:solidFill>
                  <a:srgbClr val="1E242B"/>
                </a:solidFill>
                <a:latin typeface="Meiryo UI"/>
              </a:defRPr>
            </a:pPr>
            <a:r>
              <a:t>   • 自動導通・耐圧検査シート：101,700,000 VND（3,911.54 USD）｜纏め：4,000 USD</a:t>
            </a:r>
          </a:p>
          <a:p>
            <a:pPr>
              <a:spcAft>
                <a:spcPts val="250"/>
              </a:spcAft>
              <a:defRPr sz="680">
                <a:solidFill>
                  <a:srgbClr val="1E242B"/>
                </a:solidFill>
                <a:latin typeface="Meiryo UI"/>
              </a:defRPr>
            </a:pPr>
            <a:r>
              <a:t>   • 効果：30秒/台削減、年間労務費削減 29.60百万VND（1,138.46 USD/年）。</a:t>
            </a:r>
          </a:p>
          <a:p>
            <a:pPr>
              <a:spcAft>
                <a:spcPts val="250"/>
              </a:spcAft>
              <a:defRPr sz="680" b="1">
                <a:solidFill>
                  <a:srgbClr val="1E242B"/>
                </a:solidFill>
                <a:latin typeface="Meiryo UI"/>
              </a:defRPr>
            </a:pPr>
            <a:r>
              <a:t>■ B案（「Iris EXPのVN提案.xlsx」の見積済3案件すべてを承認）：</a:t>
            </a:r>
          </a:p>
          <a:p>
            <a:pPr>
              <a:spcAft>
                <a:spcPts val="250"/>
              </a:spcAft>
              <a:defRPr sz="680">
                <a:solidFill>
                  <a:srgbClr val="1E242B"/>
                </a:solidFill>
                <a:latin typeface="Meiryo UI"/>
              </a:defRPr>
            </a:pPr>
            <a:r>
              <a:t>   • No.22（101.69M / $3,911.15）＋ No.23 ISUロボット（650M / $25,000）＋ No.24 USB/U201ロボット（104M / $4,000）</a:t>
            </a:r>
          </a:p>
          <a:p>
            <a:pPr>
              <a:spcAft>
                <a:spcPts val="250"/>
              </a:spcAft>
              <a:defRPr sz="680">
                <a:solidFill>
                  <a:srgbClr val="1E242B"/>
                </a:solidFill>
                <a:latin typeface="Meiryo UI"/>
              </a:defRPr>
            </a:pPr>
            <a:r>
              <a:t>   • 3案件合計（BOM基準）：855,690,000 VND（32,911.15 USD）［纏めシート：858M / 33,000 USD］</a:t>
            </a:r>
          </a:p>
          <a:p>
            <a:pPr>
              <a:spcAft>
                <a:spcPts val="250"/>
              </a:spcAft>
              <a:defRPr sz="680">
                <a:solidFill>
                  <a:srgbClr val="1E242B"/>
                </a:solidFill>
                <a:latin typeface="Meiryo UI"/>
              </a:defRPr>
            </a:pPr>
            <a:r>
              <a:t>   • 効果：170秒/台削減、年間労務費削減 167.73百万VND（6,451.28 USD/年）。</a:t>
            </a:r>
          </a:p>
          <a:p>
            <a:pPr>
              <a:spcAft>
                <a:spcPts val="250"/>
              </a:spcAft>
              <a:defRPr sz="680" b="1">
                <a:solidFill>
                  <a:srgbClr val="1E242B"/>
                </a:solidFill>
                <a:latin typeface="Meiryo UI"/>
              </a:defRPr>
            </a:pPr>
            <a:r>
              <a:t>■ 添付詳細データ：bang-so-lieu/Bang_so_lieu_chi_tiet_IrisEXP_VN.xlsx ＆ .md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