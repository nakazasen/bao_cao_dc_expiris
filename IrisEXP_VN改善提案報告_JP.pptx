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5" r:id="rId16"/>
    <p:sldId id="262" r:id="rId13"/>
    <p:sldId id="263" r:id="rId14"/>
    <p:sldId id="264" r:id="rId15"/>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7.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777240"/>
            <a:ext cx="128016" cy="5303520"/>
          </a:xfrm>
          <a:prstGeom prst="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60120" y="804672"/>
            <a:ext cx="4389120" cy="384048"/>
          </a:xfrm>
          <a:prstGeom prst="round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B365D"/>
                </a:solidFill>
                <a:latin typeface="Meiryo UI"/>
              </a:defRPr>
            </a:pPr>
            <a:r>
              <a:t>Iris EXP プロジェクト  |  本体保証工程（調整工程）</a:t>
            </a:r>
          </a:p>
        </p:txBody>
      </p:sp>
      <p:sp>
        <p:nvSpPr>
          <p:cNvPr id="6" name="TextBox 5"/>
          <p:cNvSpPr txBox="1"/>
          <p:nvPr/>
        </p:nvSpPr>
        <p:spPr>
          <a:xfrm>
            <a:off x="960120" y="1417320"/>
            <a:ext cx="10424160" cy="1737360"/>
          </a:xfrm>
          <a:prstGeom prst="rect">
            <a:avLst/>
          </a:prstGeom>
          <a:noFill/>
        </p:spPr>
        <p:txBody>
          <a:bodyPr wrap="square">
            <a:spAutoFit/>
          </a:bodyPr>
          <a:lstStyle/>
          <a:p>
            <a:pPr>
              <a:spcAft>
                <a:spcPts val="1200"/>
              </a:spcAft>
              <a:defRPr sz="3000" b="1">
                <a:solidFill>
                  <a:srgbClr val="1B365D"/>
                </a:solidFill>
                <a:latin typeface="Meiryo UI"/>
              </a:defRPr>
            </a:pPr>
            <a:r>
              <a:t>Iris EXP 調整工程（本体保証工程）改善提案 報告書</a:t>
            </a:r>
          </a:p>
          <a:p>
            <a:pPr>
              <a:defRPr sz="1600" b="1">
                <a:solidFill>
                  <a:srgbClr val="D96B27"/>
                </a:solidFill>
                <a:latin typeface="Meiryo UI"/>
              </a:defRPr>
            </a:pPr>
            <a:r>
              <a:t>生産性2倍向上 — 既存Iris2024ライン上でのIrisEXP生産確保に向けた取組み</a:t>
            </a:r>
          </a:p>
        </p:txBody>
      </p:sp>
      <p:sp>
        <p:nvSpPr>
          <p:cNvPr id="7" name="Rounded Rectangle 6"/>
          <p:cNvSpPr/>
          <p:nvPr/>
        </p:nvSpPr>
        <p:spPr>
          <a:xfrm>
            <a:off x="960120" y="3520440"/>
            <a:ext cx="2505456" cy="1600200"/>
          </a:xfrm>
          <a:prstGeom prst="roundRect">
            <a:avLst/>
          </a:prstGeom>
          <a:solidFill>
            <a:srgbClr val="FFFFFF"/>
          </a:solidFill>
          <a:ln w="1905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0120" y="3520440"/>
            <a:ext cx="2505456" cy="34747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eiryo UI"/>
              </a:defRPr>
            </a:pPr>
            <a:r>
              <a:t>第 01 部：現状把握</a:t>
            </a:r>
          </a:p>
        </p:txBody>
      </p:sp>
      <p:sp>
        <p:nvSpPr>
          <p:cNvPr id="9" name="TextBox 8"/>
          <p:cNvSpPr txBox="1"/>
          <p:nvPr/>
        </p:nvSpPr>
        <p:spPr>
          <a:xfrm>
            <a:off x="1051560" y="3950208"/>
            <a:ext cx="2322576" cy="1078992"/>
          </a:xfrm>
          <a:prstGeom prst="rect">
            <a:avLst/>
          </a:prstGeom>
          <a:noFill/>
        </p:spPr>
        <p:txBody>
          <a:bodyPr wrap="square">
            <a:spAutoFit/>
          </a:bodyPr>
          <a:lstStyle/>
          <a:p>
            <a:pPr>
              <a:defRPr sz="1050">
                <a:solidFill>
                  <a:srgbClr val="1E242B"/>
                </a:solidFill>
                <a:latin typeface="Meiryo UI"/>
              </a:defRPr>
            </a:pPr>
            <a:r>
              <a:t>Iris2024（1,083s・16名・243台/日）</a:t>
            </a:r>
            <a:br/>
            <a:r>
              <a:t>およびIrisEXP生産課題（タクト97s）</a:t>
            </a:r>
          </a:p>
        </p:txBody>
      </p:sp>
      <p:sp>
        <p:nvSpPr>
          <p:cNvPr id="10" name="Rounded Rectangle 9"/>
          <p:cNvSpPr/>
          <p:nvPr/>
        </p:nvSpPr>
        <p:spPr>
          <a:xfrm>
            <a:off x="3630168" y="3520440"/>
            <a:ext cx="2505456" cy="1600200"/>
          </a:xfrm>
          <a:prstGeom prst="roundRect">
            <a:avLst/>
          </a:prstGeom>
          <a:solidFill>
            <a:srgbClr val="FFFFFF"/>
          </a:solidFill>
          <a:ln w="19050">
            <a:solidFill>
              <a:srgbClr val="1E6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30168" y="3520440"/>
            <a:ext cx="2505456"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eiryo UI"/>
              </a:defRPr>
            </a:pPr>
            <a:r>
              <a:t>第 02 部：開発目標</a:t>
            </a:r>
          </a:p>
        </p:txBody>
      </p:sp>
      <p:sp>
        <p:nvSpPr>
          <p:cNvPr id="12" name="TextBox 11"/>
          <p:cNvSpPr txBox="1"/>
          <p:nvPr/>
        </p:nvSpPr>
        <p:spPr>
          <a:xfrm>
            <a:off x="3721607" y="3950208"/>
            <a:ext cx="2322576" cy="1078992"/>
          </a:xfrm>
          <a:prstGeom prst="rect">
            <a:avLst/>
          </a:prstGeom>
          <a:noFill/>
        </p:spPr>
        <p:txBody>
          <a:bodyPr wrap="square">
            <a:spAutoFit/>
          </a:bodyPr>
          <a:lstStyle/>
          <a:p>
            <a:pPr>
              <a:defRPr sz="1050">
                <a:solidFill>
                  <a:srgbClr val="1E242B"/>
                </a:solidFill>
                <a:latin typeface="Meiryo UI"/>
              </a:defRPr>
            </a:pPr>
            <a:r>
              <a:t>生産性2倍向上（30.4台/人/日）</a:t>
            </a:r>
            <a:br/>
            <a:r>
              <a:t>工数50%削減・印刷枚数半減目標</a:t>
            </a:r>
          </a:p>
        </p:txBody>
      </p:sp>
      <p:sp>
        <p:nvSpPr>
          <p:cNvPr id="13" name="Rounded Rectangle 12"/>
          <p:cNvSpPr/>
          <p:nvPr/>
        </p:nvSpPr>
        <p:spPr>
          <a:xfrm>
            <a:off x="6300216" y="3520440"/>
            <a:ext cx="2505456" cy="1600200"/>
          </a:xfrm>
          <a:prstGeom prst="roundRect">
            <a:avLst/>
          </a:prstGeom>
          <a:solidFill>
            <a:srgbClr val="FFFFFF"/>
          </a:solidFill>
          <a:ln w="1905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0216" y="3520440"/>
            <a:ext cx="2505456" cy="347472"/>
          </a:xfrm>
          <a:prstGeom prst="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eiryo UI"/>
              </a:defRPr>
            </a:pPr>
            <a:r>
              <a:t>第 03 部：3拠点方針</a:t>
            </a:r>
          </a:p>
        </p:txBody>
      </p:sp>
      <p:sp>
        <p:nvSpPr>
          <p:cNvPr id="15" name="TextBox 14"/>
          <p:cNvSpPr txBox="1"/>
          <p:nvPr/>
        </p:nvSpPr>
        <p:spPr>
          <a:xfrm>
            <a:off x="6391655" y="3950208"/>
            <a:ext cx="2322576" cy="1078992"/>
          </a:xfrm>
          <a:prstGeom prst="rect">
            <a:avLst/>
          </a:prstGeom>
          <a:noFill/>
        </p:spPr>
        <p:txBody>
          <a:bodyPr wrap="square">
            <a:spAutoFit/>
          </a:bodyPr>
          <a:lstStyle/>
          <a:p>
            <a:pPr>
              <a:defRPr sz="1050">
                <a:solidFill>
                  <a:srgbClr val="1E242B"/>
                </a:solidFill>
                <a:latin typeface="Meiryo UI"/>
              </a:defRPr>
            </a:pPr>
            <a:r>
              <a:t>日本が全体設計推進・ベトナムが主体</a:t>
            </a:r>
            <a:br/>
            <a:r>
              <a:t>3拠点の定例連携と水平展開</a:t>
            </a:r>
          </a:p>
        </p:txBody>
      </p:sp>
      <p:sp>
        <p:nvSpPr>
          <p:cNvPr id="16" name="Rounded Rectangle 15"/>
          <p:cNvSpPr/>
          <p:nvPr/>
        </p:nvSpPr>
        <p:spPr>
          <a:xfrm>
            <a:off x="8970264" y="3520440"/>
            <a:ext cx="2505456" cy="1600200"/>
          </a:xfrm>
          <a:prstGeom prst="roundRect">
            <a:avLst/>
          </a:prstGeom>
          <a:solidFill>
            <a:srgbClr val="FFFFFF"/>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70264" y="3520440"/>
            <a:ext cx="2505456" cy="347472"/>
          </a:xfrm>
          <a:prstGeom prst="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eiryo UI"/>
              </a:defRPr>
            </a:pPr>
            <a:r>
              <a:t>第 04 部：VN自動化提案</a:t>
            </a:r>
          </a:p>
        </p:txBody>
      </p:sp>
      <p:sp>
        <p:nvSpPr>
          <p:cNvPr id="18" name="TextBox 17"/>
          <p:cNvSpPr txBox="1"/>
          <p:nvPr/>
        </p:nvSpPr>
        <p:spPr>
          <a:xfrm>
            <a:off x="9061704" y="3950208"/>
            <a:ext cx="2322576" cy="1078992"/>
          </a:xfrm>
          <a:prstGeom prst="rect">
            <a:avLst/>
          </a:prstGeom>
          <a:noFill/>
        </p:spPr>
        <p:txBody>
          <a:bodyPr wrap="square">
            <a:spAutoFit/>
          </a:bodyPr>
          <a:lstStyle/>
          <a:p>
            <a:pPr>
              <a:defRPr sz="1050">
                <a:solidFill>
                  <a:srgbClr val="1E242B"/>
                </a:solidFill>
                <a:latin typeface="Meiryo UI"/>
              </a:defRPr>
            </a:pPr>
            <a:r>
              <a:t>KDTVN 20改善提案の詳細・投資試算</a:t>
            </a:r>
            <a:br/>
            <a:r>
              <a:t>（末尾に全38提案を参考掲載）</a:t>
            </a:r>
          </a:p>
        </p:txBody>
      </p:sp>
      <p:sp>
        <p:nvSpPr>
          <p:cNvPr id="19" name="Rectangle 18"/>
          <p:cNvSpPr/>
          <p:nvPr/>
        </p:nvSpPr>
        <p:spPr>
          <a:xfrm>
            <a:off x="960120" y="5532120"/>
            <a:ext cx="10424160" cy="566928"/>
          </a:xfrm>
          <a:prstGeom prst="rect">
            <a:avLst/>
          </a:prstGeom>
          <a:solidFill>
            <a:srgbClr val="E8EEF5"/>
          </a:solidFill>
          <a:ln w="1016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wrap="square" lIns="182880" tIns="128016"/>
          <a:lstStyle/>
          <a:p>
            <a:pPr algn="ctr">
              <a:defRPr sz="1150" b="1">
                <a:solidFill>
                  <a:srgbClr val="1B365D"/>
                </a:solidFill>
                <a:latin typeface="Meiryo UI"/>
              </a:defRPr>
            </a:pPr>
            <a:r>
              <a:t>KDTVN 製造技術部（PE）   |   報告者：Bui Duc Vinh   |   2026年10月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1. 現状把握</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Iris2024系の現状生産状況とIrisEXP移行時における生産能力課題</a:t>
            </a:r>
          </a:p>
        </p:txBody>
      </p:sp>
      <p:sp>
        <p:nvSpPr>
          <p:cNvPr id="5" name="TextBox 4"/>
          <p:cNvSpPr txBox="1"/>
          <p:nvPr/>
        </p:nvSpPr>
        <p:spPr>
          <a:xfrm>
            <a:off x="11292840" y="109728"/>
            <a:ext cx="731520" cy="347472"/>
          </a:xfrm>
          <a:prstGeom prst="rect">
            <a:avLst/>
          </a:prstGeom>
          <a:noFill/>
        </p:spPr>
        <p:txBody>
          <a:bodyPr wrap="none">
            <a:spAutoFit/>
          </a:bodyPr>
          <a:lstStyle/>
          <a:p>
            <a:pPr algn="r">
              <a:defRPr sz="1000" b="1">
                <a:solidFill>
                  <a:srgbClr val="D0D8E8"/>
                </a:solidFill>
                <a:latin typeface="Meiryo UI"/>
              </a:defRPr>
            </a:pPr>
            <a:r>
              <a:t>2 / 15</a:t>
            </a:r>
          </a:p>
        </p:txBody>
      </p:sp>
      <p:sp>
        <p:nvSpPr>
          <p:cNvPr id="6" name="Rectangle 5"/>
          <p:cNvSpPr/>
          <p:nvPr/>
        </p:nvSpPr>
        <p:spPr>
          <a:xfrm>
            <a:off x="256032" y="640080"/>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rPr sz="1200" b="1">
                <a:solidFill>
                  <a:srgbClr val="1B365D"/>
                </a:solidFill>
                <a:latin typeface="Meiryo UI"/>
              </a:rPr>
              <a:t>■ 現行Iris2024ラインは作業者16名（調整7名＋画像9名）で243台/日（15.19台/人/日）。IrisEXP（タクト97秒・300台/日）へ未改善のまま移行した場合18名が必要となり、現行ラインのスペース・能力では生産を確保できない。</a:t>
            </a:r>
          </a:p>
        </p:txBody>
      </p:sp>
      <p:graphicFrame>
        <p:nvGraphicFramePr>
          <p:cNvPr id="7" name="Table 6"/>
          <p:cNvGraphicFramePr>
            <a:graphicFrameLocks noGrp="1"/>
          </p:cNvGraphicFramePr>
          <p:nvPr/>
        </p:nvGraphicFramePr>
        <p:xfrm>
          <a:off x="256032" y="1188720"/>
          <a:ext cx="5897880" cy="5303520"/>
        </p:xfrm>
        <a:graphic>
          <a:graphicData uri="http://schemas.openxmlformats.org/drawingml/2006/table">
            <a:tbl>
              <a:tblPr firstRow="1" bandRow="1">
                <a:tableStyleId>{5C22544A-7EE6-4342-B048-85BDC9FD1C3A}</a:tableStyleId>
              </a:tblPr>
              <a:tblGrid>
                <a:gridCol w="1783080"/>
                <a:gridCol w="1371600"/>
                <a:gridCol w="1371600"/>
                <a:gridCol w="1371600"/>
              </a:tblGrid>
              <a:tr h="662940">
                <a:tc>
                  <a:txBody>
                    <a:bodyPr wrap="square"/>
                    <a:lstStyle/>
                    <a:p>
                      <a:pPr algn="ctr">
                        <a:defRPr sz="919" b="1">
                          <a:solidFill>
                            <a:srgbClr val="FFFFFF"/>
                          </a:solidFill>
                          <a:latin typeface="Meiryo UI"/>
                        </a:defRPr>
                      </a:pPr>
                      <a:r>
                        <a:t>生産指標</a:t>
                      </a:r>
                    </a:p>
                  </a:txBody>
                  <a:tcPr anchor="ctr" marL="45720" marR="45720" marT="18288" marB="18288">
                    <a:solidFill>
                      <a:srgbClr val="1B365D"/>
                    </a:solidFill>
                  </a:tcPr>
                </a:tc>
                <a:tc>
                  <a:txBody>
                    <a:bodyPr wrap="square"/>
                    <a:lstStyle/>
                    <a:p>
                      <a:pPr algn="ctr">
                        <a:defRPr sz="919" b="1">
                          <a:solidFill>
                            <a:srgbClr val="FFFFFF"/>
                          </a:solidFill>
                          <a:latin typeface="Meiryo UI"/>
                        </a:defRPr>
                      </a:pPr>
                      <a:r>
                        <a:t>現行 Iris2024系</a:t>
                      </a:r>
                      <a:br/>
                      <a:r>
                        <a:t>（現行ライン実績）</a:t>
                      </a:r>
                    </a:p>
                  </a:txBody>
                  <a:tcPr anchor="ctr" marL="45720" marR="45720" marT="18288" marB="18288">
                    <a:solidFill>
                      <a:srgbClr val="1B365D"/>
                    </a:solidFill>
                  </a:tcPr>
                </a:tc>
                <a:tc>
                  <a:txBody>
                    <a:bodyPr wrap="square"/>
                    <a:lstStyle/>
                    <a:p>
                      <a:pPr algn="ctr">
                        <a:defRPr sz="919" b="1">
                          <a:solidFill>
                            <a:srgbClr val="FFFFFF"/>
                          </a:solidFill>
                          <a:latin typeface="Meiryo UI"/>
                        </a:defRPr>
                      </a:pPr>
                      <a:r>
                        <a:t>IrisEXP 移行時</a:t>
                      </a:r>
                      <a:br/>
                      <a:r>
                        <a:t>（未改善での試算）</a:t>
                      </a:r>
                    </a:p>
                  </a:txBody>
                  <a:tcPr anchor="ctr" marL="45720" marR="45720" marT="18288" marB="18288">
                    <a:solidFill>
                      <a:srgbClr val="1B365D"/>
                    </a:solidFill>
                  </a:tcPr>
                </a:tc>
                <a:tc>
                  <a:txBody>
                    <a:bodyPr wrap="square"/>
                    <a:lstStyle/>
                    <a:p>
                      <a:pPr algn="ctr">
                        <a:defRPr sz="919" b="1">
                          <a:solidFill>
                            <a:srgbClr val="FFFFFF"/>
                          </a:solidFill>
                          <a:latin typeface="Meiryo UI"/>
                        </a:defRPr>
                      </a:pPr>
                      <a:r>
                        <a:t>生産能力評価と判定</a:t>
                      </a:r>
                    </a:p>
                  </a:txBody>
                  <a:tcPr anchor="ctr" marL="45720" marR="45720" marT="18288" marB="18288">
                    <a:solidFill>
                      <a:srgbClr val="1B365D"/>
                    </a:solidFill>
                  </a:tcPr>
                </a:tc>
              </a:tr>
              <a:tr h="662940">
                <a:tc>
                  <a:txBody>
                    <a:bodyPr wrap="square"/>
                    <a:lstStyle/>
                    <a:p>
                      <a:pPr algn="l">
                        <a:defRPr sz="850" b="1">
                          <a:solidFill>
                            <a:srgbClr val="1E242B"/>
                          </a:solidFill>
                          <a:latin typeface="Meiryo UI"/>
                        </a:defRPr>
                      </a:pPr>
                      <a:r>
                        <a:t>標準作業時間（最大機種）</a:t>
                      </a:r>
                      <a:br/>
                      <a:r>
                        <a:t>【正味時間】</a:t>
                      </a:r>
                    </a:p>
                  </a:txBody>
                  <a:tcPr anchor="ctr" marL="45720" marR="45720" marT="18288" marB="18288">
                    <a:solidFill>
                      <a:srgbClr val="E8EEF5"/>
                    </a:solidFill>
                  </a:tcPr>
                </a:tc>
                <a:tc>
                  <a:txBody>
                    <a:bodyPr wrap="square"/>
                    <a:lstStyle/>
                    <a:p>
                      <a:pPr algn="ctr">
                        <a:defRPr sz="850">
                          <a:solidFill>
                            <a:srgbClr val="1E242B"/>
                          </a:solidFill>
                          <a:latin typeface="Meiryo UI"/>
                        </a:defRPr>
                      </a:pPr>
                      <a:r>
                        <a:t>1,083 秒 / 台</a:t>
                      </a:r>
                      <a:br/>
                      <a:r>
                        <a:t>（調整840s＋データ採取243s</a:t>
                      </a:r>
                      <a:br/>
                      <a:r>
                        <a:t>総滞留：2,350s）</a:t>
                      </a:r>
                    </a:p>
                  </a:txBody>
                  <a:tcPr anchor="ctr" marL="45720" marR="45720" marT="18288" marB="18288">
                    <a:solidFill>
                      <a:srgbClr val="E8EEF5"/>
                    </a:solidFill>
                  </a:tcPr>
                </a:tc>
                <a:tc>
                  <a:txBody>
                    <a:bodyPr wrap="square"/>
                    <a:lstStyle/>
                    <a:p>
                      <a:pPr algn="ctr">
                        <a:defRPr sz="850">
                          <a:solidFill>
                            <a:srgbClr val="1E242B"/>
                          </a:solidFill>
                          <a:latin typeface="Meiryo UI"/>
                        </a:defRPr>
                      </a:pPr>
                      <a:r>
                        <a:t>1,260.7 秒 / 台</a:t>
                      </a:r>
                      <a:br/>
                      <a:r>
                        <a:t>（U413補正 +89s 発生</a:t>
                      </a:r>
                      <a:br/>
                      <a:r>
                        <a:t>総工数も大幅増加）</a:t>
                      </a:r>
                    </a:p>
                  </a:txBody>
                  <a:tcPr anchor="ctr" marL="45720" marR="45720" marT="18288" marB="18288">
                    <a:solidFill>
                      <a:srgbClr val="E8EEF5"/>
                    </a:solidFill>
                  </a:tcPr>
                </a:tc>
                <a:tc>
                  <a:txBody>
                    <a:bodyPr wrap="square"/>
                    <a:lstStyle/>
                    <a:p>
                      <a:pPr algn="l">
                        <a:defRPr sz="850">
                          <a:solidFill>
                            <a:srgbClr val="1E242B"/>
                          </a:solidFill>
                          <a:latin typeface="Meiryo UI"/>
                        </a:defRPr>
                      </a:pPr>
                      <a:r>
                        <a:t>手動作業・待ち時間多数</a:t>
                      </a:r>
                      <a:br/>
                      <a:r>
                        <a:t>工数過大</a:t>
                      </a:r>
                    </a:p>
                  </a:txBody>
                  <a:tcPr anchor="ctr" marL="45720" marR="45720" marT="18288" marB="18288">
                    <a:solidFill>
                      <a:srgbClr val="E8EEF5"/>
                    </a:solidFill>
                  </a:tcPr>
                </a:tc>
              </a:tr>
              <a:tr h="662940">
                <a:tc>
                  <a:txBody>
                    <a:bodyPr wrap="square"/>
                    <a:lstStyle/>
                    <a:p>
                      <a:pPr algn="l">
                        <a:defRPr sz="850" b="1">
                          <a:solidFill>
                            <a:srgbClr val="1E242B"/>
                          </a:solidFill>
                          <a:latin typeface="Meiryo UI"/>
                        </a:defRPr>
                      </a:pPr>
                      <a:r>
                        <a:t>工程タクトタイム</a:t>
                      </a:r>
                      <a:br/>
                      <a:r>
                        <a:t>（生産ピッチ）</a:t>
                      </a:r>
                    </a:p>
                  </a:txBody>
                  <a:tcPr anchor="ctr" marL="45720" marR="45720" marT="18288" marB="18288">
                    <a:solidFill>
                      <a:srgbClr val="FEF7E6"/>
                    </a:solidFill>
                  </a:tcPr>
                </a:tc>
                <a:tc>
                  <a:txBody>
                    <a:bodyPr wrap="square"/>
                    <a:lstStyle/>
                    <a:p>
                      <a:pPr algn="ctr">
                        <a:defRPr sz="850">
                          <a:solidFill>
                            <a:srgbClr val="1E242B"/>
                          </a:solidFill>
                          <a:latin typeface="Meiryo UI"/>
                        </a:defRPr>
                      </a:pPr>
                      <a:r>
                        <a:t>114 秒 / 台</a:t>
                      </a:r>
                    </a:p>
                  </a:txBody>
                  <a:tcPr anchor="ctr" marL="45720" marR="45720" marT="18288" marB="18288">
                    <a:solidFill>
                      <a:srgbClr val="FEF7E6"/>
                    </a:solidFill>
                  </a:tcPr>
                </a:tc>
                <a:tc>
                  <a:txBody>
                    <a:bodyPr wrap="square"/>
                    <a:lstStyle/>
                    <a:p>
                      <a:pPr algn="ctr">
                        <a:defRPr sz="850">
                          <a:solidFill>
                            <a:srgbClr val="1E242B"/>
                          </a:solidFill>
                          <a:latin typeface="Meiryo UI"/>
                        </a:defRPr>
                      </a:pPr>
                      <a:r>
                        <a:t>97 秒 / 台</a:t>
                      </a:r>
                      <a:br/>
                      <a:r>
                        <a:t>（現行より 17秒 短縮）</a:t>
                      </a:r>
                    </a:p>
                  </a:txBody>
                  <a:tcPr anchor="ctr" marL="45720" marR="45720" marT="18288" marB="18288">
                    <a:solidFill>
                      <a:srgbClr val="FEF7E6"/>
                    </a:solidFill>
                  </a:tcPr>
                </a:tc>
                <a:tc>
                  <a:txBody>
                    <a:bodyPr wrap="square"/>
                    <a:lstStyle/>
                    <a:p>
                      <a:pPr algn="l">
                        <a:defRPr sz="850">
                          <a:solidFill>
                            <a:srgbClr val="1E242B"/>
                          </a:solidFill>
                          <a:latin typeface="Meiryo UI"/>
                        </a:defRPr>
                      </a:pPr>
                      <a:r>
                        <a:t>ラインスピード</a:t>
                      </a:r>
                      <a:br/>
                      <a:r>
                        <a:t>17.5% 加速が必要</a:t>
                      </a:r>
                    </a:p>
                  </a:txBody>
                  <a:tcPr anchor="ctr" marL="45720" marR="45720" marT="18288" marB="18288">
                    <a:solidFill>
                      <a:srgbClr val="FEF7E6"/>
                    </a:solidFill>
                  </a:tcPr>
                </a:tc>
              </a:tr>
              <a:tr h="662940">
                <a:tc>
                  <a:txBody>
                    <a:bodyPr wrap="square"/>
                    <a:lstStyle/>
                    <a:p>
                      <a:pPr algn="l">
                        <a:defRPr sz="850" b="1">
                          <a:solidFill>
                            <a:srgbClr val="1E242B"/>
                          </a:solidFill>
                          <a:latin typeface="Meiryo UI"/>
                        </a:defRPr>
                      </a:pPr>
                      <a:r>
                        <a:t>日当たり生産台数</a:t>
                      </a:r>
                      <a:br/>
                      <a:r>
                        <a:t>（1ライン当たり）</a:t>
                      </a:r>
                    </a:p>
                  </a:txBody>
                  <a:tcPr anchor="ctr" marL="45720" marR="45720" marT="18288" marB="18288">
                    <a:solidFill>
                      <a:srgbClr val="FFFFFF"/>
                    </a:solidFill>
                  </a:tcPr>
                </a:tc>
                <a:tc>
                  <a:txBody>
                    <a:bodyPr wrap="square"/>
                    <a:lstStyle/>
                    <a:p>
                      <a:pPr algn="ctr">
                        <a:defRPr sz="850">
                          <a:solidFill>
                            <a:srgbClr val="1E242B"/>
                          </a:solidFill>
                          <a:latin typeface="Meiryo UI"/>
                        </a:defRPr>
                      </a:pPr>
                      <a:r>
                        <a:t>243 台 / 日</a:t>
                      </a:r>
                    </a:p>
                  </a:txBody>
                  <a:tcPr anchor="ctr" marL="45720" marR="45720" marT="18288" marB="18288">
                    <a:solidFill>
                      <a:srgbClr val="FFFFFF"/>
                    </a:solidFill>
                  </a:tcPr>
                </a:tc>
                <a:tc>
                  <a:txBody>
                    <a:bodyPr wrap="square"/>
                    <a:lstStyle/>
                    <a:p>
                      <a:pPr algn="ctr">
                        <a:defRPr sz="850">
                          <a:solidFill>
                            <a:srgbClr val="1E242B"/>
                          </a:solidFill>
                          <a:latin typeface="Meiryo UI"/>
                        </a:defRPr>
                      </a:pPr>
                      <a:r>
                        <a:t>300 台 / 日</a:t>
                      </a:r>
                      <a:br/>
                      <a:r>
                        <a:t>（月産 16,000台 基準）</a:t>
                      </a:r>
                    </a:p>
                  </a:txBody>
                  <a:tcPr anchor="ctr" marL="45720" marR="45720" marT="18288" marB="18288">
                    <a:solidFill>
                      <a:srgbClr val="FFFFFF"/>
                    </a:solidFill>
                  </a:tcPr>
                </a:tc>
                <a:tc>
                  <a:txBody>
                    <a:bodyPr wrap="square"/>
                    <a:lstStyle/>
                    <a:p>
                      <a:pPr algn="l">
                        <a:defRPr sz="850">
                          <a:solidFill>
                            <a:srgbClr val="1E242B"/>
                          </a:solidFill>
                          <a:latin typeface="Meiryo UI"/>
                        </a:defRPr>
                      </a:pPr>
                      <a:r>
                        <a:t>日当たり +57台 増産</a:t>
                      </a:r>
                      <a:br/>
                      <a:r>
                        <a:t>（+23.5% 増産）</a:t>
                      </a:r>
                    </a:p>
                  </a:txBody>
                  <a:tcPr anchor="ctr" marL="45720" marR="45720" marT="18288" marB="18288">
                    <a:solidFill>
                      <a:srgbClr val="FFFFFF"/>
                    </a:solidFill>
                  </a:tcPr>
                </a:tc>
              </a:tr>
              <a:tr h="662940">
                <a:tc>
                  <a:txBody>
                    <a:bodyPr wrap="square"/>
                    <a:lstStyle/>
                    <a:p>
                      <a:pPr algn="l">
                        <a:defRPr sz="850" b="1">
                          <a:solidFill>
                            <a:srgbClr val="1E242B"/>
                          </a:solidFill>
                          <a:latin typeface="Meiryo UI"/>
                        </a:defRPr>
                      </a:pPr>
                      <a:r>
                        <a:t>調整工程 作業者数</a:t>
                      </a:r>
                      <a:br/>
                      <a:r>
                        <a:t>（K1 ～ K4）</a:t>
                      </a:r>
                    </a:p>
                  </a:txBody>
                  <a:tcPr anchor="ctr" marL="45720" marR="45720" marT="18288" marB="18288">
                    <a:solidFill>
                      <a:srgbClr val="F7F9FC"/>
                    </a:solidFill>
                  </a:tcPr>
                </a:tc>
                <a:tc>
                  <a:txBody>
                    <a:bodyPr wrap="square"/>
                    <a:lstStyle/>
                    <a:p>
                      <a:pPr algn="ctr">
                        <a:defRPr sz="850">
                          <a:solidFill>
                            <a:srgbClr val="1E242B"/>
                          </a:solidFill>
                          <a:latin typeface="Meiryo UI"/>
                        </a:defRPr>
                      </a:pPr>
                      <a:r>
                        <a:t>7 名（作業者）</a:t>
                      </a:r>
                    </a:p>
                  </a:txBody>
                  <a:tcPr anchor="ctr" marL="45720" marR="45720" marT="18288" marB="18288">
                    <a:solidFill>
                      <a:srgbClr val="F7F9FC"/>
                    </a:solidFill>
                  </a:tcPr>
                </a:tc>
                <a:tc>
                  <a:txBody>
                    <a:bodyPr wrap="square"/>
                    <a:lstStyle/>
                    <a:p>
                      <a:pPr algn="ctr">
                        <a:defRPr sz="850">
                          <a:solidFill>
                            <a:srgbClr val="1E242B"/>
                          </a:solidFill>
                          <a:latin typeface="Meiryo UI"/>
                        </a:defRPr>
                      </a:pPr>
                      <a:r>
                        <a:t>9 名（作業者）</a:t>
                      </a:r>
                      <a:br/>
                      <a:r>
                        <a:t>（現行方法のままの場合）</a:t>
                      </a:r>
                    </a:p>
                  </a:txBody>
                  <a:tcPr anchor="ctr" marL="45720" marR="45720" marT="18288" marB="18288">
                    <a:solidFill>
                      <a:srgbClr val="F7F9FC"/>
                    </a:solidFill>
                  </a:tcPr>
                </a:tc>
                <a:tc>
                  <a:txBody>
                    <a:bodyPr wrap="square"/>
                    <a:lstStyle/>
                    <a:p>
                      <a:pPr algn="l">
                        <a:defRPr sz="850">
                          <a:solidFill>
                            <a:srgbClr val="1E242B"/>
                          </a:solidFill>
                          <a:latin typeface="Meiryo UI"/>
                        </a:defRPr>
                      </a:pPr>
                      <a:r>
                        <a:t>作業スペース不足</a:t>
                      </a:r>
                      <a:br/>
                      <a:r>
                        <a:t>人員2名不足</a:t>
                      </a:r>
                    </a:p>
                  </a:txBody>
                  <a:tcPr anchor="ctr" marL="45720" marR="45720" marT="18288" marB="18288">
                    <a:solidFill>
                      <a:srgbClr val="F7F9FC"/>
                    </a:solidFill>
                  </a:tcPr>
                </a:tc>
              </a:tr>
              <a:tr h="662940">
                <a:tc>
                  <a:txBody>
                    <a:bodyPr wrap="square"/>
                    <a:lstStyle/>
                    <a:p>
                      <a:pPr algn="l">
                        <a:defRPr sz="850" b="1">
                          <a:solidFill>
                            <a:srgbClr val="1E242B"/>
                          </a:solidFill>
                          <a:latin typeface="Meiryo UI"/>
                        </a:defRPr>
                      </a:pPr>
                      <a:r>
                        <a:t>画像・出荷 作業者数</a:t>
                      </a:r>
                      <a:br/>
                      <a:r>
                        <a:t>（K5 ～ K8）</a:t>
                      </a:r>
                    </a:p>
                  </a:txBody>
                  <a:tcPr anchor="ctr" marL="45720" marR="45720" marT="18288" marB="18288">
                    <a:solidFill>
                      <a:srgbClr val="FFFFFF"/>
                    </a:solidFill>
                  </a:tcPr>
                </a:tc>
                <a:tc>
                  <a:txBody>
                    <a:bodyPr wrap="square"/>
                    <a:lstStyle/>
                    <a:p>
                      <a:pPr algn="ctr">
                        <a:defRPr sz="850">
                          <a:solidFill>
                            <a:srgbClr val="1E242B"/>
                          </a:solidFill>
                          <a:latin typeface="Meiryo UI"/>
                        </a:defRPr>
                      </a:pPr>
                      <a:r>
                        <a:t>9 名（作業者）</a:t>
                      </a:r>
                    </a:p>
                  </a:txBody>
                  <a:tcPr anchor="ctr" marL="45720" marR="45720" marT="18288" marB="18288">
                    <a:solidFill>
                      <a:srgbClr val="FFFFFF"/>
                    </a:solidFill>
                  </a:tcPr>
                </a:tc>
                <a:tc>
                  <a:txBody>
                    <a:bodyPr wrap="square"/>
                    <a:lstStyle/>
                    <a:p>
                      <a:pPr algn="ctr">
                        <a:defRPr sz="850">
                          <a:solidFill>
                            <a:srgbClr val="1E242B"/>
                          </a:solidFill>
                          <a:latin typeface="Meiryo UI"/>
                        </a:defRPr>
                      </a:pPr>
                      <a:r>
                        <a:t>9 名（作業者）</a:t>
                      </a:r>
                    </a:p>
                  </a:txBody>
                  <a:tcPr anchor="ctr" marL="45720" marR="45720" marT="18288" marB="18288">
                    <a:solidFill>
                      <a:srgbClr val="FFFFFF"/>
                    </a:solidFill>
                  </a:tcPr>
                </a:tc>
                <a:tc>
                  <a:txBody>
                    <a:bodyPr wrap="square"/>
                    <a:lstStyle/>
                    <a:p>
                      <a:pPr algn="l">
                        <a:defRPr sz="850">
                          <a:solidFill>
                            <a:srgbClr val="1E242B"/>
                          </a:solidFill>
                          <a:latin typeface="Meiryo UI"/>
                        </a:defRPr>
                      </a:pPr>
                      <a:r>
                        <a:t>画像印刷17枚・手動測定で</a:t>
                      </a:r>
                      <a:br/>
                      <a:r>
                        <a:t>作業ボトルネック化</a:t>
                      </a:r>
                    </a:p>
                  </a:txBody>
                  <a:tcPr anchor="ctr" marL="45720" marR="45720" marT="18288" marB="18288">
                    <a:solidFill>
                      <a:srgbClr val="FFFFFF"/>
                    </a:solidFill>
                  </a:tcPr>
                </a:tc>
              </a:tr>
              <a:tr h="662940">
                <a:tc>
                  <a:txBody>
                    <a:bodyPr wrap="square"/>
                    <a:lstStyle/>
                    <a:p>
                      <a:pPr algn="l">
                        <a:defRPr sz="850" b="1">
                          <a:solidFill>
                            <a:srgbClr val="1E242B"/>
                          </a:solidFill>
                          <a:latin typeface="Meiryo UI"/>
                        </a:defRPr>
                      </a:pPr>
                      <a:r>
                        <a:t>合計 作業者数</a:t>
                      </a:r>
                    </a:p>
                  </a:txBody>
                  <a:tcPr anchor="ctr" marL="45720" marR="45720" marT="18288" marB="18288">
                    <a:solidFill>
                      <a:srgbClr val="FDEDEC"/>
                    </a:solidFill>
                  </a:tcPr>
                </a:tc>
                <a:tc>
                  <a:txBody>
                    <a:bodyPr wrap="square"/>
                    <a:lstStyle/>
                    <a:p>
                      <a:pPr algn="ctr">
                        <a:defRPr sz="850">
                          <a:solidFill>
                            <a:srgbClr val="1E242B"/>
                          </a:solidFill>
                          <a:latin typeface="Meiryo UI"/>
                        </a:defRPr>
                      </a:pPr>
                      <a:r>
                        <a:t>16 名（作業者）</a:t>
                      </a:r>
                      <a:br/>
                      <a:r>
                        <a:t>（調整7名 ＋ 画像9名）</a:t>
                      </a:r>
                    </a:p>
                  </a:txBody>
                  <a:tcPr anchor="ctr" marL="45720" marR="45720" marT="18288" marB="18288">
                    <a:solidFill>
                      <a:srgbClr val="FDEDEC"/>
                    </a:solidFill>
                  </a:tcPr>
                </a:tc>
                <a:tc>
                  <a:txBody>
                    <a:bodyPr wrap="square"/>
                    <a:lstStyle/>
                    <a:p>
                      <a:pPr algn="ctr">
                        <a:defRPr sz="850">
                          <a:solidFill>
                            <a:srgbClr val="1E242B"/>
                          </a:solidFill>
                          <a:latin typeface="Meiryo UI"/>
                        </a:defRPr>
                      </a:pPr>
                      <a:r>
                        <a:t>18 名 必要</a:t>
                      </a:r>
                      <a:br/>
                      <a:r>
                        <a:t>（97秒タクト計算：17.62名）</a:t>
                      </a:r>
                    </a:p>
                  </a:txBody>
                  <a:tcPr anchor="ctr" marL="45720" marR="45720" marT="18288" marB="18288">
                    <a:solidFill>
                      <a:srgbClr val="FDEDEC"/>
                    </a:solidFill>
                  </a:tcPr>
                </a:tc>
                <a:tc>
                  <a:txBody>
                    <a:bodyPr wrap="square"/>
                    <a:lstStyle/>
                    <a:p>
                      <a:pPr algn="l">
                        <a:defRPr sz="850">
                          <a:solidFill>
                            <a:srgbClr val="1E242B"/>
                          </a:solidFill>
                          <a:latin typeface="Meiryo UI"/>
                        </a:defRPr>
                      </a:pPr>
                      <a:r>
                        <a:t>現行ラインは16名が限界</a:t>
                      </a:r>
                      <a:br/>
                      <a:r>
                        <a:t>人員配置不可</a:t>
                      </a:r>
                    </a:p>
                  </a:txBody>
                  <a:tcPr anchor="ctr" marL="45720" marR="45720" marT="18288" marB="18288">
                    <a:solidFill>
                      <a:srgbClr val="FDEDEC"/>
                    </a:solidFill>
                  </a:tcPr>
                </a:tc>
              </a:tr>
              <a:tr h="662940">
                <a:tc>
                  <a:txBody>
                    <a:bodyPr wrap="square"/>
                    <a:lstStyle/>
                    <a:p>
                      <a:pPr algn="l">
                        <a:defRPr sz="850" b="1">
                          <a:solidFill>
                            <a:srgbClr val="1E242B"/>
                          </a:solidFill>
                          <a:latin typeface="Meiryo UI"/>
                        </a:defRPr>
                      </a:pPr>
                      <a:r>
                        <a:t>作業者1人当たり日産台数</a:t>
                      </a:r>
                      <a:br/>
                      <a:r>
                        <a:t>【生産性指標】</a:t>
                      </a:r>
                    </a:p>
                  </a:txBody>
                  <a:tcPr anchor="ctr" marL="45720" marR="45720" marT="18288" marB="18288">
                    <a:solidFill>
                      <a:srgbClr val="FDEDEC"/>
                    </a:solidFill>
                  </a:tcPr>
                </a:tc>
                <a:tc>
                  <a:txBody>
                    <a:bodyPr wrap="square"/>
                    <a:lstStyle/>
                    <a:p>
                      <a:pPr algn="ctr">
                        <a:defRPr sz="850">
                          <a:solidFill>
                            <a:srgbClr val="1E242B"/>
                          </a:solidFill>
                          <a:latin typeface="Meiryo UI"/>
                        </a:defRPr>
                      </a:pPr>
                      <a:r>
                        <a:t>15.19 台 / 人 / 日</a:t>
                      </a:r>
                      <a:br/>
                      <a:r>
                        <a:t>（243台 ÷ 16名）</a:t>
                      </a:r>
                    </a:p>
                  </a:txBody>
                  <a:tcPr anchor="ctr" marL="45720" marR="45720" marT="18288" marB="18288">
                    <a:solidFill>
                      <a:srgbClr val="FDEDEC"/>
                    </a:solidFill>
                  </a:tcPr>
                </a:tc>
                <a:tc>
                  <a:txBody>
                    <a:bodyPr wrap="square"/>
                    <a:lstStyle/>
                    <a:p>
                      <a:pPr algn="ctr">
                        <a:defRPr sz="850">
                          <a:solidFill>
                            <a:srgbClr val="1E242B"/>
                          </a:solidFill>
                          <a:latin typeface="Meiryo UI"/>
                        </a:defRPr>
                      </a:pPr>
                      <a:r>
                        <a:t>16.67 台 / 人 / 日</a:t>
                      </a:r>
                      <a:br/>
                      <a:r>
                        <a:t>（300台 ÷ 18名）</a:t>
                      </a:r>
                    </a:p>
                  </a:txBody>
                  <a:tcPr anchor="ctr" marL="45720" marR="45720" marT="18288" marB="18288">
                    <a:solidFill>
                      <a:srgbClr val="FDEDEC"/>
                    </a:solidFill>
                  </a:tcPr>
                </a:tc>
                <a:tc>
                  <a:txBody>
                    <a:bodyPr wrap="square"/>
                    <a:lstStyle/>
                    <a:p>
                      <a:pPr algn="l">
                        <a:defRPr sz="850">
                          <a:solidFill>
                            <a:srgbClr val="1E242B"/>
                          </a:solidFill>
                          <a:latin typeface="Meiryo UI"/>
                        </a:defRPr>
                      </a:pPr>
                      <a:r>
                        <a:t>現行能力ではIrisEXPの</a:t>
                      </a:r>
                      <a:br/>
                      <a:r>
                        <a:t>生産を確保できない</a:t>
                      </a:r>
                    </a:p>
                  </a:txBody>
                  <a:tcPr anchor="ctr" marL="45720" marR="45720" marT="18288" marB="18288">
                    <a:solidFill>
                      <a:srgbClr val="FDEDEC"/>
                    </a:solidFill>
                  </a:tcPr>
                </a:tc>
              </a:tr>
            </a:tbl>
          </a:graphicData>
        </a:graphic>
      </p:graphicFrame>
      <p:pic>
        <p:nvPicPr>
          <p:cNvPr id="8" name="Picture 7" descr="chart_s1_status_jp.png"/>
          <p:cNvPicPr>
            <a:picLocks noChangeAspect="1"/>
          </p:cNvPicPr>
          <p:nvPr/>
        </p:nvPicPr>
        <p:blipFill>
          <a:blip r:embed="rId2"/>
          <a:stretch>
            <a:fillRect/>
          </a:stretch>
        </p:blipFill>
        <p:spPr>
          <a:xfrm>
            <a:off x="6263640" y="1188720"/>
            <a:ext cx="5669280" cy="2429691"/>
          </a:xfrm>
          <a:prstGeom prst="rect">
            <a:avLst/>
          </a:prstGeom>
        </p:spPr>
      </p:pic>
      <p:sp>
        <p:nvSpPr>
          <p:cNvPr id="9" name="Rectangle 8"/>
          <p:cNvSpPr/>
          <p:nvPr/>
        </p:nvSpPr>
        <p:spPr>
          <a:xfrm>
            <a:off x="6263640" y="3886200"/>
            <a:ext cx="5669280" cy="2606040"/>
          </a:xfrm>
          <a:prstGeom prst="rect">
            <a:avLst/>
          </a:prstGeom>
          <a:solidFill>
            <a:srgbClr val="FDEDEC"/>
          </a:solidFill>
          <a:ln w="12700">
            <a:solidFill>
              <a:srgbClr val="B82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3886200"/>
            <a:ext cx="5669280" cy="292608"/>
          </a:xfrm>
          <a:prstGeom prst="rect">
            <a:avLst/>
          </a:prstGeom>
          <a:solidFill>
            <a:srgbClr val="B8292F"/>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930" b="1">
                <a:solidFill>
                  <a:srgbClr val="FFFFFF"/>
                </a:solidFill>
                <a:latin typeface="Meiryo UI"/>
              </a:defRPr>
            </a:pPr>
            <a:r>
              <a:t>現行IRIS2024ラインにおける生産能力の結論</a:t>
            </a:r>
          </a:p>
        </p:txBody>
      </p:sp>
      <p:sp>
        <p:nvSpPr>
          <p:cNvPr id="11" name="TextBox 10"/>
          <p:cNvSpPr txBox="1"/>
          <p:nvPr/>
        </p:nvSpPr>
        <p:spPr>
          <a:xfrm>
            <a:off x="6336792" y="4206240"/>
            <a:ext cx="5522976" cy="2258568"/>
          </a:xfrm>
          <a:prstGeom prst="rect">
            <a:avLst/>
          </a:prstGeom>
          <a:noFill/>
        </p:spPr>
        <p:txBody>
          <a:bodyPr wrap="square" lIns="36576" rIns="36576" tIns="18288" bIns="18288">
            <a:spAutoFit/>
          </a:bodyPr>
          <a:lstStyle/>
          <a:p>
            <a:pPr>
              <a:spcAft>
                <a:spcPts val="220"/>
              </a:spcAft>
              <a:defRPr sz="850" b="1">
                <a:solidFill>
                  <a:srgbClr val="1E242B"/>
                </a:solidFill>
                <a:latin typeface="Meiryo UI"/>
              </a:defRPr>
            </a:pPr>
            <a:r>
              <a:t>⚠ 1. 生産量不足の懸念：現行の生産性（15.19台/人/日）では16名体制で243台/日しか達成できず、IrisEXPの要求日産300台（タクト97秒・月産16,000台）に対し57台/日不足する。</a:t>
            </a:r>
          </a:p>
          <a:p>
            <a:pPr>
              <a:spcAft>
                <a:spcPts val="220"/>
              </a:spcAft>
              <a:defRPr sz="850" b="1">
                <a:solidFill>
                  <a:srgbClr val="1E242B"/>
                </a:solidFill>
                <a:latin typeface="Meiryo UI"/>
              </a:defRPr>
            </a:pPr>
            <a:r>
              <a:t>⚠ 2. レイアウト・人員の限界：従来通りの工程設計のままでは18名の作業者が必要となり、現行Iris2024ラインのスペース（最大16名配置）および検査台数を超過し成立しない。</a:t>
            </a:r>
          </a:p>
          <a:p>
            <a:pPr>
              <a:spcAft>
                <a:spcPts val="220"/>
              </a:spcAft>
              <a:defRPr sz="850" b="1">
                <a:solidFill>
                  <a:srgbClr val="1E242B"/>
                </a:solidFill>
                <a:latin typeface="Meiryo UI"/>
              </a:defRPr>
            </a:pPr>
            <a:r>
              <a:t>⚠ 3. 画像工程のボトルネック：テストチャート17枚印刷＋2枚コピー、および手動濃度測定（192秒）により、画像検査グループ（9名）がタクト97秒の追従不能要因となる。</a:t>
            </a:r>
          </a:p>
          <a:p>
            <a:pPr>
              <a:spcAft>
                <a:spcPts val="220"/>
              </a:spcAft>
              <a:defRPr sz="850" b="1">
                <a:solidFill>
                  <a:srgbClr val="1E242B"/>
                </a:solidFill>
                <a:latin typeface="Meiryo UI"/>
              </a:defRPr>
            </a:pPr>
            <a:r>
              <a:t>■ 4. 生産性2倍向上の必達：工程再設計＋印刷半減＋自動化を推進し、作業者1人当たり日産を≥30.38台へ倍増、8～9名体制へ半減させて現行ライン上での生産を死守する。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1. 現状把握</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現行 Iris2024 PRT 調整工程レイアウト図（A1 ～ A11：手動Line ＋ 自動CELL Line）</a:t>
            </a:r>
          </a:p>
        </p:txBody>
      </p:sp>
      <p:sp>
        <p:nvSpPr>
          <p:cNvPr id="5" name="TextBox 4"/>
          <p:cNvSpPr txBox="1"/>
          <p:nvPr/>
        </p:nvSpPr>
        <p:spPr>
          <a:xfrm>
            <a:off x="11292840" y="109728"/>
            <a:ext cx="731520" cy="347472"/>
          </a:xfrm>
          <a:prstGeom prst="rect">
            <a:avLst/>
          </a:prstGeom>
          <a:noFill/>
        </p:spPr>
        <p:txBody>
          <a:bodyPr wrap="none">
            <a:spAutoFit/>
          </a:bodyPr>
          <a:lstStyle/>
          <a:p>
            <a:pPr algn="r">
              <a:defRPr sz="1000" b="1">
                <a:solidFill>
                  <a:srgbClr val="D0D8E8"/>
                </a:solidFill>
                <a:latin typeface="Meiryo UI"/>
              </a:defRPr>
            </a:pPr>
            <a:r>
              <a:t>3 / 15</a:t>
            </a:r>
          </a:p>
        </p:txBody>
      </p:sp>
      <p:sp>
        <p:nvSpPr>
          <p:cNvPr id="6" name="Rectangle 5"/>
          <p:cNvSpPr/>
          <p:nvPr/>
        </p:nvSpPr>
        <p:spPr>
          <a:xfrm>
            <a:off x="256032" y="640080"/>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rPr sz="1200" b="1">
                <a:solidFill>
                  <a:srgbClr val="1B365D"/>
                </a:solidFill>
                <a:latin typeface="Meiryo UI"/>
              </a:rPr>
              <a:t>■ 現行Iris2024調整ラインの実機レイアウト図面（全長57m、全幅2.7m；A1～A11の11ポジション、作業者16名：調整7名＋画像9名）。現行の配置と工数構造では日産243台（15.19台/人/日）に留まり、IrisEXPのタクト97秒（300台/日）を満たすことはできない。</a:t>
            </a:r>
          </a:p>
        </p:txBody>
      </p:sp>
      <p:sp>
        <p:nvSpPr>
          <p:cNvPr id="7" name="Rectangle 6"/>
          <p:cNvSpPr/>
          <p:nvPr/>
        </p:nvSpPr>
        <p:spPr>
          <a:xfrm>
            <a:off x="256032" y="1152144"/>
            <a:ext cx="11679631" cy="3456432"/>
          </a:xfrm>
          <a:prstGeom prst="rect">
            <a:avLst/>
          </a:prstGeom>
          <a:solidFill>
            <a:srgbClr val="FFFFFF"/>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1152144"/>
            <a:ext cx="11679631" cy="2743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Meiryo UI"/>
              </a:defRPr>
            </a:pPr>
            <a:r>
              <a:t>  現行 Iris2024 PRT 調整工程 CELL LINE レイアウト（全長 57m × 全幅 2.7m ｜ CELL両側配置・1人3CELL・バッファ設備あり）</a:t>
            </a:r>
          </a:p>
        </p:txBody>
      </p:sp>
      <p:pic>
        <p:nvPicPr>
          <p:cNvPr id="9" name="Picture 8" descr="layout_iris2024_jp.png"/>
          <p:cNvPicPr>
            <a:picLocks noChangeAspect="1"/>
          </p:cNvPicPr>
          <p:nvPr/>
        </p:nvPicPr>
        <p:blipFill>
          <a:blip r:embed="rId2"/>
          <a:stretch>
            <a:fillRect/>
          </a:stretch>
        </p:blipFill>
        <p:spPr>
          <a:xfrm>
            <a:off x="329184" y="1444752"/>
            <a:ext cx="11521440" cy="3109942"/>
          </a:xfrm>
          <a:prstGeom prst="rect">
            <a:avLst/>
          </a:prstGeom>
        </p:spPr>
      </p:pic>
      <p:graphicFrame>
        <p:nvGraphicFramePr>
          <p:cNvPr id="10" name="Table 9"/>
          <p:cNvGraphicFramePr>
            <a:graphicFrameLocks noGrp="1"/>
          </p:cNvGraphicFramePr>
          <p:nvPr/>
        </p:nvGraphicFramePr>
        <p:xfrm>
          <a:off x="256032" y="4681728"/>
          <a:ext cx="11679631" cy="1874519"/>
        </p:xfrm>
        <a:graphic>
          <a:graphicData uri="http://schemas.openxmlformats.org/drawingml/2006/table">
            <a:tbl>
              <a:tblPr firstRow="1" bandRow="1">
                <a:tableStyleId>{5C22544A-7EE6-4342-B048-85BDC9FD1C3A}</a:tableStyleId>
              </a:tblPr>
              <a:tblGrid>
                <a:gridCol w="1600200"/>
                <a:gridCol w="2148840"/>
                <a:gridCol w="3337560"/>
                <a:gridCol w="2240280"/>
                <a:gridCol w="2352751"/>
              </a:tblGrid>
              <a:tr h="374903">
                <a:tc>
                  <a:txBody>
                    <a:bodyPr wrap="square"/>
                    <a:lstStyle/>
                    <a:p>
                      <a:pPr algn="ctr">
                        <a:defRPr sz="760" b="1">
                          <a:solidFill>
                            <a:srgbClr val="FFFFFF"/>
                          </a:solidFill>
                          <a:latin typeface="Meiryo UI"/>
                        </a:defRPr>
                      </a:pPr>
                      <a:r>
                        <a:t>工程グループ</a:t>
                      </a:r>
                    </a:p>
                  </a:txBody>
                  <a:tcPr anchor="ctr" marL="36576" marR="36576" marT="9144" marB="9144">
                    <a:solidFill>
                      <a:srgbClr val="1B365D"/>
                    </a:solidFill>
                  </a:tcPr>
                </a:tc>
                <a:tc>
                  <a:txBody>
                    <a:bodyPr wrap="square"/>
                    <a:lstStyle/>
                    <a:p>
                      <a:pPr algn="ctr">
                        <a:defRPr sz="760" b="1">
                          <a:solidFill>
                            <a:srgbClr val="FFFFFF"/>
                          </a:solidFill>
                          <a:latin typeface="Meiryo UI"/>
                        </a:defRPr>
                      </a:pPr>
                      <a:r>
                        <a:t>現行レイアウト位置</a:t>
                      </a:r>
                    </a:p>
                  </a:txBody>
                  <a:tcPr anchor="ctr" marL="36576" marR="36576" marT="9144" marB="9144">
                    <a:solidFill>
                      <a:srgbClr val="1B365D"/>
                    </a:solidFill>
                  </a:tcPr>
                </a:tc>
                <a:tc>
                  <a:txBody>
                    <a:bodyPr wrap="square"/>
                    <a:lstStyle/>
                    <a:p>
                      <a:pPr algn="ctr">
                        <a:defRPr sz="760" b="1">
                          <a:solidFill>
                            <a:srgbClr val="FFFFFF"/>
                          </a:solidFill>
                          <a:latin typeface="Meiryo UI"/>
                        </a:defRPr>
                      </a:pPr>
                      <a:r>
                        <a:t>図面に基づく実際の実作業内容（A1 ～ A11）</a:t>
                      </a:r>
                    </a:p>
                  </a:txBody>
                  <a:tcPr anchor="ctr" marL="36576" marR="36576" marT="9144" marB="9144">
                    <a:solidFill>
                      <a:srgbClr val="1B365D"/>
                    </a:solidFill>
                  </a:tcPr>
                </a:tc>
                <a:tc>
                  <a:txBody>
                    <a:bodyPr wrap="square"/>
                    <a:lstStyle/>
                    <a:p>
                      <a:pPr algn="ctr">
                        <a:defRPr sz="760" b="1">
                          <a:solidFill>
                            <a:srgbClr val="FFFFFF"/>
                          </a:solidFill>
                          <a:latin typeface="Meiryo UI"/>
                        </a:defRPr>
                      </a:pPr>
                      <a:r>
                        <a:t>現行ライン構造の特徴</a:t>
                      </a:r>
                    </a:p>
                  </a:txBody>
                  <a:tcPr anchor="ctr" marL="36576" marR="36576" marT="9144" marB="9144">
                    <a:solidFill>
                      <a:srgbClr val="1B365D"/>
                    </a:solidFill>
                  </a:tcPr>
                </a:tc>
                <a:tc>
                  <a:txBody>
                    <a:bodyPr wrap="square"/>
                    <a:lstStyle/>
                    <a:p>
                      <a:pPr algn="ctr">
                        <a:defRPr sz="760" b="1">
                          <a:solidFill>
                            <a:srgbClr val="FFFFFF"/>
                          </a:solidFill>
                          <a:latin typeface="Meiryo UI"/>
                        </a:defRPr>
                      </a:pPr>
                      <a:r>
                        <a:t>IrisEXP移行時における制約・課題</a:t>
                      </a:r>
                    </a:p>
                  </a:txBody>
                  <a:tcPr anchor="ctr" marL="36576" marR="36576" marT="9144" marB="9144">
                    <a:solidFill>
                      <a:srgbClr val="1B365D"/>
                    </a:solidFill>
                  </a:tcPr>
                </a:tc>
              </a:tr>
              <a:tr h="374903">
                <a:tc>
                  <a:txBody>
                    <a:bodyPr wrap="square"/>
                    <a:lstStyle/>
                    <a:p>
                      <a:pPr algn="ctr">
                        <a:defRPr sz="680" b="1">
                          <a:solidFill>
                            <a:srgbClr val="1E242B"/>
                          </a:solidFill>
                          <a:latin typeface="Meiryo UI"/>
                        </a:defRPr>
                      </a:pPr>
                      <a:r>
                        <a:t>手動調整ライン</a:t>
                      </a:r>
                      <a:br/>
                      <a:r>
                        <a:t>（A1 ～ A4）</a:t>
                      </a:r>
                    </a:p>
                  </a:txBody>
                  <a:tcPr anchor="ctr" marL="36576" marR="36576" marT="9144" marB="9144">
                    <a:solidFill>
                      <a:srgbClr val="E8EEF5"/>
                    </a:solidFill>
                  </a:tcPr>
                </a:tc>
                <a:tc>
                  <a:txBody>
                    <a:bodyPr wrap="square"/>
                    <a:lstStyle/>
                    <a:p>
                      <a:pPr algn="l">
                        <a:defRPr sz="680">
                          <a:solidFill>
                            <a:srgbClr val="1E242B"/>
                          </a:solidFill>
                          <a:latin typeface="Meiryo UI"/>
                        </a:defRPr>
                      </a:pPr>
                      <a:r>
                        <a:t>A1, A2, A3, A4</a:t>
                      </a:r>
                      <a:br/>
                      <a:r>
                        <a:t>（前工程・手動手押し</a:t>
                      </a:r>
                      <a:br/>
                      <a:r>
                        <a:t>ライン側：作業者7名）</a:t>
                      </a:r>
                    </a:p>
                  </a:txBody>
                  <a:tcPr anchor="ctr" marL="36576" marR="36576" marT="9144" marB="9144">
                    <a:solidFill>
                      <a:srgbClr val="E8EEF5"/>
                    </a:solidFill>
                  </a:tcPr>
                </a:tc>
                <a:tc>
                  <a:txBody>
                    <a:bodyPr wrap="square"/>
                    <a:lstStyle/>
                    <a:p>
                      <a:pPr algn="l">
                        <a:defRPr sz="680">
                          <a:solidFill>
                            <a:srgbClr val="1E242B"/>
                          </a:solidFill>
                          <a:latin typeface="Meiryo UI"/>
                        </a:defRPr>
                      </a:pPr>
                      <a:r>
                        <a:t>• A1：ソフト書き込み、FAX・トナー治具取付、初期設定＋FAN確認、治具取外/ダミー取付。</a:t>
                      </a:r>
                      <a:br/>
                      <a:r>
                        <a:t>• A2：言語選択、廃トナーU155設定、廃トナーBOX認識確認、セミファイナル。</a:t>
                      </a:r>
                      <a:br/>
                      <a:r>
                        <a:t>• A3・A4：カセット開閉確認、オプション確認；カバー取付、耐電圧検査、用紙サイズ認識、給紙。</a:t>
                      </a:r>
                    </a:p>
                  </a:txBody>
                  <a:tcPr anchor="ctr" marL="36576" marR="36576" marT="9144" marB="9144">
                    <a:solidFill>
                      <a:srgbClr val="E8EEF5"/>
                    </a:solidFill>
                  </a:tcPr>
                </a:tc>
                <a:tc>
                  <a:txBody>
                    <a:bodyPr wrap="square"/>
                    <a:lstStyle/>
                    <a:p>
                      <a:pPr algn="l">
                        <a:defRPr sz="680">
                          <a:solidFill>
                            <a:srgbClr val="1E242B"/>
                          </a:solidFill>
                          <a:latin typeface="Meiryo UI"/>
                        </a:defRPr>
                      </a:pPr>
                      <a:r>
                        <a:t>• ライン全長：57m（本体ライン影響回避のため60m→57mに短縮済）。</a:t>
                      </a:r>
                      <a:br/>
                      <a:r>
                        <a:t>• 自動ライン幅：2.7m。</a:t>
                      </a:r>
                    </a:p>
                  </a:txBody>
                  <a:tcPr anchor="ctr" marL="36576" marR="36576" marT="9144" marB="9144">
                    <a:solidFill>
                      <a:srgbClr val="E8EEF5"/>
                    </a:solidFill>
                  </a:tcPr>
                </a:tc>
                <a:tc>
                  <a:txBody>
                    <a:bodyPr wrap="square"/>
                    <a:lstStyle/>
                    <a:p>
                      <a:pPr algn="l">
                        <a:defRPr sz="680">
                          <a:solidFill>
                            <a:srgbClr val="1E242B"/>
                          </a:solidFill>
                          <a:latin typeface="Meiryo UI"/>
                        </a:defRPr>
                      </a:pPr>
                      <a:r>
                        <a:t>• A1～A4でUSB/ケーブル挿抜・治具脱着が多発。</a:t>
                      </a:r>
                      <a:br/>
                      <a:r>
                        <a:t>• 耐圧測定前にカバー6枚を取り付ける手待ちが発生。</a:t>
                      </a:r>
                    </a:p>
                  </a:txBody>
                  <a:tcPr anchor="ctr" marL="36576" marR="36576" marT="9144" marB="9144">
                    <a:solidFill>
                      <a:srgbClr val="E8EEF5"/>
                    </a:solidFill>
                  </a:tcPr>
                </a:tc>
              </a:tr>
              <a:tr h="374903">
                <a:tc>
                  <a:txBody>
                    <a:bodyPr wrap="square"/>
                    <a:lstStyle/>
                    <a:p>
                      <a:pPr algn="ctr">
                        <a:defRPr sz="680" b="1">
                          <a:solidFill>
                            <a:srgbClr val="1E242B"/>
                          </a:solidFill>
                          <a:latin typeface="Meiryo UI"/>
                        </a:defRPr>
                      </a:pPr>
                      <a:r>
                        <a:t>自動調整＆Aging</a:t>
                      </a:r>
                      <a:br/>
                      <a:r>
                        <a:t>（A5 ～ A7）</a:t>
                      </a:r>
                    </a:p>
                  </a:txBody>
                  <a:tcPr anchor="ctr" marL="36576" marR="36576" marT="9144" marB="9144">
                    <a:solidFill>
                      <a:srgbClr val="FEF7E6"/>
                    </a:solidFill>
                  </a:tcPr>
                </a:tc>
                <a:tc>
                  <a:txBody>
                    <a:bodyPr wrap="square"/>
                    <a:lstStyle/>
                    <a:p>
                      <a:pPr algn="l">
                        <a:defRPr sz="680">
                          <a:solidFill>
                            <a:srgbClr val="1E242B"/>
                          </a:solidFill>
                          <a:latin typeface="Meiryo UI"/>
                        </a:defRPr>
                      </a:pPr>
                      <a:r>
                        <a:t>A5, A6（Aging前）</a:t>
                      </a:r>
                      <a:br/>
                      <a:r>
                        <a:t>および A7（Agingエリア・</a:t>
                      </a:r>
                      <a:br/>
                      <a:r>
                        <a:t>USB/U201検査）</a:t>
                      </a:r>
                    </a:p>
                  </a:txBody>
                  <a:tcPr anchor="ctr" marL="36576" marR="36576" marT="9144" marB="9144">
                    <a:solidFill>
                      <a:srgbClr val="FEF7E6"/>
                    </a:solidFill>
                  </a:tcPr>
                </a:tc>
                <a:tc>
                  <a:txBody>
                    <a:bodyPr wrap="square"/>
                    <a:lstStyle/>
                    <a:p>
                      <a:pPr algn="l">
                        <a:defRPr sz="680">
                          <a:solidFill>
                            <a:srgbClr val="1E242B"/>
                          </a:solidFill>
                          <a:latin typeface="Meiryo UI"/>
                        </a:defRPr>
                      </a:pPr>
                      <a:r>
                        <a:t>• A5：用紙サイズ・残量認識確認、カセットに用紙をセット。</a:t>
                      </a:r>
                      <a:br/>
                      <a:r>
                        <a:t>• A6：U950前にRCG印刷、ISU自動調整（U411）、SITC-2原稿スキャン。</a:t>
                      </a:r>
                      <a:br/>
                      <a:r>
                        <a:t>• A7：右カバー開閉確認、Halftoneスキャン、USB認識、U201座標、Aging U950、ベルト蛇行。</a:t>
                      </a:r>
                    </a:p>
                  </a:txBody>
                  <a:tcPr anchor="ctr" marL="36576" marR="36576" marT="9144" marB="9144">
                    <a:solidFill>
                      <a:srgbClr val="FEF7E6"/>
                    </a:solidFill>
                  </a:tcPr>
                </a:tc>
                <a:tc>
                  <a:txBody>
                    <a:bodyPr wrap="square"/>
                    <a:lstStyle/>
                    <a:p>
                      <a:pPr algn="l">
                        <a:defRPr sz="680">
                          <a:solidFill>
                            <a:srgbClr val="1E242B"/>
                          </a:solidFill>
                          <a:latin typeface="Meiryo UI"/>
                        </a:defRPr>
                      </a:pPr>
                      <a:r>
                        <a:t>• A5・A6をAging前の自動ライン上に配置。</a:t>
                      </a:r>
                      <a:br/>
                      <a:r>
                        <a:t>• 予備スペース（5.5m）および階段あり。</a:t>
                      </a:r>
                    </a:p>
                  </a:txBody>
                  <a:tcPr anchor="ctr" marL="36576" marR="36576" marT="9144" marB="9144">
                    <a:solidFill>
                      <a:srgbClr val="FEF7E6"/>
                    </a:solidFill>
                  </a:tcPr>
                </a:tc>
                <a:tc>
                  <a:txBody>
                    <a:bodyPr wrap="square"/>
                    <a:lstStyle/>
                    <a:p>
                      <a:pPr algn="l">
                        <a:defRPr sz="680">
                          <a:solidFill>
                            <a:srgbClr val="1E242B"/>
                          </a:solidFill>
                          <a:latin typeface="Meiryo UI"/>
                        </a:defRPr>
                      </a:pPr>
                      <a:r>
                        <a:t>• A6・A7で原稿3枚を手動セット（110秒のロス）。</a:t>
                      </a:r>
                      <a:br/>
                      <a:r>
                        <a:t>• Aging U950が285秒を要し、工程停滞の最大要因。</a:t>
                      </a:r>
                    </a:p>
                  </a:txBody>
                  <a:tcPr anchor="ctr" marL="36576" marR="36576" marT="9144" marB="9144">
                    <a:solidFill>
                      <a:srgbClr val="FEF7E6"/>
                    </a:solidFill>
                  </a:tcPr>
                </a:tc>
              </a:tr>
              <a:tr h="374903">
                <a:tc>
                  <a:txBody>
                    <a:bodyPr wrap="square"/>
                    <a:lstStyle/>
                    <a:p>
                      <a:pPr algn="ctr">
                        <a:defRPr sz="680" b="1">
                          <a:solidFill>
                            <a:srgbClr val="1E242B"/>
                          </a:solidFill>
                          <a:latin typeface="Meiryo UI"/>
                        </a:defRPr>
                      </a:pPr>
                      <a:r>
                        <a:t>画像検査＆出荷</a:t>
                      </a:r>
                      <a:br/>
                      <a:r>
                        <a:t>（Cell Line：A8 ～ A11）</a:t>
                      </a:r>
                    </a:p>
                  </a:txBody>
                  <a:tcPr anchor="ctr" marL="36576" marR="36576" marT="9144" marB="9144">
                    <a:solidFill>
                      <a:srgbClr val="FFFFFF"/>
                    </a:solidFill>
                  </a:tcPr>
                </a:tc>
                <a:tc>
                  <a:txBody>
                    <a:bodyPr wrap="square"/>
                    <a:lstStyle/>
                    <a:p>
                      <a:pPr algn="l">
                        <a:defRPr sz="680">
                          <a:solidFill>
                            <a:srgbClr val="1E242B"/>
                          </a:solidFill>
                          <a:latin typeface="Meiryo UI"/>
                        </a:defRPr>
                      </a:pPr>
                      <a:r>
                        <a:t>A8（実機検査CELL両側）、</a:t>
                      </a:r>
                      <a:br/>
                      <a:r>
                        <a:t>A9（異音室）、A10、</a:t>
                      </a:r>
                      <a:br/>
                      <a:r>
                        <a:t>A11（出荷設定 5Cell）</a:t>
                      </a:r>
                    </a:p>
                  </a:txBody>
                  <a:tcPr anchor="ctr" marL="36576" marR="36576" marT="9144" marB="9144">
                    <a:solidFill>
                      <a:srgbClr val="FFFFFF"/>
                    </a:solidFill>
                  </a:tcPr>
                </a:tc>
                <a:tc>
                  <a:txBody>
                    <a:bodyPr wrap="square"/>
                    <a:lstStyle/>
                    <a:p>
                      <a:pPr algn="l">
                        <a:defRPr sz="680">
                          <a:solidFill>
                            <a:srgbClr val="1E242B"/>
                          </a:solidFill>
                          <a:latin typeface="Meiryo UI"/>
                        </a:defRPr>
                      </a:pPr>
                      <a:r>
                        <a:t>• A8：RC9、RCG印刷、RCGスキャン、LSU SKEW、Color Regist、RCC、U410調整、プロセス8枚、厚紙/封筒印刷（実機検査）。</a:t>
                      </a:r>
                      <a:br/>
                      <a:r>
                        <a:t>• A9：Grayコピー、DC-1コピー、異音検査ルーム。</a:t>
                      </a:r>
                      <a:br/>
                      <a:r>
                        <a:t>• A10・A11：余白測定、濃度測定3枚（Check Color/Black/DC-1）；コピー確認、出荷設定。</a:t>
                      </a:r>
                    </a:p>
                  </a:txBody>
                  <a:tcPr anchor="ctr" marL="36576" marR="36576" marT="9144" marB="9144">
                    <a:solidFill>
                      <a:srgbClr val="FFFFFF"/>
                    </a:solidFill>
                  </a:tcPr>
                </a:tc>
                <a:tc>
                  <a:txBody>
                    <a:bodyPr wrap="square"/>
                    <a:lstStyle/>
                    <a:p>
                      <a:pPr algn="l">
                        <a:defRPr sz="680">
                          <a:solidFill>
                            <a:srgbClr val="1E242B"/>
                          </a:solidFill>
                          <a:latin typeface="Meiryo UI"/>
                        </a:defRPr>
                      </a:pPr>
                      <a:r>
                        <a:t>• CELL両側設置（1人3CELL担当）、異音室前にバッファあり。</a:t>
                      </a:r>
                      <a:br/>
                      <a:r>
                        <a:t>• 修理エリア（9m＋13m）をライン内に内包。</a:t>
                      </a:r>
                    </a:p>
                  </a:txBody>
                  <a:tcPr anchor="ctr" marL="36576" marR="36576" marT="9144" marB="9144">
                    <a:solidFill>
                      <a:srgbClr val="FFFFFF"/>
                    </a:solidFill>
                  </a:tcPr>
                </a:tc>
                <a:tc>
                  <a:txBody>
                    <a:bodyPr wrap="square"/>
                    <a:lstStyle/>
                    <a:p>
                      <a:pPr algn="l">
                        <a:defRPr sz="680">
                          <a:solidFill>
                            <a:srgbClr val="1E242B"/>
                          </a:solidFill>
                          <a:latin typeface="Meiryo UI"/>
                        </a:defRPr>
                      </a:pPr>
                      <a:r>
                        <a:t>• 印刷17枚＋コピー2枚の印刷待ち、手動濃度測定192秒。</a:t>
                      </a:r>
                      <a:br/>
                      <a:r>
                        <a:t>• A11出荷設定が6Cell→5Cellに削減され、増員余地なし。</a:t>
                      </a:r>
                    </a:p>
                  </a:txBody>
                  <a:tcPr anchor="ctr" marL="36576" marR="36576" marT="9144" marB="9144">
                    <a:solidFill>
                      <a:srgbClr val="FFFFFF"/>
                    </a:solidFill>
                  </a:tcPr>
                </a:tc>
              </a:tr>
              <a:tr h="374907">
                <a:tc>
                  <a:txBody>
                    <a:bodyPr wrap="square"/>
                    <a:lstStyle/>
                    <a:p>
                      <a:pPr algn="ctr">
                        <a:defRPr sz="680" b="1">
                          <a:solidFill>
                            <a:srgbClr val="1E242B"/>
                          </a:solidFill>
                          <a:latin typeface="Meiryo UI"/>
                        </a:defRPr>
                      </a:pPr>
                      <a:r>
                        <a:t>現行ライン全体総括</a:t>
                      </a:r>
                    </a:p>
                  </a:txBody>
                  <a:tcPr anchor="ctr" marL="36576" marR="36576" marT="9144" marB="9144">
                    <a:solidFill>
                      <a:srgbClr val="FDEDEC"/>
                    </a:solidFill>
                  </a:tcPr>
                </a:tc>
                <a:tc>
                  <a:txBody>
                    <a:bodyPr wrap="square"/>
                    <a:lstStyle/>
                    <a:p>
                      <a:pPr algn="l">
                        <a:defRPr sz="680">
                          <a:solidFill>
                            <a:srgbClr val="1E242B"/>
                          </a:solidFill>
                          <a:latin typeface="Meiryo UI"/>
                        </a:defRPr>
                      </a:pPr>
                      <a:r>
                        <a:t>全11ポジション（A1 ～ A11）</a:t>
                      </a:r>
                      <a:br/>
                      <a:r>
                        <a:t>全長 57m × 全幅 2.7m</a:t>
                      </a:r>
                    </a:p>
                  </a:txBody>
                  <a:tcPr anchor="ctr" marL="36576" marR="36576" marT="9144" marB="9144">
                    <a:solidFill>
                      <a:srgbClr val="FDEDEC"/>
                    </a:solidFill>
                  </a:tcPr>
                </a:tc>
                <a:tc>
                  <a:txBody>
                    <a:bodyPr wrap="square"/>
                    <a:lstStyle/>
                    <a:p>
                      <a:pPr algn="l">
                        <a:defRPr sz="680">
                          <a:solidFill>
                            <a:srgbClr val="1E242B"/>
                          </a:solidFill>
                          <a:latin typeface="Meiryo UI"/>
                        </a:defRPr>
                      </a:pPr>
                      <a:r>
                        <a:t>• 最大機種標準作業時間：1,083秒（総滞留：2,350秒）。</a:t>
                      </a:r>
                      <a:br/>
                      <a:r>
                        <a:t>• 現行作業者数：16名（調整7名＋画像9名） → 日産243台（15.19台/人/日）。</a:t>
                      </a:r>
                    </a:p>
                  </a:txBody>
                  <a:tcPr anchor="ctr" marL="36576" marR="36576" marT="9144" marB="9144">
                    <a:solidFill>
                      <a:srgbClr val="FDEDEC"/>
                    </a:solidFill>
                  </a:tcPr>
                </a:tc>
                <a:tc>
                  <a:txBody>
                    <a:bodyPr wrap="square"/>
                    <a:lstStyle/>
                    <a:p>
                      <a:pPr algn="l">
                        <a:defRPr sz="680">
                          <a:solidFill>
                            <a:srgbClr val="1E242B"/>
                          </a:solidFill>
                          <a:latin typeface="Meiryo UI"/>
                        </a:defRPr>
                      </a:pPr>
                      <a:r>
                        <a:t>• 工場スペース制約上限（幅2.7m、長さ57m）に最適化済。</a:t>
                      </a:r>
                    </a:p>
                  </a:txBody>
                  <a:tcPr anchor="ctr" marL="36576" marR="36576" marT="9144" marB="9144">
                    <a:solidFill>
                      <a:srgbClr val="FDEDEC"/>
                    </a:solidFill>
                  </a:tcPr>
                </a:tc>
                <a:tc>
                  <a:txBody>
                    <a:bodyPr wrap="square"/>
                    <a:lstStyle/>
                    <a:p>
                      <a:pPr algn="l">
                        <a:defRPr sz="680">
                          <a:solidFill>
                            <a:srgbClr val="1E242B"/>
                          </a:solidFill>
                          <a:latin typeface="Meiryo UI"/>
                        </a:defRPr>
                      </a:pPr>
                      <a:r>
                        <a:t>• 生産性2倍向上を達成しない限り、IrisEXP（97秒タクト・300台/日・18名必要）は生産不可能。</a:t>
                      </a:r>
                    </a:p>
                  </a:txBody>
                  <a:tcPr anchor="ctr" marL="36576" marR="36576" marT="9144" marB="9144">
                    <a:solidFill>
                      <a:srgbClr val="FDEDEC"/>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2. 開発目標</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IrisEXP 本体保証工程（調整工程）の開発目標（後藤作成資料に基づく方針）</a:t>
            </a:r>
          </a:p>
        </p:txBody>
      </p:sp>
      <p:sp>
        <p:nvSpPr>
          <p:cNvPr id="5" name="TextBox 4"/>
          <p:cNvSpPr txBox="1"/>
          <p:nvPr/>
        </p:nvSpPr>
        <p:spPr>
          <a:xfrm>
            <a:off x="11292840" y="109728"/>
            <a:ext cx="731520" cy="347472"/>
          </a:xfrm>
          <a:prstGeom prst="rect">
            <a:avLst/>
          </a:prstGeom>
          <a:noFill/>
        </p:spPr>
        <p:txBody>
          <a:bodyPr wrap="none">
            <a:spAutoFit/>
          </a:bodyPr>
          <a:lstStyle/>
          <a:p>
            <a:pPr algn="r">
              <a:defRPr sz="1000" b="1">
                <a:solidFill>
                  <a:srgbClr val="D0D8E8"/>
                </a:solidFill>
                <a:latin typeface="Meiryo UI"/>
              </a:defRPr>
            </a:pPr>
            <a:r>
              <a:t>4 / 15</a:t>
            </a:r>
          </a:p>
        </p:txBody>
      </p:sp>
      <p:sp>
        <p:nvSpPr>
          <p:cNvPr id="6" name="Rectangle 5"/>
          <p:cNvSpPr/>
          <p:nvPr/>
        </p:nvSpPr>
        <p:spPr>
          <a:xfrm>
            <a:off x="256032" y="640080"/>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defRPr sz="1200" b="1">
                <a:solidFill>
                  <a:srgbClr val="1B365D"/>
                </a:solidFill>
                <a:latin typeface="Meiryo UI"/>
              </a:defRPr>
            </a:pPr>
            <a:r>
              <a:t>生産性2倍向上（作業者1人当たり日産台数を現行15.19台から ≥30.38～33.33台へ倍増）、正味工数50%削減および作業者半減を達成し、現行Iris2024ライン上でIrisEXP（300台/日・タクト97秒）の生産を確保する。</a:t>
            </a:r>
          </a:p>
        </p:txBody>
      </p:sp>
      <p:sp>
        <p:nvSpPr>
          <p:cNvPr id="7" name="Rectangle 6"/>
          <p:cNvSpPr/>
          <p:nvPr/>
        </p:nvSpPr>
        <p:spPr>
          <a:xfrm>
            <a:off x="256032" y="1170432"/>
            <a:ext cx="3767328" cy="3600000"/>
          </a:xfrm>
          <a:prstGeom prst="rect">
            <a:avLst/>
          </a:prstGeom>
          <a:solidFill>
            <a:srgbClr val="FFFFFF"/>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1170432"/>
            <a:ext cx="3767328" cy="29260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930" b="1">
                <a:solidFill>
                  <a:srgbClr val="FFFFFF"/>
                </a:solidFill>
                <a:latin typeface="Meiryo UI"/>
              </a:defRPr>
            </a:pPr>
            <a:r>
              <a:t>方針 1：モジュール保証の確立（C / QC）</a:t>
            </a:r>
          </a:p>
        </p:txBody>
      </p:sp>
      <p:sp>
        <p:nvSpPr>
          <p:cNvPr id="9" name="TextBox 8"/>
          <p:cNvSpPr txBox="1"/>
          <p:nvPr/>
        </p:nvSpPr>
        <p:spPr>
          <a:xfrm>
            <a:off x="329184" y="1490472"/>
            <a:ext cx="3621024" cy="3540000"/>
          </a:xfrm>
          <a:prstGeom prst="rect">
            <a:avLst/>
          </a:prstGeom>
          <a:noFill/>
        </p:spPr>
        <p:txBody>
          <a:bodyPr wrap="square" lIns="109728" rIns="109728" tIns="109728" bIns="109728">
            <a:spAutoFit/>
          </a:bodyPr>
          <a:lstStyle/>
          <a:p>
            <a:pPr>
              <a:spcBef>
                <a:spcPts val="0"/>
              </a:spcBef>
              <a:spcAft>
                <a:spcPts val="200"/>
              </a:spcAft>
              <a:defRPr sz="1250" b="1">
                <a:solidFill>
                  <a:srgbClr val="1B365D"/>
                </a:solidFill>
                <a:latin typeface="Meiryo UI"/>
              </a:defRPr>
            </a:pPr>
            <a:r>
              <a:rPr sz="1300" b="1">
                <a:solidFill>
                  <a:srgbClr val="1B365D"/>
                </a:solidFill>
                <a:latin typeface="Meiryo UI"/>
              </a:rPr>
              <a:t>工程設計方針：</a:t>
            </a:r>
          </a:p>
          <a:p>
            <a:pPr>
              <a:lnSpc>
                <a:spcPct val="120000"/>
              </a:lnSpc>
              <a:spcBef>
                <a:spcPts val="0"/>
              </a:spcBef>
              <a:spcAft>
                <a:spcPts val="800"/>
              </a:spcAft>
            </a:pPr>
            <a:r>
              <a:rPr sz="1250" b="0">
                <a:solidFill>
                  <a:srgbClr val="1E242B"/>
                </a:solidFill>
                <a:latin typeface="Meiryo UI"/>
              </a:rPr>
              <a:t>モジュールごとに保証を完結させる工程設計基盤を構築し、検査項目を前工程（組立・UNIT）へ移管。</a:t>
            </a:r>
          </a:p>
          <a:p>
            <a:pPr>
              <a:spcBef>
                <a:spcPts val="800"/>
              </a:spcBef>
              <a:spcAft>
                <a:spcPts val="200"/>
              </a:spcAft>
            </a:pPr>
            <a:r>
              <a:rPr sz="1300" b="1">
                <a:solidFill>
                  <a:srgbClr val="1B365D"/>
                </a:solidFill>
                <a:latin typeface="Meiryo UI"/>
              </a:rPr>
              <a:t>重複・無駄の徹底排除：</a:t>
            </a:r>
          </a:p>
          <a:p>
            <a:pPr>
              <a:lnSpc>
                <a:spcPct val="120000"/>
              </a:lnSpc>
              <a:spcBef>
                <a:spcPts val="0"/>
              </a:spcBef>
              <a:spcAft>
                <a:spcPts val="800"/>
              </a:spcAft>
            </a:pPr>
            <a:r>
              <a:rPr sz="1250" b="0">
                <a:solidFill>
                  <a:srgbClr val="1E242B"/>
                </a:solidFill>
                <a:latin typeface="Meiryo UI"/>
              </a:rPr>
              <a:t>現行Iris2024調整工程の全項目を見直し、重複作業および無駄工数を徹底的に排除。</a:t>
            </a:r>
          </a:p>
          <a:p>
            <a:pPr>
              <a:spcBef>
                <a:spcPts val="800"/>
              </a:spcBef>
              <a:spcAft>
                <a:spcPts val="200"/>
              </a:spcAft>
            </a:pPr>
            <a:r>
              <a:rPr sz="1300" b="1">
                <a:solidFill>
                  <a:srgbClr val="1B365D"/>
                </a:solidFill>
                <a:latin typeface="Meiryo UI"/>
              </a:rPr>
              <a:t>達成目標：</a:t>
            </a:r>
          </a:p>
          <a:p>
            <a:pPr>
              <a:lnSpc>
                <a:spcPct val="120000"/>
              </a:lnSpc>
              <a:spcBef>
                <a:spcPts val="0"/>
              </a:spcBef>
              <a:spcAft>
                <a:spcPts val="800"/>
              </a:spcAft>
            </a:pPr>
            <a:r>
              <a:rPr sz="1250" b="0">
                <a:solidFill>
                  <a:srgbClr val="1E242B"/>
                </a:solidFill>
                <a:latin typeface="Meiryo UI"/>
              </a:rPr>
              <a:t>Iris2024で行っている手動検査を廃止、または3項目以上で工数を半減。</a:t>
            </a:r>
          </a:p>
        </p:txBody>
      </p:sp>
      <p:sp>
        <p:nvSpPr>
          <p:cNvPr id="10" name="Rectangle 9"/>
          <p:cNvSpPr/>
          <p:nvPr/>
        </p:nvSpPr>
        <p:spPr>
          <a:xfrm>
            <a:off x="4206240" y="1170432"/>
            <a:ext cx="3767328" cy="3600000"/>
          </a:xfrm>
          <a:prstGeom prst="rect">
            <a:avLst/>
          </a:prstGeom>
          <a:solidFill>
            <a:srgbClr val="FFFFFF"/>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0" y="1170432"/>
            <a:ext cx="3767328" cy="292608"/>
          </a:xfrm>
          <a:prstGeom prst="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930" b="1">
                <a:solidFill>
                  <a:srgbClr val="FFFFFF"/>
                </a:solidFill>
                <a:latin typeface="Meiryo UI"/>
              </a:defRPr>
            </a:pPr>
            <a:r>
              <a:t>方針 2：標準作業時間の半減（QCD）</a:t>
            </a:r>
          </a:p>
        </p:txBody>
      </p:sp>
      <p:sp>
        <p:nvSpPr>
          <p:cNvPr id="12" name="TextBox 11"/>
          <p:cNvSpPr txBox="1"/>
          <p:nvPr/>
        </p:nvSpPr>
        <p:spPr>
          <a:xfrm>
            <a:off x="4279392" y="1490472"/>
            <a:ext cx="3621024" cy="3540000"/>
          </a:xfrm>
          <a:prstGeom prst="rect">
            <a:avLst/>
          </a:prstGeom>
          <a:noFill/>
        </p:spPr>
        <p:txBody>
          <a:bodyPr wrap="square" lIns="109728" rIns="109728" tIns="109728" bIns="109728">
            <a:spAutoFit/>
          </a:bodyPr>
          <a:lstStyle/>
          <a:p>
            <a:pPr>
              <a:spcBef>
                <a:spcPts val="0"/>
              </a:spcBef>
              <a:spcAft>
                <a:spcPts val="200"/>
              </a:spcAft>
              <a:defRPr sz="1250" b="1">
                <a:solidFill>
                  <a:srgbClr val="1B365D"/>
                </a:solidFill>
                <a:latin typeface="Meiryo UI"/>
              </a:defRPr>
            </a:pPr>
            <a:r>
              <a:rPr sz="1300" b="1">
                <a:solidFill>
                  <a:srgbClr val="1B365D"/>
                </a:solidFill>
                <a:latin typeface="Meiryo UI"/>
              </a:rPr>
              <a:t>標準作業時間短縮（正味50%削減）：</a:t>
            </a:r>
          </a:p>
          <a:p>
            <a:pPr>
              <a:lnSpc>
                <a:spcPct val="120000"/>
              </a:lnSpc>
              <a:spcBef>
                <a:spcPts val="0"/>
              </a:spcBef>
              <a:spcAft>
                <a:spcPts val="800"/>
              </a:spcAft>
            </a:pPr>
            <a:r>
              <a:rPr sz="1250" b="0">
                <a:solidFill>
                  <a:srgbClr val="1E242B"/>
                </a:solidFill>
                <a:latin typeface="Meiryo UI"/>
              </a:rPr>
              <a:t>正味作業時間を1,083s -&gt; ≤ 541s/台へ半減（総滞留時間：2,350s -&gt; ≤ 1,175s）。</a:t>
            </a:r>
          </a:p>
          <a:p>
            <a:pPr>
              <a:spcBef>
                <a:spcPts val="800"/>
              </a:spcBef>
              <a:spcAft>
                <a:spcPts val="200"/>
              </a:spcAft>
            </a:pPr>
            <a:r>
              <a:rPr sz="1300" b="1">
                <a:solidFill>
                  <a:srgbClr val="1B365D"/>
                </a:solidFill>
                <a:latin typeface="Meiryo UI"/>
              </a:rPr>
              <a:t>テストチャート印刷枚数半減：</a:t>
            </a:r>
          </a:p>
          <a:p>
            <a:pPr>
              <a:lnSpc>
                <a:spcPct val="120000"/>
              </a:lnSpc>
              <a:spcBef>
                <a:spcPts val="0"/>
              </a:spcBef>
              <a:spcAft>
                <a:spcPts val="800"/>
              </a:spcAft>
            </a:pPr>
            <a:r>
              <a:rPr sz="1250" b="0">
                <a:solidFill>
                  <a:srgbClr val="1E242B"/>
                </a:solidFill>
                <a:latin typeface="Meiryo UI"/>
              </a:rPr>
              <a:t>印刷チャート枚数を大幅削減： • 印刷パターン：17枚 -&gt; 9枚 • コピー枚数：2枚 -&gt; 1枚</a:t>
            </a:r>
          </a:p>
          <a:p>
            <a:pPr>
              <a:spcBef>
                <a:spcPts val="800"/>
              </a:spcBef>
              <a:spcAft>
                <a:spcPts val="200"/>
              </a:spcAft>
            </a:pPr>
            <a:r>
              <a:rPr sz="1300" b="1">
                <a:solidFill>
                  <a:srgbClr val="1B365D"/>
                </a:solidFill>
                <a:latin typeface="Meiryo UI"/>
              </a:rPr>
              <a:t>ソフトウェア・AI活用：</a:t>
            </a:r>
          </a:p>
          <a:p>
            <a:pPr>
              <a:lnSpc>
                <a:spcPct val="120000"/>
              </a:lnSpc>
              <a:spcBef>
                <a:spcPts val="0"/>
              </a:spcBef>
              <a:spcAft>
                <a:spcPts val="800"/>
              </a:spcAft>
            </a:pPr>
            <a:r>
              <a:rPr sz="1250" b="0">
                <a:solidFill>
                  <a:srgbClr val="1E242B"/>
                </a:solidFill>
                <a:latin typeface="Meiryo UI"/>
              </a:rPr>
              <a:t>AI動画動作分析による無駄排除およびコマンド自動化による検査効率化。</a:t>
            </a:r>
          </a:p>
        </p:txBody>
      </p:sp>
      <p:sp>
        <p:nvSpPr>
          <p:cNvPr id="13" name="Rectangle 12"/>
          <p:cNvSpPr/>
          <p:nvPr/>
        </p:nvSpPr>
        <p:spPr>
          <a:xfrm>
            <a:off x="8156448" y="1170432"/>
            <a:ext cx="3779215" cy="3600000"/>
          </a:xfrm>
          <a:prstGeom prst="rect">
            <a:avLst/>
          </a:prstGeom>
          <a:solidFill>
            <a:srgbClr val="EAF7EE"/>
          </a:solidFill>
          <a:ln w="12700">
            <a:solidFill>
              <a:srgbClr val="1E6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56448" y="1170432"/>
            <a:ext cx="3779215" cy="292608"/>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930" b="1">
                <a:solidFill>
                  <a:srgbClr val="FFFFFF"/>
                </a:solidFill>
                <a:latin typeface="Meiryo UI"/>
              </a:defRPr>
            </a:pPr>
            <a:r>
              <a:t>方針 3：自動化推進と生産性倍増</a:t>
            </a:r>
          </a:p>
        </p:txBody>
      </p:sp>
      <p:sp>
        <p:nvSpPr>
          <p:cNvPr id="15" name="TextBox 14"/>
          <p:cNvSpPr txBox="1"/>
          <p:nvPr/>
        </p:nvSpPr>
        <p:spPr>
          <a:xfrm>
            <a:off x="8229600" y="1490472"/>
            <a:ext cx="3632911" cy="3540000"/>
          </a:xfrm>
          <a:prstGeom prst="rect">
            <a:avLst/>
          </a:prstGeom>
          <a:noFill/>
        </p:spPr>
        <p:txBody>
          <a:bodyPr wrap="square" lIns="109728" rIns="109728" tIns="109728" bIns="109728">
            <a:spAutoFit/>
          </a:bodyPr>
          <a:lstStyle/>
          <a:p>
            <a:pPr>
              <a:spcBef>
                <a:spcPts val="0"/>
              </a:spcBef>
              <a:spcAft>
                <a:spcPts val="200"/>
              </a:spcAft>
              <a:defRPr sz="1250" b="1">
                <a:solidFill>
                  <a:srgbClr val="1B365D"/>
                </a:solidFill>
                <a:latin typeface="Meiryo UI"/>
              </a:defRPr>
            </a:pPr>
            <a:r>
              <a:rPr sz="1300" b="1">
                <a:solidFill>
                  <a:srgbClr val="1B5E20"/>
                </a:solidFill>
                <a:latin typeface="Meiryo UI"/>
              </a:rPr>
              <a:t>作業者1人当たり生産性（倍増達成）：</a:t>
            </a:r>
          </a:p>
          <a:p>
            <a:pPr>
              <a:lnSpc>
                <a:spcPct val="120000"/>
              </a:lnSpc>
              <a:spcBef>
                <a:spcPts val="0"/>
              </a:spcBef>
              <a:spcAft>
                <a:spcPts val="800"/>
              </a:spcAft>
            </a:pPr>
            <a:r>
              <a:rPr sz="1250" b="0">
                <a:solidFill>
                  <a:srgbClr val="1E242B"/>
                </a:solidFill>
                <a:latin typeface="Meiryo UI"/>
              </a:rPr>
              <a:t>日産 ≥ 30.38 ～ 33.33台/人（現行15.19台/人から倍増を達成）。</a:t>
            </a:r>
          </a:p>
          <a:p>
            <a:pPr>
              <a:spcBef>
                <a:spcPts val="800"/>
              </a:spcBef>
              <a:spcAft>
                <a:spcPts val="200"/>
              </a:spcAft>
            </a:pPr>
            <a:r>
              <a:rPr sz="1300" b="1">
                <a:solidFill>
                  <a:srgbClr val="1B5E20"/>
                </a:solidFill>
                <a:latin typeface="Meiryo UI"/>
              </a:rPr>
              <a:t>作業人員のスリム化（50%削減）：</a:t>
            </a:r>
          </a:p>
          <a:p>
            <a:pPr>
              <a:lnSpc>
                <a:spcPct val="120000"/>
              </a:lnSpc>
              <a:spcBef>
                <a:spcPts val="0"/>
              </a:spcBef>
              <a:spcAft>
                <a:spcPts val="800"/>
              </a:spcAft>
            </a:pPr>
            <a:r>
              <a:rPr sz="1250" b="0">
                <a:solidFill>
                  <a:srgbClr val="1E242B"/>
                </a:solidFill>
                <a:latin typeface="Meiryo UI"/>
              </a:rPr>
              <a:t>現行16 ～ 18名体制から 8 ～ 9名体制へ集約・半減。</a:t>
            </a:r>
          </a:p>
          <a:p>
            <a:pPr>
              <a:spcBef>
                <a:spcPts val="800"/>
              </a:spcBef>
              <a:spcAft>
                <a:spcPts val="200"/>
              </a:spcAft>
            </a:pPr>
            <a:r>
              <a:rPr sz="1300" b="1">
                <a:solidFill>
                  <a:srgbClr val="1B5E20"/>
                </a:solidFill>
                <a:latin typeface="Meiryo UI"/>
              </a:rPr>
              <a:t>量産時工程能力指数の確保：</a:t>
            </a:r>
          </a:p>
          <a:p>
            <a:pPr>
              <a:lnSpc>
                <a:spcPct val="120000"/>
              </a:lnSpc>
              <a:spcBef>
                <a:spcPts val="0"/>
              </a:spcBef>
              <a:spcAft>
                <a:spcPts val="800"/>
              </a:spcAft>
            </a:pPr>
            <a:r>
              <a:rPr sz="1250" b="0">
                <a:solidFill>
                  <a:srgbClr val="1E242B"/>
                </a:solidFill>
                <a:latin typeface="Meiryo UI"/>
              </a:rPr>
              <a:t>量産（MP）移行時に工程能力指数 Cpk ≥ 1.33 を確実に達成・維持。</a:t>
            </a:r>
          </a:p>
        </p:txBody>
      </p:sp>
      <p:sp>
        <p:nvSpPr>
          <p:cNvPr id="16" name="Rectangle 15"/>
          <p:cNvSpPr/>
          <p:nvPr/>
        </p:nvSpPr>
        <p:spPr>
          <a:xfrm>
            <a:off x="347472" y="5350000"/>
            <a:ext cx="11497056" cy="1100000"/>
          </a:xfrm>
          <a:prstGeom prst="rect">
            <a:avLst/>
          </a:prstGeom>
          <a:solidFill>
            <a:srgbClr val="E8EEF5"/>
          </a:solidFill>
          <a:ln w="1905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250" b="1">
                <a:solidFill>
                  <a:srgbClr val="1B365D"/>
                </a:solidFill>
                <a:latin typeface="Meiryo UI"/>
              </a:defRPr>
            </a:pPr>
            <a:r>
              <a:t>3大方針の三位一体推進：工程再構築  ＋  チャート半減  ＋  自動化設備導入</a:t>
            </a:r>
          </a:p>
          <a:p>
            <a:pPr algn="ctr">
              <a:defRPr sz="1150">
                <a:solidFill>
                  <a:srgbClr val="1E242B"/>
                </a:solidFill>
                <a:latin typeface="Meiryo UI"/>
              </a:defRPr>
            </a:pPr>
            <a:r>
              <a:t>工場増床や大幅増員を行わず、現行Iris2024ライン面積の制約内でIrisEXPのタクト97秒（日産300台）を確実に達成する。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3. 実施方針</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3拠点（日本・中国・ベトナム）の実施方針およびベトナム工場の重点役割</a:t>
            </a:r>
          </a:p>
        </p:txBody>
      </p:sp>
      <p:sp>
        <p:nvSpPr>
          <p:cNvPr id="5" name="TextBox 4"/>
          <p:cNvSpPr txBox="1"/>
          <p:nvPr/>
        </p:nvSpPr>
        <p:spPr>
          <a:xfrm>
            <a:off x="11292840" y="109728"/>
            <a:ext cx="731520" cy="347472"/>
          </a:xfrm>
          <a:prstGeom prst="rect">
            <a:avLst/>
          </a:prstGeom>
          <a:noFill/>
        </p:spPr>
        <p:txBody>
          <a:bodyPr wrap="none">
            <a:spAutoFit/>
          </a:bodyPr>
          <a:lstStyle/>
          <a:p>
            <a:pPr algn="r">
              <a:defRPr sz="1000" b="1">
                <a:solidFill>
                  <a:srgbClr val="D0D8E8"/>
                </a:solidFill>
                <a:latin typeface="Meiryo UI"/>
              </a:defRPr>
            </a:pPr>
            <a:r>
              <a:t>5 / 15</a:t>
            </a:r>
          </a:p>
        </p:txBody>
      </p:sp>
      <p:sp>
        <p:nvSpPr>
          <p:cNvPr id="6" name="Rectangle 5"/>
          <p:cNvSpPr/>
          <p:nvPr/>
        </p:nvSpPr>
        <p:spPr>
          <a:xfrm>
            <a:off x="256032" y="640080"/>
            <a:ext cx="11679631" cy="475488"/>
          </a:xfrm>
          <a:prstGeom prst="rect">
            <a:avLst/>
          </a:prstGeom>
          <a:solidFill>
            <a:srgbClr val="E8EEF5"/>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t>日本が全体設計・レビューを担い、ベトナム・中国が現場視点で改善を立案推進。3拠点が共通ファイルと定例会で共有し、目標タクト達成へ直結させる。</a:t>
            </a:r>
          </a:p>
        </p:txBody>
      </p:sp>
      <p:sp>
        <p:nvSpPr>
          <p:cNvPr id="7" name="Rounded Rectangle 6"/>
          <p:cNvSpPr/>
          <p:nvPr/>
        </p:nvSpPr>
        <p:spPr>
          <a:xfrm>
            <a:off x="256032" y="1170432"/>
            <a:ext cx="11679631" cy="841248"/>
          </a:xfrm>
          <a:prstGeom prst="roundRect">
            <a:avLst/>
          </a:prstGeom>
          <a:solidFill>
            <a:srgbClr val="1B365D"/>
          </a:solidFill>
          <a:ln w="2540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200">
                <a:solidFill>
                  <a:srgbClr val="FFFFFF"/>
                </a:solidFill>
                <a:latin typeface="Meiryo UI"/>
              </a:defRPr>
            </a:pPr>
            <a:r>
              <a:t>行動指針： 全体を導く設計 | 現場主体の改善 | 三拠点協調の完遂</a:t>
            </a:r>
          </a:p>
          <a:p>
            <a:pPr algn="ctr">
              <a:defRPr sz="1200">
                <a:solidFill>
                  <a:srgbClr val="FFFFFF"/>
                </a:solidFill>
                <a:latin typeface="Meiryo UI"/>
              </a:defRPr>
            </a:pPr>
            <a:r>
              <a:t>日本が全体設計・総括・技術連携 | ベトナム・中国が現場課題を主体的に立案推進 | 週次定例会で課題を迅速解決</a:t>
            </a:r>
          </a:p>
        </p:txBody>
      </p:sp>
      <p:sp>
        <p:nvSpPr>
          <p:cNvPr id="8" name="Rectangle 7"/>
          <p:cNvSpPr/>
          <p:nvPr/>
        </p:nvSpPr>
        <p:spPr>
          <a:xfrm>
            <a:off x="256032" y="2103120"/>
            <a:ext cx="3767328" cy="3750000"/>
          </a:xfrm>
          <a:prstGeom prst="rect">
            <a:avLst/>
          </a:prstGeom>
          <a:solidFill>
            <a:srgbClr val="FFFFFF"/>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2103120"/>
            <a:ext cx="3767328" cy="3600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930" b="1">
                <a:solidFill>
                  <a:srgbClr val="FFFFFF"/>
                </a:solidFill>
                <a:latin typeface="Meiryo UI"/>
              </a:defRPr>
            </a:pPr>
            <a:r>
              <a:t>1. 日本（KDC）：全体設計・総括・技術連携</a:t>
            </a:r>
          </a:p>
        </p:txBody>
      </p:sp>
      <p:sp>
        <p:nvSpPr>
          <p:cNvPr id="10" name="TextBox 9"/>
          <p:cNvSpPr txBox="1"/>
          <p:nvPr/>
        </p:nvSpPr>
        <p:spPr>
          <a:xfrm>
            <a:off x="320000" y="2520000"/>
            <a:ext cx="3640000" cy="3250000"/>
          </a:xfrm>
          <a:prstGeom prst="rect">
            <a:avLst/>
          </a:prstGeom>
          <a:noFill/>
        </p:spPr>
        <p:txBody>
          <a:bodyPr wrap="square" lIns="109728" rIns="109728" tIns="109728" bIns="109728">
            <a:spAutoFit/>
          </a:bodyPr>
          <a:lstStyle/>
          <a:p>
            <a:pPr>
              <a:lnSpc>
                <a:spcPct val="125000"/>
              </a:lnSpc>
              <a:spcAft>
                <a:spcPts val="1400"/>
              </a:spcAft>
              <a:defRPr sz="860" b="1">
                <a:solidFill>
                  <a:srgbClr val="1E242B"/>
                </a:solidFill>
                <a:latin typeface="Meiryo UI"/>
              </a:defRPr>
            </a:pPr>
            <a:r>
              <a:rPr sz="1300" b="1">
                <a:solidFill>
                  <a:srgbClr val="1B365D"/>
                </a:solidFill>
                <a:latin typeface="Meiryo UI"/>
              </a:rPr>
              <a:t>• </a:t>
            </a:r>
            <a:r>
              <a:rPr sz="1300" b="1">
                <a:solidFill>
                  <a:srgbClr val="1B365D"/>
                </a:solidFill>
                <a:latin typeface="Meiryo UI"/>
              </a:rPr>
              <a:t>全体設計の方向付け： </a:t>
            </a:r>
            <a:r>
              <a:rPr sz="1300" b="0">
                <a:solidFill>
                  <a:srgbClr val="1E242B"/>
                </a:solidFill>
                <a:latin typeface="Meiryo UI"/>
              </a:rPr>
              <a:t>本体保証工程の標準仕様策定およびIrisEXP全体技術ロードマップの統括。</a:t>
            </a:r>
          </a:p>
          <a:p>
            <a:pPr>
              <a:lnSpc>
                <a:spcPct val="125000"/>
              </a:lnSpc>
              <a:spcAft>
                <a:spcPts val="1400"/>
              </a:spcAft>
            </a:pPr>
            <a:r>
              <a:rPr sz="1300" b="1">
                <a:solidFill>
                  <a:srgbClr val="1B365D"/>
                </a:solidFill>
                <a:latin typeface="Meiryo UI"/>
              </a:rPr>
              <a:t>• </a:t>
            </a:r>
            <a:r>
              <a:rPr sz="1300" b="1">
                <a:solidFill>
                  <a:srgbClr val="1B365D"/>
                </a:solidFill>
                <a:latin typeface="Meiryo UI"/>
              </a:rPr>
              <a:t>提案の総括・レビュー： </a:t>
            </a:r>
            <a:r>
              <a:rPr sz="1300" b="0">
                <a:solidFill>
                  <a:srgbClr val="1E242B"/>
                </a:solidFill>
                <a:latin typeface="Meiryo UI"/>
              </a:rPr>
              <a:t>各工場から提出された改善提案の技術的成立性・品質（QA）影響の審査と迅速な承認。</a:t>
            </a:r>
          </a:p>
          <a:p>
            <a:pPr>
              <a:lnSpc>
                <a:spcPct val="125000"/>
              </a:lnSpc>
              <a:spcAft>
                <a:spcPts val="1400"/>
              </a:spcAft>
            </a:pPr>
            <a:r>
              <a:rPr sz="1300" b="1">
                <a:solidFill>
                  <a:srgbClr val="1B365D"/>
                </a:solidFill>
                <a:latin typeface="Meiryo UI"/>
              </a:rPr>
              <a:t>• </a:t>
            </a:r>
            <a:r>
              <a:rPr sz="1300" b="1">
                <a:solidFill>
                  <a:srgbClr val="1B365D"/>
                </a:solidFill>
                <a:latin typeface="Meiryo UI"/>
              </a:rPr>
              <a:t>技術コーディネート： </a:t>
            </a:r>
            <a:r>
              <a:rPr sz="1300" b="0">
                <a:solidFill>
                  <a:srgbClr val="1E242B"/>
                </a:solidFill>
                <a:latin typeface="Meiryo UI"/>
              </a:rPr>
              <a:t>設計・ソフト開発・品保・生産技術間の技術課題を迅速に調整し、課題解決を支援。</a:t>
            </a:r>
          </a:p>
        </p:txBody>
      </p:sp>
      <p:sp>
        <p:nvSpPr>
          <p:cNvPr id="11" name="Rectangle 10"/>
          <p:cNvSpPr/>
          <p:nvPr/>
        </p:nvSpPr>
        <p:spPr>
          <a:xfrm>
            <a:off x="4206240" y="2103120"/>
            <a:ext cx="3767328" cy="3750000"/>
          </a:xfrm>
          <a:prstGeom prst="rect">
            <a:avLst/>
          </a:prstGeom>
          <a:solidFill>
            <a:srgbClr val="FFFFFF"/>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2103120"/>
            <a:ext cx="3767328" cy="360000"/>
          </a:xfrm>
          <a:prstGeom prst="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930" b="1">
                <a:solidFill>
                  <a:srgbClr val="FFFFFF"/>
                </a:solidFill>
                <a:latin typeface="Meiryo UI"/>
              </a:defRPr>
            </a:pPr>
            <a:r>
              <a:t>2. 中国＆ベトナム：現場主体の課題抽出・推進</a:t>
            </a:r>
          </a:p>
        </p:txBody>
      </p:sp>
      <p:sp>
        <p:nvSpPr>
          <p:cNvPr id="13" name="TextBox 12"/>
          <p:cNvSpPr txBox="1"/>
          <p:nvPr/>
        </p:nvSpPr>
        <p:spPr>
          <a:xfrm>
            <a:off x="4270000" y="2520000"/>
            <a:ext cx="3640000" cy="3250000"/>
          </a:xfrm>
          <a:prstGeom prst="rect">
            <a:avLst/>
          </a:prstGeom>
          <a:noFill/>
        </p:spPr>
        <p:txBody>
          <a:bodyPr wrap="square" lIns="109728" rIns="109728" tIns="109728" bIns="109728">
            <a:spAutoFit/>
          </a:bodyPr>
          <a:lstStyle/>
          <a:p>
            <a:pPr>
              <a:lnSpc>
                <a:spcPct val="125000"/>
              </a:lnSpc>
              <a:spcAft>
                <a:spcPts val="1400"/>
              </a:spcAft>
              <a:defRPr sz="860" b="1">
                <a:solidFill>
                  <a:srgbClr val="1E242B"/>
                </a:solidFill>
                <a:latin typeface="Meiryo UI"/>
              </a:defRPr>
            </a:pPr>
            <a:r>
              <a:rPr sz="1300" b="1">
                <a:solidFill>
                  <a:srgbClr val="1B365D"/>
                </a:solidFill>
                <a:latin typeface="Meiryo UI"/>
              </a:rPr>
              <a:t>• </a:t>
            </a:r>
            <a:r>
              <a:rPr sz="1300" b="1">
                <a:solidFill>
                  <a:srgbClr val="1B365D"/>
                </a:solidFill>
                <a:latin typeface="Meiryo UI"/>
              </a:rPr>
              <a:t>現場視点での課題抽出： </a:t>
            </a:r>
            <a:r>
              <a:rPr sz="1300" b="0">
                <a:solidFill>
                  <a:srgbClr val="1E242B"/>
                </a:solidFill>
                <a:latin typeface="Meiryo UI"/>
              </a:rPr>
              <a:t>現行ライン（16名体制・1,083秒）の作業動画分析とストップウォッチ測定によりボトルネックを特定。</a:t>
            </a:r>
          </a:p>
          <a:p>
            <a:pPr>
              <a:lnSpc>
                <a:spcPct val="125000"/>
              </a:lnSpc>
              <a:spcAft>
                <a:spcPts val="1400"/>
              </a:spcAft>
            </a:pPr>
            <a:r>
              <a:rPr sz="1300" b="1">
                <a:solidFill>
                  <a:srgbClr val="1B365D"/>
                </a:solidFill>
                <a:latin typeface="Meiryo UI"/>
              </a:rPr>
              <a:t>• </a:t>
            </a:r>
            <a:r>
              <a:rPr sz="1300" b="1">
                <a:solidFill>
                  <a:srgbClr val="1B365D"/>
                </a:solidFill>
                <a:latin typeface="Meiryo UI"/>
              </a:rPr>
              <a:t>拠点独自提案の立案： </a:t>
            </a:r>
            <a:r>
              <a:rPr sz="1300" b="0">
                <a:solidFill>
                  <a:srgbClr val="1E242B"/>
                </a:solidFill>
                <a:latin typeface="Meiryo UI"/>
              </a:rPr>
              <a:t>自社治具設計、高額ロボット廃止（DP給紙トレイ化など）、現場視点での投資対効果（ROI）を試算。</a:t>
            </a:r>
          </a:p>
          <a:p>
            <a:pPr>
              <a:lnSpc>
                <a:spcPct val="125000"/>
              </a:lnSpc>
              <a:spcAft>
                <a:spcPts val="1400"/>
              </a:spcAft>
            </a:pPr>
            <a:r>
              <a:rPr sz="1300" b="1">
                <a:solidFill>
                  <a:srgbClr val="1B365D"/>
                </a:solidFill>
                <a:latin typeface="Meiryo UI"/>
              </a:rPr>
              <a:t>• </a:t>
            </a:r>
            <a:r>
              <a:rPr sz="1300" b="1">
                <a:solidFill>
                  <a:srgbClr val="1B365D"/>
                </a:solidFill>
                <a:latin typeface="Meiryo UI"/>
              </a:rPr>
              <a:t>主体的な導入推進： </a:t>
            </a:r>
            <a:r>
              <a:rPr sz="1300" b="0">
                <a:solidFill>
                  <a:srgbClr val="1E242B"/>
                </a:solidFill>
                <a:latin typeface="Meiryo UI"/>
              </a:rPr>
              <a:t>品質目標PDCA管理表に基づく自主進捗管理、工程能力検証、および承認済み施策の現場SOP即時反映。</a:t>
            </a:r>
          </a:p>
        </p:txBody>
      </p:sp>
      <p:sp>
        <p:nvSpPr>
          <p:cNvPr id="14" name="Rectangle 13"/>
          <p:cNvSpPr/>
          <p:nvPr/>
        </p:nvSpPr>
        <p:spPr>
          <a:xfrm>
            <a:off x="8156448" y="2103120"/>
            <a:ext cx="3779215" cy="3750000"/>
          </a:xfrm>
          <a:prstGeom prst="rect">
            <a:avLst/>
          </a:prstGeom>
          <a:solidFill>
            <a:srgbClr val="FFFFFF"/>
          </a:solidFill>
          <a:ln w="12700">
            <a:solidFill>
              <a:srgbClr val="007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56448" y="2103120"/>
            <a:ext cx="3779215" cy="360000"/>
          </a:xfrm>
          <a:prstGeom prst="rect">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930" b="1">
                <a:solidFill>
                  <a:srgbClr val="FFFFFF"/>
                </a:solidFill>
                <a:latin typeface="Meiryo UI"/>
              </a:defRPr>
            </a:pPr>
            <a:r>
              <a:t>3. 三拠点連携：情報共有と共同解決</a:t>
            </a:r>
          </a:p>
        </p:txBody>
      </p:sp>
      <p:sp>
        <p:nvSpPr>
          <p:cNvPr id="16" name="TextBox 15"/>
          <p:cNvSpPr txBox="1"/>
          <p:nvPr/>
        </p:nvSpPr>
        <p:spPr>
          <a:xfrm>
            <a:off x="8220000" y="2520000"/>
            <a:ext cx="3650000" cy="3250000"/>
          </a:xfrm>
          <a:prstGeom prst="rect">
            <a:avLst/>
          </a:prstGeom>
          <a:noFill/>
        </p:spPr>
        <p:txBody>
          <a:bodyPr wrap="square" lIns="109728" rIns="109728" tIns="109728" bIns="109728">
            <a:spAutoFit/>
          </a:bodyPr>
          <a:lstStyle/>
          <a:p>
            <a:pPr>
              <a:lnSpc>
                <a:spcPct val="125000"/>
              </a:lnSpc>
              <a:spcAft>
                <a:spcPts val="1400"/>
              </a:spcAft>
              <a:defRPr sz="860" b="1">
                <a:solidFill>
                  <a:srgbClr val="1E242B"/>
                </a:solidFill>
                <a:latin typeface="Meiryo UI"/>
              </a:defRPr>
            </a:pPr>
            <a:r>
              <a:rPr sz="1300" b="1">
                <a:solidFill>
                  <a:srgbClr val="1B365D"/>
                </a:solidFill>
                <a:latin typeface="Meiryo UI"/>
              </a:rPr>
              <a:t>• </a:t>
            </a:r>
            <a:r>
              <a:rPr sz="1300" b="1">
                <a:solidFill>
                  <a:srgbClr val="1B365D"/>
                </a:solidFill>
                <a:latin typeface="Meiryo UI"/>
              </a:rPr>
              <a:t>共通管理ファイルへの更新： </a:t>
            </a:r>
            <a:r>
              <a:rPr sz="1300" b="0">
                <a:solidFill>
                  <a:srgbClr val="1E242B"/>
                </a:solidFill>
                <a:latin typeface="Meiryo UI"/>
              </a:rPr>
              <a:t>全38提案（日本7、中国11、ベトナム20）を一元管理シートでリアルタイム共有。</a:t>
            </a:r>
          </a:p>
          <a:p>
            <a:pPr>
              <a:lnSpc>
                <a:spcPct val="125000"/>
              </a:lnSpc>
              <a:spcAft>
                <a:spcPts val="1400"/>
              </a:spcAft>
            </a:pPr>
            <a:r>
              <a:rPr sz="1300" b="1">
                <a:solidFill>
                  <a:srgbClr val="1B365D"/>
                </a:solidFill>
                <a:latin typeface="Meiryo UI"/>
              </a:rPr>
              <a:t>• </a:t>
            </a:r>
            <a:r>
              <a:rPr sz="1300" b="1">
                <a:solidFill>
                  <a:srgbClr val="1B365D"/>
                </a:solidFill>
                <a:latin typeface="Meiryo UI"/>
              </a:rPr>
              <a:t>週次定例会（保証工程連携会）： </a:t>
            </a:r>
            <a:r>
              <a:rPr sz="1300" b="0">
                <a:solidFill>
                  <a:srgbClr val="1E242B"/>
                </a:solidFill>
                <a:latin typeface="Meiryo UI"/>
              </a:rPr>
              <a:t>進捗状況、実機検証データ、および技術課題を率直に共有し合同で対策を協議。</a:t>
            </a:r>
          </a:p>
          <a:p>
            <a:pPr>
              <a:lnSpc>
                <a:spcPct val="125000"/>
              </a:lnSpc>
              <a:spcAft>
                <a:spcPts val="1400"/>
              </a:spcAft>
            </a:pPr>
            <a:r>
              <a:rPr sz="1300" b="1">
                <a:solidFill>
                  <a:srgbClr val="1B365D"/>
                </a:solidFill>
                <a:latin typeface="Meiryo UI"/>
              </a:rPr>
              <a:t>• </a:t>
            </a:r>
            <a:r>
              <a:rPr sz="1300" b="1">
                <a:solidFill>
                  <a:srgbClr val="1B365D"/>
                </a:solidFill>
                <a:latin typeface="Meiryo UI"/>
              </a:rPr>
              <a:t>共同解決と水平展開： </a:t>
            </a:r>
            <a:r>
              <a:rPr sz="1300" b="0">
                <a:solidFill>
                  <a:srgbClr val="1E242B"/>
                </a:solidFill>
                <a:latin typeface="Meiryo UI"/>
              </a:rPr>
              <a:t>先行工場で成果の出た施策（治具・ソフト）のデータを共有し、三拠点へ確実に水平展開。</a:t>
            </a:r>
          </a:p>
        </p:txBody>
      </p:sp>
      <p:sp>
        <p:nvSpPr>
          <p:cNvPr id="17" name="Rectangle 16"/>
          <p:cNvSpPr/>
          <p:nvPr/>
        </p:nvSpPr>
        <p:spPr>
          <a:xfrm>
            <a:off x="256032" y="5980000"/>
            <a:ext cx="11679631" cy="520000"/>
          </a:xfrm>
          <a:prstGeom prst="rect">
            <a:avLst/>
          </a:prstGeom>
          <a:solidFill>
            <a:srgbClr val="E8EEF5"/>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r>
              <a:rPr sz="1300" b="1">
                <a:solidFill>
                  <a:srgbClr val="1B365D"/>
                </a:solidFill>
                <a:latin typeface="Meiryo UI"/>
              </a:rPr>
              <a:t>連携方針：各拠点の強みを最大限に活かし、KDCが全体設計を主導、工場が現場改善を牽引、三拠点が緊密に連携してIrisEXPのタクトタイム半減を達成する。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4.1 ベトナム改善提案概要</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00" b="1">
                <a:solidFill>
                  <a:srgbClr val="FFFFFF"/>
                </a:solidFill>
                <a:latin typeface="Meiryo UI"/>
              </a:defRPr>
            </a:pPr>
            <a:r>
              <a:t>ベトナム工場 20改善提案（No.18 ～ No.37）の全体構造と重点施策</a:t>
            </a:r>
          </a:p>
        </p:txBody>
      </p:sp>
      <p:sp>
        <p:nvSpPr>
          <p:cNvPr id="5" name="TextBox 4"/>
          <p:cNvSpPr txBox="1"/>
          <p:nvPr/>
        </p:nvSpPr>
        <p:spPr>
          <a:xfrm>
            <a:off x="11292840" y="109728"/>
            <a:ext cx="731520" cy="347472"/>
          </a:xfrm>
          <a:prstGeom prst="rect">
            <a:avLst/>
          </a:prstGeom>
          <a:noFill/>
        </p:spPr>
        <p:txBody>
          <a:bodyPr wrap="none">
            <a:spAutoFit/>
          </a:bodyPr>
          <a:lstStyle/>
          <a:p>
            <a:pPr algn="r">
              <a:defRPr sz="1000" b="1">
                <a:solidFill>
                  <a:srgbClr val="D0D8E8"/>
                </a:solidFill>
                <a:latin typeface="Meiryo UI"/>
              </a:defRPr>
            </a:pPr>
            <a:r>
              <a:t>6 / 15</a:t>
            </a:r>
          </a:p>
        </p:txBody>
      </p:sp>
      <p:sp>
        <p:nvSpPr>
          <p:cNvPr id="6" name="Rectangle 5"/>
          <p:cNvSpPr/>
          <p:nvPr/>
        </p:nvSpPr>
        <p:spPr>
          <a:xfrm>
            <a:off x="256032" y="640080"/>
            <a:ext cx="11679631" cy="475488"/>
          </a:xfrm>
          <a:prstGeom prst="rect">
            <a:avLst/>
          </a:prstGeom>
          <a:solidFill>
            <a:srgbClr val="E8EEF5"/>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t>ベトナム20提案：A-1工程ソフト事前書込み（作業者1名削減）および自動化4案件の投資精査（No.22 耐圧安全治具 101.69百万VND先行申請）。</a:t>
            </a:r>
          </a:p>
        </p:txBody>
      </p:sp>
      <p:pic>
        <p:nvPicPr>
          <p:cNvPr id="7" name="Picture 6" descr="chart_s5_overview_jp.png"/>
          <p:cNvPicPr>
            <a:picLocks noChangeAspect="1"/>
          </p:cNvPicPr>
          <p:nvPr/>
        </p:nvPicPr>
        <p:blipFill>
          <a:blip r:embed="rId2"/>
          <a:stretch>
            <a:fillRect/>
          </a:stretch>
        </p:blipFill>
        <p:spPr>
          <a:xfrm>
            <a:off x="256032" y="1170432"/>
            <a:ext cx="5623560" cy="2448970"/>
          </a:xfrm>
          <a:prstGeom prst="rect">
            <a:avLst/>
          </a:prstGeom>
        </p:spPr>
      </p:pic>
      <p:graphicFrame>
        <p:nvGraphicFramePr>
          <p:cNvPr id="8" name="Table 7"/>
          <p:cNvGraphicFramePr>
            <a:graphicFrameLocks noGrp="1"/>
          </p:cNvGraphicFramePr>
          <p:nvPr/>
        </p:nvGraphicFramePr>
        <p:xfrm>
          <a:off x="5989320" y="1170432"/>
          <a:ext cx="5946343" cy="2514600"/>
        </p:xfrm>
        <a:graphic>
          <a:graphicData uri="http://schemas.openxmlformats.org/drawingml/2006/table">
            <a:tbl>
              <a:tblPr firstRow="1" bandRow="1">
                <a:tableStyleId>{5C22544A-7EE6-4342-B048-85BDC9FD1C3A}</a:tableStyleId>
              </a:tblPr>
              <a:tblGrid>
                <a:gridCol w="1051560"/>
                <a:gridCol w="1371600"/>
                <a:gridCol w="1097280"/>
                <a:gridCol w="1143000"/>
                <a:gridCol w="1282903"/>
              </a:tblGrid>
              <a:tr h="359228">
                <a:tc>
                  <a:txBody>
                    <a:bodyPr wrap="square"/>
                    <a:lstStyle/>
                    <a:p>
                      <a:pPr algn="ctr">
                        <a:defRPr sz="800" b="1">
                          <a:solidFill>
                            <a:srgbClr val="FFFFFF"/>
                          </a:solidFill>
                          <a:latin typeface="Meiryo UI"/>
                        </a:defRPr>
                      </a:pPr>
                      <a:r>
                        <a:t>工程グループ</a:t>
                      </a:r>
                    </a:p>
                  </a:txBody>
                  <a:tcPr anchor="ctr" marL="45720" marR="45720" marT="18288" marB="18288">
                    <a:solidFill>
                      <a:srgbClr val="1B365D"/>
                    </a:solidFill>
                  </a:tcPr>
                </a:tc>
                <a:tc>
                  <a:txBody>
                    <a:bodyPr wrap="square"/>
                    <a:lstStyle/>
                    <a:p>
                      <a:pPr algn="ctr">
                        <a:defRPr sz="800" b="1">
                          <a:solidFill>
                            <a:srgbClr val="FFFFFF"/>
                          </a:solidFill>
                          <a:latin typeface="Meiryo UI"/>
                        </a:defRPr>
                      </a:pPr>
                      <a:r>
                        <a:t>ベトナム提案番号</a:t>
                      </a:r>
                    </a:p>
                  </a:txBody>
                  <a:tcPr anchor="ctr" marL="45720" marR="45720" marT="18288" marB="18288">
                    <a:solidFill>
                      <a:srgbClr val="1B365D"/>
                    </a:solidFill>
                  </a:tcPr>
                </a:tc>
                <a:tc>
                  <a:txBody>
                    <a:bodyPr wrap="square"/>
                    <a:lstStyle/>
                    <a:p>
                      <a:pPr algn="ctr">
                        <a:defRPr sz="800" b="1">
                          <a:solidFill>
                            <a:srgbClr val="FFFFFF"/>
                          </a:solidFill>
                          <a:latin typeface="Meiryo UI"/>
                        </a:defRPr>
                      </a:pPr>
                      <a:r>
                        <a:t>現行工数（VN）</a:t>
                      </a:r>
                    </a:p>
                  </a:txBody>
                  <a:tcPr anchor="ctr" marL="45720" marR="45720" marT="18288" marB="18288">
                    <a:solidFill>
                      <a:srgbClr val="1B365D"/>
                    </a:solidFill>
                  </a:tcPr>
                </a:tc>
                <a:tc>
                  <a:txBody>
                    <a:bodyPr wrap="square"/>
                    <a:lstStyle/>
                    <a:p>
                      <a:pPr algn="ctr">
                        <a:defRPr sz="800" b="1">
                          <a:solidFill>
                            <a:srgbClr val="FFFFFF"/>
                          </a:solidFill>
                          <a:latin typeface="Meiryo UI"/>
                        </a:defRPr>
                      </a:pPr>
                      <a:r>
                        <a:t>期待削減工数</a:t>
                      </a:r>
                    </a:p>
                  </a:txBody>
                  <a:tcPr anchor="ctr" marL="45720" marR="45720" marT="18288" marB="18288">
                    <a:solidFill>
                      <a:srgbClr val="1B365D"/>
                    </a:solidFill>
                  </a:tcPr>
                </a:tc>
                <a:tc>
                  <a:txBody>
                    <a:bodyPr wrap="square"/>
                    <a:lstStyle/>
                    <a:p>
                      <a:pPr algn="ctr">
                        <a:defRPr sz="800" b="1">
                          <a:solidFill>
                            <a:srgbClr val="FFFFFF"/>
                          </a:solidFill>
                          <a:latin typeface="Meiryo UI"/>
                        </a:defRPr>
                      </a:pPr>
                      <a:r>
                        <a:t>投資予算試算（VN提案）</a:t>
                      </a:r>
                    </a:p>
                  </a:txBody>
                  <a:tcPr anchor="ctr" marL="45720" marR="45720" marT="18288" marB="18288">
                    <a:solidFill>
                      <a:srgbClr val="1B365D"/>
                    </a:solidFill>
                  </a:tcPr>
                </a:tc>
              </a:tr>
              <a:tr h="359228">
                <a:tc>
                  <a:txBody>
                    <a:bodyPr wrap="square"/>
                    <a:lstStyle/>
                    <a:p>
                      <a:pPr algn="ctr">
                        <a:defRPr sz="740" b="1">
                          <a:solidFill>
                            <a:srgbClr val="1E242B"/>
                          </a:solidFill>
                          <a:latin typeface="Meiryo UI"/>
                        </a:defRPr>
                      </a:pPr>
                      <a:r>
                        <a:t>K1 -&gt; A-1</a:t>
                      </a:r>
                      <a:br/>
                      <a:r>
                        <a:t>（FW、初期設定）</a:t>
                      </a:r>
                    </a:p>
                  </a:txBody>
                  <a:tcPr anchor="ctr" marL="45720" marR="45720" marT="18288" marB="18288">
                    <a:solidFill>
                      <a:srgbClr val="FFFFFF"/>
                    </a:solidFill>
                  </a:tcPr>
                </a:tc>
                <a:tc>
                  <a:txBody>
                    <a:bodyPr wrap="square"/>
                    <a:lstStyle/>
                    <a:p>
                      <a:pPr algn="l">
                        <a:defRPr sz="740">
                          <a:solidFill>
                            <a:srgbClr val="1E242B"/>
                          </a:solidFill>
                          <a:latin typeface="Meiryo UI"/>
                        </a:defRPr>
                      </a:pPr>
                      <a:r>
                        <a:t>No.18, 19, 20, 29, 30</a:t>
                      </a:r>
                      <a:br/>
                      <a:r>
                        <a:t>＋FW事前投入</a:t>
                      </a:r>
                    </a:p>
                  </a:txBody>
                  <a:tcPr anchor="ctr" marL="45720" marR="45720" marT="18288" marB="18288">
                    <a:solidFill>
                      <a:srgbClr val="FFFFFF"/>
                    </a:solidFill>
                  </a:tcPr>
                </a:tc>
                <a:tc>
                  <a:txBody>
                    <a:bodyPr wrap="square"/>
                    <a:lstStyle/>
                    <a:p>
                      <a:pPr algn="ctr">
                        <a:defRPr sz="740">
                          <a:solidFill>
                            <a:srgbClr val="1E242B"/>
                          </a:solidFill>
                          <a:latin typeface="Meiryo UI"/>
                        </a:defRPr>
                      </a:pPr>
                      <a:r>
                        <a:t>295.00 秒</a:t>
                      </a:r>
                      <a:br/>
                      <a:r>
                        <a:t>（作業者1名）</a:t>
                      </a:r>
                    </a:p>
                  </a:txBody>
                  <a:tcPr anchor="ctr" marL="45720" marR="45720" marT="18288" marB="18288">
                    <a:solidFill>
                      <a:srgbClr val="FFFFFF"/>
                    </a:solidFill>
                  </a:tcPr>
                </a:tc>
                <a:tc>
                  <a:txBody>
                    <a:bodyPr wrap="square"/>
                    <a:lstStyle/>
                    <a:p>
                      <a:pPr algn="ctr">
                        <a:defRPr sz="740">
                          <a:solidFill>
                            <a:srgbClr val="1E242B"/>
                          </a:solidFill>
                          <a:latin typeface="Meiryo UI"/>
                        </a:defRPr>
                      </a:pPr>
                      <a:r>
                        <a:t>-112.48s ～ -124.48s</a:t>
                      </a:r>
                      <a:br/>
                      <a:r>
                        <a:t>（A-1 1名削減）</a:t>
                      </a:r>
                    </a:p>
                  </a:txBody>
                  <a:tcPr anchor="ctr" marL="45720" marR="45720" marT="18288" marB="18288">
                    <a:solidFill>
                      <a:srgbClr val="FFFFFF"/>
                    </a:solidFill>
                  </a:tcPr>
                </a:tc>
                <a:tc>
                  <a:txBody>
                    <a:bodyPr wrap="square"/>
                    <a:lstStyle/>
                    <a:p>
                      <a:pPr algn="l">
                        <a:defRPr sz="740">
                          <a:solidFill>
                            <a:srgbClr val="1E242B"/>
                          </a:solidFill>
                          <a:latin typeface="Meiryo UI"/>
                        </a:defRPr>
                      </a:pPr>
                      <a:r>
                        <a:t>3件 見積取得中</a:t>
                      </a:r>
                      <a:br/>
                      <a:r>
                        <a:t>2件 設計改善（0円）</a:t>
                      </a:r>
                    </a:p>
                  </a:txBody>
                  <a:tcPr anchor="ctr" marL="45720" marR="45720" marT="18288" marB="18288">
                    <a:solidFill>
                      <a:srgbClr val="FFFFFF"/>
                    </a:solidFill>
                  </a:tcPr>
                </a:tc>
              </a:tr>
              <a:tr h="359228">
                <a:tc>
                  <a:txBody>
                    <a:bodyPr wrap="square"/>
                    <a:lstStyle/>
                    <a:p>
                      <a:pPr algn="ctr">
                        <a:defRPr sz="740" b="1">
                          <a:solidFill>
                            <a:srgbClr val="1E242B"/>
                          </a:solidFill>
                          <a:latin typeface="Meiryo UI"/>
                        </a:defRPr>
                      </a:pPr>
                      <a:r>
                        <a:t>K2 -&gt; A-2</a:t>
                      </a:r>
                      <a:br/>
                      <a:r>
                        <a:t>（セミ、オプション）</a:t>
                      </a:r>
                    </a:p>
                  </a:txBody>
                  <a:tcPr anchor="ctr" marL="45720" marR="45720" marT="18288" marB="18288">
                    <a:solidFill>
                      <a:srgbClr val="F7F9FC"/>
                    </a:solidFill>
                  </a:tcPr>
                </a:tc>
                <a:tc>
                  <a:txBody>
                    <a:bodyPr wrap="square"/>
                    <a:lstStyle/>
                    <a:p>
                      <a:pPr algn="l">
                        <a:defRPr sz="740">
                          <a:solidFill>
                            <a:srgbClr val="1E242B"/>
                          </a:solidFill>
                          <a:latin typeface="Meiryo UI"/>
                        </a:defRPr>
                      </a:pPr>
                      <a:r>
                        <a:t>No.21, 31, 32</a:t>
                      </a:r>
                    </a:p>
                  </a:txBody>
                  <a:tcPr anchor="ctr" marL="45720" marR="45720" marT="18288" marB="18288">
                    <a:solidFill>
                      <a:srgbClr val="F7F9FC"/>
                    </a:solidFill>
                  </a:tcPr>
                </a:tc>
                <a:tc>
                  <a:txBody>
                    <a:bodyPr wrap="square"/>
                    <a:lstStyle/>
                    <a:p>
                      <a:pPr algn="ctr">
                        <a:defRPr sz="740">
                          <a:solidFill>
                            <a:srgbClr val="1E242B"/>
                          </a:solidFill>
                          <a:latin typeface="Meiryo UI"/>
                        </a:defRPr>
                      </a:pPr>
                      <a:r>
                        <a:t>150.00 秒</a:t>
                      </a:r>
                      <a:br/>
                      <a:r>
                        <a:t>（作業者1名）</a:t>
                      </a:r>
                    </a:p>
                  </a:txBody>
                  <a:tcPr anchor="ctr" marL="45720" marR="45720" marT="18288" marB="18288">
                    <a:solidFill>
                      <a:srgbClr val="F7F9FC"/>
                    </a:solidFill>
                  </a:tcPr>
                </a:tc>
                <a:tc>
                  <a:txBody>
                    <a:bodyPr wrap="square"/>
                    <a:lstStyle/>
                    <a:p>
                      <a:pPr algn="ctr">
                        <a:defRPr sz="740">
                          <a:solidFill>
                            <a:srgbClr val="1E242B"/>
                          </a:solidFill>
                          <a:latin typeface="Meiryo UI"/>
                        </a:defRPr>
                      </a:pPr>
                      <a:r>
                        <a:t>-65.00s ～ -110.00s</a:t>
                      </a:r>
                    </a:p>
                  </a:txBody>
                  <a:tcPr anchor="ctr" marL="45720" marR="45720" marT="18288" marB="18288">
                    <a:solidFill>
                      <a:srgbClr val="F7F9FC"/>
                    </a:solidFill>
                  </a:tcPr>
                </a:tc>
                <a:tc>
                  <a:txBody>
                    <a:bodyPr wrap="square"/>
                    <a:lstStyle/>
                    <a:p>
                      <a:pPr algn="l">
                        <a:defRPr sz="740">
                          <a:solidFill>
                            <a:srgbClr val="1E242B"/>
                          </a:solidFill>
                          <a:latin typeface="Meiryo UI"/>
                        </a:defRPr>
                      </a:pPr>
                      <a:r>
                        <a:t>2件 見積取得中</a:t>
                      </a:r>
                      <a:br/>
                      <a:r>
                        <a:t>1件 設計改善（0円）</a:t>
                      </a:r>
                    </a:p>
                  </a:txBody>
                  <a:tcPr anchor="ctr" marL="45720" marR="45720" marT="18288" marB="18288">
                    <a:solidFill>
                      <a:srgbClr val="F7F9FC"/>
                    </a:solidFill>
                  </a:tcPr>
                </a:tc>
              </a:tr>
              <a:tr h="359228">
                <a:tc>
                  <a:txBody>
                    <a:bodyPr wrap="square"/>
                    <a:lstStyle/>
                    <a:p>
                      <a:pPr algn="ctr">
                        <a:defRPr sz="740" b="1">
                          <a:solidFill>
                            <a:srgbClr val="1E242B"/>
                          </a:solidFill>
                          <a:latin typeface="Meiryo UI"/>
                        </a:defRPr>
                      </a:pPr>
                      <a:r>
                        <a:t>K3 -&gt; A-3</a:t>
                      </a:r>
                      <a:br/>
                      <a:r>
                        <a:t>（カバー、耐圧、給紙）</a:t>
                      </a:r>
                    </a:p>
                  </a:txBody>
                  <a:tcPr anchor="ctr" marL="45720" marR="45720" marT="18288" marB="18288">
                    <a:solidFill>
                      <a:srgbClr val="EAF7EE"/>
                    </a:solidFill>
                  </a:tcPr>
                </a:tc>
                <a:tc>
                  <a:txBody>
                    <a:bodyPr wrap="square"/>
                    <a:lstStyle/>
                    <a:p>
                      <a:pPr algn="l">
                        <a:defRPr sz="740">
                          <a:solidFill>
                            <a:srgbClr val="1E242B"/>
                          </a:solidFill>
                          <a:latin typeface="Meiryo UI"/>
                        </a:defRPr>
                      </a:pPr>
                      <a:r>
                        <a:t>No.22, 33, 34, 35</a:t>
                      </a:r>
                    </a:p>
                  </a:txBody>
                  <a:tcPr anchor="ctr" marL="45720" marR="45720" marT="18288" marB="18288">
                    <a:solidFill>
                      <a:srgbClr val="EAF7EE"/>
                    </a:solidFill>
                  </a:tcPr>
                </a:tc>
                <a:tc>
                  <a:txBody>
                    <a:bodyPr wrap="square"/>
                    <a:lstStyle/>
                    <a:p>
                      <a:pPr algn="ctr">
                        <a:defRPr sz="740">
                          <a:solidFill>
                            <a:srgbClr val="1E242B"/>
                          </a:solidFill>
                          <a:latin typeface="Meiryo UI"/>
                        </a:defRPr>
                      </a:pPr>
                      <a:r>
                        <a:t>180.00 秒</a:t>
                      </a:r>
                      <a:br/>
                      <a:r>
                        <a:t>（作業者1名）</a:t>
                      </a:r>
                    </a:p>
                  </a:txBody>
                  <a:tcPr anchor="ctr" marL="45720" marR="45720" marT="18288" marB="18288">
                    <a:solidFill>
                      <a:srgbClr val="EAF7EE"/>
                    </a:solidFill>
                  </a:tcPr>
                </a:tc>
                <a:tc>
                  <a:txBody>
                    <a:bodyPr wrap="square"/>
                    <a:lstStyle/>
                    <a:p>
                      <a:pPr algn="ctr">
                        <a:defRPr sz="740">
                          <a:solidFill>
                            <a:srgbClr val="1E242B"/>
                          </a:solidFill>
                          <a:latin typeface="Meiryo UI"/>
                        </a:defRPr>
                      </a:pPr>
                      <a:r>
                        <a:t>-158.32s ～ -200.00s</a:t>
                      </a:r>
                    </a:p>
                  </a:txBody>
                  <a:tcPr anchor="ctr" marL="45720" marR="45720" marT="18288" marB="18288">
                    <a:solidFill>
                      <a:srgbClr val="EAF7EE"/>
                    </a:solidFill>
                  </a:tcPr>
                </a:tc>
                <a:tc>
                  <a:txBody>
                    <a:bodyPr wrap="square"/>
                    <a:lstStyle/>
                    <a:p>
                      <a:pPr algn="l">
                        <a:defRPr sz="740">
                          <a:solidFill>
                            <a:srgbClr val="1E242B"/>
                          </a:solidFill>
                          <a:latin typeface="Meiryo UI"/>
                        </a:defRPr>
                      </a:pPr>
                      <a:r>
                        <a:t>No.22: 101.69M VND (3,911$)</a:t>
                      </a:r>
                      <a:br/>
                      <a:r>
                        <a:t>[サマリー記載: 4,000 USD]</a:t>
                      </a:r>
                    </a:p>
                  </a:txBody>
                  <a:tcPr anchor="ctr" marL="45720" marR="45720" marT="18288" marB="18288">
                    <a:solidFill>
                      <a:srgbClr val="EAF7EE"/>
                    </a:solidFill>
                  </a:tcPr>
                </a:tc>
              </a:tr>
              <a:tr h="359228">
                <a:tc>
                  <a:txBody>
                    <a:bodyPr wrap="square"/>
                    <a:lstStyle/>
                    <a:p>
                      <a:pPr algn="ctr">
                        <a:defRPr sz="740" b="1">
                          <a:solidFill>
                            <a:srgbClr val="1E242B"/>
                          </a:solidFill>
                          <a:latin typeface="Meiryo UI"/>
                        </a:defRPr>
                      </a:pPr>
                      <a:r>
                        <a:t>K4 -&gt; A-2/A-4</a:t>
                      </a:r>
                      <a:br/>
                      <a:r>
                        <a:t>（スキャン、U201）</a:t>
                      </a:r>
                    </a:p>
                  </a:txBody>
                  <a:tcPr anchor="ctr" marL="45720" marR="45720" marT="18288" marB="18288">
                    <a:solidFill>
                      <a:srgbClr val="EAF7EE"/>
                    </a:solidFill>
                  </a:tcPr>
                </a:tc>
                <a:tc>
                  <a:txBody>
                    <a:bodyPr wrap="square"/>
                    <a:lstStyle/>
                    <a:p>
                      <a:pPr algn="l">
                        <a:defRPr sz="740">
                          <a:solidFill>
                            <a:srgbClr val="1E242B"/>
                          </a:solidFill>
                          <a:latin typeface="Meiryo UI"/>
                        </a:defRPr>
                      </a:pPr>
                      <a:r>
                        <a:t>No.23, 24, 25(DP),</a:t>
                      </a:r>
                      <a:br/>
                      <a:r>
                        <a:t>No.36, 37</a:t>
                      </a:r>
                    </a:p>
                  </a:txBody>
                  <a:tcPr anchor="ctr" marL="45720" marR="45720" marT="18288" marB="18288">
                    <a:solidFill>
                      <a:srgbClr val="EAF7EE"/>
                    </a:solidFill>
                  </a:tcPr>
                </a:tc>
                <a:tc>
                  <a:txBody>
                    <a:bodyPr wrap="square"/>
                    <a:lstStyle/>
                    <a:p>
                      <a:pPr algn="ctr">
                        <a:defRPr sz="740">
                          <a:solidFill>
                            <a:srgbClr val="1E242B"/>
                          </a:solidFill>
                          <a:latin typeface="Meiryo UI"/>
                        </a:defRPr>
                      </a:pPr>
                      <a:r>
                        <a:t>480.00 秒</a:t>
                      </a:r>
                      <a:br/>
                      <a:r>
                        <a:t>（U950 285s含む）</a:t>
                      </a:r>
                    </a:p>
                  </a:txBody>
                  <a:tcPr anchor="ctr" marL="45720" marR="45720" marT="18288" marB="18288">
                    <a:solidFill>
                      <a:srgbClr val="EAF7EE"/>
                    </a:solidFill>
                  </a:tcPr>
                </a:tc>
                <a:tc>
                  <a:txBody>
                    <a:bodyPr wrap="square"/>
                    <a:lstStyle/>
                    <a:p>
                      <a:pPr algn="ctr">
                        <a:defRPr sz="740">
                          <a:solidFill>
                            <a:srgbClr val="1E242B"/>
                          </a:solidFill>
                          <a:latin typeface="Meiryo UI"/>
                        </a:defRPr>
                      </a:pPr>
                      <a:r>
                        <a:t>-153.88s ～ -170.00s</a:t>
                      </a:r>
                    </a:p>
                  </a:txBody>
                  <a:tcPr anchor="ctr" marL="45720" marR="45720" marT="18288" marB="18288">
                    <a:solidFill>
                      <a:srgbClr val="EAF7EE"/>
                    </a:solidFill>
                  </a:tcPr>
                </a:tc>
                <a:tc>
                  <a:txBody>
                    <a:bodyPr wrap="square"/>
                    <a:lstStyle/>
                    <a:p>
                      <a:pPr algn="l">
                        <a:defRPr sz="740">
                          <a:solidFill>
                            <a:srgbClr val="1E242B"/>
                          </a:solidFill>
                          <a:latin typeface="Meiryo UI"/>
                        </a:defRPr>
                      </a:pPr>
                      <a:r>
                        <a:t>No.23: 650M (25,000$)</a:t>
                      </a:r>
                      <a:br/>
                      <a:r>
                        <a:t>No.24: 104M (4,000$)</a:t>
                      </a:r>
                      <a:br/>
                      <a:r>
                        <a:t>No.25(DP): 実証検証中</a:t>
                      </a:r>
                    </a:p>
                  </a:txBody>
                  <a:tcPr anchor="ctr" marL="45720" marR="45720" marT="18288" marB="18288">
                    <a:solidFill>
                      <a:srgbClr val="EAF7EE"/>
                    </a:solidFill>
                  </a:tcPr>
                </a:tc>
              </a:tr>
              <a:tr h="359228">
                <a:tc>
                  <a:txBody>
                    <a:bodyPr wrap="square"/>
                    <a:lstStyle/>
                    <a:p>
                      <a:pPr algn="ctr">
                        <a:defRPr sz="740" b="1">
                          <a:solidFill>
                            <a:srgbClr val="1E242B"/>
                          </a:solidFill>
                          <a:latin typeface="Meiryo UI"/>
                        </a:defRPr>
                      </a:pPr>
                      <a:r>
                        <a:t>K6, K7, K8 -&gt; A-3/A-4</a:t>
                      </a:r>
                      <a:br/>
                      <a:r>
                        <a:t>（画像、異音、出荷）</a:t>
                      </a:r>
                    </a:p>
                  </a:txBody>
                  <a:tcPr anchor="ctr" marL="45720" marR="45720" marT="18288" marB="18288">
                    <a:solidFill>
                      <a:srgbClr val="FFFFFF"/>
                    </a:solidFill>
                  </a:tcPr>
                </a:tc>
                <a:tc>
                  <a:txBody>
                    <a:bodyPr wrap="square"/>
                    <a:lstStyle/>
                    <a:p>
                      <a:pPr algn="l">
                        <a:defRPr sz="740">
                          <a:solidFill>
                            <a:srgbClr val="1E242B"/>
                          </a:solidFill>
                          <a:latin typeface="Meiryo UI"/>
                        </a:defRPr>
                      </a:pPr>
                      <a:r>
                        <a:t>No.26 (AI異音),</a:t>
                      </a:r>
                      <a:br/>
                      <a:r>
                        <a:t>No.27, No.28</a:t>
                      </a:r>
                    </a:p>
                  </a:txBody>
                  <a:tcPr anchor="ctr" marL="45720" marR="45720" marT="18288" marB="18288">
                    <a:solidFill>
                      <a:srgbClr val="FFFFFF"/>
                    </a:solidFill>
                  </a:tcPr>
                </a:tc>
                <a:tc>
                  <a:txBody>
                    <a:bodyPr wrap="square"/>
                    <a:lstStyle/>
                    <a:p>
                      <a:pPr algn="ctr">
                        <a:defRPr sz="740">
                          <a:solidFill>
                            <a:srgbClr val="1E242B"/>
                          </a:solidFill>
                          <a:latin typeface="Meiryo UI"/>
                        </a:defRPr>
                      </a:pPr>
                      <a:r>
                        <a:t>540.00 秒</a:t>
                      </a:r>
                      <a:br/>
                      <a:r>
                        <a:t>（K6＋K7＋K8）</a:t>
                      </a:r>
                    </a:p>
                  </a:txBody>
                  <a:tcPr anchor="ctr" marL="45720" marR="45720" marT="18288" marB="18288">
                    <a:solidFill>
                      <a:srgbClr val="FFFFFF"/>
                    </a:solidFill>
                  </a:tcPr>
                </a:tc>
                <a:tc>
                  <a:txBody>
                    <a:bodyPr wrap="square"/>
                    <a:lstStyle/>
                    <a:p>
                      <a:pPr algn="ctr">
                        <a:defRPr sz="740">
                          <a:solidFill>
                            <a:srgbClr val="1E242B"/>
                          </a:solidFill>
                          <a:latin typeface="Meiryo UI"/>
                        </a:defRPr>
                      </a:pPr>
                      <a:r>
                        <a:t>-227.00s ～ -265.00s</a:t>
                      </a:r>
                      <a:br/>
                      <a:r>
                        <a:t>（＋40s 将来AI）</a:t>
                      </a:r>
                    </a:p>
                  </a:txBody>
                  <a:tcPr anchor="ctr" marL="45720" marR="45720" marT="18288" marB="18288">
                    <a:solidFill>
                      <a:srgbClr val="FFFFFF"/>
                    </a:solidFill>
                  </a:tcPr>
                </a:tc>
                <a:tc>
                  <a:txBody>
                    <a:bodyPr wrap="square"/>
                    <a:lstStyle/>
                    <a:p>
                      <a:pPr algn="l">
                        <a:defRPr sz="740">
                          <a:solidFill>
                            <a:srgbClr val="1E242B"/>
                          </a:solidFill>
                          <a:latin typeface="Meiryo UI"/>
                        </a:defRPr>
                      </a:pPr>
                      <a:r>
                        <a:t>No.27, 28: 見積中</a:t>
                      </a:r>
                      <a:br/>
                      <a:r>
                        <a:t>No.26: 600万円（R&amp;D）</a:t>
                      </a:r>
                    </a:p>
                  </a:txBody>
                  <a:tcPr anchor="ctr" marL="45720" marR="45720" marT="18288" marB="18288">
                    <a:solidFill>
                      <a:srgbClr val="FFFFFF"/>
                    </a:solidFill>
                  </a:tcPr>
                </a:tc>
              </a:tr>
              <a:tr h="359232">
                <a:tc>
                  <a:txBody>
                    <a:bodyPr wrap="square"/>
                    <a:lstStyle/>
                    <a:p>
                      <a:pPr algn="ctr">
                        <a:defRPr sz="740" b="1">
                          <a:solidFill>
                            <a:srgbClr val="1E242B"/>
                          </a:solidFill>
                          <a:latin typeface="Meiryo UI"/>
                        </a:defRPr>
                      </a:pPr>
                      <a:r>
                        <a:t>ベトナム提案合計</a:t>
                      </a:r>
                    </a:p>
                  </a:txBody>
                  <a:tcPr anchor="ctr" marL="45720" marR="45720" marT="18288" marB="18288">
                    <a:solidFill>
                      <a:srgbClr val="E8EEF5"/>
                    </a:solidFill>
                  </a:tcPr>
                </a:tc>
                <a:tc>
                  <a:txBody>
                    <a:bodyPr wrap="square"/>
                    <a:lstStyle/>
                    <a:p>
                      <a:pPr algn="l">
                        <a:defRPr sz="740">
                          <a:solidFill>
                            <a:srgbClr val="1E242B"/>
                          </a:solidFill>
                          <a:latin typeface="Meiryo UI"/>
                        </a:defRPr>
                      </a:pPr>
                      <a:r>
                        <a:t>20提案（3件見積済）</a:t>
                      </a:r>
                    </a:p>
                  </a:txBody>
                  <a:tcPr anchor="ctr" marL="45720" marR="45720" marT="18288" marB="18288">
                    <a:solidFill>
                      <a:srgbClr val="E8EEF5"/>
                    </a:solidFill>
                  </a:tcPr>
                </a:tc>
                <a:tc>
                  <a:txBody>
                    <a:bodyPr wrap="square"/>
                    <a:lstStyle/>
                    <a:p>
                      <a:pPr algn="ctr">
                        <a:defRPr sz="740">
                          <a:solidFill>
                            <a:srgbClr val="1E242B"/>
                          </a:solidFill>
                          <a:latin typeface="Meiryo UI"/>
                        </a:defRPr>
                      </a:pPr>
                      <a:r>
                        <a:t>1,083s正味 / 2,350s</a:t>
                      </a:r>
                    </a:p>
                  </a:txBody>
                  <a:tcPr anchor="ctr" marL="45720" marR="45720" marT="18288" marB="18288">
                    <a:solidFill>
                      <a:srgbClr val="E8EEF5"/>
                    </a:solidFill>
                  </a:tcPr>
                </a:tc>
                <a:tc>
                  <a:txBody>
                    <a:bodyPr wrap="square"/>
                    <a:lstStyle/>
                    <a:p>
                      <a:pPr algn="ctr">
                        <a:defRPr sz="740">
                          <a:solidFill>
                            <a:srgbClr val="1E242B"/>
                          </a:solidFill>
                          <a:latin typeface="Meiryo UI"/>
                        </a:defRPr>
                      </a:pPr>
                      <a:r>
                        <a:t>約 600秒 ～ 611秒 削減</a:t>
                      </a:r>
                    </a:p>
                  </a:txBody>
                  <a:tcPr anchor="ctr" marL="45720" marR="45720" marT="18288" marB="18288">
                    <a:solidFill>
                      <a:srgbClr val="E8EEF5"/>
                    </a:solidFill>
                  </a:tcPr>
                </a:tc>
                <a:tc>
                  <a:txBody>
                    <a:bodyPr wrap="square"/>
                    <a:lstStyle/>
                    <a:p>
                      <a:pPr algn="l">
                        <a:defRPr sz="740">
                          <a:solidFill>
                            <a:srgbClr val="1E242B"/>
                          </a:solidFill>
                          <a:latin typeface="Meiryo UI"/>
                        </a:defRPr>
                      </a:pPr>
                      <a:r>
                        <a:t>3提案計: 855.69M (32,911$)</a:t>
                      </a:r>
                      <a:br/>
                      <a:r>
                        <a:t>[先行申請 No.22: 101.69M]</a:t>
                      </a:r>
                    </a:p>
                  </a:txBody>
                  <a:tcPr anchor="ctr" marL="45720" marR="45720" marT="18288" marB="18288">
                    <a:solidFill>
                      <a:srgbClr val="E8EEF5"/>
                    </a:solidFill>
                  </a:tcPr>
                </a:tc>
              </a:tr>
            </a:tbl>
          </a:graphicData>
        </a:graphic>
      </p:graphicFrame>
      <p:sp>
        <p:nvSpPr>
          <p:cNvPr id="9" name="Rectangle 8"/>
          <p:cNvSpPr/>
          <p:nvPr/>
        </p:nvSpPr>
        <p:spPr>
          <a:xfrm>
            <a:off x="256032" y="3980000"/>
            <a:ext cx="5739815" cy="2580000"/>
          </a:xfrm>
          <a:prstGeom prst="rect">
            <a:avLst/>
          </a:prstGeom>
          <a:solidFill>
            <a:srgbClr val="FFFFFF"/>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 y="3980000"/>
            <a:ext cx="5739815" cy="33000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UI"/>
              </a:defRPr>
            </a:pPr>
            <a:r>
              <a:t>見積書（Iris EXPのVN提案.xlsx）における自動化4案件の整理</a:t>
            </a:r>
          </a:p>
        </p:txBody>
      </p:sp>
      <p:sp>
        <p:nvSpPr>
          <p:cNvPr id="11" name="TextBox 10"/>
          <p:cNvSpPr txBox="1"/>
          <p:nvPr/>
        </p:nvSpPr>
        <p:spPr>
          <a:xfrm>
            <a:off x="296032" y="4325000"/>
            <a:ext cx="5659815" cy="2225000"/>
          </a:xfrm>
          <a:prstGeom prst="rect">
            <a:avLst/>
          </a:prstGeom>
          <a:noFill/>
        </p:spPr>
        <p:txBody>
          <a:bodyPr wrap="square" lIns="54864" rIns="54864" tIns="36576" bIns="36576">
            <a:spAutoFit/>
          </a:bodyPr>
          <a:lstStyle/>
          <a:p>
            <a:pPr>
              <a:lnSpc>
                <a:spcPct val="115000"/>
              </a:lnSpc>
              <a:spcAft>
                <a:spcPts val="600"/>
              </a:spcAft>
            </a:pPr>
            <a:r>
              <a:rPr sz="1200" b="1">
                <a:solidFill>
                  <a:srgbClr val="1B365D"/>
                </a:solidFill>
                <a:latin typeface="Meiryo UI"/>
              </a:rPr>
              <a:t>• 案件 1（No.22 - 耐圧安全検査、30秒短縮）：</a:t>
            </a:r>
            <a:r>
              <a:rPr sz="1200" b="0">
                <a:solidFill>
                  <a:srgbClr val="1E242B"/>
                </a:solidFill>
                <a:latin typeface="Meiryo UI"/>
              </a:rPr>
              <a:t>全閉カバー状態でPLC+SMC自動測定。BOM 25項目：101.69百万VND（3,911 USD）、年間29.6百万VND削減。先行申請。</a:t>
            </a:r>
          </a:p>
          <a:p>
            <a:pPr>
              <a:lnSpc>
                <a:spcPct val="115000"/>
              </a:lnSpc>
              <a:spcAft>
                <a:spcPts val="600"/>
              </a:spcAft>
            </a:pPr>
            <a:r>
              <a:rPr sz="1200" b="1">
                <a:solidFill>
                  <a:srgbClr val="1B365D"/>
                </a:solidFill>
                <a:latin typeface="Meiryo UI"/>
              </a:rPr>
              <a:t>• 案件 2＆3（No.23＆No.24 - 高額ロボット廃止、140秒短縮）：</a:t>
            </a:r>
            <a:r>
              <a:rPr sz="1200" b="0">
                <a:solidFill>
                  <a:srgbClr val="1E242B"/>
                </a:solidFill>
                <a:latin typeface="Meiryo UI"/>
              </a:rPr>
              <a:t>ロボット計754百万VND（29,000 USD）を廃止。DP給紙トレイ連続読取およびHost PCログ照合（投資0円）へ方針転換。</a:t>
            </a:r>
          </a:p>
          <a:p>
            <a:pPr>
              <a:lnSpc>
                <a:spcPct val="115000"/>
              </a:lnSpc>
              <a:spcAft>
                <a:spcPts val="600"/>
              </a:spcAft>
            </a:pPr>
            <a:r>
              <a:rPr sz="1200" b="1">
                <a:solidFill>
                  <a:srgbClr val="1B365D"/>
                </a:solidFill>
                <a:latin typeface="Meiryo UI"/>
              </a:rPr>
              <a:t>• 案件 4（No.25 - 検査実機へのDP増設）：</a:t>
            </a:r>
            <a:r>
              <a:rPr sz="1200" b="0">
                <a:solidFill>
                  <a:srgbClr val="1E242B"/>
                </a:solidFill>
                <a:latin typeface="Meiryo UI"/>
              </a:rPr>
              <a:t>手置き読取をDP連続給紙に変更し、画像データをPCへ自動転送して自動判定。実機読取精度を検証中。</a:t>
            </a:r>
          </a:p>
        </p:txBody>
      </p:sp>
      <p:sp>
        <p:nvSpPr>
          <p:cNvPr id="12" name="Rectangle 11"/>
          <p:cNvSpPr/>
          <p:nvPr/>
        </p:nvSpPr>
        <p:spPr>
          <a:xfrm>
            <a:off x="6195847" y="3980000"/>
            <a:ext cx="5739815" cy="2580000"/>
          </a:xfrm>
          <a:prstGeom prst="rect">
            <a:avLst/>
          </a:prstGeom>
          <a:solidFill>
            <a:srgbClr val="FFFFFF"/>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5847" y="3980000"/>
            <a:ext cx="5739815" cy="330000"/>
          </a:xfrm>
          <a:prstGeom prst="rect">
            <a:avLst/>
          </a:prstGeom>
          <a:solidFill>
            <a:srgbClr val="005A70"/>
          </a:solidFill>
          <a:ln>
            <a:solidFill>
              <a:srgbClr val="00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UI"/>
              </a:defRPr>
            </a:pPr>
            <a:r>
              <a:t>重点提案：F/Wソフト書込みのサプライヤー移管（A-1工程）</a:t>
            </a:r>
          </a:p>
        </p:txBody>
      </p:sp>
      <p:sp>
        <p:nvSpPr>
          <p:cNvPr id="14" name="TextBox 13"/>
          <p:cNvSpPr txBox="1"/>
          <p:nvPr/>
        </p:nvSpPr>
        <p:spPr>
          <a:xfrm>
            <a:off x="6235847" y="4325000"/>
            <a:ext cx="5659815" cy="2225000"/>
          </a:xfrm>
          <a:prstGeom prst="rect">
            <a:avLst/>
          </a:prstGeom>
          <a:noFill/>
        </p:spPr>
        <p:txBody>
          <a:bodyPr wrap="square" lIns="54864" rIns="54864" tIns="36576" bIns="36576">
            <a:spAutoFit/>
          </a:bodyPr>
          <a:lstStyle/>
          <a:p>
            <a:pPr>
              <a:lnSpc>
                <a:spcPct val="112000"/>
              </a:lnSpc>
              <a:spcAft>
                <a:spcPts val="400"/>
              </a:spcAft>
            </a:pPr>
            <a:r>
              <a:rPr sz="1200" b="1">
                <a:solidFill>
                  <a:srgbClr val="005A70"/>
                </a:solidFill>
                <a:latin typeface="Meiryo UI"/>
              </a:rPr>
              <a:t>• 目的と効果：</a:t>
            </a:r>
            <a:r>
              <a:rPr sz="1200" b="0">
                <a:solidFill>
                  <a:srgbClr val="1E242B"/>
                </a:solidFill>
                <a:latin typeface="Meiryo UI"/>
              </a:rPr>
              <a:t>本体調整工程でのソフト書込みを廃止し、サプライヤーへ事前移管。作業時間短縮・工程削減・作業者1名削減（生産性倍増へ貢献）。</a:t>
            </a:r>
          </a:p>
          <a:p>
            <a:pPr>
              <a:lnSpc>
                <a:spcPct val="112000"/>
              </a:lnSpc>
              <a:spcAft>
                <a:spcPts val="400"/>
              </a:spcAft>
            </a:pPr>
            <a:r>
              <a:rPr sz="1200" b="1">
                <a:solidFill>
                  <a:srgbClr val="005A70"/>
                </a:solidFill>
                <a:latin typeface="Meiryo UI"/>
              </a:rPr>
              <a:t>• 実施計画：</a:t>
            </a:r>
            <a:r>
              <a:rPr sz="1200" b="0">
                <a:solidFill>
                  <a:srgbClr val="1E242B"/>
                </a:solidFill>
                <a:latin typeface="Meiryo UI"/>
              </a:rPr>
              <a:t>Main、Language、OCR、Engine、Motor、Panel、AI等を事前書込。調整ラインではバージョン照合のみ実施し流出防止。</a:t>
            </a:r>
          </a:p>
          <a:p>
            <a:pPr>
              <a:lnSpc>
                <a:spcPct val="112000"/>
              </a:lnSpc>
              <a:spcAft>
                <a:spcPts val="400"/>
              </a:spcAft>
            </a:pPr>
            <a:r>
              <a:rPr sz="1200" b="1">
                <a:solidFill>
                  <a:srgbClr val="005A70"/>
                </a:solidFill>
                <a:latin typeface="Meiryo UI"/>
              </a:rPr>
              <a:t>• 前提条件と課題：</a:t>
            </a:r>
            <a:r>
              <a:rPr sz="1200" b="0">
                <a:solidFill>
                  <a:srgbClr val="1E242B"/>
                </a:solidFill>
                <a:latin typeface="Meiryo UI"/>
              </a:rPr>
              <a:t>ソフト変更時のOld/New基板の厳格管理；LSU特性差、SSD容量、中国向け等の理由でMAIN基板共通化が困難（上位統一は基板コスト増）。</a:t>
            </a:r>
          </a:p>
          <a:p>
            <a:pPr>
              <a:lnSpc>
                <a:spcPct val="112000"/>
              </a:lnSpc>
              <a:spcAft>
                <a:spcPts val="400"/>
              </a:spcAft>
            </a:pPr>
            <a:r>
              <a:rPr sz="1200" b="1">
                <a:solidFill>
                  <a:srgbClr val="005A70"/>
                </a:solidFill>
                <a:latin typeface="Meiryo UI"/>
              </a:rPr>
              <a:t>• 今後の方向性（花崎様）：</a:t>
            </a:r>
            <a:r>
              <a:rPr sz="1200" b="0">
                <a:solidFill>
                  <a:srgbClr val="1E242B"/>
                </a:solidFill>
                <a:latin typeface="Meiryo UI"/>
              </a:rPr>
              <a:t>単なる数分短縮にとどまらず、社内書込みの歴史的経緯を確認し、ライン上の実質的な「員数削減効果」を厳格評価して推進。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4.5 投資試算・承認申請</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No.22詳細見積（101.69百万VND / 3,911.15 USD）と稟議承認申請の2つの選択案</a:t>
            </a:r>
          </a:p>
        </p:txBody>
      </p:sp>
      <p:sp>
        <p:nvSpPr>
          <p:cNvPr id="5" name="TextBox 4"/>
          <p:cNvSpPr txBox="1"/>
          <p:nvPr/>
        </p:nvSpPr>
        <p:spPr>
          <a:xfrm>
            <a:off x="11292840" y="109728"/>
            <a:ext cx="731520" cy="347472"/>
          </a:xfrm>
          <a:prstGeom prst="rect">
            <a:avLst/>
          </a:prstGeom>
          <a:noFill/>
        </p:spPr>
        <p:txBody>
          <a:bodyPr wrap="none">
            <a:spAutoFit/>
          </a:bodyPr>
          <a:lstStyle/>
          <a:p>
            <a:pPr>
              <a:defRPr sz="1200">
                <a:solidFill>
                  <a:srgbClr val="D0D8E8"/>
                </a:solidFill>
                <a:latin typeface="Meiryo UI"/>
              </a:defRPr>
            </a:pPr>
            <a:r>
              <a:t>7 / 15</a:t>
            </a:r>
          </a:p>
        </p:txBody>
      </p:sp>
      <p:sp>
        <p:nvSpPr>
          <p:cNvPr id="6" name="Rectangle 5"/>
          <p:cNvSpPr/>
          <p:nvPr/>
        </p:nvSpPr>
        <p:spPr>
          <a:xfrm>
            <a:off x="256032" y="640080"/>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rPr sz="1200" b="1">
                <a:solidFill>
                  <a:srgbClr val="1B365D"/>
                </a:solidFill>
                <a:latin typeface="Meiryo UI"/>
              </a:rPr>
              <a:t>■ 案A（推奨：No.22耐圧安全検査治具 101,690,000 VND / 3,911.15 USDの先行承認、高額ロボットNo.23, 24はDP・Host PCへ置換）または 案B（見積書3案件一括：855,690,000 VND / 32,911.15 USD）の決裁を仰ぐ。</a:t>
            </a:r>
          </a:p>
        </p:txBody>
      </p:sp>
      <p:sp>
        <p:nvSpPr>
          <p:cNvPr id="7" name="TextBox 6"/>
          <p:cNvSpPr txBox="1"/>
          <p:nvPr/>
        </p:nvSpPr>
        <p:spPr>
          <a:xfrm>
            <a:off x="256032" y="1152144"/>
            <a:ext cx="6629400" cy="201168"/>
          </a:xfrm>
          <a:prstGeom prst="rect">
            <a:avLst/>
          </a:prstGeom>
          <a:noFill/>
        </p:spPr>
        <p:txBody>
          <a:bodyPr wrap="square" lIns="18288" rIns="18288" tIns="9144" bIns="9144">
            <a:spAutoFit/>
          </a:bodyPr>
          <a:lstStyle/>
          <a:p>
            <a:pPr>
              <a:defRPr sz="780" b="1">
                <a:solidFill>
                  <a:srgbClr val="1E6E3E"/>
                </a:solidFill>
                <a:latin typeface="Meiryo UI"/>
              </a:defRPr>
            </a:pPr>
            <a:r>
              <a:t>■ 1. 投資試算シート（IRIS EXPのVN提案.xlsx）記載の費用構成（社内レート 26,000 VND/USD）</a:t>
            </a:r>
          </a:p>
        </p:txBody>
      </p:sp>
      <p:graphicFrame>
        <p:nvGraphicFramePr>
          <p:cNvPr id="8" name="Table 7"/>
          <p:cNvGraphicFramePr>
            <a:graphicFrameLocks noGrp="1"/>
          </p:cNvGraphicFramePr>
          <p:nvPr/>
        </p:nvGraphicFramePr>
        <p:xfrm>
          <a:off x="256032" y="1353312"/>
          <a:ext cx="6629400" cy="2651760"/>
        </p:xfrm>
        <a:graphic>
          <a:graphicData uri="http://schemas.openxmlformats.org/drawingml/2006/table">
            <a:tbl>
              <a:tblPr firstRow="1" bandRow="1">
                <a:tableStyleId>{5C22544A-7EE6-4342-B048-85BDC9FD1C3A}</a:tableStyleId>
              </a:tblPr>
              <a:tblGrid>
                <a:gridCol w="502920"/>
                <a:gridCol w="2697480"/>
                <a:gridCol w="1188720"/>
                <a:gridCol w="1097280"/>
                <a:gridCol w="1143000"/>
              </a:tblGrid>
              <a:tr h="241069">
                <a:tc>
                  <a:txBody>
                    <a:bodyPr wrap="square"/>
                    <a:lstStyle/>
                    <a:p>
                      <a:pPr algn="ctr">
                        <a:defRPr sz="620" b="1">
                          <a:solidFill>
                            <a:srgbClr val="FFFFFF"/>
                          </a:solidFill>
                          <a:latin typeface="Meiryo UI"/>
                        </a:defRPr>
                      </a:pPr>
                      <a:r>
                        <a:t>項目</a:t>
                      </a:r>
                    </a:p>
                  </a:txBody>
                  <a:tcPr anchor="ctr" marL="36576" marR="36576" marT="9144" marB="9144">
                    <a:solidFill>
                      <a:srgbClr val="1B365D"/>
                    </a:solidFill>
                  </a:tcPr>
                </a:tc>
                <a:tc>
                  <a:txBody>
                    <a:bodyPr wrap="square"/>
                    <a:lstStyle/>
                    <a:p>
                      <a:pPr algn="ctr">
                        <a:defRPr sz="620" b="1">
                          <a:solidFill>
                            <a:srgbClr val="FFFFFF"/>
                          </a:solidFill>
                          <a:latin typeface="Meiryo UI"/>
                        </a:defRPr>
                      </a:pPr>
                      <a:r>
                        <a:t>設備項目（Iris EXPのVN提案.xlsx）</a:t>
                      </a:r>
                    </a:p>
                  </a:txBody>
                  <a:tcPr anchor="ctr" marL="36576" marR="36576" marT="9144" marB="9144">
                    <a:solidFill>
                      <a:srgbClr val="1B365D"/>
                    </a:solidFill>
                  </a:tcPr>
                </a:tc>
                <a:tc>
                  <a:txBody>
                    <a:bodyPr wrap="square"/>
                    <a:lstStyle/>
                    <a:p>
                      <a:pPr algn="ctr">
                        <a:defRPr sz="620" b="1">
                          <a:solidFill>
                            <a:srgbClr val="FFFFFF"/>
                          </a:solidFill>
                          <a:latin typeface="Meiryo UI"/>
                        </a:defRPr>
                      </a:pPr>
                      <a:r>
                        <a:t>金額（VND）</a:t>
                      </a:r>
                    </a:p>
                  </a:txBody>
                  <a:tcPr anchor="ctr" marL="36576" marR="36576" marT="9144" marB="9144">
                    <a:solidFill>
                      <a:srgbClr val="1B365D"/>
                    </a:solidFill>
                  </a:tcPr>
                </a:tc>
                <a:tc>
                  <a:txBody>
                    <a:bodyPr wrap="square"/>
                    <a:lstStyle/>
                    <a:p>
                      <a:pPr algn="ctr">
                        <a:defRPr sz="620" b="1">
                          <a:solidFill>
                            <a:srgbClr val="FFFFFF"/>
                          </a:solidFill>
                          <a:latin typeface="Meiryo UI"/>
                        </a:defRPr>
                      </a:pPr>
                      <a:r>
                        <a:t>換算額（USD）</a:t>
                      </a:r>
                    </a:p>
                  </a:txBody>
                  <a:tcPr anchor="ctr" marL="36576" marR="36576" marT="9144" marB="9144">
                    <a:solidFill>
                      <a:srgbClr val="1B365D"/>
                    </a:solidFill>
                  </a:tcPr>
                </a:tc>
                <a:tc>
                  <a:txBody>
                    <a:bodyPr wrap="square"/>
                    <a:lstStyle/>
                    <a:p>
                      <a:pPr algn="ctr">
                        <a:defRPr sz="620" b="1">
                          <a:solidFill>
                            <a:srgbClr val="FFFFFF"/>
                          </a:solidFill>
                          <a:latin typeface="Meiryo UI"/>
                        </a:defRPr>
                      </a:pPr>
                      <a:r>
                        <a:t>効果および費用割合</a:t>
                      </a:r>
                    </a:p>
                  </a:txBody>
                  <a:tcPr anchor="ctr" marL="36576" marR="36576" marT="9144" marB="9144">
                    <a:solidFill>
                      <a:srgbClr val="1B365D"/>
                    </a:solidFill>
                  </a:tcPr>
                </a:tc>
              </a:tr>
              <a:tr h="241069">
                <a:tc>
                  <a:txBody>
                    <a:bodyPr wrap="square"/>
                    <a:lstStyle/>
                    <a:p>
                      <a:pPr algn="ctr">
                        <a:defRPr sz="530" b="1">
                          <a:solidFill>
                            <a:srgbClr val="1E242B"/>
                          </a:solidFill>
                          <a:latin typeface="Meiryo UI"/>
                        </a:defRPr>
                      </a:pPr>
                      <a:r>
                        <a:t>No.22</a:t>
                      </a:r>
                      <a:br/>
                      <a:r>
                        <a:t>グループ1</a:t>
                      </a:r>
                    </a:p>
                  </a:txBody>
                  <a:tcPr anchor="ctr" marL="36576" marR="36576" marT="9144" marB="9144">
                    <a:solidFill>
                      <a:srgbClr val="FFFFFF"/>
                    </a:solidFill>
                  </a:tcPr>
                </a:tc>
                <a:tc>
                  <a:txBody>
                    <a:bodyPr wrap="square"/>
                    <a:lstStyle/>
                    <a:p>
                      <a:pPr algn="l">
                        <a:defRPr sz="530">
                          <a:solidFill>
                            <a:srgbClr val="1E242B"/>
                          </a:solidFill>
                          <a:latin typeface="Meiryo UI"/>
                        </a:defRPr>
                      </a:pPr>
                      <a:r>
                        <a:t>SMCエア機器（No.18～19）：電磁弁 SY5120-5LZD 5個（5M）＋シリンダ MGCLB16-50（4M）、CXSL15-50（5.1M）、CXSL15-70（5.6M）、CXSL15-100 3本（18M）</a:t>
                      </a:r>
                    </a:p>
                  </a:txBody>
                  <a:tcPr anchor="ctr" marL="36576" marR="36576" marT="9144" marB="9144">
                    <a:solidFill>
                      <a:srgbClr val="FFFFFF"/>
                    </a:solidFill>
                  </a:tcPr>
                </a:tc>
                <a:tc>
                  <a:txBody>
                    <a:bodyPr wrap="square"/>
                    <a:lstStyle/>
                    <a:p>
                      <a:pPr algn="r">
                        <a:defRPr sz="530">
                          <a:solidFill>
                            <a:srgbClr val="1E242B"/>
                          </a:solidFill>
                          <a:latin typeface="Meiryo UI"/>
                        </a:defRPr>
                      </a:pPr>
                      <a:r>
                        <a:t>37,700,000 VND</a:t>
                      </a:r>
                    </a:p>
                  </a:txBody>
                  <a:tcPr anchor="ctr" marL="36576" marR="36576" marT="9144" marB="9144">
                    <a:solidFill>
                      <a:srgbClr val="FFFFFF"/>
                    </a:solidFill>
                  </a:tcPr>
                </a:tc>
                <a:tc>
                  <a:txBody>
                    <a:bodyPr wrap="square"/>
                    <a:lstStyle/>
                    <a:p>
                      <a:pPr algn="r">
                        <a:defRPr sz="530">
                          <a:solidFill>
                            <a:srgbClr val="1E242B"/>
                          </a:solidFill>
                          <a:latin typeface="Meiryo UI"/>
                        </a:defRPr>
                      </a:pPr>
                      <a:r>
                        <a:t>1,450.00 USD</a:t>
                      </a:r>
                    </a:p>
                  </a:txBody>
                  <a:tcPr anchor="ctr" marL="36576" marR="36576" marT="9144" marB="9144">
                    <a:solidFill>
                      <a:srgbClr val="FFFFFF"/>
                    </a:solidFill>
                  </a:tcPr>
                </a:tc>
                <a:tc>
                  <a:txBody>
                    <a:bodyPr wrap="square"/>
                    <a:lstStyle/>
                    <a:p>
                      <a:pPr algn="l">
                        <a:defRPr sz="530">
                          <a:solidFill>
                            <a:srgbClr val="1E242B"/>
                          </a:solidFill>
                          <a:latin typeface="Meiryo UI"/>
                        </a:defRPr>
                      </a:pPr>
                      <a:r>
                        <a:t>No.22全体の 37.1%</a:t>
                      </a:r>
                    </a:p>
                  </a:txBody>
                  <a:tcPr anchor="ctr" marL="36576" marR="36576" marT="9144" marB="9144">
                    <a:solidFill>
                      <a:srgbClr val="FFFFFF"/>
                    </a:solidFill>
                  </a:tcPr>
                </a:tc>
              </a:tr>
              <a:tr h="241069">
                <a:tc>
                  <a:txBody>
                    <a:bodyPr wrap="square"/>
                    <a:lstStyle/>
                    <a:p>
                      <a:pPr algn="ctr">
                        <a:defRPr sz="530" b="1">
                          <a:solidFill>
                            <a:srgbClr val="1E242B"/>
                          </a:solidFill>
                          <a:latin typeface="Meiryo UI"/>
                        </a:defRPr>
                      </a:pPr>
                      <a:r>
                        <a:t>No.22</a:t>
                      </a:r>
                      <a:br/>
                      <a:r>
                        <a:t>グループ2</a:t>
                      </a:r>
                    </a:p>
                  </a:txBody>
                  <a:tcPr anchor="ctr" marL="36576" marR="36576" marT="9144" marB="9144">
                    <a:solidFill>
                      <a:srgbClr val="F7F9FC"/>
                    </a:solidFill>
                  </a:tcPr>
                </a:tc>
                <a:tc>
                  <a:txBody>
                    <a:bodyPr wrap="square"/>
                    <a:lstStyle/>
                    <a:p>
                      <a:pPr algn="l">
                        <a:defRPr sz="530">
                          <a:solidFill>
                            <a:srgbClr val="1E242B"/>
                          </a:solidFill>
                          <a:latin typeface="Meiryo UI"/>
                        </a:defRPr>
                      </a:pPr>
                      <a:r>
                        <a:t>治具機械加工費および副資材（No.25：治具ブロック加工費および発生追加電気資材）</a:t>
                      </a:r>
                    </a:p>
                  </a:txBody>
                  <a:tcPr anchor="ctr" marL="36576" marR="36576" marT="9144" marB="9144">
                    <a:solidFill>
                      <a:srgbClr val="F7F9FC"/>
                    </a:solidFill>
                  </a:tcPr>
                </a:tc>
                <a:tc>
                  <a:txBody>
                    <a:bodyPr wrap="square"/>
                    <a:lstStyle/>
                    <a:p>
                      <a:pPr algn="r">
                        <a:defRPr sz="530">
                          <a:solidFill>
                            <a:srgbClr val="1E242B"/>
                          </a:solidFill>
                          <a:latin typeface="Meiryo UI"/>
                        </a:defRPr>
                      </a:pPr>
                      <a:r>
                        <a:t>20,000,000 VND</a:t>
                      </a:r>
                    </a:p>
                  </a:txBody>
                  <a:tcPr anchor="ctr" marL="36576" marR="36576" marT="9144" marB="9144">
                    <a:solidFill>
                      <a:srgbClr val="F7F9FC"/>
                    </a:solidFill>
                  </a:tcPr>
                </a:tc>
                <a:tc>
                  <a:txBody>
                    <a:bodyPr wrap="square"/>
                    <a:lstStyle/>
                    <a:p>
                      <a:pPr algn="r">
                        <a:defRPr sz="530">
                          <a:solidFill>
                            <a:srgbClr val="1E242B"/>
                          </a:solidFill>
                          <a:latin typeface="Meiryo UI"/>
                        </a:defRPr>
                      </a:pPr>
                      <a:r>
                        <a:t>769.23 USD</a:t>
                      </a:r>
                    </a:p>
                  </a:txBody>
                  <a:tcPr anchor="ctr" marL="36576" marR="36576" marT="9144" marB="9144">
                    <a:solidFill>
                      <a:srgbClr val="F7F9FC"/>
                    </a:solidFill>
                  </a:tcPr>
                </a:tc>
                <a:tc>
                  <a:txBody>
                    <a:bodyPr wrap="square"/>
                    <a:lstStyle/>
                    <a:p>
                      <a:pPr algn="l">
                        <a:defRPr sz="530">
                          <a:solidFill>
                            <a:srgbClr val="1E242B"/>
                          </a:solidFill>
                          <a:latin typeface="Meiryo UI"/>
                        </a:defRPr>
                      </a:pPr>
                      <a:r>
                        <a:t>No.22全体の 19.7%</a:t>
                      </a:r>
                    </a:p>
                  </a:txBody>
                  <a:tcPr anchor="ctr" marL="36576" marR="36576" marT="9144" marB="9144">
                    <a:solidFill>
                      <a:srgbClr val="F7F9FC"/>
                    </a:solidFill>
                  </a:tcPr>
                </a:tc>
              </a:tr>
              <a:tr h="241069">
                <a:tc>
                  <a:txBody>
                    <a:bodyPr wrap="square"/>
                    <a:lstStyle/>
                    <a:p>
                      <a:pPr algn="ctr">
                        <a:defRPr sz="530" b="1">
                          <a:solidFill>
                            <a:srgbClr val="1E242B"/>
                          </a:solidFill>
                          <a:latin typeface="Meiryo UI"/>
                        </a:defRPr>
                      </a:pPr>
                      <a:r>
                        <a:t>No.22</a:t>
                      </a:r>
                      <a:br/>
                      <a:r>
                        <a:t>グループ3</a:t>
                      </a:r>
                    </a:p>
                  </a:txBody>
                  <a:tcPr anchor="ctr" marL="36576" marR="36576" marT="9144" marB="9144">
                    <a:solidFill>
                      <a:srgbClr val="FFFFFF"/>
                    </a:solidFill>
                  </a:tcPr>
                </a:tc>
                <a:tc>
                  <a:txBody>
                    <a:bodyPr wrap="square"/>
                    <a:lstStyle/>
                    <a:p>
                      <a:pPr algn="l">
                        <a:defRPr sz="530">
                          <a:solidFill>
                            <a:srgbClr val="1E242B"/>
                          </a:solidFill>
                          <a:latin typeface="Meiryo UI"/>
                        </a:defRPr>
                      </a:pPr>
                      <a:r>
                        <a:t>制御機器・センサ（No.1, 3, 20, 21）：PLC FX5U-64MT/ES（9.5M）＋増設FX5-16EYR（2M）＋HMI Wecon（5M）＋オムロン光電センサ2個（3M）</a:t>
                      </a:r>
                    </a:p>
                  </a:txBody>
                  <a:tcPr anchor="ctr" marL="36576" marR="36576" marT="9144" marB="9144">
                    <a:solidFill>
                      <a:srgbClr val="FFFFFF"/>
                    </a:solidFill>
                  </a:tcPr>
                </a:tc>
                <a:tc>
                  <a:txBody>
                    <a:bodyPr wrap="square"/>
                    <a:lstStyle/>
                    <a:p>
                      <a:pPr algn="r">
                        <a:defRPr sz="530">
                          <a:solidFill>
                            <a:srgbClr val="1E242B"/>
                          </a:solidFill>
                          <a:latin typeface="Meiryo UI"/>
                        </a:defRPr>
                      </a:pPr>
                      <a:r>
                        <a:t>19,500,000 VND</a:t>
                      </a:r>
                    </a:p>
                  </a:txBody>
                  <a:tcPr anchor="ctr" marL="36576" marR="36576" marT="9144" marB="9144">
                    <a:solidFill>
                      <a:srgbClr val="FFFFFF"/>
                    </a:solidFill>
                  </a:tcPr>
                </a:tc>
                <a:tc>
                  <a:txBody>
                    <a:bodyPr wrap="square"/>
                    <a:lstStyle/>
                    <a:p>
                      <a:pPr algn="r">
                        <a:defRPr sz="530">
                          <a:solidFill>
                            <a:srgbClr val="1E242B"/>
                          </a:solidFill>
                          <a:latin typeface="Meiryo UI"/>
                        </a:defRPr>
                      </a:pPr>
                      <a:r>
                        <a:t>750.00 USD</a:t>
                      </a:r>
                    </a:p>
                  </a:txBody>
                  <a:tcPr anchor="ctr" marL="36576" marR="36576" marT="9144" marB="9144">
                    <a:solidFill>
                      <a:srgbClr val="FFFFFF"/>
                    </a:solidFill>
                  </a:tcPr>
                </a:tc>
                <a:tc>
                  <a:txBody>
                    <a:bodyPr wrap="square"/>
                    <a:lstStyle/>
                    <a:p>
                      <a:pPr algn="l">
                        <a:defRPr sz="530">
                          <a:solidFill>
                            <a:srgbClr val="1E242B"/>
                          </a:solidFill>
                          <a:latin typeface="Meiryo UI"/>
                        </a:defRPr>
                      </a:pPr>
                      <a:r>
                        <a:t>No.22全体の 19.2%</a:t>
                      </a:r>
                    </a:p>
                  </a:txBody>
                  <a:tcPr anchor="ctr" marL="36576" marR="36576" marT="9144" marB="9144">
                    <a:solidFill>
                      <a:srgbClr val="FFFFFF"/>
                    </a:solidFill>
                  </a:tcPr>
                </a:tc>
              </a:tr>
              <a:tr h="241069">
                <a:tc>
                  <a:txBody>
                    <a:bodyPr wrap="square"/>
                    <a:lstStyle/>
                    <a:p>
                      <a:pPr algn="ctr">
                        <a:defRPr sz="530" b="1">
                          <a:solidFill>
                            <a:srgbClr val="1E242B"/>
                          </a:solidFill>
                          <a:latin typeface="Meiryo UI"/>
                        </a:defRPr>
                      </a:pPr>
                      <a:r>
                        <a:t>No.22</a:t>
                      </a:r>
                      <a:br/>
                      <a:r>
                        <a:t>グループ4</a:t>
                      </a:r>
                    </a:p>
                  </a:txBody>
                  <a:tcPr anchor="ctr" marL="36576" marR="36576" marT="9144" marB="9144">
                    <a:solidFill>
                      <a:srgbClr val="F7F9FC"/>
                    </a:solidFill>
                  </a:tcPr>
                </a:tc>
                <a:tc>
                  <a:txBody>
                    <a:bodyPr wrap="square"/>
                    <a:lstStyle/>
                    <a:p>
                      <a:pPr algn="l">
                        <a:defRPr sz="530">
                          <a:solidFill>
                            <a:srgbClr val="1E242B"/>
                          </a:solidFill>
                          <a:latin typeface="Meiryo UI"/>
                        </a:defRPr>
                      </a:pPr>
                      <a:r>
                        <a:t>ミスミアルミフレーム（No.22～24）：アルミフレーム15本 LCF8-4040-2000（7.5M）＋コーナーブラケット50個（3M）＋ナット100個（2M）</a:t>
                      </a:r>
                    </a:p>
                  </a:txBody>
                  <a:tcPr anchor="ctr" marL="36576" marR="36576" marT="9144" marB="9144">
                    <a:solidFill>
                      <a:srgbClr val="F7F9FC"/>
                    </a:solidFill>
                  </a:tcPr>
                </a:tc>
                <a:tc>
                  <a:txBody>
                    <a:bodyPr wrap="square"/>
                    <a:lstStyle/>
                    <a:p>
                      <a:pPr algn="r">
                        <a:defRPr sz="530">
                          <a:solidFill>
                            <a:srgbClr val="1E242B"/>
                          </a:solidFill>
                          <a:latin typeface="Meiryo UI"/>
                        </a:defRPr>
                      </a:pPr>
                      <a:r>
                        <a:t>12,500,000 VND</a:t>
                      </a:r>
                    </a:p>
                  </a:txBody>
                  <a:tcPr anchor="ctr" marL="36576" marR="36576" marT="9144" marB="9144">
                    <a:solidFill>
                      <a:srgbClr val="F7F9FC"/>
                    </a:solidFill>
                  </a:tcPr>
                </a:tc>
                <a:tc>
                  <a:txBody>
                    <a:bodyPr wrap="square"/>
                    <a:lstStyle/>
                    <a:p>
                      <a:pPr algn="r">
                        <a:defRPr sz="530">
                          <a:solidFill>
                            <a:srgbClr val="1E242B"/>
                          </a:solidFill>
                          <a:latin typeface="Meiryo UI"/>
                        </a:defRPr>
                      </a:pPr>
                      <a:r>
                        <a:t>480.77 USD</a:t>
                      </a:r>
                    </a:p>
                  </a:txBody>
                  <a:tcPr anchor="ctr" marL="36576" marR="36576" marT="9144" marB="9144">
                    <a:solidFill>
                      <a:srgbClr val="F7F9FC"/>
                    </a:solidFill>
                  </a:tcPr>
                </a:tc>
                <a:tc>
                  <a:txBody>
                    <a:bodyPr wrap="square"/>
                    <a:lstStyle/>
                    <a:p>
                      <a:pPr algn="l">
                        <a:defRPr sz="530">
                          <a:solidFill>
                            <a:srgbClr val="1E242B"/>
                          </a:solidFill>
                          <a:latin typeface="Meiryo UI"/>
                        </a:defRPr>
                      </a:pPr>
                      <a:r>
                        <a:t>No.22全体の 12.3%</a:t>
                      </a:r>
                    </a:p>
                  </a:txBody>
                  <a:tcPr anchor="ctr" marL="36576" marR="36576" marT="9144" marB="9144">
                    <a:solidFill>
                      <a:srgbClr val="F7F9FC"/>
                    </a:solidFill>
                  </a:tcPr>
                </a:tc>
              </a:tr>
              <a:tr h="241069">
                <a:tc>
                  <a:txBody>
                    <a:bodyPr wrap="square"/>
                    <a:lstStyle/>
                    <a:p>
                      <a:pPr algn="ctr">
                        <a:defRPr sz="530" b="1">
                          <a:solidFill>
                            <a:srgbClr val="1E242B"/>
                          </a:solidFill>
                          <a:latin typeface="Meiryo UI"/>
                        </a:defRPr>
                      </a:pPr>
                      <a:r>
                        <a:t>No.22</a:t>
                      </a:r>
                      <a:br/>
                      <a:r>
                        <a:t>グループ5</a:t>
                      </a:r>
                    </a:p>
                  </a:txBody>
                  <a:tcPr anchor="ctr" marL="36576" marR="36576" marT="9144" marB="9144">
                    <a:solidFill>
                      <a:srgbClr val="FFFFFF"/>
                    </a:solidFill>
                  </a:tcPr>
                </a:tc>
                <a:tc>
                  <a:txBody>
                    <a:bodyPr wrap="square"/>
                    <a:lstStyle/>
                    <a:p>
                      <a:pPr algn="l">
                        <a:defRPr sz="530">
                          <a:solidFill>
                            <a:srgbClr val="1E242B"/>
                          </a:solidFill>
                          <a:latin typeface="Meiryo UI"/>
                        </a:defRPr>
                      </a:pPr>
                      <a:r>
                        <a:t>制御盤内電装部品（No.2, 4～16）：ブレーカ CP30-BA（0.65M）、電磁接触器3個（1.5M）、電源S8VK（0.7M）、端子台・リレー・スイッチ・ランプ（4.14M）</a:t>
                      </a:r>
                    </a:p>
                  </a:txBody>
                  <a:tcPr anchor="ctr" marL="36576" marR="36576" marT="9144" marB="9144">
                    <a:solidFill>
                      <a:srgbClr val="FFFFFF"/>
                    </a:solidFill>
                  </a:tcPr>
                </a:tc>
                <a:tc>
                  <a:txBody>
                    <a:bodyPr wrap="square"/>
                    <a:lstStyle/>
                    <a:p>
                      <a:pPr algn="r">
                        <a:defRPr sz="530">
                          <a:solidFill>
                            <a:srgbClr val="1E242B"/>
                          </a:solidFill>
                          <a:latin typeface="Meiryo UI"/>
                        </a:defRPr>
                      </a:pPr>
                      <a:r>
                        <a:t>6,990,000 VND</a:t>
                      </a:r>
                    </a:p>
                  </a:txBody>
                  <a:tcPr anchor="ctr" marL="36576" marR="36576" marT="9144" marB="9144">
                    <a:solidFill>
                      <a:srgbClr val="FFFFFF"/>
                    </a:solidFill>
                  </a:tcPr>
                </a:tc>
                <a:tc>
                  <a:txBody>
                    <a:bodyPr wrap="square"/>
                    <a:lstStyle/>
                    <a:p>
                      <a:pPr algn="r">
                        <a:defRPr sz="530">
                          <a:solidFill>
                            <a:srgbClr val="1E242B"/>
                          </a:solidFill>
                          <a:latin typeface="Meiryo UI"/>
                        </a:defRPr>
                      </a:pPr>
                      <a:r>
                        <a:t>268.85 USD</a:t>
                      </a:r>
                    </a:p>
                  </a:txBody>
                  <a:tcPr anchor="ctr" marL="36576" marR="36576" marT="9144" marB="9144">
                    <a:solidFill>
                      <a:srgbClr val="FFFFFF"/>
                    </a:solidFill>
                  </a:tcPr>
                </a:tc>
                <a:tc>
                  <a:txBody>
                    <a:bodyPr wrap="square"/>
                    <a:lstStyle/>
                    <a:p>
                      <a:pPr algn="l">
                        <a:defRPr sz="530">
                          <a:solidFill>
                            <a:srgbClr val="1E242B"/>
                          </a:solidFill>
                          <a:latin typeface="Meiryo UI"/>
                        </a:defRPr>
                      </a:pPr>
                      <a:r>
                        <a:t>No.22全体の 6.9%</a:t>
                      </a:r>
                    </a:p>
                  </a:txBody>
                  <a:tcPr anchor="ctr" marL="36576" marR="36576" marT="9144" marB="9144">
                    <a:solidFill>
                      <a:srgbClr val="FFFFFF"/>
                    </a:solidFill>
                  </a:tcPr>
                </a:tc>
              </a:tr>
              <a:tr h="241069">
                <a:tc>
                  <a:txBody>
                    <a:bodyPr wrap="square"/>
                    <a:lstStyle/>
                    <a:p>
                      <a:pPr algn="ctr">
                        <a:defRPr sz="530" b="1">
                          <a:solidFill>
                            <a:srgbClr val="1E242B"/>
                          </a:solidFill>
                          <a:latin typeface="Meiryo UI"/>
                        </a:defRPr>
                      </a:pPr>
                      <a:r>
                        <a:t>No.22</a:t>
                      </a:r>
                      <a:br/>
                      <a:r>
                        <a:t>グループ6</a:t>
                      </a:r>
                    </a:p>
                  </a:txBody>
                  <a:tcPr anchor="ctr" marL="36576" marR="36576" marT="9144" marB="9144">
                    <a:solidFill>
                      <a:srgbClr val="F7F9FC"/>
                    </a:solidFill>
                  </a:tcPr>
                </a:tc>
                <a:tc>
                  <a:txBody>
                    <a:bodyPr wrap="square"/>
                    <a:lstStyle/>
                    <a:p>
                      <a:pPr algn="l">
                        <a:defRPr sz="530">
                          <a:solidFill>
                            <a:srgbClr val="1E242B"/>
                          </a:solidFill>
                          <a:latin typeface="Meiryo UI"/>
                        </a:defRPr>
                      </a:pPr>
                      <a:r>
                        <a:t>制御盤ボックス（No.17：電装ボックス1台 5,000,000 VND；参考欄に「見積依頼中」と注記）</a:t>
                      </a:r>
                    </a:p>
                  </a:txBody>
                  <a:tcPr anchor="ctr" marL="36576" marR="36576" marT="9144" marB="9144">
                    <a:solidFill>
                      <a:srgbClr val="F7F9FC"/>
                    </a:solidFill>
                  </a:tcPr>
                </a:tc>
                <a:tc>
                  <a:txBody>
                    <a:bodyPr wrap="square"/>
                    <a:lstStyle/>
                    <a:p>
                      <a:pPr algn="r">
                        <a:defRPr sz="530">
                          <a:solidFill>
                            <a:srgbClr val="1E242B"/>
                          </a:solidFill>
                          <a:latin typeface="Meiryo UI"/>
                        </a:defRPr>
                      </a:pPr>
                      <a:r>
                        <a:t>5,000,000 VND</a:t>
                      </a:r>
                    </a:p>
                  </a:txBody>
                  <a:tcPr anchor="ctr" marL="36576" marR="36576" marT="9144" marB="9144">
                    <a:solidFill>
                      <a:srgbClr val="F7F9FC"/>
                    </a:solidFill>
                  </a:tcPr>
                </a:tc>
                <a:tc>
                  <a:txBody>
                    <a:bodyPr wrap="square"/>
                    <a:lstStyle/>
                    <a:p>
                      <a:pPr algn="r">
                        <a:defRPr sz="530">
                          <a:solidFill>
                            <a:srgbClr val="1E242B"/>
                          </a:solidFill>
                          <a:latin typeface="Meiryo UI"/>
                        </a:defRPr>
                      </a:pPr>
                      <a:r>
                        <a:t>192.31 USD</a:t>
                      </a:r>
                    </a:p>
                  </a:txBody>
                  <a:tcPr anchor="ctr" marL="36576" marR="36576" marT="9144" marB="9144">
                    <a:solidFill>
                      <a:srgbClr val="F7F9FC"/>
                    </a:solidFill>
                  </a:tcPr>
                </a:tc>
                <a:tc>
                  <a:txBody>
                    <a:bodyPr wrap="square"/>
                    <a:lstStyle/>
                    <a:p>
                      <a:pPr algn="l">
                        <a:defRPr sz="530">
                          <a:solidFill>
                            <a:srgbClr val="1E242B"/>
                          </a:solidFill>
                          <a:latin typeface="Meiryo UI"/>
                        </a:defRPr>
                      </a:pPr>
                      <a:r>
                        <a:t>No.22全体の 4.9%</a:t>
                      </a:r>
                    </a:p>
                  </a:txBody>
                  <a:tcPr anchor="ctr" marL="36576" marR="36576" marT="9144" marB="9144">
                    <a:solidFill>
                      <a:srgbClr val="F7F9FC"/>
                    </a:solidFill>
                  </a:tcPr>
                </a:tc>
              </a:tr>
              <a:tr h="241069">
                <a:tc>
                  <a:txBody>
                    <a:bodyPr wrap="square"/>
                    <a:lstStyle/>
                    <a:p>
                      <a:pPr algn="ctr">
                        <a:defRPr sz="530" b="1">
                          <a:solidFill>
                            <a:srgbClr val="1E242B"/>
                          </a:solidFill>
                          <a:latin typeface="Meiryo UI"/>
                        </a:defRPr>
                      </a:pPr>
                      <a:r>
                        <a:t>No.22</a:t>
                      </a:r>
                      <a:br/>
                      <a:r>
                        <a:t>合計</a:t>
                      </a:r>
                    </a:p>
                  </a:txBody>
                  <a:tcPr anchor="ctr" marL="36576" marR="36576" marT="9144" marB="9144">
                    <a:solidFill>
                      <a:srgbClr val="EAF7EE"/>
                    </a:solidFill>
                  </a:tcPr>
                </a:tc>
                <a:tc>
                  <a:txBody>
                    <a:bodyPr wrap="square"/>
                    <a:lstStyle/>
                    <a:p>
                      <a:pPr algn="l">
                        <a:defRPr sz="530" b="1">
                          <a:solidFill>
                            <a:srgbClr val="1E242B"/>
                          </a:solidFill>
                          <a:latin typeface="Meiryo UI"/>
                        </a:defRPr>
                      </a:pPr>
                      <a:r>
                        <a:t>案件 1（No.22 アース導通・耐電圧自動検査治具）合計 【案 A：先行申請】</a:t>
                      </a:r>
                      <a:br/>
                      <a:r>
                        <a:t>（内訳明細：101,700,000 VND / 3,911.54 USD ｜ サマリー表丸め値：4,000 USD）</a:t>
                      </a:r>
                    </a:p>
                  </a:txBody>
                  <a:tcPr anchor="ctr" marL="36576" marR="36576" marT="9144" marB="9144">
                    <a:solidFill>
                      <a:srgbClr val="EAF7EE"/>
                    </a:solidFill>
                  </a:tcPr>
                </a:tc>
                <a:tc>
                  <a:txBody>
                    <a:bodyPr wrap="square"/>
                    <a:lstStyle/>
                    <a:p>
                      <a:pPr algn="r">
                        <a:defRPr sz="530" b="1">
                          <a:solidFill>
                            <a:srgbClr val="1E6E3E"/>
                          </a:solidFill>
                          <a:latin typeface="Meiryo UI"/>
                        </a:defRPr>
                      </a:pPr>
                      <a:r>
                        <a:t>101,690,000 VND</a:t>
                      </a:r>
                    </a:p>
                  </a:txBody>
                  <a:tcPr anchor="ctr" marL="36576" marR="36576" marT="9144" marB="9144">
                    <a:solidFill>
                      <a:srgbClr val="EAF7EE"/>
                    </a:solidFill>
                  </a:tcPr>
                </a:tc>
                <a:tc>
                  <a:txBody>
                    <a:bodyPr wrap="square"/>
                    <a:lstStyle/>
                    <a:p>
                      <a:pPr algn="r">
                        <a:defRPr sz="530">
                          <a:solidFill>
                            <a:srgbClr val="1E242B"/>
                          </a:solidFill>
                          <a:latin typeface="Meiryo UI"/>
                        </a:defRPr>
                      </a:pPr>
                      <a:r>
                        <a:t>3,911.15 USD</a:t>
                      </a:r>
                      <a:br/>
                      <a:r>
                        <a:t>（丸め値: 4,000$）</a:t>
                      </a:r>
                    </a:p>
                  </a:txBody>
                  <a:tcPr anchor="ctr" marL="36576" marR="36576" marT="9144" marB="9144">
                    <a:solidFill>
                      <a:srgbClr val="EAF7EE"/>
                    </a:solidFill>
                  </a:tcPr>
                </a:tc>
                <a:tc>
                  <a:txBody>
                    <a:bodyPr wrap="square"/>
                    <a:lstStyle/>
                    <a:p>
                      <a:pPr algn="l">
                        <a:defRPr sz="530">
                          <a:solidFill>
                            <a:srgbClr val="1E242B"/>
                          </a:solidFill>
                          <a:latin typeface="Meiryo UI"/>
                        </a:defRPr>
                      </a:pPr>
                      <a:r>
                        <a:t>-30秒/台 短縮</a:t>
                      </a:r>
                      <a:br/>
                      <a:r>
                        <a:t>年間 29.6M VND削減</a:t>
                      </a:r>
                    </a:p>
                  </a:txBody>
                  <a:tcPr anchor="ctr" marL="36576" marR="36576" marT="9144" marB="9144">
                    <a:solidFill>
                      <a:srgbClr val="EAF7EE"/>
                    </a:solidFill>
                  </a:tcPr>
                </a:tc>
              </a:tr>
              <a:tr h="241069">
                <a:tc>
                  <a:txBody>
                    <a:bodyPr wrap="square"/>
                    <a:lstStyle/>
                    <a:p>
                      <a:pPr algn="ctr">
                        <a:defRPr sz="530" b="1">
                          <a:solidFill>
                            <a:srgbClr val="1E242B"/>
                          </a:solidFill>
                          <a:latin typeface="Meiryo UI"/>
                        </a:defRPr>
                      </a:pPr>
                      <a:r>
                        <a:t>No.23</a:t>
                      </a:r>
                      <a:br/>
                      <a:r>
                        <a:t>（案件2）</a:t>
                      </a:r>
                    </a:p>
                  </a:txBody>
                  <a:tcPr anchor="ctr" marL="36576" marR="36576" marT="9144" marB="9144">
                    <a:solidFill>
                      <a:srgbClr val="E8EEF5"/>
                    </a:solidFill>
                  </a:tcPr>
                </a:tc>
                <a:tc>
                  <a:txBody>
                    <a:bodyPr wrap="square"/>
                    <a:lstStyle/>
                    <a:p>
                      <a:pPr algn="l">
                        <a:defRPr sz="530">
                          <a:solidFill>
                            <a:srgbClr val="1E242B"/>
                          </a:solidFill>
                          <a:latin typeface="Meiryo UI"/>
                        </a:defRPr>
                      </a:pPr>
                      <a:r>
                        <a:t>案件 2（No.23 原稿自動セットロボット：U411＋SITC-2＋Halftone）：</a:t>
                      </a:r>
                      <a:br/>
                      <a:r>
                        <a:t>コンベア2セル（200M/$7,692）＋電源（50M/$1,923）＋配線（50M/$1,923）＋ロボット（350M/$13,462）</a:t>
                      </a:r>
                    </a:p>
                  </a:txBody>
                  <a:tcPr anchor="ctr" marL="36576" marR="36576" marT="9144" marB="9144">
                    <a:solidFill>
                      <a:srgbClr val="E8EEF5"/>
                    </a:solidFill>
                  </a:tcPr>
                </a:tc>
                <a:tc>
                  <a:txBody>
                    <a:bodyPr wrap="square"/>
                    <a:lstStyle/>
                    <a:p>
                      <a:pPr algn="r">
                        <a:defRPr sz="530">
                          <a:solidFill>
                            <a:srgbClr val="1E242B"/>
                          </a:solidFill>
                          <a:latin typeface="Meiryo UI"/>
                        </a:defRPr>
                      </a:pPr>
                      <a:r>
                        <a:t>650,000,000 VND</a:t>
                      </a:r>
                    </a:p>
                  </a:txBody>
                  <a:tcPr anchor="ctr" marL="36576" marR="36576" marT="9144" marB="9144">
                    <a:solidFill>
                      <a:srgbClr val="E8EEF5"/>
                    </a:solidFill>
                  </a:tcPr>
                </a:tc>
                <a:tc>
                  <a:txBody>
                    <a:bodyPr wrap="square"/>
                    <a:lstStyle/>
                    <a:p>
                      <a:pPr algn="r">
                        <a:defRPr sz="530">
                          <a:solidFill>
                            <a:srgbClr val="1E242B"/>
                          </a:solidFill>
                          <a:latin typeface="Meiryo UI"/>
                        </a:defRPr>
                      </a:pPr>
                      <a:r>
                        <a:t>25,000.00 USD</a:t>
                      </a:r>
                    </a:p>
                  </a:txBody>
                  <a:tcPr anchor="ctr" marL="36576" marR="36576" marT="9144" marB="9144">
                    <a:solidFill>
                      <a:srgbClr val="E8EEF5"/>
                    </a:solidFill>
                  </a:tcPr>
                </a:tc>
                <a:tc>
                  <a:txBody>
                    <a:bodyPr wrap="square"/>
                    <a:lstStyle/>
                    <a:p>
                      <a:pPr algn="l">
                        <a:defRPr sz="530">
                          <a:solidFill>
                            <a:srgbClr val="1E242B"/>
                          </a:solidFill>
                          <a:latin typeface="Meiryo UI"/>
                        </a:defRPr>
                      </a:pPr>
                      <a:r>
                        <a:t>-110秒/台 短縮</a:t>
                      </a:r>
                      <a:br/>
                      <a:r>
                        <a:t>年間 108.5M VND削減</a:t>
                      </a:r>
                    </a:p>
                  </a:txBody>
                  <a:tcPr anchor="ctr" marL="36576" marR="36576" marT="9144" marB="9144">
                    <a:solidFill>
                      <a:srgbClr val="E8EEF5"/>
                    </a:solidFill>
                  </a:tcPr>
                </a:tc>
              </a:tr>
              <a:tr h="241069">
                <a:tc>
                  <a:txBody>
                    <a:bodyPr wrap="square"/>
                    <a:lstStyle/>
                    <a:p>
                      <a:pPr algn="ctr">
                        <a:defRPr sz="530" b="1">
                          <a:solidFill>
                            <a:srgbClr val="1E242B"/>
                          </a:solidFill>
                          <a:latin typeface="Meiryo UI"/>
                        </a:defRPr>
                      </a:pPr>
                      <a:r>
                        <a:t>No.24</a:t>
                      </a:r>
                      <a:br/>
                      <a:r>
                        <a:t>（案件3）</a:t>
                      </a:r>
                    </a:p>
                  </a:txBody>
                  <a:tcPr anchor="ctr" marL="36576" marR="36576" marT="9144" marB="9144">
                    <a:solidFill>
                      <a:srgbClr val="E8EEF5"/>
                    </a:solidFill>
                  </a:tcPr>
                </a:tc>
                <a:tc>
                  <a:txBody>
                    <a:bodyPr wrap="square"/>
                    <a:lstStyle/>
                    <a:p>
                      <a:pPr algn="l">
                        <a:defRPr sz="530">
                          <a:solidFill>
                            <a:srgbClr val="1E242B"/>
                          </a:solidFill>
                          <a:latin typeface="Meiryo UI"/>
                        </a:defRPr>
                      </a:pPr>
                      <a:r>
                        <a:t>案件 3（No.24 USB自動接続、パネル判定カメラおよびAIタッチロボット）</a:t>
                      </a:r>
                    </a:p>
                  </a:txBody>
                  <a:tcPr anchor="ctr" marL="36576" marR="36576" marT="9144" marB="9144">
                    <a:solidFill>
                      <a:srgbClr val="E8EEF5"/>
                    </a:solidFill>
                  </a:tcPr>
                </a:tc>
                <a:tc>
                  <a:txBody>
                    <a:bodyPr wrap="square"/>
                    <a:lstStyle/>
                    <a:p>
                      <a:pPr algn="r">
                        <a:defRPr sz="530">
                          <a:solidFill>
                            <a:srgbClr val="1E242B"/>
                          </a:solidFill>
                          <a:latin typeface="Meiryo UI"/>
                        </a:defRPr>
                      </a:pPr>
                      <a:r>
                        <a:t>104,000,000 VND</a:t>
                      </a:r>
                    </a:p>
                  </a:txBody>
                  <a:tcPr anchor="ctr" marL="36576" marR="36576" marT="9144" marB="9144">
                    <a:solidFill>
                      <a:srgbClr val="E8EEF5"/>
                    </a:solidFill>
                  </a:tcPr>
                </a:tc>
                <a:tc>
                  <a:txBody>
                    <a:bodyPr wrap="square"/>
                    <a:lstStyle/>
                    <a:p>
                      <a:pPr algn="r">
                        <a:defRPr sz="530">
                          <a:solidFill>
                            <a:srgbClr val="1E242B"/>
                          </a:solidFill>
                          <a:latin typeface="Meiryo UI"/>
                        </a:defRPr>
                      </a:pPr>
                      <a:r>
                        <a:t>4,000.00 USD</a:t>
                      </a:r>
                    </a:p>
                  </a:txBody>
                  <a:tcPr anchor="ctr" marL="36576" marR="36576" marT="9144" marB="9144">
                    <a:solidFill>
                      <a:srgbClr val="E8EEF5"/>
                    </a:solidFill>
                  </a:tcPr>
                </a:tc>
                <a:tc>
                  <a:txBody>
                    <a:bodyPr wrap="square"/>
                    <a:lstStyle/>
                    <a:p>
                      <a:pPr algn="l">
                        <a:defRPr sz="530">
                          <a:solidFill>
                            <a:srgbClr val="1E242B"/>
                          </a:solidFill>
                          <a:latin typeface="Meiryo UI"/>
                        </a:defRPr>
                      </a:pPr>
                      <a:r>
                        <a:t>-30秒/台 短縮</a:t>
                      </a:r>
                      <a:br/>
                      <a:r>
                        <a:t>年間 29.6M VND削減</a:t>
                      </a:r>
                    </a:p>
                  </a:txBody>
                  <a:tcPr anchor="ctr" marL="36576" marR="36576" marT="9144" marB="9144">
                    <a:solidFill>
                      <a:srgbClr val="E8EEF5"/>
                    </a:solidFill>
                  </a:tcPr>
                </a:tc>
              </a:tr>
              <a:tr h="241070">
                <a:tc>
                  <a:txBody>
                    <a:bodyPr wrap="square"/>
                    <a:lstStyle/>
                    <a:p>
                      <a:pPr algn="ctr">
                        <a:defRPr sz="530" b="1">
                          <a:solidFill>
                            <a:srgbClr val="1E242B"/>
                          </a:solidFill>
                          <a:latin typeface="Meiryo UI"/>
                        </a:defRPr>
                      </a:pPr>
                      <a:r>
                        <a:t>3案件</a:t>
                      </a:r>
                      <a:br/>
                      <a:r>
                        <a:t>総計</a:t>
                      </a:r>
                    </a:p>
                  </a:txBody>
                  <a:tcPr anchor="ctr" marL="36576" marR="36576" marT="9144" marB="9144">
                    <a:solidFill>
                      <a:srgbClr val="EAF7EE"/>
                    </a:solidFill>
                  </a:tcPr>
                </a:tc>
                <a:tc>
                  <a:txBody>
                    <a:bodyPr wrap="square"/>
                    <a:lstStyle/>
                    <a:p>
                      <a:pPr algn="l">
                        <a:defRPr sz="530" b="1">
                          <a:solidFill>
                            <a:srgbClr val="1E242B"/>
                          </a:solidFill>
                          <a:latin typeface="Meiryo UI"/>
                        </a:defRPr>
                      </a:pPr>
                      <a:r>
                        <a:t>見積書記載 3案件合計（No.22 ＋ No.23 ＋ No.24） 【案 B：一括申請】</a:t>
                      </a:r>
                      <a:br/>
                      <a:r>
                        <a:t>（内訳明細計：855,700,000 VND / 32,911.54 USD ｜ サマリー表記載：858,000,000 VND / 33,000 USD）</a:t>
                      </a:r>
                    </a:p>
                  </a:txBody>
                  <a:tcPr anchor="ctr" marL="36576" marR="36576" marT="9144" marB="9144">
                    <a:solidFill>
                      <a:srgbClr val="EAF7EE"/>
                    </a:solidFill>
                  </a:tcPr>
                </a:tc>
                <a:tc>
                  <a:txBody>
                    <a:bodyPr wrap="square"/>
                    <a:lstStyle/>
                    <a:p>
                      <a:pPr algn="r">
                        <a:defRPr sz="530">
                          <a:solidFill>
                            <a:srgbClr val="1E242B"/>
                          </a:solidFill>
                          <a:latin typeface="Meiryo UI"/>
                        </a:defRPr>
                      </a:pPr>
                      <a:r>
                        <a:t>855,690,000 VND</a:t>
                      </a:r>
                    </a:p>
                  </a:txBody>
                  <a:tcPr anchor="ctr" marL="36576" marR="36576" marT="9144" marB="9144">
                    <a:solidFill>
                      <a:srgbClr val="EAF7EE"/>
                    </a:solidFill>
                  </a:tcPr>
                </a:tc>
                <a:tc>
                  <a:txBody>
                    <a:bodyPr wrap="square"/>
                    <a:lstStyle/>
                    <a:p>
                      <a:pPr algn="r">
                        <a:defRPr sz="530">
                          <a:solidFill>
                            <a:srgbClr val="1E242B"/>
                          </a:solidFill>
                          <a:latin typeface="Meiryo UI"/>
                        </a:defRPr>
                      </a:pPr>
                      <a:r>
                        <a:t>32,911.15 USD</a:t>
                      </a:r>
                      <a:br/>
                      <a:r>
                        <a:t>（丸め値: 33,000$）</a:t>
                      </a:r>
                    </a:p>
                  </a:txBody>
                  <a:tcPr anchor="ctr" marL="36576" marR="36576" marT="9144" marB="9144">
                    <a:solidFill>
                      <a:srgbClr val="EAF7EE"/>
                    </a:solidFill>
                  </a:tcPr>
                </a:tc>
                <a:tc>
                  <a:txBody>
                    <a:bodyPr wrap="square"/>
                    <a:lstStyle/>
                    <a:p>
                      <a:pPr algn="l">
                        <a:defRPr sz="530">
                          <a:solidFill>
                            <a:srgbClr val="1E242B"/>
                          </a:solidFill>
                          <a:latin typeface="Meiryo UI"/>
                        </a:defRPr>
                      </a:pPr>
                      <a:r>
                        <a:t>-170秒/台 短縮</a:t>
                      </a:r>
                      <a:br/>
                      <a:r>
                        <a:t>年間 167.7M VND削減</a:t>
                      </a:r>
                    </a:p>
                  </a:txBody>
                  <a:tcPr anchor="ctr" marL="36576" marR="36576" marT="9144" marB="9144">
                    <a:solidFill>
                      <a:srgbClr val="EAF7EE"/>
                    </a:solidFill>
                  </a:tcPr>
                </a:tc>
              </a:tr>
            </a:tbl>
          </a:graphicData>
        </a:graphic>
      </p:graphicFrame>
      <p:sp>
        <p:nvSpPr>
          <p:cNvPr id="9" name="TextBox 8"/>
          <p:cNvSpPr txBox="1"/>
          <p:nvPr/>
        </p:nvSpPr>
        <p:spPr>
          <a:xfrm>
            <a:off x="256032" y="4069080"/>
            <a:ext cx="6629400" cy="182880"/>
          </a:xfrm>
          <a:prstGeom prst="rect">
            <a:avLst/>
          </a:prstGeom>
          <a:noFill/>
        </p:spPr>
        <p:txBody>
          <a:bodyPr wrap="square" lIns="18288" rIns="18288" tIns="9144" bIns="9144">
            <a:spAutoFit/>
          </a:bodyPr>
          <a:lstStyle/>
          <a:p>
            <a:pPr>
              <a:defRPr sz="780" b="1">
                <a:solidFill>
                  <a:srgbClr val="1B365D"/>
                </a:solidFill>
                <a:latin typeface="Meiryo UI"/>
              </a:defRPr>
            </a:pPr>
            <a:r>
              <a:t>■ 2. 部門長への技術相談および意思決定要請事項</a:t>
            </a:r>
          </a:p>
        </p:txBody>
      </p:sp>
      <p:graphicFrame>
        <p:nvGraphicFramePr>
          <p:cNvPr id="10" name="Table 9"/>
          <p:cNvGraphicFramePr>
            <a:graphicFrameLocks noGrp="1"/>
          </p:cNvGraphicFramePr>
          <p:nvPr/>
        </p:nvGraphicFramePr>
        <p:xfrm>
          <a:off x="256032" y="4261104"/>
          <a:ext cx="6629400" cy="2212848"/>
        </p:xfrm>
        <a:graphic>
          <a:graphicData uri="http://schemas.openxmlformats.org/drawingml/2006/table">
            <a:tbl>
              <a:tblPr firstRow="1" bandRow="1">
                <a:tableStyleId>{5C22544A-7EE6-4342-B048-85BDC9FD1C3A}</a:tableStyleId>
              </a:tblPr>
              <a:tblGrid>
                <a:gridCol w="1325880"/>
                <a:gridCol w="3337560"/>
                <a:gridCol w="1965960"/>
              </a:tblGrid>
              <a:tr h="442569">
                <a:tc>
                  <a:txBody>
                    <a:bodyPr wrap="square"/>
                    <a:lstStyle/>
                    <a:p>
                      <a:pPr algn="ctr">
                        <a:defRPr sz="650" b="1">
                          <a:solidFill>
                            <a:srgbClr val="FFFFFF"/>
                          </a:solidFill>
                          <a:latin typeface="Meiryo UI"/>
                        </a:defRPr>
                      </a:pPr>
                      <a:r>
                        <a:t>相談項目</a:t>
                      </a:r>
                    </a:p>
                  </a:txBody>
                  <a:tcPr anchor="ctr" marL="36576" marR="36576" marT="9144" marB="9144">
                    <a:solidFill>
                      <a:srgbClr val="1B365D"/>
                    </a:solidFill>
                  </a:tcPr>
                </a:tc>
                <a:tc>
                  <a:txBody>
                    <a:bodyPr wrap="square"/>
                    <a:lstStyle/>
                    <a:p>
                      <a:pPr algn="ctr">
                        <a:defRPr sz="650" b="1">
                          <a:solidFill>
                            <a:srgbClr val="FFFFFF"/>
                          </a:solidFill>
                          <a:latin typeface="Meiryo UI"/>
                        </a:defRPr>
                      </a:pPr>
                      <a:r>
                        <a:t>現状およびKDTVN製造技術部からの提案内容</a:t>
                      </a:r>
                    </a:p>
                  </a:txBody>
                  <a:tcPr anchor="ctr" marL="36576" marR="36576" marT="9144" marB="9144">
                    <a:solidFill>
                      <a:srgbClr val="1B365D"/>
                    </a:solidFill>
                  </a:tcPr>
                </a:tc>
                <a:tc>
                  <a:txBody>
                    <a:bodyPr wrap="square"/>
                    <a:lstStyle/>
                    <a:p>
                      <a:pPr algn="ctr">
                        <a:defRPr sz="650" b="1">
                          <a:solidFill>
                            <a:srgbClr val="FFFFFF"/>
                          </a:solidFill>
                          <a:latin typeface="Meiryo UI"/>
                        </a:defRPr>
                      </a:pPr>
                      <a:r>
                        <a:t>決定を仰ぎたい事項</a:t>
                      </a:r>
                    </a:p>
                  </a:txBody>
                  <a:tcPr anchor="ctr" marL="36576" marR="36576" marT="9144" marB="9144">
                    <a:solidFill>
                      <a:srgbClr val="1B365D"/>
                    </a:solidFill>
                  </a:tcPr>
                </a:tc>
              </a:tr>
              <a:tr h="442569">
                <a:tc>
                  <a:txBody>
                    <a:bodyPr wrap="square"/>
                    <a:lstStyle/>
                    <a:p>
                      <a:pPr algn="l">
                        <a:defRPr sz="580" b="1">
                          <a:solidFill>
                            <a:srgbClr val="1E242B"/>
                          </a:solidFill>
                          <a:latin typeface="Meiryo UI"/>
                        </a:defRPr>
                      </a:pPr>
                      <a:r>
                        <a:t>1. 第1期・第2期</a:t>
                      </a:r>
                      <a:br/>
                      <a:r>
                        <a:t>投資方針の選択</a:t>
                      </a:r>
                    </a:p>
                  </a:txBody>
                  <a:tcPr anchor="ctr" marL="36576" marR="36576" marT="9144" marB="9144">
                    <a:solidFill>
                      <a:srgbClr val="EAF7EE"/>
                    </a:solidFill>
                  </a:tcPr>
                </a:tc>
                <a:tc>
                  <a:txBody>
                    <a:bodyPr wrap="square"/>
                    <a:lstStyle/>
                    <a:p>
                      <a:pPr algn="l">
                        <a:defRPr sz="580">
                          <a:solidFill>
                            <a:srgbClr val="1E242B"/>
                          </a:solidFill>
                          <a:latin typeface="Meiryo UI"/>
                        </a:defRPr>
                      </a:pPr>
                      <a:r>
                        <a:t>• 案 A（推奨）：No.22（101.69M VND）を先行承認。高額ロボットNo.23, 24はDP連続スキャン（No.25）およびHost PCログ照合へ置換。第2期にカメラNo.27（-177s）とDP No.25を申請。</a:t>
                      </a:r>
                      <a:br/>
                      <a:r>
                        <a:t>• 案 B：見積書記載の3案件（855.69M VND / 32,911.15 USD）を一括承認。</a:t>
                      </a:r>
                    </a:p>
                  </a:txBody>
                  <a:tcPr anchor="ctr" marL="36576" marR="36576" marT="9144" marB="9144">
                    <a:solidFill>
                      <a:srgbClr val="EAF7EE"/>
                    </a:solidFill>
                  </a:tcPr>
                </a:tc>
                <a:tc>
                  <a:txBody>
                    <a:bodyPr wrap="square"/>
                    <a:lstStyle/>
                    <a:p>
                      <a:pPr algn="l">
                        <a:defRPr sz="580">
                          <a:solidFill>
                            <a:srgbClr val="1E242B"/>
                          </a:solidFill>
                          <a:latin typeface="Meiryo UI"/>
                        </a:defRPr>
                      </a:pPr>
                      <a:r>
                        <a:t>11月15日までに案Aまたは案Bのご決裁を要請</a:t>
                      </a:r>
                    </a:p>
                  </a:txBody>
                  <a:tcPr anchor="ctr" marL="36576" marR="36576" marT="9144" marB="9144">
                    <a:solidFill>
                      <a:srgbClr val="EAF7EE"/>
                    </a:solidFill>
                  </a:tcPr>
                </a:tc>
              </a:tr>
              <a:tr h="442569">
                <a:tc>
                  <a:txBody>
                    <a:bodyPr wrap="square"/>
                    <a:lstStyle/>
                    <a:p>
                      <a:pPr algn="l">
                        <a:defRPr sz="580" b="1">
                          <a:solidFill>
                            <a:srgbClr val="1E242B"/>
                          </a:solidFill>
                          <a:latin typeface="Meiryo UI"/>
                        </a:defRPr>
                      </a:pPr>
                      <a:r>
                        <a:t>2. カバー6枚組付け</a:t>
                      </a:r>
                      <a:br/>
                      <a:r>
                        <a:t>工程の移管（No.33）</a:t>
                      </a:r>
                    </a:p>
                  </a:txBody>
                  <a:tcPr anchor="ctr" marL="36576" marR="36576" marT="9144" marB="9144">
                    <a:solidFill>
                      <a:srgbClr val="F7F9FC"/>
                    </a:solidFill>
                  </a:tcPr>
                </a:tc>
                <a:tc>
                  <a:txBody>
                    <a:bodyPr wrap="square"/>
                    <a:lstStyle/>
                    <a:p>
                      <a:pPr algn="l">
                        <a:defRPr sz="580">
                          <a:solidFill>
                            <a:srgbClr val="1E242B"/>
                          </a:solidFill>
                          <a:latin typeface="Meiryo UI"/>
                        </a:defRPr>
                      </a:pPr>
                      <a:r>
                        <a:t>K3（A-3）にて耐圧測定前に外装カバー6枚を手動組付けし48～90秒を要している。カバー組付け工程を本体組立ライン（本体組立）末尾へ正式移管することを提案（現場設備費0円）。</a:t>
                      </a:r>
                    </a:p>
                  </a:txBody>
                  <a:tcPr anchor="ctr" marL="36576" marR="36576" marT="9144" marB="9144">
                    <a:solidFill>
                      <a:srgbClr val="F7F9FC"/>
                    </a:solidFill>
                  </a:tcPr>
                </a:tc>
                <a:tc>
                  <a:txBody>
                    <a:bodyPr wrap="square"/>
                    <a:lstStyle/>
                    <a:p>
                      <a:pPr algn="l">
                        <a:defRPr sz="580">
                          <a:solidFill>
                            <a:srgbClr val="1E242B"/>
                          </a:solidFill>
                          <a:latin typeface="Meiryo UI"/>
                        </a:defRPr>
                      </a:pPr>
                      <a:r>
                        <a:t>組立部門および日本PEとの交渉・合意推進</a:t>
                      </a:r>
                    </a:p>
                  </a:txBody>
                  <a:tcPr anchor="ctr" marL="36576" marR="36576" marT="9144" marB="9144">
                    <a:solidFill>
                      <a:srgbClr val="F7F9FC"/>
                    </a:solidFill>
                  </a:tcPr>
                </a:tc>
              </a:tr>
              <a:tr h="442569">
                <a:tc>
                  <a:txBody>
                    <a:bodyPr wrap="square"/>
                    <a:lstStyle/>
                    <a:p>
                      <a:pPr algn="l">
                        <a:defRPr sz="580" b="1">
                          <a:solidFill>
                            <a:srgbClr val="1E242B"/>
                          </a:solidFill>
                          <a:latin typeface="Meiryo UI"/>
                        </a:defRPr>
                      </a:pPr>
                      <a:r>
                        <a:t>3. 工程DR日程および</a:t>
                      </a:r>
                      <a:br/>
                      <a:r>
                        <a:t>転写ベルト廃止判断</a:t>
                      </a:r>
                    </a:p>
                  </a:txBody>
                  <a:tcPr anchor="ctr" marL="36576" marR="36576" marT="9144" marB="9144">
                    <a:solidFill>
                      <a:srgbClr val="FEF7E6"/>
                    </a:solidFill>
                  </a:tcPr>
                </a:tc>
                <a:tc>
                  <a:txBody>
                    <a:bodyPr wrap="square"/>
                    <a:lstStyle/>
                    <a:p>
                      <a:pPr algn="l">
                        <a:defRPr sz="580">
                          <a:solidFill>
                            <a:srgbClr val="1E242B"/>
                          </a:solidFill>
                          <a:latin typeface="Meiryo UI"/>
                        </a:defRPr>
                      </a:pPr>
                      <a:r>
                        <a:t>• 日本設計/生技に対し工程DR日程の確定およびベトナムからの基板・FW改善要請6件の11月中回答を要請（PMT1試作12月への反映）。</a:t>
                      </a:r>
                      <a:br/>
                      <a:r>
                        <a:t>• 転写ベルト蛇行測定は新プーリ（35°面取り）＋新ベルトロットでCpk ≥ 1.33確認後に廃止。</a:t>
                      </a:r>
                    </a:p>
                  </a:txBody>
                  <a:tcPr anchor="ctr" marL="36576" marR="36576" marT="9144" marB="9144">
                    <a:solidFill>
                      <a:srgbClr val="FEF7E6"/>
                    </a:solidFill>
                  </a:tcPr>
                </a:tc>
                <a:tc>
                  <a:txBody>
                    <a:bodyPr wrap="square"/>
                    <a:lstStyle/>
                    <a:p>
                      <a:pPr algn="l">
                        <a:defRPr sz="580">
                          <a:solidFill>
                            <a:srgbClr val="1E242B"/>
                          </a:solidFill>
                          <a:latin typeface="Meiryo UI"/>
                        </a:defRPr>
                      </a:pPr>
                      <a:r>
                        <a:t>日本PEへの働きかけおよび品保との合意支援</a:t>
                      </a:r>
                    </a:p>
                  </a:txBody>
                  <a:tcPr anchor="ctr" marL="36576" marR="36576" marT="9144" marB="9144">
                    <a:solidFill>
                      <a:srgbClr val="FEF7E6"/>
                    </a:solidFill>
                  </a:tcPr>
                </a:tc>
              </a:tr>
              <a:tr h="442572">
                <a:tc>
                  <a:txBody>
                    <a:bodyPr wrap="square"/>
                    <a:lstStyle/>
                    <a:p>
                      <a:pPr algn="l">
                        <a:defRPr sz="580" b="1">
                          <a:solidFill>
                            <a:srgbClr val="1E242B"/>
                          </a:solidFill>
                          <a:latin typeface="Meiryo UI"/>
                        </a:defRPr>
                      </a:pPr>
                      <a:r>
                        <a:t>4. Spica仕様に基づく</a:t>
                      </a:r>
                      <a:br/>
                      <a:r>
                        <a:t>社内LANインフラ整備</a:t>
                      </a:r>
                    </a:p>
                  </a:txBody>
                  <a:tcPr anchor="ctr" marL="36576" marR="36576" marT="9144" marB="9144">
                    <a:solidFill>
                      <a:srgbClr val="F7F9FC"/>
                    </a:solidFill>
                  </a:tcPr>
                </a:tc>
                <a:tc>
                  <a:txBody>
                    <a:bodyPr wrap="square"/>
                    <a:lstStyle/>
                    <a:p>
                      <a:pPr algn="l">
                        <a:defRPr sz="580">
                          <a:solidFill>
                            <a:srgbClr val="1E242B"/>
                          </a:solidFill>
                          <a:latin typeface="Meiryo UI"/>
                        </a:defRPr>
                      </a:pPr>
                      <a:r>
                        <a:t>AthenaのRaspberry Pi＋バッテリー方式は電池劣化・Wi-Fi途絶が発生したため、IrisEXPではSpica Mini PC方式（約4万円/台、商用AC電源、有線LAN/VLAN）へ統一を要請。</a:t>
                      </a:r>
                    </a:p>
                  </a:txBody>
                  <a:tcPr anchor="ctr" marL="36576" marR="36576" marT="9144" marB="9144">
                    <a:solidFill>
                      <a:srgbClr val="F7F9FC"/>
                    </a:solidFill>
                  </a:tcPr>
                </a:tc>
                <a:tc>
                  <a:txBody>
                    <a:bodyPr wrap="square"/>
                    <a:lstStyle/>
                    <a:p>
                      <a:pPr algn="l">
                        <a:defRPr sz="580">
                          <a:solidFill>
                            <a:srgbClr val="1E242B"/>
                          </a:solidFill>
                          <a:latin typeface="Meiryo UI"/>
                        </a:defRPr>
                      </a:pPr>
                      <a:r>
                        <a:t>Spica統一方針の承認および有線LAN配線手配</a:t>
                      </a:r>
                    </a:p>
                  </a:txBody>
                  <a:tcPr anchor="ctr" marL="36576" marR="36576" marT="9144" marB="9144">
                    <a:solidFill>
                      <a:srgbClr val="F7F9FC"/>
                    </a:solidFill>
                  </a:tcPr>
                </a:tc>
              </a:tr>
            </a:tbl>
          </a:graphicData>
        </a:graphic>
      </p:graphicFrame>
      <p:pic>
        <p:nvPicPr>
          <p:cNvPr id="11" name="Picture 10" descr="chart_s15_bom22.png"/>
          <p:cNvPicPr>
            <a:picLocks noChangeAspect="1"/>
          </p:cNvPicPr>
          <p:nvPr/>
        </p:nvPicPr>
        <p:blipFill>
          <a:blip r:embed="rId2"/>
          <a:stretch>
            <a:fillRect/>
          </a:stretch>
        </p:blipFill>
        <p:spPr>
          <a:xfrm>
            <a:off x="6995160" y="1188720"/>
            <a:ext cx="4919472" cy="2723279"/>
          </a:xfrm>
          <a:prstGeom prst="rect">
            <a:avLst/>
          </a:prstGeom>
        </p:spPr>
      </p:pic>
      <p:sp>
        <p:nvSpPr>
          <p:cNvPr id="12" name="Rectangle 11"/>
          <p:cNvSpPr/>
          <p:nvPr/>
        </p:nvSpPr>
        <p:spPr>
          <a:xfrm>
            <a:off x="6995160" y="4261104"/>
            <a:ext cx="4919472" cy="2212848"/>
          </a:xfrm>
          <a:prstGeom prst="rect">
            <a:avLst/>
          </a:prstGeom>
          <a:solidFill>
            <a:srgbClr val="EAF7EE"/>
          </a:solidFill>
          <a:ln w="12700">
            <a:solidFill>
              <a:srgbClr val="1E6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95160" y="4261104"/>
            <a:ext cx="4919472" cy="292608"/>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930" b="1">
                <a:solidFill>
                  <a:srgbClr val="FFFFFF"/>
                </a:solidFill>
                <a:latin typeface="Meiryo UI"/>
              </a:defRPr>
            </a:pPr>
            <a:r>
              <a:t>投資予算申請 2つの選択案の比較まとめ</a:t>
            </a:r>
          </a:p>
        </p:txBody>
      </p:sp>
      <p:sp>
        <p:nvSpPr>
          <p:cNvPr id="14" name="TextBox 13"/>
          <p:cNvSpPr txBox="1"/>
          <p:nvPr/>
        </p:nvSpPr>
        <p:spPr>
          <a:xfrm>
            <a:off x="7068312" y="4581144"/>
            <a:ext cx="4773168" cy="1865376"/>
          </a:xfrm>
          <a:prstGeom prst="rect">
            <a:avLst/>
          </a:prstGeom>
          <a:noFill/>
        </p:spPr>
        <p:txBody>
          <a:bodyPr wrap="square" lIns="36576" rIns="36576" tIns="18288" bIns="18288">
            <a:spAutoFit/>
          </a:bodyPr>
          <a:lstStyle/>
          <a:p>
            <a:pPr>
              <a:spcAft>
                <a:spcPts val="220"/>
              </a:spcAft>
              <a:defRPr sz="720" b="1">
                <a:solidFill>
                  <a:srgbClr val="1E242B"/>
                </a:solidFill>
                <a:latin typeface="Meiryo UI"/>
              </a:defRPr>
            </a:pPr>
            <a:r>
              <a:t>■ 案 A（推奨：No.22を先行導入、ロボットをDP/Host PCへ置換）：</a:t>
            </a:r>
          </a:p>
          <a:p>
            <a:pPr>
              <a:spcAft>
                <a:spcPts val="220"/>
              </a:spcAft>
              <a:defRPr sz="720">
                <a:solidFill>
                  <a:srgbClr val="1E242B"/>
                </a:solidFill>
                <a:latin typeface="Meiryo UI"/>
              </a:defRPr>
            </a:pPr>
            <a:r>
              <a:t>   • 先行申請額：No.22（BOM 25項目） 101,690,000 VND（3,911.15 USD）</a:t>
            </a:r>
          </a:p>
          <a:p>
            <a:pPr>
              <a:spcAft>
                <a:spcPts val="220"/>
              </a:spcAft>
              <a:defRPr sz="720">
                <a:solidFill>
                  <a:srgbClr val="1E242B"/>
                </a:solidFill>
                <a:latin typeface="Meiryo UI"/>
              </a:defRPr>
            </a:pPr>
            <a:r>
              <a:t>   • 効果：30秒/台 短縮、年間 29,600,000 VND（1,138.46 USD）削減。</a:t>
            </a:r>
          </a:p>
          <a:p>
            <a:pPr>
              <a:spcAft>
                <a:spcPts val="220"/>
              </a:spcAft>
              <a:defRPr sz="720">
                <a:solidFill>
                  <a:srgbClr val="1E242B"/>
                </a:solidFill>
                <a:latin typeface="Meiryo UI"/>
              </a:defRPr>
            </a:pPr>
            <a:r>
              <a:t>   • 見積取得中の案件（No.25 DP、No.27 HIKROBOTカメラ、No.21 オプション治具、No.28 出荷設定LAN）は仕様確定後に第2期として分割申請。</a:t>
            </a:r>
          </a:p>
          <a:p>
            <a:pPr>
              <a:spcAft>
                <a:spcPts val="220"/>
              </a:spcAft>
              <a:defRPr sz="720" b="1">
                <a:solidFill>
                  <a:srgbClr val="1E242B"/>
                </a:solidFill>
                <a:latin typeface="Meiryo UI"/>
              </a:defRPr>
            </a:pPr>
            <a:r>
              <a:t>■ 案 B（見積書記載 3案件の一括申請）：</a:t>
            </a:r>
          </a:p>
          <a:p>
            <a:pPr>
              <a:spcAft>
                <a:spcPts val="220"/>
              </a:spcAft>
              <a:defRPr sz="720">
                <a:solidFill>
                  <a:srgbClr val="1E242B"/>
                </a:solidFill>
                <a:latin typeface="Meiryo UI"/>
              </a:defRPr>
            </a:pPr>
            <a:r>
              <a:t>   • No.22（101.69M）＋ No.23 原稿ロボット（650M）＋ No.24 USB/U201ロボット（104M）</a:t>
            </a:r>
          </a:p>
          <a:p>
            <a:pPr>
              <a:spcAft>
                <a:spcPts val="220"/>
              </a:spcAft>
              <a:defRPr sz="720">
                <a:solidFill>
                  <a:srgbClr val="1E242B"/>
                </a:solidFill>
                <a:latin typeface="Meiryo UI"/>
              </a:defRPr>
            </a:pPr>
            <a:r>
              <a:t>   • 一括申請総額：855,690,000 VND（32,911.15 USD / 丸め値 33,000 USD）</a:t>
            </a:r>
          </a:p>
          <a:p>
            <a:pPr>
              <a:spcAft>
                <a:spcPts val="220"/>
              </a:spcAft>
              <a:defRPr sz="720">
                <a:solidFill>
                  <a:srgbClr val="1E242B"/>
                </a:solidFill>
                <a:latin typeface="Meiryo UI"/>
              </a:defRPr>
            </a:pPr>
            <a:r>
              <a:t>   • 効果：170秒/台 短縮、年間 167,733,333 VND（6,451.28 USD）削減。</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4.2 前半工程改善</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ベトナム自動化提案詳細：前半工程 A-1、A-2、A-3（No.18 ～ No.22 ＆ FW事前投入）</a:t>
            </a:r>
          </a:p>
        </p:txBody>
      </p:sp>
      <p:sp>
        <p:nvSpPr>
          <p:cNvPr id="5" name="TextBox 4"/>
          <p:cNvSpPr txBox="1"/>
          <p:nvPr/>
        </p:nvSpPr>
        <p:spPr>
          <a:xfrm>
            <a:off x="11292840" y="109728"/>
            <a:ext cx="731520" cy="347472"/>
          </a:xfrm>
          <a:prstGeom prst="rect">
            <a:avLst/>
          </a:prstGeom>
          <a:noFill/>
        </p:spPr>
        <p:txBody>
          <a:bodyPr wrap="none">
            <a:spAutoFit/>
          </a:bodyPr>
          <a:lstStyle/>
          <a:p>
            <a:pPr>
              <a:defRPr sz="1200">
                <a:solidFill>
                  <a:srgbClr val="D0D8E8"/>
                </a:solidFill>
                <a:latin typeface="Meiryo UI"/>
              </a:defRPr>
            </a:pPr>
            <a:r>
              <a:t>8 / 15</a:t>
            </a:r>
          </a:p>
        </p:txBody>
      </p:sp>
      <p:sp>
        <p:nvSpPr>
          <p:cNvPr id="6" name="Rectangle 5"/>
          <p:cNvSpPr/>
          <p:nvPr/>
        </p:nvSpPr>
        <p:spPr>
          <a:xfrm>
            <a:off x="256032" y="640080"/>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rPr sz="1200" b="1">
                <a:solidFill>
                  <a:srgbClr val="1B365D"/>
                </a:solidFill>
                <a:latin typeface="Meiryo UI"/>
              </a:rPr>
              <a:t>■ 前半工程の改善により約173秒～185秒短縮し、A-1ステーションで作業者1名を削減。No.22（耐圧安全検査治具）はBOM 25項目で101,690,000 VND（3,911.15 USD）の見積が完了し、第1期先行導入を申請する。</a:t>
            </a:r>
          </a:p>
        </p:txBody>
      </p:sp>
      <p:graphicFrame>
        <p:nvGraphicFramePr>
          <p:cNvPr id="7" name="Table 6"/>
          <p:cNvGraphicFramePr>
            <a:graphicFrameLocks noGrp="1"/>
          </p:cNvGraphicFramePr>
          <p:nvPr/>
        </p:nvGraphicFramePr>
        <p:xfrm>
          <a:off x="256032" y="1170432"/>
          <a:ext cx="11679631" cy="5349240"/>
        </p:xfrm>
        <a:graphic>
          <a:graphicData uri="http://schemas.openxmlformats.org/drawingml/2006/table">
            <a:tbl>
              <a:tblPr firstRow="1" bandRow="1">
                <a:tableStyleId>{5C22544A-7EE6-4342-B048-85BDC9FD1C3A}</a:tableStyleId>
              </a:tblPr>
              <a:tblGrid>
                <a:gridCol w="868680"/>
                <a:gridCol w="2057400"/>
                <a:gridCol w="2103120"/>
                <a:gridCol w="2450592"/>
                <a:gridCol w="1417320"/>
                <a:gridCol w="1417320"/>
                <a:gridCol w="1365199"/>
              </a:tblGrid>
              <a:tr h="764177">
                <a:tc>
                  <a:txBody>
                    <a:bodyPr wrap="square"/>
                    <a:lstStyle/>
                    <a:p>
                      <a:pPr algn="ctr">
                        <a:defRPr sz="819" b="1">
                          <a:solidFill>
                            <a:srgbClr val="FFFFFF"/>
                          </a:solidFill>
                          <a:latin typeface="Meiryo UI"/>
                        </a:defRPr>
                      </a:pPr>
                      <a:r>
                        <a:t>提案番号</a:t>
                      </a:r>
                      <a:br/>
                      <a:r>
                        <a:t>（担当工程）</a:t>
                      </a:r>
                    </a:p>
                  </a:txBody>
                  <a:tcPr anchor="ctr" marL="45720" marR="45720" marT="18288" marB="18288">
                    <a:solidFill>
                      <a:srgbClr val="1B365D"/>
                    </a:solidFill>
                  </a:tcPr>
                </a:tc>
                <a:tc>
                  <a:txBody>
                    <a:bodyPr wrap="square"/>
                    <a:lstStyle/>
                    <a:p>
                      <a:pPr algn="ctr">
                        <a:defRPr sz="819" b="1">
                          <a:solidFill>
                            <a:srgbClr val="FFFFFF"/>
                          </a:solidFill>
                          <a:latin typeface="Meiryo UI"/>
                        </a:defRPr>
                      </a:pPr>
                      <a:r>
                        <a:t>改善提案名称</a:t>
                      </a:r>
                    </a:p>
                  </a:txBody>
                  <a:tcPr anchor="ctr" marL="45720" marR="45720" marT="18288" marB="18288">
                    <a:solidFill>
                      <a:srgbClr val="1B365D"/>
                    </a:solidFill>
                  </a:tcPr>
                </a:tc>
                <a:tc>
                  <a:txBody>
                    <a:bodyPr wrap="square"/>
                    <a:lstStyle/>
                    <a:p>
                      <a:pPr algn="ctr">
                        <a:defRPr sz="819" b="1">
                          <a:solidFill>
                            <a:srgbClr val="FFFFFF"/>
                          </a:solidFill>
                          <a:latin typeface="Meiryo UI"/>
                        </a:defRPr>
                      </a:pPr>
                      <a:r>
                        <a:t>現行ラインの課題・状況</a:t>
                      </a:r>
                    </a:p>
                  </a:txBody>
                  <a:tcPr anchor="ctr" marL="45720" marR="45720" marT="18288" marB="18288">
                    <a:solidFill>
                      <a:srgbClr val="1B365D"/>
                    </a:solidFill>
                  </a:tcPr>
                </a:tc>
                <a:tc>
                  <a:txBody>
                    <a:bodyPr wrap="square"/>
                    <a:lstStyle/>
                    <a:p>
                      <a:pPr algn="ctr">
                        <a:defRPr sz="819" b="1">
                          <a:solidFill>
                            <a:srgbClr val="FFFFFF"/>
                          </a:solidFill>
                          <a:latin typeface="Meiryo UI"/>
                        </a:defRPr>
                      </a:pPr>
                      <a:r>
                        <a:t>改善技術内容および合意方針</a:t>
                      </a:r>
                    </a:p>
                  </a:txBody>
                  <a:tcPr anchor="ctr" marL="45720" marR="45720" marT="18288" marB="18288">
                    <a:solidFill>
                      <a:srgbClr val="1B365D"/>
                    </a:solidFill>
                  </a:tcPr>
                </a:tc>
                <a:tc>
                  <a:txBody>
                    <a:bodyPr wrap="square"/>
                    <a:lstStyle/>
                    <a:p>
                      <a:pPr algn="ctr">
                        <a:defRPr sz="819" b="1">
                          <a:solidFill>
                            <a:srgbClr val="FFFFFF"/>
                          </a:solidFill>
                          <a:latin typeface="Meiryo UI"/>
                        </a:defRPr>
                      </a:pPr>
                      <a:r>
                        <a:t>期待効果</a:t>
                      </a:r>
                    </a:p>
                  </a:txBody>
                  <a:tcPr anchor="ctr" marL="45720" marR="45720" marT="18288" marB="18288">
                    <a:solidFill>
                      <a:srgbClr val="1B365D"/>
                    </a:solidFill>
                  </a:tcPr>
                </a:tc>
                <a:tc>
                  <a:txBody>
                    <a:bodyPr wrap="square"/>
                    <a:lstStyle/>
                    <a:p>
                      <a:pPr algn="ctr">
                        <a:defRPr sz="819" b="1">
                          <a:solidFill>
                            <a:srgbClr val="FFFFFF"/>
                          </a:solidFill>
                          <a:latin typeface="Meiryo UI"/>
                        </a:defRPr>
                      </a:pPr>
                      <a:r>
                        <a:t>投資見積額</a:t>
                      </a:r>
                    </a:p>
                  </a:txBody>
                  <a:tcPr anchor="ctr" marL="45720" marR="45720" marT="18288" marB="18288">
                    <a:solidFill>
                      <a:srgbClr val="1B365D"/>
                    </a:solidFill>
                  </a:tcPr>
                </a:tc>
                <a:tc>
                  <a:txBody>
                    <a:bodyPr wrap="square"/>
                    <a:lstStyle/>
                    <a:p>
                      <a:pPr algn="ctr">
                        <a:defRPr sz="819" b="1">
                          <a:solidFill>
                            <a:srgbClr val="FFFFFF"/>
                          </a:solidFill>
                          <a:latin typeface="Meiryo UI"/>
                        </a:defRPr>
                      </a:pPr>
                      <a:r>
                        <a:t>進捗状況</a:t>
                      </a:r>
                    </a:p>
                  </a:txBody>
                  <a:tcPr anchor="ctr" marL="45720" marR="45720" marT="18288" marB="18288">
                    <a:solidFill>
                      <a:srgbClr val="1B365D"/>
                    </a:solidFill>
                  </a:tcPr>
                </a:tc>
              </a:tr>
              <a:tr h="764177">
                <a:tc>
                  <a:txBody>
                    <a:bodyPr wrap="square"/>
                    <a:lstStyle/>
                    <a:p>
                      <a:pPr algn="ctr">
                        <a:defRPr sz="740" b="1">
                          <a:solidFill>
                            <a:srgbClr val="1E242B"/>
                          </a:solidFill>
                          <a:latin typeface="Meiryo UI"/>
                        </a:defRPr>
                      </a:pPr>
                      <a:r>
                        <a:t>No.18</a:t>
                      </a:r>
                      <a:br/>
                      <a:r>
                        <a:t>(K1 -&gt; A-1)</a:t>
                      </a:r>
                    </a:p>
                  </a:txBody>
                  <a:tcPr anchor="ctr" marL="45720" marR="45720" marT="18288" marB="18288">
                    <a:solidFill>
                      <a:srgbClr val="FFFFFF"/>
                    </a:solidFill>
                  </a:tcPr>
                </a:tc>
                <a:tc>
                  <a:txBody>
                    <a:bodyPr wrap="square"/>
                    <a:lstStyle/>
                    <a:p>
                      <a:pPr algn="l">
                        <a:defRPr sz="740">
                          <a:solidFill>
                            <a:srgbClr val="1E242B"/>
                          </a:solidFill>
                          <a:latin typeface="Meiryo UI"/>
                        </a:defRPr>
                      </a:pPr>
                      <a:r>
                        <a:t>FW自動投入／複数台同時書き込み</a:t>
                      </a:r>
                    </a:p>
                  </a:txBody>
                  <a:tcPr anchor="ctr" marL="45720" marR="45720" marT="18288" marB="18288">
                    <a:solidFill>
                      <a:srgbClr val="FFFFFF"/>
                    </a:solidFill>
                  </a:tcPr>
                </a:tc>
                <a:tc>
                  <a:txBody>
                    <a:bodyPr wrap="square"/>
                    <a:lstStyle/>
                    <a:p>
                      <a:pPr algn="l">
                        <a:defRPr sz="740">
                          <a:solidFill>
                            <a:srgbClr val="1E242B"/>
                          </a:solidFill>
                          <a:latin typeface="Meiryo UI"/>
                        </a:defRPr>
                      </a:pPr>
                      <a:r>
                        <a:t>各台にUSBメモリを手動挿抜（90秒/台）。作業者が挿抜および再起動確認のため張り付き拘束される。</a:t>
                      </a:r>
                    </a:p>
                  </a:txBody>
                  <a:tcPr anchor="ctr" marL="45720" marR="45720" marT="18288" marB="18288">
                    <a:solidFill>
                      <a:srgbClr val="FFFFFF"/>
                    </a:solidFill>
                  </a:tcPr>
                </a:tc>
                <a:tc>
                  <a:txBody>
                    <a:bodyPr wrap="square"/>
                    <a:lstStyle/>
                    <a:p>
                      <a:pPr algn="l">
                        <a:defRPr sz="740">
                          <a:solidFill>
                            <a:srgbClr val="1E242B"/>
                          </a:solidFill>
                          <a:latin typeface="Meiryo UI"/>
                        </a:defRPr>
                      </a:pPr>
                      <a:r>
                        <a:t>A-1工程で1名の作業者が4台同時にFW書込みを行える治具設計を推進。DR4方針に基づき、当面は2本USB並行挿抜方式を維持。</a:t>
                      </a:r>
                    </a:p>
                  </a:txBody>
                  <a:tcPr anchor="ctr" marL="45720" marR="45720" marT="18288" marB="18288">
                    <a:solidFill>
                      <a:srgbClr val="FFFFFF"/>
                    </a:solidFill>
                  </a:tcPr>
                </a:tc>
                <a:tc>
                  <a:txBody>
                    <a:bodyPr wrap="square"/>
                    <a:lstStyle/>
                    <a:p>
                      <a:pPr algn="l">
                        <a:defRPr sz="740">
                          <a:solidFill>
                            <a:srgbClr val="1E242B"/>
                          </a:solidFill>
                          <a:latin typeface="Meiryo UI"/>
                        </a:defRPr>
                      </a:pPr>
                      <a:r>
                        <a:t>• FW書込み待ち拘束の排除</a:t>
                      </a:r>
                      <a:br/>
                      <a:r>
                        <a:t>• A-1生産性向上</a:t>
                      </a:r>
                    </a:p>
                  </a:txBody>
                  <a:tcPr anchor="ctr" marL="45720" marR="45720" marT="18288" marB="18288">
                    <a:solidFill>
                      <a:srgbClr val="FFFFFF"/>
                    </a:solidFill>
                  </a:tcPr>
                </a:tc>
                <a:tc>
                  <a:txBody>
                    <a:bodyPr wrap="square"/>
                    <a:lstStyle/>
                    <a:p>
                      <a:pPr algn="ctr">
                        <a:defRPr sz="740">
                          <a:solidFill>
                            <a:srgbClr val="1E242B"/>
                          </a:solidFill>
                          <a:latin typeface="Meiryo UI"/>
                        </a:defRPr>
                      </a:pPr>
                      <a:r>
                        <a:t>見積取得中</a:t>
                      </a:r>
                    </a:p>
                  </a:txBody>
                  <a:tcPr anchor="ctr" marL="45720" marR="45720" marT="18288" marB="18288">
                    <a:solidFill>
                      <a:srgbClr val="FFFFFF"/>
                    </a:solidFill>
                  </a:tcPr>
                </a:tc>
                <a:tc>
                  <a:txBody>
                    <a:bodyPr wrap="square"/>
                    <a:lstStyle/>
                    <a:p>
                      <a:pPr algn="l">
                        <a:defRPr sz="740">
                          <a:solidFill>
                            <a:srgbClr val="1E242B"/>
                          </a:solidFill>
                          <a:latin typeface="Meiryo UI"/>
                        </a:defRPr>
                      </a:pPr>
                      <a:r>
                        <a:t>A-1標準セル設計中</a:t>
                      </a:r>
                    </a:p>
                  </a:txBody>
                  <a:tcPr anchor="ctr" marL="45720" marR="45720" marT="18288" marB="18288">
                    <a:solidFill>
                      <a:srgbClr val="FFFFFF"/>
                    </a:solidFill>
                  </a:tcPr>
                </a:tc>
              </a:tr>
              <a:tr h="764177">
                <a:tc>
                  <a:txBody>
                    <a:bodyPr wrap="square"/>
                    <a:lstStyle/>
                    <a:p>
                      <a:pPr algn="ctr">
                        <a:defRPr sz="740" b="1">
                          <a:solidFill>
                            <a:srgbClr val="1E242B"/>
                          </a:solidFill>
                          <a:latin typeface="Meiryo UI"/>
                        </a:defRPr>
                      </a:pPr>
                      <a:r>
                        <a:t>FW事前投入</a:t>
                      </a:r>
                      <a:br/>
                      <a:r>
                        <a:t>追加提案</a:t>
                      </a:r>
                      <a:br/>
                      <a:r>
                        <a:t>(A-1工程)</a:t>
                      </a:r>
                    </a:p>
                  </a:txBody>
                  <a:tcPr anchor="ctr" marL="45720" marR="45720" marT="18288" marB="18288">
                    <a:solidFill>
                      <a:srgbClr val="E8EEF5"/>
                    </a:solidFill>
                  </a:tcPr>
                </a:tc>
                <a:tc>
                  <a:txBody>
                    <a:bodyPr wrap="square"/>
                    <a:lstStyle/>
                    <a:p>
                      <a:pPr algn="l">
                        <a:defRPr sz="740">
                          <a:solidFill>
                            <a:srgbClr val="1E242B"/>
                          </a:solidFill>
                          <a:latin typeface="Meiryo UI"/>
                        </a:defRPr>
                      </a:pPr>
                      <a:r>
                        <a:t>ライン上でのソフト再書込み廃止／基板出荷時への移行</a:t>
                      </a:r>
                    </a:p>
                  </a:txBody>
                  <a:tcPr anchor="ctr" marL="45720" marR="45720" marT="18288" marB="18288">
                    <a:solidFill>
                      <a:srgbClr val="E8EEF5"/>
                    </a:solidFill>
                  </a:tcPr>
                </a:tc>
                <a:tc>
                  <a:txBody>
                    <a:bodyPr wrap="square"/>
                    <a:lstStyle/>
                    <a:p>
                      <a:pPr>
                        <a:defRPr sz="1050">
                          <a:solidFill>
                            <a:srgbClr val="1E242B"/>
                          </a:solidFill>
                          <a:latin typeface="Meiryo UI"/>
                        </a:defRPr>
                      </a:pPr>
                      <a:r>
                        <a:t>Main、Lang、OCR、Engine、Motor、Panel、AI等の全ソフトをサプライヤーで事前書込。ライン上は照合のみ。Old/New切替管理を徹底し、花崎様ご指示に基づき実質的な員数削減効果を厳格評価。</a:t>
                      </a:r>
                    </a:p>
                  </a:txBody>
                  <a:tcPr anchor="ctr" marL="45720" marR="45720" marT="18288" marB="18288">
                    <a:solidFill>
                      <a:srgbClr val="E8EEF5"/>
                    </a:solidFill>
                  </a:tcPr>
                </a:tc>
                <a:tc>
                  <a:txBody>
                    <a:bodyPr wrap="square"/>
                    <a:lstStyle/>
                    <a:p>
                      <a:pPr>
                        <a:defRPr sz="1050">
                          <a:solidFill>
                            <a:srgbClr val="1E242B"/>
                          </a:solidFill>
                          <a:latin typeface="Meiryo UI"/>
                        </a:defRPr>
                      </a:pPr>
                      <a:r>
                        <a:t>手作業13s～25s短縮；A-1工程作業者1名削減へ寄与（生産性倍増目標に貢献）</a:t>
                      </a:r>
                    </a:p>
                  </a:txBody>
                  <a:tcPr anchor="ctr" marL="45720" marR="45720" marT="18288" marB="18288">
                    <a:solidFill>
                      <a:srgbClr val="E8EEF5"/>
                    </a:solidFill>
                  </a:tcPr>
                </a:tc>
                <a:tc>
                  <a:txBody>
                    <a:bodyPr wrap="square"/>
                    <a:lstStyle/>
                    <a:p>
                      <a:pPr>
                        <a:defRPr sz="1050">
                          <a:solidFill>
                            <a:srgbClr val="1E242B"/>
                          </a:solidFill>
                          <a:latin typeface="Meiryo UI"/>
                        </a:defRPr>
                      </a:pPr>
                      <a:r>
                        <a:t>設備投資0円（Old/New切替運用およびMAIN基板共通化制約を日本設計と協議中）</a:t>
                      </a:r>
                    </a:p>
                  </a:txBody>
                  <a:tcPr anchor="ctr" marL="45720" marR="45720" marT="18288" marB="18288">
                    <a:solidFill>
                      <a:srgbClr val="E8EEF5"/>
                    </a:solidFill>
                  </a:tcPr>
                </a:tc>
                <a:tc>
                  <a:txBody>
                    <a:bodyPr wrap="square"/>
                    <a:lstStyle/>
                    <a:p>
                      <a:pPr algn="ctr">
                        <a:defRPr sz="740">
                          <a:solidFill>
                            <a:srgbClr val="1E242B"/>
                          </a:solidFill>
                          <a:latin typeface="Meiryo UI"/>
                        </a:defRPr>
                      </a:pPr>
                      <a:r>
                        <a:t>設備投資 0 円</a:t>
                      </a:r>
                      <a:br/>
                      <a:r>
                        <a:t>（運用改善・バージョン照合）</a:t>
                      </a:r>
                    </a:p>
                  </a:txBody>
                  <a:tcPr anchor="ctr" marL="45720" marR="45720" marT="18288" marB="18288">
                    <a:solidFill>
                      <a:srgbClr val="E8EEF5"/>
                    </a:solidFill>
                  </a:tcPr>
                </a:tc>
                <a:tc>
                  <a:txBody>
                    <a:bodyPr wrap="square"/>
                    <a:lstStyle/>
                    <a:p>
                      <a:pPr algn="l">
                        <a:defRPr sz="740">
                          <a:solidFill>
                            <a:srgbClr val="1E242B"/>
                          </a:solidFill>
                          <a:latin typeface="Meiryo UI"/>
                        </a:defRPr>
                      </a:pPr>
                      <a:r>
                        <a:t>日本設計側と確認中</a:t>
                      </a:r>
                    </a:p>
                  </a:txBody>
                  <a:tcPr anchor="ctr" marL="45720" marR="45720" marT="18288" marB="18288">
                    <a:solidFill>
                      <a:srgbClr val="E8EEF5"/>
                    </a:solidFill>
                  </a:tcPr>
                </a:tc>
              </a:tr>
              <a:tr h="764177">
                <a:tc>
                  <a:txBody>
                    <a:bodyPr wrap="square"/>
                    <a:lstStyle/>
                    <a:p>
                      <a:pPr algn="ctr">
                        <a:defRPr sz="740" b="1">
                          <a:solidFill>
                            <a:srgbClr val="1E242B"/>
                          </a:solidFill>
                          <a:latin typeface="Meiryo UI"/>
                        </a:defRPr>
                      </a:pPr>
                      <a:r>
                        <a:t>No.19</a:t>
                      </a:r>
                      <a:br/>
                      <a:r>
                        <a:t>(K1 -&gt; A-1)</a:t>
                      </a:r>
                    </a:p>
                  </a:txBody>
                  <a:tcPr anchor="ctr" marL="45720" marR="45720" marT="18288" marB="18288">
                    <a:solidFill>
                      <a:srgbClr val="FFFFFF"/>
                    </a:solidFill>
                  </a:tcPr>
                </a:tc>
                <a:tc>
                  <a:txBody>
                    <a:bodyPr wrap="square"/>
                    <a:lstStyle/>
                    <a:p>
                      <a:pPr algn="l">
                        <a:defRPr sz="740">
                          <a:solidFill>
                            <a:srgbClr val="1E242B"/>
                          </a:solidFill>
                          <a:latin typeface="Meiryo UI"/>
                        </a:defRPr>
                      </a:pPr>
                      <a:r>
                        <a:t>FW書込み時のカバー・治具着脱廃止および英語自動切替</a:t>
                      </a:r>
                    </a:p>
                  </a:txBody>
                  <a:tcPr anchor="ctr" marL="45720" marR="45720" marT="18288" marB="18288">
                    <a:solidFill>
                      <a:srgbClr val="FFFFFF"/>
                    </a:solidFill>
                  </a:tcPr>
                </a:tc>
                <a:tc>
                  <a:txBody>
                    <a:bodyPr wrap="square"/>
                    <a:lstStyle/>
                    <a:p>
                      <a:pPr algn="l">
                        <a:defRPr sz="740">
                          <a:solidFill>
                            <a:srgbClr val="1E242B"/>
                          </a:solidFill>
                          <a:latin typeface="Meiryo UI"/>
                        </a:defRPr>
                      </a:pPr>
                      <a:r>
                        <a:t>FAX・トナー治具装着（30s）、取外し・ダミー取付（25s）で計55秒。初期設定後に手動で英語選択画面をタップしている。</a:t>
                      </a:r>
                    </a:p>
                  </a:txBody>
                  <a:tcPr anchor="ctr" marL="45720" marR="45720" marT="18288" marB="18288">
                    <a:solidFill>
                      <a:srgbClr val="FFFFFF"/>
                    </a:solidFill>
                  </a:tcPr>
                </a:tc>
                <a:tc>
                  <a:txBody>
                    <a:bodyPr wrap="square"/>
                    <a:lstStyle/>
                    <a:p>
                      <a:pPr algn="l">
                        <a:defRPr sz="740">
                          <a:solidFill>
                            <a:srgbClr val="1E242B"/>
                          </a:solidFill>
                          <a:latin typeface="Meiryo UI"/>
                        </a:defRPr>
                      </a:pPr>
                      <a:r>
                        <a:t>Host PCからの初期設定スクリプトに英語自動切替コマンドを統合（日本側合意済）。現行12セットのトナー治具を活用し着脱を削減。</a:t>
                      </a:r>
                    </a:p>
                  </a:txBody>
                  <a:tcPr anchor="ctr" marL="45720" marR="45720" marT="18288" marB="18288">
                    <a:solidFill>
                      <a:srgbClr val="FFFFFF"/>
                    </a:solidFill>
                  </a:tcPr>
                </a:tc>
                <a:tc>
                  <a:txBody>
                    <a:bodyPr wrap="square"/>
                    <a:lstStyle/>
                    <a:p>
                      <a:pPr algn="l">
                        <a:defRPr sz="740">
                          <a:solidFill>
                            <a:srgbClr val="1E242B"/>
                          </a:solidFill>
                          <a:latin typeface="Meiryo UI"/>
                        </a:defRPr>
                      </a:pPr>
                      <a:r>
                        <a:t>• K1で 55.00 秒/台 削減</a:t>
                      </a:r>
                      <a:br/>
                      <a:r>
                        <a:t>（英語自動化で先行1.44s減）</a:t>
                      </a:r>
                      <a:br/>
                      <a:r>
                        <a:t>• ケーブル挿抜11回削減</a:t>
                      </a:r>
                    </a:p>
                  </a:txBody>
                  <a:tcPr anchor="ctr" marL="45720" marR="45720" marT="18288" marB="18288">
                    <a:solidFill>
                      <a:srgbClr val="FFFFFF"/>
                    </a:solidFill>
                  </a:tcPr>
                </a:tc>
                <a:tc>
                  <a:txBody>
                    <a:bodyPr wrap="square"/>
                    <a:lstStyle/>
                    <a:p>
                      <a:pPr algn="ctr">
                        <a:defRPr sz="740">
                          <a:solidFill>
                            <a:srgbClr val="1E242B"/>
                          </a:solidFill>
                          <a:latin typeface="Meiryo UI"/>
                        </a:defRPr>
                      </a:pPr>
                      <a:r>
                        <a:t>見積取得中</a:t>
                      </a:r>
                      <a:br/>
                      <a:r>
                        <a:t>（既存12治具を活用）</a:t>
                      </a:r>
                    </a:p>
                  </a:txBody>
                  <a:tcPr anchor="ctr" marL="45720" marR="45720" marT="18288" marB="18288">
                    <a:solidFill>
                      <a:srgbClr val="FFFFFF"/>
                    </a:solidFill>
                  </a:tcPr>
                </a:tc>
                <a:tc>
                  <a:txBody>
                    <a:bodyPr wrap="square"/>
                    <a:lstStyle/>
                    <a:p>
                      <a:pPr algn="l">
                        <a:defRPr sz="740">
                          <a:solidFill>
                            <a:srgbClr val="1E242B"/>
                          </a:solidFill>
                          <a:latin typeface="Meiryo UI"/>
                        </a:defRPr>
                      </a:pPr>
                      <a:r>
                        <a:t>英語自動切替は即時適用</a:t>
                      </a:r>
                    </a:p>
                  </a:txBody>
                  <a:tcPr anchor="ctr" marL="45720" marR="45720" marT="18288" marB="18288">
                    <a:solidFill>
                      <a:srgbClr val="FFFFFF"/>
                    </a:solidFill>
                  </a:tcPr>
                </a:tc>
              </a:tr>
              <a:tr h="764177">
                <a:tc>
                  <a:txBody>
                    <a:bodyPr wrap="square"/>
                    <a:lstStyle/>
                    <a:p>
                      <a:pPr algn="ctr">
                        <a:defRPr sz="740" b="1">
                          <a:solidFill>
                            <a:srgbClr val="1E242B"/>
                          </a:solidFill>
                          <a:latin typeface="Meiryo UI"/>
                        </a:defRPr>
                      </a:pPr>
                      <a:r>
                        <a:t>No.20</a:t>
                      </a:r>
                      <a:br/>
                      <a:r>
                        <a:t>(K1/K2 -&gt; A-1)</a:t>
                      </a:r>
                    </a:p>
                  </a:txBody>
                  <a:tcPr anchor="ctr" marL="45720" marR="45720" marT="18288" marB="18288">
                    <a:solidFill>
                      <a:srgbClr val="F7F9FC"/>
                    </a:solidFill>
                  </a:tcPr>
                </a:tc>
                <a:tc>
                  <a:txBody>
                    <a:bodyPr wrap="square"/>
                    <a:lstStyle/>
                    <a:p>
                      <a:pPr algn="l">
                        <a:defRPr sz="740">
                          <a:solidFill>
                            <a:srgbClr val="1E242B"/>
                          </a:solidFill>
                          <a:latin typeface="Meiryo UI"/>
                        </a:defRPr>
                      </a:pPr>
                      <a:r>
                        <a:t>LAN経由ログ収集および無負荷カセット開閉確認廃止</a:t>
                      </a:r>
                    </a:p>
                  </a:txBody>
                  <a:tcPr anchor="ctr" marL="45720" marR="45720" marT="18288" marB="18288">
                    <a:solidFill>
                      <a:srgbClr val="F7F9FC"/>
                    </a:solidFill>
                  </a:tcPr>
                </a:tc>
                <a:tc>
                  <a:txBody>
                    <a:bodyPr wrap="square"/>
                    <a:lstStyle/>
                    <a:p>
                      <a:pPr algn="l">
                        <a:defRPr sz="740">
                          <a:solidFill>
                            <a:srgbClr val="1E242B"/>
                          </a:solidFill>
                          <a:latin typeface="Meiryo UI"/>
                        </a:defRPr>
                      </a:pPr>
                      <a:r>
                        <a:t>USBメモリ挿抜によるログ採取（10秒/台）。無負荷でのカセット引き出し確認が後工程の有負荷確認と重複（5.04秒）。</a:t>
                      </a:r>
                    </a:p>
                  </a:txBody>
                  <a:tcPr anchor="ctr" marL="45720" marR="45720" marT="18288" marB="18288">
                    <a:solidFill>
                      <a:srgbClr val="F7F9FC"/>
                    </a:solidFill>
                  </a:tcPr>
                </a:tc>
                <a:tc>
                  <a:txBody>
                    <a:bodyPr wrap="square"/>
                    <a:lstStyle/>
                    <a:p>
                      <a:pPr algn="l">
                        <a:defRPr sz="740">
                          <a:solidFill>
                            <a:srgbClr val="1E242B"/>
                          </a:solidFill>
                          <a:latin typeface="Meiryo UI"/>
                        </a:defRPr>
                      </a:pPr>
                      <a:r>
                        <a:t>Mini PC/社内LANを通じてHost PCへ直接ログを自動転送。ヒンジ耐久性データを品保へ提出し、無負荷試験の廃止を申請。</a:t>
                      </a:r>
                    </a:p>
                  </a:txBody>
                  <a:tcPr anchor="ctr" marL="45720" marR="45720" marT="18288" marB="18288">
                    <a:solidFill>
                      <a:srgbClr val="F7F9FC"/>
                    </a:solidFill>
                  </a:tcPr>
                </a:tc>
                <a:tc>
                  <a:txBody>
                    <a:bodyPr wrap="square"/>
                    <a:lstStyle/>
                    <a:p>
                      <a:pPr algn="l">
                        <a:defRPr sz="740">
                          <a:solidFill>
                            <a:srgbClr val="1E242B"/>
                          </a:solidFill>
                          <a:latin typeface="Meiryo UI"/>
                        </a:defRPr>
                      </a:pPr>
                      <a:r>
                        <a:t>• USBログ採取 10.00s 削減</a:t>
                      </a:r>
                      <a:br/>
                      <a:r>
                        <a:t>• 無負荷確認 5.04s 削減</a:t>
                      </a:r>
                    </a:p>
                  </a:txBody>
                  <a:tcPr anchor="ctr" marL="45720" marR="45720" marT="18288" marB="18288">
                    <a:solidFill>
                      <a:srgbClr val="F7F9FC"/>
                    </a:solidFill>
                  </a:tcPr>
                </a:tc>
                <a:tc>
                  <a:txBody>
                    <a:bodyPr wrap="square"/>
                    <a:lstStyle/>
                    <a:p>
                      <a:pPr algn="ctr">
                        <a:defRPr sz="740">
                          <a:solidFill>
                            <a:srgbClr val="1E242B"/>
                          </a:solidFill>
                          <a:latin typeface="Meiryo UI"/>
                        </a:defRPr>
                      </a:pPr>
                      <a:r>
                        <a:t>見積取得中</a:t>
                      </a:r>
                    </a:p>
                  </a:txBody>
                  <a:tcPr anchor="ctr" marL="45720" marR="45720" marT="18288" marB="18288">
                    <a:solidFill>
                      <a:srgbClr val="F7F9FC"/>
                    </a:solidFill>
                  </a:tcPr>
                </a:tc>
                <a:tc>
                  <a:txBody>
                    <a:bodyPr wrap="square"/>
                    <a:lstStyle/>
                    <a:p>
                      <a:pPr algn="l">
                        <a:defRPr sz="740">
                          <a:solidFill>
                            <a:srgbClr val="1E242B"/>
                          </a:solidFill>
                          <a:latin typeface="Meiryo UI"/>
                        </a:defRPr>
                      </a:pPr>
                      <a:r>
                        <a:t>LAN自動収集構築中</a:t>
                      </a:r>
                      <a:br/>
                      <a:r>
                        <a:t>品保承認待ち</a:t>
                      </a:r>
                    </a:p>
                  </a:txBody>
                  <a:tcPr anchor="ctr" marL="45720" marR="45720" marT="18288" marB="18288">
                    <a:solidFill>
                      <a:srgbClr val="F7F9FC"/>
                    </a:solidFill>
                  </a:tcPr>
                </a:tc>
              </a:tr>
              <a:tr h="764177">
                <a:tc>
                  <a:txBody>
                    <a:bodyPr wrap="square"/>
                    <a:lstStyle/>
                    <a:p>
                      <a:pPr algn="ctr">
                        <a:defRPr sz="740" b="1">
                          <a:solidFill>
                            <a:srgbClr val="1E242B"/>
                          </a:solidFill>
                          <a:latin typeface="Meiryo UI"/>
                        </a:defRPr>
                      </a:pPr>
                      <a:r>
                        <a:t>No.21</a:t>
                      </a:r>
                      <a:br/>
                      <a:r>
                        <a:t>(K2 -&gt; A-2)</a:t>
                      </a:r>
                    </a:p>
                  </a:txBody>
                  <a:tcPr anchor="ctr" marL="45720" marR="45720" marT="18288" marB="18288">
                    <a:solidFill>
                      <a:srgbClr val="FFFFFF"/>
                    </a:solidFill>
                  </a:tcPr>
                </a:tc>
                <a:tc>
                  <a:txBody>
                    <a:bodyPr wrap="square"/>
                    <a:lstStyle/>
                    <a:p>
                      <a:pPr algn="l">
                        <a:defRPr sz="740">
                          <a:solidFill>
                            <a:srgbClr val="1E242B"/>
                          </a:solidFill>
                          <a:latin typeface="Meiryo UI"/>
                        </a:defRPr>
                      </a:pPr>
                      <a:r>
                        <a:t>オプションコネクタ一括接続治具（マグネット／ワンタッチ）</a:t>
                      </a:r>
                    </a:p>
                  </a:txBody>
                  <a:tcPr anchor="ctr" marL="45720" marR="45720" marT="18288" marB="18288">
                    <a:solidFill>
                      <a:srgbClr val="FFFFFF"/>
                    </a:solidFill>
                  </a:tcPr>
                </a:tc>
                <a:tc>
                  <a:txBody>
                    <a:bodyPr wrap="square"/>
                    <a:lstStyle/>
                    <a:p>
                      <a:pPr algn="l">
                        <a:defRPr sz="740">
                          <a:solidFill>
                            <a:srgbClr val="1E242B"/>
                          </a:solidFill>
                          <a:latin typeface="Meiryo UI"/>
                        </a:defRPr>
                      </a:pPr>
                      <a:r>
                        <a:t>DP、DF、PF、IS/ZFなどの複数コネクタを手動挿抜し90秒を要する。コネクタピンの摩耗・断線リスクが高い。</a:t>
                      </a:r>
                    </a:p>
                  </a:txBody>
                  <a:tcPr anchor="ctr" marL="45720" marR="45720" marT="18288" marB="18288">
                    <a:solidFill>
                      <a:srgbClr val="FFFFFF"/>
                    </a:solidFill>
                  </a:tcPr>
                </a:tc>
                <a:tc>
                  <a:txBody>
                    <a:bodyPr wrap="square"/>
                    <a:lstStyle/>
                    <a:p>
                      <a:pPr algn="l">
                        <a:defRPr sz="740">
                          <a:solidFill>
                            <a:srgbClr val="1E242B"/>
                          </a:solidFill>
                          <a:latin typeface="Meiryo UI"/>
                        </a:defRPr>
                      </a:pPr>
                      <a:r>
                        <a:t>ロボット方式は高額のため中止。マグネット位置決め・ワンタッチクランプ機構による一括接続治具を製作し、作業時間を40秒へ短縮。</a:t>
                      </a:r>
                    </a:p>
                  </a:txBody>
                  <a:tcPr anchor="ctr" marL="45720" marR="45720" marT="18288" marB="18288">
                    <a:solidFill>
                      <a:srgbClr val="FFFFFF"/>
                    </a:solidFill>
                  </a:tcPr>
                </a:tc>
                <a:tc>
                  <a:txBody>
                    <a:bodyPr wrap="square"/>
                    <a:lstStyle/>
                    <a:p>
                      <a:pPr algn="l">
                        <a:defRPr sz="740">
                          <a:solidFill>
                            <a:srgbClr val="1E242B"/>
                          </a:solidFill>
                          <a:latin typeface="Meiryo UI"/>
                        </a:defRPr>
                      </a:pPr>
                      <a:r>
                        <a:t>• 45.00s ～ 50.00s/台 削減</a:t>
                      </a:r>
                      <a:br/>
                      <a:r>
                        <a:t>• 治具ケーブル断線防止</a:t>
                      </a:r>
                    </a:p>
                  </a:txBody>
                  <a:tcPr anchor="ctr" marL="45720" marR="45720" marT="18288" marB="18288">
                    <a:solidFill>
                      <a:srgbClr val="FFFFFF"/>
                    </a:solidFill>
                  </a:tcPr>
                </a:tc>
                <a:tc>
                  <a:txBody>
                    <a:bodyPr wrap="square"/>
                    <a:lstStyle/>
                    <a:p>
                      <a:pPr algn="ctr">
                        <a:defRPr sz="740">
                          <a:solidFill>
                            <a:srgbClr val="1E242B"/>
                          </a:solidFill>
                          <a:latin typeface="Meiryo UI"/>
                        </a:defRPr>
                      </a:pPr>
                      <a:r>
                        <a:t>見積取得中</a:t>
                      </a:r>
                    </a:p>
                  </a:txBody>
                  <a:tcPr anchor="ctr" marL="45720" marR="45720" marT="18288" marB="18288">
                    <a:solidFill>
                      <a:srgbClr val="FFFFFF"/>
                    </a:solidFill>
                  </a:tcPr>
                </a:tc>
                <a:tc>
                  <a:txBody>
                    <a:bodyPr wrap="square"/>
                    <a:lstStyle/>
                    <a:p>
                      <a:pPr algn="l">
                        <a:defRPr sz="740">
                          <a:solidFill>
                            <a:srgbClr val="1E242B"/>
                          </a:solidFill>
                          <a:latin typeface="Meiryo UI"/>
                        </a:defRPr>
                      </a:pPr>
                      <a:r>
                        <a:t>治具設計・試作中</a:t>
                      </a:r>
                    </a:p>
                  </a:txBody>
                  <a:tcPr anchor="ctr" marL="45720" marR="45720" marT="18288" marB="18288">
                    <a:solidFill>
                      <a:srgbClr val="FFFFFF"/>
                    </a:solidFill>
                  </a:tcPr>
                </a:tc>
              </a:tr>
              <a:tr h="764178">
                <a:tc>
                  <a:txBody>
                    <a:bodyPr wrap="square"/>
                    <a:lstStyle/>
                    <a:p>
                      <a:pPr algn="ctr">
                        <a:defRPr sz="740" b="1">
                          <a:solidFill>
                            <a:srgbClr val="1E242B"/>
                          </a:solidFill>
                          <a:latin typeface="Meiryo UI"/>
                        </a:defRPr>
                      </a:pPr>
                      <a:r>
                        <a:t>No.22</a:t>
                      </a:r>
                      <a:br/>
                      <a:r>
                        <a:t>(K3 -&gt; A-3)</a:t>
                      </a:r>
                    </a:p>
                  </a:txBody>
                  <a:tcPr anchor="ctr" marL="45720" marR="45720" marT="18288" marB="18288">
                    <a:solidFill>
                      <a:srgbClr val="EAF7EE"/>
                    </a:solidFill>
                  </a:tcPr>
                </a:tc>
                <a:tc>
                  <a:txBody>
                    <a:bodyPr wrap="square"/>
                    <a:lstStyle/>
                    <a:p>
                      <a:pPr algn="l">
                        <a:defRPr sz="740">
                          <a:solidFill>
                            <a:srgbClr val="1E242B"/>
                          </a:solidFill>
                          <a:latin typeface="Meiryo UI"/>
                        </a:defRPr>
                      </a:pPr>
                      <a:r>
                        <a:t>アース導通および耐電圧検査の自動化（全閉カバー状態測定）</a:t>
                      </a:r>
                    </a:p>
                  </a:txBody>
                  <a:tcPr anchor="ctr" marL="45720" marR="45720" marT="18288" marB="18288">
                    <a:solidFill>
                      <a:srgbClr val="EAF7EE"/>
                    </a:solidFill>
                  </a:tcPr>
                </a:tc>
                <a:tc>
                  <a:txBody>
                    <a:bodyPr wrap="square"/>
                    <a:lstStyle/>
                    <a:p>
                      <a:pPr algn="l">
                        <a:defRPr sz="740">
                          <a:solidFill>
                            <a:srgbClr val="1E242B"/>
                          </a:solidFill>
                          <a:latin typeface="Meiryo UI"/>
                        </a:defRPr>
                      </a:pPr>
                      <a:r>
                        <a:t>作業者が電源プラグを挿し、アース端子を挟み、耐圧計ボタンを押して合否を目視確認（導通20s＋耐圧10s＝30秒/台）。</a:t>
                      </a:r>
                    </a:p>
                  </a:txBody>
                  <a:tcPr anchor="ctr" marL="45720" marR="45720" marT="18288" marB="18288">
                    <a:solidFill>
                      <a:srgbClr val="EAF7EE"/>
                    </a:solidFill>
                  </a:tcPr>
                </a:tc>
                <a:tc>
                  <a:txBody>
                    <a:bodyPr wrap="square"/>
                    <a:lstStyle/>
                    <a:p>
                      <a:pPr algn="l">
                        <a:defRPr sz="740">
                          <a:solidFill>
                            <a:srgbClr val="1E242B"/>
                          </a:solidFill>
                          <a:latin typeface="Meiryo UI"/>
                        </a:defRPr>
                      </a:pPr>
                      <a:r>
                        <a:t>全自動接続検査治具（BOM 25項目）：三菱PLC FX5U-64MT/ES、増設FX5-16EYR/ES、HMI Wecon、SMCエアシリンダ6本、電磁弁5個、オムロン光電センサ。</a:t>
                      </a:r>
                      <a:br/>
                      <a:r>
                        <a:t>※ DR4安全基準に基づき、カバー完全閉塞状態で測定。</a:t>
                      </a:r>
                    </a:p>
                  </a:txBody>
                  <a:tcPr anchor="ctr" marL="45720" marR="45720" marT="18288" marB="18288">
                    <a:solidFill>
                      <a:srgbClr val="EAF7EE"/>
                    </a:solidFill>
                  </a:tcPr>
                </a:tc>
                <a:tc>
                  <a:txBody>
                    <a:bodyPr wrap="square"/>
                    <a:lstStyle/>
                    <a:p>
                      <a:pPr algn="l">
                        <a:defRPr sz="740">
                          <a:solidFill>
                            <a:srgbClr val="1E242B"/>
                          </a:solidFill>
                          <a:latin typeface="Meiryo UI"/>
                        </a:defRPr>
                      </a:pPr>
                      <a:r>
                        <a:t>• 30.00 秒 / 台 削減</a:t>
                      </a:r>
                      <a:br/>
                      <a:r>
                        <a:t>• 年間削減額：</a:t>
                      </a:r>
                      <a:br/>
                      <a:r>
                        <a:t>  29,600,000 VND/年</a:t>
                      </a:r>
                      <a:br/>
                      <a:r>
                        <a:t>  （1,138.46 USD/年）</a:t>
                      </a:r>
                      <a:br/>
                      <a:r>
                        <a:t>• 安全検査のポカヨケ完了</a:t>
                      </a:r>
                    </a:p>
                  </a:txBody>
                  <a:tcPr anchor="ctr" marL="45720" marR="45720" marT="18288" marB="18288">
                    <a:solidFill>
                      <a:srgbClr val="EAF7EE"/>
                    </a:solidFill>
                  </a:tcPr>
                </a:tc>
                <a:tc>
                  <a:txBody>
                    <a:bodyPr wrap="square"/>
                    <a:lstStyle/>
                    <a:p>
                      <a:pPr algn="ctr">
                        <a:defRPr sz="740" b="1">
                          <a:solidFill>
                            <a:srgbClr val="1E6E3E"/>
                          </a:solidFill>
                          <a:latin typeface="Meiryo UI"/>
                        </a:defRPr>
                      </a:pPr>
                      <a:r>
                        <a:t>詳細見積完了：</a:t>
                      </a:r>
                      <a:br/>
                      <a:r>
                        <a:t>101,690,000 VND</a:t>
                      </a:r>
                      <a:br/>
                      <a:r>
                        <a:t>（3,911.15 USD / BOM25項目）</a:t>
                      </a:r>
                      <a:br/>
                      <a:r>
                        <a:t>[サマリー記載: 4,000 USD]</a:t>
                      </a:r>
                    </a:p>
                  </a:txBody>
                  <a:tcPr anchor="ctr" marL="45720" marR="45720" marT="18288" marB="18288">
                    <a:solidFill>
                      <a:srgbClr val="EAF7EE"/>
                    </a:solidFill>
                  </a:tcPr>
                </a:tc>
                <a:tc>
                  <a:txBody>
                    <a:bodyPr wrap="square"/>
                    <a:lstStyle/>
                    <a:p>
                      <a:pPr algn="l">
                        <a:defRPr sz="740">
                          <a:solidFill>
                            <a:srgbClr val="1E242B"/>
                          </a:solidFill>
                          <a:latin typeface="Meiryo UI"/>
                        </a:defRPr>
                      </a:pPr>
                      <a:r>
                        <a:t>第1期先行導入申請</a:t>
                      </a:r>
                      <a:br/>
                      <a:r>
                        <a:t>（即時着工可能）</a:t>
                      </a:r>
                    </a:p>
                  </a:txBody>
                  <a:tcPr anchor="ctr" marL="45720" marR="45720" marT="18288" marB="18288">
                    <a:solidFill>
                      <a:srgbClr val="EAF7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4.3 後半工程改善</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ベトナム自動化提案詳細：画像検査・出荷工程（No.23 ～ No.28）</a:t>
            </a:r>
          </a:p>
        </p:txBody>
      </p:sp>
      <p:sp>
        <p:nvSpPr>
          <p:cNvPr id="5" name="TextBox 4"/>
          <p:cNvSpPr txBox="1"/>
          <p:nvPr/>
        </p:nvSpPr>
        <p:spPr>
          <a:xfrm>
            <a:off x="11292840" y="109728"/>
            <a:ext cx="731520" cy="347472"/>
          </a:xfrm>
          <a:prstGeom prst="rect">
            <a:avLst/>
          </a:prstGeom>
          <a:noFill/>
        </p:spPr>
        <p:txBody>
          <a:bodyPr wrap="none">
            <a:spAutoFit/>
          </a:bodyPr>
          <a:lstStyle/>
          <a:p>
            <a:pPr>
              <a:defRPr sz="1200">
                <a:solidFill>
                  <a:srgbClr val="D0D8E8"/>
                </a:solidFill>
                <a:latin typeface="Meiryo UI"/>
              </a:defRPr>
            </a:pPr>
            <a:r>
              <a:t>9 / 15</a:t>
            </a:r>
          </a:p>
        </p:txBody>
      </p:sp>
      <p:sp>
        <p:nvSpPr>
          <p:cNvPr id="6" name="Rectangle 5"/>
          <p:cNvSpPr/>
          <p:nvPr/>
        </p:nvSpPr>
        <p:spPr>
          <a:xfrm>
            <a:off x="256032" y="640080"/>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rPr sz="1200" b="1">
                <a:solidFill>
                  <a:srgbClr val="1B365D"/>
                </a:solidFill>
                <a:latin typeface="Meiryo UI"/>
              </a:rPr>
              <a:t>■ 画像検査の最大ボトルネック（作業者9名）に対し、DP連続スキャン＋PC自動判定（No.25、25,000ドルのロボットNo.23を代替）とHIKROBOTカメラによる濃度・余白測定（No.27、177s～215s短縮）で劇的な工数削減を図る。</a:t>
            </a:r>
          </a:p>
        </p:txBody>
      </p:sp>
      <p:graphicFrame>
        <p:nvGraphicFramePr>
          <p:cNvPr id="7" name="Table 6"/>
          <p:cNvGraphicFramePr>
            <a:graphicFrameLocks noGrp="1"/>
          </p:cNvGraphicFramePr>
          <p:nvPr/>
        </p:nvGraphicFramePr>
        <p:xfrm>
          <a:off x="256032" y="1170432"/>
          <a:ext cx="11679631" cy="4041648"/>
        </p:xfrm>
        <a:graphic>
          <a:graphicData uri="http://schemas.openxmlformats.org/drawingml/2006/table">
            <a:tbl>
              <a:tblPr firstRow="1" bandRow="1">
                <a:tableStyleId>{5C22544A-7EE6-4342-B048-85BDC9FD1C3A}</a:tableStyleId>
              </a:tblPr>
              <a:tblGrid>
                <a:gridCol w="868680"/>
                <a:gridCol w="2011680"/>
                <a:gridCol w="2029968"/>
                <a:gridCol w="2514600"/>
                <a:gridCol w="1417320"/>
                <a:gridCol w="1463040"/>
                <a:gridCol w="1374343"/>
              </a:tblGrid>
              <a:tr h="577378">
                <a:tc>
                  <a:txBody>
                    <a:bodyPr wrap="square"/>
                    <a:lstStyle/>
                    <a:p>
                      <a:pPr algn="ctr">
                        <a:defRPr sz="800" b="1">
                          <a:solidFill>
                            <a:srgbClr val="FFFFFF"/>
                          </a:solidFill>
                          <a:latin typeface="Meiryo UI"/>
                        </a:defRPr>
                      </a:pPr>
                      <a:r>
                        <a:t>提案番号</a:t>
                      </a:r>
                      <a:br/>
                      <a:r>
                        <a:t>（担当工程）</a:t>
                      </a:r>
                    </a:p>
                  </a:txBody>
                  <a:tcPr anchor="ctr" marL="45720" marR="45720" marT="18288" marB="18288">
                    <a:solidFill>
                      <a:srgbClr val="1B365D"/>
                    </a:solidFill>
                  </a:tcPr>
                </a:tc>
                <a:tc>
                  <a:txBody>
                    <a:bodyPr wrap="square"/>
                    <a:lstStyle/>
                    <a:p>
                      <a:pPr algn="ctr">
                        <a:defRPr sz="800" b="1">
                          <a:solidFill>
                            <a:srgbClr val="FFFFFF"/>
                          </a:solidFill>
                          <a:latin typeface="Meiryo UI"/>
                        </a:defRPr>
                      </a:pPr>
                      <a:r>
                        <a:t>自動化提案名称</a:t>
                      </a:r>
                    </a:p>
                  </a:txBody>
                  <a:tcPr anchor="ctr" marL="45720" marR="45720" marT="18288" marB="18288">
                    <a:solidFill>
                      <a:srgbClr val="1B365D"/>
                    </a:solidFill>
                  </a:tcPr>
                </a:tc>
                <a:tc>
                  <a:txBody>
                    <a:bodyPr wrap="square"/>
                    <a:lstStyle/>
                    <a:p>
                      <a:pPr algn="ctr">
                        <a:defRPr sz="800" b="1">
                          <a:solidFill>
                            <a:srgbClr val="FFFFFF"/>
                          </a:solidFill>
                          <a:latin typeface="Meiryo UI"/>
                        </a:defRPr>
                      </a:pPr>
                      <a:r>
                        <a:t>現行ラインの課題・状況</a:t>
                      </a:r>
                    </a:p>
                  </a:txBody>
                  <a:tcPr anchor="ctr" marL="45720" marR="45720" marT="18288" marB="18288">
                    <a:solidFill>
                      <a:srgbClr val="1B365D"/>
                    </a:solidFill>
                  </a:tcPr>
                </a:tc>
                <a:tc>
                  <a:txBody>
                    <a:bodyPr wrap="square"/>
                    <a:lstStyle/>
                    <a:p>
                      <a:pPr algn="ctr">
                        <a:defRPr sz="800" b="1">
                          <a:solidFill>
                            <a:srgbClr val="FFFFFF"/>
                          </a:solidFill>
                          <a:latin typeface="Meiryo UI"/>
                        </a:defRPr>
                      </a:pPr>
                      <a:r>
                        <a:t>技術改善内容および費用最適化代替案</a:t>
                      </a:r>
                    </a:p>
                  </a:txBody>
                  <a:tcPr anchor="ctr" marL="45720" marR="45720" marT="18288" marB="18288">
                    <a:solidFill>
                      <a:srgbClr val="1B365D"/>
                    </a:solidFill>
                  </a:tcPr>
                </a:tc>
                <a:tc>
                  <a:txBody>
                    <a:bodyPr wrap="square"/>
                    <a:lstStyle/>
                    <a:p>
                      <a:pPr algn="ctr">
                        <a:defRPr sz="800" b="1">
                          <a:solidFill>
                            <a:srgbClr val="FFFFFF"/>
                          </a:solidFill>
                          <a:latin typeface="Meiryo UI"/>
                        </a:defRPr>
                      </a:pPr>
                      <a:r>
                        <a:t>期待効果</a:t>
                      </a:r>
                    </a:p>
                  </a:txBody>
                  <a:tcPr anchor="ctr" marL="45720" marR="45720" marT="18288" marB="18288">
                    <a:solidFill>
                      <a:srgbClr val="1B365D"/>
                    </a:solidFill>
                  </a:tcPr>
                </a:tc>
                <a:tc>
                  <a:txBody>
                    <a:bodyPr wrap="square"/>
                    <a:lstStyle/>
                    <a:p>
                      <a:pPr algn="ctr">
                        <a:defRPr sz="800" b="1">
                          <a:solidFill>
                            <a:srgbClr val="FFFFFF"/>
                          </a:solidFill>
                          <a:latin typeface="Meiryo UI"/>
                        </a:defRPr>
                      </a:pPr>
                      <a:r>
                        <a:t>投資試算額</a:t>
                      </a:r>
                    </a:p>
                  </a:txBody>
                  <a:tcPr anchor="ctr" marL="45720" marR="45720" marT="18288" marB="18288">
                    <a:solidFill>
                      <a:srgbClr val="1B365D"/>
                    </a:solidFill>
                  </a:tcPr>
                </a:tc>
                <a:tc>
                  <a:txBody>
                    <a:bodyPr wrap="square"/>
                    <a:lstStyle/>
                    <a:p>
                      <a:pPr algn="ctr">
                        <a:defRPr sz="800" b="1">
                          <a:solidFill>
                            <a:srgbClr val="FFFFFF"/>
                          </a:solidFill>
                          <a:latin typeface="Meiryo UI"/>
                        </a:defRPr>
                      </a:pPr>
                      <a:r>
                        <a:t>進捗状況</a:t>
                      </a:r>
                    </a:p>
                  </a:txBody>
                  <a:tcPr anchor="ctr" marL="45720" marR="45720" marT="18288" marB="18288">
                    <a:solidFill>
                      <a:srgbClr val="1B365D"/>
                    </a:solidFill>
                  </a:tcPr>
                </a:tc>
              </a:tr>
              <a:tr h="577378">
                <a:tc>
                  <a:txBody>
                    <a:bodyPr wrap="square"/>
                    <a:lstStyle/>
                    <a:p>
                      <a:pPr algn="ctr">
                        <a:defRPr sz="710" b="1">
                          <a:solidFill>
                            <a:srgbClr val="1E242B"/>
                          </a:solidFill>
                          <a:latin typeface="Meiryo UI"/>
                        </a:defRPr>
                      </a:pPr>
                      <a:r>
                        <a:t>No.23</a:t>
                      </a:r>
                      <a:br/>
                      <a:r>
                        <a:t>(K4 -&gt; A-2)</a:t>
                      </a:r>
                    </a:p>
                  </a:txBody>
                  <a:tcPr anchor="ctr" marL="45720" marR="45720" marT="18288" marB="18288">
                    <a:solidFill>
                      <a:srgbClr val="E8EEF5"/>
                    </a:solidFill>
                  </a:tcPr>
                </a:tc>
                <a:tc>
                  <a:txBody>
                    <a:bodyPr wrap="square"/>
                    <a:lstStyle/>
                    <a:p>
                      <a:pPr algn="l">
                        <a:defRPr sz="710">
                          <a:solidFill>
                            <a:srgbClr val="1E242B"/>
                          </a:solidFill>
                          <a:latin typeface="Meiryo UI"/>
                        </a:defRPr>
                      </a:pPr>
                      <a:r>
                        <a:t>ISU調整U411、SITC-2、Halftone自動セット（ロボット方式 -&gt; DP給紙方式へ見直し）</a:t>
                      </a:r>
                    </a:p>
                  </a:txBody>
                  <a:tcPr anchor="ctr" marL="45720" marR="45720" marT="18288" marB="18288">
                    <a:solidFill>
                      <a:srgbClr val="E8EEF5"/>
                    </a:solidFill>
                  </a:tcPr>
                </a:tc>
                <a:tc>
                  <a:txBody>
                    <a:bodyPr wrap="square"/>
                    <a:lstStyle/>
                    <a:p>
                      <a:pPr algn="l">
                        <a:defRPr sz="710">
                          <a:solidFill>
                            <a:srgbClr val="1E242B"/>
                          </a:solidFill>
                          <a:latin typeface="Meiryo UI"/>
                        </a:defRPr>
                      </a:pPr>
                      <a:r>
                        <a:t>プラテンガラスカバーを開閉し原稿3枚を手動セット：U411（45s）＋SITC-2（35s）＋Halftone（30s）＝計110秒/台。</a:t>
                      </a:r>
                    </a:p>
                  </a:txBody>
                  <a:tcPr anchor="ctr" marL="45720" marR="45720" marT="18288" marB="18288">
                    <a:solidFill>
                      <a:srgbClr val="E8EEF5"/>
                    </a:solidFill>
                  </a:tcPr>
                </a:tc>
                <a:tc>
                  <a:txBody>
                    <a:bodyPr wrap="square"/>
                    <a:lstStyle/>
                    <a:p>
                      <a:pPr algn="l">
                        <a:defRPr sz="710">
                          <a:solidFill>
                            <a:srgbClr val="1E242B"/>
                          </a:solidFill>
                          <a:latin typeface="Meiryo UI"/>
                        </a:defRPr>
                      </a:pPr>
                      <a:r>
                        <a:t>• 当初案（VN提案.xlsx）：ガラス面上に原稿を置くロボットハンド（コンベア2セル200M＋電源50M＋配線50M＋ロボット350M＝650M VND / 25,000 USD）。</a:t>
                      </a:r>
                      <a:br/>
                      <a:r>
                        <a:t>• 最適化案：ロボットは投資回収に6年以上要するため中止。本体の原稿自動送り装置（DP）を活用した連続給紙スキャン方式（No.25）へ転換。</a:t>
                      </a:r>
                    </a:p>
                  </a:txBody>
                  <a:tcPr anchor="ctr" marL="45720" marR="45720" marT="18288" marB="18288">
                    <a:solidFill>
                      <a:srgbClr val="E8EEF5"/>
                    </a:solidFill>
                  </a:tcPr>
                </a:tc>
                <a:tc>
                  <a:txBody>
                    <a:bodyPr wrap="square"/>
                    <a:lstStyle/>
                    <a:p>
                      <a:pPr algn="l">
                        <a:defRPr sz="710">
                          <a:solidFill>
                            <a:srgbClr val="1E242B"/>
                          </a:solidFill>
                          <a:latin typeface="Meiryo UI"/>
                        </a:defRPr>
                      </a:pPr>
                      <a:r>
                        <a:t>• 110.00 秒 / 台 削減</a:t>
                      </a:r>
                      <a:br/>
                      <a:r>
                        <a:t>• 年間削減額：</a:t>
                      </a:r>
                      <a:br/>
                      <a:r>
                        <a:t>  108,533,333 VND/年</a:t>
                      </a:r>
                      <a:br/>
                      <a:r>
                        <a:t>  （4,174.36 USD/年）</a:t>
                      </a:r>
                    </a:p>
                  </a:txBody>
                  <a:tcPr anchor="ctr" marL="45720" marR="45720" marT="18288" marB="18288">
                    <a:solidFill>
                      <a:srgbClr val="E8EEF5"/>
                    </a:solidFill>
                  </a:tcPr>
                </a:tc>
                <a:tc>
                  <a:txBody>
                    <a:bodyPr wrap="square"/>
                    <a:lstStyle/>
                    <a:p>
                      <a:pPr algn="ctr">
                        <a:defRPr sz="710">
                          <a:solidFill>
                            <a:srgbClr val="1E242B"/>
                          </a:solidFill>
                          <a:latin typeface="Meiryo UI"/>
                        </a:defRPr>
                      </a:pPr>
                      <a:r>
                        <a:t>ロボット案見積：</a:t>
                      </a:r>
                      <a:br/>
                      <a:r>
                        <a:t>650,000,000 VND</a:t>
                      </a:r>
                      <a:br/>
                      <a:r>
                        <a:t>(25,000.00 USD)</a:t>
                      </a:r>
                      <a:br/>
                      <a:r>
                        <a:t>-&gt; DP給紙方式へ転換</a:t>
                      </a:r>
                    </a:p>
                  </a:txBody>
                  <a:tcPr anchor="ctr" marL="45720" marR="45720" marT="18288" marB="18288">
                    <a:solidFill>
                      <a:srgbClr val="E8EEF5"/>
                    </a:solidFill>
                  </a:tcPr>
                </a:tc>
                <a:tc>
                  <a:txBody>
                    <a:bodyPr wrap="square"/>
                    <a:lstStyle/>
                    <a:p>
                      <a:pPr algn="l">
                        <a:defRPr sz="710">
                          <a:solidFill>
                            <a:srgbClr val="1E242B"/>
                          </a:solidFill>
                          <a:latin typeface="Meiryo UI"/>
                        </a:defRPr>
                      </a:pPr>
                      <a:r>
                        <a:t>DP給紙スキャン方式の</a:t>
                      </a:r>
                      <a:br/>
                      <a:r>
                        <a:t>実機評価を進行中</a:t>
                      </a:r>
                    </a:p>
                  </a:txBody>
                  <a:tcPr anchor="ctr" marL="45720" marR="45720" marT="18288" marB="18288">
                    <a:solidFill>
                      <a:srgbClr val="E8EEF5"/>
                    </a:solidFill>
                  </a:tcPr>
                </a:tc>
              </a:tr>
              <a:tr h="577378">
                <a:tc>
                  <a:txBody>
                    <a:bodyPr wrap="square"/>
                    <a:lstStyle/>
                    <a:p>
                      <a:pPr algn="ctr">
                        <a:defRPr sz="710" b="1">
                          <a:solidFill>
                            <a:srgbClr val="1E242B"/>
                          </a:solidFill>
                          <a:latin typeface="Meiryo UI"/>
                        </a:defRPr>
                      </a:pPr>
                      <a:r>
                        <a:t>No.24</a:t>
                      </a:r>
                      <a:br/>
                      <a:r>
                        <a:t>(K4 -&gt; A-2)</a:t>
                      </a:r>
                    </a:p>
                  </a:txBody>
                  <a:tcPr anchor="ctr" marL="45720" marR="45720" marT="18288" marB="18288">
                    <a:solidFill>
                      <a:srgbClr val="E8EEF5"/>
                    </a:solidFill>
                  </a:tcPr>
                </a:tc>
                <a:tc>
                  <a:txBody>
                    <a:bodyPr wrap="square"/>
                    <a:lstStyle/>
                    <a:p>
                      <a:pPr algn="l">
                        <a:defRPr sz="710">
                          <a:solidFill>
                            <a:srgbClr val="1E242B"/>
                          </a:solidFill>
                          <a:latin typeface="Meiryo UI"/>
                        </a:defRPr>
                      </a:pPr>
                      <a:r>
                        <a:t>USB認識確認およびタッチパネルU201座標確認の自動化</a:t>
                      </a:r>
                    </a:p>
                  </a:txBody>
                  <a:tcPr anchor="ctr" marL="45720" marR="45720" marT="18288" marB="18288">
                    <a:solidFill>
                      <a:srgbClr val="E8EEF5"/>
                    </a:solidFill>
                  </a:tcPr>
                </a:tc>
                <a:tc>
                  <a:txBody>
                    <a:bodyPr wrap="square"/>
                    <a:lstStyle/>
                    <a:p>
                      <a:pPr algn="l">
                        <a:defRPr sz="710">
                          <a:solidFill>
                            <a:srgbClr val="1E242B"/>
                          </a:solidFill>
                          <a:latin typeface="Meiryo UI"/>
                        </a:defRPr>
                      </a:pPr>
                      <a:r>
                        <a:t>作業者がUSBを挿抜して認識を確認（15s）、タッチペンでパネル上3点の座標確認を手押し（15s）＝計30秒/台。</a:t>
                      </a:r>
                    </a:p>
                  </a:txBody>
                  <a:tcPr anchor="ctr" marL="45720" marR="45720" marT="18288" marB="18288">
                    <a:solidFill>
                      <a:srgbClr val="E8EEF5"/>
                    </a:solidFill>
                  </a:tcPr>
                </a:tc>
                <a:tc>
                  <a:txBody>
                    <a:bodyPr wrap="square"/>
                    <a:lstStyle/>
                    <a:p>
                      <a:pPr algn="l">
                        <a:defRPr sz="710">
                          <a:solidFill>
                            <a:srgbClr val="1E242B"/>
                          </a:solidFill>
                          <a:latin typeface="Meiryo UI"/>
                        </a:defRPr>
                      </a:pPr>
                      <a:r>
                        <a:t>• 当初案（VN提案.xlsx）：USB自動挿抜ロボット＋パネルAIカメラ＋タッチロボットで104M VND（4,000 USD）。</a:t>
                      </a:r>
                      <a:br/>
                      <a:r>
                        <a:t>• 最適化案：高額ロボットを中止。A-1工程FW書込みでUSBを動作保証（日本No.6）とし、U201はHost PCで基板内ログを自動読取（日本No.3）。設備費0円。</a:t>
                      </a:r>
                    </a:p>
                  </a:txBody>
                  <a:tcPr anchor="ctr" marL="45720" marR="45720" marT="18288" marB="18288">
                    <a:solidFill>
                      <a:srgbClr val="E8EEF5"/>
                    </a:solidFill>
                  </a:tcPr>
                </a:tc>
                <a:tc>
                  <a:txBody>
                    <a:bodyPr wrap="square"/>
                    <a:lstStyle/>
                    <a:p>
                      <a:pPr algn="l">
                        <a:defRPr sz="710">
                          <a:solidFill>
                            <a:srgbClr val="1E242B"/>
                          </a:solidFill>
                          <a:latin typeface="Meiryo UI"/>
                        </a:defRPr>
                      </a:pPr>
                      <a:r>
                        <a:t>• 30.00 秒 / 台 削減</a:t>
                      </a:r>
                      <a:br/>
                      <a:r>
                        <a:t>• 年間削減額：</a:t>
                      </a:r>
                      <a:br/>
                      <a:r>
                        <a:t>  29,600,000 VND/年</a:t>
                      </a:r>
                      <a:br/>
                      <a:r>
                        <a:t>  （1,138.46 USD/年）</a:t>
                      </a:r>
                    </a:p>
                  </a:txBody>
                  <a:tcPr anchor="ctr" marL="45720" marR="45720" marT="18288" marB="18288">
                    <a:solidFill>
                      <a:srgbClr val="E8EEF5"/>
                    </a:solidFill>
                  </a:tcPr>
                </a:tc>
                <a:tc>
                  <a:txBody>
                    <a:bodyPr wrap="square"/>
                    <a:lstStyle/>
                    <a:p>
                      <a:pPr algn="ctr">
                        <a:defRPr sz="710">
                          <a:solidFill>
                            <a:srgbClr val="1E242B"/>
                          </a:solidFill>
                          <a:latin typeface="Meiryo UI"/>
                        </a:defRPr>
                      </a:pPr>
                      <a:r>
                        <a:t>ロボット案見積：</a:t>
                      </a:r>
                      <a:br/>
                      <a:r>
                        <a:t>104,000,000 VND</a:t>
                      </a:r>
                      <a:br/>
                      <a:r>
                        <a:t>(4,000.00 USD)</a:t>
                      </a:r>
                      <a:br/>
                      <a:r>
                        <a:t>-&gt; Host PC読取（0円）</a:t>
                      </a:r>
                    </a:p>
                  </a:txBody>
                  <a:tcPr anchor="ctr" marL="45720" marR="45720" marT="18288" marB="18288">
                    <a:solidFill>
                      <a:srgbClr val="E8EEF5"/>
                    </a:solidFill>
                  </a:tcPr>
                </a:tc>
                <a:tc>
                  <a:txBody>
                    <a:bodyPr wrap="square"/>
                    <a:lstStyle/>
                    <a:p>
                      <a:pPr algn="l">
                        <a:defRPr sz="710">
                          <a:solidFill>
                            <a:srgbClr val="1E242B"/>
                          </a:solidFill>
                          <a:latin typeface="Meiryo UI"/>
                        </a:defRPr>
                      </a:pPr>
                      <a:r>
                        <a:t>手押しU201廃止合意済</a:t>
                      </a:r>
                      <a:br/>
                      <a:r>
                        <a:t>Host PCログ収集へ移行</a:t>
                      </a:r>
                    </a:p>
                  </a:txBody>
                  <a:tcPr anchor="ctr" marL="45720" marR="45720" marT="18288" marB="18288">
                    <a:solidFill>
                      <a:srgbClr val="E8EEF5"/>
                    </a:solidFill>
                  </a:tcPr>
                </a:tc>
              </a:tr>
              <a:tr h="577378">
                <a:tc>
                  <a:txBody>
                    <a:bodyPr wrap="square"/>
                    <a:lstStyle/>
                    <a:p>
                      <a:pPr algn="ctr">
                        <a:defRPr sz="710" b="1">
                          <a:solidFill>
                            <a:srgbClr val="1E242B"/>
                          </a:solidFill>
                          <a:latin typeface="Meiryo UI"/>
                        </a:defRPr>
                      </a:pPr>
                      <a:r>
                        <a:t>No.25</a:t>
                      </a:r>
                      <a:br/>
                      <a:r>
                        <a:t>(K4/K5 -&gt; A-2)</a:t>
                      </a:r>
                    </a:p>
                  </a:txBody>
                  <a:tcPr anchor="ctr" marL="45720" marR="45720" marT="18288" marB="18288">
                    <a:solidFill>
                      <a:srgbClr val="EAF7EE"/>
                    </a:solidFill>
                  </a:tcPr>
                </a:tc>
                <a:tc>
                  <a:txBody>
                    <a:bodyPr wrap="square"/>
                    <a:lstStyle/>
                    <a:p>
                      <a:pPr algn="l">
                        <a:defRPr sz="710">
                          <a:solidFill>
                            <a:srgbClr val="1E242B"/>
                          </a:solidFill>
                          <a:latin typeface="Meiryo UI"/>
                        </a:defRPr>
                      </a:pPr>
                      <a:r>
                        <a:t>検査実機へのDP増設による連続スキャンおよびPC自動合否判定</a:t>
                      </a:r>
                    </a:p>
                  </a:txBody>
                  <a:tcPr anchor="ctr" marL="45720" marR="45720" marT="18288" marB="18288">
                    <a:solidFill>
                      <a:srgbClr val="EAF7EE"/>
                    </a:solidFill>
                  </a:tcPr>
                </a:tc>
                <a:tc>
                  <a:txBody>
                    <a:bodyPr wrap="square"/>
                    <a:lstStyle/>
                    <a:p>
                      <a:pPr algn="l">
                        <a:defRPr sz="710">
                          <a:solidFill>
                            <a:srgbClr val="1E242B"/>
                          </a:solidFill>
                          <a:latin typeface="Meiryo UI"/>
                        </a:defRPr>
                      </a:pPr>
                      <a:r>
                        <a:t>K5（6名体制、705s）において、印刷されたチャートを実機ガラス面に1枚ずつセットし目視判定している。</a:t>
                      </a:r>
                    </a:p>
                  </a:txBody>
                  <a:tcPr anchor="ctr" marL="45720" marR="45720" marT="18288" marB="18288">
                    <a:solidFill>
                      <a:srgbClr val="EAF7EE"/>
                    </a:solidFill>
                  </a:tcPr>
                </a:tc>
                <a:tc>
                  <a:txBody>
                    <a:bodyPr wrap="square"/>
                    <a:lstStyle/>
                    <a:p>
                      <a:pPr algn="l">
                        <a:defRPr sz="710">
                          <a:solidFill>
                            <a:srgbClr val="1E242B"/>
                          </a:solidFill>
                          <a:latin typeface="Meiryo UI"/>
                        </a:defRPr>
                      </a:pPr>
                      <a:r>
                        <a:t>検査実機（実機検査機）にDPユニットを増設。印刷済チャート束をDPに一括セットして連続スキャンし、画像データをPCソフトへ転送して自動判定。</a:t>
                      </a:r>
                    </a:p>
                  </a:txBody>
                  <a:tcPr anchor="ctr" marL="45720" marR="45720" marT="18288" marB="18288">
                    <a:solidFill>
                      <a:srgbClr val="EAF7EE"/>
                    </a:solidFill>
                  </a:tcPr>
                </a:tc>
                <a:tc>
                  <a:txBody>
                    <a:bodyPr wrap="square"/>
                    <a:lstStyle/>
                    <a:p>
                      <a:pPr algn="l">
                        <a:defRPr sz="710">
                          <a:solidFill>
                            <a:srgbClr val="1E242B"/>
                          </a:solidFill>
                          <a:latin typeface="Meiryo UI"/>
                        </a:defRPr>
                      </a:pPr>
                      <a:r>
                        <a:t>• 原稿セット時間 110秒 削減</a:t>
                      </a:r>
                      <a:br/>
                      <a:r>
                        <a:t>• K5（6名）の大幅工数削減</a:t>
                      </a:r>
                      <a:br/>
                      <a:r>
                        <a:t>• コンベア延長工事が不要</a:t>
                      </a:r>
                    </a:p>
                  </a:txBody>
                  <a:tcPr anchor="ctr" marL="45720" marR="45720" marT="18288" marB="18288">
                    <a:solidFill>
                      <a:srgbClr val="EAF7EE"/>
                    </a:solidFill>
                  </a:tcPr>
                </a:tc>
                <a:tc>
                  <a:txBody>
                    <a:bodyPr wrap="square"/>
                    <a:lstStyle/>
                    <a:p>
                      <a:pPr algn="ctr">
                        <a:defRPr sz="710">
                          <a:solidFill>
                            <a:srgbClr val="1E242B"/>
                          </a:solidFill>
                          <a:latin typeface="Meiryo UI"/>
                        </a:defRPr>
                      </a:pPr>
                      <a:r>
                        <a:t>実機評価中 ／</a:t>
                      </a:r>
                      <a:br/>
                      <a:r>
                        <a:t>見積取得中</a:t>
                      </a:r>
                    </a:p>
                  </a:txBody>
                  <a:tcPr anchor="ctr" marL="45720" marR="45720" marT="18288" marB="18288">
                    <a:solidFill>
                      <a:srgbClr val="EAF7EE"/>
                    </a:solidFill>
                  </a:tcPr>
                </a:tc>
                <a:tc>
                  <a:txBody>
                    <a:bodyPr wrap="square"/>
                    <a:lstStyle/>
                    <a:p>
                      <a:pPr algn="l">
                        <a:defRPr sz="710">
                          <a:solidFill>
                            <a:srgbClr val="1E242B"/>
                          </a:solidFill>
                          <a:latin typeface="Meiryo UI"/>
                        </a:defRPr>
                      </a:pPr>
                      <a:r>
                        <a:t>DPスキャンとガラス面</a:t>
                      </a:r>
                      <a:br/>
                      <a:r>
                        <a:t>の画質差・幾何歪み検証中</a:t>
                      </a:r>
                    </a:p>
                  </a:txBody>
                  <a:tcPr anchor="ctr" marL="45720" marR="45720" marT="18288" marB="18288">
                    <a:solidFill>
                      <a:srgbClr val="EAF7EE"/>
                    </a:solidFill>
                  </a:tcPr>
                </a:tc>
              </a:tr>
              <a:tr h="577378">
                <a:tc>
                  <a:txBody>
                    <a:bodyPr wrap="square"/>
                    <a:lstStyle/>
                    <a:p>
                      <a:pPr algn="ctr">
                        <a:defRPr sz="710" b="1">
                          <a:solidFill>
                            <a:srgbClr val="1E242B"/>
                          </a:solidFill>
                          <a:latin typeface="Meiryo UI"/>
                        </a:defRPr>
                      </a:pPr>
                      <a:r>
                        <a:t>No.26</a:t>
                      </a:r>
                      <a:br/>
                      <a:r>
                        <a:t>(K6 -&gt; A-3)</a:t>
                      </a:r>
                    </a:p>
                  </a:txBody>
                  <a:tcPr anchor="ctr" marL="45720" marR="45720" marT="18288" marB="18288">
                    <a:solidFill>
                      <a:srgbClr val="FEF7E6"/>
                    </a:solidFill>
                  </a:tcPr>
                </a:tc>
                <a:tc>
                  <a:txBody>
                    <a:bodyPr wrap="square"/>
                    <a:lstStyle/>
                    <a:p>
                      <a:pPr algn="l">
                        <a:defRPr sz="710">
                          <a:solidFill>
                            <a:srgbClr val="1E242B"/>
                          </a:solidFill>
                          <a:latin typeface="Meiryo UI"/>
                        </a:defRPr>
                      </a:pPr>
                      <a:r>
                        <a:t>AI異音判定ソフトウェアおよび異常発熱検知システムの開発</a:t>
                      </a:r>
                    </a:p>
                  </a:txBody>
                  <a:tcPr anchor="ctr" marL="45720" marR="45720" marT="18288" marB="18288">
                    <a:solidFill>
                      <a:srgbClr val="FEF7E6"/>
                    </a:solidFill>
                  </a:tcPr>
                </a:tc>
                <a:tc>
                  <a:txBody>
                    <a:bodyPr wrap="square"/>
                    <a:lstStyle/>
                    <a:p>
                      <a:pPr algn="l">
                        <a:defRPr sz="710">
                          <a:solidFill>
                            <a:srgbClr val="1E242B"/>
                          </a:solidFill>
                          <a:latin typeface="Meiryo UI"/>
                        </a:defRPr>
                      </a:pPr>
                      <a:r>
                        <a:t>作業者が防音室内で定着加圧音、ファン、駆動部、MPF/DUの異音を耳で聴取判定（K6にて40秒）。個人差が発生。</a:t>
                      </a:r>
                    </a:p>
                  </a:txBody>
                  <a:tcPr anchor="ctr" marL="45720" marR="45720" marT="18288" marB="18288">
                    <a:solidFill>
                      <a:srgbClr val="FEF7E6"/>
                    </a:solidFill>
                  </a:tcPr>
                </a:tc>
                <a:tc>
                  <a:txBody>
                    <a:bodyPr wrap="square"/>
                    <a:lstStyle/>
                    <a:p>
                      <a:pPr algn="l">
                        <a:defRPr sz="710">
                          <a:solidFill>
                            <a:srgbClr val="1E242B"/>
                          </a:solidFill>
                          <a:latin typeface="Meiryo UI"/>
                        </a:defRPr>
                      </a:pPr>
                      <a:r>
                        <a:t>防音ボックス内に高感度マイクとサーモカメラを設置し、周波数スペクトラムAI判定を実施。初期費用が過大（約600万円/40,000ドル）のため、2026～2030年の先行研究テーマに位置付け。</a:t>
                      </a:r>
                    </a:p>
                  </a:txBody>
                  <a:tcPr anchor="ctr" marL="45720" marR="45720" marT="18288" marB="18288">
                    <a:solidFill>
                      <a:srgbClr val="FEF7E6"/>
                    </a:solidFill>
                  </a:tcPr>
                </a:tc>
                <a:tc>
                  <a:txBody>
                    <a:bodyPr wrap="square"/>
                    <a:lstStyle/>
                    <a:p>
                      <a:pPr algn="l">
                        <a:defRPr sz="710">
                          <a:solidFill>
                            <a:srgbClr val="1E242B"/>
                          </a:solidFill>
                          <a:latin typeface="Meiryo UI"/>
                        </a:defRPr>
                      </a:pPr>
                      <a:r>
                        <a:t>• 将来効果：40.00 秒 削減</a:t>
                      </a:r>
                      <a:br/>
                      <a:r>
                        <a:t>• 異音検査基準の完全定量化</a:t>
                      </a:r>
                    </a:p>
                  </a:txBody>
                  <a:tcPr anchor="ctr" marL="45720" marR="45720" marT="18288" marB="18288">
                    <a:solidFill>
                      <a:srgbClr val="FEF7E6"/>
                    </a:solidFill>
                  </a:tcPr>
                </a:tc>
                <a:tc>
                  <a:txBody>
                    <a:bodyPr wrap="square"/>
                    <a:lstStyle/>
                    <a:p>
                      <a:pPr algn="ctr">
                        <a:defRPr sz="710">
                          <a:solidFill>
                            <a:srgbClr val="1E242B"/>
                          </a:solidFill>
                          <a:latin typeface="Meiryo UI"/>
                        </a:defRPr>
                      </a:pPr>
                      <a:r>
                        <a:t>想定 約600万円</a:t>
                      </a:r>
                      <a:br/>
                      <a:r>
                        <a:t>（約40,000 USD）</a:t>
                      </a:r>
                      <a:br/>
                      <a:r>
                        <a:t>[長期先行研究]</a:t>
                      </a:r>
                    </a:p>
                  </a:txBody>
                  <a:tcPr anchor="ctr" marL="45720" marR="45720" marT="18288" marB="18288">
                    <a:solidFill>
                      <a:srgbClr val="FEF7E6"/>
                    </a:solidFill>
                  </a:tcPr>
                </a:tc>
                <a:tc>
                  <a:txBody>
                    <a:bodyPr wrap="square"/>
                    <a:lstStyle/>
                    <a:p>
                      <a:pPr algn="l">
                        <a:defRPr sz="710">
                          <a:solidFill>
                            <a:srgbClr val="1E242B"/>
                          </a:solidFill>
                          <a:latin typeface="Meiryo UI"/>
                        </a:defRPr>
                      </a:pPr>
                      <a:r>
                        <a:t>長期R&amp;Dテーマへ移行</a:t>
                      </a:r>
                      <a:br/>
                      <a:r>
                        <a:t>（2026-2030）</a:t>
                      </a:r>
                    </a:p>
                  </a:txBody>
                  <a:tcPr anchor="ctr" marL="45720" marR="45720" marT="18288" marB="18288">
                    <a:solidFill>
                      <a:srgbClr val="FEF7E6"/>
                    </a:solidFill>
                  </a:tcPr>
                </a:tc>
              </a:tr>
              <a:tr h="577378">
                <a:tc>
                  <a:txBody>
                    <a:bodyPr wrap="square"/>
                    <a:lstStyle/>
                    <a:p>
                      <a:pPr algn="ctr">
                        <a:defRPr sz="710" b="1">
                          <a:solidFill>
                            <a:srgbClr val="1E242B"/>
                          </a:solidFill>
                          <a:latin typeface="Meiryo UI"/>
                        </a:defRPr>
                      </a:pPr>
                      <a:r>
                        <a:t>No.27</a:t>
                      </a:r>
                      <a:br/>
                      <a:r>
                        <a:t>(K6, K7 -&gt; A-3)</a:t>
                      </a:r>
                    </a:p>
                  </a:txBody>
                  <a:tcPr anchor="ctr" marL="45720" marR="45720" marT="18288" marB="18288">
                    <a:solidFill>
                      <a:srgbClr val="EAF7EE"/>
                    </a:solidFill>
                  </a:tcPr>
                </a:tc>
                <a:tc>
                  <a:txBody>
                    <a:bodyPr wrap="square"/>
                    <a:lstStyle/>
                    <a:p>
                      <a:pPr algn="l">
                        <a:defRPr sz="710">
                          <a:solidFill>
                            <a:srgbClr val="1E242B"/>
                          </a:solidFill>
                          <a:latin typeface="Meiryo UI"/>
                        </a:defRPr>
                      </a:pPr>
                      <a:r>
                        <a:t>HIKROBOT工業用カメラによる濃度測定・余白測定・PPTスキャン統合</a:t>
                      </a:r>
                    </a:p>
                  </a:txBody>
                  <a:tcPr anchor="ctr" marL="45720" marR="45720" marT="18288" marB="18288">
                    <a:solidFill>
                      <a:srgbClr val="EAF7EE"/>
                    </a:solidFill>
                  </a:tcPr>
                </a:tc>
                <a:tc>
                  <a:txBody>
                    <a:bodyPr wrap="square"/>
                    <a:lstStyle/>
                    <a:p>
                      <a:pPr algn="l">
                        <a:defRPr sz="710">
                          <a:solidFill>
                            <a:srgbClr val="1E242B"/>
                          </a:solidFill>
                          <a:latin typeface="Meiryo UI"/>
                        </a:defRPr>
                      </a:pPr>
                      <a:r>
                        <a:t>濃度計で3枚測定（Black 45s＋Color 112s＋DC-1 35s＝192s）、定規で余白測定（28s）、ルーペでGY紙PPT黄色ドット確認（10s）＝計230秒/台。</a:t>
                      </a:r>
                    </a:p>
                  </a:txBody>
                  <a:tcPr anchor="ctr" marL="45720" marR="45720" marT="18288" marB="18288">
                    <a:solidFill>
                      <a:srgbClr val="EAF7EE"/>
                    </a:solidFill>
                  </a:tcPr>
                </a:tc>
                <a:tc>
                  <a:txBody>
                    <a:bodyPr wrap="square"/>
                    <a:lstStyle/>
                    <a:p>
                      <a:pPr algn="l">
                        <a:defRPr sz="710">
                          <a:solidFill>
                            <a:srgbClr val="1E242B"/>
                          </a:solidFill>
                          <a:latin typeface="Meiryo UI"/>
                        </a:defRPr>
                      </a:pPr>
                      <a:r>
                        <a:t>HIKROBOT工業用カメラ検査ブースを構築：3枚の濃度測定を15秒で完了（5秒/枚、-177秒短縮）。画像認識アルゴリズムによる余白自動測定（-28秒）を統合。微細PPT判定は第1段階ではフラットベッドスキャナを併用。</a:t>
                      </a:r>
                    </a:p>
                  </a:txBody>
                  <a:tcPr anchor="ctr" marL="45720" marR="45720" marT="18288" marB="18288">
                    <a:solidFill>
                      <a:srgbClr val="EAF7EE"/>
                    </a:solidFill>
                  </a:tcPr>
                </a:tc>
                <a:tc>
                  <a:txBody>
                    <a:bodyPr wrap="square"/>
                    <a:lstStyle/>
                    <a:p>
                      <a:pPr algn="l">
                        <a:defRPr sz="710">
                          <a:solidFill>
                            <a:srgbClr val="1E242B"/>
                          </a:solidFill>
                          <a:latin typeface="Meiryo UI"/>
                        </a:defRPr>
                      </a:pPr>
                      <a:r>
                        <a:t>• 濃度測定だけで 177.00s 削減</a:t>
                      </a:r>
                      <a:br/>
                      <a:r>
                        <a:t>• 余白統合で 205s～215s 削減</a:t>
                      </a:r>
                      <a:br/>
                      <a:r>
                        <a:t>• 画像工程の作業者を約2名削減</a:t>
                      </a:r>
                    </a:p>
                  </a:txBody>
                  <a:tcPr anchor="ctr" marL="45720" marR="45720" marT="18288" marB="18288">
                    <a:solidFill>
                      <a:srgbClr val="EAF7EE"/>
                    </a:solidFill>
                  </a:tcPr>
                </a:tc>
                <a:tc>
                  <a:txBody>
                    <a:bodyPr wrap="square"/>
                    <a:lstStyle/>
                    <a:p>
                      <a:pPr algn="ctr">
                        <a:defRPr sz="710">
                          <a:solidFill>
                            <a:srgbClr val="1E242B"/>
                          </a:solidFill>
                          <a:latin typeface="Meiryo UI"/>
                        </a:defRPr>
                      </a:pPr>
                      <a:r>
                        <a:t>見積取得中</a:t>
                      </a:r>
                    </a:p>
                  </a:txBody>
                  <a:tcPr anchor="ctr" marL="45720" marR="45720" marT="18288" marB="18288">
                    <a:solidFill>
                      <a:srgbClr val="EAF7EE"/>
                    </a:solidFill>
                  </a:tcPr>
                </a:tc>
                <a:tc>
                  <a:txBody>
                    <a:bodyPr wrap="square"/>
                    <a:lstStyle/>
                    <a:p>
                      <a:pPr algn="l">
                        <a:defRPr sz="710">
                          <a:solidFill>
                            <a:srgbClr val="1E242B"/>
                          </a:solidFill>
                          <a:latin typeface="Meiryo UI"/>
                        </a:defRPr>
                      </a:pPr>
                      <a:r>
                        <a:t>カメラモジュール設計中</a:t>
                      </a:r>
                      <a:br/>
                      <a:r>
                        <a:t>濃度・余白測定を先行試作</a:t>
                      </a:r>
                    </a:p>
                  </a:txBody>
                  <a:tcPr anchor="ctr" marL="45720" marR="45720" marT="18288" marB="18288">
                    <a:solidFill>
                      <a:srgbClr val="EAF7EE"/>
                    </a:solidFill>
                  </a:tcPr>
                </a:tc>
              </a:tr>
              <a:tr h="577380">
                <a:tc>
                  <a:txBody>
                    <a:bodyPr wrap="square"/>
                    <a:lstStyle/>
                    <a:p>
                      <a:pPr algn="ctr">
                        <a:defRPr sz="710" b="1">
                          <a:solidFill>
                            <a:srgbClr val="1E242B"/>
                          </a:solidFill>
                          <a:latin typeface="Meiryo UI"/>
                        </a:defRPr>
                      </a:pPr>
                      <a:r>
                        <a:t>No.28</a:t>
                      </a:r>
                      <a:br/>
                      <a:r>
                        <a:t>(K8 -&gt; A-4)</a:t>
                      </a:r>
                    </a:p>
                  </a:txBody>
                  <a:tcPr anchor="ctr" marL="45720" marR="45720" marT="18288" marB="18288">
                    <a:solidFill>
                      <a:srgbClr val="EAF7EE"/>
                    </a:solidFill>
                  </a:tcPr>
                </a:tc>
                <a:tc>
                  <a:txBody>
                    <a:bodyPr wrap="square"/>
                    <a:lstStyle/>
                    <a:p>
                      <a:pPr algn="l">
                        <a:defRPr sz="710">
                          <a:solidFill>
                            <a:srgbClr val="1E242B"/>
                          </a:solidFill>
                          <a:latin typeface="Meiryo UI"/>
                        </a:defRPr>
                      </a:pPr>
                      <a:r>
                        <a:t>LAN経由の出荷設定自動化およびAI動画動作分析の活用</a:t>
                      </a:r>
                    </a:p>
                  </a:txBody>
                  <a:tcPr anchor="ctr" marL="45720" marR="45720" marT="18288" marB="18288">
                    <a:solidFill>
                      <a:srgbClr val="EAF7EE"/>
                    </a:solidFill>
                  </a:tcPr>
                </a:tc>
                <a:tc>
                  <a:txBody>
                    <a:bodyPr wrap="square"/>
                    <a:lstStyle/>
                    <a:p>
                      <a:pPr algn="l">
                        <a:defRPr sz="710">
                          <a:solidFill>
                            <a:srgbClr val="1E242B"/>
                          </a:solidFill>
                          <a:latin typeface="Meiryo UI"/>
                        </a:defRPr>
                      </a:pPr>
                      <a:r>
                        <a:t>作業者がUSBを挿し、バーコードを読み取り、出荷設定（FinalSetup）の確認ボタンを手押し（K8にて130秒/台）。</a:t>
                      </a:r>
                    </a:p>
                  </a:txBody>
                  <a:tcPr anchor="ctr" marL="45720" marR="45720" marT="18288" marB="18288">
                    <a:solidFill>
                      <a:srgbClr val="EAF7EE"/>
                    </a:solidFill>
                  </a:tcPr>
                </a:tc>
                <a:tc>
                  <a:txBody>
                    <a:bodyPr wrap="square"/>
                    <a:lstStyle/>
                    <a:p>
                      <a:pPr algn="l">
                        <a:defRPr sz="710">
                          <a:solidFill>
                            <a:srgbClr val="1E242B"/>
                          </a:solidFill>
                          <a:latin typeface="Meiryo UI"/>
                        </a:defRPr>
                      </a:pPr>
                      <a:r>
                        <a:t>Host PCから社内ネットワーク経由で出荷設定コマンドを一括送信（-50秒短縮）。同時にAI動作分析ソフトウェアにより作業動画から歩行ロス・手待ちを客観的に抽出。</a:t>
                      </a:r>
                    </a:p>
                  </a:txBody>
                  <a:tcPr anchor="ctr" marL="45720" marR="45720" marT="18288" marB="18288">
                    <a:solidFill>
                      <a:srgbClr val="EAF7EE"/>
                    </a:solidFill>
                  </a:tcPr>
                </a:tc>
                <a:tc>
                  <a:txBody>
                    <a:bodyPr wrap="square"/>
                    <a:lstStyle/>
                    <a:p>
                      <a:pPr algn="l">
                        <a:defRPr sz="710">
                          <a:solidFill>
                            <a:srgbClr val="1E242B"/>
                          </a:solidFill>
                          <a:latin typeface="Meiryo UI"/>
                        </a:defRPr>
                      </a:pPr>
                      <a:r>
                        <a:t>• 出荷設定工程で 50.00s 削減</a:t>
                      </a:r>
                      <a:br/>
                      <a:r>
                        <a:t>• 全改善提案の客観的検証</a:t>
                      </a:r>
                    </a:p>
                  </a:txBody>
                  <a:tcPr anchor="ctr" marL="45720" marR="45720" marT="18288" marB="18288">
                    <a:solidFill>
                      <a:srgbClr val="EAF7EE"/>
                    </a:solidFill>
                  </a:tcPr>
                </a:tc>
                <a:tc>
                  <a:txBody>
                    <a:bodyPr wrap="square"/>
                    <a:lstStyle/>
                    <a:p>
                      <a:pPr algn="ctr">
                        <a:defRPr sz="710">
                          <a:solidFill>
                            <a:srgbClr val="1E242B"/>
                          </a:solidFill>
                          <a:latin typeface="Meiryo UI"/>
                        </a:defRPr>
                      </a:pPr>
                      <a:r>
                        <a:t>見積取得中</a:t>
                      </a:r>
                    </a:p>
                  </a:txBody>
                  <a:tcPr anchor="ctr" marL="45720" marR="45720" marT="18288" marB="18288">
                    <a:solidFill>
                      <a:srgbClr val="EAF7EE"/>
                    </a:solidFill>
                  </a:tcPr>
                </a:tc>
                <a:tc>
                  <a:txBody>
                    <a:bodyPr wrap="square"/>
                    <a:lstStyle/>
                    <a:p>
                      <a:pPr algn="l">
                        <a:defRPr sz="710">
                          <a:solidFill>
                            <a:srgbClr val="1E242B"/>
                          </a:solidFill>
                          <a:latin typeface="Meiryo UI"/>
                        </a:defRPr>
                      </a:pPr>
                      <a:r>
                        <a:t>動画分析撮影開始</a:t>
                      </a:r>
                      <a:br/>
                      <a:r>
                        <a:t>出荷設定LANコマンド検証</a:t>
                      </a:r>
                    </a:p>
                  </a:txBody>
                  <a:tcPr anchor="ctr" marL="45720" marR="45720" marT="18288" marB="18288">
                    <a:solidFill>
                      <a:srgbClr val="EAF7EE"/>
                    </a:solidFill>
                  </a:tcPr>
                </a:tc>
              </a:tr>
            </a:tbl>
          </a:graphicData>
        </a:graphic>
      </p:graphicFrame>
      <p:sp>
        <p:nvSpPr>
          <p:cNvPr id="8" name="Rectangle 7"/>
          <p:cNvSpPr/>
          <p:nvPr/>
        </p:nvSpPr>
        <p:spPr>
          <a:xfrm>
            <a:off x="256032" y="5285232"/>
            <a:ext cx="11679631" cy="1234440"/>
          </a:xfrm>
          <a:prstGeom prst="rect">
            <a:avLst/>
          </a:prstGeom>
          <a:solidFill>
            <a:srgbClr val="EAF7EE"/>
          </a:solidFill>
          <a:ln w="12700">
            <a:solidFill>
              <a:srgbClr val="1E6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5285232"/>
            <a:ext cx="11679631" cy="292608"/>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930" b="1">
                <a:solidFill>
                  <a:srgbClr val="FFFFFF"/>
                </a:solidFill>
                <a:latin typeface="Meiryo UI"/>
              </a:defRPr>
            </a:pPr>
            <a:r>
              <a:t>見積書（IRIS EXPのVN提案.xlsx）記載3案件の集計および費用最適化提案</a:t>
            </a:r>
          </a:p>
        </p:txBody>
      </p:sp>
      <p:sp>
        <p:nvSpPr>
          <p:cNvPr id="10" name="TextBox 9"/>
          <p:cNvSpPr txBox="1"/>
          <p:nvPr/>
        </p:nvSpPr>
        <p:spPr>
          <a:xfrm>
            <a:off x="329184" y="5605272"/>
            <a:ext cx="11533327" cy="886968"/>
          </a:xfrm>
          <a:prstGeom prst="rect">
            <a:avLst/>
          </a:prstGeom>
          <a:noFill/>
        </p:spPr>
        <p:txBody>
          <a:bodyPr wrap="square" lIns="36576" rIns="36576" tIns="18288" bIns="18288">
            <a:spAutoFit/>
          </a:bodyPr>
          <a:lstStyle/>
          <a:p>
            <a:pPr>
              <a:spcAft>
                <a:spcPts val="220"/>
              </a:spcAft>
              <a:defRPr sz="790">
                <a:solidFill>
                  <a:srgbClr val="1E242B"/>
                </a:solidFill>
                <a:latin typeface="Meiryo UI"/>
              </a:defRPr>
            </a:pPr>
            <a:r>
              <a:t>• 見積書（Iris EXPのVN提案.xlsx）記載の3提案合計：No.22（101,690,000 VND / 3,911.15 USD）＋ No.23 原稿ロボット（650,000,000 VND / 25,000 USD）＋ No.24 USB/U201ロボット（104,000,000 VND / 4,000 USD）＝ 855,690,000 VND（32,911.15 USD；サマリー表丸め値：33,000 USD / 858M VND）。年間削減額 167,733,333 VND/年（6,451.28 USD/年）。</a:t>
            </a:r>
          </a:p>
          <a:p>
            <a:pPr>
              <a:spcAft>
                <a:spcPts val="220"/>
              </a:spcAft>
              <a:defRPr sz="790">
                <a:solidFill>
                  <a:srgbClr val="1E242B"/>
                </a:solidFill>
                <a:latin typeface="Meiryo UI"/>
              </a:defRPr>
            </a:pPr>
            <a:r>
              <a:t>• DR4後の費用最適化提案：高額なロボット2案件（No.23＆No.24＝計754M VND）をDP活用（No.25）およびHost PCログ読取（日本No.3, No.6）へ切り替えることで、第1期申請額をNo.22の 101,690,000 VND（3,911.15 USD）に圧縮。第2期予算は工数削減効果の極めて大きいHIKROBOTカメラ（No.27、-177s）およびDP治具（No.25、-110s）へ集中配分する。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4.4 追加提案・PDCA</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ベトナム第2次追加提案（No.29 ～ No.37）と2026年10月度PDCA実績</a:t>
            </a:r>
          </a:p>
        </p:txBody>
      </p:sp>
      <p:sp>
        <p:nvSpPr>
          <p:cNvPr id="5" name="TextBox 4"/>
          <p:cNvSpPr txBox="1"/>
          <p:nvPr/>
        </p:nvSpPr>
        <p:spPr>
          <a:xfrm>
            <a:off x="11292840" y="109728"/>
            <a:ext cx="731520" cy="347472"/>
          </a:xfrm>
          <a:prstGeom prst="rect">
            <a:avLst/>
          </a:prstGeom>
          <a:noFill/>
        </p:spPr>
        <p:txBody>
          <a:bodyPr wrap="none">
            <a:spAutoFit/>
          </a:bodyPr>
          <a:lstStyle/>
          <a:p>
            <a:pPr>
              <a:defRPr sz="1200">
                <a:solidFill>
                  <a:srgbClr val="D0D8E8"/>
                </a:solidFill>
                <a:latin typeface="Meiryo UI"/>
              </a:defRPr>
            </a:pPr>
            <a:r>
              <a:t>10 / 15</a:t>
            </a:r>
          </a:p>
        </p:txBody>
      </p:sp>
      <p:sp>
        <p:nvSpPr>
          <p:cNvPr id="6" name="Rectangle 5"/>
          <p:cNvSpPr/>
          <p:nvPr/>
        </p:nvSpPr>
        <p:spPr>
          <a:xfrm>
            <a:off x="256032" y="640080"/>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rPr sz="1200" b="1">
                <a:solidFill>
                  <a:srgbClr val="1B365D"/>
                </a:solidFill>
                <a:latin typeface="Meiryo UI"/>
              </a:rPr>
              <a:t>■ 追加9提案（No.29～37）は基板・ソフトの自己診断改善およびチャート統合（RCG Ledger、LSU Skew、Halftone U410、Mono）を推進し、低設備投資で工数削減。2026年10月度にはSOP改定により4工程を先行削除（-4.32s/台）。</a:t>
            </a:r>
          </a:p>
        </p:txBody>
      </p:sp>
      <p:graphicFrame>
        <p:nvGraphicFramePr>
          <p:cNvPr id="7" name="Table 6"/>
          <p:cNvGraphicFramePr>
            <a:graphicFrameLocks noGrp="1"/>
          </p:cNvGraphicFramePr>
          <p:nvPr/>
        </p:nvGraphicFramePr>
        <p:xfrm>
          <a:off x="256032" y="1170432"/>
          <a:ext cx="11679631" cy="5349240"/>
        </p:xfrm>
        <a:graphic>
          <a:graphicData uri="http://schemas.openxmlformats.org/drawingml/2006/table">
            <a:tbl>
              <a:tblPr firstRow="1" bandRow="1">
                <a:tableStyleId>{5C22544A-7EE6-4342-B048-85BDC9FD1C3A}</a:tableStyleId>
              </a:tblPr>
              <a:tblGrid>
                <a:gridCol w="868680"/>
                <a:gridCol w="2331720"/>
                <a:gridCol w="2423160"/>
                <a:gridCol w="2971800"/>
                <a:gridCol w="1508760"/>
                <a:gridCol w="1575511"/>
              </a:tblGrid>
              <a:tr h="486294">
                <a:tc>
                  <a:txBody>
                    <a:bodyPr wrap="square"/>
                    <a:lstStyle/>
                    <a:p>
                      <a:pPr algn="ctr">
                        <a:defRPr sz="740" b="1">
                          <a:solidFill>
                            <a:srgbClr val="FFFFFF"/>
                          </a:solidFill>
                          <a:latin typeface="Meiryo UI"/>
                        </a:defRPr>
                      </a:pPr>
                      <a:r>
                        <a:t>提案番号</a:t>
                      </a:r>
                      <a:br/>
                      <a:r>
                        <a:t>（担当工程）</a:t>
                      </a:r>
                    </a:p>
                  </a:txBody>
                  <a:tcPr anchor="ctr" marL="36576" marR="36576" marT="9144" marB="9144">
                    <a:solidFill>
                      <a:srgbClr val="1B365D"/>
                    </a:solidFill>
                  </a:tcPr>
                </a:tc>
                <a:tc>
                  <a:txBody>
                    <a:bodyPr wrap="square"/>
                    <a:lstStyle/>
                    <a:p>
                      <a:pPr algn="ctr">
                        <a:defRPr sz="740" b="1">
                          <a:solidFill>
                            <a:srgbClr val="FFFFFF"/>
                          </a:solidFill>
                          <a:latin typeface="Meiryo UI"/>
                        </a:defRPr>
                      </a:pPr>
                      <a:r>
                        <a:t>ベトナム追加提案名称</a:t>
                      </a:r>
                    </a:p>
                  </a:txBody>
                  <a:tcPr anchor="ctr" marL="36576" marR="36576" marT="9144" marB="9144">
                    <a:solidFill>
                      <a:srgbClr val="1B365D"/>
                    </a:solidFill>
                  </a:tcPr>
                </a:tc>
                <a:tc>
                  <a:txBody>
                    <a:bodyPr wrap="square"/>
                    <a:lstStyle/>
                    <a:p>
                      <a:pPr algn="ctr">
                        <a:defRPr sz="740" b="1">
                          <a:solidFill>
                            <a:srgbClr val="FFFFFF"/>
                          </a:solidFill>
                          <a:latin typeface="Meiryo UI"/>
                        </a:defRPr>
                      </a:pPr>
                      <a:r>
                        <a:t>現行ラインの作業実態</a:t>
                      </a:r>
                      <a:br/>
                      <a:r>
                        <a:t>（工程表および一覧表記載内容）</a:t>
                      </a:r>
                    </a:p>
                  </a:txBody>
                  <a:tcPr anchor="ctr" marL="36576" marR="36576" marT="9144" marB="9144">
                    <a:solidFill>
                      <a:srgbClr val="1B365D"/>
                    </a:solidFill>
                  </a:tcPr>
                </a:tc>
                <a:tc>
                  <a:txBody>
                    <a:bodyPr wrap="square"/>
                    <a:lstStyle/>
                    <a:p>
                      <a:pPr algn="ctr">
                        <a:defRPr sz="740" b="1">
                          <a:solidFill>
                            <a:srgbClr val="FFFFFF"/>
                          </a:solidFill>
                          <a:latin typeface="Meiryo UI"/>
                        </a:defRPr>
                      </a:pPr>
                      <a:r>
                        <a:t>改善技術内容およびチャート統合・自動化</a:t>
                      </a:r>
                    </a:p>
                  </a:txBody>
                  <a:tcPr anchor="ctr" marL="36576" marR="36576" marT="9144" marB="9144">
                    <a:solidFill>
                      <a:srgbClr val="1B365D"/>
                    </a:solidFill>
                  </a:tcPr>
                </a:tc>
                <a:tc>
                  <a:txBody>
                    <a:bodyPr wrap="square"/>
                    <a:lstStyle/>
                    <a:p>
                      <a:pPr algn="ctr">
                        <a:defRPr sz="740" b="1">
                          <a:solidFill>
                            <a:srgbClr val="FFFFFF"/>
                          </a:solidFill>
                          <a:latin typeface="Meiryo UI"/>
                        </a:defRPr>
                      </a:pPr>
                      <a:r>
                        <a:t>工数削減効果</a:t>
                      </a:r>
                      <a:br/>
                      <a:r>
                        <a:t>および設備費</a:t>
                      </a:r>
                    </a:p>
                  </a:txBody>
                  <a:tcPr anchor="ctr" marL="36576" marR="36576" marT="9144" marB="9144">
                    <a:solidFill>
                      <a:srgbClr val="1B365D"/>
                    </a:solidFill>
                  </a:tcPr>
                </a:tc>
                <a:tc>
                  <a:txBody>
                    <a:bodyPr wrap="square"/>
                    <a:lstStyle/>
                    <a:p>
                      <a:pPr algn="ctr">
                        <a:defRPr sz="740" b="1">
                          <a:solidFill>
                            <a:srgbClr val="FFFFFF"/>
                          </a:solidFill>
                          <a:latin typeface="Meiryo UI"/>
                        </a:defRPr>
                      </a:pPr>
                      <a:r>
                        <a:t>連携部署</a:t>
                      </a:r>
                      <a:br/>
                      <a:r>
                        <a:t>および進捗</a:t>
                      </a:r>
                    </a:p>
                  </a:txBody>
                  <a:tcPr anchor="ctr" marL="36576" marR="36576" marT="9144" marB="9144">
                    <a:solidFill>
                      <a:srgbClr val="1B365D"/>
                    </a:solidFill>
                  </a:tcPr>
                </a:tc>
              </a:tr>
              <a:tr h="486294">
                <a:tc>
                  <a:txBody>
                    <a:bodyPr wrap="square"/>
                    <a:lstStyle/>
                    <a:p>
                      <a:pPr algn="ctr">
                        <a:defRPr sz="650" b="1">
                          <a:solidFill>
                            <a:srgbClr val="1E242B"/>
                          </a:solidFill>
                          <a:latin typeface="Meiryo UI"/>
                        </a:defRPr>
                      </a:pPr>
                      <a:r>
                        <a:t>No.29</a:t>
                      </a:r>
                      <a:br/>
                      <a:r>
                        <a:t>(A-1 / K1)</a:t>
                      </a:r>
                    </a:p>
                  </a:txBody>
                  <a:tcPr anchor="ctr" marL="36576" marR="36576" marT="9144" marB="9144">
                    <a:solidFill>
                      <a:srgbClr val="FFFFFF"/>
                    </a:solidFill>
                  </a:tcPr>
                </a:tc>
                <a:tc>
                  <a:txBody>
                    <a:bodyPr wrap="square"/>
                    <a:lstStyle/>
                    <a:p>
                      <a:pPr algn="l">
                        <a:defRPr sz="650">
                          <a:solidFill>
                            <a:srgbClr val="1E242B"/>
                          </a:solidFill>
                          <a:latin typeface="Meiryo UI"/>
                        </a:defRPr>
                      </a:pPr>
                      <a:r>
                        <a:t>A1：トナーコンテナ認識の基板・FW改善による自動化</a:t>
                      </a:r>
                    </a:p>
                  </a:txBody>
                  <a:tcPr anchor="ctr" marL="36576" marR="36576" marT="9144" marB="9144">
                    <a:solidFill>
                      <a:srgbClr val="FFFFFF"/>
                    </a:solidFill>
                  </a:tcPr>
                </a:tc>
                <a:tc>
                  <a:txBody>
                    <a:bodyPr wrap="square"/>
                    <a:lstStyle/>
                    <a:p>
                      <a:pPr algn="l">
                        <a:defRPr sz="650">
                          <a:solidFill>
                            <a:srgbClr val="1E242B"/>
                          </a:solidFill>
                          <a:latin typeface="Meiryo UI"/>
                        </a:defRPr>
                      </a:pPr>
                      <a:r>
                        <a:t>ライン投入時に「トナーコンテナが正しくセットされていません」等の警告が出現し、治具着脱に55秒を要している。</a:t>
                      </a:r>
                    </a:p>
                  </a:txBody>
                  <a:tcPr anchor="ctr" marL="36576" marR="36576" marT="9144" marB="9144">
                    <a:solidFill>
                      <a:srgbClr val="FFFFFF"/>
                    </a:solidFill>
                  </a:tcPr>
                </a:tc>
                <a:tc>
                  <a:txBody>
                    <a:bodyPr wrap="square"/>
                    <a:lstStyle/>
                    <a:p>
                      <a:pPr algn="l">
                        <a:defRPr sz="650">
                          <a:solidFill>
                            <a:srgbClr val="1E242B"/>
                          </a:solidFill>
                          <a:latin typeface="Meiryo UI"/>
                        </a:defRPr>
                      </a:pPr>
                      <a:r>
                        <a:t>設計部門へ基板・FWの自己診断改善を要請し、治具着脱なしでトナーコンテナ装着を自動検知可能とする。</a:t>
                      </a:r>
                    </a:p>
                  </a:txBody>
                  <a:tcPr anchor="ctr" marL="36576" marR="36576" marT="9144" marB="9144">
                    <a:solidFill>
                      <a:srgbClr val="FFFFFF"/>
                    </a:solidFill>
                  </a:tcPr>
                </a:tc>
                <a:tc>
                  <a:txBody>
                    <a:bodyPr wrap="square"/>
                    <a:lstStyle/>
                    <a:p>
                      <a:pPr algn="l">
                        <a:defRPr sz="650">
                          <a:solidFill>
                            <a:srgbClr val="1E242B"/>
                          </a:solidFill>
                          <a:latin typeface="Meiryo UI"/>
                        </a:defRPr>
                      </a:pPr>
                      <a:r>
                        <a:t>トナー治具着脱の廃止</a:t>
                      </a:r>
                      <a:br/>
                      <a:r>
                        <a:t>（現場設備費 0 円）</a:t>
                      </a:r>
                    </a:p>
                  </a:txBody>
                  <a:tcPr anchor="ctr" marL="36576" marR="36576" marT="9144" marB="9144">
                    <a:solidFill>
                      <a:srgbClr val="FFFFFF"/>
                    </a:solidFill>
                  </a:tcPr>
                </a:tc>
                <a:tc>
                  <a:txBody>
                    <a:bodyPr wrap="square"/>
                    <a:lstStyle/>
                    <a:p>
                      <a:pPr algn="l">
                        <a:defRPr sz="650">
                          <a:solidFill>
                            <a:srgbClr val="1E242B"/>
                          </a:solidFill>
                          <a:latin typeface="Meiryo UI"/>
                        </a:defRPr>
                      </a:pPr>
                      <a:r>
                        <a:t>日本設計側確認中</a:t>
                      </a:r>
                    </a:p>
                  </a:txBody>
                  <a:tcPr anchor="ctr" marL="36576" marR="36576" marT="9144" marB="9144">
                    <a:solidFill>
                      <a:srgbClr val="FFFFFF"/>
                    </a:solidFill>
                  </a:tcPr>
                </a:tc>
              </a:tr>
              <a:tr h="486294">
                <a:tc>
                  <a:txBody>
                    <a:bodyPr wrap="square"/>
                    <a:lstStyle/>
                    <a:p>
                      <a:pPr algn="ctr">
                        <a:defRPr sz="650" b="1">
                          <a:solidFill>
                            <a:srgbClr val="1E242B"/>
                          </a:solidFill>
                          <a:latin typeface="Meiryo UI"/>
                        </a:defRPr>
                      </a:pPr>
                      <a:r>
                        <a:t>No.30</a:t>
                      </a:r>
                      <a:br/>
                      <a:r>
                        <a:t>(A-1 / K1)</a:t>
                      </a:r>
                    </a:p>
                  </a:txBody>
                  <a:tcPr anchor="ctr" marL="36576" marR="36576" marT="9144" marB="9144">
                    <a:solidFill>
                      <a:srgbClr val="EAF7EE"/>
                    </a:solidFill>
                  </a:tcPr>
                </a:tc>
                <a:tc>
                  <a:txBody>
                    <a:bodyPr wrap="square"/>
                    <a:lstStyle/>
                    <a:p>
                      <a:pPr algn="l">
                        <a:defRPr sz="650">
                          <a:solidFill>
                            <a:srgbClr val="1E242B"/>
                          </a:solidFill>
                          <a:latin typeface="Meiryo UI"/>
                        </a:defRPr>
                      </a:pPr>
                      <a:r>
                        <a:t>A1：本体バーコード自動読取および廃トナーU155設定廃止</a:t>
                      </a:r>
                    </a:p>
                  </a:txBody>
                  <a:tcPr anchor="ctr" marL="36576" marR="36576" marT="9144" marB="9144">
                    <a:solidFill>
                      <a:srgbClr val="EAF7EE"/>
                    </a:solidFill>
                  </a:tcPr>
                </a:tc>
                <a:tc>
                  <a:txBody>
                    <a:bodyPr wrap="square"/>
                    <a:lstStyle/>
                    <a:p>
                      <a:pPr algn="l">
                        <a:defRPr sz="650">
                          <a:solidFill>
                            <a:srgbClr val="1E242B"/>
                          </a:solidFill>
                          <a:latin typeface="Meiryo UI"/>
                        </a:defRPr>
                      </a:pPr>
                      <a:r>
                        <a:t>バーコードの手動スキャンおよび廃トナー満杯しきい値U155の設定作業（標準29.16s / K1にて60s＋WTB確認10s）。</a:t>
                      </a:r>
                    </a:p>
                  </a:txBody>
                  <a:tcPr anchor="ctr" marL="36576" marR="36576" marT="9144" marB="9144">
                    <a:solidFill>
                      <a:srgbClr val="EAF7EE"/>
                    </a:solidFill>
                  </a:tcPr>
                </a:tc>
                <a:tc>
                  <a:txBody>
                    <a:bodyPr wrap="square"/>
                    <a:lstStyle/>
                    <a:p>
                      <a:pPr algn="l">
                        <a:defRPr sz="650">
                          <a:solidFill>
                            <a:srgbClr val="1E242B"/>
                          </a:solidFill>
                          <a:latin typeface="Meiryo UI"/>
                        </a:defRPr>
                      </a:pPr>
                      <a:r>
                        <a:t>A-1にてバーコード自動読取機を導入（生技製作）。本体側Push Switch追加とSub-Assy抵抗測定保証によりU155設定を全廃。</a:t>
                      </a:r>
                    </a:p>
                  </a:txBody>
                  <a:tcPr anchor="ctr" marL="36576" marR="36576" marT="9144" marB="9144">
                    <a:solidFill>
                      <a:srgbClr val="EAF7EE"/>
                    </a:solidFill>
                  </a:tcPr>
                </a:tc>
                <a:tc>
                  <a:txBody>
                    <a:bodyPr wrap="square"/>
                    <a:lstStyle/>
                    <a:p>
                      <a:pPr algn="l">
                        <a:defRPr sz="650">
                          <a:solidFill>
                            <a:srgbClr val="1E242B"/>
                          </a:solidFill>
                          <a:latin typeface="Meiryo UI"/>
                        </a:defRPr>
                      </a:pPr>
                      <a:r>
                        <a:t>• 29.16秒/台 短縮</a:t>
                      </a:r>
                      <a:br/>
                      <a:r>
                        <a:t>• 21ステップを全削除</a:t>
                      </a:r>
                    </a:p>
                  </a:txBody>
                  <a:tcPr anchor="ctr" marL="36576" marR="36576" marT="9144" marB="9144">
                    <a:solidFill>
                      <a:srgbClr val="EAF7EE"/>
                    </a:solidFill>
                  </a:tcPr>
                </a:tc>
                <a:tc>
                  <a:txBody>
                    <a:bodyPr wrap="square"/>
                    <a:lstStyle/>
                    <a:p>
                      <a:pPr algn="l">
                        <a:defRPr sz="650">
                          <a:solidFill>
                            <a:srgbClr val="1E242B"/>
                          </a:solidFill>
                          <a:latin typeface="Meiryo UI"/>
                        </a:defRPr>
                      </a:pPr>
                      <a:r>
                        <a:t>生技 ＆ 日本設計</a:t>
                      </a:r>
                      <a:br/>
                      <a:r>
                        <a:t>（U155廃止確定済）</a:t>
                      </a:r>
                    </a:p>
                  </a:txBody>
                  <a:tcPr anchor="ctr" marL="36576" marR="36576" marT="9144" marB="9144">
                    <a:solidFill>
                      <a:srgbClr val="EAF7EE"/>
                    </a:solidFill>
                  </a:tcPr>
                </a:tc>
              </a:tr>
              <a:tr h="486294">
                <a:tc>
                  <a:txBody>
                    <a:bodyPr wrap="square"/>
                    <a:lstStyle/>
                    <a:p>
                      <a:pPr algn="ctr">
                        <a:defRPr sz="650" b="1">
                          <a:solidFill>
                            <a:srgbClr val="1E242B"/>
                          </a:solidFill>
                          <a:latin typeface="Meiryo UI"/>
                        </a:defRPr>
                      </a:pPr>
                      <a:r>
                        <a:t>No.31</a:t>
                      </a:r>
                      <a:br/>
                      <a:r>
                        <a:t>(A-2 / A-5)</a:t>
                      </a:r>
                    </a:p>
                  </a:txBody>
                  <a:tcPr anchor="ctr" marL="36576" marR="36576" marT="9144" marB="9144">
                    <a:solidFill>
                      <a:srgbClr val="FFFFFF"/>
                    </a:solidFill>
                  </a:tcPr>
                </a:tc>
                <a:tc>
                  <a:txBody>
                    <a:bodyPr wrap="square"/>
                    <a:lstStyle/>
                    <a:p>
                      <a:pPr algn="l">
                        <a:defRPr sz="650">
                          <a:solidFill>
                            <a:srgbClr val="1E242B"/>
                          </a:solidFill>
                          <a:latin typeface="Meiryo UI"/>
                        </a:defRPr>
                      </a:pPr>
                      <a:r>
                        <a:t>A5：2Wayクラッチ確認をColor Registへ統合 -&gt; U950前RCG廃止</a:t>
                      </a:r>
                    </a:p>
                  </a:txBody>
                  <a:tcPr anchor="ctr" marL="36576" marR="36576" marT="9144" marB="9144">
                    <a:solidFill>
                      <a:srgbClr val="FFFFFF"/>
                    </a:solidFill>
                  </a:tcPr>
                </a:tc>
                <a:tc>
                  <a:txBody>
                    <a:bodyPr wrap="square"/>
                    <a:lstStyle/>
                    <a:p>
                      <a:pPr algn="l">
                        <a:defRPr sz="650">
                          <a:solidFill>
                            <a:srgbClr val="1E242B"/>
                          </a:solidFill>
                          <a:latin typeface="Meiryo UI"/>
                        </a:defRPr>
                      </a:pPr>
                      <a:r>
                        <a:t>K4においてU950前にRCG印刷を実施（標準17.36s / K4にて25s）。K2で重りを用いた有負荷カセット開閉確認（20s）。</a:t>
                      </a:r>
                    </a:p>
                  </a:txBody>
                  <a:tcPr anchor="ctr" marL="36576" marR="36576" marT="9144" marB="9144">
                    <a:solidFill>
                      <a:srgbClr val="FFFFFF"/>
                    </a:solidFill>
                  </a:tcPr>
                </a:tc>
                <a:tc>
                  <a:txBody>
                    <a:bodyPr wrap="square"/>
                    <a:lstStyle/>
                    <a:p>
                      <a:pPr algn="l">
                        <a:defRPr sz="650">
                          <a:solidFill>
                            <a:srgbClr val="1E242B"/>
                          </a:solidFill>
                          <a:latin typeface="Meiryo UI"/>
                        </a:defRPr>
                      </a:pPr>
                      <a:r>
                        <a:t>2Wayクラッチの動作確認を後工程のRCG Color Regist印刷へ統合し、U950前のRCG印刷を完全廃止。有負荷試験治具の自動化を検討。</a:t>
                      </a:r>
                    </a:p>
                  </a:txBody>
                  <a:tcPr anchor="ctr" marL="36576" marR="36576" marT="9144" marB="9144">
                    <a:solidFill>
                      <a:srgbClr val="FFFFFF"/>
                    </a:solidFill>
                  </a:tcPr>
                </a:tc>
                <a:tc>
                  <a:txBody>
                    <a:bodyPr wrap="square"/>
                    <a:lstStyle/>
                    <a:p>
                      <a:pPr algn="l">
                        <a:defRPr sz="650">
                          <a:solidFill>
                            <a:srgbClr val="1E242B"/>
                          </a:solidFill>
                          <a:latin typeface="Meiryo UI"/>
                        </a:defRPr>
                      </a:pPr>
                      <a:r>
                        <a:t>• 17.36s～25s（RCG 1枚削減）</a:t>
                      </a:r>
                      <a:br/>
                      <a:r>
                        <a:t>• カセット有負荷確認短縮</a:t>
                      </a:r>
                    </a:p>
                  </a:txBody>
                  <a:tcPr anchor="ctr" marL="36576" marR="36576" marT="9144" marB="9144">
                    <a:solidFill>
                      <a:srgbClr val="FFFFFF"/>
                    </a:solidFill>
                  </a:tcPr>
                </a:tc>
                <a:tc>
                  <a:txBody>
                    <a:bodyPr wrap="square"/>
                    <a:lstStyle/>
                    <a:p>
                      <a:pPr algn="l">
                        <a:defRPr sz="650">
                          <a:solidFill>
                            <a:srgbClr val="1E242B"/>
                          </a:solidFill>
                          <a:latin typeface="Meiryo UI"/>
                        </a:defRPr>
                      </a:pPr>
                      <a:r>
                        <a:t>設計 ＆ 生技</a:t>
                      </a:r>
                      <a:br/>
                      <a:r>
                        <a:t>（確認中）</a:t>
                      </a:r>
                    </a:p>
                  </a:txBody>
                  <a:tcPr anchor="ctr" marL="36576" marR="36576" marT="9144" marB="9144">
                    <a:solidFill>
                      <a:srgbClr val="FFFFFF"/>
                    </a:solidFill>
                  </a:tcPr>
                </a:tc>
              </a:tr>
              <a:tr h="486294">
                <a:tc>
                  <a:txBody>
                    <a:bodyPr wrap="square"/>
                    <a:lstStyle/>
                    <a:p>
                      <a:pPr algn="ctr">
                        <a:defRPr sz="650" b="1">
                          <a:solidFill>
                            <a:srgbClr val="1E242B"/>
                          </a:solidFill>
                          <a:latin typeface="Meiryo UI"/>
                        </a:defRPr>
                      </a:pPr>
                      <a:r>
                        <a:t>No.32</a:t>
                      </a:r>
                      <a:br/>
                      <a:r>
                        <a:t>(A-2 / A-7)</a:t>
                      </a:r>
                    </a:p>
                  </a:txBody>
                  <a:tcPr anchor="ctr" marL="36576" marR="36576" marT="9144" marB="9144">
                    <a:solidFill>
                      <a:srgbClr val="F7F9FC"/>
                    </a:solidFill>
                  </a:tcPr>
                </a:tc>
                <a:tc>
                  <a:txBody>
                    <a:bodyPr wrap="square"/>
                    <a:lstStyle/>
                    <a:p>
                      <a:pPr algn="l">
                        <a:defRPr sz="650">
                          <a:solidFill>
                            <a:srgbClr val="1E242B"/>
                          </a:solidFill>
                          <a:latin typeface="Meiryo UI"/>
                        </a:defRPr>
                      </a:pPr>
                      <a:r>
                        <a:t>A7：エージングU950の工程見直し短縮およびオプション非接触検査</a:t>
                      </a:r>
                    </a:p>
                  </a:txBody>
                  <a:tcPr anchor="ctr" marL="36576" marR="36576" marT="9144" marB="9144">
                    <a:solidFill>
                      <a:srgbClr val="F7F9FC"/>
                    </a:solidFill>
                  </a:tcPr>
                </a:tc>
                <a:tc>
                  <a:txBody>
                    <a:bodyPr wrap="square"/>
                    <a:lstStyle/>
                    <a:p>
                      <a:pPr algn="l">
                        <a:defRPr sz="650">
                          <a:solidFill>
                            <a:srgbClr val="1E242B"/>
                          </a:solidFill>
                          <a:latin typeface="Meiryo UI"/>
                        </a:defRPr>
                      </a:pPr>
                      <a:r>
                        <a:t>K4におけるエージングU950が285秒を要し全工程中最大ボトルネック。K2でのオプション接続確認に90秒。</a:t>
                      </a:r>
                    </a:p>
                  </a:txBody>
                  <a:tcPr anchor="ctr" marL="36576" marR="36576" marT="9144" marB="9144">
                    <a:solidFill>
                      <a:srgbClr val="F7F9FC"/>
                    </a:solidFill>
                  </a:tcPr>
                </a:tc>
                <a:tc>
                  <a:txBody>
                    <a:bodyPr wrap="square"/>
                    <a:lstStyle/>
                    <a:p>
                      <a:pPr algn="l">
                        <a:defRPr sz="650">
                          <a:solidFill>
                            <a:srgbClr val="1E242B"/>
                          </a:solidFill>
                          <a:latin typeface="Meiryo UI"/>
                        </a:defRPr>
                      </a:pPr>
                      <a:r>
                        <a:t>エージングU950の技術条件を再検証し運転時間を短縮。オプション接続確認はFW自己診断によりケーブル挿抜なしで完結。</a:t>
                      </a:r>
                    </a:p>
                  </a:txBody>
                  <a:tcPr anchor="ctr" marL="36576" marR="36576" marT="9144" marB="9144">
                    <a:solidFill>
                      <a:srgbClr val="F7F9FC"/>
                    </a:solidFill>
                  </a:tcPr>
                </a:tc>
                <a:tc>
                  <a:txBody>
                    <a:bodyPr wrap="square"/>
                    <a:lstStyle/>
                    <a:p>
                      <a:pPr algn="l">
                        <a:defRPr sz="650">
                          <a:solidFill>
                            <a:srgbClr val="1E242B"/>
                          </a:solidFill>
                          <a:latin typeface="Meiryo UI"/>
                        </a:defRPr>
                      </a:pPr>
                      <a:r>
                        <a:t>• 285sエージング短縮</a:t>
                      </a:r>
                      <a:br/>
                      <a:r>
                        <a:t>• オプション接続工数短縮</a:t>
                      </a:r>
                    </a:p>
                  </a:txBody>
                  <a:tcPr anchor="ctr" marL="36576" marR="36576" marT="9144" marB="9144">
                    <a:solidFill>
                      <a:srgbClr val="F7F9FC"/>
                    </a:solidFill>
                  </a:tcPr>
                </a:tc>
                <a:tc>
                  <a:txBody>
                    <a:bodyPr wrap="square"/>
                    <a:lstStyle/>
                    <a:p>
                      <a:pPr algn="l">
                        <a:defRPr sz="650">
                          <a:solidFill>
                            <a:srgbClr val="1E242B"/>
                          </a:solidFill>
                          <a:latin typeface="Meiryo UI"/>
                        </a:defRPr>
                      </a:pPr>
                      <a:r>
                        <a:t>日本設計 ＆ 機構生技</a:t>
                      </a:r>
                      <a:br/>
                      <a:r>
                        <a:t>（検討中）</a:t>
                      </a:r>
                    </a:p>
                  </a:txBody>
                  <a:tcPr anchor="ctr" marL="36576" marR="36576" marT="9144" marB="9144">
                    <a:solidFill>
                      <a:srgbClr val="F7F9FC"/>
                    </a:solidFill>
                  </a:tcPr>
                </a:tc>
              </a:tr>
              <a:tr h="486294">
                <a:tc>
                  <a:txBody>
                    <a:bodyPr wrap="square"/>
                    <a:lstStyle/>
                    <a:p>
                      <a:pPr algn="ctr">
                        <a:defRPr sz="650" b="1">
                          <a:solidFill>
                            <a:srgbClr val="1E242B"/>
                          </a:solidFill>
                          <a:latin typeface="Meiryo UI"/>
                        </a:defRPr>
                      </a:pPr>
                      <a:r>
                        <a:t>No.33</a:t>
                      </a:r>
                      <a:br/>
                      <a:r>
                        <a:t>(A-3 / A-8)</a:t>
                      </a:r>
                    </a:p>
                  </a:txBody>
                  <a:tcPr anchor="ctr" marL="36576" marR="36576" marT="9144" marB="9144">
                    <a:solidFill>
                      <a:srgbClr val="FFFFFF"/>
                    </a:solidFill>
                  </a:tcPr>
                </a:tc>
                <a:tc>
                  <a:txBody>
                    <a:bodyPr wrap="square"/>
                    <a:lstStyle/>
                    <a:p>
                      <a:pPr algn="l">
                        <a:defRPr sz="650">
                          <a:solidFill>
                            <a:srgbClr val="1E242B"/>
                          </a:solidFill>
                          <a:latin typeface="Meiryo UI"/>
                        </a:defRPr>
                      </a:pPr>
                      <a:r>
                        <a:t>A8：RCG Ledger直角度確認をColor Registへ統合 -&gt; Ledger廃止</a:t>
                      </a:r>
                    </a:p>
                  </a:txBody>
                  <a:tcPr anchor="ctr" marL="36576" marR="36576" marT="9144" marB="9144">
                    <a:solidFill>
                      <a:srgbClr val="FFFFFF"/>
                    </a:solidFill>
                  </a:tcPr>
                </a:tc>
                <a:tc>
                  <a:txBody>
                    <a:bodyPr wrap="square"/>
                    <a:lstStyle/>
                    <a:p>
                      <a:pPr algn="l">
                        <a:defRPr sz="650">
                          <a:solidFill>
                            <a:srgbClr val="1E242B"/>
                          </a:solidFill>
                          <a:latin typeface="Meiryo UI"/>
                        </a:defRPr>
                      </a:pPr>
                      <a:r>
                        <a:t>KDA/Inch仕向け用にRCG Ledgerを別印刷して直角度を測定（K5にて20s～32s）。K3にて外装カバー6枚を組付け（48.32s～90s）。</a:t>
                      </a:r>
                    </a:p>
                  </a:txBody>
                  <a:tcPr anchor="ctr" marL="36576" marR="36576" marT="9144" marB="9144">
                    <a:solidFill>
                      <a:srgbClr val="FFFFFF"/>
                    </a:solidFill>
                  </a:tcPr>
                </a:tc>
                <a:tc>
                  <a:txBody>
                    <a:bodyPr wrap="square"/>
                    <a:lstStyle/>
                    <a:p>
                      <a:pPr algn="l">
                        <a:defRPr sz="650">
                          <a:solidFill>
                            <a:srgbClr val="1E242B"/>
                          </a:solidFill>
                          <a:latin typeface="Meiryo UI"/>
                        </a:defRPr>
                      </a:pPr>
                      <a:r>
                        <a:t>Ledgerサイズの直角度測定パターンをRCG Color Registへ統合し、RCG Ledger印刷を廃止。カバー6枚組付けは本体組立工程へ移管。</a:t>
                      </a:r>
                    </a:p>
                  </a:txBody>
                  <a:tcPr anchor="ctr" marL="36576" marR="36576" marT="9144" marB="9144">
                    <a:solidFill>
                      <a:srgbClr val="FFFFFF"/>
                    </a:solidFill>
                  </a:tcPr>
                </a:tc>
                <a:tc>
                  <a:txBody>
                    <a:bodyPr wrap="square"/>
                    <a:lstStyle/>
                    <a:p>
                      <a:pPr algn="l">
                        <a:defRPr sz="650">
                          <a:solidFill>
                            <a:srgbClr val="1E242B"/>
                          </a:solidFill>
                          <a:latin typeface="Meiryo UI"/>
                        </a:defRPr>
                      </a:pPr>
                      <a:r>
                        <a:t>• 印刷1枚削減（Ledger廃止）</a:t>
                      </a:r>
                      <a:br/>
                      <a:r>
                        <a:t>• カバー組付48s～90sを組立へ</a:t>
                      </a:r>
                    </a:p>
                  </a:txBody>
                  <a:tcPr anchor="ctr" marL="36576" marR="36576" marT="9144" marB="9144">
                    <a:solidFill>
                      <a:srgbClr val="FFFFFF"/>
                    </a:solidFill>
                  </a:tcPr>
                </a:tc>
                <a:tc>
                  <a:txBody>
                    <a:bodyPr wrap="square"/>
                    <a:lstStyle/>
                    <a:p>
                      <a:pPr algn="l">
                        <a:defRPr sz="650">
                          <a:solidFill>
                            <a:srgbClr val="1E242B"/>
                          </a:solidFill>
                          <a:latin typeface="Meiryo UI"/>
                        </a:defRPr>
                      </a:pPr>
                      <a:r>
                        <a:t>設計 / 品保 / 組立</a:t>
                      </a:r>
                      <a:br/>
                      <a:r>
                        <a:t>（工程DR合意済）</a:t>
                      </a:r>
                    </a:p>
                  </a:txBody>
                  <a:tcPr anchor="ctr" marL="36576" marR="36576" marT="9144" marB="9144">
                    <a:solidFill>
                      <a:srgbClr val="FFFFFF"/>
                    </a:solidFill>
                  </a:tcPr>
                </a:tc>
              </a:tr>
              <a:tr h="486294">
                <a:tc>
                  <a:txBody>
                    <a:bodyPr wrap="square"/>
                    <a:lstStyle/>
                    <a:p>
                      <a:pPr algn="ctr">
                        <a:defRPr sz="650" b="1">
                          <a:solidFill>
                            <a:srgbClr val="1E242B"/>
                          </a:solidFill>
                          <a:latin typeface="Meiryo UI"/>
                        </a:defRPr>
                      </a:pPr>
                      <a:r>
                        <a:t>No.34</a:t>
                      </a:r>
                      <a:br/>
                      <a:r>
                        <a:t>(A-3 / A-8)</a:t>
                      </a:r>
                    </a:p>
                  </a:txBody>
                  <a:tcPr anchor="ctr" marL="36576" marR="36576" marT="9144" marB="9144">
                    <a:solidFill>
                      <a:srgbClr val="EAF7EE"/>
                    </a:solidFill>
                  </a:tcPr>
                </a:tc>
                <a:tc>
                  <a:txBody>
                    <a:bodyPr wrap="square"/>
                    <a:lstStyle/>
                    <a:p>
                      <a:pPr algn="l">
                        <a:defRPr sz="650">
                          <a:solidFill>
                            <a:srgbClr val="1E242B"/>
                          </a:solidFill>
                          <a:latin typeface="Meiryo UI"/>
                        </a:defRPr>
                      </a:pPr>
                      <a:r>
                        <a:t>A8：RCG LSU SKEWをColor Registへ統合 -&gt; LSU Skew廃止</a:t>
                      </a:r>
                    </a:p>
                  </a:txBody>
                  <a:tcPr anchor="ctr" marL="36576" marR="36576" marT="9144" marB="9144">
                    <a:solidFill>
                      <a:srgbClr val="EAF7EE"/>
                    </a:solidFill>
                  </a:tcPr>
                </a:tc>
                <a:tc>
                  <a:txBody>
                    <a:bodyPr wrap="square"/>
                    <a:lstStyle/>
                    <a:p>
                      <a:pPr algn="l">
                        <a:defRPr sz="650">
                          <a:solidFill>
                            <a:srgbClr val="1E242B"/>
                          </a:solidFill>
                          <a:latin typeface="Meiryo UI"/>
                        </a:defRPr>
                      </a:pPr>
                      <a:r>
                        <a:t>K5にてRCG LSU Skewの印刷・調整に130秒（標準36.84s）。K3にてカセット1/2の用紙サイズ認識手動確認に65秒（標準66.68s）。</a:t>
                      </a:r>
                    </a:p>
                  </a:txBody>
                  <a:tcPr anchor="ctr" marL="36576" marR="36576" marT="9144" marB="9144">
                    <a:solidFill>
                      <a:srgbClr val="EAF7EE"/>
                    </a:solidFill>
                  </a:tcPr>
                </a:tc>
                <a:tc>
                  <a:txBody>
                    <a:bodyPr wrap="square"/>
                    <a:lstStyle/>
                    <a:p>
                      <a:pPr algn="l">
                        <a:defRPr sz="650">
                          <a:solidFill>
                            <a:srgbClr val="1E242B"/>
                          </a:solidFill>
                          <a:latin typeface="Meiryo UI"/>
                        </a:defRPr>
                      </a:pPr>
                      <a:r>
                        <a:t>LSU Skew測定パターンをRCG Color Registへ統合してLSU Skew印刷を廃止。Host PCからコマンド送信しカセットサイズを自動認識。</a:t>
                      </a:r>
                    </a:p>
                  </a:txBody>
                  <a:tcPr anchor="ctr" marL="36576" marR="36576" marT="9144" marB="9144">
                    <a:solidFill>
                      <a:srgbClr val="EAF7EE"/>
                    </a:solidFill>
                  </a:tcPr>
                </a:tc>
                <a:tc>
                  <a:txBody>
                    <a:bodyPr wrap="square"/>
                    <a:lstStyle/>
                    <a:p>
                      <a:pPr algn="l">
                        <a:defRPr sz="650">
                          <a:solidFill>
                            <a:srgbClr val="1E242B"/>
                          </a:solidFill>
                          <a:latin typeface="Meiryo UI"/>
                        </a:defRPr>
                      </a:pPr>
                      <a:r>
                        <a:t>• 印刷1枚削減（Skew廃止）</a:t>
                      </a:r>
                      <a:br/>
                      <a:r>
                        <a:t>• カセットサイズ認識 66.68s減</a:t>
                      </a:r>
                    </a:p>
                  </a:txBody>
                  <a:tcPr anchor="ctr" marL="36576" marR="36576" marT="9144" marB="9144">
                    <a:solidFill>
                      <a:srgbClr val="EAF7EE"/>
                    </a:solidFill>
                  </a:tcPr>
                </a:tc>
                <a:tc>
                  <a:txBody>
                    <a:bodyPr wrap="square"/>
                    <a:lstStyle/>
                    <a:p>
                      <a:pPr algn="l">
                        <a:defRPr sz="650">
                          <a:solidFill>
                            <a:srgbClr val="1E242B"/>
                          </a:solidFill>
                          <a:latin typeface="Meiryo UI"/>
                        </a:defRPr>
                      </a:pPr>
                      <a:r>
                        <a:t>日本設計 ＆ 機構生技</a:t>
                      </a:r>
                      <a:br/>
                      <a:r>
                        <a:t>（カセット自動化は先行）</a:t>
                      </a:r>
                    </a:p>
                  </a:txBody>
                  <a:tcPr anchor="ctr" marL="36576" marR="36576" marT="9144" marB="9144">
                    <a:solidFill>
                      <a:srgbClr val="EAF7EE"/>
                    </a:solidFill>
                  </a:tcPr>
                </a:tc>
              </a:tr>
              <a:tr h="486294">
                <a:tc>
                  <a:txBody>
                    <a:bodyPr wrap="square"/>
                    <a:lstStyle/>
                    <a:p>
                      <a:pPr algn="ctr">
                        <a:defRPr sz="650" b="1">
                          <a:solidFill>
                            <a:srgbClr val="1E242B"/>
                          </a:solidFill>
                          <a:latin typeface="Meiryo UI"/>
                        </a:defRPr>
                      </a:pPr>
                      <a:r>
                        <a:t>No.35</a:t>
                      </a:r>
                      <a:br/>
                      <a:r>
                        <a:t>(A-4 / A-8)</a:t>
                      </a:r>
                    </a:p>
                  </a:txBody>
                  <a:tcPr anchor="ctr" marL="36576" marR="36576" marT="9144" marB="9144">
                    <a:solidFill>
                      <a:srgbClr val="FFFFFF"/>
                    </a:solidFill>
                  </a:tcPr>
                </a:tc>
                <a:tc>
                  <a:txBody>
                    <a:bodyPr wrap="square"/>
                    <a:lstStyle/>
                    <a:p>
                      <a:pPr algn="l">
                        <a:defRPr sz="650">
                          <a:solidFill>
                            <a:srgbClr val="1E242B"/>
                          </a:solidFill>
                          <a:latin typeface="Meiryo UI"/>
                        </a:defRPr>
                      </a:pPr>
                      <a:r>
                        <a:t>A8：U410 Halftoneキャリブレーション一括自動化</a:t>
                      </a:r>
                    </a:p>
                  </a:txBody>
                  <a:tcPr anchor="ctr" marL="36576" marR="36576" marT="9144" marB="9144">
                    <a:solidFill>
                      <a:srgbClr val="FFFFFF"/>
                    </a:solidFill>
                  </a:tcPr>
                </a:tc>
                <a:tc>
                  <a:txBody>
                    <a:bodyPr wrap="square"/>
                    <a:lstStyle/>
                    <a:p>
                      <a:pPr algn="l">
                        <a:defRPr sz="650">
                          <a:solidFill>
                            <a:srgbClr val="1E242B"/>
                          </a:solidFill>
                          <a:latin typeface="Meiryo UI"/>
                        </a:defRPr>
                      </a:pPr>
                      <a:r>
                        <a:t>K5におけるHalftone U410調整（110s）時、キャリブレーションとHalftone測定を別々に画面タップしている。</a:t>
                      </a:r>
                    </a:p>
                  </a:txBody>
                  <a:tcPr anchor="ctr" marL="36576" marR="36576" marT="9144" marB="9144">
                    <a:solidFill>
                      <a:srgbClr val="FFFFFF"/>
                    </a:solidFill>
                  </a:tcPr>
                </a:tc>
                <a:tc>
                  <a:txBody>
                    <a:bodyPr wrap="square"/>
                    <a:lstStyle/>
                    <a:p>
                      <a:pPr algn="l">
                        <a:defRPr sz="650">
                          <a:solidFill>
                            <a:srgbClr val="1E242B"/>
                          </a:solidFill>
                          <a:latin typeface="Meiryo UI"/>
                        </a:defRPr>
                      </a:pPr>
                      <a:r>
                        <a:t>Halftone調整実行時にキャリブレーションシーケンスを1つの自動コマンドへ統合し、手動操作と待ち時間を解消。</a:t>
                      </a:r>
                    </a:p>
                  </a:txBody>
                  <a:tcPr anchor="ctr" marL="36576" marR="36576" marT="9144" marB="9144">
                    <a:solidFill>
                      <a:srgbClr val="FFFFFF"/>
                    </a:solidFill>
                  </a:tcPr>
                </a:tc>
                <a:tc>
                  <a:txBody>
                    <a:bodyPr wrap="square"/>
                    <a:lstStyle/>
                    <a:p>
                      <a:pPr algn="l">
                        <a:defRPr sz="650">
                          <a:solidFill>
                            <a:srgbClr val="1E242B"/>
                          </a:solidFill>
                          <a:latin typeface="Meiryo UI"/>
                        </a:defRPr>
                      </a:pPr>
                      <a:r>
                        <a:t>• U410 110秒工数を短縮</a:t>
                      </a:r>
                      <a:br/>
                      <a:r>
                        <a:t>（現場設備費 0 円）</a:t>
                      </a:r>
                    </a:p>
                  </a:txBody>
                  <a:tcPr anchor="ctr" marL="36576" marR="36576" marT="9144" marB="9144">
                    <a:solidFill>
                      <a:srgbClr val="FFFFFF"/>
                    </a:solidFill>
                  </a:tcPr>
                </a:tc>
                <a:tc>
                  <a:txBody>
                    <a:bodyPr wrap="square"/>
                    <a:lstStyle/>
                    <a:p>
                      <a:pPr algn="l">
                        <a:defRPr sz="650">
                          <a:solidFill>
                            <a:srgbClr val="1E242B"/>
                          </a:solidFill>
                          <a:latin typeface="Meiryo UI"/>
                        </a:defRPr>
                      </a:pPr>
                      <a:r>
                        <a:t>日本ソフト設計</a:t>
                      </a:r>
                      <a:br/>
                      <a:r>
                        <a:t>（確認中）</a:t>
                      </a:r>
                    </a:p>
                  </a:txBody>
                  <a:tcPr anchor="ctr" marL="36576" marR="36576" marT="9144" marB="9144">
                    <a:solidFill>
                      <a:srgbClr val="FFFFFF"/>
                    </a:solidFill>
                  </a:tcPr>
                </a:tc>
              </a:tr>
              <a:tr h="486294">
                <a:tc>
                  <a:txBody>
                    <a:bodyPr wrap="square"/>
                    <a:lstStyle/>
                    <a:p>
                      <a:pPr algn="ctr">
                        <a:defRPr sz="650" b="1">
                          <a:solidFill>
                            <a:srgbClr val="1E242B"/>
                          </a:solidFill>
                          <a:latin typeface="Meiryo UI"/>
                        </a:defRPr>
                      </a:pPr>
                      <a:r>
                        <a:t>No.36</a:t>
                      </a:r>
                      <a:br/>
                      <a:r>
                        <a:t>(A-4 / A-8)</a:t>
                      </a:r>
                    </a:p>
                  </a:txBody>
                  <a:tcPr anchor="ctr" marL="36576" marR="36576" marT="9144" marB="9144">
                    <a:solidFill>
                      <a:srgbClr val="EAF7EE"/>
                    </a:solidFill>
                  </a:tcPr>
                </a:tc>
                <a:tc>
                  <a:txBody>
                    <a:bodyPr wrap="square"/>
                    <a:lstStyle/>
                    <a:p>
                      <a:pPr algn="l">
                        <a:defRPr sz="650">
                          <a:solidFill>
                            <a:srgbClr val="1E242B"/>
                          </a:solidFill>
                          <a:latin typeface="Meiryo UI"/>
                        </a:defRPr>
                      </a:pPr>
                      <a:r>
                        <a:t>A8：Halftone MonoをCheck Blackへ統合 -&gt; Mono廃止</a:t>
                      </a:r>
                    </a:p>
                  </a:txBody>
                  <a:tcPr anchor="ctr" marL="36576" marR="36576" marT="9144" marB="9144">
                    <a:solidFill>
                      <a:srgbClr val="EAF7EE"/>
                    </a:solidFill>
                  </a:tcPr>
                </a:tc>
                <a:tc>
                  <a:txBody>
                    <a:bodyPr wrap="square"/>
                    <a:lstStyle/>
                    <a:p>
                      <a:pPr algn="l">
                        <a:defRPr sz="650">
                          <a:solidFill>
                            <a:srgbClr val="1E242B"/>
                          </a:solidFill>
                          <a:latin typeface="Meiryo UI"/>
                        </a:defRPr>
                      </a:pPr>
                      <a:r>
                        <a:t>白黒グラデーション確認のためHalftone Monoを別印刷。右カバー開閉確認のため手動でドアを開閉（-8.88s）。</a:t>
                      </a:r>
                    </a:p>
                  </a:txBody>
                  <a:tcPr anchor="ctr" marL="36576" marR="36576" marT="9144" marB="9144">
                    <a:solidFill>
                      <a:srgbClr val="EAF7EE"/>
                    </a:solidFill>
                  </a:tcPr>
                </a:tc>
                <a:tc>
                  <a:txBody>
                    <a:bodyPr wrap="square"/>
                    <a:lstStyle/>
                    <a:p>
                      <a:pPr algn="l">
                        <a:defRPr sz="650">
                          <a:solidFill>
                            <a:srgbClr val="1E242B"/>
                          </a:solidFill>
                          <a:latin typeface="Meiryo UI"/>
                        </a:defRPr>
                      </a:pPr>
                      <a:r>
                        <a:t>Halftone Mono検査項目をCheck Blackテストチャートへ統合し、Halftone Mono印刷を廃止。ドアスイッチはソフト自動検知へ統合。</a:t>
                      </a:r>
                    </a:p>
                  </a:txBody>
                  <a:tcPr anchor="ctr" marL="36576" marR="36576" marT="9144" marB="9144">
                    <a:solidFill>
                      <a:srgbClr val="EAF7EE"/>
                    </a:solidFill>
                  </a:tcPr>
                </a:tc>
                <a:tc>
                  <a:txBody>
                    <a:bodyPr wrap="square"/>
                    <a:lstStyle/>
                    <a:p>
                      <a:pPr algn="l">
                        <a:defRPr sz="650">
                          <a:solidFill>
                            <a:srgbClr val="1E242B"/>
                          </a:solidFill>
                          <a:latin typeface="Meiryo UI"/>
                        </a:defRPr>
                      </a:pPr>
                      <a:r>
                        <a:t>• 印刷1枚削減（Mono廃止）</a:t>
                      </a:r>
                      <a:br/>
                      <a:r>
                        <a:t>• ドアスイッチ手押し 8.88s減</a:t>
                      </a:r>
                    </a:p>
                  </a:txBody>
                  <a:tcPr anchor="ctr" marL="36576" marR="36576" marT="9144" marB="9144">
                    <a:solidFill>
                      <a:srgbClr val="EAF7EE"/>
                    </a:solidFill>
                  </a:tcPr>
                </a:tc>
                <a:tc>
                  <a:txBody>
                    <a:bodyPr wrap="square"/>
                    <a:lstStyle/>
                    <a:p>
                      <a:pPr algn="l">
                        <a:defRPr sz="650">
                          <a:solidFill>
                            <a:srgbClr val="1E242B"/>
                          </a:solidFill>
                          <a:latin typeface="Meiryo UI"/>
                        </a:defRPr>
                      </a:pPr>
                      <a:r>
                        <a:t>設計 / 品保（日本）</a:t>
                      </a:r>
                      <a:br/>
                      <a:r>
                        <a:t>（スイッチ検知は先行）</a:t>
                      </a:r>
                    </a:p>
                  </a:txBody>
                  <a:tcPr anchor="ctr" marL="36576" marR="36576" marT="9144" marB="9144">
                    <a:solidFill>
                      <a:srgbClr val="EAF7EE"/>
                    </a:solidFill>
                  </a:tcPr>
                </a:tc>
              </a:tr>
              <a:tr h="486294">
                <a:tc>
                  <a:txBody>
                    <a:bodyPr wrap="square"/>
                    <a:lstStyle/>
                    <a:p>
                      <a:pPr algn="ctr">
                        <a:defRPr sz="650" b="1">
                          <a:solidFill>
                            <a:srgbClr val="1E242B"/>
                          </a:solidFill>
                          <a:latin typeface="Meiryo UI"/>
                        </a:defRPr>
                      </a:pPr>
                      <a:r>
                        <a:t>No.37</a:t>
                      </a:r>
                      <a:br/>
                      <a:r>
                        <a:t>(A-4 / A-11)</a:t>
                      </a:r>
                    </a:p>
                  </a:txBody>
                  <a:tcPr anchor="ctr" marL="36576" marR="36576" marT="9144" marB="9144">
                    <a:solidFill>
                      <a:srgbClr val="FFFFFF"/>
                    </a:solidFill>
                  </a:tcPr>
                </a:tc>
                <a:tc>
                  <a:txBody>
                    <a:bodyPr wrap="square"/>
                    <a:lstStyle/>
                    <a:p>
                      <a:pPr algn="l">
                        <a:defRPr sz="650">
                          <a:solidFill>
                            <a:srgbClr val="1E242B"/>
                          </a:solidFill>
                          <a:latin typeface="Meiryo UI"/>
                        </a:defRPr>
                      </a:pPr>
                      <a:r>
                        <a:t>A11：RCGコピー確認の統合検討および転写ベルト蛇行測定の廃止</a:t>
                      </a:r>
                    </a:p>
                  </a:txBody>
                  <a:tcPr anchor="ctr" marL="36576" marR="36576" marT="9144" marB="9144">
                    <a:solidFill>
                      <a:srgbClr val="FFFFFF"/>
                    </a:solidFill>
                  </a:tcPr>
                </a:tc>
                <a:tc>
                  <a:txBody>
                    <a:bodyPr wrap="square"/>
                    <a:lstStyle/>
                    <a:p>
                      <a:pPr algn="l">
                        <a:defRPr sz="650">
                          <a:solidFill>
                            <a:srgbClr val="1E242B"/>
                          </a:solidFill>
                          <a:latin typeface="Meiryo UI"/>
                        </a:defRPr>
                      </a:pPr>
                      <a:r>
                        <a:t>K8にてRCGコピー確認を実施（60s）。K4にて転写ベルト蛇行を手動測定（5s～15.36s、ベトナムにて月1～2台のNG発生実績あり）。</a:t>
                      </a:r>
                    </a:p>
                  </a:txBody>
                  <a:tcPr anchor="ctr" marL="36576" marR="36576" marT="9144" marB="9144">
                    <a:solidFill>
                      <a:srgbClr val="FFFFFF"/>
                    </a:solidFill>
                  </a:tcPr>
                </a:tc>
                <a:tc>
                  <a:txBody>
                    <a:bodyPr wrap="square"/>
                    <a:lstStyle/>
                    <a:p>
                      <a:pPr algn="l">
                        <a:defRPr sz="650">
                          <a:solidFill>
                            <a:srgbClr val="1E242B"/>
                          </a:solidFill>
                          <a:latin typeface="Meiryo UI"/>
                        </a:defRPr>
                      </a:pPr>
                      <a:r>
                        <a:t>RCGコピー確認を前工程へ統合。転写ベルトは35°面取りプーリ＋新ベルト材質の量産適用によりCpk ≥ 1.33達成後に測定廃止。</a:t>
                      </a:r>
                    </a:p>
                  </a:txBody>
                  <a:tcPr anchor="ctr" marL="36576" marR="36576" marT="9144" marB="9144">
                    <a:solidFill>
                      <a:srgbClr val="FFFFFF"/>
                    </a:solidFill>
                  </a:tcPr>
                </a:tc>
                <a:tc>
                  <a:txBody>
                    <a:bodyPr wrap="square"/>
                    <a:lstStyle/>
                    <a:p>
                      <a:pPr algn="l">
                        <a:defRPr sz="650">
                          <a:solidFill>
                            <a:srgbClr val="1E242B"/>
                          </a:solidFill>
                          <a:latin typeface="Meiryo UI"/>
                        </a:defRPr>
                      </a:pPr>
                      <a:r>
                        <a:t>• コピー確認60s ＆ ベルト15s減</a:t>
                      </a:r>
                      <a:br/>
                      <a:r>
                        <a:t>（現場設備費 0 円）</a:t>
                      </a:r>
                    </a:p>
                  </a:txBody>
                  <a:tcPr anchor="ctr" marL="36576" marR="36576" marT="9144" marB="9144">
                    <a:solidFill>
                      <a:srgbClr val="FFFFFF"/>
                    </a:solidFill>
                  </a:tcPr>
                </a:tc>
                <a:tc>
                  <a:txBody>
                    <a:bodyPr wrap="square"/>
                    <a:lstStyle/>
                    <a:p>
                      <a:pPr algn="l">
                        <a:defRPr sz="650">
                          <a:solidFill>
                            <a:srgbClr val="1E242B"/>
                          </a:solidFill>
                          <a:latin typeface="Meiryo UI"/>
                        </a:defRPr>
                      </a:pPr>
                      <a:r>
                        <a:t>品保 ＆ 日本設計</a:t>
                      </a:r>
                      <a:br/>
                      <a:r>
                        <a:t>（新プーリ検証待ち）</a:t>
                      </a:r>
                    </a:p>
                  </a:txBody>
                  <a:tcPr anchor="ctr" marL="36576" marR="36576" marT="9144" marB="9144">
                    <a:solidFill>
                      <a:srgbClr val="FFFFFF"/>
                    </a:solidFill>
                  </a:tcPr>
                </a:tc>
              </a:tr>
              <a:tr h="486300">
                <a:tc>
                  <a:txBody>
                    <a:bodyPr wrap="square"/>
                    <a:lstStyle/>
                    <a:p>
                      <a:pPr algn="ctr">
                        <a:defRPr sz="650" b="1">
                          <a:solidFill>
                            <a:srgbClr val="1E242B"/>
                          </a:solidFill>
                          <a:latin typeface="Meiryo UI"/>
                        </a:defRPr>
                      </a:pPr>
                      <a:r>
                        <a:t>2026年10月度</a:t>
                      </a:r>
                      <a:br/>
                      <a:r>
                        <a:t>実績（確定）</a:t>
                      </a:r>
                    </a:p>
                  </a:txBody>
                  <a:tcPr anchor="ctr" marL="36576" marR="36576" marT="9144" marB="9144">
                    <a:solidFill>
                      <a:srgbClr val="E8EEF5"/>
                    </a:solidFill>
                  </a:tcPr>
                </a:tc>
                <a:tc>
                  <a:txBody>
                    <a:bodyPr wrap="square"/>
                    <a:lstStyle/>
                    <a:p>
                      <a:pPr algn="l">
                        <a:defRPr sz="650">
                          <a:solidFill>
                            <a:srgbClr val="1E242B"/>
                          </a:solidFill>
                          <a:latin typeface="Meiryo UI"/>
                        </a:defRPr>
                      </a:pPr>
                      <a:r>
                        <a:t>【2026年10月度 完了実績】 英語切替2ステップおよびトナー警告確認2ステップの作業票からの削除</a:t>
                      </a:r>
                    </a:p>
                  </a:txBody>
                  <a:tcPr anchor="ctr" marL="36576" marR="36576" marT="9144" marB="9144">
                    <a:solidFill>
                      <a:srgbClr val="E8EEF5"/>
                    </a:solidFill>
                  </a:tcPr>
                </a:tc>
                <a:tc>
                  <a:txBody>
                    <a:bodyPr wrap="square"/>
                    <a:lstStyle/>
                    <a:p>
                      <a:pPr algn="l">
                        <a:defRPr sz="650">
                          <a:solidFill>
                            <a:srgbClr val="1E242B"/>
                          </a:solidFill>
                          <a:latin typeface="Meiryo UI"/>
                        </a:defRPr>
                      </a:pPr>
                      <a:r>
                        <a:t>作業者が言語選択でEnglishをタップ（0.72s×2＝1.44s）、トナー警告表示の出現と消去を目視確認（1.44s×2＝2.88s）。</a:t>
                      </a:r>
                    </a:p>
                  </a:txBody>
                  <a:tcPr anchor="ctr" marL="36576" marR="36576" marT="9144" marB="9144">
                    <a:solidFill>
                      <a:srgbClr val="E8EEF5"/>
                    </a:solidFill>
                  </a:tcPr>
                </a:tc>
                <a:tc>
                  <a:txBody>
                    <a:bodyPr wrap="square"/>
                    <a:lstStyle/>
                    <a:p>
                      <a:pPr algn="l">
                        <a:defRPr sz="650">
                          <a:solidFill>
                            <a:srgbClr val="1E242B"/>
                          </a:solidFill>
                          <a:latin typeface="Meiryo UI"/>
                        </a:defRPr>
                      </a:pPr>
                      <a:r>
                        <a:t>手作業不要であることを実機検証・確認完了し、2026年10月度作業票（作業確実シート）から上記4ステップを正式に削除。</a:t>
                      </a:r>
                    </a:p>
                  </a:txBody>
                  <a:tcPr anchor="ctr" marL="36576" marR="36576" marT="9144" marB="9144">
                    <a:solidFill>
                      <a:srgbClr val="E8EEF5"/>
                    </a:solidFill>
                  </a:tcPr>
                </a:tc>
                <a:tc>
                  <a:txBody>
                    <a:bodyPr wrap="square"/>
                    <a:lstStyle/>
                    <a:p>
                      <a:pPr algn="l">
                        <a:defRPr sz="650">
                          <a:solidFill>
                            <a:srgbClr val="1E242B"/>
                          </a:solidFill>
                          <a:latin typeface="Meiryo UI"/>
                        </a:defRPr>
                      </a:pPr>
                      <a:r>
                        <a:t>• 実作業削減実績：</a:t>
                      </a:r>
                      <a:br/>
                      <a:r>
                        <a:t>  4.32 秒 / 台 削減</a:t>
                      </a:r>
                    </a:p>
                  </a:txBody>
                  <a:tcPr anchor="ctr" marL="36576" marR="36576" marT="9144" marB="9144">
                    <a:solidFill>
                      <a:srgbClr val="E8EEF5"/>
                    </a:solidFill>
                  </a:tcPr>
                </a:tc>
                <a:tc>
                  <a:txBody>
                    <a:bodyPr wrap="square"/>
                    <a:lstStyle/>
                    <a:p>
                      <a:pPr algn="l">
                        <a:defRPr sz="650">
                          <a:solidFill>
                            <a:srgbClr val="1E242B"/>
                          </a:solidFill>
                          <a:latin typeface="Meiryo UI"/>
                        </a:defRPr>
                      </a:pPr>
                      <a:r>
                        <a:t>KDTVN-PE-3</a:t>
                      </a:r>
                      <a:br/>
                      <a:r>
                        <a:t>（2026年10月度完了）</a:t>
                      </a:r>
                    </a:p>
                  </a:txBody>
                  <a:tcPr anchor="ctr" marL="36576" marR="36576" marT="9144" marB="9144">
                    <a:solidFill>
                      <a:srgbClr val="E8EEF5"/>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4.6 ロードマップ・効果</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改善前後の指標比較および量産（MP 2027年3月）に向けたPDCAロードマップ</a:t>
            </a:r>
          </a:p>
        </p:txBody>
      </p:sp>
      <p:sp>
        <p:nvSpPr>
          <p:cNvPr id="5" name="TextBox 4"/>
          <p:cNvSpPr txBox="1"/>
          <p:nvPr/>
        </p:nvSpPr>
        <p:spPr>
          <a:xfrm>
            <a:off x="11292840" y="109728"/>
            <a:ext cx="731520" cy="347472"/>
          </a:xfrm>
          <a:prstGeom prst="rect">
            <a:avLst/>
          </a:prstGeom>
          <a:noFill/>
        </p:spPr>
        <p:txBody>
          <a:bodyPr wrap="none">
            <a:spAutoFit/>
          </a:bodyPr>
          <a:lstStyle/>
          <a:p>
            <a:pPr algn="r">
              <a:defRPr sz="1000" b="1">
                <a:solidFill>
                  <a:srgbClr val="D0D8E8"/>
                </a:solidFill>
                <a:latin typeface="Meiryo UI"/>
              </a:defRPr>
            </a:pPr>
            <a:r>
              <a:t>11 / 15</a:t>
            </a:r>
          </a:p>
        </p:txBody>
      </p:sp>
      <p:sp>
        <p:nvSpPr>
          <p:cNvPr id="6" name="Rectangle 5"/>
          <p:cNvSpPr/>
          <p:nvPr/>
        </p:nvSpPr>
        <p:spPr>
          <a:xfrm>
            <a:off x="256032" y="640080"/>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rPr sz="1200" b="1">
                <a:solidFill>
                  <a:srgbClr val="1B365D"/>
                </a:solidFill>
                <a:latin typeface="Meiryo UI"/>
              </a:rPr>
              <a:t>■ DMT -&gt; PMT1（2026年12月）-&gt; PMT2（2027年2月）-&gt; MP（2027年3月）の計画推進により、労働生産性を2倍に向上（15.19 -&gt; ≥30.38台/人/日）、正味工数を50%削減し、現行ラインでの日産300台を確実に完遂する。</a:t>
            </a:r>
          </a:p>
        </p:txBody>
      </p:sp>
      <p:graphicFrame>
        <p:nvGraphicFramePr>
          <p:cNvPr id="7" name="Table 6"/>
          <p:cNvGraphicFramePr>
            <a:graphicFrameLocks noGrp="1"/>
          </p:cNvGraphicFramePr>
          <p:nvPr/>
        </p:nvGraphicFramePr>
        <p:xfrm>
          <a:off x="256032" y="1170432"/>
          <a:ext cx="6263640" cy="3291840"/>
        </p:xfrm>
        <a:graphic>
          <a:graphicData uri="http://schemas.openxmlformats.org/drawingml/2006/table">
            <a:tbl>
              <a:tblPr firstRow="1" bandRow="1">
                <a:tableStyleId>{5C22544A-7EE6-4342-B048-85BDC9FD1C3A}</a:tableStyleId>
              </a:tblPr>
              <a:tblGrid>
                <a:gridCol w="1554480"/>
                <a:gridCol w="1143000"/>
                <a:gridCol w="1188720"/>
                <a:gridCol w="1234440"/>
                <a:gridCol w="1143000"/>
              </a:tblGrid>
              <a:tr h="411480">
                <a:tc>
                  <a:txBody>
                    <a:bodyPr wrap="square"/>
                    <a:lstStyle/>
                    <a:p>
                      <a:pPr algn="ctr">
                        <a:defRPr sz="740" b="1">
                          <a:solidFill>
                            <a:srgbClr val="FFFFFF"/>
                          </a:solidFill>
                          <a:latin typeface="Meiryo UI"/>
                        </a:defRPr>
                      </a:pPr>
                      <a:r>
                        <a:t>評価指標</a:t>
                      </a:r>
                    </a:p>
                  </a:txBody>
                  <a:tcPr anchor="ctr" marL="36576" marR="36576" marT="9144" marB="9144">
                    <a:solidFill>
                      <a:srgbClr val="1B365D"/>
                    </a:solidFill>
                  </a:tcPr>
                </a:tc>
                <a:tc>
                  <a:txBody>
                    <a:bodyPr wrap="square"/>
                    <a:lstStyle/>
                    <a:p>
                      <a:pPr algn="ctr">
                        <a:defRPr sz="740" b="1">
                          <a:solidFill>
                            <a:srgbClr val="FFFFFF"/>
                          </a:solidFill>
                          <a:latin typeface="Meiryo UI"/>
                        </a:defRPr>
                      </a:pPr>
                      <a:r>
                        <a:t>現行 Iris2024</a:t>
                      </a:r>
                      <a:br/>
                      <a:r>
                        <a:t>（243台/日 実績）</a:t>
                      </a:r>
                    </a:p>
                  </a:txBody>
                  <a:tcPr anchor="ctr" marL="36576" marR="36576" marT="9144" marB="9144">
                    <a:solidFill>
                      <a:srgbClr val="1B365D"/>
                    </a:solidFill>
                  </a:tcPr>
                </a:tc>
                <a:tc>
                  <a:txBody>
                    <a:bodyPr wrap="square"/>
                    <a:lstStyle/>
                    <a:p>
                      <a:pPr algn="ctr">
                        <a:defRPr sz="740" b="1">
                          <a:solidFill>
                            <a:srgbClr val="FFFFFF"/>
                          </a:solidFill>
                          <a:latin typeface="Meiryo UI"/>
                        </a:defRPr>
                      </a:pPr>
                      <a:r>
                        <a:t>2026年10月度</a:t>
                      </a:r>
                      <a:br/>
                      <a:r>
                        <a:t>進捗実績（PDCA）</a:t>
                      </a:r>
                    </a:p>
                  </a:txBody>
                  <a:tcPr anchor="ctr" marL="36576" marR="36576" marT="9144" marB="9144">
                    <a:solidFill>
                      <a:srgbClr val="1B365D"/>
                    </a:solidFill>
                  </a:tcPr>
                </a:tc>
                <a:tc>
                  <a:txBody>
                    <a:bodyPr wrap="square"/>
                    <a:lstStyle/>
                    <a:p>
                      <a:pPr algn="ctr">
                        <a:defRPr sz="740" b="1">
                          <a:solidFill>
                            <a:srgbClr val="FFFFFF"/>
                          </a:solidFill>
                          <a:latin typeface="Meiryo UI"/>
                        </a:defRPr>
                      </a:pPr>
                      <a:r>
                        <a:t>IrisEXP 達成目標</a:t>
                      </a:r>
                      <a:br/>
                      <a:r>
                        <a:t>（300台/日 基準）</a:t>
                      </a:r>
                    </a:p>
                  </a:txBody>
                  <a:tcPr anchor="ctr" marL="36576" marR="36576" marT="9144" marB="9144">
                    <a:solidFill>
                      <a:srgbClr val="1B365D"/>
                    </a:solidFill>
                  </a:tcPr>
                </a:tc>
                <a:tc>
                  <a:txBody>
                    <a:bodyPr wrap="square"/>
                    <a:lstStyle/>
                    <a:p>
                      <a:pPr algn="ctr">
                        <a:defRPr sz="740" b="1">
                          <a:solidFill>
                            <a:srgbClr val="FFFFFF"/>
                          </a:solidFill>
                          <a:latin typeface="Meiryo UI"/>
                        </a:defRPr>
                      </a:pPr>
                      <a:r>
                        <a:t>改善効果・水準</a:t>
                      </a:r>
                    </a:p>
                  </a:txBody>
                  <a:tcPr anchor="ctr" marL="36576" marR="36576" marT="9144" marB="9144">
                    <a:solidFill>
                      <a:srgbClr val="1B365D"/>
                    </a:solidFill>
                  </a:tcPr>
                </a:tc>
              </a:tr>
              <a:tr h="411480">
                <a:tc>
                  <a:txBody>
                    <a:bodyPr wrap="square"/>
                    <a:lstStyle/>
                    <a:p>
                      <a:pPr algn="l">
                        <a:defRPr sz="680" b="1">
                          <a:solidFill>
                            <a:srgbClr val="1E242B"/>
                          </a:solidFill>
                          <a:latin typeface="Meiryo UI"/>
                        </a:defRPr>
                      </a:pPr>
                      <a:r>
                        <a:t>1. 最大機種標準作業時間</a:t>
                      </a:r>
                      <a:br/>
                      <a:r>
                        <a:t>【正味工数】</a:t>
                      </a:r>
                    </a:p>
                  </a:txBody>
                  <a:tcPr anchor="ctr" marL="36576" marR="36576" marT="9144" marB="9144">
                    <a:solidFill>
                      <a:srgbClr val="EAF7EE"/>
                    </a:solidFill>
                  </a:tcPr>
                </a:tc>
                <a:tc>
                  <a:txBody>
                    <a:bodyPr wrap="square"/>
                    <a:lstStyle/>
                    <a:p>
                      <a:pPr algn="ctr">
                        <a:defRPr sz="680">
                          <a:solidFill>
                            <a:srgbClr val="1E242B"/>
                          </a:solidFill>
                          <a:latin typeface="Meiryo UI"/>
                        </a:defRPr>
                      </a:pPr>
                      <a:r>
                        <a:t>1,083.00 秒/台</a:t>
                      </a:r>
                      <a:br/>
                      <a:r>
                        <a:t>（調整840s＋データ243s）</a:t>
                      </a:r>
                    </a:p>
                  </a:txBody>
                  <a:tcPr anchor="ctr" marL="36576" marR="36576" marT="9144" marB="9144">
                    <a:solidFill>
                      <a:srgbClr val="EAF7EE"/>
                    </a:solidFill>
                  </a:tcPr>
                </a:tc>
                <a:tc>
                  <a:txBody>
                    <a:bodyPr wrap="square"/>
                    <a:lstStyle/>
                    <a:p>
                      <a:pPr algn="ctr">
                        <a:defRPr sz="680">
                          <a:solidFill>
                            <a:srgbClr val="1E242B"/>
                          </a:solidFill>
                          <a:latin typeface="Meiryo UI"/>
                        </a:defRPr>
                      </a:pPr>
                      <a:r>
                        <a:t>工程表での削除確定：</a:t>
                      </a:r>
                      <a:br/>
                      <a:r>
                        <a:t>-176.8s ～ -267.7s</a:t>
                      </a:r>
                    </a:p>
                  </a:txBody>
                  <a:tcPr anchor="ctr" marL="36576" marR="36576" marT="9144" marB="9144">
                    <a:solidFill>
                      <a:srgbClr val="EAF7EE"/>
                    </a:solidFill>
                  </a:tcPr>
                </a:tc>
                <a:tc>
                  <a:txBody>
                    <a:bodyPr wrap="square"/>
                    <a:lstStyle/>
                    <a:p>
                      <a:pPr algn="ctr">
                        <a:defRPr sz="680">
                          <a:solidFill>
                            <a:srgbClr val="1E242B"/>
                          </a:solidFill>
                          <a:latin typeface="Meiryo UI"/>
                        </a:defRPr>
                      </a:pPr>
                      <a:r>
                        <a:t>≤ 541.50 秒/台</a:t>
                      </a:r>
                      <a:br/>
                      <a:r>
                        <a:t>（日本設計基準：591s）</a:t>
                      </a:r>
                    </a:p>
                  </a:txBody>
                  <a:tcPr anchor="ctr" marL="36576" marR="36576" marT="9144" marB="9144">
                    <a:solidFill>
                      <a:srgbClr val="EAF7EE"/>
                    </a:solidFill>
                  </a:tcPr>
                </a:tc>
                <a:tc>
                  <a:txBody>
                    <a:bodyPr wrap="square"/>
                    <a:lstStyle/>
                    <a:p>
                      <a:pPr algn="l">
                        <a:defRPr sz="680">
                          <a:solidFill>
                            <a:srgbClr val="1E242B"/>
                          </a:solidFill>
                          <a:latin typeface="Meiryo UI"/>
                        </a:defRPr>
                      </a:pPr>
                      <a:r>
                        <a:t>標準作業時間を</a:t>
                      </a:r>
                      <a:br/>
                      <a:r>
                        <a:t>50% 短縮</a:t>
                      </a:r>
                    </a:p>
                  </a:txBody>
                  <a:tcPr anchor="ctr" marL="36576" marR="36576" marT="9144" marB="9144">
                    <a:solidFill>
                      <a:srgbClr val="EAF7EE"/>
                    </a:solidFill>
                  </a:tcPr>
                </a:tc>
              </a:tr>
              <a:tr h="411480">
                <a:tc>
                  <a:txBody>
                    <a:bodyPr wrap="square"/>
                    <a:lstStyle/>
                    <a:p>
                      <a:pPr algn="l">
                        <a:defRPr sz="680" b="1">
                          <a:solidFill>
                            <a:srgbClr val="1E242B"/>
                          </a:solidFill>
                          <a:latin typeface="Meiryo UI"/>
                        </a:defRPr>
                      </a:pPr>
                      <a:r>
                        <a:t>2. 調整工程 総工数</a:t>
                      </a:r>
                      <a:br/>
                      <a:r>
                        <a:t>（エージング285s等含む）</a:t>
                      </a:r>
                    </a:p>
                  </a:txBody>
                  <a:tcPr anchor="ctr" marL="36576" marR="36576" marT="9144" marB="9144">
                    <a:solidFill>
                      <a:srgbClr val="F7F9FC"/>
                    </a:solidFill>
                  </a:tcPr>
                </a:tc>
                <a:tc>
                  <a:txBody>
                    <a:bodyPr wrap="square"/>
                    <a:lstStyle/>
                    <a:p>
                      <a:pPr algn="ctr">
                        <a:defRPr sz="680">
                          <a:solidFill>
                            <a:srgbClr val="1E242B"/>
                          </a:solidFill>
                          <a:latin typeface="Meiryo UI"/>
                        </a:defRPr>
                      </a:pPr>
                      <a:r>
                        <a:t>2,350.00 秒/台</a:t>
                      </a:r>
                      <a:br/>
                      <a:r>
                        <a:t>（K1～K8 総滞留）</a:t>
                      </a:r>
                    </a:p>
                  </a:txBody>
                  <a:tcPr anchor="ctr" marL="36576" marR="36576" marT="9144" marB="9144">
                    <a:solidFill>
                      <a:srgbClr val="F7F9FC"/>
                    </a:solidFill>
                  </a:tcPr>
                </a:tc>
                <a:tc>
                  <a:txBody>
                    <a:bodyPr wrap="square"/>
                    <a:lstStyle/>
                    <a:p>
                      <a:pPr algn="ctr">
                        <a:defRPr sz="680">
                          <a:solidFill>
                            <a:srgbClr val="1E242B"/>
                          </a:solidFill>
                          <a:latin typeface="Meiryo UI"/>
                        </a:defRPr>
                      </a:pPr>
                      <a:r>
                        <a:t>2,345.68 秒/台</a:t>
                      </a:r>
                      <a:br/>
                      <a:r>
                        <a:t>（4ステップ削除：-4.32s）</a:t>
                      </a:r>
                    </a:p>
                  </a:txBody>
                  <a:tcPr anchor="ctr" marL="36576" marR="36576" marT="9144" marB="9144">
                    <a:solidFill>
                      <a:srgbClr val="F7F9FC"/>
                    </a:solidFill>
                  </a:tcPr>
                </a:tc>
                <a:tc>
                  <a:txBody>
                    <a:bodyPr wrap="square"/>
                    <a:lstStyle/>
                    <a:p>
                      <a:pPr algn="ctr">
                        <a:defRPr sz="680">
                          <a:solidFill>
                            <a:srgbClr val="1E242B"/>
                          </a:solidFill>
                          <a:latin typeface="Meiryo UI"/>
                        </a:defRPr>
                      </a:pPr>
                      <a:r>
                        <a:t>≤ 1,175.00 秒/台</a:t>
                      </a:r>
                      <a:br/>
                      <a:r>
                        <a:t>（A-1～A-4 4ステーション）</a:t>
                      </a:r>
                    </a:p>
                  </a:txBody>
                  <a:tcPr anchor="ctr" marL="36576" marR="36576" marT="9144" marB="9144">
                    <a:solidFill>
                      <a:srgbClr val="F7F9FC"/>
                    </a:solidFill>
                  </a:tcPr>
                </a:tc>
                <a:tc>
                  <a:txBody>
                    <a:bodyPr wrap="square"/>
                    <a:lstStyle/>
                    <a:p>
                      <a:pPr algn="l">
                        <a:defRPr sz="680">
                          <a:solidFill>
                            <a:srgbClr val="1E242B"/>
                          </a:solidFill>
                          <a:latin typeface="Meiryo UI"/>
                        </a:defRPr>
                      </a:pPr>
                      <a:r>
                        <a:t>≥ 1,175.00 秒 削減</a:t>
                      </a:r>
                      <a:br/>
                      <a:r>
                        <a:t>（工数 50.0% 削減）</a:t>
                      </a:r>
                    </a:p>
                  </a:txBody>
                  <a:tcPr anchor="ctr" marL="36576" marR="36576" marT="9144" marB="9144">
                    <a:solidFill>
                      <a:srgbClr val="F7F9FC"/>
                    </a:solidFill>
                  </a:tcPr>
                </a:tc>
              </a:tr>
              <a:tr h="411480">
                <a:tc>
                  <a:txBody>
                    <a:bodyPr wrap="square"/>
                    <a:lstStyle/>
                    <a:p>
                      <a:pPr algn="l">
                        <a:defRPr sz="680" b="1">
                          <a:solidFill>
                            <a:srgbClr val="1E242B"/>
                          </a:solidFill>
                          <a:latin typeface="Meiryo UI"/>
                        </a:defRPr>
                      </a:pPr>
                      <a:r>
                        <a:t>3. ライン全体 作業者数</a:t>
                      </a:r>
                    </a:p>
                  </a:txBody>
                  <a:tcPr anchor="ctr" marL="36576" marR="36576" marT="9144" marB="9144">
                    <a:solidFill>
                      <a:srgbClr val="EAF7EE"/>
                    </a:solidFill>
                  </a:tcPr>
                </a:tc>
                <a:tc>
                  <a:txBody>
                    <a:bodyPr wrap="square"/>
                    <a:lstStyle/>
                    <a:p>
                      <a:pPr algn="ctr">
                        <a:defRPr sz="680">
                          <a:solidFill>
                            <a:srgbClr val="1E242B"/>
                          </a:solidFill>
                          <a:latin typeface="Meiryo UI"/>
                        </a:defRPr>
                      </a:pPr>
                      <a:r>
                        <a:t>16 名（作業者）</a:t>
                      </a:r>
                      <a:br/>
                      <a:r>
                        <a:t>（調整7名＋画像9名）</a:t>
                      </a:r>
                    </a:p>
                  </a:txBody>
                  <a:tcPr anchor="ctr" marL="36576" marR="36576" marT="9144" marB="9144">
                    <a:solidFill>
                      <a:srgbClr val="EAF7EE"/>
                    </a:solidFill>
                  </a:tcPr>
                </a:tc>
                <a:tc>
                  <a:txBody>
                    <a:bodyPr wrap="square"/>
                    <a:lstStyle/>
                    <a:p>
                      <a:pPr algn="ctr">
                        <a:defRPr sz="680">
                          <a:solidFill>
                            <a:srgbClr val="1E242B"/>
                          </a:solidFill>
                          <a:latin typeface="Meiryo UI"/>
                        </a:defRPr>
                      </a:pPr>
                      <a:r>
                        <a:t>16 名（作業者）</a:t>
                      </a:r>
                      <a:br/>
                      <a:r>
                        <a:t>（現行並行稼働中）</a:t>
                      </a:r>
                    </a:p>
                  </a:txBody>
                  <a:tcPr anchor="ctr" marL="36576" marR="36576" marT="9144" marB="9144">
                    <a:solidFill>
                      <a:srgbClr val="EAF7EE"/>
                    </a:solidFill>
                  </a:tcPr>
                </a:tc>
                <a:tc>
                  <a:txBody>
                    <a:bodyPr wrap="square"/>
                    <a:lstStyle/>
                    <a:p>
                      <a:pPr algn="ctr">
                        <a:defRPr sz="680">
                          <a:solidFill>
                            <a:srgbClr val="1E242B"/>
                          </a:solidFill>
                          <a:latin typeface="Meiryo UI"/>
                        </a:defRPr>
                      </a:pPr>
                      <a:r>
                        <a:t>8 ～ 9 名（作業者）</a:t>
                      </a:r>
                      <a:br/>
                      <a:r>
                        <a:t>（未改善試算18名から削減）</a:t>
                      </a:r>
                    </a:p>
                  </a:txBody>
                  <a:tcPr anchor="ctr" marL="36576" marR="36576" marT="9144" marB="9144">
                    <a:solidFill>
                      <a:srgbClr val="EAF7EE"/>
                    </a:solidFill>
                  </a:tcPr>
                </a:tc>
                <a:tc>
                  <a:txBody>
                    <a:bodyPr wrap="square"/>
                    <a:lstStyle/>
                    <a:p>
                      <a:pPr algn="l">
                        <a:defRPr sz="680">
                          <a:solidFill>
                            <a:srgbClr val="1E242B"/>
                          </a:solidFill>
                          <a:latin typeface="Meiryo UI"/>
                        </a:defRPr>
                      </a:pPr>
                      <a:r>
                        <a:t>作業者を半減</a:t>
                      </a:r>
                      <a:br/>
                      <a:r>
                        <a:t>（50% 省人化）</a:t>
                      </a:r>
                    </a:p>
                  </a:txBody>
                  <a:tcPr anchor="ctr" marL="36576" marR="36576" marT="9144" marB="9144">
                    <a:solidFill>
                      <a:srgbClr val="EAF7EE"/>
                    </a:solidFill>
                  </a:tcPr>
                </a:tc>
              </a:tr>
              <a:tr h="411480">
                <a:tc>
                  <a:txBody>
                    <a:bodyPr wrap="square"/>
                    <a:lstStyle/>
                    <a:p>
                      <a:pPr algn="l">
                        <a:defRPr sz="680" b="1">
                          <a:solidFill>
                            <a:srgbClr val="1E242B"/>
                          </a:solidFill>
                          <a:latin typeface="Meiryo UI"/>
                        </a:defRPr>
                      </a:pPr>
                      <a:r>
                        <a:t>4. 作業者1人当たり日産</a:t>
                      </a:r>
                      <a:br/>
                      <a:r>
                        <a:t>【労働生産性】</a:t>
                      </a:r>
                    </a:p>
                  </a:txBody>
                  <a:tcPr anchor="ctr" marL="36576" marR="36576" marT="9144" marB="9144">
                    <a:solidFill>
                      <a:srgbClr val="EAF7EE"/>
                    </a:solidFill>
                  </a:tcPr>
                </a:tc>
                <a:tc>
                  <a:txBody>
                    <a:bodyPr wrap="square"/>
                    <a:lstStyle/>
                    <a:p>
                      <a:pPr algn="ctr">
                        <a:defRPr sz="680">
                          <a:solidFill>
                            <a:srgbClr val="1E242B"/>
                          </a:solidFill>
                          <a:latin typeface="Meiryo UI"/>
                        </a:defRPr>
                      </a:pPr>
                      <a:r>
                        <a:t>15.19 台 / 人 / 日</a:t>
                      </a:r>
                      <a:br/>
                      <a:r>
                        <a:t>（243台 ÷ 16名）</a:t>
                      </a:r>
                    </a:p>
                  </a:txBody>
                  <a:tcPr anchor="ctr" marL="36576" marR="36576" marT="9144" marB="9144">
                    <a:solidFill>
                      <a:srgbClr val="EAF7EE"/>
                    </a:solidFill>
                  </a:tcPr>
                </a:tc>
                <a:tc>
                  <a:txBody>
                    <a:bodyPr wrap="square"/>
                    <a:lstStyle/>
                    <a:p>
                      <a:pPr algn="ctr">
                        <a:defRPr sz="680">
                          <a:solidFill>
                            <a:srgbClr val="1E242B"/>
                          </a:solidFill>
                          <a:latin typeface="Meiryo UI"/>
                        </a:defRPr>
                      </a:pPr>
                      <a:r>
                        <a:t>治具試作・</a:t>
                      </a:r>
                      <a:br/>
                      <a:r>
                        <a:t>ソフト統合検証中</a:t>
                      </a:r>
                    </a:p>
                  </a:txBody>
                  <a:tcPr anchor="ctr" marL="36576" marR="36576" marT="9144" marB="9144">
                    <a:solidFill>
                      <a:srgbClr val="EAF7EE"/>
                    </a:solidFill>
                  </a:tcPr>
                </a:tc>
                <a:tc>
                  <a:txBody>
                    <a:bodyPr wrap="square"/>
                    <a:lstStyle/>
                    <a:p>
                      <a:pPr algn="ctr">
                        <a:defRPr sz="680">
                          <a:solidFill>
                            <a:srgbClr val="1E242B"/>
                          </a:solidFill>
                          <a:latin typeface="Meiryo UI"/>
                        </a:defRPr>
                      </a:pPr>
                      <a:r>
                        <a:t>30.38 ～ 33.33 台/人/日</a:t>
                      </a:r>
                      <a:br/>
                      <a:r>
                        <a:t>（生産性2倍達成）</a:t>
                      </a:r>
                    </a:p>
                  </a:txBody>
                  <a:tcPr anchor="ctr" marL="36576" marR="36576" marT="9144" marB="9144">
                    <a:solidFill>
                      <a:srgbClr val="EAF7EE"/>
                    </a:solidFill>
                  </a:tcPr>
                </a:tc>
                <a:tc>
                  <a:txBody>
                    <a:bodyPr wrap="square"/>
                    <a:lstStyle/>
                    <a:p>
                      <a:pPr algn="l">
                        <a:defRPr sz="680">
                          <a:solidFill>
                            <a:srgbClr val="1E242B"/>
                          </a:solidFill>
                          <a:latin typeface="Meiryo UI"/>
                        </a:defRPr>
                      </a:pPr>
                      <a:r>
                        <a:t>生産性 2 倍 向上</a:t>
                      </a:r>
                      <a:br/>
                      <a:r>
                        <a:t>現行ラインで生産確保</a:t>
                      </a:r>
                    </a:p>
                  </a:txBody>
                  <a:tcPr anchor="ctr" marL="36576" marR="36576" marT="9144" marB="9144">
                    <a:solidFill>
                      <a:srgbClr val="EAF7EE"/>
                    </a:solidFill>
                  </a:tcPr>
                </a:tc>
              </a:tr>
              <a:tr h="411480">
                <a:tc>
                  <a:txBody>
                    <a:bodyPr wrap="square"/>
                    <a:lstStyle/>
                    <a:p>
                      <a:pPr algn="l">
                        <a:defRPr sz="680" b="1">
                          <a:solidFill>
                            <a:srgbClr val="1E242B"/>
                          </a:solidFill>
                          <a:latin typeface="Meiryo UI"/>
                        </a:defRPr>
                      </a:pPr>
                      <a:r>
                        <a:t>5. テストチャート印刷枚数</a:t>
                      </a:r>
                      <a:br/>
                      <a:r>
                        <a:t>（Print ＆ Copy）</a:t>
                      </a:r>
                    </a:p>
                  </a:txBody>
                  <a:tcPr anchor="ctr" marL="36576" marR="36576" marT="9144" marB="9144">
                    <a:solidFill>
                      <a:srgbClr val="FFFFFF"/>
                    </a:solidFill>
                  </a:tcPr>
                </a:tc>
                <a:tc>
                  <a:txBody>
                    <a:bodyPr wrap="square"/>
                    <a:lstStyle/>
                    <a:p>
                      <a:pPr algn="ctr">
                        <a:defRPr sz="680">
                          <a:solidFill>
                            <a:srgbClr val="1E242B"/>
                          </a:solidFill>
                          <a:latin typeface="Meiryo UI"/>
                        </a:defRPr>
                      </a:pPr>
                      <a:r>
                        <a:t>Print：17 枚/台</a:t>
                      </a:r>
                      <a:br/>
                      <a:r>
                        <a:t>Copy：2 枚/台</a:t>
                      </a:r>
                    </a:p>
                  </a:txBody>
                  <a:tcPr anchor="ctr" marL="36576" marR="36576" marT="9144" marB="9144">
                    <a:solidFill>
                      <a:srgbClr val="FFFFFF"/>
                    </a:solidFill>
                  </a:tcPr>
                </a:tc>
                <a:tc>
                  <a:txBody>
                    <a:bodyPr wrap="square"/>
                    <a:lstStyle/>
                    <a:p>
                      <a:pPr algn="ctr">
                        <a:defRPr sz="680">
                          <a:solidFill>
                            <a:srgbClr val="1E242B"/>
                          </a:solidFill>
                          <a:latin typeface="Meiryo UI"/>
                        </a:defRPr>
                      </a:pPr>
                      <a:r>
                        <a:t>RC9＋RCG統合合意</a:t>
                      </a:r>
                      <a:br/>
                      <a:r>
                        <a:t>DC1＋Gray統合合意</a:t>
                      </a:r>
                    </a:p>
                  </a:txBody>
                  <a:tcPr anchor="ctr" marL="36576" marR="36576" marT="9144" marB="9144">
                    <a:solidFill>
                      <a:srgbClr val="FFFFFF"/>
                    </a:solidFill>
                  </a:tcPr>
                </a:tc>
                <a:tc>
                  <a:txBody>
                    <a:bodyPr wrap="square"/>
                    <a:lstStyle/>
                    <a:p>
                      <a:pPr algn="ctr">
                        <a:defRPr sz="680">
                          <a:solidFill>
                            <a:srgbClr val="1E242B"/>
                          </a:solidFill>
                          <a:latin typeface="Meiryo UI"/>
                        </a:defRPr>
                      </a:pPr>
                      <a:r>
                        <a:t>Print：9 枚/台</a:t>
                      </a:r>
                      <a:br/>
                      <a:r>
                        <a:t>Copy：1 枚/台</a:t>
                      </a:r>
                    </a:p>
                  </a:txBody>
                  <a:tcPr anchor="ctr" marL="36576" marR="36576" marT="9144" marB="9144">
                    <a:solidFill>
                      <a:srgbClr val="FFFFFF"/>
                    </a:solidFill>
                  </a:tcPr>
                </a:tc>
                <a:tc>
                  <a:txBody>
                    <a:bodyPr wrap="square"/>
                    <a:lstStyle/>
                    <a:p>
                      <a:pPr algn="l">
                        <a:defRPr sz="680">
                          <a:solidFill>
                            <a:srgbClr val="1E242B"/>
                          </a:solidFill>
                          <a:latin typeface="Meiryo UI"/>
                        </a:defRPr>
                      </a:pPr>
                      <a:r>
                        <a:t>Print 8枚削減（-47%）</a:t>
                      </a:r>
                      <a:br/>
                      <a:r>
                        <a:t>Copy 1枚削減（-50%）</a:t>
                      </a:r>
                    </a:p>
                  </a:txBody>
                  <a:tcPr anchor="ctr" marL="36576" marR="36576" marT="9144" marB="9144">
                    <a:solidFill>
                      <a:srgbClr val="FFFFFF"/>
                    </a:solidFill>
                  </a:tcPr>
                </a:tc>
              </a:tr>
              <a:tr h="411480">
                <a:tc>
                  <a:txBody>
                    <a:bodyPr wrap="square"/>
                    <a:lstStyle/>
                    <a:p>
                      <a:pPr algn="l">
                        <a:defRPr sz="680" b="1">
                          <a:solidFill>
                            <a:srgbClr val="1E242B"/>
                          </a:solidFill>
                          <a:latin typeface="Meiryo UI"/>
                        </a:defRPr>
                      </a:pPr>
                      <a:r>
                        <a:t>6. ケーブル・USB挿抜回数</a:t>
                      </a:r>
                    </a:p>
                  </a:txBody>
                  <a:tcPr anchor="ctr" marL="36576" marR="36576" marT="9144" marB="9144">
                    <a:solidFill>
                      <a:srgbClr val="F7F9FC"/>
                    </a:solidFill>
                  </a:tcPr>
                </a:tc>
                <a:tc>
                  <a:txBody>
                    <a:bodyPr wrap="square"/>
                    <a:lstStyle/>
                    <a:p>
                      <a:pPr algn="ctr">
                        <a:defRPr sz="680">
                          <a:solidFill>
                            <a:srgbClr val="1E242B"/>
                          </a:solidFill>
                          <a:latin typeface="Meiryo UI"/>
                        </a:defRPr>
                      </a:pPr>
                      <a:r>
                        <a:t>ケーブル 11回 挿抜</a:t>
                      </a:r>
                      <a:br/>
                      <a:r>
                        <a:t>USB 3回 挿抜/台</a:t>
                      </a:r>
                    </a:p>
                  </a:txBody>
                  <a:tcPr anchor="ctr" marL="36576" marR="36576" marT="9144" marB="9144">
                    <a:solidFill>
                      <a:srgbClr val="F7F9FC"/>
                    </a:solidFill>
                  </a:tcPr>
                </a:tc>
                <a:tc>
                  <a:txBody>
                    <a:bodyPr wrap="square"/>
                    <a:lstStyle/>
                    <a:p>
                      <a:pPr algn="ctr">
                        <a:defRPr sz="680">
                          <a:solidFill>
                            <a:srgbClr val="1E242B"/>
                          </a:solidFill>
                          <a:latin typeface="Meiryo UI"/>
                        </a:defRPr>
                      </a:pPr>
                      <a:r>
                        <a:t>Spica Mini PC仕様確定</a:t>
                      </a:r>
                      <a:br/>
                      <a:r>
                        <a:t>単独USB認識廃止合意</a:t>
                      </a:r>
                    </a:p>
                  </a:txBody>
                  <a:tcPr anchor="ctr" marL="36576" marR="36576" marT="9144" marB="9144">
                    <a:solidFill>
                      <a:srgbClr val="F7F9FC"/>
                    </a:solidFill>
                  </a:tcPr>
                </a:tc>
                <a:tc>
                  <a:txBody>
                    <a:bodyPr wrap="square"/>
                    <a:lstStyle/>
                    <a:p>
                      <a:pPr algn="ctr">
                        <a:defRPr sz="680">
                          <a:solidFill>
                            <a:srgbClr val="1E242B"/>
                          </a:solidFill>
                          <a:latin typeface="Meiryo UI"/>
                        </a:defRPr>
                      </a:pPr>
                      <a:r>
                        <a:t>投入時1回接続のみ</a:t>
                      </a:r>
                      <a:br/>
                      <a:r>
                        <a:t>＋LAN自動ログ転送</a:t>
                      </a:r>
                    </a:p>
                  </a:txBody>
                  <a:tcPr anchor="ctr" marL="36576" marR="36576" marT="9144" marB="9144">
                    <a:solidFill>
                      <a:srgbClr val="F7F9FC"/>
                    </a:solidFill>
                  </a:tcPr>
                </a:tc>
                <a:tc>
                  <a:txBody>
                    <a:bodyPr wrap="square"/>
                    <a:lstStyle/>
                    <a:p>
                      <a:pPr algn="l">
                        <a:defRPr sz="680">
                          <a:solidFill>
                            <a:srgbClr val="1E242B"/>
                          </a:solidFill>
                          <a:latin typeface="Meiryo UI"/>
                        </a:defRPr>
                      </a:pPr>
                      <a:r>
                        <a:t>手動挿抜 約11回 を</a:t>
                      </a:r>
                      <a:br/>
                      <a:r>
                        <a:t>完全排除</a:t>
                      </a:r>
                    </a:p>
                  </a:txBody>
                  <a:tcPr anchor="ctr" marL="36576" marR="36576" marT="9144" marB="9144">
                    <a:solidFill>
                      <a:srgbClr val="F7F9FC"/>
                    </a:solidFill>
                  </a:tcPr>
                </a:tc>
              </a:tr>
              <a:tr h="411480">
                <a:tc>
                  <a:txBody>
                    <a:bodyPr wrap="square"/>
                    <a:lstStyle/>
                    <a:p>
                      <a:pPr algn="l">
                        <a:defRPr sz="680" b="1">
                          <a:solidFill>
                            <a:srgbClr val="1E242B"/>
                          </a:solidFill>
                          <a:latin typeface="Meiryo UI"/>
                        </a:defRPr>
                      </a:pPr>
                      <a:r>
                        <a:t>7. KDTVN PDCA進捗率</a:t>
                      </a:r>
                      <a:br/>
                      <a:r>
                        <a:t>（目標 KDTVN-PE-3）</a:t>
                      </a:r>
                    </a:p>
                  </a:txBody>
                  <a:tcPr anchor="ctr" marL="36576" marR="36576" marT="9144" marB="9144">
                    <a:solidFill>
                      <a:srgbClr val="FEF7E6"/>
                    </a:solidFill>
                  </a:tcPr>
                </a:tc>
                <a:tc>
                  <a:txBody>
                    <a:bodyPr wrap="square"/>
                    <a:lstStyle/>
                    <a:p>
                      <a:pPr algn="ctr">
                        <a:defRPr sz="680">
                          <a:solidFill>
                            <a:srgbClr val="1E242B"/>
                          </a:solidFill>
                          <a:latin typeface="Meiryo UI"/>
                        </a:defRPr>
                      </a:pPr>
                      <a:r>
                        <a:t>8～9月：提案立案</a:t>
                      </a:r>
                      <a:br/>
                      <a:r>
                        <a:t>設備見積もり取得</a:t>
                      </a:r>
                    </a:p>
                  </a:txBody>
                  <a:tcPr anchor="ctr" marL="36576" marR="36576" marT="9144" marB="9144">
                    <a:solidFill>
                      <a:srgbClr val="FEF7E6"/>
                    </a:solidFill>
                  </a:tcPr>
                </a:tc>
                <a:tc>
                  <a:txBody>
                    <a:bodyPr wrap="square"/>
                    <a:lstStyle/>
                    <a:p>
                      <a:pPr algn="ctr">
                        <a:defRPr sz="680">
                          <a:solidFill>
                            <a:srgbClr val="1E242B"/>
                          </a:solidFill>
                          <a:latin typeface="Meiryo UI"/>
                        </a:defRPr>
                      </a:pPr>
                      <a:r>
                        <a:t>10月：-4.32s（0.18%）</a:t>
                      </a:r>
                      <a:br/>
                      <a:r>
                        <a:t>No.22 BOM見積完了</a:t>
                      </a:r>
                    </a:p>
                  </a:txBody>
                  <a:tcPr anchor="ctr" marL="36576" marR="36576" marT="9144" marB="9144">
                    <a:solidFill>
                      <a:srgbClr val="FEF7E6"/>
                    </a:solidFill>
                  </a:tcPr>
                </a:tc>
                <a:tc>
                  <a:txBody>
                    <a:bodyPr wrap="square"/>
                    <a:lstStyle/>
                    <a:p>
                      <a:pPr algn="ctr">
                        <a:defRPr sz="680">
                          <a:solidFill>
                            <a:srgbClr val="1E242B"/>
                          </a:solidFill>
                          <a:latin typeface="Meiryo UI"/>
                        </a:defRPr>
                      </a:pPr>
                      <a:r>
                        <a:t>11月:15% ｜ 12月(PMT1):30%</a:t>
                      </a:r>
                      <a:br/>
                      <a:r>
                        <a:t>1月:50% ｜ 3月(MP):100%</a:t>
                      </a:r>
                    </a:p>
                  </a:txBody>
                  <a:tcPr anchor="ctr" marL="36576" marR="36576" marT="9144" marB="9144">
                    <a:solidFill>
                      <a:srgbClr val="FEF7E6"/>
                    </a:solidFill>
                  </a:tcPr>
                </a:tc>
                <a:tc>
                  <a:txBody>
                    <a:bodyPr wrap="square"/>
                    <a:lstStyle/>
                    <a:p>
                      <a:pPr algn="l">
                        <a:defRPr sz="680">
                          <a:solidFill>
                            <a:srgbClr val="1E242B"/>
                          </a:solidFill>
                          <a:latin typeface="Meiryo UI"/>
                        </a:defRPr>
                      </a:pPr>
                      <a:r>
                        <a:t>MP（2027年3月）前</a:t>
                      </a:r>
                      <a:br/>
                      <a:r>
                        <a:t>に100%達成</a:t>
                      </a:r>
                    </a:p>
                  </a:txBody>
                  <a:tcPr anchor="ctr" marL="36576" marR="36576" marT="9144" marB="9144">
                    <a:solidFill>
                      <a:srgbClr val="FEF7E6"/>
                    </a:solidFill>
                  </a:tcPr>
                </a:tc>
              </a:tr>
            </a:tbl>
          </a:graphicData>
        </a:graphic>
      </p:graphicFrame>
      <p:pic>
        <p:nvPicPr>
          <p:cNvPr id="8" name="Picture 7" descr="chart_s11_before_after_pdca.png"/>
          <p:cNvPicPr>
            <a:picLocks noChangeAspect="1"/>
          </p:cNvPicPr>
          <p:nvPr/>
        </p:nvPicPr>
        <p:blipFill>
          <a:blip r:embed="rId2"/>
          <a:stretch>
            <a:fillRect/>
          </a:stretch>
        </p:blipFill>
        <p:spPr>
          <a:xfrm>
            <a:off x="6629400" y="1170432"/>
            <a:ext cx="5285232" cy="3665564"/>
          </a:xfrm>
          <a:prstGeom prst="rect">
            <a:avLst/>
          </a:prstGeom>
        </p:spPr>
      </p:pic>
      <p:graphicFrame>
        <p:nvGraphicFramePr>
          <p:cNvPr id="9" name="Table 8"/>
          <p:cNvGraphicFramePr>
            <a:graphicFrameLocks noGrp="1"/>
          </p:cNvGraphicFramePr>
          <p:nvPr/>
        </p:nvGraphicFramePr>
        <p:xfrm>
          <a:off x="256032" y="4572000"/>
          <a:ext cx="11679630" cy="1965960"/>
        </p:xfrm>
        <a:graphic>
          <a:graphicData uri="http://schemas.openxmlformats.org/drawingml/2006/table">
            <a:tbl>
              <a:tblPr firstRow="1" bandRow="1">
                <a:tableStyleId>{5C22544A-7EE6-4342-B048-85BDC9FD1C3A}</a:tableStyleId>
              </a:tblPr>
              <a:tblGrid>
                <a:gridCol w="1874519"/>
                <a:gridCol w="1508760"/>
                <a:gridCol w="1600200"/>
                <a:gridCol w="1691640"/>
                <a:gridCol w="1691640"/>
                <a:gridCol w="1691640"/>
                <a:gridCol w="1621231"/>
              </a:tblGrid>
              <a:tr h="393192">
                <a:tc>
                  <a:txBody>
                    <a:bodyPr wrap="square"/>
                    <a:lstStyle/>
                    <a:p>
                      <a:pPr algn="ctr">
                        <a:defRPr sz="720" b="1">
                          <a:solidFill>
                            <a:srgbClr val="FFFFFF"/>
                          </a:solidFill>
                          <a:latin typeface="Meiryo UI"/>
                        </a:defRPr>
                      </a:pPr>
                      <a:r>
                        <a:t>重点実施項目</a:t>
                      </a:r>
                    </a:p>
                  </a:txBody>
                  <a:tcPr anchor="ctr" marL="36576" marR="36576" marT="9144" marB="9144">
                    <a:solidFill>
                      <a:srgbClr val="1B365D"/>
                    </a:solidFill>
                  </a:tcPr>
                </a:tc>
                <a:tc>
                  <a:txBody>
                    <a:bodyPr wrap="square"/>
                    <a:lstStyle/>
                    <a:p>
                      <a:pPr algn="ctr">
                        <a:defRPr sz="720" b="1">
                          <a:solidFill>
                            <a:srgbClr val="FFFFFF"/>
                          </a:solidFill>
                          <a:latin typeface="Meiryo UI"/>
                        </a:defRPr>
                      </a:pPr>
                      <a:r>
                        <a:t>2026年 8～9月</a:t>
                      </a:r>
                      <a:br/>
                      <a:r>
                        <a:t>（DMT1 / 提案立案）</a:t>
                      </a:r>
                    </a:p>
                  </a:txBody>
                  <a:tcPr anchor="ctr" marL="36576" marR="36576" marT="9144" marB="9144">
                    <a:solidFill>
                      <a:srgbClr val="1B365D"/>
                    </a:solidFill>
                  </a:tcPr>
                </a:tc>
                <a:tc>
                  <a:txBody>
                    <a:bodyPr wrap="square"/>
                    <a:lstStyle/>
                    <a:p>
                      <a:pPr algn="ctr">
                        <a:defRPr sz="720" b="1">
                          <a:solidFill>
                            <a:srgbClr val="FFFFFF"/>
                          </a:solidFill>
                          <a:latin typeface="Meiryo UI"/>
                        </a:defRPr>
                      </a:pPr>
                      <a:r>
                        <a:t>2026年 10月</a:t>
                      </a:r>
                      <a:br/>
                      <a:r>
                        <a:t>（DMT2 / 見積精査）</a:t>
                      </a:r>
                    </a:p>
                  </a:txBody>
                  <a:tcPr anchor="ctr" marL="36576" marR="36576" marT="9144" marB="9144">
                    <a:solidFill>
                      <a:srgbClr val="1B365D"/>
                    </a:solidFill>
                  </a:tcPr>
                </a:tc>
                <a:tc>
                  <a:txBody>
                    <a:bodyPr wrap="square"/>
                    <a:lstStyle/>
                    <a:p>
                      <a:pPr algn="ctr">
                        <a:defRPr sz="720" b="1">
                          <a:solidFill>
                            <a:srgbClr val="FFFFFF"/>
                          </a:solidFill>
                          <a:latin typeface="Meiryo UI"/>
                        </a:defRPr>
                      </a:pPr>
                      <a:r>
                        <a:t>2026年 11月</a:t>
                      </a:r>
                      <a:br/>
                      <a:r>
                        <a:t>（工程DR / 治具製作）</a:t>
                      </a:r>
                    </a:p>
                  </a:txBody>
                  <a:tcPr anchor="ctr" marL="36576" marR="36576" marT="9144" marB="9144">
                    <a:solidFill>
                      <a:srgbClr val="1B365D"/>
                    </a:solidFill>
                  </a:tcPr>
                </a:tc>
                <a:tc>
                  <a:txBody>
                    <a:bodyPr wrap="square"/>
                    <a:lstStyle/>
                    <a:p>
                      <a:pPr algn="ctr">
                        <a:defRPr sz="720" b="1">
                          <a:solidFill>
                            <a:srgbClr val="FFFFFF"/>
                          </a:solidFill>
                          <a:latin typeface="Meiryo UI"/>
                        </a:defRPr>
                      </a:pPr>
                      <a:r>
                        <a:t>2026年 12月</a:t>
                      </a:r>
                      <a:br/>
                      <a:r>
                        <a:t>（PMT1 / 実機検証）</a:t>
                      </a:r>
                    </a:p>
                  </a:txBody>
                  <a:tcPr anchor="ctr" marL="36576" marR="36576" marT="9144" marB="9144">
                    <a:solidFill>
                      <a:srgbClr val="1B365D"/>
                    </a:solidFill>
                  </a:tcPr>
                </a:tc>
                <a:tc>
                  <a:txBody>
                    <a:bodyPr wrap="square"/>
                    <a:lstStyle/>
                    <a:p>
                      <a:pPr algn="ctr">
                        <a:defRPr sz="720" b="1">
                          <a:solidFill>
                            <a:srgbClr val="FFFFFF"/>
                          </a:solidFill>
                          <a:latin typeface="Meiryo UI"/>
                        </a:defRPr>
                      </a:pPr>
                      <a:r>
                        <a:t>2027年 1～2月</a:t>
                      </a:r>
                      <a:br/>
                      <a:r>
                        <a:t>（PMT2 / 最終検収）</a:t>
                      </a:r>
                    </a:p>
                  </a:txBody>
                  <a:tcPr anchor="ctr" marL="36576" marR="36576" marT="9144" marB="9144">
                    <a:solidFill>
                      <a:srgbClr val="1B365D"/>
                    </a:solidFill>
                  </a:tcPr>
                </a:tc>
                <a:tc>
                  <a:txBody>
                    <a:bodyPr wrap="square"/>
                    <a:lstStyle/>
                    <a:p>
                      <a:pPr algn="ctr">
                        <a:defRPr sz="720" b="1">
                          <a:solidFill>
                            <a:srgbClr val="FFFFFF"/>
                          </a:solidFill>
                          <a:latin typeface="Meiryo UI"/>
                        </a:defRPr>
                      </a:pPr>
                      <a:r>
                        <a:t>2027年 3月</a:t>
                      </a:r>
                      <a:br/>
                      <a:r>
                        <a:t>（MP / 量産移行）</a:t>
                      </a:r>
                    </a:p>
                  </a:txBody>
                  <a:tcPr anchor="ctr" marL="36576" marR="36576" marT="9144" marB="9144">
                    <a:solidFill>
                      <a:srgbClr val="1B365D"/>
                    </a:solidFill>
                  </a:tcPr>
                </a:tc>
              </a:tr>
              <a:tr h="393192">
                <a:tc>
                  <a:txBody>
                    <a:bodyPr wrap="square"/>
                    <a:lstStyle/>
                    <a:p>
                      <a:pPr algn="l">
                        <a:defRPr sz="660" b="1">
                          <a:solidFill>
                            <a:srgbClr val="1E242B"/>
                          </a:solidFill>
                          <a:latin typeface="Meiryo UI"/>
                        </a:defRPr>
                      </a:pPr>
                      <a:r>
                        <a:t>1. 工程設計・無駄作業排除</a:t>
                      </a:r>
                      <a:br/>
                      <a:r>
                        <a:t>（日本・中国・ベトナム）</a:t>
                      </a:r>
                    </a:p>
                  </a:txBody>
                  <a:tcPr anchor="ctr" marL="36576" marR="36576" marT="9144" marB="9144">
                    <a:solidFill>
                      <a:srgbClr val="E8EEF5"/>
                    </a:solidFill>
                  </a:tcPr>
                </a:tc>
                <a:tc>
                  <a:txBody>
                    <a:bodyPr wrap="square"/>
                    <a:lstStyle/>
                    <a:p>
                      <a:pPr algn="ctr">
                        <a:defRPr sz="660">
                          <a:solidFill>
                            <a:srgbClr val="1E242B"/>
                          </a:solidFill>
                          <a:latin typeface="Meiryo UI"/>
                        </a:defRPr>
                      </a:pPr>
                      <a:r>
                        <a:t>28-&gt;37提案立案</a:t>
                      </a:r>
                      <a:br/>
                      <a:r>
                        <a:t>生産性倍増目標合意</a:t>
                      </a:r>
                    </a:p>
                  </a:txBody>
                  <a:tcPr anchor="ctr" marL="36576" marR="36576" marT="9144" marB="9144">
                    <a:solidFill>
                      <a:srgbClr val="E8EEF5"/>
                    </a:solidFill>
                  </a:tcPr>
                </a:tc>
                <a:tc>
                  <a:txBody>
                    <a:bodyPr wrap="square"/>
                    <a:lstStyle/>
                    <a:p>
                      <a:pPr algn="ctr">
                        <a:defRPr sz="660">
                          <a:solidFill>
                            <a:srgbClr val="1E242B"/>
                          </a:solidFill>
                          <a:latin typeface="Meiryo UI"/>
                        </a:defRPr>
                      </a:pPr>
                      <a:r>
                        <a:t>38提案一元管理</a:t>
                      </a:r>
                      <a:br/>
                      <a:r>
                        <a:t>4ステップ削除(-4.32s)</a:t>
                      </a:r>
                    </a:p>
                  </a:txBody>
                  <a:tcPr anchor="ctr" marL="36576" marR="36576" marT="9144" marB="9144">
                    <a:solidFill>
                      <a:srgbClr val="E8EEF5"/>
                    </a:solidFill>
                  </a:tcPr>
                </a:tc>
                <a:tc>
                  <a:txBody>
                    <a:bodyPr wrap="square"/>
                    <a:lstStyle/>
                    <a:p>
                      <a:pPr algn="ctr">
                        <a:defRPr sz="660">
                          <a:solidFill>
                            <a:srgbClr val="1E242B"/>
                          </a:solidFill>
                          <a:latin typeface="Meiryo UI"/>
                        </a:defRPr>
                      </a:pPr>
                      <a:r>
                        <a:t>工程DR開催</a:t>
                      </a:r>
                      <a:br/>
                      <a:r>
                        <a:t>RCG/Skew/Ledger廃止確定</a:t>
                      </a:r>
                    </a:p>
                  </a:txBody>
                  <a:tcPr anchor="ctr" marL="36576" marR="36576" marT="9144" marB="9144">
                    <a:solidFill>
                      <a:srgbClr val="E8EEF5"/>
                    </a:solidFill>
                  </a:tcPr>
                </a:tc>
                <a:tc>
                  <a:txBody>
                    <a:bodyPr wrap="square"/>
                    <a:lstStyle/>
                    <a:p>
                      <a:pPr algn="ctr">
                        <a:defRPr sz="660">
                          <a:solidFill>
                            <a:srgbClr val="1E242B"/>
                          </a:solidFill>
                          <a:latin typeface="Meiryo UI"/>
                        </a:defRPr>
                      </a:pPr>
                      <a:r>
                        <a:t>PMT1試作機へA-1～A-4</a:t>
                      </a:r>
                      <a:br/>
                      <a:r>
                        <a:t>4ステーションSOP適用</a:t>
                      </a:r>
                    </a:p>
                  </a:txBody>
                  <a:tcPr anchor="ctr" marL="36576" marR="36576" marT="9144" marB="9144">
                    <a:solidFill>
                      <a:srgbClr val="E8EEF5"/>
                    </a:solidFill>
                  </a:tcPr>
                </a:tc>
                <a:tc>
                  <a:txBody>
                    <a:bodyPr wrap="square"/>
                    <a:lstStyle/>
                    <a:p>
                      <a:pPr algn="ctr">
                        <a:defRPr sz="660">
                          <a:solidFill>
                            <a:srgbClr val="1E242B"/>
                          </a:solidFill>
                          <a:latin typeface="Meiryo UI"/>
                        </a:defRPr>
                      </a:pPr>
                      <a:r>
                        <a:t>Cpk ≥ 1.33確認完了</a:t>
                      </a:r>
                      <a:br/>
                      <a:r>
                        <a:t>品保がベルト測定廃止承認</a:t>
                      </a:r>
                    </a:p>
                  </a:txBody>
                  <a:tcPr anchor="ctr" marL="36576" marR="36576" marT="9144" marB="9144">
                    <a:solidFill>
                      <a:srgbClr val="E8EEF5"/>
                    </a:solidFill>
                  </a:tcPr>
                </a:tc>
                <a:tc>
                  <a:txBody>
                    <a:bodyPr wrap="square"/>
                    <a:lstStyle/>
                    <a:p>
                      <a:pPr algn="ctr">
                        <a:defRPr sz="660">
                          <a:solidFill>
                            <a:srgbClr val="1E242B"/>
                          </a:solidFill>
                          <a:latin typeface="Meiryo UI"/>
                        </a:defRPr>
                      </a:pPr>
                      <a:r>
                        <a:t>タクト97秒（300台/日）</a:t>
                      </a:r>
                      <a:br/>
                      <a:r>
                        <a:t>正規量産稼働</a:t>
                      </a:r>
                    </a:p>
                  </a:txBody>
                  <a:tcPr anchor="ctr" marL="36576" marR="36576" marT="9144" marB="9144">
                    <a:solidFill>
                      <a:srgbClr val="E8EEF5"/>
                    </a:solidFill>
                  </a:tcPr>
                </a:tc>
              </a:tr>
              <a:tr h="393192">
                <a:tc>
                  <a:txBody>
                    <a:bodyPr wrap="square"/>
                    <a:lstStyle/>
                    <a:p>
                      <a:pPr algn="l">
                        <a:defRPr sz="660" b="1">
                          <a:solidFill>
                            <a:srgbClr val="1E242B"/>
                          </a:solidFill>
                          <a:latin typeface="Meiryo UI"/>
                        </a:defRPr>
                      </a:pPr>
                      <a:r>
                        <a:t>2. 治具・自動化設備製作</a:t>
                      </a:r>
                      <a:br/>
                      <a:r>
                        <a:t>（ベトナム工場）</a:t>
                      </a:r>
                    </a:p>
                  </a:txBody>
                  <a:tcPr anchor="ctr" marL="36576" marR="36576" marT="9144" marB="9144">
                    <a:solidFill>
                      <a:srgbClr val="EAF7EE"/>
                    </a:solidFill>
                  </a:tcPr>
                </a:tc>
                <a:tc>
                  <a:txBody>
                    <a:bodyPr wrap="square"/>
                    <a:lstStyle/>
                    <a:p>
                      <a:pPr algn="ctr">
                        <a:defRPr sz="660">
                          <a:solidFill>
                            <a:srgbClr val="1E242B"/>
                          </a:solidFill>
                          <a:latin typeface="Meiryo UI"/>
                        </a:defRPr>
                      </a:pPr>
                      <a:r>
                        <a:t>サプライヤー調査</a:t>
                      </a:r>
                      <a:br/>
                      <a:r>
                        <a:t>VN提案見積書作成</a:t>
                      </a:r>
                    </a:p>
                  </a:txBody>
                  <a:tcPr anchor="ctr" marL="36576" marR="36576" marT="9144" marB="9144">
                    <a:solidFill>
                      <a:srgbClr val="EAF7EE"/>
                    </a:solidFill>
                  </a:tcPr>
                </a:tc>
                <a:tc>
                  <a:txBody>
                    <a:bodyPr wrap="square"/>
                    <a:lstStyle/>
                    <a:p>
                      <a:pPr algn="ctr">
                        <a:defRPr sz="660">
                          <a:solidFill>
                            <a:srgbClr val="1E242B"/>
                          </a:solidFill>
                          <a:latin typeface="Meiryo UI"/>
                        </a:defRPr>
                      </a:pPr>
                      <a:r>
                        <a:t>No.22 BOM25項目精査</a:t>
                      </a:r>
                      <a:br/>
                      <a:r>
                        <a:t>（101.69M VND確定）</a:t>
                      </a:r>
                    </a:p>
                  </a:txBody>
                  <a:tcPr anchor="ctr" marL="36576" marR="36576" marT="9144" marB="9144">
                    <a:solidFill>
                      <a:srgbClr val="EAF7EE"/>
                    </a:solidFill>
                  </a:tcPr>
                </a:tc>
                <a:tc>
                  <a:txBody>
                    <a:bodyPr wrap="square"/>
                    <a:lstStyle/>
                    <a:p>
                      <a:pPr algn="ctr">
                        <a:defRPr sz="660">
                          <a:solidFill>
                            <a:srgbClr val="1E242B"/>
                          </a:solidFill>
                          <a:latin typeface="Meiryo UI"/>
                        </a:defRPr>
                      </a:pPr>
                      <a:r>
                        <a:t>No.22 予算決裁・着工</a:t>
                      </a:r>
                      <a:br/>
                      <a:r>
                        <a:t>カメラ/DP/治具見積確定</a:t>
                      </a:r>
                    </a:p>
                  </a:txBody>
                  <a:tcPr anchor="ctr" marL="36576" marR="36576" marT="9144" marB="9144">
                    <a:solidFill>
                      <a:srgbClr val="EAF7EE"/>
                    </a:solidFill>
                  </a:tcPr>
                </a:tc>
                <a:tc>
                  <a:txBody>
                    <a:bodyPr wrap="square"/>
                    <a:lstStyle/>
                    <a:p>
                      <a:pPr algn="ctr">
                        <a:defRPr sz="660">
                          <a:solidFill>
                            <a:srgbClr val="1E242B"/>
                          </a:solidFill>
                          <a:latin typeface="Meiryo UI"/>
                        </a:defRPr>
                      </a:pPr>
                      <a:r>
                        <a:t>No.22設備、No.27カメラ、</a:t>
                      </a:r>
                      <a:br/>
                      <a:r>
                        <a:t>DP給紙治具のライン据付</a:t>
                      </a:r>
                    </a:p>
                  </a:txBody>
                  <a:tcPr anchor="ctr" marL="36576" marR="36576" marT="9144" marB="9144">
                    <a:solidFill>
                      <a:srgbClr val="EAF7EE"/>
                    </a:solidFill>
                  </a:tcPr>
                </a:tc>
                <a:tc>
                  <a:txBody>
                    <a:bodyPr wrap="square"/>
                    <a:lstStyle/>
                    <a:p>
                      <a:pPr algn="ctr">
                        <a:defRPr sz="660">
                          <a:solidFill>
                            <a:srgbClr val="1E242B"/>
                          </a:solidFill>
                          <a:latin typeface="Meiryo UI"/>
                        </a:defRPr>
                      </a:pPr>
                      <a:r>
                        <a:t>設備調整・連動試験</a:t>
                      </a:r>
                      <a:br/>
                      <a:r>
                        <a:t>画像自動判定ソフト校正</a:t>
                      </a:r>
                    </a:p>
                  </a:txBody>
                  <a:tcPr anchor="ctr" marL="36576" marR="36576" marT="9144" marB="9144">
                    <a:solidFill>
                      <a:srgbClr val="EAF7EE"/>
                    </a:solidFill>
                  </a:tcPr>
                </a:tc>
                <a:tc>
                  <a:txBody>
                    <a:bodyPr wrap="square"/>
                    <a:lstStyle/>
                    <a:p>
                      <a:pPr algn="ctr">
                        <a:defRPr sz="660">
                          <a:solidFill>
                            <a:srgbClr val="1E242B"/>
                          </a:solidFill>
                          <a:latin typeface="Meiryo UI"/>
                        </a:defRPr>
                      </a:pPr>
                      <a:r>
                        <a:t>全自動化設備を</a:t>
                      </a:r>
                      <a:br/>
                      <a:r>
                        <a:t>製造部（MFG）へ移管</a:t>
                      </a:r>
                    </a:p>
                  </a:txBody>
                  <a:tcPr anchor="ctr" marL="36576" marR="36576" marT="9144" marB="9144">
                    <a:solidFill>
                      <a:srgbClr val="EAF7EE"/>
                    </a:solidFill>
                  </a:tcPr>
                </a:tc>
              </a:tr>
              <a:tr h="393192">
                <a:tc>
                  <a:txBody>
                    <a:bodyPr wrap="square"/>
                    <a:lstStyle/>
                    <a:p>
                      <a:pPr algn="l">
                        <a:defRPr sz="660" b="1">
                          <a:solidFill>
                            <a:srgbClr val="1E242B"/>
                          </a:solidFill>
                          <a:latin typeface="Meiryo UI"/>
                        </a:defRPr>
                      </a:pPr>
                      <a:r>
                        <a:t>3. 通信インフラ構築</a:t>
                      </a:r>
                      <a:br/>
                      <a:r>
                        <a:t>（Host PC ＋ Spica Mini PC）</a:t>
                      </a:r>
                    </a:p>
                  </a:txBody>
                  <a:tcPr anchor="ctr" marL="36576" marR="36576" marT="9144" marB="9144">
                    <a:solidFill>
                      <a:srgbClr val="FFFFFF"/>
                    </a:solidFill>
                  </a:tcPr>
                </a:tc>
                <a:tc>
                  <a:txBody>
                    <a:bodyPr wrap="square"/>
                    <a:lstStyle/>
                    <a:p>
                      <a:pPr algn="ctr">
                        <a:defRPr sz="660">
                          <a:solidFill>
                            <a:srgbClr val="1E242B"/>
                          </a:solidFill>
                          <a:latin typeface="Meiryo UI"/>
                        </a:defRPr>
                      </a:pPr>
                      <a:r>
                        <a:t>Athena（RasPi）と</a:t>
                      </a:r>
                      <a:br/>
                      <a:r>
                        <a:t>Spica（Mini PC）比較</a:t>
                      </a:r>
                    </a:p>
                  </a:txBody>
                  <a:tcPr anchor="ctr" marL="36576" marR="36576" marT="9144" marB="9144">
                    <a:solidFill>
                      <a:srgbClr val="FFFFFF"/>
                    </a:solidFill>
                  </a:tcPr>
                </a:tc>
                <a:tc>
                  <a:txBody>
                    <a:bodyPr wrap="square"/>
                    <a:lstStyle/>
                    <a:p>
                      <a:pPr algn="ctr">
                        <a:defRPr sz="660">
                          <a:solidFill>
                            <a:srgbClr val="1E242B"/>
                          </a:solidFill>
                          <a:latin typeface="Meiryo UI"/>
                        </a:defRPr>
                      </a:pPr>
                      <a:r>
                        <a:t>Spica Mini PC仮決定</a:t>
                      </a:r>
                      <a:br/>
                      <a:r>
                        <a:t>（1台で4台同時制御）</a:t>
                      </a:r>
                    </a:p>
                  </a:txBody>
                  <a:tcPr anchor="ctr" marL="36576" marR="36576" marT="9144" marB="9144">
                    <a:solidFill>
                      <a:srgbClr val="FFFFFF"/>
                    </a:solidFill>
                  </a:tcPr>
                </a:tc>
                <a:tc>
                  <a:txBody>
                    <a:bodyPr wrap="square"/>
                    <a:lstStyle/>
                    <a:p>
                      <a:pPr algn="ctr">
                        <a:defRPr sz="660">
                          <a:solidFill>
                            <a:srgbClr val="1E242B"/>
                          </a:solidFill>
                          <a:latin typeface="Meiryo UI"/>
                        </a:defRPr>
                      </a:pPr>
                      <a:r>
                        <a:t>有線LAN/VLAN設計</a:t>
                      </a:r>
                      <a:br/>
                      <a:r>
                        <a:t>FinalSetupコマンド検証</a:t>
                      </a:r>
                    </a:p>
                  </a:txBody>
                  <a:tcPr anchor="ctr" marL="36576" marR="36576" marT="9144" marB="9144">
                    <a:solidFill>
                      <a:srgbClr val="FFFFFF"/>
                    </a:solidFill>
                  </a:tcPr>
                </a:tc>
                <a:tc>
                  <a:txBody>
                    <a:bodyPr wrap="square"/>
                    <a:lstStyle/>
                    <a:p>
                      <a:pPr algn="ctr">
                        <a:defRPr sz="660">
                          <a:solidFill>
                            <a:srgbClr val="1E242B"/>
                          </a:solidFill>
                          <a:latin typeface="Meiryo UI"/>
                        </a:defRPr>
                      </a:pPr>
                      <a:r>
                        <a:t>自動ログ収集および</a:t>
                      </a:r>
                      <a:br/>
                      <a:r>
                        <a:t>Uxxxコマンド通信試運転</a:t>
                      </a:r>
                    </a:p>
                  </a:txBody>
                  <a:tcPr anchor="ctr" marL="36576" marR="36576" marT="9144" marB="9144">
                    <a:solidFill>
                      <a:srgbClr val="FFFFFF"/>
                    </a:solidFill>
                  </a:tcPr>
                </a:tc>
                <a:tc>
                  <a:txBody>
                    <a:bodyPr wrap="square"/>
                    <a:lstStyle/>
                    <a:p>
                      <a:pPr algn="ctr">
                        <a:defRPr sz="660">
                          <a:solidFill>
                            <a:srgbClr val="1E242B"/>
                          </a:solidFill>
                          <a:latin typeface="Meiryo UI"/>
                        </a:defRPr>
                      </a:pPr>
                      <a:r>
                        <a:t>日本・中国・ベトナム</a:t>
                      </a:r>
                      <a:br/>
                      <a:r>
                        <a:t>3拠点のデータベース同期</a:t>
                      </a:r>
                    </a:p>
                  </a:txBody>
                  <a:tcPr anchor="ctr" marL="36576" marR="36576" marT="9144" marB="9144">
                    <a:solidFill>
                      <a:srgbClr val="FFFFFF"/>
                    </a:solidFill>
                  </a:tcPr>
                </a:tc>
                <a:tc>
                  <a:txBody>
                    <a:bodyPr wrap="square"/>
                    <a:lstStyle/>
                    <a:p>
                      <a:pPr algn="ctr">
                        <a:defRPr sz="660">
                          <a:solidFill>
                            <a:srgbClr val="1E242B"/>
                          </a:solidFill>
                          <a:latin typeface="Meiryo UI"/>
                        </a:defRPr>
                      </a:pPr>
                      <a:r>
                        <a:t>本体保証工程</a:t>
                      </a:r>
                      <a:br/>
                      <a:r>
                        <a:t>ネットワーク完成</a:t>
                      </a:r>
                    </a:p>
                  </a:txBody>
                  <a:tcPr anchor="ctr" marL="36576" marR="36576" marT="9144" marB="9144">
                    <a:solidFill>
                      <a:srgbClr val="FFFFFF"/>
                    </a:solidFill>
                  </a:tcPr>
                </a:tc>
              </a:tr>
              <a:tr h="393192">
                <a:tc>
                  <a:txBody>
                    <a:bodyPr wrap="square"/>
                    <a:lstStyle/>
                    <a:p>
                      <a:pPr algn="l">
                        <a:defRPr sz="660" b="1">
                          <a:solidFill>
                            <a:srgbClr val="1E242B"/>
                          </a:solidFill>
                          <a:latin typeface="Meiryo UI"/>
                        </a:defRPr>
                      </a:pPr>
                      <a:r>
                        <a:t>4. 工数削減 累積進捗目標</a:t>
                      </a:r>
                      <a:br/>
                      <a:r>
                        <a:t>（管理表 KDTVN-PE-3）</a:t>
                      </a:r>
                    </a:p>
                  </a:txBody>
                  <a:tcPr anchor="ctr" marL="36576" marR="36576" marT="9144" marB="9144">
                    <a:solidFill>
                      <a:srgbClr val="FEF7E6"/>
                    </a:solidFill>
                  </a:tcPr>
                </a:tc>
                <a:tc>
                  <a:txBody>
                    <a:bodyPr wrap="square"/>
                    <a:lstStyle/>
                    <a:p>
                      <a:pPr algn="ctr">
                        <a:defRPr sz="660">
                          <a:solidFill>
                            <a:srgbClr val="1E242B"/>
                          </a:solidFill>
                          <a:latin typeface="Meiryo UI"/>
                        </a:defRPr>
                      </a:pPr>
                      <a:r>
                        <a:t>計画：1%（-23.5s）</a:t>
                      </a:r>
                    </a:p>
                  </a:txBody>
                  <a:tcPr anchor="ctr" marL="36576" marR="36576" marT="9144" marB="9144">
                    <a:solidFill>
                      <a:srgbClr val="FEF7E6"/>
                    </a:solidFill>
                  </a:tcPr>
                </a:tc>
                <a:tc>
                  <a:txBody>
                    <a:bodyPr wrap="square"/>
                    <a:lstStyle/>
                    <a:p>
                      <a:pPr algn="ctr">
                        <a:defRPr sz="660">
                          <a:solidFill>
                            <a:srgbClr val="1E242B"/>
                          </a:solidFill>
                          <a:latin typeface="Meiryo UI"/>
                        </a:defRPr>
                      </a:pPr>
                      <a:r>
                        <a:t>計画：3%（-47.0s）</a:t>
                      </a:r>
                      <a:br/>
                      <a:r>
                        <a:t>実績：-4.32s 確定</a:t>
                      </a:r>
                    </a:p>
                  </a:txBody>
                  <a:tcPr anchor="ctr" marL="36576" marR="36576" marT="9144" marB="9144">
                    <a:solidFill>
                      <a:srgbClr val="FEF7E6"/>
                    </a:solidFill>
                  </a:tcPr>
                </a:tc>
                <a:tc>
                  <a:txBody>
                    <a:bodyPr wrap="square"/>
                    <a:lstStyle/>
                    <a:p>
                      <a:pPr algn="ctr">
                        <a:defRPr sz="660">
                          <a:solidFill>
                            <a:srgbClr val="1E242B"/>
                          </a:solidFill>
                          <a:latin typeface="Meiryo UI"/>
                        </a:defRPr>
                      </a:pPr>
                      <a:r>
                        <a:t>目標：15%</a:t>
                      </a:r>
                      <a:br/>
                      <a:r>
                        <a:t>（累計 ≥ 282s 削減）</a:t>
                      </a:r>
                    </a:p>
                  </a:txBody>
                  <a:tcPr anchor="ctr" marL="36576" marR="36576" marT="9144" marB="9144">
                    <a:solidFill>
                      <a:srgbClr val="FEF7E6"/>
                    </a:solidFill>
                  </a:tcPr>
                </a:tc>
                <a:tc>
                  <a:txBody>
                    <a:bodyPr wrap="square"/>
                    <a:lstStyle/>
                    <a:p>
                      <a:pPr algn="ctr">
                        <a:defRPr sz="660">
                          <a:solidFill>
                            <a:srgbClr val="1E242B"/>
                          </a:solidFill>
                          <a:latin typeface="Meiryo UI"/>
                        </a:defRPr>
                      </a:pPr>
                      <a:r>
                        <a:t>目標：30%</a:t>
                      </a:r>
                      <a:br/>
                      <a:r>
                        <a:t>（累計 ≥ 705s 削減）</a:t>
                      </a:r>
                    </a:p>
                  </a:txBody>
                  <a:tcPr anchor="ctr" marL="36576" marR="36576" marT="9144" marB="9144">
                    <a:solidFill>
                      <a:srgbClr val="FEF7E6"/>
                    </a:solidFill>
                  </a:tcPr>
                </a:tc>
                <a:tc>
                  <a:txBody>
                    <a:bodyPr wrap="square"/>
                    <a:lstStyle/>
                    <a:p>
                      <a:pPr algn="ctr">
                        <a:defRPr sz="660">
                          <a:solidFill>
                            <a:srgbClr val="1E242B"/>
                          </a:solidFill>
                          <a:latin typeface="Meiryo UI"/>
                        </a:defRPr>
                      </a:pPr>
                      <a:r>
                        <a:t>1月: 50%（-1,175s）</a:t>
                      </a:r>
                      <a:br/>
                      <a:r>
                        <a:t>2月: 80%（-1,880s）</a:t>
                      </a:r>
                    </a:p>
                  </a:txBody>
                  <a:tcPr anchor="ctr" marL="36576" marR="36576" marT="9144" marB="9144">
                    <a:solidFill>
                      <a:srgbClr val="FEF7E6"/>
                    </a:solidFill>
                  </a:tcPr>
                </a:tc>
                <a:tc>
                  <a:txBody>
                    <a:bodyPr wrap="square"/>
                    <a:lstStyle/>
                    <a:p>
                      <a:pPr algn="ctr">
                        <a:defRPr sz="660">
                          <a:solidFill>
                            <a:srgbClr val="1E242B"/>
                          </a:solidFill>
                          <a:latin typeface="Meiryo UI"/>
                        </a:defRPr>
                      </a:pPr>
                      <a:r>
                        <a:t>全提案100%達成</a:t>
                      </a:r>
                      <a:br/>
                      <a:r>
                        <a:t>労働生産性2倍達成</a:t>
                      </a:r>
                    </a:p>
                  </a:txBody>
                  <a:tcPr anchor="ctr" marL="36576" marR="36576" marT="9144" marB="9144">
                    <a:solidFill>
                      <a:srgbClr val="FEF7E6"/>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参考資料 (1/4)</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3拠点（日本7・中国11・ベトナム20）全38改善提案の総合比較一覧</a:t>
            </a:r>
          </a:p>
        </p:txBody>
      </p:sp>
      <p:sp>
        <p:nvSpPr>
          <p:cNvPr id="5" name="TextBox 4"/>
          <p:cNvSpPr txBox="1"/>
          <p:nvPr/>
        </p:nvSpPr>
        <p:spPr>
          <a:xfrm>
            <a:off x="11292840" y="109728"/>
            <a:ext cx="731520" cy="347472"/>
          </a:xfrm>
          <a:prstGeom prst="rect">
            <a:avLst/>
          </a:prstGeom>
          <a:noFill/>
        </p:spPr>
        <p:txBody>
          <a:bodyPr wrap="none">
            <a:spAutoFit/>
          </a:bodyPr>
          <a:lstStyle/>
          <a:p>
            <a:pPr algn="r">
              <a:defRPr sz="1000" b="1">
                <a:solidFill>
                  <a:srgbClr val="D0D8E8"/>
                </a:solidFill>
                <a:latin typeface="Meiryo UI"/>
              </a:defRPr>
            </a:pPr>
            <a:r>
              <a:t>12 / 15</a:t>
            </a:r>
          </a:p>
        </p:txBody>
      </p:sp>
      <p:sp>
        <p:nvSpPr>
          <p:cNvPr id="6" name="Rectangle 5"/>
          <p:cNvSpPr/>
          <p:nvPr/>
        </p:nvSpPr>
        <p:spPr>
          <a:xfrm>
            <a:off x="256032" y="640080"/>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rPr sz="1200" b="1">
                <a:solidFill>
                  <a:srgbClr val="1B365D"/>
                </a:solidFill>
                <a:latin typeface="Meiryo UI"/>
              </a:rPr>
              <a:t>■ 3拠点（日本・中国・ベトナム）における改善提案数、工数削減効果、人員体制および設備投資試算の総合対照表。報告書末尾に参考資料として掲載。</a:t>
            </a:r>
          </a:p>
        </p:txBody>
      </p:sp>
      <p:graphicFrame>
        <p:nvGraphicFramePr>
          <p:cNvPr id="7" name="Table 6"/>
          <p:cNvGraphicFramePr>
            <a:graphicFrameLocks noGrp="1"/>
          </p:cNvGraphicFramePr>
          <p:nvPr/>
        </p:nvGraphicFramePr>
        <p:xfrm>
          <a:off x="256032" y="1170432"/>
          <a:ext cx="11679631" cy="4297680"/>
        </p:xfrm>
        <a:graphic>
          <a:graphicData uri="http://schemas.openxmlformats.org/drawingml/2006/table">
            <a:tbl>
              <a:tblPr firstRow="1" bandRow="1">
                <a:tableStyleId>{5C22544A-7EE6-4342-B048-85BDC9FD1C3A}</a:tableStyleId>
              </a:tblPr>
              <a:tblGrid>
                <a:gridCol w="1463040"/>
                <a:gridCol w="2194560"/>
                <a:gridCol w="2194560"/>
                <a:gridCol w="2578608"/>
                <a:gridCol w="1965960"/>
                <a:gridCol w="1282903"/>
              </a:tblGrid>
              <a:tr h="477520">
                <a:tc>
                  <a:txBody>
                    <a:bodyPr wrap="square"/>
                    <a:lstStyle/>
                    <a:p>
                      <a:pPr algn="ctr">
                        <a:defRPr sz="700" b="1">
                          <a:solidFill>
                            <a:srgbClr val="FFFFFF"/>
                          </a:solidFill>
                          <a:latin typeface="Meiryo UI"/>
                        </a:defRPr>
                      </a:pPr>
                      <a:r>
                        <a:t>対照指標</a:t>
                      </a:r>
                    </a:p>
                  </a:txBody>
                  <a:tcPr anchor="ctr" marL="36576" marR="36576" marT="9144" marB="9144">
                    <a:solidFill>
                      <a:srgbClr val="1B365D"/>
                    </a:solidFill>
                  </a:tcPr>
                </a:tc>
                <a:tc>
                  <a:txBody>
                    <a:bodyPr wrap="square"/>
                    <a:lstStyle/>
                    <a:p>
                      <a:pPr algn="ctr">
                        <a:defRPr sz="700" b="1">
                          <a:solidFill>
                            <a:srgbClr val="FFFFFF"/>
                          </a:solidFill>
                          <a:latin typeface="Meiryo UI"/>
                        </a:defRPr>
                      </a:pPr>
                      <a:r>
                        <a:t>日本（KDC）</a:t>
                      </a:r>
                    </a:p>
                  </a:txBody>
                  <a:tcPr anchor="ctr" marL="36576" marR="36576" marT="9144" marB="9144">
                    <a:solidFill>
                      <a:srgbClr val="1B365D"/>
                    </a:solidFill>
                  </a:tcPr>
                </a:tc>
                <a:tc>
                  <a:txBody>
                    <a:bodyPr wrap="square"/>
                    <a:lstStyle/>
                    <a:p>
                      <a:pPr algn="ctr">
                        <a:defRPr sz="700" b="1">
                          <a:solidFill>
                            <a:srgbClr val="FFFFFF"/>
                          </a:solidFill>
                          <a:latin typeface="Meiryo UI"/>
                        </a:defRPr>
                      </a:pPr>
                      <a:r>
                        <a:t>中国工場（CN）</a:t>
                      </a:r>
                    </a:p>
                  </a:txBody>
                  <a:tcPr anchor="ctr" marL="36576" marR="36576" marT="9144" marB="9144">
                    <a:solidFill>
                      <a:srgbClr val="1B365D"/>
                    </a:solidFill>
                  </a:tcPr>
                </a:tc>
                <a:tc>
                  <a:txBody>
                    <a:bodyPr wrap="square"/>
                    <a:lstStyle/>
                    <a:p>
                      <a:pPr algn="ctr">
                        <a:defRPr sz="700" b="1">
                          <a:solidFill>
                            <a:srgbClr val="FFFFFF"/>
                          </a:solidFill>
                          <a:latin typeface="Meiryo UI"/>
                        </a:defRPr>
                      </a:pPr>
                      <a:r>
                        <a:t>ベトナム工場（KDTVN）</a:t>
                      </a:r>
                    </a:p>
                  </a:txBody>
                  <a:tcPr anchor="ctr" marL="36576" marR="36576" marT="9144" marB="9144">
                    <a:solidFill>
                      <a:srgbClr val="1B365D"/>
                    </a:solidFill>
                  </a:tcPr>
                </a:tc>
                <a:tc>
                  <a:txBody>
                    <a:bodyPr wrap="square"/>
                    <a:lstStyle/>
                    <a:p>
                      <a:pPr algn="ctr">
                        <a:defRPr sz="700" b="1">
                          <a:solidFill>
                            <a:srgbClr val="FFFFFF"/>
                          </a:solidFill>
                          <a:latin typeface="Meiryo UI"/>
                        </a:defRPr>
                      </a:pPr>
                      <a:r>
                        <a:t>3拠点総合計</a:t>
                      </a:r>
                      <a:br/>
                      <a:r>
                        <a:t>（日本＋中国＋ベトナム）</a:t>
                      </a:r>
                    </a:p>
                  </a:txBody>
                  <a:tcPr anchor="ctr" marL="36576" marR="36576" marT="9144" marB="9144">
                    <a:solidFill>
                      <a:srgbClr val="1B365D"/>
                    </a:solidFill>
                  </a:tcPr>
                </a:tc>
                <a:tc>
                  <a:txBody>
                    <a:bodyPr wrap="square"/>
                    <a:lstStyle/>
                    <a:p>
                      <a:pPr algn="ctr">
                        <a:defRPr sz="700" b="1">
                          <a:solidFill>
                            <a:srgbClr val="FFFFFF"/>
                          </a:solidFill>
                          <a:latin typeface="Meiryo UI"/>
                        </a:defRPr>
                      </a:pPr>
                      <a:r>
                        <a:t>参照元資料</a:t>
                      </a:r>
                    </a:p>
                  </a:txBody>
                  <a:tcPr anchor="ctr" marL="36576" marR="36576" marT="9144" marB="9144">
                    <a:solidFill>
                      <a:srgbClr val="1B365D"/>
                    </a:solidFill>
                  </a:tcPr>
                </a:tc>
              </a:tr>
              <a:tr h="477520">
                <a:tc>
                  <a:txBody>
                    <a:bodyPr wrap="square"/>
                    <a:lstStyle/>
                    <a:p>
                      <a:pPr algn="l">
                        <a:defRPr sz="620" b="1">
                          <a:solidFill>
                            <a:srgbClr val="1E242B"/>
                          </a:solidFill>
                          <a:latin typeface="Meiryo UI"/>
                        </a:defRPr>
                      </a:pPr>
                      <a:r>
                        <a:t>1. 提案件数</a:t>
                      </a:r>
                    </a:p>
                  </a:txBody>
                  <a:tcPr anchor="ctr" marL="36576" marR="36576" marT="9144" marB="9144">
                    <a:solidFill>
                      <a:srgbClr val="FFFFFF"/>
                    </a:solidFill>
                  </a:tcPr>
                </a:tc>
                <a:tc>
                  <a:txBody>
                    <a:bodyPr wrap="square"/>
                    <a:lstStyle/>
                    <a:p>
                      <a:pPr algn="l">
                        <a:defRPr sz="620">
                          <a:solidFill>
                            <a:srgbClr val="1E242B"/>
                          </a:solidFill>
                          <a:latin typeface="Meiryo UI"/>
                        </a:defRPr>
                      </a:pPr>
                      <a:r>
                        <a:t>• 7提案（No.1 ～ No.7）、8月～10月で維持</a:t>
                      </a:r>
                    </a:p>
                  </a:txBody>
                  <a:tcPr anchor="ctr" marL="36576" marR="36576" marT="9144" marB="9144">
                    <a:solidFill>
                      <a:srgbClr val="FFFFFF"/>
                    </a:solidFill>
                  </a:tcPr>
                </a:tc>
                <a:tc>
                  <a:txBody>
                    <a:bodyPr wrap="square"/>
                    <a:lstStyle/>
                    <a:p>
                      <a:pPr algn="l">
                        <a:defRPr sz="620">
                          <a:solidFill>
                            <a:srgbClr val="1E242B"/>
                          </a:solidFill>
                          <a:latin typeface="Meiryo UI"/>
                        </a:defRPr>
                      </a:pPr>
                      <a:r>
                        <a:t>• 8～9月：10提案（No.8～17）</a:t>
                      </a:r>
                      <a:br/>
                      <a:r>
                        <a:t>• 10月追加：＋1提案（No.38 AI WeChat）＝ 11提案</a:t>
                      </a:r>
                    </a:p>
                  </a:txBody>
                  <a:tcPr anchor="ctr" marL="36576" marR="36576" marT="9144" marB="9144">
                    <a:solidFill>
                      <a:srgbClr val="FFFFFF"/>
                    </a:solidFill>
                  </a:tcPr>
                </a:tc>
                <a:tc>
                  <a:txBody>
                    <a:bodyPr wrap="square"/>
                    <a:lstStyle/>
                    <a:p>
                      <a:pPr algn="l">
                        <a:defRPr sz="620">
                          <a:solidFill>
                            <a:srgbClr val="1E242B"/>
                          </a:solidFill>
                          <a:latin typeface="Meiryo UI"/>
                        </a:defRPr>
                      </a:pPr>
                      <a:r>
                        <a:t>• 8月：11提案（No.18～28）</a:t>
                      </a:r>
                      <a:br/>
                      <a:r>
                        <a:t>• 9月追加：＋9提案（No.29～37）＝ 20提案</a:t>
                      </a:r>
                    </a:p>
                  </a:txBody>
                  <a:tcPr anchor="ctr" marL="36576" marR="36576" marT="9144" marB="9144">
                    <a:solidFill>
                      <a:srgbClr val="FFFFFF"/>
                    </a:solidFill>
                  </a:tcPr>
                </a:tc>
                <a:tc>
                  <a:txBody>
                    <a:bodyPr wrap="square"/>
                    <a:lstStyle/>
                    <a:p>
                      <a:pPr algn="l">
                        <a:defRPr sz="620">
                          <a:solidFill>
                            <a:srgbClr val="1E242B"/>
                          </a:solidFill>
                          <a:latin typeface="Meiryo UI"/>
                        </a:defRPr>
                      </a:pPr>
                      <a:r>
                        <a:t>• 8月：28提案</a:t>
                      </a:r>
                      <a:br/>
                      <a:r>
                        <a:t>• 9月：37提案</a:t>
                      </a:r>
                      <a:br/>
                      <a:r>
                        <a:t>• 現行：38提案（7＋11＋20）</a:t>
                      </a:r>
                    </a:p>
                  </a:txBody>
                  <a:tcPr anchor="ctr" marL="36576" marR="36576" marT="9144" marB="9144">
                    <a:solidFill>
                      <a:srgbClr val="FFFFFF"/>
                    </a:solidFill>
                  </a:tcPr>
                </a:tc>
                <a:tc>
                  <a:txBody>
                    <a:bodyPr wrap="square"/>
                    <a:lstStyle/>
                    <a:p>
                      <a:pPr algn="l">
                        <a:defRPr sz="620">
                          <a:solidFill>
                            <a:srgbClr val="1E242B"/>
                          </a:solidFill>
                          <a:latin typeface="Meiryo UI"/>
                        </a:defRPr>
                      </a:pPr>
                      <a:r>
                        <a:t>IrisEXP改善提案まとめ.xlsx</a:t>
                      </a:r>
                    </a:p>
                  </a:txBody>
                  <a:tcPr anchor="ctr" marL="36576" marR="36576" marT="9144" marB="9144">
                    <a:solidFill>
                      <a:srgbClr val="FFFFFF"/>
                    </a:solidFill>
                  </a:tcPr>
                </a:tc>
              </a:tr>
              <a:tr h="477520">
                <a:tc>
                  <a:txBody>
                    <a:bodyPr wrap="square"/>
                    <a:lstStyle/>
                    <a:p>
                      <a:pPr algn="l">
                        <a:defRPr sz="620" b="1">
                          <a:solidFill>
                            <a:srgbClr val="1E242B"/>
                          </a:solidFill>
                          <a:latin typeface="Meiryo UI"/>
                        </a:defRPr>
                      </a:pPr>
                      <a:r>
                        <a:t>2. 現行作業時間</a:t>
                      </a:r>
                      <a:br/>
                      <a:r>
                        <a:t>（Iris2024）</a:t>
                      </a:r>
                    </a:p>
                  </a:txBody>
                  <a:tcPr anchor="ctr" marL="36576" marR="36576" marT="9144" marB="9144">
                    <a:solidFill>
                      <a:srgbClr val="F7F9FC"/>
                    </a:solidFill>
                  </a:tcPr>
                </a:tc>
                <a:tc>
                  <a:txBody>
                    <a:bodyPr wrap="square"/>
                    <a:lstStyle/>
                    <a:p>
                      <a:pPr algn="l">
                        <a:defRPr sz="620">
                          <a:solidFill>
                            <a:srgbClr val="1E242B"/>
                          </a:solidFill>
                          <a:latin typeface="Meiryo UI"/>
                        </a:defRPr>
                      </a:pPr>
                      <a:r>
                        <a:t>• 正味工数：1,171.70s（カラー）/ 1,120.90s（モノクロ）</a:t>
                      </a:r>
                      <a:br/>
                      <a:r>
                        <a:t>• IrisEXP未改善（+89s U413）：1,260.70s カラー</a:t>
                      </a:r>
                    </a:p>
                  </a:txBody>
                  <a:tcPr anchor="ctr" marL="36576" marR="36576" marT="9144" marB="9144">
                    <a:solidFill>
                      <a:srgbClr val="F7F9FC"/>
                    </a:solidFill>
                  </a:tcPr>
                </a:tc>
                <a:tc>
                  <a:txBody>
                    <a:bodyPr wrap="square"/>
                    <a:lstStyle/>
                    <a:p>
                      <a:pPr algn="l">
                        <a:defRPr sz="620" b="1">
                          <a:solidFill>
                            <a:srgbClr val="1E242B"/>
                          </a:solidFill>
                          <a:latin typeface="Meiryo UI"/>
                        </a:defRPr>
                      </a:pPr>
                      <a:r>
                        <a:t>• 工程表 575ステップ；CN削減対象項目の合計：178.56秒 ＋ 印刷待ち 230秒</a:t>
                      </a:r>
                    </a:p>
                  </a:txBody>
                  <a:tcPr anchor="ctr" marL="36576" marR="36576" marT="9144" marB="9144">
                    <a:solidFill>
                      <a:srgbClr val="F7F9FC"/>
                    </a:solidFill>
                  </a:tcPr>
                </a:tc>
                <a:tc>
                  <a:txBody>
                    <a:bodyPr wrap="square"/>
                    <a:lstStyle/>
                    <a:p>
                      <a:pPr algn="l">
                        <a:defRPr sz="620">
                          <a:solidFill>
                            <a:srgbClr val="1E242B"/>
                          </a:solidFill>
                          <a:latin typeface="Meiryo UI"/>
                        </a:defRPr>
                      </a:pPr>
                      <a:r>
                        <a:t>• 最大機種標準作業時間：1,083秒（調整840s＋データ243s）</a:t>
                      </a:r>
                      <a:br/>
                      <a:r>
                        <a:t>• K1～K8総滞留工数（エージング含む）：2,350秒</a:t>
                      </a:r>
                    </a:p>
                  </a:txBody>
                  <a:tcPr anchor="ctr" marL="36576" marR="36576" marT="9144" marB="9144">
                    <a:solidFill>
                      <a:srgbClr val="F7F9FC"/>
                    </a:solidFill>
                  </a:tcPr>
                </a:tc>
                <a:tc>
                  <a:txBody>
                    <a:bodyPr wrap="square"/>
                    <a:lstStyle/>
                    <a:p>
                      <a:pPr algn="l">
                        <a:defRPr sz="620">
                          <a:solidFill>
                            <a:srgbClr val="1E242B"/>
                          </a:solidFill>
                          <a:latin typeface="Meiryo UI"/>
                        </a:defRPr>
                      </a:pPr>
                      <a:r>
                        <a:t>• KDTVN基準：1,083秒（総計：2,350s）</a:t>
                      </a:r>
                      <a:br/>
                      <a:r>
                        <a:t>• KDC基準：1,171.7秒 カラー</a:t>
                      </a:r>
                    </a:p>
                  </a:txBody>
                  <a:tcPr anchor="ctr" marL="36576" marR="36576" marT="9144" marB="9144">
                    <a:solidFill>
                      <a:srgbClr val="F7F9FC"/>
                    </a:solidFill>
                  </a:tcPr>
                </a:tc>
                <a:tc>
                  <a:txBody>
                    <a:bodyPr wrap="square"/>
                    <a:lstStyle/>
                    <a:p>
                      <a:pPr algn="l">
                        <a:defRPr sz="620">
                          <a:solidFill>
                            <a:srgbClr val="1E242B"/>
                          </a:solidFill>
                          <a:latin typeface="Meiryo UI"/>
                        </a:defRPr>
                      </a:pPr>
                      <a:r>
                        <a:t>既存機との工数比較;</a:t>
                      </a:r>
                      <a:br/>
                      <a:r>
                        <a:t>DSLK Điều chỉnh</a:t>
                      </a:r>
                    </a:p>
                  </a:txBody>
                  <a:tcPr anchor="ctr" marL="36576" marR="36576" marT="9144" marB="9144">
                    <a:solidFill>
                      <a:srgbClr val="F7F9FC"/>
                    </a:solidFill>
                  </a:tcPr>
                </a:tc>
              </a:tr>
              <a:tr h="477520">
                <a:tc>
                  <a:txBody>
                    <a:bodyPr wrap="square"/>
                    <a:lstStyle/>
                    <a:p>
                      <a:pPr algn="l">
                        <a:defRPr sz="620" b="1">
                          <a:solidFill>
                            <a:srgbClr val="1E242B"/>
                          </a:solidFill>
                          <a:latin typeface="Meiryo UI"/>
                        </a:defRPr>
                      </a:pPr>
                      <a:r>
                        <a:t>3. 工数削減効果</a:t>
                      </a:r>
                      <a:br/>
                      <a:r>
                        <a:t>（秒/台）</a:t>
                      </a:r>
                    </a:p>
                  </a:txBody>
                  <a:tcPr anchor="ctr" marL="36576" marR="36576" marT="9144" marB="9144">
                    <a:solidFill>
                      <a:srgbClr val="FFFFFF"/>
                    </a:solidFill>
                  </a:tcPr>
                </a:tc>
                <a:tc>
                  <a:txBody>
                    <a:bodyPr wrap="square"/>
                    <a:lstStyle/>
                    <a:p>
                      <a:pPr algn="l">
                        <a:defRPr sz="620" b="1">
                          <a:solidFill>
                            <a:srgbClr val="1E242B"/>
                          </a:solidFill>
                          <a:latin typeface="Meiryo UI"/>
                        </a:defRPr>
                      </a:pPr>
                      <a:r>
                        <a:t>• 7提案試算式：-87.84s vs Iris2024（-176.84s vs 未改善 -&gt; 1,083.86s）</a:t>
                      </a:r>
                      <a:br/>
                      <a:r>
                        <a:t>• 削除対象153ステップ合計：-267.74s カラー</a:t>
                      </a:r>
                    </a:p>
                  </a:txBody>
                  <a:tcPr anchor="ctr" marL="36576" marR="36576" marT="9144" marB="9144">
                    <a:solidFill>
                      <a:srgbClr val="FFFFFF"/>
                    </a:solidFill>
                  </a:tcPr>
                </a:tc>
                <a:tc>
                  <a:txBody>
                    <a:bodyPr wrap="square"/>
                    <a:lstStyle/>
                    <a:p>
                      <a:pPr algn="l">
                        <a:defRPr sz="620" b="1">
                          <a:solidFill>
                            <a:srgbClr val="1E242B"/>
                          </a:solidFill>
                          <a:latin typeface="Meiryo UI"/>
                        </a:defRPr>
                      </a:pPr>
                      <a:r>
                        <a:t>• 秒数記載10項目の合計：-178.56 秒/台 手作業削減</a:t>
                      </a:r>
                      <a:br/>
                      <a:r>
                        <a:t>• 印刷待ち短縮：-110秒（230s -&gt; 120s）</a:t>
                      </a:r>
                    </a:p>
                  </a:txBody>
                  <a:tcPr anchor="ctr" marL="36576" marR="36576" marT="9144" marB="9144">
                    <a:solidFill>
                      <a:srgbClr val="FFFFFF"/>
                    </a:solidFill>
                  </a:tcPr>
                </a:tc>
                <a:tc>
                  <a:txBody>
                    <a:bodyPr wrap="square"/>
                    <a:lstStyle/>
                    <a:p>
                      <a:pPr algn="l">
                        <a:defRPr sz="620">
                          <a:solidFill>
                            <a:srgbClr val="1E242B"/>
                          </a:solidFill>
                          <a:latin typeface="Meiryo UI"/>
                        </a:defRPr>
                      </a:pPr>
                      <a:r>
                        <a:t>• 見積書3提案：-170s（No.22: -30s, No.23: -110s, No.24: -30s）</a:t>
                      </a:r>
                      <a:br/>
                      <a:r>
                        <a:t>• カメラNo.27：-177s～-215s</a:t>
                      </a:r>
                      <a:br/>
                      <a:r>
                        <a:t>• 目標：50%削減（≤541s正味 / ≤1,175s総計）</a:t>
                      </a:r>
                    </a:p>
                  </a:txBody>
                  <a:tcPr anchor="ctr" marL="36576" marR="36576" marT="9144" marB="9144">
                    <a:solidFill>
                      <a:srgbClr val="FFFFFF"/>
                    </a:solidFill>
                  </a:tcPr>
                </a:tc>
                <a:tc>
                  <a:txBody>
                    <a:bodyPr wrap="square"/>
                    <a:lstStyle/>
                    <a:p>
                      <a:pPr algn="l">
                        <a:defRPr sz="620">
                          <a:solidFill>
                            <a:srgbClr val="1E242B"/>
                          </a:solidFill>
                          <a:latin typeface="Meiryo UI"/>
                        </a:defRPr>
                      </a:pPr>
                      <a:r>
                        <a:t>• 日本：-176.84s ～ -267.74s</a:t>
                      </a:r>
                      <a:br/>
                      <a:r>
                        <a:t>• 中国：-178.56s ＋ -110s印刷待ち</a:t>
                      </a:r>
                      <a:br/>
                      <a:r>
                        <a:t>• ベトナム：工数50%削減</a:t>
                      </a:r>
                    </a:p>
                  </a:txBody>
                  <a:tcPr anchor="ctr" marL="36576" marR="36576" marT="9144" marB="9144">
                    <a:solidFill>
                      <a:srgbClr val="FFFFFF"/>
                    </a:solidFill>
                  </a:tcPr>
                </a:tc>
                <a:tc>
                  <a:txBody>
                    <a:bodyPr wrap="square"/>
                    <a:lstStyle/>
                    <a:p>
                      <a:pPr algn="l">
                        <a:defRPr sz="620">
                          <a:solidFill>
                            <a:srgbClr val="1E242B"/>
                          </a:solidFill>
                          <a:latin typeface="Meiryo UI"/>
                        </a:defRPr>
                      </a:pPr>
                      <a:r>
                        <a:t>IrisEXP 工程 3;</a:t>
                      </a:r>
                      <a:br/>
                      <a:r>
                        <a:t>cn改善案list</a:t>
                      </a:r>
                    </a:p>
                  </a:txBody>
                  <a:tcPr anchor="ctr" marL="36576" marR="36576" marT="9144" marB="9144">
                    <a:solidFill>
                      <a:srgbClr val="FFFFFF"/>
                    </a:solidFill>
                  </a:tcPr>
                </a:tc>
              </a:tr>
              <a:tr h="477520">
                <a:tc>
                  <a:txBody>
                    <a:bodyPr wrap="square"/>
                    <a:lstStyle/>
                    <a:p>
                      <a:pPr algn="l">
                        <a:defRPr sz="620" b="1">
                          <a:solidFill>
                            <a:srgbClr val="1E242B"/>
                          </a:solidFill>
                          <a:latin typeface="Meiryo UI"/>
                        </a:defRPr>
                      </a:pPr>
                      <a:r>
                        <a:t>4. 人員体制・</a:t>
                      </a:r>
                      <a:br/>
                      <a:r>
                        <a:t>労働生産性</a:t>
                      </a:r>
                    </a:p>
                  </a:txBody>
                  <a:tcPr anchor="ctr" marL="36576" marR="36576" marT="9144" marB="9144">
                    <a:solidFill>
                      <a:srgbClr val="EAF7EE"/>
                    </a:solidFill>
                  </a:tcPr>
                </a:tc>
                <a:tc>
                  <a:txBody>
                    <a:bodyPr wrap="square"/>
                    <a:lstStyle/>
                    <a:p>
                      <a:pPr algn="l">
                        <a:defRPr sz="620">
                          <a:solidFill>
                            <a:srgbClr val="1E242B"/>
                          </a:solidFill>
                          <a:latin typeface="Meiryo UI"/>
                        </a:defRPr>
                      </a:pPr>
                      <a:r>
                        <a:t>• Athena系実績値：16名 -&gt; 8名（-50%）；共通治具・ソフト適用</a:t>
                      </a:r>
                    </a:p>
                  </a:txBody>
                  <a:tcPr anchor="ctr" marL="36576" marR="36576" marT="9144" marB="9144">
                    <a:solidFill>
                      <a:srgbClr val="EAF7EE"/>
                    </a:solidFill>
                  </a:tcPr>
                </a:tc>
                <a:tc>
                  <a:txBody>
                    <a:bodyPr wrap="square"/>
                    <a:lstStyle/>
                    <a:p>
                      <a:pPr algn="l">
                        <a:defRPr sz="620">
                          <a:solidFill>
                            <a:srgbClr val="1E242B"/>
                          </a:solidFill>
                          <a:latin typeface="Meiryo UI"/>
                        </a:defRPr>
                      </a:pPr>
                      <a:r>
                        <a:t>• 数値化された人件費節減：11,160 RMB/月 ＋ 5,000 RMB/5,000台（DC-1＋Gray統合）</a:t>
                      </a:r>
                    </a:p>
                  </a:txBody>
                  <a:tcPr anchor="ctr" marL="36576" marR="36576" marT="9144" marB="9144">
                    <a:solidFill>
                      <a:srgbClr val="EAF7EE"/>
                    </a:solidFill>
                  </a:tcPr>
                </a:tc>
                <a:tc>
                  <a:txBody>
                    <a:bodyPr wrap="square"/>
                    <a:lstStyle/>
                    <a:p>
                      <a:pPr algn="l">
                        <a:defRPr sz="620">
                          <a:solidFill>
                            <a:srgbClr val="1E242B"/>
                          </a:solidFill>
                          <a:latin typeface="Meiryo UI"/>
                        </a:defRPr>
                      </a:pPr>
                      <a:r>
                        <a:t>• 現行Iris2024：作業者16名（調整7名＋画像9名）、243台/日（15.19台/人/日）</a:t>
                      </a:r>
                      <a:br/>
                      <a:r>
                        <a:t>• IrisEXP目標：生産性2倍（≥30.38台/人/日）、作業者半減</a:t>
                      </a:r>
                    </a:p>
                  </a:txBody>
                  <a:tcPr anchor="ctr" marL="36576" marR="36576" marT="9144" marB="9144">
                    <a:solidFill>
                      <a:srgbClr val="EAF7EE"/>
                    </a:solidFill>
                  </a:tcPr>
                </a:tc>
                <a:tc>
                  <a:txBody>
                    <a:bodyPr wrap="square"/>
                    <a:lstStyle/>
                    <a:p>
                      <a:pPr algn="l">
                        <a:defRPr sz="620">
                          <a:solidFill>
                            <a:srgbClr val="1E242B"/>
                          </a:solidFill>
                          <a:latin typeface="Meiryo UI"/>
                        </a:defRPr>
                      </a:pPr>
                      <a:r>
                        <a:t>• 生産性目標：2倍向上</a:t>
                      </a:r>
                      <a:br/>
                      <a:r>
                        <a:t>• 現行ライン面積での生産確保</a:t>
                      </a:r>
                    </a:p>
                  </a:txBody>
                  <a:tcPr anchor="ctr" marL="36576" marR="36576" marT="9144" marB="9144">
                    <a:solidFill>
                      <a:srgbClr val="EAF7EE"/>
                    </a:solidFill>
                  </a:tcPr>
                </a:tc>
                <a:tc>
                  <a:txBody>
                    <a:bodyPr wrap="square"/>
                    <a:lstStyle/>
                    <a:p>
                      <a:pPr algn="l">
                        <a:defRPr sz="620">
                          <a:solidFill>
                            <a:srgbClr val="1E242B"/>
                          </a:solidFill>
                          <a:latin typeface="Meiryo UI"/>
                        </a:defRPr>
                      </a:pPr>
                      <a:r>
                        <a:t>調整工程計画.xlsx;</a:t>
                      </a:r>
                      <a:br/>
                      <a:r>
                        <a:t>IrisEXP開発目標</a:t>
                      </a:r>
                    </a:p>
                  </a:txBody>
                  <a:tcPr anchor="ctr" marL="36576" marR="36576" marT="9144" marB="9144">
                    <a:solidFill>
                      <a:srgbClr val="EAF7EE"/>
                    </a:solidFill>
                  </a:tcPr>
                </a:tc>
              </a:tr>
              <a:tr h="477520">
                <a:tc>
                  <a:txBody>
                    <a:bodyPr wrap="square"/>
                    <a:lstStyle/>
                    <a:p>
                      <a:pPr algn="l">
                        <a:defRPr sz="620" b="1">
                          <a:solidFill>
                            <a:srgbClr val="1E242B"/>
                          </a:solidFill>
                          <a:latin typeface="Meiryo UI"/>
                        </a:defRPr>
                      </a:pPr>
                      <a:r>
                        <a:t>5. 見積完了設備費用</a:t>
                      </a:r>
                    </a:p>
                  </a:txBody>
                  <a:tcPr anchor="ctr" marL="36576" marR="36576" marT="9144" marB="9144">
                    <a:solidFill>
                      <a:srgbClr val="EAF7EE"/>
                    </a:solidFill>
                  </a:tcPr>
                </a:tc>
                <a:tc>
                  <a:txBody>
                    <a:bodyPr wrap="square"/>
                    <a:lstStyle/>
                    <a:p>
                      <a:pPr algn="l">
                        <a:defRPr sz="620">
                          <a:solidFill>
                            <a:srgbClr val="1E242B"/>
                          </a:solidFill>
                          <a:latin typeface="Meiryo UI"/>
                        </a:defRPr>
                      </a:pPr>
                      <a:r>
                        <a:t>• Mini PC（Spica）：約4万円/セット（1セット/4台制御）</a:t>
                      </a:r>
                      <a:br/>
                      <a:r>
                        <a:t>• U413ソフト廃止（実施の場合）：225～250万円</a:t>
                      </a:r>
                    </a:p>
                  </a:txBody>
                  <a:tcPr anchor="ctr" marL="36576" marR="36576" marT="9144" marB="9144">
                    <a:solidFill>
                      <a:srgbClr val="EAF7EE"/>
                    </a:solidFill>
                  </a:tcPr>
                </a:tc>
                <a:tc>
                  <a:txBody>
                    <a:bodyPr wrap="square"/>
                    <a:lstStyle/>
                    <a:p>
                      <a:pPr algn="l">
                        <a:defRPr sz="620">
                          <a:solidFill>
                            <a:srgbClr val="1E242B"/>
                          </a:solidFill>
                          <a:latin typeface="Meiryo UI"/>
                        </a:defRPr>
                      </a:pPr>
                      <a:r>
                        <a:t>• U155廃止、印刷削減、DC-1＋Gray統合は設備費 0 RMB</a:t>
                      </a:r>
                    </a:p>
                  </a:txBody>
                  <a:tcPr anchor="ctr" marL="36576" marR="36576" marT="9144" marB="9144">
                    <a:solidFill>
                      <a:srgbClr val="EAF7EE"/>
                    </a:solidFill>
                  </a:tcPr>
                </a:tc>
                <a:tc>
                  <a:txBody>
                    <a:bodyPr wrap="square"/>
                    <a:lstStyle/>
                    <a:p>
                      <a:pPr algn="l">
                        <a:defRPr sz="620" b="1">
                          <a:solidFill>
                            <a:srgbClr val="1E6E3E"/>
                          </a:solidFill>
                          <a:latin typeface="Meiryo UI"/>
                        </a:defRPr>
                      </a:pPr>
                      <a:r>
                        <a:t>• No.22（耐圧安全検査）：101,690,000 VND（3,911.15 USD）</a:t>
                      </a:r>
                      <a:br/>
                      <a:r>
                        <a:t>• No.23（原稿ロボット）：650,000,000 VND（25,000 USD）</a:t>
                      </a:r>
                      <a:br/>
                      <a:r>
                        <a:t>• No.24（USB/U201ロボット）：104,000,000 VND（4,000 USD）</a:t>
                      </a:r>
                      <a:br/>
                      <a:r>
                        <a:t>=&gt; 3提案計：855,690,000 VND（32,911.15 USD）</a:t>
                      </a:r>
                    </a:p>
                  </a:txBody>
                  <a:tcPr anchor="ctr" marL="36576" marR="36576" marT="9144" marB="9144">
                    <a:solidFill>
                      <a:srgbClr val="EAF7EE"/>
                    </a:solidFill>
                  </a:tcPr>
                </a:tc>
                <a:tc>
                  <a:txBody>
                    <a:bodyPr wrap="square"/>
                    <a:lstStyle/>
                    <a:p>
                      <a:pPr algn="l">
                        <a:defRPr sz="620">
                          <a:solidFill>
                            <a:srgbClr val="1E242B"/>
                          </a:solidFill>
                          <a:latin typeface="Meiryo UI"/>
                        </a:defRPr>
                      </a:pPr>
                      <a:r>
                        <a:t>• ベトナム：855.69M VND（32,911.15 USD）；先行申請No.22：101.69M VND</a:t>
                      </a:r>
                      <a:br/>
                      <a:r>
                        <a:t>• 日本：Mini PC 約4万円/セット</a:t>
                      </a:r>
                    </a:p>
                  </a:txBody>
                  <a:tcPr anchor="ctr" marL="36576" marR="36576" marT="9144" marB="9144">
                    <a:solidFill>
                      <a:srgbClr val="EAF7EE"/>
                    </a:solidFill>
                  </a:tcPr>
                </a:tc>
                <a:tc>
                  <a:txBody>
                    <a:bodyPr wrap="square"/>
                    <a:lstStyle/>
                    <a:p>
                      <a:pPr algn="l">
                        <a:defRPr sz="620">
                          <a:solidFill>
                            <a:srgbClr val="1E242B"/>
                          </a:solidFill>
                          <a:latin typeface="Meiryo UI"/>
                        </a:defRPr>
                      </a:pPr>
                      <a:r>
                        <a:t>Iris EXPのVN提案;</a:t>
                      </a:r>
                      <a:br/>
                      <a:r>
                        <a:t>AthenaとSpica比較</a:t>
                      </a:r>
                    </a:p>
                  </a:txBody>
                  <a:tcPr anchor="ctr" marL="36576" marR="36576" marT="9144" marB="9144">
                    <a:solidFill>
                      <a:srgbClr val="EAF7EE"/>
                    </a:solidFill>
                  </a:tcPr>
                </a:tc>
              </a:tr>
              <a:tr h="477520">
                <a:tc>
                  <a:txBody>
                    <a:bodyPr wrap="square"/>
                    <a:lstStyle/>
                    <a:p>
                      <a:pPr algn="l">
                        <a:defRPr sz="620" b="1">
                          <a:solidFill>
                            <a:srgbClr val="1E242B"/>
                          </a:solidFill>
                          <a:latin typeface="Meiryo UI"/>
                        </a:defRPr>
                      </a:pPr>
                      <a:r>
                        <a:t>6. 見積取得中案件</a:t>
                      </a:r>
                      <a:br/>
                      <a:r>
                        <a:t>（見積中）</a:t>
                      </a:r>
                    </a:p>
                  </a:txBody>
                  <a:tcPr anchor="ctr" marL="36576" marR="36576" marT="9144" marB="9144">
                    <a:solidFill>
                      <a:srgbClr val="FEF7E6"/>
                    </a:solidFill>
                  </a:tcPr>
                </a:tc>
                <a:tc>
                  <a:txBody>
                    <a:bodyPr wrap="square"/>
                    <a:lstStyle/>
                    <a:p>
                      <a:pPr algn="l">
                        <a:defRPr sz="620">
                          <a:solidFill>
                            <a:srgbClr val="1E242B"/>
                          </a:solidFill>
                          <a:latin typeface="Meiryo UI"/>
                        </a:defRPr>
                      </a:pPr>
                      <a:r>
                        <a:t>• 7900/7910からHost PCシステムへのソフト改修費、自己診断基板改修費</a:t>
                      </a:r>
                    </a:p>
                  </a:txBody>
                  <a:tcPr anchor="ctr" marL="36576" marR="36576" marT="9144" marB="9144">
                    <a:solidFill>
                      <a:srgbClr val="FEF7E6"/>
                    </a:solidFill>
                  </a:tcPr>
                </a:tc>
                <a:tc>
                  <a:txBody>
                    <a:bodyPr wrap="square"/>
                    <a:lstStyle/>
                    <a:p>
                      <a:pPr algn="l">
                        <a:defRPr sz="620">
                          <a:solidFill>
                            <a:srgbClr val="1E242B"/>
                          </a:solidFill>
                          <a:latin typeface="Meiryo UI"/>
                        </a:defRPr>
                      </a:pPr>
                      <a:r>
                        <a:t>• 4件見積中：給電コンベア、自動ケーブル接続、複合治具、マグネットコネクタ</a:t>
                      </a:r>
                    </a:p>
                  </a:txBody>
                  <a:tcPr anchor="ctr" marL="36576" marR="36576" marT="9144" marB="9144">
                    <a:solidFill>
                      <a:srgbClr val="FEF7E6"/>
                    </a:solidFill>
                  </a:tcPr>
                </a:tc>
                <a:tc>
                  <a:txBody>
                    <a:bodyPr wrap="square"/>
                    <a:lstStyle/>
                    <a:p>
                      <a:pPr algn="l">
                        <a:defRPr sz="620">
                          <a:solidFill>
                            <a:srgbClr val="1E242B"/>
                          </a:solidFill>
                          <a:latin typeface="Meiryo UI"/>
                        </a:defRPr>
                      </a:pPr>
                      <a:r>
                        <a:t>• 地元サプライヤー見積取得中10件：No.18, 19, 20, 21, 25（DP給紙）、27（HIKROBOTカメラ）、28, 31, 33, 35</a:t>
                      </a:r>
                    </a:p>
                  </a:txBody>
                  <a:tcPr anchor="ctr" marL="36576" marR="36576" marT="9144" marB="9144">
                    <a:solidFill>
                      <a:srgbClr val="FEF7E6"/>
                    </a:solidFill>
                  </a:tcPr>
                </a:tc>
                <a:tc>
                  <a:txBody>
                    <a:bodyPr wrap="square"/>
                    <a:lstStyle/>
                    <a:p>
                      <a:pPr algn="l">
                        <a:defRPr sz="620">
                          <a:solidFill>
                            <a:srgbClr val="1E242B"/>
                          </a:solidFill>
                          <a:latin typeface="Meiryo UI"/>
                        </a:defRPr>
                      </a:pPr>
                      <a:r>
                        <a:t>• 仕様確定後、第2期投資として分割申請</a:t>
                      </a:r>
                    </a:p>
                  </a:txBody>
                  <a:tcPr anchor="ctr" marL="36576" marR="36576" marT="9144" marB="9144">
                    <a:solidFill>
                      <a:srgbClr val="FEF7E6"/>
                    </a:solidFill>
                  </a:tcPr>
                </a:tc>
                <a:tc>
                  <a:txBody>
                    <a:bodyPr wrap="square"/>
                    <a:lstStyle/>
                    <a:p>
                      <a:pPr algn="l">
                        <a:defRPr sz="620">
                          <a:solidFill>
                            <a:srgbClr val="1E242B"/>
                          </a:solidFill>
                          <a:latin typeface="Meiryo UI"/>
                        </a:defRPr>
                      </a:pPr>
                      <a:r>
                        <a:t>IrisEXP改善提案まとめ</a:t>
                      </a:r>
                    </a:p>
                  </a:txBody>
                  <a:tcPr anchor="ctr" marL="36576" marR="36576" marT="9144" marB="9144">
                    <a:solidFill>
                      <a:srgbClr val="FEF7E6"/>
                    </a:solidFill>
                  </a:tcPr>
                </a:tc>
              </a:tr>
              <a:tr h="477520">
                <a:tc>
                  <a:txBody>
                    <a:bodyPr wrap="square"/>
                    <a:lstStyle/>
                    <a:p>
                      <a:pPr algn="l">
                        <a:defRPr sz="620" b="1">
                          <a:solidFill>
                            <a:srgbClr val="1E242B"/>
                          </a:solidFill>
                          <a:latin typeface="Meiryo UI"/>
                        </a:defRPr>
                      </a:pPr>
                      <a:r>
                        <a:t>7. 代替最適化案</a:t>
                      </a:r>
                      <a:br/>
                      <a:r>
                        <a:t>および長期R&amp;D</a:t>
                      </a:r>
                    </a:p>
                  </a:txBody>
                  <a:tcPr anchor="ctr" marL="36576" marR="36576" marT="9144" marB="9144">
                    <a:solidFill>
                      <a:srgbClr val="FFFFFF"/>
                    </a:solidFill>
                  </a:tcPr>
                </a:tc>
                <a:tc>
                  <a:txBody>
                    <a:bodyPr wrap="square"/>
                    <a:lstStyle/>
                    <a:p>
                      <a:pPr algn="l">
                        <a:defRPr sz="620">
                          <a:solidFill>
                            <a:srgbClr val="1E242B"/>
                          </a:solidFill>
                          <a:latin typeface="Meiryo UI"/>
                        </a:defRPr>
                      </a:pPr>
                      <a:r>
                        <a:t>• AthenaのRaspberry Pi＋バッテリー方式は電池劣化・Wi-Fi途絶のため廃止</a:t>
                      </a:r>
                    </a:p>
                  </a:txBody>
                  <a:tcPr anchor="ctr" marL="36576" marR="36576" marT="9144" marB="9144">
                    <a:solidFill>
                      <a:srgbClr val="FFFFFF"/>
                    </a:solidFill>
                  </a:tcPr>
                </a:tc>
                <a:tc>
                  <a:txBody>
                    <a:bodyPr wrap="square"/>
                    <a:lstStyle/>
                    <a:p>
                      <a:pPr algn="l">
                        <a:defRPr sz="620">
                          <a:solidFill>
                            <a:srgbClr val="1E242B"/>
                          </a:solidFill>
                          <a:latin typeface="Meiryo UI"/>
                        </a:defRPr>
                      </a:pPr>
                      <a:r>
                        <a:t>• PPT黄色ドット微細欠陥はカメラ解像度不足のため、スキャナ検査を当面維持</a:t>
                      </a:r>
                    </a:p>
                  </a:txBody>
                  <a:tcPr anchor="ctr" marL="36576" marR="36576" marT="9144" marB="9144">
                    <a:solidFill>
                      <a:srgbClr val="FFFFFF"/>
                    </a:solidFill>
                  </a:tcPr>
                </a:tc>
                <a:tc>
                  <a:txBody>
                    <a:bodyPr wrap="square"/>
                    <a:lstStyle/>
                    <a:p>
                      <a:pPr algn="l">
                        <a:defRPr sz="620">
                          <a:solidFill>
                            <a:srgbClr val="1E242B"/>
                          </a:solidFill>
                          <a:latin typeface="Meiryo UI"/>
                        </a:defRPr>
                      </a:pPr>
                      <a:r>
                        <a:t>• 高額ロボットNo.23（650M）＆No.24（104M）をDP給紙（No.25）およびHost PCログ読取へ置換</a:t>
                      </a:r>
                      <a:br/>
                      <a:r>
                        <a:t>• 長期R&amp;D（2026-2030）：No.26 AI異音解析（約600万円）</a:t>
                      </a:r>
                    </a:p>
                  </a:txBody>
                  <a:tcPr anchor="ctr" marL="36576" marR="36576" marT="9144" marB="9144">
                    <a:solidFill>
                      <a:srgbClr val="FFFFFF"/>
                    </a:solidFill>
                  </a:tcPr>
                </a:tc>
                <a:tc>
                  <a:txBody>
                    <a:bodyPr wrap="square"/>
                    <a:lstStyle/>
                    <a:p>
                      <a:pPr algn="l">
                        <a:defRPr sz="620">
                          <a:solidFill>
                            <a:srgbClr val="1E242B"/>
                          </a:solidFill>
                          <a:latin typeface="Meiryo UI"/>
                        </a:defRPr>
                      </a:pPr>
                      <a:r>
                        <a:t>• 第1期先行申請額を101.69M VND（No.22）に最適化</a:t>
                      </a:r>
                    </a:p>
                  </a:txBody>
                  <a:tcPr anchor="ctr" marL="36576" marR="36576" marT="9144" marB="9144">
                    <a:solidFill>
                      <a:srgbClr val="FFFFFF"/>
                    </a:solidFill>
                  </a:tcPr>
                </a:tc>
                <a:tc>
                  <a:txBody>
                    <a:bodyPr wrap="square"/>
                    <a:lstStyle/>
                    <a:p>
                      <a:pPr algn="l">
                        <a:defRPr sz="620">
                          <a:solidFill>
                            <a:srgbClr val="1E242B"/>
                          </a:solidFill>
                          <a:latin typeface="Meiryo UI"/>
                        </a:defRPr>
                      </a:pPr>
                      <a:r>
                        <a:t>連携会 第7回~第15回</a:t>
                      </a:r>
                    </a:p>
                  </a:txBody>
                  <a:tcPr anchor="ctr" marL="36576" marR="36576" marT="9144" marB="9144">
                    <a:solidFill>
                      <a:srgbClr val="FFFFFF"/>
                    </a:solidFill>
                  </a:tcPr>
                </a:tc>
              </a:tr>
              <a:tr h="477520">
                <a:tc>
                  <a:txBody>
                    <a:bodyPr wrap="square"/>
                    <a:lstStyle/>
                    <a:p>
                      <a:pPr algn="l">
                        <a:defRPr sz="620" b="1">
                          <a:solidFill>
                            <a:srgbClr val="1E242B"/>
                          </a:solidFill>
                          <a:latin typeface="Meiryo UI"/>
                        </a:defRPr>
                      </a:pPr>
                      <a:r>
                        <a:t>8. 2026年10月度</a:t>
                      </a:r>
                      <a:br/>
                      <a:r>
                        <a:t>進捗・検収実績</a:t>
                      </a:r>
                    </a:p>
                  </a:txBody>
                  <a:tcPr anchor="ctr" marL="36576" marR="36576" marT="9144" marB="9144">
                    <a:solidFill>
                      <a:srgbClr val="F7F9FC"/>
                    </a:solidFill>
                  </a:tcPr>
                </a:tc>
                <a:tc>
                  <a:txBody>
                    <a:bodyPr wrap="square"/>
                    <a:lstStyle/>
                    <a:p>
                      <a:pPr algn="l">
                        <a:defRPr sz="620">
                          <a:solidFill>
                            <a:srgbClr val="1E242B"/>
                          </a:solidFill>
                          <a:latin typeface="Meiryo UI"/>
                        </a:defRPr>
                      </a:pPr>
                      <a:r>
                        <a:t>• Spica Mini PC仕様仮決定；U201廃止（-15.12s）、U155廃止（-29.16s）、ドアスイッチ（-8.88s）確定</a:t>
                      </a:r>
                    </a:p>
                  </a:txBody>
                  <a:tcPr anchor="ctr" marL="36576" marR="36576" marT="9144" marB="9144">
                    <a:solidFill>
                      <a:srgbClr val="F7F9FC"/>
                    </a:solidFill>
                  </a:tcPr>
                </a:tc>
                <a:tc>
                  <a:txBody>
                    <a:bodyPr wrap="square"/>
                    <a:lstStyle/>
                    <a:p>
                      <a:pPr algn="l">
                        <a:defRPr sz="620">
                          <a:solidFill>
                            <a:srgbClr val="1E242B"/>
                          </a:solidFill>
                          <a:latin typeface="Meiryo UI"/>
                        </a:defRPr>
                      </a:pPr>
                      <a:r>
                        <a:t>• DC-1＋Gray統合確定（5,000 RMB/5,000台削減）；AI WeChat（No.38）検証中</a:t>
                      </a:r>
                    </a:p>
                  </a:txBody>
                  <a:tcPr anchor="ctr" marL="36576" marR="36576" marT="9144" marB="9144">
                    <a:solidFill>
                      <a:srgbClr val="F7F9FC"/>
                    </a:solidFill>
                  </a:tcPr>
                </a:tc>
                <a:tc>
                  <a:txBody>
                    <a:bodyPr wrap="square"/>
                    <a:lstStyle/>
                    <a:p>
                      <a:pPr algn="l">
                        <a:defRPr sz="620">
                          <a:solidFill>
                            <a:srgbClr val="1E242B"/>
                          </a:solidFill>
                          <a:latin typeface="Meiryo UI"/>
                        </a:defRPr>
                      </a:pPr>
                      <a:r>
                        <a:t>• 10月度SOPから4ステップ削除完了（-4.32s/台）；No.22 BOM見積完了；PMT1試作準備中</a:t>
                      </a:r>
                    </a:p>
                  </a:txBody>
                  <a:tcPr anchor="ctr" marL="36576" marR="36576" marT="9144" marB="9144">
                    <a:solidFill>
                      <a:srgbClr val="F7F9FC"/>
                    </a:solidFill>
                  </a:tcPr>
                </a:tc>
                <a:tc>
                  <a:txBody>
                    <a:bodyPr wrap="square"/>
                    <a:lstStyle/>
                    <a:p>
                      <a:pPr algn="l">
                        <a:defRPr sz="620">
                          <a:solidFill>
                            <a:srgbClr val="1E242B"/>
                          </a:solidFill>
                          <a:latin typeface="Meiryo UI"/>
                        </a:defRPr>
                      </a:pPr>
                      <a:r>
                        <a:t>• ロードマップ：DMT -&gt; PMT1（12月）-&gt; PMT2（2月）-&gt; MP（2027年3月）</a:t>
                      </a:r>
                    </a:p>
                  </a:txBody>
                  <a:tcPr anchor="ctr" marL="36576" marR="36576" marT="9144" marB="9144">
                    <a:solidFill>
                      <a:srgbClr val="F7F9FC"/>
                    </a:solidFill>
                  </a:tcPr>
                </a:tc>
                <a:tc>
                  <a:txBody>
                    <a:bodyPr wrap="square"/>
                    <a:lstStyle/>
                    <a:p>
                      <a:pPr algn="l">
                        <a:defRPr sz="620">
                          <a:solidFill>
                            <a:srgbClr val="1E242B"/>
                          </a:solidFill>
                          <a:latin typeface="Meiryo UI"/>
                        </a:defRPr>
                      </a:pPr>
                      <a:r>
                        <a:t>連携会 第13~17回</a:t>
                      </a:r>
                    </a:p>
                  </a:txBody>
                  <a:tcPr anchor="ctr" marL="36576" marR="36576" marT="9144" marB="9144">
                    <a:solidFill>
                      <a:srgbClr val="F7F9FC"/>
                    </a:solidFill>
                  </a:tcPr>
                </a:tc>
              </a:tr>
            </a:tbl>
          </a:graphicData>
        </a:graphic>
      </p:graphicFrame>
      <p:sp>
        <p:nvSpPr>
          <p:cNvPr id="8" name="Rectangle 7"/>
          <p:cNvSpPr/>
          <p:nvPr/>
        </p:nvSpPr>
        <p:spPr>
          <a:xfrm>
            <a:off x="256032" y="5559552"/>
            <a:ext cx="11679631" cy="960120"/>
          </a:xfrm>
          <a:prstGeom prst="rect">
            <a:avLst/>
          </a:prstGeom>
          <a:solidFill>
            <a:srgbClr val="F4F6F9"/>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5559552"/>
            <a:ext cx="11679631" cy="29260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930" b="1">
                <a:solidFill>
                  <a:srgbClr val="FFFFFF"/>
                </a:solidFill>
                <a:latin typeface="Meiryo UI"/>
              </a:defRPr>
            </a:pPr>
            <a:r>
              <a:t>提案件数の推移（28件 -&gt; 37件 -&gt; 38件）および3拠点間の時間単位の定義</a:t>
            </a:r>
          </a:p>
        </p:txBody>
      </p:sp>
      <p:sp>
        <p:nvSpPr>
          <p:cNvPr id="10" name="TextBox 9"/>
          <p:cNvSpPr txBox="1"/>
          <p:nvPr/>
        </p:nvSpPr>
        <p:spPr>
          <a:xfrm>
            <a:off x="329184" y="5879592"/>
            <a:ext cx="11533327" cy="612648"/>
          </a:xfrm>
          <a:prstGeom prst="rect">
            <a:avLst/>
          </a:prstGeom>
          <a:noFill/>
        </p:spPr>
        <p:txBody>
          <a:bodyPr wrap="square" lIns="36576" rIns="36576" tIns="18288" bIns="18288">
            <a:spAutoFit/>
          </a:bodyPr>
          <a:lstStyle/>
          <a:p>
            <a:pPr>
              <a:spcAft>
                <a:spcPts val="220"/>
              </a:spcAft>
              <a:defRPr sz="750">
                <a:solidFill>
                  <a:srgbClr val="1E242B"/>
                </a:solidFill>
                <a:latin typeface="Meiryo UI"/>
              </a:defRPr>
            </a:pPr>
            <a:r>
              <a:t>• 提案件数の推移：8月度報告では28件（日本7、中国10、ベトナム11）；9月にベトナムが9件追加（No.29～37）し37件へ拡大；10月に中国が1件追加（No.38 AI WeChat画像検査）し、現在全38件（日本7、中国11、ベトナム20）となっている。</a:t>
            </a:r>
          </a:p>
          <a:p>
            <a:pPr>
              <a:spcAft>
                <a:spcPts val="220"/>
              </a:spcAft>
              <a:defRPr sz="750">
                <a:solidFill>
                  <a:srgbClr val="1E242B"/>
                </a:solidFill>
                <a:latin typeface="Meiryo UI"/>
              </a:defRPr>
            </a:pPr>
            <a:r>
              <a:t>• 時間単位の定義：KDTVNにおける現行Iris2024最大機種の標準作業時間（正味工数）は1,083秒（調整840秒＋データ採取243秒）。K1～K8の全工程総工数は、起動待ち・印刷待ちおよびエージングU950（285秒）を含め2,350秒であ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参考資料 (2/4)</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日本 7提案（No.1 ～ No.7）および中国 11提案（No.8 ～ No.17、No.38）詳細一覧</a:t>
            </a:r>
          </a:p>
        </p:txBody>
      </p:sp>
      <p:sp>
        <p:nvSpPr>
          <p:cNvPr id="5" name="TextBox 4"/>
          <p:cNvSpPr txBox="1"/>
          <p:nvPr/>
        </p:nvSpPr>
        <p:spPr>
          <a:xfrm>
            <a:off x="11292840" y="109728"/>
            <a:ext cx="731520" cy="347472"/>
          </a:xfrm>
          <a:prstGeom prst="rect">
            <a:avLst/>
          </a:prstGeom>
          <a:noFill/>
        </p:spPr>
        <p:txBody>
          <a:bodyPr wrap="none">
            <a:spAutoFit/>
          </a:bodyPr>
          <a:lstStyle/>
          <a:p>
            <a:pPr algn="r">
              <a:defRPr sz="1000" b="1">
                <a:solidFill>
                  <a:srgbClr val="D0D8E8"/>
                </a:solidFill>
                <a:latin typeface="Meiryo UI"/>
              </a:defRPr>
            </a:pPr>
            <a:r>
              <a:t>13 / 15</a:t>
            </a:r>
          </a:p>
        </p:txBody>
      </p:sp>
      <p:sp>
        <p:nvSpPr>
          <p:cNvPr id="6" name="Rectangle 5"/>
          <p:cNvSpPr/>
          <p:nvPr/>
        </p:nvSpPr>
        <p:spPr>
          <a:xfrm>
            <a:off x="256032" y="640080"/>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rPr sz="1200" b="1">
                <a:solidFill>
                  <a:srgbClr val="1B365D"/>
                </a:solidFill>
                <a:latin typeface="Meiryo UI"/>
              </a:rPr>
              <a:t>■ 総合管理表（IrisEXP改善提案まとめ.xlsx）に登録されている日本および中国の改善提案一覧と、ベトナム工場への水平展開状況。</a:t>
            </a:r>
          </a:p>
        </p:txBody>
      </p:sp>
      <p:sp>
        <p:nvSpPr>
          <p:cNvPr id="7" name="TextBox 6"/>
          <p:cNvSpPr txBox="1"/>
          <p:nvPr/>
        </p:nvSpPr>
        <p:spPr>
          <a:xfrm>
            <a:off x="256032" y="1152144"/>
            <a:ext cx="5440680" cy="201168"/>
          </a:xfrm>
          <a:prstGeom prst="rect">
            <a:avLst/>
          </a:prstGeom>
          <a:noFill/>
        </p:spPr>
        <p:txBody>
          <a:bodyPr wrap="square" lIns="18288" rIns="18288" tIns="9144" bIns="9144">
            <a:spAutoFit/>
          </a:bodyPr>
          <a:lstStyle/>
          <a:p>
            <a:pPr>
              <a:defRPr sz="780" b="1">
                <a:solidFill>
                  <a:srgbClr val="1B365D"/>
                </a:solidFill>
                <a:latin typeface="Meiryo UI"/>
              </a:defRPr>
            </a:pPr>
            <a:r>
              <a:t>■ 日本側の 7 提案（日本：No.1 ～ No.7）</a:t>
            </a:r>
          </a:p>
        </p:txBody>
      </p:sp>
      <p:graphicFrame>
        <p:nvGraphicFramePr>
          <p:cNvPr id="8" name="Table 7"/>
          <p:cNvGraphicFramePr>
            <a:graphicFrameLocks noGrp="1"/>
          </p:cNvGraphicFramePr>
          <p:nvPr/>
        </p:nvGraphicFramePr>
        <p:xfrm>
          <a:off x="256032" y="1353312"/>
          <a:ext cx="5440680" cy="5074920"/>
        </p:xfrm>
        <a:graphic>
          <a:graphicData uri="http://schemas.openxmlformats.org/drawingml/2006/table">
            <a:tbl>
              <a:tblPr firstRow="1" bandRow="1">
                <a:tableStyleId>{5C22544A-7EE6-4342-B048-85BDC9FD1C3A}</a:tableStyleId>
              </a:tblPr>
              <a:tblGrid>
                <a:gridCol w="566928"/>
                <a:gridCol w="1691640"/>
                <a:gridCol w="1490472"/>
                <a:gridCol w="777240"/>
                <a:gridCol w="914400"/>
              </a:tblGrid>
              <a:tr h="563880">
                <a:tc>
                  <a:txBody>
                    <a:bodyPr wrap="square"/>
                    <a:lstStyle/>
                    <a:p>
                      <a:pPr algn="ctr">
                        <a:defRPr sz="720" b="1">
                          <a:solidFill>
                            <a:srgbClr val="FFFFFF"/>
                          </a:solidFill>
                          <a:latin typeface="Meiryo UI"/>
                        </a:defRPr>
                      </a:pPr>
                      <a:r>
                        <a:t>番号</a:t>
                      </a:r>
                    </a:p>
                  </a:txBody>
                  <a:tcPr anchor="ctr" marL="36576" marR="36576" marT="9144" marB="9144">
                    <a:solidFill>
                      <a:srgbClr val="1B365D"/>
                    </a:solidFill>
                  </a:tcPr>
                </a:tc>
                <a:tc>
                  <a:txBody>
                    <a:bodyPr wrap="square"/>
                    <a:lstStyle/>
                    <a:p>
                      <a:pPr algn="ctr">
                        <a:defRPr sz="720" b="1">
                          <a:solidFill>
                            <a:srgbClr val="FFFFFF"/>
                          </a:solidFill>
                          <a:latin typeface="Meiryo UI"/>
                        </a:defRPr>
                      </a:pPr>
                      <a:r>
                        <a:t>日本提案名称</a:t>
                      </a:r>
                    </a:p>
                  </a:txBody>
                  <a:tcPr anchor="ctr" marL="36576" marR="36576" marT="9144" marB="9144">
                    <a:solidFill>
                      <a:srgbClr val="1B365D"/>
                    </a:solidFill>
                  </a:tcPr>
                </a:tc>
                <a:tc>
                  <a:txBody>
                    <a:bodyPr wrap="square"/>
                    <a:lstStyle/>
                    <a:p>
                      <a:pPr algn="ctr">
                        <a:defRPr sz="720" b="1">
                          <a:solidFill>
                            <a:srgbClr val="FFFFFF"/>
                          </a:solidFill>
                          <a:latin typeface="Meiryo UI"/>
                        </a:defRPr>
                      </a:pPr>
                      <a:r>
                        <a:t>技術内容・設計根拠</a:t>
                      </a:r>
                    </a:p>
                  </a:txBody>
                  <a:tcPr anchor="ctr" marL="36576" marR="36576" marT="9144" marB="9144">
                    <a:solidFill>
                      <a:srgbClr val="1B365D"/>
                    </a:solidFill>
                  </a:tcPr>
                </a:tc>
                <a:tc>
                  <a:txBody>
                    <a:bodyPr wrap="square"/>
                    <a:lstStyle/>
                    <a:p>
                      <a:pPr algn="ctr">
                        <a:defRPr sz="720" b="1">
                          <a:solidFill>
                            <a:srgbClr val="FFFFFF"/>
                          </a:solidFill>
                          <a:latin typeface="Meiryo UI"/>
                        </a:defRPr>
                      </a:pPr>
                      <a:r>
                        <a:t>効果</a:t>
                      </a:r>
                    </a:p>
                  </a:txBody>
                  <a:tcPr anchor="ctr" marL="36576" marR="36576" marT="9144" marB="9144">
                    <a:solidFill>
                      <a:srgbClr val="1B365D"/>
                    </a:solidFill>
                  </a:tcPr>
                </a:tc>
                <a:tc>
                  <a:txBody>
                    <a:bodyPr wrap="square"/>
                    <a:lstStyle/>
                    <a:p>
                      <a:pPr algn="ctr">
                        <a:defRPr sz="720" b="1">
                          <a:solidFill>
                            <a:srgbClr val="FFFFFF"/>
                          </a:solidFill>
                          <a:latin typeface="Meiryo UI"/>
                        </a:defRPr>
                      </a:pPr>
                      <a:r>
                        <a:t>判定状況</a:t>
                      </a:r>
                    </a:p>
                  </a:txBody>
                  <a:tcPr anchor="ctr" marL="36576" marR="36576" marT="9144" marB="9144">
                    <a:solidFill>
                      <a:srgbClr val="1B365D"/>
                    </a:solidFill>
                  </a:tcPr>
                </a:tc>
              </a:tr>
              <a:tr h="563880">
                <a:tc>
                  <a:txBody>
                    <a:bodyPr wrap="square"/>
                    <a:lstStyle/>
                    <a:p>
                      <a:pPr algn="ctr">
                        <a:defRPr sz="630" b="1">
                          <a:solidFill>
                            <a:srgbClr val="1E242B"/>
                          </a:solidFill>
                          <a:latin typeface="Meiryo UI"/>
                        </a:defRPr>
                      </a:pPr>
                      <a:r>
                        <a:t>No.1</a:t>
                      </a:r>
                      <a:br/>
                      <a:r>
                        <a:t>(JP)</a:t>
                      </a:r>
                    </a:p>
                  </a:txBody>
                  <a:tcPr anchor="ctr" marL="36576" marR="36576" marT="9144" marB="9144">
                    <a:solidFill>
                      <a:srgbClr val="EAF7EE"/>
                    </a:solidFill>
                  </a:tcPr>
                </a:tc>
                <a:tc>
                  <a:txBody>
                    <a:bodyPr wrap="square"/>
                    <a:lstStyle/>
                    <a:p>
                      <a:pPr algn="l">
                        <a:defRPr sz="630">
                          <a:solidFill>
                            <a:srgbClr val="1E242B"/>
                          </a:solidFill>
                          <a:latin typeface="Meiryo UI"/>
                        </a:defRPr>
                      </a:pPr>
                      <a:r>
                        <a:t>A-1工程を中心としたライン設計（4名、タクト97s）／トナー後工程化</a:t>
                      </a:r>
                    </a:p>
                  </a:txBody>
                  <a:tcPr anchor="ctr" marL="36576" marR="36576" marT="9144" marB="9144">
                    <a:solidFill>
                      <a:srgbClr val="EAF7EE"/>
                    </a:solidFill>
                  </a:tcPr>
                </a:tc>
                <a:tc>
                  <a:txBody>
                    <a:bodyPr wrap="square"/>
                    <a:lstStyle/>
                    <a:p>
                      <a:pPr algn="l">
                        <a:defRPr sz="630">
                          <a:solidFill>
                            <a:srgbClr val="1E242B"/>
                          </a:solidFill>
                          <a:latin typeface="Meiryo UI"/>
                        </a:defRPr>
                      </a:pPr>
                      <a:r>
                        <a:t>DR4にてA-1を4工程（78s, 83s, 95s, 102s＝379s）に分割合意。トナーコンテナを工程末尾で組付け（-13s）。</a:t>
                      </a:r>
                    </a:p>
                  </a:txBody>
                  <a:tcPr anchor="ctr" marL="36576" marR="36576" marT="9144" marB="9144">
                    <a:solidFill>
                      <a:srgbClr val="EAF7EE"/>
                    </a:solidFill>
                  </a:tcPr>
                </a:tc>
                <a:tc>
                  <a:txBody>
                    <a:bodyPr wrap="square"/>
                    <a:lstStyle/>
                    <a:p>
                      <a:pPr algn="ctr">
                        <a:defRPr sz="630">
                          <a:solidFill>
                            <a:srgbClr val="1E242B"/>
                          </a:solidFill>
                          <a:latin typeface="Meiryo UI"/>
                        </a:defRPr>
                      </a:pPr>
                      <a:r>
                        <a:t>18名 -&gt; 9名</a:t>
                      </a:r>
                      <a:br/>
                      <a:r>
                        <a:t>(-13.0s トナー)</a:t>
                      </a:r>
                    </a:p>
                  </a:txBody>
                  <a:tcPr anchor="ctr" marL="36576" marR="36576" marT="9144" marB="9144">
                    <a:solidFill>
                      <a:srgbClr val="EAF7EE"/>
                    </a:solidFill>
                  </a:tcPr>
                </a:tc>
                <a:tc>
                  <a:txBody>
                    <a:bodyPr wrap="square"/>
                    <a:lstStyle/>
                    <a:p>
                      <a:pPr algn="l">
                        <a:defRPr sz="630" b="1">
                          <a:solidFill>
                            <a:srgbClr val="1E6E3E"/>
                          </a:solidFill>
                          <a:latin typeface="Meiryo UI"/>
                        </a:defRPr>
                      </a:pPr>
                      <a:r>
                        <a:t>先行実施</a:t>
                      </a:r>
                    </a:p>
                  </a:txBody>
                  <a:tcPr anchor="ctr" marL="36576" marR="36576" marT="9144" marB="9144">
                    <a:solidFill>
                      <a:srgbClr val="EAF7EE"/>
                    </a:solidFill>
                  </a:tcPr>
                </a:tc>
              </a:tr>
              <a:tr h="563880">
                <a:tc>
                  <a:txBody>
                    <a:bodyPr wrap="square"/>
                    <a:lstStyle/>
                    <a:p>
                      <a:pPr algn="ctr">
                        <a:defRPr sz="630" b="1">
                          <a:solidFill>
                            <a:srgbClr val="1E242B"/>
                          </a:solidFill>
                          <a:latin typeface="Meiryo UI"/>
                        </a:defRPr>
                      </a:pPr>
                      <a:r>
                        <a:t>No.2</a:t>
                      </a:r>
                      <a:br/>
                      <a:r>
                        <a:t>(JP/VN)</a:t>
                      </a:r>
                    </a:p>
                  </a:txBody>
                  <a:tcPr anchor="ctr" marL="36576" marR="36576" marT="9144" marB="9144">
                    <a:solidFill>
                      <a:srgbClr val="EAF7EE"/>
                    </a:solidFill>
                  </a:tcPr>
                </a:tc>
                <a:tc>
                  <a:txBody>
                    <a:bodyPr wrap="square"/>
                    <a:lstStyle/>
                    <a:p>
                      <a:pPr algn="l">
                        <a:defRPr sz="630">
                          <a:solidFill>
                            <a:srgbClr val="1E242B"/>
                          </a:solidFill>
                          <a:latin typeface="Meiryo UI"/>
                        </a:defRPr>
                      </a:pPr>
                      <a:r>
                        <a:t>廃トナー満杯しきい値（WTB・U155）調整の工程廃止</a:t>
                      </a:r>
                    </a:p>
                  </a:txBody>
                  <a:tcPr anchor="ctr" marL="36576" marR="36576" marT="9144" marB="9144">
                    <a:solidFill>
                      <a:srgbClr val="EAF7EE"/>
                    </a:solidFill>
                  </a:tcPr>
                </a:tc>
                <a:tc>
                  <a:txBody>
                    <a:bodyPr wrap="square"/>
                    <a:lstStyle/>
                    <a:p>
                      <a:pPr algn="l">
                        <a:defRPr sz="630">
                          <a:solidFill>
                            <a:srgbClr val="1E242B"/>
                          </a:solidFill>
                          <a:latin typeface="Meiryo UI"/>
                        </a:defRPr>
                      </a:pPr>
                      <a:r>
                        <a:t>本体側にPush Switch追加＋Sub-Assy抵抗測定保証を適用（RPS系実績と同様の構造）。</a:t>
                      </a:r>
                    </a:p>
                  </a:txBody>
                  <a:tcPr anchor="ctr" marL="36576" marR="36576" marT="9144" marB="9144">
                    <a:solidFill>
                      <a:srgbClr val="EAF7EE"/>
                    </a:solidFill>
                  </a:tcPr>
                </a:tc>
                <a:tc>
                  <a:txBody>
                    <a:bodyPr wrap="square"/>
                    <a:lstStyle/>
                    <a:p>
                      <a:pPr algn="ctr">
                        <a:defRPr sz="630">
                          <a:solidFill>
                            <a:srgbClr val="1E242B"/>
                          </a:solidFill>
                          <a:latin typeface="Meiryo UI"/>
                        </a:defRPr>
                      </a:pPr>
                      <a:r>
                        <a:t>-29.16 秒 標準</a:t>
                      </a:r>
                      <a:br/>
                      <a:r>
                        <a:t>(-60s K1にて)</a:t>
                      </a:r>
                    </a:p>
                  </a:txBody>
                  <a:tcPr anchor="ctr" marL="36576" marR="36576" marT="9144" marB="9144">
                    <a:solidFill>
                      <a:srgbClr val="EAF7EE"/>
                    </a:solidFill>
                  </a:tcPr>
                </a:tc>
                <a:tc>
                  <a:txBody>
                    <a:bodyPr wrap="square"/>
                    <a:lstStyle/>
                    <a:p>
                      <a:pPr algn="l">
                        <a:defRPr sz="630" b="1">
                          <a:solidFill>
                            <a:srgbClr val="1E6E3E"/>
                          </a:solidFill>
                          <a:latin typeface="Meiryo UI"/>
                        </a:defRPr>
                      </a:pPr>
                      <a:r>
                        <a:t>先行実施</a:t>
                      </a:r>
                      <a:br/>
                      <a:r>
                        <a:t>(VN No.30と同期)</a:t>
                      </a:r>
                    </a:p>
                  </a:txBody>
                  <a:tcPr anchor="ctr" marL="36576" marR="36576" marT="9144" marB="9144">
                    <a:solidFill>
                      <a:srgbClr val="EAF7EE"/>
                    </a:solidFill>
                  </a:tcPr>
                </a:tc>
              </a:tr>
              <a:tr h="563880">
                <a:tc>
                  <a:txBody>
                    <a:bodyPr wrap="square"/>
                    <a:lstStyle/>
                    <a:p>
                      <a:pPr algn="ctr">
                        <a:defRPr sz="630" b="1">
                          <a:solidFill>
                            <a:srgbClr val="1E242B"/>
                          </a:solidFill>
                          <a:latin typeface="Meiryo UI"/>
                        </a:defRPr>
                      </a:pPr>
                      <a:r>
                        <a:t>No.3</a:t>
                      </a:r>
                      <a:br/>
                      <a:r>
                        <a:t>(JP/VN)</a:t>
                      </a:r>
                    </a:p>
                  </a:txBody>
                  <a:tcPr anchor="ctr" marL="36576" marR="36576" marT="9144" marB="9144">
                    <a:solidFill>
                      <a:srgbClr val="EAF7EE"/>
                    </a:solidFill>
                  </a:tcPr>
                </a:tc>
                <a:tc>
                  <a:txBody>
                    <a:bodyPr wrap="square"/>
                    <a:lstStyle/>
                    <a:p>
                      <a:pPr algn="l">
                        <a:defRPr sz="630">
                          <a:solidFill>
                            <a:srgbClr val="1E242B"/>
                          </a:solidFill>
                          <a:latin typeface="Meiryo UI"/>
                        </a:defRPr>
                      </a:pPr>
                      <a:r>
                        <a:t>U201手動タッチ確認の廃止・Host PCログ照合への置換</a:t>
                      </a:r>
                    </a:p>
                  </a:txBody>
                  <a:tcPr anchor="ctr" marL="36576" marR="36576" marT="9144" marB="9144">
                    <a:solidFill>
                      <a:srgbClr val="EAF7EE"/>
                    </a:solidFill>
                  </a:tcPr>
                </a:tc>
                <a:tc>
                  <a:txBody>
                    <a:bodyPr wrap="square"/>
                    <a:lstStyle/>
                    <a:p>
                      <a:pPr algn="l">
                        <a:defRPr sz="630">
                          <a:solidFill>
                            <a:srgbClr val="1E242B"/>
                          </a:solidFill>
                          <a:latin typeface="Meiryo UI"/>
                        </a:defRPr>
                      </a:pPr>
                      <a:r>
                        <a:t>Sub-Assyでの検査履歴を保持し、Host PCから基板ログを自動読み取り二重チェック（Athena/Spica系と同様）。</a:t>
                      </a:r>
                    </a:p>
                  </a:txBody>
                  <a:tcPr anchor="ctr" marL="36576" marR="36576" marT="9144" marB="9144">
                    <a:solidFill>
                      <a:srgbClr val="EAF7EE"/>
                    </a:solidFill>
                  </a:tcPr>
                </a:tc>
                <a:tc>
                  <a:txBody>
                    <a:bodyPr wrap="square"/>
                    <a:lstStyle/>
                    <a:p>
                      <a:pPr algn="ctr">
                        <a:defRPr sz="630">
                          <a:solidFill>
                            <a:srgbClr val="1E242B"/>
                          </a:solidFill>
                          <a:latin typeface="Meiryo UI"/>
                        </a:defRPr>
                      </a:pPr>
                      <a:r>
                        <a:t>-15.12 秒</a:t>
                      </a:r>
                      <a:br/>
                      <a:r>
                        <a:t>(6ステップ削除)</a:t>
                      </a:r>
                    </a:p>
                  </a:txBody>
                  <a:tcPr anchor="ctr" marL="36576" marR="36576" marT="9144" marB="9144">
                    <a:solidFill>
                      <a:srgbClr val="EAF7EE"/>
                    </a:solidFill>
                  </a:tcPr>
                </a:tc>
                <a:tc>
                  <a:txBody>
                    <a:bodyPr wrap="square"/>
                    <a:lstStyle/>
                    <a:p>
                      <a:pPr algn="l">
                        <a:defRPr sz="630" b="1">
                          <a:solidFill>
                            <a:srgbClr val="1E6E3E"/>
                          </a:solidFill>
                          <a:latin typeface="Meiryo UI"/>
                        </a:defRPr>
                      </a:pPr>
                      <a:r>
                        <a:t>先行実施</a:t>
                      </a:r>
                      <a:br/>
                      <a:r>
                        <a:t>(ロボットNo.24代替)</a:t>
                      </a:r>
                    </a:p>
                  </a:txBody>
                  <a:tcPr anchor="ctr" marL="36576" marR="36576" marT="9144" marB="9144">
                    <a:solidFill>
                      <a:srgbClr val="EAF7EE"/>
                    </a:solidFill>
                  </a:tcPr>
                </a:tc>
              </a:tr>
              <a:tr h="563880">
                <a:tc>
                  <a:txBody>
                    <a:bodyPr wrap="square"/>
                    <a:lstStyle/>
                    <a:p>
                      <a:pPr algn="ctr">
                        <a:defRPr sz="630" b="1">
                          <a:solidFill>
                            <a:srgbClr val="1E242B"/>
                          </a:solidFill>
                          <a:latin typeface="Meiryo UI"/>
                        </a:defRPr>
                      </a:pPr>
                      <a:r>
                        <a:t>No.4</a:t>
                      </a:r>
                      <a:br/>
                      <a:r>
                        <a:t>(JP/VN)</a:t>
                      </a:r>
                    </a:p>
                  </a:txBody>
                  <a:tcPr anchor="ctr" marL="36576" marR="36576" marT="9144" marB="9144">
                    <a:solidFill>
                      <a:srgbClr val="EAF7EE"/>
                    </a:solidFill>
                  </a:tcPr>
                </a:tc>
                <a:tc>
                  <a:txBody>
                    <a:bodyPr wrap="square"/>
                    <a:lstStyle/>
                    <a:p>
                      <a:pPr algn="l">
                        <a:defRPr sz="630">
                          <a:solidFill>
                            <a:srgbClr val="1E242B"/>
                          </a:solidFill>
                          <a:latin typeface="Meiryo UI"/>
                        </a:defRPr>
                      </a:pPr>
                      <a:r>
                        <a:t>カセット1・2用紙サイズ確認の目視からソフト自動判定への移行</a:t>
                      </a:r>
                    </a:p>
                  </a:txBody>
                  <a:tcPr anchor="ctr" marL="36576" marR="36576" marT="9144" marB="9144">
                    <a:solidFill>
                      <a:srgbClr val="EAF7EE"/>
                    </a:solidFill>
                  </a:tcPr>
                </a:tc>
                <a:tc>
                  <a:txBody>
                    <a:bodyPr wrap="square"/>
                    <a:lstStyle/>
                    <a:p>
                      <a:pPr algn="l">
                        <a:defRPr sz="630">
                          <a:solidFill>
                            <a:srgbClr val="1E242B"/>
                          </a:solidFill>
                          <a:latin typeface="Meiryo UI"/>
                        </a:defRPr>
                      </a:pPr>
                      <a:r>
                        <a:t>Host PCからコマンドを送信し、開閉およびサイズセンサ信号を電子的に判定。目視確認を廃止。</a:t>
                      </a:r>
                    </a:p>
                  </a:txBody>
                  <a:tcPr anchor="ctr" marL="36576" marR="36576" marT="9144" marB="9144">
                    <a:solidFill>
                      <a:srgbClr val="EAF7EE"/>
                    </a:solidFill>
                  </a:tcPr>
                </a:tc>
                <a:tc>
                  <a:txBody>
                    <a:bodyPr wrap="square"/>
                    <a:lstStyle/>
                    <a:p>
                      <a:pPr algn="ctr">
                        <a:defRPr sz="630">
                          <a:solidFill>
                            <a:srgbClr val="1E242B"/>
                          </a:solidFill>
                          <a:latin typeface="Meiryo UI"/>
                        </a:defRPr>
                      </a:pPr>
                      <a:r>
                        <a:t>-66.68 秒</a:t>
                      </a:r>
                      <a:br/>
                      <a:r>
                        <a:t>(No.34と同期)</a:t>
                      </a:r>
                    </a:p>
                  </a:txBody>
                  <a:tcPr anchor="ctr" marL="36576" marR="36576" marT="9144" marB="9144">
                    <a:solidFill>
                      <a:srgbClr val="EAF7EE"/>
                    </a:solidFill>
                  </a:tcPr>
                </a:tc>
                <a:tc>
                  <a:txBody>
                    <a:bodyPr wrap="square"/>
                    <a:lstStyle/>
                    <a:p>
                      <a:pPr algn="l">
                        <a:defRPr sz="630" b="1">
                          <a:solidFill>
                            <a:srgbClr val="1E6E3E"/>
                          </a:solidFill>
                          <a:latin typeface="Meiryo UI"/>
                        </a:defRPr>
                      </a:pPr>
                      <a:r>
                        <a:t>先行実施</a:t>
                      </a:r>
                    </a:p>
                  </a:txBody>
                  <a:tcPr anchor="ctr" marL="36576" marR="36576" marT="9144" marB="9144">
                    <a:solidFill>
                      <a:srgbClr val="EAF7EE"/>
                    </a:solidFill>
                  </a:tcPr>
                </a:tc>
              </a:tr>
              <a:tr h="563880">
                <a:tc>
                  <a:txBody>
                    <a:bodyPr wrap="square"/>
                    <a:lstStyle/>
                    <a:p>
                      <a:pPr algn="ctr">
                        <a:defRPr sz="630" b="1">
                          <a:solidFill>
                            <a:srgbClr val="1E242B"/>
                          </a:solidFill>
                          <a:latin typeface="Meiryo UI"/>
                        </a:defRPr>
                      </a:pPr>
                      <a:r>
                        <a:t>No.5</a:t>
                      </a:r>
                      <a:br/>
                      <a:r>
                        <a:t>(JP)</a:t>
                      </a:r>
                    </a:p>
                  </a:txBody>
                  <a:tcPr anchor="ctr" marL="36576" marR="36576" marT="9144" marB="9144">
                    <a:solidFill>
                      <a:srgbClr val="FFFFFF"/>
                    </a:solidFill>
                  </a:tcPr>
                </a:tc>
                <a:tc>
                  <a:txBody>
                    <a:bodyPr wrap="square"/>
                    <a:lstStyle/>
                    <a:p>
                      <a:pPr algn="l">
                        <a:defRPr sz="630">
                          <a:solidFill>
                            <a:srgbClr val="1E242B"/>
                          </a:solidFill>
                          <a:latin typeface="Meiryo UI"/>
                        </a:defRPr>
                      </a:pPr>
                      <a:r>
                        <a:t>人感センサ（Human sensor）検査方法の見直し／JAM擬似発生廃止</a:t>
                      </a:r>
                    </a:p>
                  </a:txBody>
                  <a:tcPr anchor="ctr" marL="36576" marR="36576" marT="9144" marB="9144">
                    <a:solidFill>
                      <a:srgbClr val="FFFFFF"/>
                    </a:solidFill>
                  </a:tcPr>
                </a:tc>
                <a:tc>
                  <a:txBody>
                    <a:bodyPr wrap="square"/>
                    <a:lstStyle/>
                    <a:p>
                      <a:pPr algn="l">
                        <a:defRPr sz="630">
                          <a:solidFill>
                            <a:srgbClr val="1E242B"/>
                          </a:solidFill>
                          <a:latin typeface="Meiryo UI"/>
                        </a:defRPr>
                      </a:pPr>
                      <a:r>
                        <a:t>IrisEXPにおける検知エリア構造の変更。同時に紙詰まりJAMを故意に発生させる工程を削除（-11.16s）。</a:t>
                      </a:r>
                    </a:p>
                  </a:txBody>
                  <a:tcPr anchor="ctr" marL="36576" marR="36576" marT="9144" marB="9144">
                    <a:solidFill>
                      <a:srgbClr val="FFFFFF"/>
                    </a:solidFill>
                  </a:tcPr>
                </a:tc>
                <a:tc>
                  <a:txBody>
                    <a:bodyPr wrap="square"/>
                    <a:lstStyle/>
                    <a:p>
                      <a:pPr algn="ctr">
                        <a:defRPr sz="630">
                          <a:solidFill>
                            <a:srgbClr val="1E242B"/>
                          </a:solidFill>
                          <a:latin typeface="Meiryo UI"/>
                        </a:defRPr>
                      </a:pPr>
                      <a:r>
                        <a:t>-11.16 秒</a:t>
                      </a:r>
                      <a:br/>
                      <a:r>
                        <a:t>(6ステップ削除)</a:t>
                      </a:r>
                    </a:p>
                  </a:txBody>
                  <a:tcPr anchor="ctr" marL="36576" marR="36576" marT="9144" marB="9144">
                    <a:solidFill>
                      <a:srgbClr val="FFFFFF"/>
                    </a:solidFill>
                  </a:tcPr>
                </a:tc>
                <a:tc>
                  <a:txBody>
                    <a:bodyPr wrap="square"/>
                    <a:lstStyle/>
                    <a:p>
                      <a:pPr algn="l">
                        <a:defRPr sz="630">
                          <a:solidFill>
                            <a:srgbClr val="1E242B"/>
                          </a:solidFill>
                          <a:latin typeface="Meiryo UI"/>
                        </a:defRPr>
                      </a:pPr>
                      <a:r>
                        <a:t>日本側の標準</a:t>
                      </a:r>
                      <a:br/>
                      <a:r>
                        <a:t>資料待ち</a:t>
                      </a:r>
                    </a:p>
                  </a:txBody>
                  <a:tcPr anchor="ctr" marL="36576" marR="36576" marT="9144" marB="9144">
                    <a:solidFill>
                      <a:srgbClr val="FFFFFF"/>
                    </a:solidFill>
                  </a:tcPr>
                </a:tc>
              </a:tr>
              <a:tr h="563880">
                <a:tc>
                  <a:txBody>
                    <a:bodyPr wrap="square"/>
                    <a:lstStyle/>
                    <a:p>
                      <a:pPr algn="ctr">
                        <a:defRPr sz="630" b="1">
                          <a:solidFill>
                            <a:srgbClr val="1E242B"/>
                          </a:solidFill>
                          <a:latin typeface="Meiryo UI"/>
                        </a:defRPr>
                      </a:pPr>
                      <a:r>
                        <a:t>No.6</a:t>
                      </a:r>
                      <a:br/>
                      <a:r>
                        <a:t>(JP/VN)</a:t>
                      </a:r>
                    </a:p>
                  </a:txBody>
                  <a:tcPr anchor="ctr" marL="36576" marR="36576" marT="9144" marB="9144">
                    <a:solidFill>
                      <a:srgbClr val="EAF7EE"/>
                    </a:solidFill>
                  </a:tcPr>
                </a:tc>
                <a:tc>
                  <a:txBody>
                    <a:bodyPr wrap="square"/>
                    <a:lstStyle/>
                    <a:p>
                      <a:pPr algn="l">
                        <a:defRPr sz="630">
                          <a:solidFill>
                            <a:srgbClr val="1E242B"/>
                          </a:solidFill>
                          <a:latin typeface="Meiryo UI"/>
                        </a:defRPr>
                      </a:pPr>
                      <a:r>
                        <a:t>USB認識単独検査の廃止（FW投入工程での代替保証）</a:t>
                      </a:r>
                    </a:p>
                  </a:txBody>
                  <a:tcPr anchor="ctr" marL="36576" marR="36576" marT="9144" marB="9144">
                    <a:solidFill>
                      <a:srgbClr val="EAF7EE"/>
                    </a:solidFill>
                  </a:tcPr>
                </a:tc>
                <a:tc>
                  <a:txBody>
                    <a:bodyPr wrap="square"/>
                    <a:lstStyle/>
                    <a:p>
                      <a:pPr algn="l">
                        <a:defRPr sz="630">
                          <a:solidFill>
                            <a:srgbClr val="1E242B"/>
                          </a:solidFill>
                          <a:latin typeface="Meiryo UI"/>
                        </a:defRPr>
                      </a:pPr>
                      <a:r>
                        <a:t>A-1先頭でのFW書込み（USB 2本使用）によりポート正常性を確認済とする（FW事前書込み時は個別確認要）。</a:t>
                      </a:r>
                    </a:p>
                  </a:txBody>
                  <a:tcPr anchor="ctr" marL="36576" marR="36576" marT="9144" marB="9144">
                    <a:solidFill>
                      <a:srgbClr val="EAF7EE"/>
                    </a:solidFill>
                  </a:tcPr>
                </a:tc>
                <a:tc>
                  <a:txBody>
                    <a:bodyPr wrap="square"/>
                    <a:lstStyle/>
                    <a:p>
                      <a:pPr algn="ctr">
                        <a:defRPr sz="630">
                          <a:solidFill>
                            <a:srgbClr val="1E242B"/>
                          </a:solidFill>
                          <a:latin typeface="Meiryo UI"/>
                        </a:defRPr>
                      </a:pPr>
                      <a:r>
                        <a:t>-3.96 秒 標準</a:t>
                      </a:r>
                      <a:br/>
                      <a:r>
                        <a:t>(-15s K4にて)</a:t>
                      </a:r>
                    </a:p>
                  </a:txBody>
                  <a:tcPr anchor="ctr" marL="36576" marR="36576" marT="9144" marB="9144">
                    <a:solidFill>
                      <a:srgbClr val="EAF7EE"/>
                    </a:solidFill>
                  </a:tcPr>
                </a:tc>
                <a:tc>
                  <a:txBody>
                    <a:bodyPr wrap="square"/>
                    <a:lstStyle/>
                    <a:p>
                      <a:pPr algn="l">
                        <a:defRPr sz="630" b="1">
                          <a:solidFill>
                            <a:srgbClr val="1E6E3E"/>
                          </a:solidFill>
                          <a:latin typeface="Meiryo UI"/>
                        </a:defRPr>
                      </a:pPr>
                      <a:r>
                        <a:t>先行実施</a:t>
                      </a:r>
                      <a:br/>
                      <a:r>
                        <a:t>(ロボットNo.24代替)</a:t>
                      </a:r>
                    </a:p>
                  </a:txBody>
                  <a:tcPr anchor="ctr" marL="36576" marR="36576" marT="9144" marB="9144">
                    <a:solidFill>
                      <a:srgbClr val="EAF7EE"/>
                    </a:solidFill>
                  </a:tcPr>
                </a:tc>
              </a:tr>
              <a:tr h="563880">
                <a:tc>
                  <a:txBody>
                    <a:bodyPr wrap="square"/>
                    <a:lstStyle/>
                    <a:p>
                      <a:pPr algn="ctr">
                        <a:defRPr sz="630" b="1">
                          <a:solidFill>
                            <a:srgbClr val="1E242B"/>
                          </a:solidFill>
                          <a:latin typeface="Meiryo UI"/>
                        </a:defRPr>
                      </a:pPr>
                      <a:r>
                        <a:t>No.7</a:t>
                      </a:r>
                      <a:br/>
                      <a:r>
                        <a:t>(JP/VN)</a:t>
                      </a:r>
                    </a:p>
                  </a:txBody>
                  <a:tcPr anchor="ctr" marL="36576" marR="36576" marT="9144" marB="9144">
                    <a:solidFill>
                      <a:srgbClr val="EAF7EE"/>
                    </a:solidFill>
                  </a:tcPr>
                </a:tc>
                <a:tc>
                  <a:txBody>
                    <a:bodyPr wrap="square"/>
                    <a:lstStyle/>
                    <a:p>
                      <a:pPr algn="l">
                        <a:defRPr sz="630">
                          <a:solidFill>
                            <a:srgbClr val="1E242B"/>
                          </a:solidFill>
                          <a:latin typeface="Meiryo UI"/>
                        </a:defRPr>
                      </a:pPr>
                      <a:r>
                        <a:t>ドアスイッチ自動検知およびカバー全閉状態での安全耐圧測定</a:t>
                      </a:r>
                    </a:p>
                  </a:txBody>
                  <a:tcPr anchor="ctr" marL="36576" marR="36576" marT="9144" marB="9144">
                    <a:solidFill>
                      <a:srgbClr val="EAF7EE"/>
                    </a:solidFill>
                  </a:tcPr>
                </a:tc>
                <a:tc>
                  <a:txBody>
                    <a:bodyPr wrap="square"/>
                    <a:lstStyle/>
                    <a:p>
                      <a:pPr algn="l">
                        <a:defRPr sz="630">
                          <a:solidFill>
                            <a:srgbClr val="1E242B"/>
                          </a:solidFill>
                          <a:latin typeface="Meiryo UI"/>
                        </a:defRPr>
                      </a:pPr>
                      <a:r>
                        <a:t>ソフトによるスイッチ検知（-8.88s）と、カバー完全閉塞状態での耐圧・アース測定を分離実施。</a:t>
                      </a:r>
                    </a:p>
                  </a:txBody>
                  <a:tcPr anchor="ctr" marL="36576" marR="36576" marT="9144" marB="9144">
                    <a:solidFill>
                      <a:srgbClr val="EAF7EE"/>
                    </a:solidFill>
                  </a:tcPr>
                </a:tc>
                <a:tc>
                  <a:txBody>
                    <a:bodyPr wrap="square"/>
                    <a:lstStyle/>
                    <a:p>
                      <a:pPr algn="ctr">
                        <a:defRPr sz="630">
                          <a:solidFill>
                            <a:srgbClr val="1E242B"/>
                          </a:solidFill>
                          <a:latin typeface="Meiryo UI"/>
                        </a:defRPr>
                      </a:pPr>
                      <a:r>
                        <a:t>-8.88s スイッチ</a:t>
                      </a:r>
                      <a:br/>
                      <a:r>
                        <a:t>(-9.5s U051)</a:t>
                      </a:r>
                    </a:p>
                  </a:txBody>
                  <a:tcPr anchor="ctr" marL="36576" marR="36576" marT="9144" marB="9144">
                    <a:solidFill>
                      <a:srgbClr val="EAF7EE"/>
                    </a:solidFill>
                  </a:tcPr>
                </a:tc>
                <a:tc>
                  <a:txBody>
                    <a:bodyPr wrap="square"/>
                    <a:lstStyle/>
                    <a:p>
                      <a:pPr algn="l">
                        <a:defRPr sz="630" b="1">
                          <a:solidFill>
                            <a:srgbClr val="1E6E3E"/>
                          </a:solidFill>
                          <a:latin typeface="Meiryo UI"/>
                        </a:defRPr>
                      </a:pPr>
                      <a:r>
                        <a:t>先行実施</a:t>
                      </a:r>
                      <a:br/>
                      <a:r>
                        <a:t>(No.22, 36と同期)</a:t>
                      </a:r>
                    </a:p>
                  </a:txBody>
                  <a:tcPr anchor="ctr" marL="36576" marR="36576" marT="9144" marB="9144">
                    <a:solidFill>
                      <a:srgbClr val="EAF7EE"/>
                    </a:solidFill>
                  </a:tcPr>
                </a:tc>
              </a:tr>
              <a:tr h="563880">
                <a:tc>
                  <a:txBody>
                    <a:bodyPr wrap="square"/>
                    <a:lstStyle/>
                    <a:p>
                      <a:pPr algn="ctr">
                        <a:defRPr sz="630" b="1">
                          <a:solidFill>
                            <a:srgbClr val="1E242B"/>
                          </a:solidFill>
                          <a:latin typeface="Meiryo UI"/>
                        </a:defRPr>
                      </a:pPr>
                      <a:r>
                        <a:t>日本</a:t>
                      </a:r>
                      <a:br/>
                      <a:r>
                        <a:t>合計</a:t>
                      </a:r>
                    </a:p>
                  </a:txBody>
                  <a:tcPr anchor="ctr" marL="36576" marR="36576" marT="9144" marB="9144">
                    <a:solidFill>
                      <a:srgbClr val="E8EEF5"/>
                    </a:solidFill>
                  </a:tcPr>
                </a:tc>
                <a:tc>
                  <a:txBody>
                    <a:bodyPr wrap="square"/>
                    <a:lstStyle/>
                    <a:p>
                      <a:pPr algn="l">
                        <a:defRPr sz="630" b="1">
                          <a:solidFill>
                            <a:srgbClr val="1E242B"/>
                          </a:solidFill>
                          <a:latin typeface="Meiryo UI"/>
                        </a:defRPr>
                      </a:pPr>
                      <a:r>
                        <a:t>• 日本7提案合計：-87.84s vs Iris2024（-176.84s vs 未改善）</a:t>
                      </a:r>
                      <a:br/>
                      <a:r>
                        <a:t>• 削除対象153ステップ合計：-267.74s カラー / -263.06s モノクロ</a:t>
                      </a:r>
                    </a:p>
                  </a:txBody>
                  <a:tcPr anchor="ctr" marL="36576" marR="36576" marT="9144" marB="9144">
                    <a:solidFill>
                      <a:srgbClr val="E8EEF5"/>
                    </a:solidFill>
                  </a:tcPr>
                </a:tc>
                <a:tc>
                  <a:txBody>
                    <a:bodyPr wrap="square"/>
                    <a:lstStyle/>
                    <a:p>
                      <a:pPr algn="l">
                        <a:defRPr sz="630">
                          <a:solidFill>
                            <a:srgbClr val="1E242B"/>
                          </a:solidFill>
                          <a:latin typeface="Meiryo UI"/>
                        </a:defRPr>
                      </a:pPr>
                      <a:r>
                        <a:t>• 制御基盤：Spica Mini PCシステム（約4万円/台、4台制御）</a:t>
                      </a:r>
                      <a:br/>
                      <a:r>
                        <a:t>• U413ソフト廃止（実施の場合）：225～250万円</a:t>
                      </a:r>
                    </a:p>
                  </a:txBody>
                  <a:tcPr anchor="ctr" marL="36576" marR="36576" marT="9144" marB="9144">
                    <a:solidFill>
                      <a:srgbClr val="E8EEF5"/>
                    </a:solidFill>
                  </a:tcPr>
                </a:tc>
                <a:tc>
                  <a:txBody>
                    <a:bodyPr wrap="square"/>
                    <a:lstStyle/>
                    <a:p>
                      <a:pPr algn="ctr">
                        <a:defRPr sz="630">
                          <a:solidFill>
                            <a:srgbClr val="1E242B"/>
                          </a:solidFill>
                          <a:latin typeface="Meiryo UI"/>
                        </a:defRPr>
                      </a:pPr>
                      <a:r>
                        <a:t>-176.84 秒 ～</a:t>
                      </a:r>
                      <a:br/>
                      <a:r>
                        <a:t>-267.74 秒</a:t>
                      </a:r>
                    </a:p>
                  </a:txBody>
                  <a:tcPr anchor="ctr" marL="36576" marR="36576" marT="9144" marB="9144">
                    <a:solidFill>
                      <a:srgbClr val="E8EEF5"/>
                    </a:solidFill>
                  </a:tcPr>
                </a:tc>
                <a:tc>
                  <a:txBody>
                    <a:bodyPr wrap="square"/>
                    <a:lstStyle/>
                    <a:p>
                      <a:pPr algn="l">
                        <a:defRPr sz="630" b="1">
                          <a:solidFill>
                            <a:srgbClr val="1E6E3E"/>
                          </a:solidFill>
                          <a:latin typeface="Meiryo UI"/>
                        </a:defRPr>
                      </a:pPr>
                      <a:r>
                        <a:t>6/7件 先行実施</a:t>
                      </a:r>
                    </a:p>
                  </a:txBody>
                  <a:tcPr anchor="ctr" marL="36576" marR="36576" marT="9144" marB="9144">
                    <a:solidFill>
                      <a:srgbClr val="E8EEF5"/>
                    </a:solidFill>
                  </a:tcPr>
                </a:tc>
              </a:tr>
            </a:tbl>
          </a:graphicData>
        </a:graphic>
      </p:graphicFrame>
      <p:sp>
        <p:nvSpPr>
          <p:cNvPr id="9" name="TextBox 8"/>
          <p:cNvSpPr txBox="1"/>
          <p:nvPr/>
        </p:nvSpPr>
        <p:spPr>
          <a:xfrm>
            <a:off x="5833872" y="1152144"/>
            <a:ext cx="6101791" cy="201168"/>
          </a:xfrm>
          <a:prstGeom prst="rect">
            <a:avLst/>
          </a:prstGeom>
          <a:noFill/>
        </p:spPr>
        <p:txBody>
          <a:bodyPr wrap="square" lIns="18288" rIns="18288" tIns="9144" bIns="9144">
            <a:spAutoFit/>
          </a:bodyPr>
          <a:lstStyle/>
          <a:p>
            <a:pPr>
              <a:defRPr sz="780" b="1">
                <a:solidFill>
                  <a:srgbClr val="1B365D"/>
                </a:solidFill>
                <a:latin typeface="Meiryo UI"/>
              </a:defRPr>
            </a:pPr>
            <a:r>
              <a:t>■ 中国側の 11 提案（中国：No.8 ～ No.17、No.38）</a:t>
            </a:r>
          </a:p>
        </p:txBody>
      </p:sp>
      <p:graphicFrame>
        <p:nvGraphicFramePr>
          <p:cNvPr id="10" name="Table 9"/>
          <p:cNvGraphicFramePr>
            <a:graphicFrameLocks noGrp="1"/>
          </p:cNvGraphicFramePr>
          <p:nvPr/>
        </p:nvGraphicFramePr>
        <p:xfrm>
          <a:off x="5833872" y="1353312"/>
          <a:ext cx="6101791" cy="5074920"/>
        </p:xfrm>
        <a:graphic>
          <a:graphicData uri="http://schemas.openxmlformats.org/drawingml/2006/table">
            <a:tbl>
              <a:tblPr firstRow="1" bandRow="1">
                <a:tableStyleId>{5C22544A-7EE6-4342-B048-85BDC9FD1C3A}</a:tableStyleId>
              </a:tblPr>
              <a:tblGrid>
                <a:gridCol w="566928"/>
                <a:gridCol w="1810512"/>
                <a:gridCol w="1758391"/>
                <a:gridCol w="914400"/>
                <a:gridCol w="1051560"/>
              </a:tblGrid>
              <a:tr h="422910">
                <a:tc>
                  <a:txBody>
                    <a:bodyPr wrap="square"/>
                    <a:lstStyle/>
                    <a:p>
                      <a:pPr algn="ctr">
                        <a:defRPr sz="680" b="1">
                          <a:solidFill>
                            <a:srgbClr val="FFFFFF"/>
                          </a:solidFill>
                          <a:latin typeface="Meiryo UI"/>
                        </a:defRPr>
                      </a:pPr>
                      <a:r>
                        <a:t>番号</a:t>
                      </a:r>
                    </a:p>
                  </a:txBody>
                  <a:tcPr anchor="ctr" marL="36576" marR="36576" marT="9144" marB="9144">
                    <a:solidFill>
                      <a:srgbClr val="1B365D"/>
                    </a:solidFill>
                  </a:tcPr>
                </a:tc>
                <a:tc>
                  <a:txBody>
                    <a:bodyPr wrap="square"/>
                    <a:lstStyle/>
                    <a:p>
                      <a:pPr algn="ctr">
                        <a:defRPr sz="680" b="1">
                          <a:solidFill>
                            <a:srgbClr val="FFFFFF"/>
                          </a:solidFill>
                          <a:latin typeface="Meiryo UI"/>
                        </a:defRPr>
                      </a:pPr>
                      <a:r>
                        <a:t>中国提案名称</a:t>
                      </a:r>
                    </a:p>
                  </a:txBody>
                  <a:tcPr anchor="ctr" marL="36576" marR="36576" marT="9144" marB="9144">
                    <a:solidFill>
                      <a:srgbClr val="1B365D"/>
                    </a:solidFill>
                  </a:tcPr>
                </a:tc>
                <a:tc>
                  <a:txBody>
                    <a:bodyPr wrap="square"/>
                    <a:lstStyle/>
                    <a:p>
                      <a:pPr algn="ctr">
                        <a:defRPr sz="680" b="1">
                          <a:solidFill>
                            <a:srgbClr val="FFFFFF"/>
                          </a:solidFill>
                          <a:latin typeface="Meiryo UI"/>
                        </a:defRPr>
                      </a:pPr>
                      <a:r>
                        <a:t>技術内容および評価</a:t>
                      </a:r>
                    </a:p>
                  </a:txBody>
                  <a:tcPr anchor="ctr" marL="36576" marR="36576" marT="9144" marB="9144">
                    <a:solidFill>
                      <a:srgbClr val="1B365D"/>
                    </a:solidFill>
                  </a:tcPr>
                </a:tc>
                <a:tc>
                  <a:txBody>
                    <a:bodyPr wrap="square"/>
                    <a:lstStyle/>
                    <a:p>
                      <a:pPr algn="ctr">
                        <a:defRPr sz="680" b="1">
                          <a:solidFill>
                            <a:srgbClr val="FFFFFF"/>
                          </a:solidFill>
                          <a:latin typeface="Meiryo UI"/>
                        </a:defRPr>
                      </a:pPr>
                      <a:r>
                        <a:t>効果</a:t>
                      </a:r>
                    </a:p>
                  </a:txBody>
                  <a:tcPr anchor="ctr" marL="36576" marR="36576" marT="9144" marB="9144">
                    <a:solidFill>
                      <a:srgbClr val="1B365D"/>
                    </a:solidFill>
                  </a:tcPr>
                </a:tc>
                <a:tc>
                  <a:txBody>
                    <a:bodyPr wrap="square"/>
                    <a:lstStyle/>
                    <a:p>
                      <a:pPr algn="ctr">
                        <a:defRPr sz="680" b="1">
                          <a:solidFill>
                            <a:srgbClr val="FFFFFF"/>
                          </a:solidFill>
                          <a:latin typeface="Meiryo UI"/>
                        </a:defRPr>
                      </a:pPr>
                      <a:r>
                        <a:t>判定状況</a:t>
                      </a:r>
                    </a:p>
                  </a:txBody>
                  <a:tcPr anchor="ctr" marL="36576" marR="36576" marT="9144" marB="9144">
                    <a:solidFill>
                      <a:srgbClr val="1B365D"/>
                    </a:solidFill>
                  </a:tcPr>
                </a:tc>
              </a:tr>
              <a:tr h="422910">
                <a:tc>
                  <a:txBody>
                    <a:bodyPr wrap="square"/>
                    <a:lstStyle/>
                    <a:p>
                      <a:pPr algn="ctr">
                        <a:defRPr sz="590" b="1">
                          <a:solidFill>
                            <a:srgbClr val="1E242B"/>
                          </a:solidFill>
                          <a:latin typeface="Meiryo UI"/>
                        </a:defRPr>
                      </a:pPr>
                      <a:r>
                        <a:t>No.8</a:t>
                      </a:r>
                    </a:p>
                  </a:txBody>
                  <a:tcPr anchor="ctr" marL="36576" marR="36576" marT="9144" marB="9144">
                    <a:solidFill>
                      <a:srgbClr val="FFFFFF"/>
                    </a:solidFill>
                  </a:tcPr>
                </a:tc>
                <a:tc>
                  <a:txBody>
                    <a:bodyPr wrap="square"/>
                    <a:lstStyle/>
                    <a:p>
                      <a:pPr algn="l">
                        <a:defRPr sz="590">
                          <a:solidFill>
                            <a:srgbClr val="1E242B"/>
                          </a:solidFill>
                          <a:latin typeface="Meiryo UI"/>
                        </a:defRPr>
                      </a:pPr>
                      <a:r>
                        <a:t>調整工程における転写ベルト（Transfer Belt）隙間測定の廃止検討</a:t>
                      </a:r>
                    </a:p>
                  </a:txBody>
                  <a:tcPr anchor="ctr" marL="36576" marR="36576" marT="9144" marB="9144">
                    <a:solidFill>
                      <a:srgbClr val="FFFFFF"/>
                    </a:solidFill>
                  </a:tcPr>
                </a:tc>
                <a:tc>
                  <a:txBody>
                    <a:bodyPr wrap="square"/>
                    <a:lstStyle/>
                    <a:p>
                      <a:pPr algn="l">
                        <a:defRPr sz="590">
                          <a:solidFill>
                            <a:srgbClr val="1E242B"/>
                          </a:solidFill>
                          <a:latin typeface="Meiryo UI"/>
                        </a:defRPr>
                      </a:pPr>
                      <a:r>
                        <a:t>中国工場では不良ゼロだが、ベトナムでは月1～2台発生実績あり。35°面取りプーリ＋新ベルト材質へ変更済。</a:t>
                      </a:r>
                    </a:p>
                  </a:txBody>
                  <a:tcPr anchor="ctr" marL="36576" marR="36576" marT="9144" marB="9144">
                    <a:solidFill>
                      <a:srgbClr val="FFFFFF"/>
                    </a:solidFill>
                  </a:tcPr>
                </a:tc>
                <a:tc>
                  <a:txBody>
                    <a:bodyPr wrap="square"/>
                    <a:lstStyle/>
                    <a:p>
                      <a:pPr algn="ctr">
                        <a:defRPr sz="590">
                          <a:solidFill>
                            <a:srgbClr val="1E242B"/>
                          </a:solidFill>
                          <a:latin typeface="Meiryo UI"/>
                        </a:defRPr>
                      </a:pPr>
                      <a:r>
                        <a:t>-15.36 秒 標準</a:t>
                      </a:r>
                      <a:br/>
                      <a:r>
                        <a:t>(-5s K4にて)</a:t>
                      </a:r>
                    </a:p>
                  </a:txBody>
                  <a:tcPr anchor="ctr" marL="36576" marR="36576" marT="9144" marB="9144">
                    <a:solidFill>
                      <a:srgbClr val="FFFFFF"/>
                    </a:solidFill>
                  </a:tcPr>
                </a:tc>
                <a:tc>
                  <a:txBody>
                    <a:bodyPr wrap="square"/>
                    <a:lstStyle/>
                    <a:p>
                      <a:pPr algn="l">
                        <a:defRPr sz="590">
                          <a:solidFill>
                            <a:srgbClr val="1E242B"/>
                          </a:solidFill>
                          <a:latin typeface="Meiryo UI"/>
                        </a:defRPr>
                      </a:pPr>
                      <a:r>
                        <a:t>品保承認待ち</a:t>
                      </a:r>
                      <a:br/>
                      <a:r>
                        <a:t>(VNは実証継続)</a:t>
                      </a:r>
                    </a:p>
                  </a:txBody>
                  <a:tcPr anchor="ctr" marL="36576" marR="36576" marT="9144" marB="9144">
                    <a:solidFill>
                      <a:srgbClr val="FFFFFF"/>
                    </a:solidFill>
                  </a:tcPr>
                </a:tc>
              </a:tr>
              <a:tr h="422910">
                <a:tc>
                  <a:txBody>
                    <a:bodyPr wrap="square"/>
                    <a:lstStyle/>
                    <a:p>
                      <a:pPr algn="ctr">
                        <a:defRPr sz="590" b="1">
                          <a:solidFill>
                            <a:srgbClr val="1E242B"/>
                          </a:solidFill>
                          <a:latin typeface="Meiryo UI"/>
                        </a:defRPr>
                      </a:pPr>
                      <a:r>
                        <a:t>No.9</a:t>
                      </a:r>
                    </a:p>
                  </a:txBody>
                  <a:tcPr anchor="ctr" marL="36576" marR="36576" marT="9144" marB="9144">
                    <a:solidFill>
                      <a:srgbClr val="F7F9FC"/>
                    </a:solidFill>
                  </a:tcPr>
                </a:tc>
                <a:tc>
                  <a:txBody>
                    <a:bodyPr wrap="square"/>
                    <a:lstStyle/>
                    <a:p>
                      <a:pPr algn="l">
                        <a:defRPr sz="590">
                          <a:solidFill>
                            <a:srgbClr val="1E242B"/>
                          </a:solidFill>
                          <a:latin typeface="Meiryo UI"/>
                        </a:defRPr>
                      </a:pPr>
                      <a:r>
                        <a:t>定着性確認（Fixing BK/Color）の削減・廃止／MPF手差しトレイ検査変更</a:t>
                      </a:r>
                    </a:p>
                  </a:txBody>
                  <a:tcPr anchor="ctr" marL="36576" marR="36576" marT="9144" marB="9144">
                    <a:solidFill>
                      <a:srgbClr val="F7F9FC"/>
                    </a:solidFill>
                  </a:tcPr>
                </a:tc>
                <a:tc>
                  <a:txBody>
                    <a:bodyPr wrap="square"/>
                    <a:lstStyle/>
                    <a:p>
                      <a:pPr algn="l">
                        <a:defRPr sz="590">
                          <a:solidFill>
                            <a:srgbClr val="1E242B"/>
                          </a:solidFill>
                          <a:latin typeface="Meiryo UI"/>
                        </a:defRPr>
                      </a:pPr>
                      <a:r>
                        <a:t>中国は定着性テスト廃止を提案（紙・トナー削減）。MPFセンサの自動検知化と組み合わせ。</a:t>
                      </a:r>
                    </a:p>
                  </a:txBody>
                  <a:tcPr anchor="ctr" marL="36576" marR="36576" marT="9144" marB="9144">
                    <a:solidFill>
                      <a:srgbClr val="F7F9FC"/>
                    </a:solidFill>
                  </a:tcPr>
                </a:tc>
                <a:tc>
                  <a:txBody>
                    <a:bodyPr wrap="square"/>
                    <a:lstStyle/>
                    <a:p>
                      <a:pPr algn="ctr">
                        <a:defRPr sz="590">
                          <a:solidFill>
                            <a:srgbClr val="1E242B"/>
                          </a:solidFill>
                          <a:latin typeface="Meiryo UI"/>
                        </a:defRPr>
                      </a:pPr>
                      <a:r>
                        <a:t>-1.40 秒 MPF</a:t>
                      </a:r>
                      <a:br/>
                      <a:r>
                        <a:t>(定着2枚削減)</a:t>
                      </a:r>
                    </a:p>
                  </a:txBody>
                  <a:tcPr anchor="ctr" marL="36576" marR="36576" marT="9144" marB="9144">
                    <a:solidFill>
                      <a:srgbClr val="F7F9FC"/>
                    </a:solidFill>
                  </a:tcPr>
                </a:tc>
                <a:tc>
                  <a:txBody>
                    <a:bodyPr wrap="square"/>
                    <a:lstStyle/>
                    <a:p>
                      <a:pPr algn="l">
                        <a:defRPr sz="590">
                          <a:solidFill>
                            <a:srgbClr val="1E242B"/>
                          </a:solidFill>
                          <a:latin typeface="Meiryo UI"/>
                        </a:defRPr>
                      </a:pPr>
                      <a:r>
                        <a:t>品保の保証条件</a:t>
                      </a:r>
                      <a:br/>
                      <a:r>
                        <a:t>承認待ち</a:t>
                      </a:r>
                    </a:p>
                  </a:txBody>
                  <a:tcPr anchor="ctr" marL="36576" marR="36576" marT="9144" marB="9144">
                    <a:solidFill>
                      <a:srgbClr val="F7F9FC"/>
                    </a:solidFill>
                  </a:tcPr>
                </a:tc>
              </a:tr>
              <a:tr h="422910">
                <a:tc>
                  <a:txBody>
                    <a:bodyPr wrap="square"/>
                    <a:lstStyle/>
                    <a:p>
                      <a:pPr algn="ctr">
                        <a:defRPr sz="590" b="1">
                          <a:solidFill>
                            <a:srgbClr val="1E242B"/>
                          </a:solidFill>
                          <a:latin typeface="Meiryo UI"/>
                        </a:defRPr>
                      </a:pPr>
                      <a:r>
                        <a:t>No.10</a:t>
                      </a:r>
                    </a:p>
                  </a:txBody>
                  <a:tcPr anchor="ctr" marL="36576" marR="36576" marT="9144" marB="9144">
                    <a:solidFill>
                      <a:srgbClr val="FFFFFF"/>
                    </a:solidFill>
                  </a:tcPr>
                </a:tc>
                <a:tc>
                  <a:txBody>
                    <a:bodyPr wrap="square"/>
                    <a:lstStyle/>
                    <a:p>
                      <a:pPr algn="l">
                        <a:defRPr sz="590">
                          <a:solidFill>
                            <a:srgbClr val="1E242B"/>
                          </a:solidFill>
                          <a:latin typeface="Meiryo UI"/>
                        </a:defRPr>
                      </a:pPr>
                      <a:r>
                        <a:t>GY紙PPT（BCP）偽造防止黄色ドット検査工程の見直し</a:t>
                      </a:r>
                    </a:p>
                  </a:txBody>
                  <a:tcPr anchor="ctr" marL="36576" marR="36576" marT="9144" marB="9144">
                    <a:solidFill>
                      <a:srgbClr val="FFFFFF"/>
                    </a:solidFill>
                  </a:tcPr>
                </a:tc>
                <a:tc>
                  <a:txBody>
                    <a:bodyPr wrap="square"/>
                    <a:lstStyle/>
                    <a:p>
                      <a:pPr algn="l">
                        <a:defRPr sz="590">
                          <a:solidFill>
                            <a:srgbClr val="1E242B"/>
                          </a:solidFill>
                          <a:latin typeface="Meiryo UI"/>
                        </a:defRPr>
                      </a:pPr>
                      <a:r>
                        <a:t>現状のカメラ解像度では微細ドット抜けの誤検知リスクあり。第1段階はフラットベッドスキャナを維持。</a:t>
                      </a:r>
                    </a:p>
                  </a:txBody>
                  <a:tcPr anchor="ctr" marL="36576" marR="36576" marT="9144" marB="9144">
                    <a:solidFill>
                      <a:srgbClr val="FFFFFF"/>
                    </a:solidFill>
                  </a:tcPr>
                </a:tc>
                <a:tc>
                  <a:txBody>
                    <a:bodyPr wrap="square"/>
                    <a:lstStyle/>
                    <a:p>
                      <a:pPr algn="ctr">
                        <a:defRPr sz="590">
                          <a:solidFill>
                            <a:srgbClr val="1E242B"/>
                          </a:solidFill>
                          <a:latin typeface="Meiryo UI"/>
                        </a:defRPr>
                      </a:pPr>
                      <a:r>
                        <a:t>-22.50 秒 (CN)</a:t>
                      </a:r>
                      <a:br/>
                      <a:r>
                        <a:t>[-10.0s VNにて]</a:t>
                      </a:r>
                    </a:p>
                  </a:txBody>
                  <a:tcPr anchor="ctr" marL="36576" marR="36576" marT="9144" marB="9144">
                    <a:solidFill>
                      <a:srgbClr val="FFFFFF"/>
                    </a:solidFill>
                  </a:tcPr>
                </a:tc>
                <a:tc>
                  <a:txBody>
                    <a:bodyPr wrap="square"/>
                    <a:lstStyle/>
                    <a:p>
                      <a:pPr algn="l">
                        <a:defRPr sz="590">
                          <a:solidFill>
                            <a:srgbClr val="1E242B"/>
                          </a:solidFill>
                          <a:latin typeface="Meiryo UI"/>
                        </a:defRPr>
                      </a:pPr>
                      <a:r>
                        <a:t>スキャナ検査維持</a:t>
                      </a:r>
                      <a:br/>
                      <a:r>
                        <a:t>(第1段階)</a:t>
                      </a:r>
                    </a:p>
                  </a:txBody>
                  <a:tcPr anchor="ctr" marL="36576" marR="36576" marT="9144" marB="9144">
                    <a:solidFill>
                      <a:srgbClr val="FFFFFF"/>
                    </a:solidFill>
                  </a:tcPr>
                </a:tc>
              </a:tr>
              <a:tr h="422910">
                <a:tc>
                  <a:txBody>
                    <a:bodyPr wrap="square"/>
                    <a:lstStyle/>
                    <a:p>
                      <a:pPr algn="ctr">
                        <a:defRPr sz="590" b="1">
                          <a:solidFill>
                            <a:srgbClr val="1E242B"/>
                          </a:solidFill>
                          <a:latin typeface="Meiryo UI"/>
                        </a:defRPr>
                      </a:pPr>
                      <a:r>
                        <a:t>No.11</a:t>
                      </a:r>
                    </a:p>
                  </a:txBody>
                  <a:tcPr anchor="ctr" marL="36576" marR="36576" marT="9144" marB="9144">
                    <a:solidFill>
                      <a:srgbClr val="EAF7EE"/>
                    </a:solidFill>
                  </a:tcPr>
                </a:tc>
                <a:tc>
                  <a:txBody>
                    <a:bodyPr wrap="square"/>
                    <a:lstStyle/>
                    <a:p>
                      <a:pPr algn="l">
                        <a:defRPr sz="590">
                          <a:solidFill>
                            <a:srgbClr val="1E242B"/>
                          </a:solidFill>
                          <a:latin typeface="Meiryo UI"/>
                        </a:defRPr>
                      </a:pPr>
                      <a:r>
                        <a:t>DC-1チャートとGrayチャートを1枚の複合テストチャートへ統合</a:t>
                      </a:r>
                    </a:p>
                  </a:txBody>
                  <a:tcPr anchor="ctr" marL="36576" marR="36576" marT="9144" marB="9144">
                    <a:solidFill>
                      <a:srgbClr val="EAF7EE"/>
                    </a:solidFill>
                  </a:tcPr>
                </a:tc>
                <a:tc>
                  <a:txBody>
                    <a:bodyPr wrap="square"/>
                    <a:lstStyle/>
                    <a:p>
                      <a:pPr algn="l">
                        <a:defRPr sz="590">
                          <a:solidFill>
                            <a:srgbClr val="1E242B"/>
                          </a:solidFill>
                          <a:latin typeface="Meiryo UI"/>
                        </a:defRPr>
                      </a:pPr>
                      <a:r>
                        <a:t>コピー枚数を2枚から1枚へ半減。用紙・トナーを大幅削減（5,000 RMB / 5,000台）。日本側（後藤氏）合意済。</a:t>
                      </a:r>
                    </a:p>
                  </a:txBody>
                  <a:tcPr anchor="ctr" marL="36576" marR="36576" marT="9144" marB="9144">
                    <a:solidFill>
                      <a:srgbClr val="EAF7EE"/>
                    </a:solidFill>
                  </a:tcPr>
                </a:tc>
                <a:tc>
                  <a:txBody>
                    <a:bodyPr wrap="square"/>
                    <a:lstStyle/>
                    <a:p>
                      <a:pPr algn="ctr">
                        <a:defRPr sz="590">
                          <a:solidFill>
                            <a:srgbClr val="1E242B"/>
                          </a:solidFill>
                          <a:latin typeface="Meiryo UI"/>
                        </a:defRPr>
                      </a:pPr>
                      <a:r>
                        <a:t>5,000 RMB /</a:t>
                      </a:r>
                      <a:br/>
                      <a:r>
                        <a:t>5,000台 削減</a:t>
                      </a:r>
                      <a:br/>
                      <a:r>
                        <a:t>(-1枚 コピー)</a:t>
                      </a:r>
                    </a:p>
                  </a:txBody>
                  <a:tcPr anchor="ctr" marL="36576" marR="36576" marT="9144" marB="9144">
                    <a:solidFill>
                      <a:srgbClr val="EAF7EE"/>
                    </a:solidFill>
                  </a:tcPr>
                </a:tc>
                <a:tc>
                  <a:txBody>
                    <a:bodyPr wrap="square"/>
                    <a:lstStyle/>
                    <a:p>
                      <a:pPr algn="l">
                        <a:defRPr sz="590" b="1">
                          <a:solidFill>
                            <a:srgbClr val="1E6E3E"/>
                          </a:solidFill>
                          <a:latin typeface="Meiryo UI"/>
                        </a:defRPr>
                      </a:pPr>
                      <a:r>
                        <a:t>先行実施</a:t>
                      </a:r>
                    </a:p>
                  </a:txBody>
                  <a:tcPr anchor="ctr" marL="36576" marR="36576" marT="9144" marB="9144">
                    <a:solidFill>
                      <a:srgbClr val="EAF7EE"/>
                    </a:solidFill>
                  </a:tcPr>
                </a:tc>
              </a:tr>
              <a:tr h="422910">
                <a:tc>
                  <a:txBody>
                    <a:bodyPr wrap="square"/>
                    <a:lstStyle/>
                    <a:p>
                      <a:pPr algn="ctr">
                        <a:defRPr sz="590" b="1">
                          <a:solidFill>
                            <a:srgbClr val="1E242B"/>
                          </a:solidFill>
                          <a:latin typeface="Meiryo UI"/>
                        </a:defRPr>
                      </a:pPr>
                      <a:r>
                        <a:t>No.12</a:t>
                      </a:r>
                    </a:p>
                  </a:txBody>
                  <a:tcPr anchor="ctr" marL="36576" marR="36576" marT="9144" marB="9144">
                    <a:solidFill>
                      <a:srgbClr val="EAF7EE"/>
                    </a:solidFill>
                  </a:tcPr>
                </a:tc>
                <a:tc>
                  <a:txBody>
                    <a:bodyPr wrap="square"/>
                    <a:lstStyle/>
                    <a:p>
                      <a:pPr algn="l">
                        <a:defRPr sz="590">
                          <a:solidFill>
                            <a:srgbClr val="1E242B"/>
                          </a:solidFill>
                          <a:latin typeface="Meiryo UI"/>
                        </a:defRPr>
                      </a:pPr>
                      <a:r>
                        <a:t>Gray余白（ABCD）自動測定治具およびU402自動補正値送信</a:t>
                      </a:r>
                    </a:p>
                  </a:txBody>
                  <a:tcPr anchor="ctr" marL="36576" marR="36576" marT="9144" marB="9144">
                    <a:solidFill>
                      <a:srgbClr val="EAF7EE"/>
                    </a:solidFill>
                  </a:tcPr>
                </a:tc>
                <a:tc>
                  <a:txBody>
                    <a:bodyPr wrap="square"/>
                    <a:lstStyle/>
                    <a:p>
                      <a:pPr algn="l">
                        <a:defRPr sz="590">
                          <a:solidFill>
                            <a:srgbClr val="1E242B"/>
                          </a:solidFill>
                          <a:latin typeface="Meiryo UI"/>
                        </a:defRPr>
                      </a:pPr>
                      <a:r>
                        <a:t>定規による手動測定・手入力に代わり、画像処理で余白ズレを算出してU402補正値を直接送信。</a:t>
                      </a:r>
                    </a:p>
                  </a:txBody>
                  <a:tcPr anchor="ctr" marL="36576" marR="36576" marT="9144" marB="9144">
                    <a:solidFill>
                      <a:srgbClr val="EAF7EE"/>
                    </a:solidFill>
                  </a:tcPr>
                </a:tc>
                <a:tc>
                  <a:txBody>
                    <a:bodyPr wrap="square"/>
                    <a:lstStyle/>
                    <a:p>
                      <a:pPr algn="ctr">
                        <a:defRPr sz="590">
                          <a:solidFill>
                            <a:srgbClr val="1E242B"/>
                          </a:solidFill>
                          <a:latin typeface="Meiryo UI"/>
                        </a:defRPr>
                      </a:pPr>
                      <a:r>
                        <a:t>-15.40s ～ -28s</a:t>
                      </a:r>
                      <a:br/>
                      <a:r>
                        <a:t>(定規測定廃止)</a:t>
                      </a:r>
                    </a:p>
                  </a:txBody>
                  <a:tcPr anchor="ctr" marL="36576" marR="36576" marT="9144" marB="9144">
                    <a:solidFill>
                      <a:srgbClr val="EAF7EE"/>
                    </a:solidFill>
                  </a:tcPr>
                </a:tc>
                <a:tc>
                  <a:txBody>
                    <a:bodyPr wrap="square"/>
                    <a:lstStyle/>
                    <a:p>
                      <a:pPr algn="l">
                        <a:defRPr sz="590">
                          <a:solidFill>
                            <a:srgbClr val="1E242B"/>
                          </a:solidFill>
                          <a:latin typeface="Meiryo UI"/>
                        </a:defRPr>
                      </a:pPr>
                      <a:r>
                        <a:t>治具設計中 ／</a:t>
                      </a:r>
                      <a:br/>
                      <a:r>
                        <a:t>実機試作中</a:t>
                      </a:r>
                    </a:p>
                  </a:txBody>
                  <a:tcPr anchor="ctr" marL="36576" marR="36576" marT="9144" marB="9144">
                    <a:solidFill>
                      <a:srgbClr val="EAF7EE"/>
                    </a:solidFill>
                  </a:tcPr>
                </a:tc>
              </a:tr>
              <a:tr h="422910">
                <a:tc>
                  <a:txBody>
                    <a:bodyPr wrap="square"/>
                    <a:lstStyle/>
                    <a:p>
                      <a:pPr algn="ctr">
                        <a:defRPr sz="590" b="1">
                          <a:solidFill>
                            <a:srgbClr val="1E242B"/>
                          </a:solidFill>
                          <a:latin typeface="Meiryo UI"/>
                        </a:defRPr>
                      </a:pPr>
                      <a:r>
                        <a:t>No.13</a:t>
                      </a:r>
                    </a:p>
                  </a:txBody>
                  <a:tcPr anchor="ctr" marL="36576" marR="36576" marT="9144" marB="9144">
                    <a:solidFill>
                      <a:srgbClr val="F7F9FC"/>
                    </a:solidFill>
                  </a:tcPr>
                </a:tc>
                <a:tc>
                  <a:txBody>
                    <a:bodyPr wrap="square"/>
                    <a:lstStyle/>
                    <a:p>
                      <a:pPr algn="l">
                        <a:defRPr sz="590">
                          <a:solidFill>
                            <a:srgbClr val="1E242B"/>
                          </a:solidFill>
                          <a:latin typeface="Meiryo UI"/>
                        </a:defRPr>
                      </a:pPr>
                      <a:r>
                        <a:t>画像印刷テストチャート（Print）を17種類から9枚へ削減</a:t>
                      </a:r>
                    </a:p>
                  </a:txBody>
                  <a:tcPr anchor="ctr" marL="36576" marR="36576" marT="9144" marB="9144">
                    <a:solidFill>
                      <a:srgbClr val="F7F9FC"/>
                    </a:solidFill>
                  </a:tcPr>
                </a:tc>
                <a:tc>
                  <a:txBody>
                    <a:bodyPr wrap="square"/>
                    <a:lstStyle/>
                    <a:p>
                      <a:pPr algn="l">
                        <a:defRPr sz="590">
                          <a:solidFill>
                            <a:srgbClr val="1E242B"/>
                          </a:solidFill>
                          <a:latin typeface="Meiryo UI"/>
                        </a:defRPr>
                      </a:pPr>
                      <a:r>
                        <a:t>重複するキャリブレーション印刷を排除し、印刷待ち時間を230秒から120秒へ短縮。</a:t>
                      </a:r>
                    </a:p>
                  </a:txBody>
                  <a:tcPr anchor="ctr" marL="36576" marR="36576" marT="9144" marB="9144">
                    <a:solidFill>
                      <a:srgbClr val="F7F9FC"/>
                    </a:solidFill>
                  </a:tcPr>
                </a:tc>
                <a:tc>
                  <a:txBody>
                    <a:bodyPr wrap="square"/>
                    <a:lstStyle/>
                    <a:p>
                      <a:pPr algn="ctr">
                        <a:defRPr sz="590">
                          <a:solidFill>
                            <a:srgbClr val="1E242B"/>
                          </a:solidFill>
                          <a:latin typeface="Meiryo UI"/>
                        </a:defRPr>
                      </a:pPr>
                      <a:r>
                        <a:t>-63.36 秒 作業</a:t>
                      </a:r>
                      <a:br/>
                      <a:r>
                        <a:t>-110.0 秒 待ち</a:t>
                      </a:r>
                    </a:p>
                  </a:txBody>
                  <a:tcPr anchor="ctr" marL="36576" marR="36576" marT="9144" marB="9144">
                    <a:solidFill>
                      <a:srgbClr val="F7F9FC"/>
                    </a:solidFill>
                  </a:tcPr>
                </a:tc>
                <a:tc>
                  <a:txBody>
                    <a:bodyPr wrap="square"/>
                    <a:lstStyle/>
                    <a:p>
                      <a:pPr algn="l">
                        <a:defRPr sz="590">
                          <a:solidFill>
                            <a:srgbClr val="1E242B"/>
                          </a:solidFill>
                          <a:latin typeface="Meiryo UI"/>
                        </a:defRPr>
                      </a:pPr>
                      <a:r>
                        <a:t>品保の9枚リスト</a:t>
                      </a:r>
                      <a:br/>
                      <a:r>
                        <a:t>承認待ち</a:t>
                      </a:r>
                    </a:p>
                  </a:txBody>
                  <a:tcPr anchor="ctr" marL="36576" marR="36576" marT="9144" marB="9144">
                    <a:solidFill>
                      <a:srgbClr val="F7F9FC"/>
                    </a:solidFill>
                  </a:tcPr>
                </a:tc>
              </a:tr>
              <a:tr h="422910">
                <a:tc>
                  <a:txBody>
                    <a:bodyPr wrap="square"/>
                    <a:lstStyle/>
                    <a:p>
                      <a:pPr algn="ctr">
                        <a:defRPr sz="590" b="1">
                          <a:solidFill>
                            <a:srgbClr val="1E242B"/>
                          </a:solidFill>
                          <a:latin typeface="Meiryo UI"/>
                        </a:defRPr>
                      </a:pPr>
                      <a:r>
                        <a:t>No.14</a:t>
                      </a:r>
                    </a:p>
                  </a:txBody>
                  <a:tcPr anchor="ctr" marL="36576" marR="36576" marT="9144" marB="9144">
                    <a:solidFill>
                      <a:srgbClr val="FFFFFF"/>
                    </a:solidFill>
                  </a:tcPr>
                </a:tc>
                <a:tc>
                  <a:txBody>
                    <a:bodyPr wrap="square"/>
                    <a:lstStyle/>
                    <a:p>
                      <a:pPr algn="l">
                        <a:defRPr sz="590">
                          <a:solidFill>
                            <a:srgbClr val="1E242B"/>
                          </a:solidFill>
                          <a:latin typeface="Meiryo UI"/>
                        </a:defRPr>
                      </a:pPr>
                      <a:r>
                        <a:t>Maintenance Mode Uxxxへの突入操作自動化（手押し10回排除）</a:t>
                      </a:r>
                    </a:p>
                  </a:txBody>
                  <a:tcPr anchor="ctr" marL="36576" marR="36576" marT="9144" marB="9144">
                    <a:solidFill>
                      <a:srgbClr val="FFFFFF"/>
                    </a:solidFill>
                  </a:tcPr>
                </a:tc>
                <a:tc>
                  <a:txBody>
                    <a:bodyPr wrap="square"/>
                    <a:lstStyle/>
                    <a:p>
                      <a:pPr algn="l">
                        <a:defRPr sz="590">
                          <a:solidFill>
                            <a:srgbClr val="1E242B"/>
                          </a:solidFill>
                          <a:latin typeface="Meiryo UI"/>
                        </a:defRPr>
                      </a:pPr>
                      <a:r>
                        <a:t>画面上にショートカットを表示する案はセキュリティ上中止。Host PCからネットワーク経由でUxxxへ突入。</a:t>
                      </a:r>
                    </a:p>
                  </a:txBody>
                  <a:tcPr anchor="ctr" marL="36576" marR="36576" marT="9144" marB="9144">
                    <a:solidFill>
                      <a:srgbClr val="FFFFFF"/>
                    </a:solidFill>
                  </a:tcPr>
                </a:tc>
                <a:tc>
                  <a:txBody>
                    <a:bodyPr wrap="square"/>
                    <a:lstStyle/>
                    <a:p>
                      <a:pPr algn="ctr">
                        <a:defRPr sz="590">
                          <a:solidFill>
                            <a:srgbClr val="1E242B"/>
                          </a:solidFill>
                          <a:latin typeface="Meiryo UI"/>
                        </a:defRPr>
                      </a:pPr>
                      <a:r>
                        <a:t>-3.60 秒 ～</a:t>
                      </a:r>
                      <a:br/>
                      <a:r>
                        <a:t>手押し排除</a:t>
                      </a:r>
                    </a:p>
                  </a:txBody>
                  <a:tcPr anchor="ctr" marL="36576" marR="36576" marT="9144" marB="9144">
                    <a:solidFill>
                      <a:srgbClr val="FFFFFF"/>
                    </a:solidFill>
                  </a:tcPr>
                </a:tc>
                <a:tc>
                  <a:txBody>
                    <a:bodyPr wrap="square"/>
                    <a:lstStyle/>
                    <a:p>
                      <a:pPr algn="l">
                        <a:defRPr sz="590">
                          <a:solidFill>
                            <a:srgbClr val="1E242B"/>
                          </a:solidFill>
                          <a:latin typeface="Meiryo UI"/>
                        </a:defRPr>
                      </a:pPr>
                      <a:r>
                        <a:t>設計・試作中</a:t>
                      </a:r>
                    </a:p>
                  </a:txBody>
                  <a:tcPr anchor="ctr" marL="36576" marR="36576" marT="9144" marB="9144">
                    <a:solidFill>
                      <a:srgbClr val="FFFFFF"/>
                    </a:solidFill>
                  </a:tcPr>
                </a:tc>
              </a:tr>
              <a:tr h="422910">
                <a:tc>
                  <a:txBody>
                    <a:bodyPr wrap="square"/>
                    <a:lstStyle/>
                    <a:p>
                      <a:pPr algn="ctr">
                        <a:defRPr sz="590" b="1">
                          <a:solidFill>
                            <a:srgbClr val="1E242B"/>
                          </a:solidFill>
                          <a:latin typeface="Meiryo UI"/>
                        </a:defRPr>
                      </a:pPr>
                      <a:r>
                        <a:t>No.15</a:t>
                      </a:r>
                    </a:p>
                  </a:txBody>
                  <a:tcPr anchor="ctr" marL="36576" marR="36576" marT="9144" marB="9144">
                    <a:solidFill>
                      <a:srgbClr val="F7F9FC"/>
                    </a:solidFill>
                  </a:tcPr>
                </a:tc>
                <a:tc>
                  <a:txBody>
                    <a:bodyPr wrap="square"/>
                    <a:lstStyle/>
                    <a:p>
                      <a:pPr algn="l">
                        <a:defRPr sz="590">
                          <a:solidFill>
                            <a:srgbClr val="1E242B"/>
                          </a:solidFill>
                          <a:latin typeface="Meiryo UI"/>
                        </a:defRPr>
                      </a:pPr>
                      <a:r>
                        <a:t>用紙選択 -&gt; 印刷 -&gt; 普通紙復帰の操作マクロ化（1クリック化）</a:t>
                      </a:r>
                    </a:p>
                  </a:txBody>
                  <a:tcPr anchor="ctr" marL="36576" marR="36576" marT="9144" marB="9144">
                    <a:solidFill>
                      <a:srgbClr val="F7F9FC"/>
                    </a:solidFill>
                  </a:tcPr>
                </a:tc>
                <a:tc>
                  <a:txBody>
                    <a:bodyPr wrap="square"/>
                    <a:lstStyle/>
                    <a:p>
                      <a:pPr algn="l">
                        <a:defRPr sz="590">
                          <a:solidFill>
                            <a:srgbClr val="1E242B"/>
                          </a:solidFill>
                          <a:latin typeface="Meiryo UI"/>
                        </a:defRPr>
                      </a:pPr>
                      <a:r>
                        <a:t>治具ソフト上で「Set Media -&gt; Print -&gt; Set Plain」を1クリック化し、繰返し画面操作を排除。</a:t>
                      </a:r>
                    </a:p>
                  </a:txBody>
                  <a:tcPr anchor="ctr" marL="36576" marR="36576" marT="9144" marB="9144">
                    <a:solidFill>
                      <a:srgbClr val="F7F9FC"/>
                    </a:solidFill>
                  </a:tcPr>
                </a:tc>
                <a:tc>
                  <a:txBody>
                    <a:bodyPr wrap="square"/>
                    <a:lstStyle/>
                    <a:p>
                      <a:pPr algn="ctr">
                        <a:defRPr sz="590">
                          <a:solidFill>
                            <a:srgbClr val="1E242B"/>
                          </a:solidFill>
                          <a:latin typeface="Meiryo UI"/>
                        </a:defRPr>
                      </a:pPr>
                      <a:r>
                        <a:t>月額節減：</a:t>
                      </a:r>
                      <a:br/>
                      <a:r>
                        <a:t>3,600 RMB/月</a:t>
                      </a:r>
                    </a:p>
                  </a:txBody>
                  <a:tcPr anchor="ctr" marL="36576" marR="36576" marT="9144" marB="9144">
                    <a:solidFill>
                      <a:srgbClr val="F7F9FC"/>
                    </a:solidFill>
                  </a:tcPr>
                </a:tc>
                <a:tc>
                  <a:txBody>
                    <a:bodyPr wrap="square"/>
                    <a:lstStyle/>
                    <a:p>
                      <a:pPr algn="l">
                        <a:defRPr sz="590">
                          <a:solidFill>
                            <a:srgbClr val="1E242B"/>
                          </a:solidFill>
                          <a:latin typeface="Meiryo UI"/>
                        </a:defRPr>
                      </a:pPr>
                      <a:r>
                        <a:t>設計・試作中</a:t>
                      </a:r>
                    </a:p>
                  </a:txBody>
                  <a:tcPr anchor="ctr" marL="36576" marR="36576" marT="9144" marB="9144">
                    <a:solidFill>
                      <a:srgbClr val="F7F9FC"/>
                    </a:solidFill>
                  </a:tcPr>
                </a:tc>
              </a:tr>
              <a:tr h="422910">
                <a:tc>
                  <a:txBody>
                    <a:bodyPr wrap="square"/>
                    <a:lstStyle/>
                    <a:p>
                      <a:pPr algn="ctr">
                        <a:defRPr sz="590" b="1">
                          <a:solidFill>
                            <a:srgbClr val="1E242B"/>
                          </a:solidFill>
                          <a:latin typeface="Meiryo UI"/>
                        </a:defRPr>
                      </a:pPr>
                      <a:r>
                        <a:t>No.16</a:t>
                      </a:r>
                    </a:p>
                  </a:txBody>
                  <a:tcPr anchor="ctr" marL="36576" marR="36576" marT="9144" marB="9144">
                    <a:solidFill>
                      <a:srgbClr val="FFFFFF"/>
                    </a:solidFill>
                  </a:tcPr>
                </a:tc>
                <a:tc>
                  <a:txBody>
                    <a:bodyPr wrap="square"/>
                    <a:lstStyle/>
                    <a:p>
                      <a:pPr algn="l">
                        <a:defRPr sz="590">
                          <a:solidFill>
                            <a:srgbClr val="1E242B"/>
                          </a:solidFill>
                          <a:latin typeface="Meiryo UI"/>
                        </a:defRPr>
                      </a:pPr>
                      <a:r>
                        <a:t>U037ファン回転数測定の統合／治具コネクタ一体化</a:t>
                      </a:r>
                    </a:p>
                  </a:txBody>
                  <a:tcPr anchor="ctr" marL="36576" marR="36576" marT="9144" marB="9144">
                    <a:solidFill>
                      <a:srgbClr val="FFFFFF"/>
                    </a:solidFill>
                  </a:tcPr>
                </a:tc>
                <a:tc>
                  <a:txBody>
                    <a:bodyPr wrap="square"/>
                    <a:lstStyle/>
                    <a:p>
                      <a:pPr algn="l">
                        <a:defRPr sz="590">
                          <a:solidFill>
                            <a:srgbClr val="1E242B"/>
                          </a:solidFill>
                          <a:latin typeface="Meiryo UI"/>
                        </a:defRPr>
                      </a:pPr>
                      <a:r>
                        <a:t>基板パルス信号によりファン回転数を自動取得（異音官能検査とは切り離して実施）。</a:t>
                      </a:r>
                    </a:p>
                  </a:txBody>
                  <a:tcPr anchor="ctr" marL="36576" marR="36576" marT="9144" marB="9144">
                    <a:solidFill>
                      <a:srgbClr val="FFFFFF"/>
                    </a:solidFill>
                  </a:tcPr>
                </a:tc>
                <a:tc>
                  <a:txBody>
                    <a:bodyPr wrap="square"/>
                    <a:lstStyle/>
                    <a:p>
                      <a:pPr algn="ctr">
                        <a:defRPr sz="590">
                          <a:solidFill>
                            <a:srgbClr val="1E242B"/>
                          </a:solidFill>
                          <a:latin typeface="Meiryo UI"/>
                        </a:defRPr>
                      </a:pPr>
                      <a:r>
                        <a:t>-9.70 秒</a:t>
                      </a:r>
                      <a:br/>
                      <a:r>
                        <a:t>(9ステップ)</a:t>
                      </a:r>
                    </a:p>
                  </a:txBody>
                  <a:tcPr anchor="ctr" marL="36576" marR="36576" marT="9144" marB="9144">
                    <a:solidFill>
                      <a:srgbClr val="FFFFFF"/>
                    </a:solidFill>
                  </a:tcPr>
                </a:tc>
                <a:tc>
                  <a:txBody>
                    <a:bodyPr wrap="square"/>
                    <a:lstStyle/>
                    <a:p>
                      <a:pPr algn="l">
                        <a:defRPr sz="590">
                          <a:solidFill>
                            <a:srgbClr val="1E242B"/>
                          </a:solidFill>
                          <a:latin typeface="Meiryo UI"/>
                        </a:defRPr>
                      </a:pPr>
                      <a:r>
                        <a:t>機能分離</a:t>
                      </a:r>
                      <a:br/>
                      <a:r>
                        <a:t>(設計中)</a:t>
                      </a:r>
                    </a:p>
                  </a:txBody>
                  <a:tcPr anchor="ctr" marL="36576" marR="36576" marT="9144" marB="9144">
                    <a:solidFill>
                      <a:srgbClr val="FFFFFF"/>
                    </a:solidFill>
                  </a:tcPr>
                </a:tc>
              </a:tr>
              <a:tr h="422910">
                <a:tc>
                  <a:txBody>
                    <a:bodyPr wrap="square"/>
                    <a:lstStyle/>
                    <a:p>
                      <a:pPr algn="ctr">
                        <a:defRPr sz="590" b="1">
                          <a:solidFill>
                            <a:srgbClr val="1E242B"/>
                          </a:solidFill>
                          <a:latin typeface="Meiryo UI"/>
                        </a:defRPr>
                      </a:pPr>
                      <a:r>
                        <a:t>No.17</a:t>
                      </a:r>
                    </a:p>
                  </a:txBody>
                  <a:tcPr anchor="ctr" marL="36576" marR="36576" marT="9144" marB="9144">
                    <a:solidFill>
                      <a:srgbClr val="F7F9FC"/>
                    </a:solidFill>
                  </a:tcPr>
                </a:tc>
                <a:tc>
                  <a:txBody>
                    <a:bodyPr wrap="square"/>
                    <a:lstStyle/>
                    <a:p>
                      <a:pPr algn="l">
                        <a:defRPr sz="590">
                          <a:solidFill>
                            <a:srgbClr val="1E242B"/>
                          </a:solidFill>
                          <a:latin typeface="Meiryo UI"/>
                        </a:defRPr>
                      </a:pPr>
                      <a:r>
                        <a:t>SITC-2原稿スキャン時の操作順序最適化（原稿セット前にボタン押下）</a:t>
                      </a:r>
                    </a:p>
                  </a:txBody>
                  <a:tcPr anchor="ctr" marL="36576" marR="36576" marT="9144" marB="9144">
                    <a:solidFill>
                      <a:srgbClr val="F7F9FC"/>
                    </a:solidFill>
                  </a:tcPr>
                </a:tc>
                <a:tc>
                  <a:txBody>
                    <a:bodyPr wrap="square"/>
                    <a:lstStyle/>
                    <a:p>
                      <a:pPr algn="l">
                        <a:defRPr sz="590">
                          <a:solidFill>
                            <a:srgbClr val="1E242B"/>
                          </a:solidFill>
                          <a:latin typeface="Meiryo UI"/>
                        </a:defRPr>
                      </a:pPr>
                      <a:r>
                        <a:t>治具起動ボタンを先に押し、ランプ点灯待ち時間中に原稿をセットして待ち時間を相殺。</a:t>
                      </a:r>
                    </a:p>
                  </a:txBody>
                  <a:tcPr anchor="ctr" marL="36576" marR="36576" marT="9144" marB="9144">
                    <a:solidFill>
                      <a:srgbClr val="F7F9FC"/>
                    </a:solidFill>
                  </a:tcPr>
                </a:tc>
                <a:tc>
                  <a:txBody>
                    <a:bodyPr wrap="square"/>
                    <a:lstStyle/>
                    <a:p>
                      <a:pPr algn="ctr">
                        <a:defRPr sz="590">
                          <a:solidFill>
                            <a:srgbClr val="1E242B"/>
                          </a:solidFill>
                          <a:latin typeface="Meiryo UI"/>
                        </a:defRPr>
                      </a:pPr>
                      <a:r>
                        <a:t>-1.50 秒 (CN)</a:t>
                      </a:r>
                      <a:br/>
                      <a:r>
                        <a:t>スキャン待ち短縮</a:t>
                      </a:r>
                    </a:p>
                  </a:txBody>
                  <a:tcPr anchor="ctr" marL="36576" marR="36576" marT="9144" marB="9144">
                    <a:solidFill>
                      <a:srgbClr val="F7F9FC"/>
                    </a:solidFill>
                  </a:tcPr>
                </a:tc>
                <a:tc>
                  <a:txBody>
                    <a:bodyPr wrap="square"/>
                    <a:lstStyle/>
                    <a:p>
                      <a:pPr algn="l">
                        <a:defRPr sz="590">
                          <a:solidFill>
                            <a:srgbClr val="1E242B"/>
                          </a:solidFill>
                          <a:latin typeface="Meiryo UI"/>
                        </a:defRPr>
                      </a:pPr>
                      <a:r>
                        <a:t>ライン上A/Bテスト</a:t>
                      </a:r>
                      <a:br/>
                      <a:r>
                        <a:t>実施中</a:t>
                      </a:r>
                    </a:p>
                  </a:txBody>
                  <a:tcPr anchor="ctr" marL="36576" marR="36576" marT="9144" marB="9144">
                    <a:solidFill>
                      <a:srgbClr val="F7F9FC"/>
                    </a:solidFill>
                  </a:tcPr>
                </a:tc>
              </a:tr>
              <a:tr h="422910">
                <a:tc>
                  <a:txBody>
                    <a:bodyPr wrap="square"/>
                    <a:lstStyle/>
                    <a:p>
                      <a:pPr algn="ctr">
                        <a:defRPr sz="590" b="1">
                          <a:solidFill>
                            <a:srgbClr val="1E242B"/>
                          </a:solidFill>
                          <a:latin typeface="Meiryo UI"/>
                        </a:defRPr>
                      </a:pPr>
                      <a:r>
                        <a:t>No.38</a:t>
                      </a:r>
                      <a:br/>
                      <a:r>
                        <a:t>＆総計</a:t>
                      </a:r>
                    </a:p>
                  </a:txBody>
                  <a:tcPr anchor="ctr" marL="36576" marR="36576" marT="9144" marB="9144">
                    <a:solidFill>
                      <a:srgbClr val="E8EEF5"/>
                    </a:solidFill>
                  </a:tcPr>
                </a:tc>
                <a:tc>
                  <a:txBody>
                    <a:bodyPr wrap="square"/>
                    <a:lstStyle/>
                    <a:p>
                      <a:pPr algn="l">
                        <a:defRPr sz="590">
                          <a:solidFill>
                            <a:srgbClr val="1E242B"/>
                          </a:solidFill>
                          <a:latin typeface="Meiryo UI"/>
                        </a:defRPr>
                      </a:pPr>
                      <a:r>
                        <a:t>• No.38：AI画像学習による治具自動検査（WeChat - Chen Zhi Feng氏）</a:t>
                      </a:r>
                      <a:br/>
                      <a:r>
                        <a:t>• 中国リストには給電コンベア案もあり（-31.4s、3,060 RMB/月節減）</a:t>
                      </a:r>
                    </a:p>
                  </a:txBody>
                  <a:tcPr anchor="ctr" marL="36576" marR="36576" marT="9144" marB="9144">
                    <a:solidFill>
                      <a:srgbClr val="E8EEF5"/>
                    </a:solidFill>
                  </a:tcPr>
                </a:tc>
                <a:tc>
                  <a:txBody>
                    <a:bodyPr wrap="square"/>
                    <a:lstStyle/>
                    <a:p>
                      <a:pPr algn="l">
                        <a:defRPr sz="590" b="1">
                          <a:solidFill>
                            <a:srgbClr val="1E242B"/>
                          </a:solidFill>
                          <a:latin typeface="Meiryo UI"/>
                        </a:defRPr>
                      </a:pPr>
                      <a:r>
                        <a:t>• 中国計算表の削減合計：-178.56秒 作業 ＋ -110秒 待ち</a:t>
                      </a:r>
                      <a:br/>
                      <a:r>
                        <a:t>• 節減効果：11,160 RMB/月 ＋ 5,000 RMB/5,000台</a:t>
                      </a:r>
                    </a:p>
                  </a:txBody>
                  <a:tcPr anchor="ctr" marL="36576" marR="36576" marT="9144" marB="9144">
                    <a:solidFill>
                      <a:srgbClr val="E8EEF5"/>
                    </a:solidFill>
                  </a:tcPr>
                </a:tc>
                <a:tc>
                  <a:txBody>
                    <a:bodyPr wrap="square"/>
                    <a:lstStyle/>
                    <a:p>
                      <a:pPr algn="ctr">
                        <a:defRPr sz="590">
                          <a:solidFill>
                            <a:srgbClr val="1E242B"/>
                          </a:solidFill>
                          <a:latin typeface="Meiryo UI"/>
                        </a:defRPr>
                      </a:pPr>
                      <a:r>
                        <a:t>-178.56 秒</a:t>
                      </a:r>
                      <a:br/>
                      <a:r>
                        <a:t>(-110s 待ち短縮)</a:t>
                      </a:r>
                    </a:p>
                  </a:txBody>
                  <a:tcPr anchor="ctr" marL="36576" marR="36576" marT="9144" marB="9144">
                    <a:solidFill>
                      <a:srgbClr val="E8EEF5"/>
                    </a:solidFill>
                  </a:tcPr>
                </a:tc>
                <a:tc>
                  <a:txBody>
                    <a:bodyPr wrap="square"/>
                    <a:lstStyle/>
                    <a:p>
                      <a:pPr algn="l">
                        <a:defRPr sz="590">
                          <a:solidFill>
                            <a:srgbClr val="1E242B"/>
                          </a:solidFill>
                          <a:latin typeface="Meiryo UI"/>
                        </a:defRPr>
                      </a:pPr>
                      <a:r>
                        <a:t>本社設計側へ</a:t>
                      </a:r>
                      <a:br/>
                      <a:r>
                        <a:t>確認中</a:t>
                      </a:r>
                    </a:p>
                  </a:txBody>
                  <a:tcPr anchor="ctr" marL="36576" marR="36576" marT="9144" marB="9144">
                    <a:solidFill>
                      <a:srgbClr val="E8EE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参考資料 (3/4)</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3拠点連携会（第2回～第17回）およびDR4における技術課題・リスクと対策</a:t>
            </a:r>
          </a:p>
        </p:txBody>
      </p:sp>
      <p:sp>
        <p:nvSpPr>
          <p:cNvPr id="5" name="TextBox 4"/>
          <p:cNvSpPr txBox="1"/>
          <p:nvPr/>
        </p:nvSpPr>
        <p:spPr>
          <a:xfrm>
            <a:off x="11292840" y="109728"/>
            <a:ext cx="731520" cy="347472"/>
          </a:xfrm>
          <a:prstGeom prst="rect">
            <a:avLst/>
          </a:prstGeom>
          <a:noFill/>
        </p:spPr>
        <p:txBody>
          <a:bodyPr wrap="none">
            <a:spAutoFit/>
          </a:bodyPr>
          <a:lstStyle/>
          <a:p>
            <a:pPr algn="r">
              <a:defRPr sz="1000" b="1">
                <a:solidFill>
                  <a:srgbClr val="D0D8E8"/>
                </a:solidFill>
                <a:latin typeface="Meiryo UI"/>
              </a:defRPr>
            </a:pPr>
            <a:r>
              <a:t>14 / 15</a:t>
            </a:r>
          </a:p>
        </p:txBody>
      </p:sp>
      <p:sp>
        <p:nvSpPr>
          <p:cNvPr id="6" name="Rectangle 5"/>
          <p:cNvSpPr/>
          <p:nvPr/>
        </p:nvSpPr>
        <p:spPr>
          <a:xfrm>
            <a:off x="256032" y="640080"/>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rPr sz="1200" b="1">
                <a:solidFill>
                  <a:srgbClr val="1B365D"/>
                </a:solidFill>
                <a:latin typeface="Meiryo UI"/>
              </a:rPr>
              <a:t>■ 保証工程連携会およびDR4で抽出された6大技術・コスト課題に対し、品質目標（Cpk ≥ 1.33）および投資回収性を両立させるために合意した対策一覧。</a:t>
            </a:r>
          </a:p>
        </p:txBody>
      </p:sp>
      <p:graphicFrame>
        <p:nvGraphicFramePr>
          <p:cNvPr id="7" name="Table 6"/>
          <p:cNvGraphicFramePr>
            <a:graphicFrameLocks noGrp="1"/>
          </p:cNvGraphicFramePr>
          <p:nvPr/>
        </p:nvGraphicFramePr>
        <p:xfrm>
          <a:off x="256032" y="1170432"/>
          <a:ext cx="11679630" cy="5349240"/>
        </p:xfrm>
        <a:graphic>
          <a:graphicData uri="http://schemas.openxmlformats.org/drawingml/2006/table">
            <a:tbl>
              <a:tblPr firstRow="1" bandRow="1">
                <a:tableStyleId>{5C22544A-7EE6-4342-B048-85BDC9FD1C3A}</a:tableStyleId>
              </a:tblPr>
              <a:tblGrid>
                <a:gridCol w="502920"/>
                <a:gridCol w="2148840"/>
                <a:gridCol w="3520440"/>
                <a:gridCol w="3822191"/>
                <a:gridCol w="1685239"/>
              </a:tblGrid>
              <a:tr h="764177">
                <a:tc>
                  <a:txBody>
                    <a:bodyPr wrap="square"/>
                    <a:lstStyle/>
                    <a:p>
                      <a:pPr algn="ctr">
                        <a:defRPr sz="750" b="1">
                          <a:solidFill>
                            <a:srgbClr val="FFFFFF"/>
                          </a:solidFill>
                          <a:latin typeface="Meiryo UI"/>
                        </a:defRPr>
                      </a:pPr>
                      <a:r>
                        <a:t>項</a:t>
                      </a:r>
                    </a:p>
                  </a:txBody>
                  <a:tcPr anchor="ctr" marL="36576" marR="36576" marT="9144" marB="9144">
                    <a:solidFill>
                      <a:srgbClr val="1B365D"/>
                    </a:solidFill>
                  </a:tcPr>
                </a:tc>
                <a:tc>
                  <a:txBody>
                    <a:bodyPr wrap="square"/>
                    <a:lstStyle/>
                    <a:p>
                      <a:pPr algn="ctr">
                        <a:defRPr sz="750" b="1">
                          <a:solidFill>
                            <a:srgbClr val="FFFFFF"/>
                          </a:solidFill>
                          <a:latin typeface="Meiryo UI"/>
                        </a:defRPr>
                      </a:pPr>
                      <a:r>
                        <a:t>発生技術課題</a:t>
                      </a:r>
                    </a:p>
                  </a:txBody>
                  <a:tcPr anchor="ctr" marL="36576" marR="36576" marT="9144" marB="9144">
                    <a:solidFill>
                      <a:srgbClr val="1B365D"/>
                    </a:solidFill>
                  </a:tcPr>
                </a:tc>
                <a:tc>
                  <a:txBody>
                    <a:bodyPr wrap="square"/>
                    <a:lstStyle/>
                    <a:p>
                      <a:pPr algn="ctr">
                        <a:defRPr sz="750" b="1">
                          <a:solidFill>
                            <a:srgbClr val="FFFFFF"/>
                          </a:solidFill>
                          <a:latin typeface="Meiryo UI"/>
                        </a:defRPr>
                      </a:pPr>
                      <a:r>
                        <a:t>原因分析および想定されるリスク</a:t>
                      </a:r>
                    </a:p>
                  </a:txBody>
                  <a:tcPr anchor="ctr" marL="36576" marR="36576" marT="9144" marB="9144">
                    <a:solidFill>
                      <a:srgbClr val="1B365D"/>
                    </a:solidFill>
                  </a:tcPr>
                </a:tc>
                <a:tc>
                  <a:txBody>
                    <a:bodyPr wrap="square"/>
                    <a:lstStyle/>
                    <a:p>
                      <a:pPr algn="ctr">
                        <a:defRPr sz="750" b="1">
                          <a:solidFill>
                            <a:srgbClr val="FFFFFF"/>
                          </a:solidFill>
                          <a:latin typeface="Meiryo UI"/>
                        </a:defRPr>
                      </a:pPr>
                      <a:r>
                        <a:t>合意された技術対策および方針</a:t>
                      </a:r>
                    </a:p>
                  </a:txBody>
                  <a:tcPr anchor="ctr" marL="36576" marR="36576" marT="9144" marB="9144">
                    <a:solidFill>
                      <a:srgbClr val="1B365D"/>
                    </a:solidFill>
                  </a:tcPr>
                </a:tc>
                <a:tc>
                  <a:txBody>
                    <a:bodyPr wrap="square"/>
                    <a:lstStyle/>
                    <a:p>
                      <a:pPr algn="ctr">
                        <a:defRPr sz="750" b="1">
                          <a:solidFill>
                            <a:srgbClr val="FFFFFF"/>
                          </a:solidFill>
                          <a:latin typeface="Meiryo UI"/>
                        </a:defRPr>
                      </a:pPr>
                      <a:r>
                        <a:t>参照資料</a:t>
                      </a:r>
                    </a:p>
                  </a:txBody>
                  <a:tcPr anchor="ctr" marL="36576" marR="36576" marT="9144" marB="9144">
                    <a:solidFill>
                      <a:srgbClr val="1B365D"/>
                    </a:solidFill>
                  </a:tcPr>
                </a:tc>
              </a:tr>
              <a:tr h="764177">
                <a:tc>
                  <a:txBody>
                    <a:bodyPr wrap="square"/>
                    <a:lstStyle/>
                    <a:p>
                      <a:pPr algn="ctr">
                        <a:defRPr sz="680" b="1">
                          <a:solidFill>
                            <a:srgbClr val="1E242B"/>
                          </a:solidFill>
                          <a:latin typeface="Meiryo UI"/>
                        </a:defRPr>
                      </a:pPr>
                      <a:r>
                        <a:t>1</a:t>
                      </a:r>
                    </a:p>
                  </a:txBody>
                  <a:tcPr anchor="ctr" marL="36576" marR="36576" marT="9144" marB="9144">
                    <a:solidFill>
                      <a:srgbClr val="E8EEF5"/>
                    </a:solidFill>
                  </a:tcPr>
                </a:tc>
                <a:tc>
                  <a:txBody>
                    <a:bodyPr wrap="square"/>
                    <a:lstStyle/>
                    <a:p>
                      <a:pPr algn="l">
                        <a:defRPr sz="680">
                          <a:solidFill>
                            <a:srgbClr val="1E242B"/>
                          </a:solidFill>
                          <a:latin typeface="Meiryo UI"/>
                        </a:defRPr>
                      </a:pPr>
                      <a:r>
                        <a:t>投資回収性（ROI）：</a:t>
                      </a:r>
                      <a:br/>
                      <a:r>
                        <a:t>原稿ロボット（No.23）およびUSBロボット（No.24）の費用過大</a:t>
                      </a:r>
                    </a:p>
                  </a:txBody>
                  <a:tcPr anchor="ctr" marL="36576" marR="36576" marT="9144" marB="9144">
                    <a:solidFill>
                      <a:srgbClr val="E8EEF5"/>
                    </a:solidFill>
                  </a:tcPr>
                </a:tc>
                <a:tc>
                  <a:txBody>
                    <a:bodyPr wrap="square"/>
                    <a:lstStyle/>
                    <a:p>
                      <a:pPr algn="l">
                        <a:defRPr sz="680">
                          <a:solidFill>
                            <a:srgbClr val="1E242B"/>
                          </a:solidFill>
                          <a:latin typeface="Meiryo UI"/>
                        </a:defRPr>
                      </a:pPr>
                      <a:r>
                        <a:t>• No.23（原稿ロボット）は650M VND（25,000 USD）を要しコンベア2セル延長が必要。年間削減額108.5M VNDに対して回収期間が6年超。</a:t>
                      </a:r>
                      <a:br/>
                      <a:r>
                        <a:t>• No.24（USB挿抜ロボット）は104M VND（4,000 USD）に対して短縮時間が30秒に留まる。</a:t>
                      </a:r>
                    </a:p>
                  </a:txBody>
                  <a:tcPr anchor="ctr" marL="36576" marR="36576" marT="9144" marB="9144">
                    <a:solidFill>
                      <a:srgbClr val="E8EEF5"/>
                    </a:solidFill>
                  </a:tcPr>
                </a:tc>
                <a:tc>
                  <a:txBody>
                    <a:bodyPr wrap="square"/>
                    <a:lstStyle/>
                    <a:p>
                      <a:pPr algn="l">
                        <a:defRPr sz="680">
                          <a:solidFill>
                            <a:srgbClr val="1E242B"/>
                          </a:solidFill>
                          <a:latin typeface="Meiryo UI"/>
                        </a:defRPr>
                      </a:pPr>
                      <a:r>
                        <a:t>• DR4および第7回連携会にて、No.23およびNo.24のロボット投資を中止決定。</a:t>
                      </a:r>
                      <a:br/>
                      <a:r>
                        <a:t>• No.23は本体の原稿自動送り装置（DP）による連続スキャン＋PC自動判定方式（No.25）へ転換。</a:t>
                      </a:r>
                      <a:br/>
                      <a:r>
                        <a:t>• No.24はHost PCによる基板ログ照合（日本No.3）およびFW投入時保証（日本No.6）へ代替（設備費0円）。</a:t>
                      </a:r>
                    </a:p>
                  </a:txBody>
                  <a:tcPr anchor="ctr" marL="36576" marR="36576" marT="9144" marB="9144">
                    <a:solidFill>
                      <a:srgbClr val="E8EEF5"/>
                    </a:solidFill>
                  </a:tcPr>
                </a:tc>
                <a:tc>
                  <a:txBody>
                    <a:bodyPr wrap="square"/>
                    <a:lstStyle/>
                    <a:p>
                      <a:pPr algn="l">
                        <a:defRPr sz="680">
                          <a:solidFill>
                            <a:srgbClr val="1E242B"/>
                          </a:solidFill>
                          <a:latin typeface="Meiryo UI"/>
                        </a:defRPr>
                      </a:pPr>
                      <a:r>
                        <a:t>Iris EXPのVN提案.xlsx;</a:t>
                      </a:r>
                      <a:br/>
                      <a:r>
                        <a:t>連携会 第7回;</a:t>
                      </a:r>
                      <a:br/>
                      <a:r>
                        <a:t>まとめ Row 37~39</a:t>
                      </a:r>
                    </a:p>
                  </a:txBody>
                  <a:tcPr anchor="ctr" marL="36576" marR="36576" marT="9144" marB="9144">
                    <a:solidFill>
                      <a:srgbClr val="E8EEF5"/>
                    </a:solidFill>
                  </a:tcPr>
                </a:tc>
              </a:tr>
              <a:tr h="764177">
                <a:tc>
                  <a:txBody>
                    <a:bodyPr wrap="square"/>
                    <a:lstStyle/>
                    <a:p>
                      <a:pPr algn="ctr">
                        <a:defRPr sz="680" b="1">
                          <a:solidFill>
                            <a:srgbClr val="1E242B"/>
                          </a:solidFill>
                          <a:latin typeface="Meiryo UI"/>
                        </a:defRPr>
                      </a:pPr>
                      <a:r>
                        <a:t>2</a:t>
                      </a:r>
                    </a:p>
                  </a:txBody>
                  <a:tcPr anchor="ctr" marL="36576" marR="36576" marT="9144" marB="9144">
                    <a:solidFill>
                      <a:srgbClr val="FEF7E6"/>
                    </a:solidFill>
                  </a:tcPr>
                </a:tc>
                <a:tc>
                  <a:txBody>
                    <a:bodyPr wrap="square"/>
                    <a:lstStyle/>
                    <a:p>
                      <a:pPr algn="l">
                        <a:defRPr sz="680">
                          <a:solidFill>
                            <a:srgbClr val="1E242B"/>
                          </a:solidFill>
                          <a:latin typeface="Meiryo UI"/>
                        </a:defRPr>
                      </a:pPr>
                      <a:r>
                        <a:t>制御ハードウェアの信頼性：</a:t>
                      </a:r>
                      <a:br/>
                      <a:r>
                        <a:t>Raspberry Pi（Athena系）におけるバッテリー劣化とWi-Fi切断</a:t>
                      </a:r>
                    </a:p>
                  </a:txBody>
                  <a:tcPr anchor="ctr" marL="36576" marR="36576" marT="9144" marB="9144">
                    <a:solidFill>
                      <a:srgbClr val="FEF7E6"/>
                    </a:solidFill>
                  </a:tcPr>
                </a:tc>
                <a:tc>
                  <a:txBody>
                    <a:bodyPr wrap="square"/>
                    <a:lstStyle/>
                    <a:p>
                      <a:pPr algn="l">
                        <a:defRPr sz="680">
                          <a:solidFill>
                            <a:srgbClr val="1E242B"/>
                          </a:solidFill>
                          <a:latin typeface="Meiryo UI"/>
                        </a:defRPr>
                      </a:pPr>
                      <a:r>
                        <a:t>• Athena系（月産1,000台規模）では台車AGV搭載のRaspberry Piに充電池から給電していたが、バッテリー劣化とWi-Fi切断が週2～3回発生。</a:t>
                      </a:r>
                      <a:br/>
                      <a:r>
                        <a:t>• ベトナムの大量生産規模（月産16,000台、日産300台）には適用不可。</a:t>
                      </a:r>
                    </a:p>
                  </a:txBody>
                  <a:tcPr anchor="ctr" marL="36576" marR="36576" marT="9144" marB="9144">
                    <a:solidFill>
                      <a:srgbClr val="FEF7E6"/>
                    </a:solidFill>
                  </a:tcPr>
                </a:tc>
                <a:tc>
                  <a:txBody>
                    <a:bodyPr wrap="square"/>
                    <a:lstStyle/>
                    <a:p>
                      <a:pPr algn="l">
                        <a:defRPr sz="680">
                          <a:solidFill>
                            <a:srgbClr val="1E242B"/>
                          </a:solidFill>
                          <a:latin typeface="Meiryo UI"/>
                        </a:defRPr>
                      </a:pPr>
                      <a:r>
                        <a:t>• Spica Mini PC方式へ統一決定（PC＆Spicaシステムに仮決定）：商用AC電源固定給電、有線LAN/VLANによる高信頼性ネットワーク。</a:t>
                      </a:r>
                      <a:br/>
                      <a:r>
                        <a:t>• 1台のMini PC（約4万円）で1セル内4台の本体を同時制御。</a:t>
                      </a:r>
                    </a:p>
                  </a:txBody>
                  <a:tcPr anchor="ctr" marL="36576" marR="36576" marT="9144" marB="9144">
                    <a:solidFill>
                      <a:srgbClr val="FEF7E6"/>
                    </a:solidFill>
                  </a:tcPr>
                </a:tc>
                <a:tc>
                  <a:txBody>
                    <a:bodyPr wrap="square"/>
                    <a:lstStyle/>
                    <a:p>
                      <a:pPr algn="l">
                        <a:defRPr sz="680">
                          <a:solidFill>
                            <a:srgbClr val="1E242B"/>
                          </a:solidFill>
                          <a:latin typeface="Meiryo UI"/>
                        </a:defRPr>
                      </a:pPr>
                      <a:r>
                        <a:t>AthenaとSpicaの比較.xlsx;</a:t>
                      </a:r>
                      <a:br/>
                      <a:r>
                        <a:t>連携会 第8回, 第15回</a:t>
                      </a:r>
                    </a:p>
                  </a:txBody>
                  <a:tcPr anchor="ctr" marL="36576" marR="36576" marT="9144" marB="9144">
                    <a:solidFill>
                      <a:srgbClr val="FEF7E6"/>
                    </a:solidFill>
                  </a:tcPr>
                </a:tc>
              </a:tr>
              <a:tr h="764177">
                <a:tc>
                  <a:txBody>
                    <a:bodyPr wrap="square"/>
                    <a:lstStyle/>
                    <a:p>
                      <a:pPr algn="ctr">
                        <a:defRPr sz="680" b="1">
                          <a:solidFill>
                            <a:srgbClr val="1E242B"/>
                          </a:solidFill>
                          <a:latin typeface="Meiryo UI"/>
                        </a:defRPr>
                      </a:pPr>
                      <a:r>
                        <a:t>3</a:t>
                      </a:r>
                    </a:p>
                  </a:txBody>
                  <a:tcPr anchor="ctr" marL="36576" marR="36576" marT="9144" marB="9144">
                    <a:solidFill>
                      <a:srgbClr val="FFFFFF"/>
                    </a:solidFill>
                  </a:tcPr>
                </a:tc>
                <a:tc>
                  <a:txBody>
                    <a:bodyPr wrap="square"/>
                    <a:lstStyle/>
                    <a:p>
                      <a:pPr algn="l">
                        <a:defRPr sz="680">
                          <a:solidFill>
                            <a:srgbClr val="1E242B"/>
                          </a:solidFill>
                          <a:latin typeface="Meiryo UI"/>
                        </a:defRPr>
                      </a:pPr>
                      <a:r>
                        <a:t>画像読取精度の成立性：</a:t>
                      </a:r>
                      <a:br/>
                      <a:r>
                        <a:t>DP給紙スキャン（No.25）とプラテンガラス面スキャンの差</a:t>
                      </a:r>
                    </a:p>
                  </a:txBody>
                  <a:tcPr anchor="ctr" marL="36576" marR="36576" marT="9144" marB="9144">
                    <a:solidFill>
                      <a:srgbClr val="FFFFFF"/>
                    </a:solidFill>
                  </a:tcPr>
                </a:tc>
                <a:tc>
                  <a:txBody>
                    <a:bodyPr wrap="square"/>
                    <a:lstStyle/>
                    <a:p>
                      <a:pPr algn="l">
                        <a:defRPr sz="680">
                          <a:solidFill>
                            <a:srgbClr val="1E242B"/>
                          </a:solidFill>
                          <a:latin typeface="Meiryo UI"/>
                        </a:defRPr>
                      </a:pPr>
                      <a:r>
                        <a:t>• プラテンガラス面上に原稿を静止セットする方式からDP給紙による連続搬送スキャンへ変更した場合、搬送速度ムラや斜行がU411/SITC-2/Halftone測定精度に影響する懸念。</a:t>
                      </a:r>
                    </a:p>
                  </a:txBody>
                  <a:tcPr anchor="ctr" marL="36576" marR="36576" marT="9144" marB="9144">
                    <a:solidFill>
                      <a:srgbClr val="FFFFFF"/>
                    </a:solidFill>
                  </a:tcPr>
                </a:tc>
                <a:tc>
                  <a:txBody>
                    <a:bodyPr wrap="square"/>
                    <a:lstStyle/>
                    <a:p>
                      <a:pPr algn="l">
                        <a:defRPr sz="680">
                          <a:solidFill>
                            <a:srgbClr val="1E242B"/>
                          </a:solidFill>
                          <a:latin typeface="Meiryo UI"/>
                        </a:defRPr>
                      </a:pPr>
                      <a:r>
                        <a:t>• 3拠点の技術チームにて、DP給紙スキャンとガラス面スキャンの実機比較検証を実施中。</a:t>
                      </a:r>
                      <a:br/>
                      <a:r>
                        <a:t>• PC側ソフトで幾何歪み・速度ムラを補正するアルゴリズムを構築し、工程能力 Cpk ≥ 1.33 が確認された段階で量産へ適用。</a:t>
                      </a:r>
                    </a:p>
                  </a:txBody>
                  <a:tcPr anchor="ctr" marL="36576" marR="36576" marT="9144" marB="9144">
                    <a:solidFill>
                      <a:srgbClr val="FFFFFF"/>
                    </a:solidFill>
                  </a:tcPr>
                </a:tc>
                <a:tc>
                  <a:txBody>
                    <a:bodyPr wrap="square"/>
                    <a:lstStyle/>
                    <a:p>
                      <a:pPr algn="l">
                        <a:defRPr sz="680">
                          <a:solidFill>
                            <a:srgbClr val="1E242B"/>
                          </a:solidFill>
                          <a:latin typeface="Meiryo UI"/>
                        </a:defRPr>
                      </a:pPr>
                      <a:r>
                        <a:t>連携会 第13回 (9/18) ~</a:t>
                      </a:r>
                      <a:br/>
                      <a:r>
                        <a:t>第17回 (10/15)</a:t>
                      </a:r>
                    </a:p>
                  </a:txBody>
                  <a:tcPr anchor="ctr" marL="36576" marR="36576" marT="9144" marB="9144">
                    <a:solidFill>
                      <a:srgbClr val="FFFFFF"/>
                    </a:solidFill>
                  </a:tcPr>
                </a:tc>
              </a:tr>
              <a:tr h="764177">
                <a:tc>
                  <a:txBody>
                    <a:bodyPr wrap="square"/>
                    <a:lstStyle/>
                    <a:p>
                      <a:pPr algn="ctr">
                        <a:defRPr sz="680" b="1">
                          <a:solidFill>
                            <a:srgbClr val="1E242B"/>
                          </a:solidFill>
                          <a:latin typeface="Meiryo UI"/>
                        </a:defRPr>
                      </a:pPr>
                      <a:r>
                        <a:t>4</a:t>
                      </a:r>
                    </a:p>
                  </a:txBody>
                  <a:tcPr anchor="ctr" marL="36576" marR="36576" marT="9144" marB="9144">
                    <a:solidFill>
                      <a:srgbClr val="EAF7EE"/>
                    </a:solidFill>
                  </a:tcPr>
                </a:tc>
                <a:tc>
                  <a:txBody>
                    <a:bodyPr wrap="square"/>
                    <a:lstStyle/>
                    <a:p>
                      <a:pPr algn="l">
                        <a:defRPr sz="680">
                          <a:solidFill>
                            <a:srgbClr val="1E242B"/>
                          </a:solidFill>
                          <a:latin typeface="Meiryo UI"/>
                        </a:defRPr>
                      </a:pPr>
                      <a:r>
                        <a:t>A-3工程の安全検査基準：</a:t>
                      </a:r>
                      <a:br/>
                      <a:r>
                        <a:t>全閉カバー状態での耐電圧測定（No.22）の義務付け</a:t>
                      </a:r>
                    </a:p>
                  </a:txBody>
                  <a:tcPr anchor="ctr" marL="36576" marR="36576" marT="9144" marB="9144">
                    <a:solidFill>
                      <a:srgbClr val="EAF7EE"/>
                    </a:solidFill>
                  </a:tcPr>
                </a:tc>
                <a:tc>
                  <a:txBody>
                    <a:bodyPr wrap="square"/>
                    <a:lstStyle/>
                    <a:p>
                      <a:pPr algn="l">
                        <a:defRPr sz="680">
                          <a:solidFill>
                            <a:srgbClr val="1E242B"/>
                          </a:solidFill>
                          <a:latin typeface="Meiryo UI"/>
                        </a:defRPr>
                      </a:pPr>
                      <a:r>
                        <a:t>• DR4にて、アース導通および耐電圧検査は「カバー完全閉塞状態」での測定が義務付けられた（フレームへの配線噛み込み検知のため）。</a:t>
                      </a:r>
                      <a:br/>
                      <a:r>
                        <a:t>• しかしK3工程ではファン目視確認のためにカバーが開いており、カバー6枚の組付けに48～90秒を要していた。</a:t>
                      </a:r>
                    </a:p>
                  </a:txBody>
                  <a:tcPr anchor="ctr" marL="36576" marR="36576" marT="9144" marB="9144">
                    <a:solidFill>
                      <a:srgbClr val="EAF7EE"/>
                    </a:solidFill>
                  </a:tcPr>
                </a:tc>
                <a:tc>
                  <a:txBody>
                    <a:bodyPr wrap="square"/>
                    <a:lstStyle/>
                    <a:p>
                      <a:pPr algn="l">
                        <a:defRPr sz="680">
                          <a:solidFill>
                            <a:srgbClr val="1E242B"/>
                          </a:solidFill>
                          <a:latin typeface="Meiryo UI"/>
                        </a:defRPr>
                      </a:pPr>
                      <a:r>
                        <a:t>• ファン回転数はソフトによるパルス信号検知へ変更して目視を廃止。</a:t>
                      </a:r>
                      <a:br/>
                      <a:r>
                        <a:t>• カバー6枚の組付け作業を本体組立ライン（本体組立）末尾へ移管（No.33）し、No.22自動検査ステーションへはカバー完全閉塞状態で搬入。</a:t>
                      </a:r>
                    </a:p>
                  </a:txBody>
                  <a:tcPr anchor="ctr" marL="36576" marR="36576" marT="9144" marB="9144">
                    <a:solidFill>
                      <a:srgbClr val="EAF7EE"/>
                    </a:solidFill>
                  </a:tcPr>
                </a:tc>
                <a:tc>
                  <a:txBody>
                    <a:bodyPr wrap="square"/>
                    <a:lstStyle/>
                    <a:p>
                      <a:pPr algn="l">
                        <a:defRPr sz="680">
                          <a:solidFill>
                            <a:srgbClr val="1E242B"/>
                          </a:solidFill>
                          <a:latin typeface="Meiryo UI"/>
                        </a:defRPr>
                      </a:pPr>
                      <a:r>
                        <a:t>DR 4.pdf (Slide 6);</a:t>
                      </a:r>
                      <a:br/>
                      <a:r>
                        <a:t>調整工程DR議事録.xlsx</a:t>
                      </a:r>
                    </a:p>
                  </a:txBody>
                  <a:tcPr anchor="ctr" marL="36576" marR="36576" marT="9144" marB="9144">
                    <a:solidFill>
                      <a:srgbClr val="EAF7EE"/>
                    </a:solidFill>
                  </a:tcPr>
                </a:tc>
              </a:tr>
              <a:tr h="764177">
                <a:tc>
                  <a:txBody>
                    <a:bodyPr wrap="square"/>
                    <a:lstStyle/>
                    <a:p>
                      <a:pPr algn="ctr">
                        <a:defRPr sz="680" b="1">
                          <a:solidFill>
                            <a:srgbClr val="1E242B"/>
                          </a:solidFill>
                          <a:latin typeface="Meiryo UI"/>
                        </a:defRPr>
                      </a:pPr>
                      <a:r>
                        <a:t>5</a:t>
                      </a:r>
                    </a:p>
                  </a:txBody>
                  <a:tcPr anchor="ctr" marL="36576" marR="36576" marT="9144" marB="9144">
                    <a:solidFill>
                      <a:srgbClr val="FEF7E6"/>
                    </a:solidFill>
                  </a:tcPr>
                </a:tc>
                <a:tc>
                  <a:txBody>
                    <a:bodyPr wrap="square"/>
                    <a:lstStyle/>
                    <a:p>
                      <a:pPr algn="l">
                        <a:defRPr sz="680">
                          <a:solidFill>
                            <a:srgbClr val="1E242B"/>
                          </a:solidFill>
                          <a:latin typeface="Meiryo UI"/>
                        </a:defRPr>
                      </a:pPr>
                      <a:r>
                        <a:t>ベトナム工場の品質管理：</a:t>
                      </a:r>
                      <a:br/>
                      <a:r>
                        <a:t>転写ベルト蛇行不良（月1～2台）およびクリーニングブレードめくれ</a:t>
                      </a:r>
                    </a:p>
                  </a:txBody>
                  <a:tcPr anchor="ctr" marL="36576" marR="36576" marT="9144" marB="9144">
                    <a:solidFill>
                      <a:srgbClr val="FEF7E6"/>
                    </a:solidFill>
                  </a:tcPr>
                </a:tc>
                <a:tc>
                  <a:txBody>
                    <a:bodyPr wrap="square"/>
                    <a:lstStyle/>
                    <a:p>
                      <a:pPr algn="l">
                        <a:defRPr sz="680">
                          <a:solidFill>
                            <a:srgbClr val="1E242B"/>
                          </a:solidFill>
                          <a:latin typeface="Meiryo UI"/>
                        </a:defRPr>
                      </a:pPr>
                      <a:r>
                        <a:t>• 中国では発生しないが、ベトナムでは部品公差累積により転写ベルト蛇行不良が月1～2台発生（過去に11台多発ロットあり）。</a:t>
                      </a:r>
                      <a:br/>
                      <a:r>
                        <a:t>• ベルト清掃がローラーからブレードへ変更された際、潤滑トナー不足によるブレードめくれ懸念あり。</a:t>
                      </a:r>
                    </a:p>
                  </a:txBody>
                  <a:tcPr anchor="ctr" marL="36576" marR="36576" marT="9144" marB="9144">
                    <a:solidFill>
                      <a:srgbClr val="FEF7E6"/>
                    </a:solidFill>
                  </a:tcPr>
                </a:tc>
                <a:tc>
                  <a:txBody>
                    <a:bodyPr wrap="square"/>
                    <a:lstStyle/>
                    <a:p>
                      <a:pPr algn="l">
                        <a:defRPr sz="680">
                          <a:solidFill>
                            <a:srgbClr val="1E242B"/>
                          </a:solidFill>
                          <a:latin typeface="Meiryo UI"/>
                        </a:defRPr>
                      </a:pPr>
                      <a:r>
                        <a:t>• ベルト蛇行（No.37）：設計にてプーリ面取り角を5°から35°へ変更しベルト材質を変更。ベトナムでは新部品のCpk ≥ 1.33達成まで測定を継続。</a:t>
                      </a:r>
                      <a:br/>
                      <a:r>
                        <a:t>• ブレードめくれ対策：調整工程にて潤滑剤供給シーケンスU930の管理を徹底。</a:t>
                      </a:r>
                    </a:p>
                  </a:txBody>
                  <a:tcPr anchor="ctr" marL="36576" marR="36576" marT="9144" marB="9144">
                    <a:solidFill>
                      <a:srgbClr val="FEF7E6"/>
                    </a:solidFill>
                  </a:tcPr>
                </a:tc>
                <a:tc>
                  <a:txBody>
                    <a:bodyPr wrap="square"/>
                    <a:lstStyle/>
                    <a:p>
                      <a:pPr algn="l">
                        <a:defRPr sz="680">
                          <a:solidFill>
                            <a:srgbClr val="1E242B"/>
                          </a:solidFill>
                          <a:latin typeface="Meiryo UI"/>
                        </a:defRPr>
                      </a:pPr>
                      <a:r>
                        <a:t>調整工程DR議事録.xlsx;</a:t>
                      </a:r>
                      <a:br/>
                      <a:r>
                        <a:t>連携会 第17回</a:t>
                      </a:r>
                    </a:p>
                  </a:txBody>
                  <a:tcPr anchor="ctr" marL="36576" marR="36576" marT="9144" marB="9144">
                    <a:solidFill>
                      <a:srgbClr val="FEF7E6"/>
                    </a:solidFill>
                  </a:tcPr>
                </a:tc>
              </a:tr>
              <a:tr h="764178">
                <a:tc>
                  <a:txBody>
                    <a:bodyPr wrap="square"/>
                    <a:lstStyle/>
                    <a:p>
                      <a:pPr algn="ctr">
                        <a:defRPr sz="680" b="1">
                          <a:solidFill>
                            <a:srgbClr val="1E242B"/>
                          </a:solidFill>
                          <a:latin typeface="Meiryo UI"/>
                        </a:defRPr>
                      </a:pPr>
                      <a:r>
                        <a:t>6</a:t>
                      </a:r>
                    </a:p>
                  </a:txBody>
                  <a:tcPr anchor="ctr" marL="36576" marR="36576" marT="9144" marB="9144">
                    <a:solidFill>
                      <a:srgbClr val="F7F9FC"/>
                    </a:solidFill>
                  </a:tcPr>
                </a:tc>
                <a:tc>
                  <a:txBody>
                    <a:bodyPr wrap="square"/>
                    <a:lstStyle/>
                    <a:p>
                      <a:pPr algn="l">
                        <a:defRPr sz="680">
                          <a:solidFill>
                            <a:srgbClr val="1E242B"/>
                          </a:solidFill>
                          <a:latin typeface="Meiryo UI"/>
                        </a:defRPr>
                      </a:pPr>
                      <a:r>
                        <a:t>IrisEXPでの新規発生工数：</a:t>
                      </a:r>
                      <a:br/>
                      <a:r>
                        <a:t>主走査ビームピッチ補正 U413（カラー+89秒 / モノクロ+51.72秒）</a:t>
                      </a:r>
                    </a:p>
                  </a:txBody>
                  <a:tcPr anchor="ctr" marL="36576" marR="36576" marT="9144" marB="9144">
                    <a:solidFill>
                      <a:srgbClr val="F7F9FC"/>
                    </a:solidFill>
                  </a:tcPr>
                </a:tc>
                <a:tc>
                  <a:txBody>
                    <a:bodyPr wrap="square"/>
                    <a:lstStyle/>
                    <a:p>
                      <a:pPr algn="l">
                        <a:defRPr sz="680">
                          <a:solidFill>
                            <a:srgbClr val="1E242B"/>
                          </a:solidFill>
                          <a:latin typeface="Meiryo UI"/>
                        </a:defRPr>
                      </a:pPr>
                      <a:r>
                        <a:t>• IrisEXPの高画質化のため、設計より主走査ビームピッチ補正（U413）が新規追加され、手動作業のままではカラーで89秒、モノクロで51.72秒の工数増となる。</a:t>
                      </a:r>
                    </a:p>
                  </a:txBody>
                  <a:tcPr anchor="ctr" marL="36576" marR="36576" marT="9144" marB="9144">
                    <a:solidFill>
                      <a:srgbClr val="F7F9FC"/>
                    </a:solidFill>
                  </a:tcPr>
                </a:tc>
                <a:tc>
                  <a:txBody>
                    <a:bodyPr wrap="square"/>
                    <a:lstStyle/>
                    <a:p>
                      <a:pPr algn="l">
                        <a:defRPr sz="680">
                          <a:solidFill>
                            <a:srgbClr val="1E242B"/>
                          </a:solidFill>
                          <a:latin typeface="Meiryo UI"/>
                        </a:defRPr>
                      </a:pPr>
                      <a:r>
                        <a:t>• LSUデータ自動書き込みソフトの開発（投資約225～250万円）によりライン上のU413手動作業を完全廃止する案、またはA-2ステーションの自動検査サイクル内へ完全統合する案を検討中。</a:t>
                      </a:r>
                    </a:p>
                  </a:txBody>
                  <a:tcPr anchor="ctr" marL="36576" marR="36576" marT="9144" marB="9144">
                    <a:solidFill>
                      <a:srgbClr val="F7F9FC"/>
                    </a:solidFill>
                  </a:tcPr>
                </a:tc>
                <a:tc>
                  <a:txBody>
                    <a:bodyPr wrap="square"/>
                    <a:lstStyle/>
                    <a:p>
                      <a:pPr algn="l">
                        <a:defRPr sz="680">
                          <a:solidFill>
                            <a:srgbClr val="1E242B"/>
                          </a:solidFill>
                          <a:latin typeface="Meiryo UI"/>
                        </a:defRPr>
                      </a:pPr>
                      <a:r>
                        <a:t>主走査ビームピッチ補正.pptx;</a:t>
                      </a:r>
                      <a:br/>
                      <a:r>
                        <a:t>IrisEXP 工程 3.xlsx</a:t>
                      </a:r>
                    </a:p>
                  </a:txBody>
                  <a:tcPr anchor="ctr" marL="36576" marR="36576" marT="9144" marB="9144">
                    <a:solidFill>
                      <a:srgbClr val="F7F9F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91440"/>
            <a:ext cx="2057400" cy="384048"/>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950" b="1">
                <a:solidFill>
                  <a:srgbClr val="FFFFFF"/>
                </a:solidFill>
                <a:latin typeface="Meiryo UI"/>
              </a:defRPr>
            </a:pPr>
            <a:r>
              <a:t>参考資料 (4/4)</a:t>
            </a:r>
          </a:p>
        </p:txBody>
      </p:sp>
      <p:sp>
        <p:nvSpPr>
          <p:cNvPr id="4" name="TextBox 3"/>
          <p:cNvSpPr txBox="1"/>
          <p:nvPr/>
        </p:nvSpPr>
        <p:spPr>
          <a:xfrm>
            <a:off x="2377440" y="54864"/>
            <a:ext cx="8961120" cy="457200"/>
          </a:xfrm>
          <a:prstGeom prst="rect">
            <a:avLst/>
          </a:prstGeom>
          <a:noFill/>
        </p:spPr>
        <p:txBody>
          <a:bodyPr wrap="square" lIns="18288" rIns="18288">
            <a:spAutoFit/>
          </a:bodyPr>
          <a:lstStyle/>
          <a:p>
            <a:pPr>
              <a:defRPr sz="1450" b="1">
                <a:solidFill>
                  <a:srgbClr val="FFFFFF"/>
                </a:solidFill>
                <a:latin typeface="Meiryo UI"/>
              </a:defRPr>
            </a:pPr>
            <a:r>
              <a:t>全38改善提案（No.1 ～ No.38）完全対照マスターテーブル</a:t>
            </a:r>
          </a:p>
        </p:txBody>
      </p:sp>
      <p:sp>
        <p:nvSpPr>
          <p:cNvPr id="5" name="TextBox 4"/>
          <p:cNvSpPr txBox="1"/>
          <p:nvPr/>
        </p:nvSpPr>
        <p:spPr>
          <a:xfrm>
            <a:off x="11292840" y="109728"/>
            <a:ext cx="731520" cy="347472"/>
          </a:xfrm>
          <a:prstGeom prst="rect">
            <a:avLst/>
          </a:prstGeom>
          <a:noFill/>
        </p:spPr>
        <p:txBody>
          <a:bodyPr wrap="none">
            <a:spAutoFit/>
          </a:bodyPr>
          <a:lstStyle/>
          <a:p>
            <a:pPr algn="r">
              <a:defRPr sz="1000" b="1">
                <a:solidFill>
                  <a:srgbClr val="D0D8E8"/>
                </a:solidFill>
                <a:latin typeface="Meiryo UI"/>
              </a:defRPr>
            </a:pPr>
            <a:r>
              <a:t>15 / 15</a:t>
            </a:r>
          </a:p>
        </p:txBody>
      </p:sp>
      <p:sp>
        <p:nvSpPr>
          <p:cNvPr id="6" name="Rectangle 5"/>
          <p:cNvSpPr/>
          <p:nvPr/>
        </p:nvSpPr>
        <p:spPr>
          <a:xfrm>
            <a:off x="256032" y="640080"/>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Meiryo UI"/>
              </a:defRPr>
            </a:pPr>
            <a:r>
              <a:rPr sz="1200" b="1">
                <a:solidFill>
                  <a:srgbClr val="1B365D"/>
                </a:solidFill>
                <a:latin typeface="Meiryo UI"/>
              </a:rPr>
              <a:t>■ 3拠点全38提案（日本：No.1～7 ｜ 中国：No.8～17, No.38 ｜ ベトナム：No.18～37）の管理マスターテーブル。統合管理シート（IrisEXP改善提案まとめ.xlsx）と完全一致。</a:t>
            </a:r>
          </a:p>
        </p:txBody>
      </p:sp>
      <p:graphicFrame>
        <p:nvGraphicFramePr>
          <p:cNvPr id="7" name="Table 6"/>
          <p:cNvGraphicFramePr>
            <a:graphicFrameLocks noGrp="1"/>
          </p:cNvGraphicFramePr>
          <p:nvPr/>
        </p:nvGraphicFramePr>
        <p:xfrm>
          <a:off x="256032" y="1152144"/>
          <a:ext cx="5760720" cy="5440680"/>
        </p:xfrm>
        <a:graphic>
          <a:graphicData uri="http://schemas.openxmlformats.org/drawingml/2006/table">
            <a:tbl>
              <a:tblPr firstRow="1" bandRow="1">
                <a:tableStyleId>{5C22544A-7EE6-4342-B048-85BDC9FD1C3A}</a:tableStyleId>
              </a:tblPr>
              <a:tblGrid>
                <a:gridCol w="475488"/>
                <a:gridCol w="713232"/>
                <a:gridCol w="3337560"/>
                <a:gridCol w="1234440"/>
              </a:tblGrid>
              <a:tr h="272034">
                <a:tc>
                  <a:txBody>
                    <a:bodyPr wrap="square"/>
                    <a:lstStyle/>
                    <a:p>
                      <a:pPr algn="ctr">
                        <a:defRPr sz="640" b="1">
                          <a:solidFill>
                            <a:srgbClr val="FFFFFF"/>
                          </a:solidFill>
                          <a:latin typeface="Meiryo UI"/>
                        </a:defRPr>
                      </a:pPr>
                      <a:r>
                        <a:t>No.</a:t>
                      </a:r>
                    </a:p>
                  </a:txBody>
                  <a:tcPr anchor="ctr" marL="36576" marR="36576" marT="9144" marB="9144">
                    <a:solidFill>
                      <a:srgbClr val="1B365D"/>
                    </a:solidFill>
                  </a:tcPr>
                </a:tc>
                <a:tc>
                  <a:txBody>
                    <a:bodyPr wrap="square"/>
                    <a:lstStyle/>
                    <a:p>
                      <a:pPr algn="ctr">
                        <a:defRPr sz="640" b="1">
                          <a:solidFill>
                            <a:srgbClr val="FFFFFF"/>
                          </a:solidFill>
                          <a:latin typeface="Meiryo UI"/>
                        </a:defRPr>
                      </a:pPr>
                      <a:r>
                        <a:t>提案拠点</a:t>
                      </a:r>
                    </a:p>
                  </a:txBody>
                  <a:tcPr anchor="ctr" marL="36576" marR="36576" marT="9144" marB="9144">
                    <a:solidFill>
                      <a:srgbClr val="1B365D"/>
                    </a:solidFill>
                  </a:tcPr>
                </a:tc>
                <a:tc>
                  <a:txBody>
                    <a:bodyPr wrap="square"/>
                    <a:lstStyle/>
                    <a:p>
                      <a:pPr algn="ctr">
                        <a:defRPr sz="640" b="1">
                          <a:solidFill>
                            <a:srgbClr val="FFFFFF"/>
                          </a:solidFill>
                          <a:latin typeface="Meiryo UI"/>
                        </a:defRPr>
                      </a:pPr>
                      <a:r>
                        <a:t>改善提案内容（No.1 ～ No.19）</a:t>
                      </a:r>
                    </a:p>
                  </a:txBody>
                  <a:tcPr anchor="ctr" marL="36576" marR="36576" marT="9144" marB="9144">
                    <a:solidFill>
                      <a:srgbClr val="1B365D"/>
                    </a:solidFill>
                  </a:tcPr>
                </a:tc>
                <a:tc>
                  <a:txBody>
                    <a:bodyPr wrap="square"/>
                    <a:lstStyle/>
                    <a:p>
                      <a:pPr algn="ctr">
                        <a:defRPr sz="640" b="1">
                          <a:solidFill>
                            <a:srgbClr val="FFFFFF"/>
                          </a:solidFill>
                          <a:latin typeface="Meiryo UI"/>
                        </a:defRPr>
                      </a:pPr>
                      <a:r>
                        <a:t>判定・確定状況</a:t>
                      </a:r>
                    </a:p>
                  </a:txBody>
                  <a:tcPr anchor="ctr" marL="36576" marR="36576" marT="9144" marB="9144">
                    <a:solidFill>
                      <a:srgbClr val="1B365D"/>
                    </a:solidFill>
                  </a:tcPr>
                </a:tc>
              </a:tr>
              <a:tr h="272034">
                <a:tc>
                  <a:txBody>
                    <a:bodyPr wrap="square"/>
                    <a:lstStyle/>
                    <a:p>
                      <a:pPr algn="ctr">
                        <a:defRPr sz="550" b="1">
                          <a:solidFill>
                            <a:srgbClr val="1E242B"/>
                          </a:solidFill>
                          <a:latin typeface="Meiryo UI"/>
                        </a:defRPr>
                      </a:pPr>
                      <a:r>
                        <a:t>1</a:t>
                      </a:r>
                    </a:p>
                  </a:txBody>
                  <a:tcPr anchor="ctr" marL="36576" marR="36576" marT="9144" marB="9144">
                    <a:solidFill>
                      <a:srgbClr val="E8EEF5"/>
                    </a:solidFill>
                  </a:tcPr>
                </a:tc>
                <a:tc>
                  <a:txBody>
                    <a:bodyPr wrap="square"/>
                    <a:lstStyle/>
                    <a:p>
                      <a:pPr algn="ctr">
                        <a:defRPr sz="550">
                          <a:solidFill>
                            <a:srgbClr val="1E242B"/>
                          </a:solidFill>
                          <a:latin typeface="Meiryo UI"/>
                        </a:defRPr>
                      </a:pPr>
                      <a:r>
                        <a:t>日本</a:t>
                      </a:r>
                    </a:p>
                  </a:txBody>
                  <a:tcPr anchor="ctr" marL="36576" marR="36576" marT="9144" marB="9144">
                    <a:solidFill>
                      <a:srgbClr val="E8EEF5"/>
                    </a:solidFill>
                  </a:tcPr>
                </a:tc>
                <a:tc>
                  <a:txBody>
                    <a:bodyPr wrap="square"/>
                    <a:lstStyle/>
                    <a:p>
                      <a:pPr algn="l">
                        <a:defRPr sz="550">
                          <a:solidFill>
                            <a:srgbClr val="1E242B"/>
                          </a:solidFill>
                          <a:latin typeface="Meiryo UI"/>
                        </a:defRPr>
                      </a:pPr>
                      <a:r>
                        <a:t>A-1工程を中心としたライン設計（4名、タクト97秒、18-&gt;9名目標）</a:t>
                      </a:r>
                    </a:p>
                  </a:txBody>
                  <a:tcPr anchor="ctr" marL="36576" marR="36576" marT="9144" marB="9144">
                    <a:solidFill>
                      <a:srgbClr val="E8EEF5"/>
                    </a:solidFill>
                  </a:tcPr>
                </a:tc>
                <a:tc>
                  <a:txBody>
                    <a:bodyPr wrap="square"/>
                    <a:lstStyle/>
                    <a:p>
                      <a:pPr algn="l">
                        <a:defRPr sz="550" b="1">
                          <a:solidFill>
                            <a:srgbClr val="1E6E3E"/>
                          </a:solidFill>
                          <a:latin typeface="Meiryo UI"/>
                        </a:defRPr>
                      </a:pPr>
                      <a:r>
                        <a:t>先行実施</a:t>
                      </a:r>
                    </a:p>
                  </a:txBody>
                  <a:tcPr anchor="ctr" marL="36576" marR="36576" marT="9144" marB="9144">
                    <a:solidFill>
                      <a:srgbClr val="E8EEF5"/>
                    </a:solidFill>
                  </a:tcPr>
                </a:tc>
              </a:tr>
              <a:tr h="272034">
                <a:tc>
                  <a:txBody>
                    <a:bodyPr wrap="square"/>
                    <a:lstStyle/>
                    <a:p>
                      <a:pPr algn="ctr">
                        <a:defRPr sz="550" b="1">
                          <a:solidFill>
                            <a:srgbClr val="1E242B"/>
                          </a:solidFill>
                          <a:latin typeface="Meiryo UI"/>
                        </a:defRPr>
                      </a:pPr>
                      <a:r>
                        <a:t>2</a:t>
                      </a:r>
                    </a:p>
                  </a:txBody>
                  <a:tcPr anchor="ctr" marL="36576" marR="36576" marT="9144" marB="9144">
                    <a:solidFill>
                      <a:srgbClr val="E8EEF5"/>
                    </a:solidFill>
                  </a:tcPr>
                </a:tc>
                <a:tc>
                  <a:txBody>
                    <a:bodyPr wrap="square"/>
                    <a:lstStyle/>
                    <a:p>
                      <a:pPr algn="ctr">
                        <a:defRPr sz="550">
                          <a:solidFill>
                            <a:srgbClr val="1E242B"/>
                          </a:solidFill>
                          <a:latin typeface="Meiryo UI"/>
                        </a:defRPr>
                      </a:pPr>
                      <a:r>
                        <a:t>日本</a:t>
                      </a:r>
                    </a:p>
                  </a:txBody>
                  <a:tcPr anchor="ctr" marL="36576" marR="36576" marT="9144" marB="9144">
                    <a:solidFill>
                      <a:srgbClr val="E8EEF5"/>
                    </a:solidFill>
                  </a:tcPr>
                </a:tc>
                <a:tc>
                  <a:txBody>
                    <a:bodyPr wrap="square"/>
                    <a:lstStyle/>
                    <a:p>
                      <a:pPr algn="l">
                        <a:defRPr sz="550">
                          <a:solidFill>
                            <a:srgbClr val="1E242B"/>
                          </a:solidFill>
                          <a:latin typeface="Meiryo UI"/>
                        </a:defRPr>
                      </a:pPr>
                      <a:r>
                        <a:t>廃トナー満杯しきい値（WTB・U155）調整の工程廃止（-29.16s）</a:t>
                      </a:r>
                    </a:p>
                  </a:txBody>
                  <a:tcPr anchor="ctr" marL="36576" marR="36576" marT="9144" marB="9144">
                    <a:solidFill>
                      <a:srgbClr val="E8EEF5"/>
                    </a:solidFill>
                  </a:tcPr>
                </a:tc>
                <a:tc>
                  <a:txBody>
                    <a:bodyPr wrap="square"/>
                    <a:lstStyle/>
                    <a:p>
                      <a:pPr algn="l">
                        <a:defRPr sz="550" b="1">
                          <a:solidFill>
                            <a:srgbClr val="1E6E3E"/>
                          </a:solidFill>
                          <a:latin typeface="Meiryo UI"/>
                        </a:defRPr>
                      </a:pPr>
                      <a:r>
                        <a:t>先行実施</a:t>
                      </a:r>
                    </a:p>
                  </a:txBody>
                  <a:tcPr anchor="ctr" marL="36576" marR="36576" marT="9144" marB="9144">
                    <a:solidFill>
                      <a:srgbClr val="E8EEF5"/>
                    </a:solidFill>
                  </a:tcPr>
                </a:tc>
              </a:tr>
              <a:tr h="272034">
                <a:tc>
                  <a:txBody>
                    <a:bodyPr wrap="square"/>
                    <a:lstStyle/>
                    <a:p>
                      <a:pPr algn="ctr">
                        <a:defRPr sz="550" b="1">
                          <a:solidFill>
                            <a:srgbClr val="1E242B"/>
                          </a:solidFill>
                          <a:latin typeface="Meiryo UI"/>
                        </a:defRPr>
                      </a:pPr>
                      <a:r>
                        <a:t>3</a:t>
                      </a:r>
                    </a:p>
                  </a:txBody>
                  <a:tcPr anchor="ctr" marL="36576" marR="36576" marT="9144" marB="9144">
                    <a:solidFill>
                      <a:srgbClr val="E8EEF5"/>
                    </a:solidFill>
                  </a:tcPr>
                </a:tc>
                <a:tc>
                  <a:txBody>
                    <a:bodyPr wrap="square"/>
                    <a:lstStyle/>
                    <a:p>
                      <a:pPr algn="ctr">
                        <a:defRPr sz="550">
                          <a:solidFill>
                            <a:srgbClr val="1E242B"/>
                          </a:solidFill>
                          <a:latin typeface="Meiryo UI"/>
                        </a:defRPr>
                      </a:pPr>
                      <a:r>
                        <a:t>日本</a:t>
                      </a:r>
                    </a:p>
                  </a:txBody>
                  <a:tcPr anchor="ctr" marL="36576" marR="36576" marT="9144" marB="9144">
                    <a:solidFill>
                      <a:srgbClr val="E8EEF5"/>
                    </a:solidFill>
                  </a:tcPr>
                </a:tc>
                <a:tc>
                  <a:txBody>
                    <a:bodyPr wrap="square"/>
                    <a:lstStyle/>
                    <a:p>
                      <a:pPr algn="l">
                        <a:defRPr sz="550">
                          <a:solidFill>
                            <a:srgbClr val="1E242B"/>
                          </a:solidFill>
                          <a:latin typeface="Meiryo UI"/>
                        </a:defRPr>
                      </a:pPr>
                      <a:r>
                        <a:t>U201手動タッチ確認廃止・Host PCログ照合への置換（-15.12s）</a:t>
                      </a:r>
                    </a:p>
                  </a:txBody>
                  <a:tcPr anchor="ctr" marL="36576" marR="36576" marT="9144" marB="9144">
                    <a:solidFill>
                      <a:srgbClr val="E8EEF5"/>
                    </a:solidFill>
                  </a:tcPr>
                </a:tc>
                <a:tc>
                  <a:txBody>
                    <a:bodyPr wrap="square"/>
                    <a:lstStyle/>
                    <a:p>
                      <a:pPr algn="l">
                        <a:defRPr sz="550" b="1">
                          <a:solidFill>
                            <a:srgbClr val="1E6E3E"/>
                          </a:solidFill>
                          <a:latin typeface="Meiryo UI"/>
                        </a:defRPr>
                      </a:pPr>
                      <a:r>
                        <a:t>先行実施</a:t>
                      </a:r>
                    </a:p>
                  </a:txBody>
                  <a:tcPr anchor="ctr" marL="36576" marR="36576" marT="9144" marB="9144">
                    <a:solidFill>
                      <a:srgbClr val="E8EEF5"/>
                    </a:solidFill>
                  </a:tcPr>
                </a:tc>
              </a:tr>
              <a:tr h="272034">
                <a:tc>
                  <a:txBody>
                    <a:bodyPr wrap="square"/>
                    <a:lstStyle/>
                    <a:p>
                      <a:pPr algn="ctr">
                        <a:defRPr sz="550" b="1">
                          <a:solidFill>
                            <a:srgbClr val="1E242B"/>
                          </a:solidFill>
                          <a:latin typeface="Meiryo UI"/>
                        </a:defRPr>
                      </a:pPr>
                      <a:r>
                        <a:t>4</a:t>
                      </a:r>
                    </a:p>
                  </a:txBody>
                  <a:tcPr anchor="ctr" marL="36576" marR="36576" marT="9144" marB="9144">
                    <a:solidFill>
                      <a:srgbClr val="E8EEF5"/>
                    </a:solidFill>
                  </a:tcPr>
                </a:tc>
                <a:tc>
                  <a:txBody>
                    <a:bodyPr wrap="square"/>
                    <a:lstStyle/>
                    <a:p>
                      <a:pPr algn="ctr">
                        <a:defRPr sz="550">
                          <a:solidFill>
                            <a:srgbClr val="1E242B"/>
                          </a:solidFill>
                          <a:latin typeface="Meiryo UI"/>
                        </a:defRPr>
                      </a:pPr>
                      <a:r>
                        <a:t>日本</a:t>
                      </a:r>
                    </a:p>
                  </a:txBody>
                  <a:tcPr anchor="ctr" marL="36576" marR="36576" marT="9144" marB="9144">
                    <a:solidFill>
                      <a:srgbClr val="E8EEF5"/>
                    </a:solidFill>
                  </a:tcPr>
                </a:tc>
                <a:tc>
                  <a:txBody>
                    <a:bodyPr wrap="square"/>
                    <a:lstStyle/>
                    <a:p>
                      <a:pPr algn="l">
                        <a:defRPr sz="550">
                          <a:solidFill>
                            <a:srgbClr val="1E242B"/>
                          </a:solidFill>
                          <a:latin typeface="Meiryo UI"/>
                        </a:defRPr>
                      </a:pPr>
                      <a:r>
                        <a:t>カセット1・2用紙サイズ確認の目視からソフト自動判定へ移行（-66.68s）</a:t>
                      </a:r>
                    </a:p>
                  </a:txBody>
                  <a:tcPr anchor="ctr" marL="36576" marR="36576" marT="9144" marB="9144">
                    <a:solidFill>
                      <a:srgbClr val="E8EEF5"/>
                    </a:solidFill>
                  </a:tcPr>
                </a:tc>
                <a:tc>
                  <a:txBody>
                    <a:bodyPr wrap="square"/>
                    <a:lstStyle/>
                    <a:p>
                      <a:pPr algn="l">
                        <a:defRPr sz="550" b="1">
                          <a:solidFill>
                            <a:srgbClr val="1E6E3E"/>
                          </a:solidFill>
                          <a:latin typeface="Meiryo UI"/>
                        </a:defRPr>
                      </a:pPr>
                      <a:r>
                        <a:t>先行実施</a:t>
                      </a:r>
                    </a:p>
                  </a:txBody>
                  <a:tcPr anchor="ctr" marL="36576" marR="36576" marT="9144" marB="9144">
                    <a:solidFill>
                      <a:srgbClr val="E8EEF5"/>
                    </a:solidFill>
                  </a:tcPr>
                </a:tc>
              </a:tr>
              <a:tr h="272034">
                <a:tc>
                  <a:txBody>
                    <a:bodyPr wrap="square"/>
                    <a:lstStyle/>
                    <a:p>
                      <a:pPr algn="ctr">
                        <a:defRPr sz="550" b="1">
                          <a:solidFill>
                            <a:srgbClr val="1E242B"/>
                          </a:solidFill>
                          <a:latin typeface="Meiryo UI"/>
                        </a:defRPr>
                      </a:pPr>
                      <a:r>
                        <a:t>5</a:t>
                      </a:r>
                    </a:p>
                  </a:txBody>
                  <a:tcPr anchor="ctr" marL="36576" marR="36576" marT="9144" marB="9144">
                    <a:solidFill>
                      <a:srgbClr val="FFFFFF"/>
                    </a:solidFill>
                  </a:tcPr>
                </a:tc>
                <a:tc>
                  <a:txBody>
                    <a:bodyPr wrap="square"/>
                    <a:lstStyle/>
                    <a:p>
                      <a:pPr algn="ctr">
                        <a:defRPr sz="550">
                          <a:solidFill>
                            <a:srgbClr val="1E242B"/>
                          </a:solidFill>
                          <a:latin typeface="Meiryo UI"/>
                        </a:defRPr>
                      </a:pPr>
                      <a:r>
                        <a:t>日本</a:t>
                      </a:r>
                    </a:p>
                  </a:txBody>
                  <a:tcPr anchor="ctr" marL="36576" marR="36576" marT="9144" marB="9144">
                    <a:solidFill>
                      <a:srgbClr val="FFFFFF"/>
                    </a:solidFill>
                  </a:tcPr>
                </a:tc>
                <a:tc>
                  <a:txBody>
                    <a:bodyPr wrap="square"/>
                    <a:lstStyle/>
                    <a:p>
                      <a:pPr algn="l">
                        <a:defRPr sz="550">
                          <a:solidFill>
                            <a:srgbClr val="1E242B"/>
                          </a:solidFill>
                          <a:latin typeface="Meiryo UI"/>
                        </a:defRPr>
                      </a:pPr>
                      <a:r>
                        <a:t>人感センサ検査方法見直し／擬似JAM発生工程の廃止</a:t>
                      </a:r>
                    </a:p>
                  </a:txBody>
                  <a:tcPr anchor="ctr" marL="36576" marR="36576" marT="9144" marB="9144">
                    <a:solidFill>
                      <a:srgbClr val="FFFFFF"/>
                    </a:solidFill>
                  </a:tcPr>
                </a:tc>
                <a:tc>
                  <a:txBody>
                    <a:bodyPr wrap="square"/>
                    <a:lstStyle/>
                    <a:p>
                      <a:pPr algn="l">
                        <a:defRPr sz="550">
                          <a:solidFill>
                            <a:srgbClr val="1E242B"/>
                          </a:solidFill>
                          <a:latin typeface="Meiryo UI"/>
                        </a:defRPr>
                      </a:pPr>
                      <a:r>
                        <a:t>日本資料待ち</a:t>
                      </a:r>
                    </a:p>
                  </a:txBody>
                  <a:tcPr anchor="ctr" marL="36576" marR="36576" marT="9144" marB="9144">
                    <a:solidFill>
                      <a:srgbClr val="FFFFFF"/>
                    </a:solidFill>
                  </a:tcPr>
                </a:tc>
              </a:tr>
              <a:tr h="272034">
                <a:tc>
                  <a:txBody>
                    <a:bodyPr wrap="square"/>
                    <a:lstStyle/>
                    <a:p>
                      <a:pPr algn="ctr">
                        <a:defRPr sz="550" b="1">
                          <a:solidFill>
                            <a:srgbClr val="1E242B"/>
                          </a:solidFill>
                          <a:latin typeface="Meiryo UI"/>
                        </a:defRPr>
                      </a:pPr>
                      <a:r>
                        <a:t>6</a:t>
                      </a:r>
                    </a:p>
                  </a:txBody>
                  <a:tcPr anchor="ctr" marL="36576" marR="36576" marT="9144" marB="9144">
                    <a:solidFill>
                      <a:srgbClr val="E8EEF5"/>
                    </a:solidFill>
                  </a:tcPr>
                </a:tc>
                <a:tc>
                  <a:txBody>
                    <a:bodyPr wrap="square"/>
                    <a:lstStyle/>
                    <a:p>
                      <a:pPr algn="ctr">
                        <a:defRPr sz="550">
                          <a:solidFill>
                            <a:srgbClr val="1E242B"/>
                          </a:solidFill>
                          <a:latin typeface="Meiryo UI"/>
                        </a:defRPr>
                      </a:pPr>
                      <a:r>
                        <a:t>日本</a:t>
                      </a:r>
                    </a:p>
                  </a:txBody>
                  <a:tcPr anchor="ctr" marL="36576" marR="36576" marT="9144" marB="9144">
                    <a:solidFill>
                      <a:srgbClr val="E8EEF5"/>
                    </a:solidFill>
                  </a:tcPr>
                </a:tc>
                <a:tc>
                  <a:txBody>
                    <a:bodyPr wrap="square"/>
                    <a:lstStyle/>
                    <a:p>
                      <a:pPr algn="l">
                        <a:defRPr sz="550">
                          <a:solidFill>
                            <a:srgbClr val="1E242B"/>
                          </a:solidFill>
                          <a:latin typeface="Meiryo UI"/>
                        </a:defRPr>
                      </a:pPr>
                      <a:r>
                        <a:t>USB認識単独検査の廃止（FW投入工程での代替保証）</a:t>
                      </a:r>
                    </a:p>
                  </a:txBody>
                  <a:tcPr anchor="ctr" marL="36576" marR="36576" marT="9144" marB="9144">
                    <a:solidFill>
                      <a:srgbClr val="E8EEF5"/>
                    </a:solidFill>
                  </a:tcPr>
                </a:tc>
                <a:tc>
                  <a:txBody>
                    <a:bodyPr wrap="square"/>
                    <a:lstStyle/>
                    <a:p>
                      <a:pPr algn="l">
                        <a:defRPr sz="550" b="1">
                          <a:solidFill>
                            <a:srgbClr val="1E6E3E"/>
                          </a:solidFill>
                          <a:latin typeface="Meiryo UI"/>
                        </a:defRPr>
                      </a:pPr>
                      <a:r>
                        <a:t>先行実施</a:t>
                      </a:r>
                    </a:p>
                  </a:txBody>
                  <a:tcPr anchor="ctr" marL="36576" marR="36576" marT="9144" marB="9144">
                    <a:solidFill>
                      <a:srgbClr val="E8EEF5"/>
                    </a:solidFill>
                  </a:tcPr>
                </a:tc>
              </a:tr>
              <a:tr h="272034">
                <a:tc>
                  <a:txBody>
                    <a:bodyPr wrap="square"/>
                    <a:lstStyle/>
                    <a:p>
                      <a:pPr algn="ctr">
                        <a:defRPr sz="550" b="1">
                          <a:solidFill>
                            <a:srgbClr val="1E242B"/>
                          </a:solidFill>
                          <a:latin typeface="Meiryo UI"/>
                        </a:defRPr>
                      </a:pPr>
                      <a:r>
                        <a:t>7</a:t>
                      </a:r>
                    </a:p>
                  </a:txBody>
                  <a:tcPr anchor="ctr" marL="36576" marR="36576" marT="9144" marB="9144">
                    <a:solidFill>
                      <a:srgbClr val="E8EEF5"/>
                    </a:solidFill>
                  </a:tcPr>
                </a:tc>
                <a:tc>
                  <a:txBody>
                    <a:bodyPr wrap="square"/>
                    <a:lstStyle/>
                    <a:p>
                      <a:pPr algn="ctr">
                        <a:defRPr sz="550">
                          <a:solidFill>
                            <a:srgbClr val="1E242B"/>
                          </a:solidFill>
                          <a:latin typeface="Meiryo UI"/>
                        </a:defRPr>
                      </a:pPr>
                      <a:r>
                        <a:t>日本</a:t>
                      </a:r>
                    </a:p>
                  </a:txBody>
                  <a:tcPr anchor="ctr" marL="36576" marR="36576" marT="9144" marB="9144">
                    <a:solidFill>
                      <a:srgbClr val="E8EEF5"/>
                    </a:solidFill>
                  </a:tcPr>
                </a:tc>
                <a:tc>
                  <a:txBody>
                    <a:bodyPr wrap="square"/>
                    <a:lstStyle/>
                    <a:p>
                      <a:pPr algn="l">
                        <a:defRPr sz="550">
                          <a:solidFill>
                            <a:srgbClr val="1E242B"/>
                          </a:solidFill>
                          <a:latin typeface="Meiryo UI"/>
                        </a:defRPr>
                      </a:pPr>
                      <a:r>
                        <a:t>ドアスイッチ自動検知およびカバー全閉状態での安全耐圧測定</a:t>
                      </a:r>
                    </a:p>
                  </a:txBody>
                  <a:tcPr anchor="ctr" marL="36576" marR="36576" marT="9144" marB="9144">
                    <a:solidFill>
                      <a:srgbClr val="E8EEF5"/>
                    </a:solidFill>
                  </a:tcPr>
                </a:tc>
                <a:tc>
                  <a:txBody>
                    <a:bodyPr wrap="square"/>
                    <a:lstStyle/>
                    <a:p>
                      <a:pPr algn="l">
                        <a:defRPr sz="550" b="1">
                          <a:solidFill>
                            <a:srgbClr val="1E6E3E"/>
                          </a:solidFill>
                          <a:latin typeface="Meiryo UI"/>
                        </a:defRPr>
                      </a:pPr>
                      <a:r>
                        <a:t>先行実施</a:t>
                      </a:r>
                    </a:p>
                  </a:txBody>
                  <a:tcPr anchor="ctr" marL="36576" marR="36576" marT="9144" marB="9144">
                    <a:solidFill>
                      <a:srgbClr val="E8EEF5"/>
                    </a:solidFill>
                  </a:tcPr>
                </a:tc>
              </a:tr>
              <a:tr h="272034">
                <a:tc>
                  <a:txBody>
                    <a:bodyPr wrap="square"/>
                    <a:lstStyle/>
                    <a:p>
                      <a:pPr algn="ctr">
                        <a:defRPr sz="550" b="1">
                          <a:solidFill>
                            <a:srgbClr val="1E242B"/>
                          </a:solidFill>
                          <a:latin typeface="Meiryo UI"/>
                        </a:defRPr>
                      </a:pPr>
                      <a:r>
                        <a:t>8</a:t>
                      </a:r>
                    </a:p>
                  </a:txBody>
                  <a:tcPr anchor="ctr" marL="36576" marR="36576" marT="9144" marB="9144">
                    <a:solidFill>
                      <a:srgbClr val="F7F9FC"/>
                    </a:solidFill>
                  </a:tcPr>
                </a:tc>
                <a:tc>
                  <a:txBody>
                    <a:bodyPr wrap="square"/>
                    <a:lstStyle/>
                    <a:p>
                      <a:pPr algn="ctr">
                        <a:defRPr sz="550">
                          <a:solidFill>
                            <a:srgbClr val="1E242B"/>
                          </a:solidFill>
                          <a:latin typeface="Meiryo UI"/>
                        </a:defRPr>
                      </a:pPr>
                      <a:r>
                        <a:t>中国</a:t>
                      </a:r>
                    </a:p>
                  </a:txBody>
                  <a:tcPr anchor="ctr" marL="36576" marR="36576" marT="9144" marB="9144">
                    <a:solidFill>
                      <a:srgbClr val="F7F9FC"/>
                    </a:solidFill>
                  </a:tcPr>
                </a:tc>
                <a:tc>
                  <a:txBody>
                    <a:bodyPr wrap="square"/>
                    <a:lstStyle/>
                    <a:p>
                      <a:pPr algn="l">
                        <a:defRPr sz="550">
                          <a:solidFill>
                            <a:srgbClr val="1E242B"/>
                          </a:solidFill>
                          <a:latin typeface="Meiryo UI"/>
                        </a:defRPr>
                      </a:pPr>
                      <a:r>
                        <a:t>転写ベルト隙間測定の廃止検討（35°プーリ＋新ベルト材質）</a:t>
                      </a:r>
                    </a:p>
                  </a:txBody>
                  <a:tcPr anchor="ctr" marL="36576" marR="36576" marT="9144" marB="9144">
                    <a:solidFill>
                      <a:srgbClr val="F7F9FC"/>
                    </a:solidFill>
                  </a:tcPr>
                </a:tc>
                <a:tc>
                  <a:txBody>
                    <a:bodyPr wrap="square"/>
                    <a:lstStyle/>
                    <a:p>
                      <a:pPr algn="l">
                        <a:defRPr sz="550">
                          <a:solidFill>
                            <a:srgbClr val="1E242B"/>
                          </a:solidFill>
                          <a:latin typeface="Meiryo UI"/>
                        </a:defRPr>
                      </a:pPr>
                      <a:r>
                        <a:t>品保承認待ち</a:t>
                      </a:r>
                    </a:p>
                  </a:txBody>
                  <a:tcPr anchor="ctr" marL="36576" marR="36576" marT="9144" marB="9144">
                    <a:solidFill>
                      <a:srgbClr val="F7F9FC"/>
                    </a:solidFill>
                  </a:tcPr>
                </a:tc>
              </a:tr>
              <a:tr h="272034">
                <a:tc>
                  <a:txBody>
                    <a:bodyPr wrap="square"/>
                    <a:lstStyle/>
                    <a:p>
                      <a:pPr algn="ctr">
                        <a:defRPr sz="550" b="1">
                          <a:solidFill>
                            <a:srgbClr val="1E242B"/>
                          </a:solidFill>
                          <a:latin typeface="Meiryo UI"/>
                        </a:defRPr>
                      </a:pPr>
                      <a:r>
                        <a:t>9</a:t>
                      </a:r>
                    </a:p>
                  </a:txBody>
                  <a:tcPr anchor="ctr" marL="36576" marR="36576" marT="9144" marB="9144">
                    <a:solidFill>
                      <a:srgbClr val="FFFFFF"/>
                    </a:solidFill>
                  </a:tcPr>
                </a:tc>
                <a:tc>
                  <a:txBody>
                    <a:bodyPr wrap="square"/>
                    <a:lstStyle/>
                    <a:p>
                      <a:pPr algn="ctr">
                        <a:defRPr sz="550">
                          <a:solidFill>
                            <a:srgbClr val="1E242B"/>
                          </a:solidFill>
                          <a:latin typeface="Meiryo UI"/>
                        </a:defRPr>
                      </a:pPr>
                      <a:r>
                        <a:t>中国</a:t>
                      </a:r>
                    </a:p>
                  </a:txBody>
                  <a:tcPr anchor="ctr" marL="36576" marR="36576" marT="9144" marB="9144">
                    <a:solidFill>
                      <a:srgbClr val="FFFFFF"/>
                    </a:solidFill>
                  </a:tcPr>
                </a:tc>
                <a:tc>
                  <a:txBody>
                    <a:bodyPr wrap="square"/>
                    <a:lstStyle/>
                    <a:p>
                      <a:pPr algn="l">
                        <a:defRPr sz="550">
                          <a:solidFill>
                            <a:srgbClr val="1E242B"/>
                          </a:solidFill>
                          <a:latin typeface="Meiryo UI"/>
                        </a:defRPr>
                      </a:pPr>
                      <a:r>
                        <a:t>定着性確認の削減・廃止／MPF手差しトレイ検査変更</a:t>
                      </a:r>
                    </a:p>
                  </a:txBody>
                  <a:tcPr anchor="ctr" marL="36576" marR="36576" marT="9144" marB="9144">
                    <a:solidFill>
                      <a:srgbClr val="FFFFFF"/>
                    </a:solidFill>
                  </a:tcPr>
                </a:tc>
                <a:tc>
                  <a:txBody>
                    <a:bodyPr wrap="square"/>
                    <a:lstStyle/>
                    <a:p>
                      <a:pPr algn="l">
                        <a:defRPr sz="550">
                          <a:solidFill>
                            <a:srgbClr val="1E242B"/>
                          </a:solidFill>
                          <a:latin typeface="Meiryo UI"/>
                        </a:defRPr>
                      </a:pPr>
                      <a:r>
                        <a:t>品保承認待ち</a:t>
                      </a:r>
                    </a:p>
                  </a:txBody>
                  <a:tcPr anchor="ctr" marL="36576" marR="36576" marT="9144" marB="9144">
                    <a:solidFill>
                      <a:srgbClr val="FFFFFF"/>
                    </a:solidFill>
                  </a:tcPr>
                </a:tc>
              </a:tr>
              <a:tr h="272034">
                <a:tc>
                  <a:txBody>
                    <a:bodyPr wrap="square"/>
                    <a:lstStyle/>
                    <a:p>
                      <a:pPr algn="ctr">
                        <a:defRPr sz="550" b="1">
                          <a:solidFill>
                            <a:srgbClr val="1E242B"/>
                          </a:solidFill>
                          <a:latin typeface="Meiryo UI"/>
                        </a:defRPr>
                      </a:pPr>
                      <a:r>
                        <a:t>10</a:t>
                      </a:r>
                    </a:p>
                  </a:txBody>
                  <a:tcPr anchor="ctr" marL="36576" marR="36576" marT="9144" marB="9144">
                    <a:solidFill>
                      <a:srgbClr val="F7F9FC"/>
                    </a:solidFill>
                  </a:tcPr>
                </a:tc>
                <a:tc>
                  <a:txBody>
                    <a:bodyPr wrap="square"/>
                    <a:lstStyle/>
                    <a:p>
                      <a:pPr algn="ctr">
                        <a:defRPr sz="550">
                          <a:solidFill>
                            <a:srgbClr val="1E242B"/>
                          </a:solidFill>
                          <a:latin typeface="Meiryo UI"/>
                        </a:defRPr>
                      </a:pPr>
                      <a:r>
                        <a:t>中国</a:t>
                      </a:r>
                    </a:p>
                  </a:txBody>
                  <a:tcPr anchor="ctr" marL="36576" marR="36576" marT="9144" marB="9144">
                    <a:solidFill>
                      <a:srgbClr val="F7F9FC"/>
                    </a:solidFill>
                  </a:tcPr>
                </a:tc>
                <a:tc>
                  <a:txBody>
                    <a:bodyPr wrap="square"/>
                    <a:lstStyle/>
                    <a:p>
                      <a:pPr algn="l">
                        <a:defRPr sz="550">
                          <a:solidFill>
                            <a:srgbClr val="1E242B"/>
                          </a:solidFill>
                          <a:latin typeface="Meiryo UI"/>
                        </a:defRPr>
                      </a:pPr>
                      <a:r>
                        <a:t>GY紙PPT（BCP）偽造防止黄色ドット検査工程の見直し</a:t>
                      </a:r>
                    </a:p>
                  </a:txBody>
                  <a:tcPr anchor="ctr" marL="36576" marR="36576" marT="9144" marB="9144">
                    <a:solidFill>
                      <a:srgbClr val="F7F9FC"/>
                    </a:solidFill>
                  </a:tcPr>
                </a:tc>
                <a:tc>
                  <a:txBody>
                    <a:bodyPr wrap="square"/>
                    <a:lstStyle/>
                    <a:p>
                      <a:pPr algn="l">
                        <a:defRPr sz="550">
                          <a:solidFill>
                            <a:srgbClr val="1E242B"/>
                          </a:solidFill>
                          <a:latin typeface="Meiryo UI"/>
                        </a:defRPr>
                      </a:pPr>
                      <a:r>
                        <a:t>スキャナ維持</a:t>
                      </a:r>
                    </a:p>
                  </a:txBody>
                  <a:tcPr anchor="ctr" marL="36576" marR="36576" marT="9144" marB="9144">
                    <a:solidFill>
                      <a:srgbClr val="F7F9FC"/>
                    </a:solidFill>
                  </a:tcPr>
                </a:tc>
              </a:tr>
              <a:tr h="272034">
                <a:tc>
                  <a:txBody>
                    <a:bodyPr wrap="square"/>
                    <a:lstStyle/>
                    <a:p>
                      <a:pPr algn="ctr">
                        <a:defRPr sz="550" b="1">
                          <a:solidFill>
                            <a:srgbClr val="1E242B"/>
                          </a:solidFill>
                          <a:latin typeface="Meiryo UI"/>
                        </a:defRPr>
                      </a:pPr>
                      <a:r>
                        <a:t>11</a:t>
                      </a:r>
                    </a:p>
                  </a:txBody>
                  <a:tcPr anchor="ctr" marL="36576" marR="36576" marT="9144" marB="9144">
                    <a:solidFill>
                      <a:srgbClr val="EAF7EE"/>
                    </a:solidFill>
                  </a:tcPr>
                </a:tc>
                <a:tc>
                  <a:txBody>
                    <a:bodyPr wrap="square"/>
                    <a:lstStyle/>
                    <a:p>
                      <a:pPr algn="ctr">
                        <a:defRPr sz="550">
                          <a:solidFill>
                            <a:srgbClr val="1E242B"/>
                          </a:solidFill>
                          <a:latin typeface="Meiryo UI"/>
                        </a:defRPr>
                      </a:pPr>
                      <a:r>
                        <a:t>中国</a:t>
                      </a:r>
                    </a:p>
                  </a:txBody>
                  <a:tcPr anchor="ctr" marL="36576" marR="36576" marT="9144" marB="9144">
                    <a:solidFill>
                      <a:srgbClr val="EAF7EE"/>
                    </a:solidFill>
                  </a:tcPr>
                </a:tc>
                <a:tc>
                  <a:txBody>
                    <a:bodyPr wrap="square"/>
                    <a:lstStyle/>
                    <a:p>
                      <a:pPr algn="l">
                        <a:defRPr sz="550">
                          <a:solidFill>
                            <a:srgbClr val="1E242B"/>
                          </a:solidFill>
                          <a:latin typeface="Meiryo UI"/>
                        </a:defRPr>
                      </a:pPr>
                      <a:r>
                        <a:t>DC-1とGrayチャートを1枚の複合テストチャートへ統合（-5k RMB）</a:t>
                      </a:r>
                    </a:p>
                  </a:txBody>
                  <a:tcPr anchor="ctr" marL="36576" marR="36576" marT="9144" marB="9144">
                    <a:solidFill>
                      <a:srgbClr val="EAF7EE"/>
                    </a:solidFill>
                  </a:tcPr>
                </a:tc>
                <a:tc>
                  <a:txBody>
                    <a:bodyPr wrap="square"/>
                    <a:lstStyle/>
                    <a:p>
                      <a:pPr algn="l">
                        <a:defRPr sz="550" b="1">
                          <a:solidFill>
                            <a:srgbClr val="1E6E3E"/>
                          </a:solidFill>
                          <a:latin typeface="Meiryo UI"/>
                        </a:defRPr>
                      </a:pPr>
                      <a:r>
                        <a:t>先行実施</a:t>
                      </a:r>
                    </a:p>
                  </a:txBody>
                  <a:tcPr anchor="ctr" marL="36576" marR="36576" marT="9144" marB="9144">
                    <a:solidFill>
                      <a:srgbClr val="EAF7EE"/>
                    </a:solidFill>
                  </a:tcPr>
                </a:tc>
              </a:tr>
              <a:tr h="272034">
                <a:tc>
                  <a:txBody>
                    <a:bodyPr wrap="square"/>
                    <a:lstStyle/>
                    <a:p>
                      <a:pPr algn="ctr">
                        <a:defRPr sz="550" b="1">
                          <a:solidFill>
                            <a:srgbClr val="1E242B"/>
                          </a:solidFill>
                          <a:latin typeface="Meiryo UI"/>
                        </a:defRPr>
                      </a:pPr>
                      <a:r>
                        <a:t>12</a:t>
                      </a:r>
                    </a:p>
                  </a:txBody>
                  <a:tcPr anchor="ctr" marL="36576" marR="36576" marT="9144" marB="9144">
                    <a:solidFill>
                      <a:srgbClr val="F7F9FC"/>
                    </a:solidFill>
                  </a:tcPr>
                </a:tc>
                <a:tc>
                  <a:txBody>
                    <a:bodyPr wrap="square"/>
                    <a:lstStyle/>
                    <a:p>
                      <a:pPr algn="ctr">
                        <a:defRPr sz="550">
                          <a:solidFill>
                            <a:srgbClr val="1E242B"/>
                          </a:solidFill>
                          <a:latin typeface="Meiryo UI"/>
                        </a:defRPr>
                      </a:pPr>
                      <a:r>
                        <a:t>中国</a:t>
                      </a:r>
                    </a:p>
                  </a:txBody>
                  <a:tcPr anchor="ctr" marL="36576" marR="36576" marT="9144" marB="9144">
                    <a:solidFill>
                      <a:srgbClr val="F7F9FC"/>
                    </a:solidFill>
                  </a:tcPr>
                </a:tc>
                <a:tc>
                  <a:txBody>
                    <a:bodyPr wrap="square"/>
                    <a:lstStyle/>
                    <a:p>
                      <a:pPr algn="l">
                        <a:defRPr sz="550">
                          <a:solidFill>
                            <a:srgbClr val="1E242B"/>
                          </a:solidFill>
                          <a:latin typeface="Meiryo UI"/>
                        </a:defRPr>
                      </a:pPr>
                      <a:r>
                        <a:t>Gray余白自動測定治具およびU402補正値自動送信</a:t>
                      </a:r>
                    </a:p>
                  </a:txBody>
                  <a:tcPr anchor="ctr" marL="36576" marR="36576" marT="9144" marB="9144">
                    <a:solidFill>
                      <a:srgbClr val="F7F9FC"/>
                    </a:solidFill>
                  </a:tcPr>
                </a:tc>
                <a:tc>
                  <a:txBody>
                    <a:bodyPr wrap="square"/>
                    <a:lstStyle/>
                    <a:p>
                      <a:pPr algn="l">
                        <a:defRPr sz="550">
                          <a:solidFill>
                            <a:srgbClr val="1E242B"/>
                          </a:solidFill>
                          <a:latin typeface="Meiryo UI"/>
                        </a:defRPr>
                      </a:pPr>
                      <a:r>
                        <a:t>設計・試作中</a:t>
                      </a:r>
                    </a:p>
                  </a:txBody>
                  <a:tcPr anchor="ctr" marL="36576" marR="36576" marT="9144" marB="9144">
                    <a:solidFill>
                      <a:srgbClr val="F7F9FC"/>
                    </a:solidFill>
                  </a:tcPr>
                </a:tc>
              </a:tr>
              <a:tr h="272034">
                <a:tc>
                  <a:txBody>
                    <a:bodyPr wrap="square"/>
                    <a:lstStyle/>
                    <a:p>
                      <a:pPr algn="ctr">
                        <a:defRPr sz="550" b="1">
                          <a:solidFill>
                            <a:srgbClr val="1E242B"/>
                          </a:solidFill>
                          <a:latin typeface="Meiryo UI"/>
                        </a:defRPr>
                      </a:pPr>
                      <a:r>
                        <a:t>13</a:t>
                      </a:r>
                    </a:p>
                  </a:txBody>
                  <a:tcPr anchor="ctr" marL="36576" marR="36576" marT="9144" marB="9144">
                    <a:solidFill>
                      <a:srgbClr val="FFFFFF"/>
                    </a:solidFill>
                  </a:tcPr>
                </a:tc>
                <a:tc>
                  <a:txBody>
                    <a:bodyPr wrap="square"/>
                    <a:lstStyle/>
                    <a:p>
                      <a:pPr algn="ctr">
                        <a:defRPr sz="550">
                          <a:solidFill>
                            <a:srgbClr val="1E242B"/>
                          </a:solidFill>
                          <a:latin typeface="Meiryo UI"/>
                        </a:defRPr>
                      </a:pPr>
                      <a:r>
                        <a:t>中国</a:t>
                      </a:r>
                    </a:p>
                  </a:txBody>
                  <a:tcPr anchor="ctr" marL="36576" marR="36576" marT="9144" marB="9144">
                    <a:solidFill>
                      <a:srgbClr val="FFFFFF"/>
                    </a:solidFill>
                  </a:tcPr>
                </a:tc>
                <a:tc>
                  <a:txBody>
                    <a:bodyPr wrap="square"/>
                    <a:lstStyle/>
                    <a:p>
                      <a:pPr algn="l">
                        <a:defRPr sz="550">
                          <a:solidFill>
                            <a:srgbClr val="1E242B"/>
                          </a:solidFill>
                          <a:latin typeface="Meiryo UI"/>
                        </a:defRPr>
                      </a:pPr>
                      <a:r>
                        <a:t>画像印刷テストチャート（Print）を17種類から9枚へ削減（-110s待ち）</a:t>
                      </a:r>
                    </a:p>
                  </a:txBody>
                  <a:tcPr anchor="ctr" marL="36576" marR="36576" marT="9144" marB="9144">
                    <a:solidFill>
                      <a:srgbClr val="FFFFFF"/>
                    </a:solidFill>
                  </a:tcPr>
                </a:tc>
                <a:tc>
                  <a:txBody>
                    <a:bodyPr wrap="square"/>
                    <a:lstStyle/>
                    <a:p>
                      <a:pPr algn="l">
                        <a:defRPr sz="550">
                          <a:solidFill>
                            <a:srgbClr val="1E242B"/>
                          </a:solidFill>
                          <a:latin typeface="Meiryo UI"/>
                        </a:defRPr>
                      </a:pPr>
                      <a:r>
                        <a:t>品保承認待ち</a:t>
                      </a:r>
                    </a:p>
                  </a:txBody>
                  <a:tcPr anchor="ctr" marL="36576" marR="36576" marT="9144" marB="9144">
                    <a:solidFill>
                      <a:srgbClr val="FFFFFF"/>
                    </a:solidFill>
                  </a:tcPr>
                </a:tc>
              </a:tr>
              <a:tr h="272034">
                <a:tc>
                  <a:txBody>
                    <a:bodyPr wrap="square"/>
                    <a:lstStyle/>
                    <a:p>
                      <a:pPr algn="ctr">
                        <a:defRPr sz="550" b="1">
                          <a:solidFill>
                            <a:srgbClr val="1E242B"/>
                          </a:solidFill>
                          <a:latin typeface="Meiryo UI"/>
                        </a:defRPr>
                      </a:pPr>
                      <a:r>
                        <a:t>14</a:t>
                      </a:r>
                    </a:p>
                  </a:txBody>
                  <a:tcPr anchor="ctr" marL="36576" marR="36576" marT="9144" marB="9144">
                    <a:solidFill>
                      <a:srgbClr val="F7F9FC"/>
                    </a:solidFill>
                  </a:tcPr>
                </a:tc>
                <a:tc>
                  <a:txBody>
                    <a:bodyPr wrap="square"/>
                    <a:lstStyle/>
                    <a:p>
                      <a:pPr algn="ctr">
                        <a:defRPr sz="550">
                          <a:solidFill>
                            <a:srgbClr val="1E242B"/>
                          </a:solidFill>
                          <a:latin typeface="Meiryo UI"/>
                        </a:defRPr>
                      </a:pPr>
                      <a:r>
                        <a:t>中国</a:t>
                      </a:r>
                    </a:p>
                  </a:txBody>
                  <a:tcPr anchor="ctr" marL="36576" marR="36576" marT="9144" marB="9144">
                    <a:solidFill>
                      <a:srgbClr val="F7F9FC"/>
                    </a:solidFill>
                  </a:tcPr>
                </a:tc>
                <a:tc>
                  <a:txBody>
                    <a:bodyPr wrap="square"/>
                    <a:lstStyle/>
                    <a:p>
                      <a:pPr algn="l">
                        <a:defRPr sz="550">
                          <a:solidFill>
                            <a:srgbClr val="1E242B"/>
                          </a:solidFill>
                          <a:latin typeface="Meiryo UI"/>
                        </a:defRPr>
                      </a:pPr>
                      <a:r>
                        <a:t>Maintenance Mode Uxxx突入操作の自動化（Host PCコマンド）</a:t>
                      </a:r>
                    </a:p>
                  </a:txBody>
                  <a:tcPr anchor="ctr" marL="36576" marR="36576" marT="9144" marB="9144">
                    <a:solidFill>
                      <a:srgbClr val="F7F9FC"/>
                    </a:solidFill>
                  </a:tcPr>
                </a:tc>
                <a:tc>
                  <a:txBody>
                    <a:bodyPr wrap="square"/>
                    <a:lstStyle/>
                    <a:p>
                      <a:pPr algn="l">
                        <a:defRPr sz="550">
                          <a:solidFill>
                            <a:srgbClr val="1E242B"/>
                          </a:solidFill>
                          <a:latin typeface="Meiryo UI"/>
                        </a:defRPr>
                      </a:pPr>
                      <a:r>
                        <a:t>設計・試作中</a:t>
                      </a:r>
                    </a:p>
                  </a:txBody>
                  <a:tcPr anchor="ctr" marL="36576" marR="36576" marT="9144" marB="9144">
                    <a:solidFill>
                      <a:srgbClr val="F7F9FC"/>
                    </a:solidFill>
                  </a:tcPr>
                </a:tc>
              </a:tr>
              <a:tr h="272034">
                <a:tc>
                  <a:txBody>
                    <a:bodyPr wrap="square"/>
                    <a:lstStyle/>
                    <a:p>
                      <a:pPr algn="ctr">
                        <a:defRPr sz="550" b="1">
                          <a:solidFill>
                            <a:srgbClr val="1E242B"/>
                          </a:solidFill>
                          <a:latin typeface="Meiryo UI"/>
                        </a:defRPr>
                      </a:pPr>
                      <a:r>
                        <a:t>15</a:t>
                      </a:r>
                    </a:p>
                  </a:txBody>
                  <a:tcPr anchor="ctr" marL="36576" marR="36576" marT="9144" marB="9144">
                    <a:solidFill>
                      <a:srgbClr val="FFFFFF"/>
                    </a:solidFill>
                  </a:tcPr>
                </a:tc>
                <a:tc>
                  <a:txBody>
                    <a:bodyPr wrap="square"/>
                    <a:lstStyle/>
                    <a:p>
                      <a:pPr algn="ctr">
                        <a:defRPr sz="550">
                          <a:solidFill>
                            <a:srgbClr val="1E242B"/>
                          </a:solidFill>
                          <a:latin typeface="Meiryo UI"/>
                        </a:defRPr>
                      </a:pPr>
                      <a:r>
                        <a:t>中国</a:t>
                      </a:r>
                    </a:p>
                  </a:txBody>
                  <a:tcPr anchor="ctr" marL="36576" marR="36576" marT="9144" marB="9144">
                    <a:solidFill>
                      <a:srgbClr val="FFFFFF"/>
                    </a:solidFill>
                  </a:tcPr>
                </a:tc>
                <a:tc>
                  <a:txBody>
                    <a:bodyPr wrap="square"/>
                    <a:lstStyle/>
                    <a:p>
                      <a:pPr algn="l">
                        <a:defRPr sz="550">
                          <a:solidFill>
                            <a:srgbClr val="1E242B"/>
                          </a:solidFill>
                          <a:latin typeface="Meiryo UI"/>
                        </a:defRPr>
                      </a:pPr>
                      <a:r>
                        <a:t>用紙選択 -&gt; 印刷 -&gt; 普通紙復帰の操作マクロ化（1クリック化）</a:t>
                      </a:r>
                    </a:p>
                  </a:txBody>
                  <a:tcPr anchor="ctr" marL="36576" marR="36576" marT="9144" marB="9144">
                    <a:solidFill>
                      <a:srgbClr val="FFFFFF"/>
                    </a:solidFill>
                  </a:tcPr>
                </a:tc>
                <a:tc>
                  <a:txBody>
                    <a:bodyPr wrap="square"/>
                    <a:lstStyle/>
                    <a:p>
                      <a:pPr algn="l">
                        <a:defRPr sz="550">
                          <a:solidFill>
                            <a:srgbClr val="1E242B"/>
                          </a:solidFill>
                          <a:latin typeface="Meiryo UI"/>
                        </a:defRPr>
                      </a:pPr>
                      <a:r>
                        <a:t>設計・試作中</a:t>
                      </a:r>
                    </a:p>
                  </a:txBody>
                  <a:tcPr anchor="ctr" marL="36576" marR="36576" marT="9144" marB="9144">
                    <a:solidFill>
                      <a:srgbClr val="FFFFFF"/>
                    </a:solidFill>
                  </a:tcPr>
                </a:tc>
              </a:tr>
              <a:tr h="272034">
                <a:tc>
                  <a:txBody>
                    <a:bodyPr wrap="square"/>
                    <a:lstStyle/>
                    <a:p>
                      <a:pPr algn="ctr">
                        <a:defRPr sz="550" b="1">
                          <a:solidFill>
                            <a:srgbClr val="1E242B"/>
                          </a:solidFill>
                          <a:latin typeface="Meiryo UI"/>
                        </a:defRPr>
                      </a:pPr>
                      <a:r>
                        <a:t>16</a:t>
                      </a:r>
                    </a:p>
                  </a:txBody>
                  <a:tcPr anchor="ctr" marL="36576" marR="36576" marT="9144" marB="9144">
                    <a:solidFill>
                      <a:srgbClr val="F7F9FC"/>
                    </a:solidFill>
                  </a:tcPr>
                </a:tc>
                <a:tc>
                  <a:txBody>
                    <a:bodyPr wrap="square"/>
                    <a:lstStyle/>
                    <a:p>
                      <a:pPr algn="ctr">
                        <a:defRPr sz="550">
                          <a:solidFill>
                            <a:srgbClr val="1E242B"/>
                          </a:solidFill>
                          <a:latin typeface="Meiryo UI"/>
                        </a:defRPr>
                      </a:pPr>
                      <a:r>
                        <a:t>中国</a:t>
                      </a:r>
                    </a:p>
                  </a:txBody>
                  <a:tcPr anchor="ctr" marL="36576" marR="36576" marT="9144" marB="9144">
                    <a:solidFill>
                      <a:srgbClr val="F7F9FC"/>
                    </a:solidFill>
                  </a:tcPr>
                </a:tc>
                <a:tc>
                  <a:txBody>
                    <a:bodyPr wrap="square"/>
                    <a:lstStyle/>
                    <a:p>
                      <a:pPr algn="l">
                        <a:defRPr sz="550">
                          <a:solidFill>
                            <a:srgbClr val="1E242B"/>
                          </a:solidFill>
                          <a:latin typeface="Meiryo UI"/>
                        </a:defRPr>
                      </a:pPr>
                      <a:r>
                        <a:t>U037ファン回転数測定の統合／治具コネクタ一体化</a:t>
                      </a:r>
                    </a:p>
                  </a:txBody>
                  <a:tcPr anchor="ctr" marL="36576" marR="36576" marT="9144" marB="9144">
                    <a:solidFill>
                      <a:srgbClr val="F7F9FC"/>
                    </a:solidFill>
                  </a:tcPr>
                </a:tc>
                <a:tc>
                  <a:txBody>
                    <a:bodyPr wrap="square"/>
                    <a:lstStyle/>
                    <a:p>
                      <a:pPr algn="l">
                        <a:defRPr sz="550">
                          <a:solidFill>
                            <a:srgbClr val="1E242B"/>
                          </a:solidFill>
                          <a:latin typeface="Meiryo UI"/>
                        </a:defRPr>
                      </a:pPr>
                      <a:r>
                        <a:t>機能分離設計中</a:t>
                      </a:r>
                    </a:p>
                  </a:txBody>
                  <a:tcPr anchor="ctr" marL="36576" marR="36576" marT="9144" marB="9144">
                    <a:solidFill>
                      <a:srgbClr val="F7F9FC"/>
                    </a:solidFill>
                  </a:tcPr>
                </a:tc>
              </a:tr>
              <a:tr h="272034">
                <a:tc>
                  <a:txBody>
                    <a:bodyPr wrap="square"/>
                    <a:lstStyle/>
                    <a:p>
                      <a:pPr algn="ctr">
                        <a:defRPr sz="550" b="1">
                          <a:solidFill>
                            <a:srgbClr val="1E242B"/>
                          </a:solidFill>
                          <a:latin typeface="Meiryo UI"/>
                        </a:defRPr>
                      </a:pPr>
                      <a:r>
                        <a:t>17</a:t>
                      </a:r>
                    </a:p>
                  </a:txBody>
                  <a:tcPr anchor="ctr" marL="36576" marR="36576" marT="9144" marB="9144">
                    <a:solidFill>
                      <a:srgbClr val="FFFFFF"/>
                    </a:solidFill>
                  </a:tcPr>
                </a:tc>
                <a:tc>
                  <a:txBody>
                    <a:bodyPr wrap="square"/>
                    <a:lstStyle/>
                    <a:p>
                      <a:pPr algn="ctr">
                        <a:defRPr sz="550">
                          <a:solidFill>
                            <a:srgbClr val="1E242B"/>
                          </a:solidFill>
                          <a:latin typeface="Meiryo UI"/>
                        </a:defRPr>
                      </a:pPr>
                      <a:r>
                        <a:t>中国</a:t>
                      </a:r>
                    </a:p>
                  </a:txBody>
                  <a:tcPr anchor="ctr" marL="36576" marR="36576" marT="9144" marB="9144">
                    <a:solidFill>
                      <a:srgbClr val="FFFFFF"/>
                    </a:solidFill>
                  </a:tcPr>
                </a:tc>
                <a:tc>
                  <a:txBody>
                    <a:bodyPr wrap="square"/>
                    <a:lstStyle/>
                    <a:p>
                      <a:pPr algn="l">
                        <a:defRPr sz="550">
                          <a:solidFill>
                            <a:srgbClr val="1E242B"/>
                          </a:solidFill>
                          <a:latin typeface="Meiryo UI"/>
                        </a:defRPr>
                      </a:pPr>
                      <a:r>
                        <a:t>SITC-2原稿スキャン時の操作順序最適化（ボタン先行押下）</a:t>
                      </a:r>
                    </a:p>
                  </a:txBody>
                  <a:tcPr anchor="ctr" marL="36576" marR="36576" marT="9144" marB="9144">
                    <a:solidFill>
                      <a:srgbClr val="FFFFFF"/>
                    </a:solidFill>
                  </a:tcPr>
                </a:tc>
                <a:tc>
                  <a:txBody>
                    <a:bodyPr wrap="square"/>
                    <a:lstStyle/>
                    <a:p>
                      <a:pPr algn="l">
                        <a:defRPr sz="550">
                          <a:solidFill>
                            <a:srgbClr val="1E242B"/>
                          </a:solidFill>
                          <a:latin typeface="Meiryo UI"/>
                        </a:defRPr>
                      </a:pPr>
                      <a:r>
                        <a:t>ライン試験中</a:t>
                      </a:r>
                    </a:p>
                  </a:txBody>
                  <a:tcPr anchor="ctr" marL="36576" marR="36576" marT="9144" marB="9144">
                    <a:solidFill>
                      <a:srgbClr val="FFFFFF"/>
                    </a:solidFill>
                  </a:tcPr>
                </a:tc>
              </a:tr>
              <a:tr h="272034">
                <a:tc>
                  <a:txBody>
                    <a:bodyPr wrap="square"/>
                    <a:lstStyle/>
                    <a:p>
                      <a:pPr algn="ctr">
                        <a:defRPr sz="550" b="1">
                          <a:solidFill>
                            <a:srgbClr val="1E242B"/>
                          </a:solidFill>
                          <a:latin typeface="Meiryo UI"/>
                        </a:defRPr>
                      </a:pPr>
                      <a:r>
                        <a:t>18</a:t>
                      </a:r>
                    </a:p>
                  </a:txBody>
                  <a:tcPr anchor="ctr" marL="36576" marR="36576" marT="9144" marB="9144">
                    <a:solidFill>
                      <a:srgbClr val="EAF7EE"/>
                    </a:solidFill>
                  </a:tcPr>
                </a:tc>
                <a:tc>
                  <a:txBody>
                    <a:bodyPr wrap="square"/>
                    <a:lstStyle/>
                    <a:p>
                      <a:pPr algn="ctr">
                        <a:defRPr sz="550">
                          <a:solidFill>
                            <a:srgbClr val="1E242B"/>
                          </a:solidFill>
                          <a:latin typeface="Meiryo UI"/>
                        </a:defRPr>
                      </a:pPr>
                      <a:r>
                        <a:t>ベトナム</a:t>
                      </a:r>
                    </a:p>
                  </a:txBody>
                  <a:tcPr anchor="ctr" marL="36576" marR="36576" marT="9144" marB="9144">
                    <a:solidFill>
                      <a:srgbClr val="EAF7EE"/>
                    </a:solidFill>
                  </a:tcPr>
                </a:tc>
                <a:tc>
                  <a:txBody>
                    <a:bodyPr wrap="square"/>
                    <a:lstStyle/>
                    <a:p>
                      <a:pPr algn="l">
                        <a:defRPr sz="550">
                          <a:solidFill>
                            <a:srgbClr val="1E242B"/>
                          </a:solidFill>
                          <a:latin typeface="Meiryo UI"/>
                        </a:defRPr>
                      </a:pPr>
                      <a:r>
                        <a:t>FW自動投入（7900/7910ソフト、当面2本USB並行挿抜維持）</a:t>
                      </a:r>
                    </a:p>
                  </a:txBody>
                  <a:tcPr anchor="ctr" marL="36576" marR="36576" marT="9144" marB="9144">
                    <a:solidFill>
                      <a:srgbClr val="EAF7EE"/>
                    </a:solidFill>
                  </a:tcPr>
                </a:tc>
                <a:tc>
                  <a:txBody>
                    <a:bodyPr wrap="square"/>
                    <a:lstStyle/>
                    <a:p>
                      <a:pPr algn="l">
                        <a:defRPr sz="550">
                          <a:solidFill>
                            <a:srgbClr val="1E242B"/>
                          </a:solidFill>
                          <a:latin typeface="Meiryo UI"/>
                        </a:defRPr>
                      </a:pPr>
                      <a:r>
                        <a:t>USB並行維持</a:t>
                      </a:r>
                    </a:p>
                  </a:txBody>
                  <a:tcPr anchor="ctr" marL="36576" marR="36576" marT="9144" marB="9144">
                    <a:solidFill>
                      <a:srgbClr val="EAF7EE"/>
                    </a:solidFill>
                  </a:tcPr>
                </a:tc>
              </a:tr>
              <a:tr h="272034">
                <a:tc>
                  <a:txBody>
                    <a:bodyPr wrap="square"/>
                    <a:lstStyle/>
                    <a:p>
                      <a:pPr algn="ctr">
                        <a:defRPr sz="550" b="1">
                          <a:solidFill>
                            <a:srgbClr val="1E242B"/>
                          </a:solidFill>
                          <a:latin typeface="Meiryo UI"/>
                        </a:defRPr>
                      </a:pPr>
                      <a:r>
                        <a:t>19</a:t>
                      </a:r>
                    </a:p>
                  </a:txBody>
                  <a:tcPr anchor="ctr" marL="36576" marR="36576" marT="9144" marB="9144">
                    <a:solidFill>
                      <a:srgbClr val="EAF7EE"/>
                    </a:solidFill>
                  </a:tcPr>
                </a:tc>
                <a:tc>
                  <a:txBody>
                    <a:bodyPr wrap="square"/>
                    <a:lstStyle/>
                    <a:p>
                      <a:pPr algn="ctr">
                        <a:defRPr sz="550">
                          <a:solidFill>
                            <a:srgbClr val="1E242B"/>
                          </a:solidFill>
                          <a:latin typeface="Meiryo UI"/>
                        </a:defRPr>
                      </a:pPr>
                      <a:r>
                        <a:t>ベトナム</a:t>
                      </a:r>
                    </a:p>
                  </a:txBody>
                  <a:tcPr anchor="ctr" marL="36576" marR="36576" marT="9144" marB="9144">
                    <a:solidFill>
                      <a:srgbClr val="EAF7EE"/>
                    </a:solidFill>
                  </a:tcPr>
                </a:tc>
                <a:tc>
                  <a:txBody>
                    <a:bodyPr wrap="square"/>
                    <a:lstStyle/>
                    <a:p>
                      <a:pPr algn="l">
                        <a:defRPr sz="550">
                          <a:solidFill>
                            <a:srgbClr val="1E242B"/>
                          </a:solidFill>
                          <a:latin typeface="Meiryo UI"/>
                        </a:defRPr>
                      </a:pPr>
                      <a:r>
                        <a:t>初期設定後の英語自動切替および治具着脱削減（既存12治具活用）</a:t>
                      </a:r>
                    </a:p>
                  </a:txBody>
                  <a:tcPr anchor="ctr" marL="36576" marR="36576" marT="9144" marB="9144">
                    <a:solidFill>
                      <a:srgbClr val="EAF7EE"/>
                    </a:solidFill>
                  </a:tcPr>
                </a:tc>
                <a:tc>
                  <a:txBody>
                    <a:bodyPr wrap="square"/>
                    <a:lstStyle/>
                    <a:p>
                      <a:pPr algn="l">
                        <a:defRPr sz="550" b="1">
                          <a:solidFill>
                            <a:srgbClr val="1E6E3E"/>
                          </a:solidFill>
                          <a:latin typeface="Meiryo UI"/>
                        </a:defRPr>
                      </a:pPr>
                      <a:r>
                        <a:t>先行実施</a:t>
                      </a:r>
                    </a:p>
                  </a:txBody>
                  <a:tcPr anchor="ctr" marL="36576" marR="36576" marT="9144" marB="9144">
                    <a:solidFill>
                      <a:srgbClr val="EAF7EE"/>
                    </a:solidFill>
                  </a:tcPr>
                </a:tc>
              </a:tr>
            </a:tbl>
          </a:graphicData>
        </a:graphic>
      </p:graphicFrame>
      <p:graphicFrame>
        <p:nvGraphicFramePr>
          <p:cNvPr id="8" name="Table 7"/>
          <p:cNvGraphicFramePr>
            <a:graphicFrameLocks noGrp="1"/>
          </p:cNvGraphicFramePr>
          <p:nvPr/>
        </p:nvGraphicFramePr>
        <p:xfrm>
          <a:off x="6172200" y="1152144"/>
          <a:ext cx="5763463" cy="5440680"/>
        </p:xfrm>
        <a:graphic>
          <a:graphicData uri="http://schemas.openxmlformats.org/drawingml/2006/table">
            <a:tbl>
              <a:tblPr firstRow="1" bandRow="1">
                <a:tableStyleId>{5C22544A-7EE6-4342-B048-85BDC9FD1C3A}</a:tableStyleId>
              </a:tblPr>
              <a:tblGrid>
                <a:gridCol w="475488"/>
                <a:gridCol w="713232"/>
                <a:gridCol w="3340303"/>
                <a:gridCol w="1234440"/>
              </a:tblGrid>
              <a:tr h="272034">
                <a:tc>
                  <a:txBody>
                    <a:bodyPr wrap="square"/>
                    <a:lstStyle/>
                    <a:p>
                      <a:pPr algn="ctr">
                        <a:defRPr sz="640" b="1">
                          <a:solidFill>
                            <a:srgbClr val="FFFFFF"/>
                          </a:solidFill>
                          <a:latin typeface="Meiryo UI"/>
                        </a:defRPr>
                      </a:pPr>
                      <a:r>
                        <a:t>No.</a:t>
                      </a:r>
                    </a:p>
                  </a:txBody>
                  <a:tcPr anchor="ctr" marL="36576" marR="36576" marT="9144" marB="9144">
                    <a:solidFill>
                      <a:srgbClr val="1B365D"/>
                    </a:solidFill>
                  </a:tcPr>
                </a:tc>
                <a:tc>
                  <a:txBody>
                    <a:bodyPr wrap="square"/>
                    <a:lstStyle/>
                    <a:p>
                      <a:pPr algn="ctr">
                        <a:defRPr sz="640" b="1">
                          <a:solidFill>
                            <a:srgbClr val="FFFFFF"/>
                          </a:solidFill>
                          <a:latin typeface="Meiryo UI"/>
                        </a:defRPr>
                      </a:pPr>
                      <a:r>
                        <a:t>提案拠点</a:t>
                      </a:r>
                    </a:p>
                  </a:txBody>
                  <a:tcPr anchor="ctr" marL="36576" marR="36576" marT="9144" marB="9144">
                    <a:solidFill>
                      <a:srgbClr val="1B365D"/>
                    </a:solidFill>
                  </a:tcPr>
                </a:tc>
                <a:tc>
                  <a:txBody>
                    <a:bodyPr wrap="square"/>
                    <a:lstStyle/>
                    <a:p>
                      <a:pPr algn="ctr">
                        <a:defRPr sz="640" b="1">
                          <a:solidFill>
                            <a:srgbClr val="FFFFFF"/>
                          </a:solidFill>
                          <a:latin typeface="Meiryo UI"/>
                        </a:defRPr>
                      </a:pPr>
                      <a:r>
                        <a:t>改善提案内容（No.20 ～ No.38）</a:t>
                      </a:r>
                    </a:p>
                  </a:txBody>
                  <a:tcPr anchor="ctr" marL="36576" marR="36576" marT="9144" marB="9144">
                    <a:solidFill>
                      <a:srgbClr val="1B365D"/>
                    </a:solidFill>
                  </a:tcPr>
                </a:tc>
                <a:tc>
                  <a:txBody>
                    <a:bodyPr wrap="square"/>
                    <a:lstStyle/>
                    <a:p>
                      <a:pPr algn="ctr">
                        <a:defRPr sz="640" b="1">
                          <a:solidFill>
                            <a:srgbClr val="FFFFFF"/>
                          </a:solidFill>
                          <a:latin typeface="Meiryo UI"/>
                        </a:defRPr>
                      </a:pPr>
                      <a:r>
                        <a:t>判定・確定状況</a:t>
                      </a:r>
                    </a:p>
                  </a:txBody>
                  <a:tcPr anchor="ctr" marL="36576" marR="36576" marT="9144" marB="9144">
                    <a:solidFill>
                      <a:srgbClr val="1B365D"/>
                    </a:solidFill>
                  </a:tcPr>
                </a:tc>
              </a:tr>
              <a:tr h="272034">
                <a:tc>
                  <a:txBody>
                    <a:bodyPr wrap="square"/>
                    <a:lstStyle/>
                    <a:p>
                      <a:pPr algn="ctr">
                        <a:defRPr sz="550" b="1">
                          <a:solidFill>
                            <a:srgbClr val="1E242B"/>
                          </a:solidFill>
                          <a:latin typeface="Meiryo UI"/>
                        </a:defRPr>
                      </a:pPr>
                      <a:r>
                        <a:t>20</a:t>
                      </a:r>
                    </a:p>
                  </a:txBody>
                  <a:tcPr anchor="ctr" marL="36576" marR="36576" marT="9144" marB="9144">
                    <a:solidFill>
                      <a:srgbClr val="FFFFFF"/>
                    </a:solidFill>
                  </a:tcPr>
                </a:tc>
                <a:tc>
                  <a:txBody>
                    <a:bodyPr wrap="square"/>
                    <a:lstStyle/>
                    <a:p>
                      <a:pPr algn="ctr">
                        <a:defRPr sz="550">
                          <a:solidFill>
                            <a:srgbClr val="1E242B"/>
                          </a:solidFill>
                          <a:latin typeface="Meiryo UI"/>
                        </a:defRPr>
                      </a:pPr>
                      <a:r>
                        <a:t>ベトナム</a:t>
                      </a:r>
                    </a:p>
                  </a:txBody>
                  <a:tcPr anchor="ctr" marL="36576" marR="36576" marT="9144" marB="9144">
                    <a:solidFill>
                      <a:srgbClr val="FFFFFF"/>
                    </a:solidFill>
                  </a:tcPr>
                </a:tc>
                <a:tc>
                  <a:txBody>
                    <a:bodyPr wrap="square"/>
                    <a:lstStyle/>
                    <a:p>
                      <a:pPr algn="l">
                        <a:defRPr sz="550">
                          <a:solidFill>
                            <a:srgbClr val="1E242B"/>
                          </a:solidFill>
                          <a:latin typeface="Meiryo UI"/>
                        </a:defRPr>
                      </a:pPr>
                      <a:r>
                        <a:t>無負荷カセット開閉確認廃止およびLAN経由ログ自動収集</a:t>
                      </a:r>
                    </a:p>
                  </a:txBody>
                  <a:tcPr anchor="ctr" marL="36576" marR="36576" marT="9144" marB="9144">
                    <a:solidFill>
                      <a:srgbClr val="FFFFFF"/>
                    </a:solidFill>
                  </a:tcPr>
                </a:tc>
                <a:tc>
                  <a:txBody>
                    <a:bodyPr wrap="square"/>
                    <a:lstStyle/>
                    <a:p>
                      <a:pPr algn="l">
                        <a:defRPr sz="550">
                          <a:solidFill>
                            <a:srgbClr val="1E242B"/>
                          </a:solidFill>
                          <a:latin typeface="Meiryo UI"/>
                        </a:defRPr>
                      </a:pPr>
                      <a:r>
                        <a:t>品保承認待ち</a:t>
                      </a:r>
                    </a:p>
                  </a:txBody>
                  <a:tcPr anchor="ctr" marL="36576" marR="36576" marT="9144" marB="9144">
                    <a:solidFill>
                      <a:srgbClr val="FFFFFF"/>
                    </a:solidFill>
                  </a:tcPr>
                </a:tc>
              </a:tr>
              <a:tr h="272034">
                <a:tc>
                  <a:txBody>
                    <a:bodyPr wrap="square"/>
                    <a:lstStyle/>
                    <a:p>
                      <a:pPr algn="ctr">
                        <a:defRPr sz="550" b="1">
                          <a:solidFill>
                            <a:srgbClr val="1E242B"/>
                          </a:solidFill>
                          <a:latin typeface="Meiryo UI"/>
                        </a:defRPr>
                      </a:pPr>
                      <a:r>
                        <a:t>21</a:t>
                      </a:r>
                    </a:p>
                  </a:txBody>
                  <a:tcPr anchor="ctr" marL="36576" marR="36576" marT="9144" marB="9144">
                    <a:solidFill>
                      <a:srgbClr val="F7F9FC"/>
                    </a:solidFill>
                  </a:tcPr>
                </a:tc>
                <a:tc>
                  <a:txBody>
                    <a:bodyPr wrap="square"/>
                    <a:lstStyle/>
                    <a:p>
                      <a:pPr algn="ctr">
                        <a:defRPr sz="550">
                          <a:solidFill>
                            <a:srgbClr val="1E242B"/>
                          </a:solidFill>
                          <a:latin typeface="Meiryo UI"/>
                        </a:defRPr>
                      </a:pPr>
                      <a:r>
                        <a:t>ベトナム</a:t>
                      </a:r>
                    </a:p>
                  </a:txBody>
                  <a:tcPr anchor="ctr" marL="36576" marR="36576" marT="9144" marB="9144">
                    <a:solidFill>
                      <a:srgbClr val="F7F9FC"/>
                    </a:solidFill>
                  </a:tcPr>
                </a:tc>
                <a:tc>
                  <a:txBody>
                    <a:bodyPr wrap="square"/>
                    <a:lstStyle/>
                    <a:p>
                      <a:pPr algn="l">
                        <a:defRPr sz="550">
                          <a:solidFill>
                            <a:srgbClr val="1E242B"/>
                          </a:solidFill>
                          <a:latin typeface="Meiryo UI"/>
                        </a:defRPr>
                      </a:pPr>
                      <a:r>
                        <a:t>オプションコネクタ一括接続治具（マグネット／ワンタッチ、約40s）</a:t>
                      </a:r>
                    </a:p>
                  </a:txBody>
                  <a:tcPr anchor="ctr" marL="36576" marR="36576" marT="9144" marB="9144">
                    <a:solidFill>
                      <a:srgbClr val="F7F9FC"/>
                    </a:solidFill>
                  </a:tcPr>
                </a:tc>
                <a:tc>
                  <a:txBody>
                    <a:bodyPr wrap="square"/>
                    <a:lstStyle/>
                    <a:p>
                      <a:pPr algn="l">
                        <a:defRPr sz="550">
                          <a:solidFill>
                            <a:srgbClr val="1E242B"/>
                          </a:solidFill>
                          <a:latin typeface="Meiryo UI"/>
                        </a:defRPr>
                      </a:pPr>
                      <a:r>
                        <a:t>設計・試作中</a:t>
                      </a:r>
                    </a:p>
                  </a:txBody>
                  <a:tcPr anchor="ctr" marL="36576" marR="36576" marT="9144" marB="9144">
                    <a:solidFill>
                      <a:srgbClr val="F7F9FC"/>
                    </a:solidFill>
                  </a:tcPr>
                </a:tc>
              </a:tr>
              <a:tr h="272034">
                <a:tc>
                  <a:txBody>
                    <a:bodyPr wrap="square"/>
                    <a:lstStyle/>
                    <a:p>
                      <a:pPr algn="ctr">
                        <a:defRPr sz="550" b="1">
                          <a:solidFill>
                            <a:srgbClr val="1E242B"/>
                          </a:solidFill>
                          <a:latin typeface="Meiryo UI"/>
                        </a:defRPr>
                      </a:pPr>
                      <a:r>
                        <a:t>22</a:t>
                      </a:r>
                    </a:p>
                  </a:txBody>
                  <a:tcPr anchor="ctr" marL="36576" marR="36576" marT="9144" marB="9144">
                    <a:solidFill>
                      <a:srgbClr val="EAF7EE"/>
                    </a:solidFill>
                  </a:tcPr>
                </a:tc>
                <a:tc>
                  <a:txBody>
                    <a:bodyPr wrap="square"/>
                    <a:lstStyle/>
                    <a:p>
                      <a:pPr algn="ctr">
                        <a:defRPr sz="550">
                          <a:solidFill>
                            <a:srgbClr val="1E242B"/>
                          </a:solidFill>
                          <a:latin typeface="Meiryo UI"/>
                        </a:defRPr>
                      </a:pPr>
                      <a:r>
                        <a:t>ベトナム</a:t>
                      </a:r>
                    </a:p>
                  </a:txBody>
                  <a:tcPr anchor="ctr" marL="36576" marR="36576" marT="9144" marB="9144">
                    <a:solidFill>
                      <a:srgbClr val="EAF7EE"/>
                    </a:solidFill>
                  </a:tcPr>
                </a:tc>
                <a:tc>
                  <a:txBody>
                    <a:bodyPr wrap="square"/>
                    <a:lstStyle/>
                    <a:p>
                      <a:pPr algn="l">
                        <a:defRPr sz="550">
                          <a:solidFill>
                            <a:srgbClr val="1E242B"/>
                          </a:solidFill>
                          <a:latin typeface="Meiryo UI"/>
                        </a:defRPr>
                      </a:pPr>
                      <a:r>
                        <a:t>全閉カバー状態でのアース・耐圧自動検査治具（101.69M VND / 3,911$）</a:t>
                      </a:r>
                    </a:p>
                  </a:txBody>
                  <a:tcPr anchor="ctr" marL="36576" marR="36576" marT="9144" marB="9144">
                    <a:solidFill>
                      <a:srgbClr val="EAF7EE"/>
                    </a:solidFill>
                  </a:tcPr>
                </a:tc>
                <a:tc>
                  <a:txBody>
                    <a:bodyPr wrap="square"/>
                    <a:lstStyle/>
                    <a:p>
                      <a:pPr algn="l">
                        <a:defRPr sz="550">
                          <a:solidFill>
                            <a:srgbClr val="1E242B"/>
                          </a:solidFill>
                          <a:latin typeface="Meiryo UI"/>
                        </a:defRPr>
                      </a:pPr>
                      <a:r>
                        <a:t>先行導入申請</a:t>
                      </a:r>
                    </a:p>
                  </a:txBody>
                  <a:tcPr anchor="ctr" marL="36576" marR="36576" marT="9144" marB="9144">
                    <a:solidFill>
                      <a:srgbClr val="EAF7EE"/>
                    </a:solidFill>
                  </a:tcPr>
                </a:tc>
              </a:tr>
              <a:tr h="272034">
                <a:tc>
                  <a:txBody>
                    <a:bodyPr wrap="square"/>
                    <a:lstStyle/>
                    <a:p>
                      <a:pPr algn="ctr">
                        <a:defRPr sz="550" b="1">
                          <a:solidFill>
                            <a:srgbClr val="1E242B"/>
                          </a:solidFill>
                          <a:latin typeface="Meiryo UI"/>
                        </a:defRPr>
                      </a:pPr>
                      <a:r>
                        <a:t>23</a:t>
                      </a:r>
                    </a:p>
                  </a:txBody>
                  <a:tcPr anchor="ctr" marL="36576" marR="36576" marT="9144" marB="9144">
                    <a:solidFill>
                      <a:srgbClr val="F7F9FC"/>
                    </a:solidFill>
                  </a:tcPr>
                </a:tc>
                <a:tc>
                  <a:txBody>
                    <a:bodyPr wrap="square"/>
                    <a:lstStyle/>
                    <a:p>
                      <a:pPr algn="ctr">
                        <a:defRPr sz="550">
                          <a:solidFill>
                            <a:srgbClr val="1E242B"/>
                          </a:solidFill>
                          <a:latin typeface="Meiryo UI"/>
                        </a:defRPr>
                      </a:pPr>
                      <a:r>
                        <a:t>ベトナム</a:t>
                      </a:r>
                    </a:p>
                  </a:txBody>
                  <a:tcPr anchor="ctr" marL="36576" marR="36576" marT="9144" marB="9144">
                    <a:solidFill>
                      <a:srgbClr val="F7F9FC"/>
                    </a:solidFill>
                  </a:tcPr>
                </a:tc>
                <a:tc>
                  <a:txBody>
                    <a:bodyPr wrap="square"/>
                    <a:lstStyle/>
                    <a:p>
                      <a:pPr algn="l">
                        <a:defRPr sz="550">
                          <a:solidFill>
                            <a:srgbClr val="1E242B"/>
                          </a:solidFill>
                          <a:latin typeface="Meiryo UI"/>
                        </a:defRPr>
                      </a:pPr>
                      <a:r>
                        <a:t>原稿ロボット（25,000$）を中止しDP連続スキャン方式へ転換</a:t>
                      </a:r>
                    </a:p>
                  </a:txBody>
                  <a:tcPr anchor="ctr" marL="36576" marR="36576" marT="9144" marB="9144">
                    <a:solidFill>
                      <a:srgbClr val="F7F9FC"/>
                    </a:solidFill>
                  </a:tcPr>
                </a:tc>
                <a:tc>
                  <a:txBody>
                    <a:bodyPr wrap="square"/>
                    <a:lstStyle/>
                    <a:p>
                      <a:pPr algn="l">
                        <a:defRPr sz="550">
                          <a:solidFill>
                            <a:srgbClr val="1E242B"/>
                          </a:solidFill>
                          <a:latin typeface="Meiryo UI"/>
                        </a:defRPr>
                      </a:pPr>
                      <a:r>
                        <a:t>DP方式へ転換</a:t>
                      </a:r>
                    </a:p>
                  </a:txBody>
                  <a:tcPr anchor="ctr" marL="36576" marR="36576" marT="9144" marB="9144">
                    <a:solidFill>
                      <a:srgbClr val="F7F9FC"/>
                    </a:solidFill>
                  </a:tcPr>
                </a:tc>
              </a:tr>
              <a:tr h="272034">
                <a:tc>
                  <a:txBody>
                    <a:bodyPr wrap="square"/>
                    <a:lstStyle/>
                    <a:p>
                      <a:pPr algn="ctr">
                        <a:defRPr sz="550" b="1">
                          <a:solidFill>
                            <a:srgbClr val="1E242B"/>
                          </a:solidFill>
                          <a:latin typeface="Meiryo UI"/>
                        </a:defRPr>
                      </a:pPr>
                      <a:r>
                        <a:t>24</a:t>
                      </a:r>
                    </a:p>
                  </a:txBody>
                  <a:tcPr anchor="ctr" marL="36576" marR="36576" marT="9144" marB="9144">
                    <a:solidFill>
                      <a:srgbClr val="FFFFFF"/>
                    </a:solidFill>
                  </a:tcPr>
                </a:tc>
                <a:tc>
                  <a:txBody>
                    <a:bodyPr wrap="square"/>
                    <a:lstStyle/>
                    <a:p>
                      <a:pPr algn="ctr">
                        <a:defRPr sz="550">
                          <a:solidFill>
                            <a:srgbClr val="1E242B"/>
                          </a:solidFill>
                          <a:latin typeface="Meiryo UI"/>
                        </a:defRPr>
                      </a:pPr>
                      <a:r>
                        <a:t>ベトナム</a:t>
                      </a:r>
                    </a:p>
                  </a:txBody>
                  <a:tcPr anchor="ctr" marL="36576" marR="36576" marT="9144" marB="9144">
                    <a:solidFill>
                      <a:srgbClr val="FFFFFF"/>
                    </a:solidFill>
                  </a:tcPr>
                </a:tc>
                <a:tc>
                  <a:txBody>
                    <a:bodyPr wrap="square"/>
                    <a:lstStyle/>
                    <a:p>
                      <a:pPr algn="l">
                        <a:defRPr sz="550">
                          <a:solidFill>
                            <a:srgbClr val="1E242B"/>
                          </a:solidFill>
                          <a:latin typeface="Meiryo UI"/>
                        </a:defRPr>
                      </a:pPr>
                      <a:r>
                        <a:t>USB/U201ロボット（4,000$）を中止しHost PCログ照合へ代替</a:t>
                      </a:r>
                    </a:p>
                  </a:txBody>
                  <a:tcPr anchor="ctr" marL="36576" marR="36576" marT="9144" marB="9144">
                    <a:solidFill>
                      <a:srgbClr val="FFFFFF"/>
                    </a:solidFill>
                  </a:tcPr>
                </a:tc>
                <a:tc>
                  <a:txBody>
                    <a:bodyPr wrap="square"/>
                    <a:lstStyle/>
                    <a:p>
                      <a:pPr algn="l">
                        <a:defRPr sz="550">
                          <a:solidFill>
                            <a:srgbClr val="1E242B"/>
                          </a:solidFill>
                          <a:latin typeface="Meiryo UI"/>
                        </a:defRPr>
                      </a:pPr>
                      <a:r>
                        <a:t>ロボット中止</a:t>
                      </a:r>
                    </a:p>
                  </a:txBody>
                  <a:tcPr anchor="ctr" marL="36576" marR="36576" marT="9144" marB="9144">
                    <a:solidFill>
                      <a:srgbClr val="FFFFFF"/>
                    </a:solidFill>
                  </a:tcPr>
                </a:tc>
              </a:tr>
              <a:tr h="272034">
                <a:tc>
                  <a:txBody>
                    <a:bodyPr wrap="square"/>
                    <a:lstStyle/>
                    <a:p>
                      <a:pPr algn="ctr">
                        <a:defRPr sz="550" b="1">
                          <a:solidFill>
                            <a:srgbClr val="1E242B"/>
                          </a:solidFill>
                          <a:latin typeface="Meiryo UI"/>
                        </a:defRPr>
                      </a:pPr>
                      <a:r>
                        <a:t>25</a:t>
                      </a:r>
                    </a:p>
                  </a:txBody>
                  <a:tcPr anchor="ctr" marL="36576" marR="36576" marT="9144" marB="9144">
                    <a:solidFill>
                      <a:srgbClr val="EAF7EE"/>
                    </a:solidFill>
                  </a:tcPr>
                </a:tc>
                <a:tc>
                  <a:txBody>
                    <a:bodyPr wrap="square"/>
                    <a:lstStyle/>
                    <a:p>
                      <a:pPr algn="ctr">
                        <a:defRPr sz="550">
                          <a:solidFill>
                            <a:srgbClr val="1E242B"/>
                          </a:solidFill>
                          <a:latin typeface="Meiryo UI"/>
                        </a:defRPr>
                      </a:pPr>
                      <a:r>
                        <a:t>ベトナム</a:t>
                      </a:r>
                    </a:p>
                  </a:txBody>
                  <a:tcPr anchor="ctr" marL="36576" marR="36576" marT="9144" marB="9144">
                    <a:solidFill>
                      <a:srgbClr val="EAF7EE"/>
                    </a:solidFill>
                  </a:tcPr>
                </a:tc>
                <a:tc>
                  <a:txBody>
                    <a:bodyPr wrap="square"/>
                    <a:lstStyle/>
                    <a:p>
                      <a:pPr algn="l">
                        <a:defRPr sz="550">
                          <a:solidFill>
                            <a:srgbClr val="1E242B"/>
                          </a:solidFill>
                          <a:latin typeface="Meiryo UI"/>
                        </a:defRPr>
                      </a:pPr>
                      <a:r>
                        <a:t>検査実機へのDP増設による連続スキャン・PC自動合否判定</a:t>
                      </a:r>
                    </a:p>
                  </a:txBody>
                  <a:tcPr anchor="ctr" marL="36576" marR="36576" marT="9144" marB="9144">
                    <a:solidFill>
                      <a:srgbClr val="EAF7EE"/>
                    </a:solidFill>
                  </a:tcPr>
                </a:tc>
                <a:tc>
                  <a:txBody>
                    <a:bodyPr wrap="square"/>
                    <a:lstStyle/>
                    <a:p>
                      <a:pPr algn="l">
                        <a:defRPr sz="550">
                          <a:solidFill>
                            <a:srgbClr val="1E242B"/>
                          </a:solidFill>
                          <a:latin typeface="Meiryo UI"/>
                        </a:defRPr>
                      </a:pPr>
                      <a:r>
                        <a:t>実機評価中</a:t>
                      </a:r>
                    </a:p>
                  </a:txBody>
                  <a:tcPr anchor="ctr" marL="36576" marR="36576" marT="9144" marB="9144">
                    <a:solidFill>
                      <a:srgbClr val="EAF7EE"/>
                    </a:solidFill>
                  </a:tcPr>
                </a:tc>
              </a:tr>
              <a:tr h="272034">
                <a:tc>
                  <a:txBody>
                    <a:bodyPr wrap="square"/>
                    <a:lstStyle/>
                    <a:p>
                      <a:pPr algn="ctr">
                        <a:defRPr sz="550" b="1">
                          <a:solidFill>
                            <a:srgbClr val="1E242B"/>
                          </a:solidFill>
                          <a:latin typeface="Meiryo UI"/>
                        </a:defRPr>
                      </a:pPr>
                      <a:r>
                        <a:t>26</a:t>
                      </a:r>
                    </a:p>
                  </a:txBody>
                  <a:tcPr anchor="ctr" marL="36576" marR="36576" marT="9144" marB="9144">
                    <a:solidFill>
                      <a:srgbClr val="FFFFFF"/>
                    </a:solidFill>
                  </a:tcPr>
                </a:tc>
                <a:tc>
                  <a:txBody>
                    <a:bodyPr wrap="square"/>
                    <a:lstStyle/>
                    <a:p>
                      <a:pPr algn="ctr">
                        <a:defRPr sz="550">
                          <a:solidFill>
                            <a:srgbClr val="1E242B"/>
                          </a:solidFill>
                          <a:latin typeface="Meiryo UI"/>
                        </a:defRPr>
                      </a:pPr>
                      <a:r>
                        <a:t>ベトナム</a:t>
                      </a:r>
                    </a:p>
                  </a:txBody>
                  <a:tcPr anchor="ctr" marL="36576" marR="36576" marT="9144" marB="9144">
                    <a:solidFill>
                      <a:srgbClr val="FFFFFF"/>
                    </a:solidFill>
                  </a:tcPr>
                </a:tc>
                <a:tc>
                  <a:txBody>
                    <a:bodyPr wrap="square"/>
                    <a:lstStyle/>
                    <a:p>
                      <a:pPr algn="l">
                        <a:defRPr sz="550">
                          <a:solidFill>
                            <a:srgbClr val="1E242B"/>
                          </a:solidFill>
                          <a:latin typeface="Meiryo UI"/>
                        </a:defRPr>
                      </a:pPr>
                      <a:r>
                        <a:t>AI異音判定およびサーモカメラ異常発熱検知システム（約600万円）</a:t>
                      </a:r>
                    </a:p>
                  </a:txBody>
                  <a:tcPr anchor="ctr" marL="36576" marR="36576" marT="9144" marB="9144">
                    <a:solidFill>
                      <a:srgbClr val="FFFFFF"/>
                    </a:solidFill>
                  </a:tcPr>
                </a:tc>
                <a:tc>
                  <a:txBody>
                    <a:bodyPr wrap="square"/>
                    <a:lstStyle/>
                    <a:p>
                      <a:pPr algn="l">
                        <a:defRPr sz="550">
                          <a:solidFill>
                            <a:srgbClr val="1E242B"/>
                          </a:solidFill>
                          <a:latin typeface="Meiryo UI"/>
                        </a:defRPr>
                      </a:pPr>
                      <a:r>
                        <a:t>長期先行研究</a:t>
                      </a:r>
                    </a:p>
                  </a:txBody>
                  <a:tcPr anchor="ctr" marL="36576" marR="36576" marT="9144" marB="9144">
                    <a:solidFill>
                      <a:srgbClr val="FFFFFF"/>
                    </a:solidFill>
                  </a:tcPr>
                </a:tc>
              </a:tr>
              <a:tr h="272034">
                <a:tc>
                  <a:txBody>
                    <a:bodyPr wrap="square"/>
                    <a:lstStyle/>
                    <a:p>
                      <a:pPr algn="ctr">
                        <a:defRPr sz="550" b="1">
                          <a:solidFill>
                            <a:srgbClr val="1E242B"/>
                          </a:solidFill>
                          <a:latin typeface="Meiryo UI"/>
                        </a:defRPr>
                      </a:pPr>
                      <a:r>
                        <a:t>27</a:t>
                      </a:r>
                    </a:p>
                  </a:txBody>
                  <a:tcPr anchor="ctr" marL="36576" marR="36576" marT="9144" marB="9144">
                    <a:solidFill>
                      <a:srgbClr val="EAF7EE"/>
                    </a:solidFill>
                  </a:tcPr>
                </a:tc>
                <a:tc>
                  <a:txBody>
                    <a:bodyPr wrap="square"/>
                    <a:lstStyle/>
                    <a:p>
                      <a:pPr algn="ctr">
                        <a:defRPr sz="550">
                          <a:solidFill>
                            <a:srgbClr val="1E242B"/>
                          </a:solidFill>
                          <a:latin typeface="Meiryo UI"/>
                        </a:defRPr>
                      </a:pPr>
                      <a:r>
                        <a:t>ベトナム</a:t>
                      </a:r>
                    </a:p>
                  </a:txBody>
                  <a:tcPr anchor="ctr" marL="36576" marR="36576" marT="9144" marB="9144">
                    <a:solidFill>
                      <a:srgbClr val="EAF7EE"/>
                    </a:solidFill>
                  </a:tcPr>
                </a:tc>
                <a:tc>
                  <a:txBody>
                    <a:bodyPr wrap="square"/>
                    <a:lstStyle/>
                    <a:p>
                      <a:pPr algn="l">
                        <a:defRPr sz="550">
                          <a:solidFill>
                            <a:srgbClr val="1E242B"/>
                          </a:solidFill>
                          <a:latin typeface="Meiryo UI"/>
                        </a:defRPr>
                      </a:pPr>
                      <a:r>
                        <a:t>HIKROBOTカメラによる濃度測定（192s-&gt;15s）、余白測定、PPTスキャン</a:t>
                      </a:r>
                    </a:p>
                  </a:txBody>
                  <a:tcPr anchor="ctr" marL="36576" marR="36576" marT="9144" marB="9144">
                    <a:solidFill>
                      <a:srgbClr val="EAF7EE"/>
                    </a:solidFill>
                  </a:tcPr>
                </a:tc>
                <a:tc>
                  <a:txBody>
                    <a:bodyPr wrap="square"/>
                    <a:lstStyle/>
                    <a:p>
                      <a:pPr algn="l">
                        <a:defRPr sz="550">
                          <a:solidFill>
                            <a:srgbClr val="1E242B"/>
                          </a:solidFill>
                          <a:latin typeface="Meiryo UI"/>
                        </a:defRPr>
                      </a:pPr>
                      <a:r>
                        <a:t>設計・試作中</a:t>
                      </a:r>
                    </a:p>
                  </a:txBody>
                  <a:tcPr anchor="ctr" marL="36576" marR="36576" marT="9144" marB="9144">
                    <a:solidFill>
                      <a:srgbClr val="EAF7EE"/>
                    </a:solidFill>
                  </a:tcPr>
                </a:tc>
              </a:tr>
              <a:tr h="272034">
                <a:tc>
                  <a:txBody>
                    <a:bodyPr wrap="square"/>
                    <a:lstStyle/>
                    <a:p>
                      <a:pPr algn="ctr">
                        <a:defRPr sz="550" b="1">
                          <a:solidFill>
                            <a:srgbClr val="1E242B"/>
                          </a:solidFill>
                          <a:latin typeface="Meiryo UI"/>
                        </a:defRPr>
                      </a:pPr>
                      <a:r>
                        <a:t>28</a:t>
                      </a:r>
                    </a:p>
                  </a:txBody>
                  <a:tcPr anchor="ctr" marL="36576" marR="36576" marT="9144" marB="9144">
                    <a:solidFill>
                      <a:srgbClr val="EAF7EE"/>
                    </a:solidFill>
                  </a:tcPr>
                </a:tc>
                <a:tc>
                  <a:txBody>
                    <a:bodyPr wrap="square"/>
                    <a:lstStyle/>
                    <a:p>
                      <a:pPr algn="ctr">
                        <a:defRPr sz="550">
                          <a:solidFill>
                            <a:srgbClr val="1E242B"/>
                          </a:solidFill>
                          <a:latin typeface="Meiryo UI"/>
                        </a:defRPr>
                      </a:pPr>
                      <a:r>
                        <a:t>ベトナム</a:t>
                      </a:r>
                    </a:p>
                  </a:txBody>
                  <a:tcPr anchor="ctr" marL="36576" marR="36576" marT="9144" marB="9144">
                    <a:solidFill>
                      <a:srgbClr val="EAF7EE"/>
                    </a:solidFill>
                  </a:tcPr>
                </a:tc>
                <a:tc>
                  <a:txBody>
                    <a:bodyPr wrap="square"/>
                    <a:lstStyle/>
                    <a:p>
                      <a:pPr algn="l">
                        <a:defRPr sz="550">
                          <a:solidFill>
                            <a:srgbClr val="1E242B"/>
                          </a:solidFill>
                          <a:latin typeface="Meiryo UI"/>
                        </a:defRPr>
                      </a:pPr>
                      <a:r>
                        <a:t>AI動画動作分析の活用および出荷設定（FinalSetup）のLAN自動化（-50s）</a:t>
                      </a:r>
                    </a:p>
                  </a:txBody>
                  <a:tcPr anchor="ctr" marL="36576" marR="36576" marT="9144" marB="9144">
                    <a:solidFill>
                      <a:srgbClr val="EAF7EE"/>
                    </a:solidFill>
                  </a:tcPr>
                </a:tc>
                <a:tc>
                  <a:txBody>
                    <a:bodyPr wrap="square"/>
                    <a:lstStyle/>
                    <a:p>
                      <a:pPr algn="l">
                        <a:defRPr sz="550" b="1">
                          <a:solidFill>
                            <a:srgbClr val="1E6E3E"/>
                          </a:solidFill>
                          <a:latin typeface="Meiryo UI"/>
                        </a:defRPr>
                      </a:pPr>
                      <a:r>
                        <a:t>先行実施</a:t>
                      </a:r>
                    </a:p>
                  </a:txBody>
                  <a:tcPr anchor="ctr" marL="36576" marR="36576" marT="9144" marB="9144">
                    <a:solidFill>
                      <a:srgbClr val="EAF7EE"/>
                    </a:solidFill>
                  </a:tcPr>
                </a:tc>
              </a:tr>
              <a:tr h="272034">
                <a:tc>
                  <a:txBody>
                    <a:bodyPr wrap="square"/>
                    <a:lstStyle/>
                    <a:p>
                      <a:pPr algn="ctr">
                        <a:defRPr sz="550" b="1">
                          <a:solidFill>
                            <a:srgbClr val="1E242B"/>
                          </a:solidFill>
                          <a:latin typeface="Meiryo UI"/>
                        </a:defRPr>
                      </a:pPr>
                      <a:r>
                        <a:t>29</a:t>
                      </a:r>
                    </a:p>
                  </a:txBody>
                  <a:tcPr anchor="ctr" marL="36576" marR="36576" marT="9144" marB="9144">
                    <a:solidFill>
                      <a:srgbClr val="F7F9FC"/>
                    </a:solidFill>
                  </a:tcPr>
                </a:tc>
                <a:tc>
                  <a:txBody>
                    <a:bodyPr wrap="square"/>
                    <a:lstStyle/>
                    <a:p>
                      <a:pPr algn="ctr">
                        <a:defRPr sz="550">
                          <a:solidFill>
                            <a:srgbClr val="1E242B"/>
                          </a:solidFill>
                          <a:latin typeface="Meiryo UI"/>
                        </a:defRPr>
                      </a:pPr>
                      <a:r>
                        <a:t>VN追加</a:t>
                      </a:r>
                    </a:p>
                  </a:txBody>
                  <a:tcPr anchor="ctr" marL="36576" marR="36576" marT="9144" marB="9144">
                    <a:solidFill>
                      <a:srgbClr val="F7F9FC"/>
                    </a:solidFill>
                  </a:tcPr>
                </a:tc>
                <a:tc>
                  <a:txBody>
                    <a:bodyPr wrap="square"/>
                    <a:lstStyle/>
                    <a:p>
                      <a:pPr algn="l">
                        <a:defRPr sz="550">
                          <a:solidFill>
                            <a:srgbClr val="1E242B"/>
                          </a:solidFill>
                          <a:latin typeface="Meiryo UI"/>
                        </a:defRPr>
                      </a:pPr>
                      <a:r>
                        <a:t>A1：トナーコンテナ認識の基板・FW改善（治具着脱廃止）</a:t>
                      </a:r>
                    </a:p>
                  </a:txBody>
                  <a:tcPr anchor="ctr" marL="36576" marR="36576" marT="9144" marB="9144">
                    <a:solidFill>
                      <a:srgbClr val="F7F9FC"/>
                    </a:solidFill>
                  </a:tcPr>
                </a:tc>
                <a:tc>
                  <a:txBody>
                    <a:bodyPr wrap="square"/>
                    <a:lstStyle/>
                    <a:p>
                      <a:pPr algn="l">
                        <a:defRPr sz="550">
                          <a:solidFill>
                            <a:srgbClr val="1E242B"/>
                          </a:solidFill>
                          <a:latin typeface="Meiryo UI"/>
                        </a:defRPr>
                      </a:pPr>
                      <a:r>
                        <a:t>日本設計確認中</a:t>
                      </a:r>
                    </a:p>
                  </a:txBody>
                  <a:tcPr anchor="ctr" marL="36576" marR="36576" marT="9144" marB="9144">
                    <a:solidFill>
                      <a:srgbClr val="F7F9FC"/>
                    </a:solidFill>
                  </a:tcPr>
                </a:tc>
              </a:tr>
              <a:tr h="272034">
                <a:tc>
                  <a:txBody>
                    <a:bodyPr wrap="square"/>
                    <a:lstStyle/>
                    <a:p>
                      <a:pPr algn="ctr">
                        <a:defRPr sz="550" b="1">
                          <a:solidFill>
                            <a:srgbClr val="1E242B"/>
                          </a:solidFill>
                          <a:latin typeface="Meiryo UI"/>
                        </a:defRPr>
                      </a:pPr>
                      <a:r>
                        <a:t>30</a:t>
                      </a:r>
                    </a:p>
                  </a:txBody>
                  <a:tcPr anchor="ctr" marL="36576" marR="36576" marT="9144" marB="9144">
                    <a:solidFill>
                      <a:srgbClr val="EAF7EE"/>
                    </a:solidFill>
                  </a:tcPr>
                </a:tc>
                <a:tc>
                  <a:txBody>
                    <a:bodyPr wrap="square"/>
                    <a:lstStyle/>
                    <a:p>
                      <a:pPr algn="ctr">
                        <a:defRPr sz="550">
                          <a:solidFill>
                            <a:srgbClr val="1E242B"/>
                          </a:solidFill>
                          <a:latin typeface="Meiryo UI"/>
                        </a:defRPr>
                      </a:pPr>
                      <a:r>
                        <a:t>VN追加</a:t>
                      </a:r>
                    </a:p>
                  </a:txBody>
                  <a:tcPr anchor="ctr" marL="36576" marR="36576" marT="9144" marB="9144">
                    <a:solidFill>
                      <a:srgbClr val="EAF7EE"/>
                    </a:solidFill>
                  </a:tcPr>
                </a:tc>
                <a:tc>
                  <a:txBody>
                    <a:bodyPr wrap="square"/>
                    <a:lstStyle/>
                    <a:p>
                      <a:pPr algn="l">
                        <a:defRPr sz="550">
                          <a:solidFill>
                            <a:srgbClr val="1E242B"/>
                          </a:solidFill>
                          <a:latin typeface="Meiryo UI"/>
                        </a:defRPr>
                      </a:pPr>
                      <a:r>
                        <a:t>A1：本体バーコード自動読取および廃トナーU155設定廃止</a:t>
                      </a:r>
                    </a:p>
                  </a:txBody>
                  <a:tcPr anchor="ctr" marL="36576" marR="36576" marT="9144" marB="9144">
                    <a:solidFill>
                      <a:srgbClr val="EAF7EE"/>
                    </a:solidFill>
                  </a:tcPr>
                </a:tc>
                <a:tc>
                  <a:txBody>
                    <a:bodyPr wrap="square"/>
                    <a:lstStyle/>
                    <a:p>
                      <a:pPr algn="l">
                        <a:defRPr sz="550" b="1">
                          <a:solidFill>
                            <a:srgbClr val="1E6E3E"/>
                          </a:solidFill>
                          <a:latin typeface="Meiryo UI"/>
                        </a:defRPr>
                      </a:pPr>
                      <a:r>
                        <a:t>先行実施</a:t>
                      </a:r>
                    </a:p>
                  </a:txBody>
                  <a:tcPr anchor="ctr" marL="36576" marR="36576" marT="9144" marB="9144">
                    <a:solidFill>
                      <a:srgbClr val="EAF7EE"/>
                    </a:solidFill>
                  </a:tcPr>
                </a:tc>
              </a:tr>
              <a:tr h="272034">
                <a:tc>
                  <a:txBody>
                    <a:bodyPr wrap="square"/>
                    <a:lstStyle/>
                    <a:p>
                      <a:pPr algn="ctr">
                        <a:defRPr sz="550" b="1">
                          <a:solidFill>
                            <a:srgbClr val="1E242B"/>
                          </a:solidFill>
                          <a:latin typeface="Meiryo UI"/>
                        </a:defRPr>
                      </a:pPr>
                      <a:r>
                        <a:t>31</a:t>
                      </a:r>
                    </a:p>
                  </a:txBody>
                  <a:tcPr anchor="ctr" marL="36576" marR="36576" marT="9144" marB="9144">
                    <a:solidFill>
                      <a:srgbClr val="F7F9FC"/>
                    </a:solidFill>
                  </a:tcPr>
                </a:tc>
                <a:tc>
                  <a:txBody>
                    <a:bodyPr wrap="square"/>
                    <a:lstStyle/>
                    <a:p>
                      <a:pPr algn="ctr">
                        <a:defRPr sz="550">
                          <a:solidFill>
                            <a:srgbClr val="1E242B"/>
                          </a:solidFill>
                          <a:latin typeface="Meiryo UI"/>
                        </a:defRPr>
                      </a:pPr>
                      <a:r>
                        <a:t>VN追加</a:t>
                      </a:r>
                    </a:p>
                  </a:txBody>
                  <a:tcPr anchor="ctr" marL="36576" marR="36576" marT="9144" marB="9144">
                    <a:solidFill>
                      <a:srgbClr val="F7F9FC"/>
                    </a:solidFill>
                  </a:tcPr>
                </a:tc>
                <a:tc>
                  <a:txBody>
                    <a:bodyPr wrap="square"/>
                    <a:lstStyle/>
                    <a:p>
                      <a:pPr algn="l">
                        <a:defRPr sz="550">
                          <a:solidFill>
                            <a:srgbClr val="1E242B"/>
                          </a:solidFill>
                          <a:latin typeface="Meiryo UI"/>
                        </a:defRPr>
                      </a:pPr>
                      <a:r>
                        <a:t>A5：2Wayクラッチ確認統合によるU950前RCG印刷廃止</a:t>
                      </a:r>
                    </a:p>
                  </a:txBody>
                  <a:tcPr anchor="ctr" marL="36576" marR="36576" marT="9144" marB="9144">
                    <a:solidFill>
                      <a:srgbClr val="F7F9FC"/>
                    </a:solidFill>
                  </a:tcPr>
                </a:tc>
                <a:tc>
                  <a:txBody>
                    <a:bodyPr wrap="square"/>
                    <a:lstStyle/>
                    <a:p>
                      <a:pPr algn="l">
                        <a:defRPr sz="550">
                          <a:solidFill>
                            <a:srgbClr val="1E242B"/>
                          </a:solidFill>
                          <a:latin typeface="Meiryo UI"/>
                        </a:defRPr>
                      </a:pPr>
                      <a:r>
                        <a:t>日本設計確認中</a:t>
                      </a:r>
                    </a:p>
                  </a:txBody>
                  <a:tcPr anchor="ctr" marL="36576" marR="36576" marT="9144" marB="9144">
                    <a:solidFill>
                      <a:srgbClr val="F7F9FC"/>
                    </a:solidFill>
                  </a:tcPr>
                </a:tc>
              </a:tr>
              <a:tr h="272034">
                <a:tc>
                  <a:txBody>
                    <a:bodyPr wrap="square"/>
                    <a:lstStyle/>
                    <a:p>
                      <a:pPr algn="ctr">
                        <a:defRPr sz="550" b="1">
                          <a:solidFill>
                            <a:srgbClr val="1E242B"/>
                          </a:solidFill>
                          <a:latin typeface="Meiryo UI"/>
                        </a:defRPr>
                      </a:pPr>
                      <a:r>
                        <a:t>32</a:t>
                      </a:r>
                    </a:p>
                  </a:txBody>
                  <a:tcPr anchor="ctr" marL="36576" marR="36576" marT="9144" marB="9144">
                    <a:solidFill>
                      <a:srgbClr val="FFFFFF"/>
                    </a:solidFill>
                  </a:tcPr>
                </a:tc>
                <a:tc>
                  <a:txBody>
                    <a:bodyPr wrap="square"/>
                    <a:lstStyle/>
                    <a:p>
                      <a:pPr algn="ctr">
                        <a:defRPr sz="550">
                          <a:solidFill>
                            <a:srgbClr val="1E242B"/>
                          </a:solidFill>
                          <a:latin typeface="Meiryo UI"/>
                        </a:defRPr>
                      </a:pPr>
                      <a:r>
                        <a:t>VN追加</a:t>
                      </a:r>
                    </a:p>
                  </a:txBody>
                  <a:tcPr anchor="ctr" marL="36576" marR="36576" marT="9144" marB="9144">
                    <a:solidFill>
                      <a:srgbClr val="FFFFFF"/>
                    </a:solidFill>
                  </a:tcPr>
                </a:tc>
                <a:tc>
                  <a:txBody>
                    <a:bodyPr wrap="square"/>
                    <a:lstStyle/>
                    <a:p>
                      <a:pPr algn="l">
                        <a:defRPr sz="550">
                          <a:solidFill>
                            <a:srgbClr val="1E242B"/>
                          </a:solidFill>
                          <a:latin typeface="Meiryo UI"/>
                        </a:defRPr>
                      </a:pPr>
                      <a:r>
                        <a:t>A7：エージングU950（285s）の工程見直し短縮および非接触検査</a:t>
                      </a:r>
                    </a:p>
                  </a:txBody>
                  <a:tcPr anchor="ctr" marL="36576" marR="36576" marT="9144" marB="9144">
                    <a:solidFill>
                      <a:srgbClr val="FFFFFF"/>
                    </a:solidFill>
                  </a:tcPr>
                </a:tc>
                <a:tc>
                  <a:txBody>
                    <a:bodyPr wrap="square"/>
                    <a:lstStyle/>
                    <a:p>
                      <a:pPr algn="l">
                        <a:defRPr sz="550">
                          <a:solidFill>
                            <a:srgbClr val="1E242B"/>
                          </a:solidFill>
                          <a:latin typeface="Meiryo UI"/>
                        </a:defRPr>
                      </a:pPr>
                      <a:r>
                        <a:t>日本設計確認中</a:t>
                      </a:r>
                    </a:p>
                  </a:txBody>
                  <a:tcPr anchor="ctr" marL="36576" marR="36576" marT="9144" marB="9144">
                    <a:solidFill>
                      <a:srgbClr val="FFFFFF"/>
                    </a:solidFill>
                  </a:tcPr>
                </a:tc>
              </a:tr>
              <a:tr h="272034">
                <a:tc>
                  <a:txBody>
                    <a:bodyPr wrap="square"/>
                    <a:lstStyle/>
                    <a:p>
                      <a:pPr algn="ctr">
                        <a:defRPr sz="550" b="1">
                          <a:solidFill>
                            <a:srgbClr val="1E242B"/>
                          </a:solidFill>
                          <a:latin typeface="Meiryo UI"/>
                        </a:defRPr>
                      </a:pPr>
                      <a:r>
                        <a:t>33</a:t>
                      </a:r>
                    </a:p>
                  </a:txBody>
                  <a:tcPr anchor="ctr" marL="36576" marR="36576" marT="9144" marB="9144">
                    <a:solidFill>
                      <a:srgbClr val="F7F9FC"/>
                    </a:solidFill>
                  </a:tcPr>
                </a:tc>
                <a:tc>
                  <a:txBody>
                    <a:bodyPr wrap="square"/>
                    <a:lstStyle/>
                    <a:p>
                      <a:pPr algn="ctr">
                        <a:defRPr sz="550">
                          <a:solidFill>
                            <a:srgbClr val="1E242B"/>
                          </a:solidFill>
                          <a:latin typeface="Meiryo UI"/>
                        </a:defRPr>
                      </a:pPr>
                      <a:r>
                        <a:t>VN追加</a:t>
                      </a:r>
                    </a:p>
                  </a:txBody>
                  <a:tcPr anchor="ctr" marL="36576" marR="36576" marT="9144" marB="9144">
                    <a:solidFill>
                      <a:srgbClr val="F7F9FC"/>
                    </a:solidFill>
                  </a:tcPr>
                </a:tc>
                <a:tc>
                  <a:txBody>
                    <a:bodyPr wrap="square"/>
                    <a:lstStyle/>
                    <a:p>
                      <a:pPr algn="l">
                        <a:defRPr sz="550">
                          <a:solidFill>
                            <a:srgbClr val="1E242B"/>
                          </a:solidFill>
                          <a:latin typeface="Meiryo UI"/>
                        </a:defRPr>
                      </a:pPr>
                      <a:r>
                        <a:t>A8：RCG Ledger直角度確認統合によるLedger廃止（カバー移管）</a:t>
                      </a:r>
                    </a:p>
                  </a:txBody>
                  <a:tcPr anchor="ctr" marL="36576" marR="36576" marT="9144" marB="9144">
                    <a:solidFill>
                      <a:srgbClr val="F7F9FC"/>
                    </a:solidFill>
                  </a:tcPr>
                </a:tc>
                <a:tc>
                  <a:txBody>
                    <a:bodyPr wrap="square"/>
                    <a:lstStyle/>
                    <a:p>
                      <a:pPr algn="l">
                        <a:defRPr sz="550">
                          <a:solidFill>
                            <a:srgbClr val="1E242B"/>
                          </a:solidFill>
                          <a:latin typeface="Meiryo UI"/>
                        </a:defRPr>
                      </a:pPr>
                      <a:r>
                        <a:t>日本設計確認中</a:t>
                      </a:r>
                    </a:p>
                  </a:txBody>
                  <a:tcPr anchor="ctr" marL="36576" marR="36576" marT="9144" marB="9144">
                    <a:solidFill>
                      <a:srgbClr val="F7F9FC"/>
                    </a:solidFill>
                  </a:tcPr>
                </a:tc>
              </a:tr>
              <a:tr h="272034">
                <a:tc>
                  <a:txBody>
                    <a:bodyPr wrap="square"/>
                    <a:lstStyle/>
                    <a:p>
                      <a:pPr algn="ctr">
                        <a:defRPr sz="550" b="1">
                          <a:solidFill>
                            <a:srgbClr val="1E242B"/>
                          </a:solidFill>
                          <a:latin typeface="Meiryo UI"/>
                        </a:defRPr>
                      </a:pPr>
                      <a:r>
                        <a:t>34</a:t>
                      </a:r>
                    </a:p>
                  </a:txBody>
                  <a:tcPr anchor="ctr" marL="36576" marR="36576" marT="9144" marB="9144">
                    <a:solidFill>
                      <a:srgbClr val="FFFFFF"/>
                    </a:solidFill>
                  </a:tcPr>
                </a:tc>
                <a:tc>
                  <a:txBody>
                    <a:bodyPr wrap="square"/>
                    <a:lstStyle/>
                    <a:p>
                      <a:pPr algn="ctr">
                        <a:defRPr sz="550">
                          <a:solidFill>
                            <a:srgbClr val="1E242B"/>
                          </a:solidFill>
                          <a:latin typeface="Meiryo UI"/>
                        </a:defRPr>
                      </a:pPr>
                      <a:r>
                        <a:t>VN追加</a:t>
                      </a:r>
                    </a:p>
                  </a:txBody>
                  <a:tcPr anchor="ctr" marL="36576" marR="36576" marT="9144" marB="9144">
                    <a:solidFill>
                      <a:srgbClr val="FFFFFF"/>
                    </a:solidFill>
                  </a:tcPr>
                </a:tc>
                <a:tc>
                  <a:txBody>
                    <a:bodyPr wrap="square"/>
                    <a:lstStyle/>
                    <a:p>
                      <a:pPr algn="l">
                        <a:defRPr sz="550">
                          <a:solidFill>
                            <a:srgbClr val="1E242B"/>
                          </a:solidFill>
                          <a:latin typeface="Meiryo UI"/>
                        </a:defRPr>
                      </a:pPr>
                      <a:r>
                        <a:t>A8：RCG LSU SKEW統合によるLSU Skew廃止（カセット自動化）</a:t>
                      </a:r>
                    </a:p>
                  </a:txBody>
                  <a:tcPr anchor="ctr" marL="36576" marR="36576" marT="9144" marB="9144">
                    <a:solidFill>
                      <a:srgbClr val="FFFFFF"/>
                    </a:solidFill>
                  </a:tcPr>
                </a:tc>
                <a:tc>
                  <a:txBody>
                    <a:bodyPr wrap="square"/>
                    <a:lstStyle/>
                    <a:p>
                      <a:pPr algn="l">
                        <a:defRPr sz="550">
                          <a:solidFill>
                            <a:srgbClr val="1E242B"/>
                          </a:solidFill>
                          <a:latin typeface="Meiryo UI"/>
                        </a:defRPr>
                      </a:pPr>
                      <a:r>
                        <a:t>日本設計確認中</a:t>
                      </a:r>
                    </a:p>
                  </a:txBody>
                  <a:tcPr anchor="ctr" marL="36576" marR="36576" marT="9144" marB="9144">
                    <a:solidFill>
                      <a:srgbClr val="FFFFFF"/>
                    </a:solidFill>
                  </a:tcPr>
                </a:tc>
              </a:tr>
              <a:tr h="272034">
                <a:tc>
                  <a:txBody>
                    <a:bodyPr wrap="square"/>
                    <a:lstStyle/>
                    <a:p>
                      <a:pPr algn="ctr">
                        <a:defRPr sz="550" b="1">
                          <a:solidFill>
                            <a:srgbClr val="1E242B"/>
                          </a:solidFill>
                          <a:latin typeface="Meiryo UI"/>
                        </a:defRPr>
                      </a:pPr>
                      <a:r>
                        <a:t>35</a:t>
                      </a:r>
                    </a:p>
                  </a:txBody>
                  <a:tcPr anchor="ctr" marL="36576" marR="36576" marT="9144" marB="9144">
                    <a:solidFill>
                      <a:srgbClr val="F7F9FC"/>
                    </a:solidFill>
                  </a:tcPr>
                </a:tc>
                <a:tc>
                  <a:txBody>
                    <a:bodyPr wrap="square"/>
                    <a:lstStyle/>
                    <a:p>
                      <a:pPr algn="ctr">
                        <a:defRPr sz="550">
                          <a:solidFill>
                            <a:srgbClr val="1E242B"/>
                          </a:solidFill>
                          <a:latin typeface="Meiryo UI"/>
                        </a:defRPr>
                      </a:pPr>
                      <a:r>
                        <a:t>VN追加</a:t>
                      </a:r>
                    </a:p>
                  </a:txBody>
                  <a:tcPr anchor="ctr" marL="36576" marR="36576" marT="9144" marB="9144">
                    <a:solidFill>
                      <a:srgbClr val="F7F9FC"/>
                    </a:solidFill>
                  </a:tcPr>
                </a:tc>
                <a:tc>
                  <a:txBody>
                    <a:bodyPr wrap="square"/>
                    <a:lstStyle/>
                    <a:p>
                      <a:pPr algn="l">
                        <a:defRPr sz="550">
                          <a:solidFill>
                            <a:srgbClr val="1E242B"/>
                          </a:solidFill>
                          <a:latin typeface="Meiryo UI"/>
                        </a:defRPr>
                      </a:pPr>
                      <a:r>
                        <a:t>A8：U410 Halftoneキャリブレーション一括自動化</a:t>
                      </a:r>
                    </a:p>
                  </a:txBody>
                  <a:tcPr anchor="ctr" marL="36576" marR="36576" marT="9144" marB="9144">
                    <a:solidFill>
                      <a:srgbClr val="F7F9FC"/>
                    </a:solidFill>
                  </a:tcPr>
                </a:tc>
                <a:tc>
                  <a:txBody>
                    <a:bodyPr wrap="square"/>
                    <a:lstStyle/>
                    <a:p>
                      <a:pPr algn="l">
                        <a:defRPr sz="550">
                          <a:solidFill>
                            <a:srgbClr val="1E242B"/>
                          </a:solidFill>
                          <a:latin typeface="Meiryo UI"/>
                        </a:defRPr>
                      </a:pPr>
                      <a:r>
                        <a:t>日本ソフト確認中</a:t>
                      </a:r>
                    </a:p>
                  </a:txBody>
                  <a:tcPr anchor="ctr" marL="36576" marR="36576" marT="9144" marB="9144">
                    <a:solidFill>
                      <a:srgbClr val="F7F9FC"/>
                    </a:solidFill>
                  </a:tcPr>
                </a:tc>
              </a:tr>
              <a:tr h="272034">
                <a:tc>
                  <a:txBody>
                    <a:bodyPr wrap="square"/>
                    <a:lstStyle/>
                    <a:p>
                      <a:pPr algn="ctr">
                        <a:defRPr sz="550" b="1">
                          <a:solidFill>
                            <a:srgbClr val="1E242B"/>
                          </a:solidFill>
                          <a:latin typeface="Meiryo UI"/>
                        </a:defRPr>
                      </a:pPr>
                      <a:r>
                        <a:t>36</a:t>
                      </a:r>
                    </a:p>
                  </a:txBody>
                  <a:tcPr anchor="ctr" marL="36576" marR="36576" marT="9144" marB="9144">
                    <a:solidFill>
                      <a:srgbClr val="FFFFFF"/>
                    </a:solidFill>
                  </a:tcPr>
                </a:tc>
                <a:tc>
                  <a:txBody>
                    <a:bodyPr wrap="square"/>
                    <a:lstStyle/>
                    <a:p>
                      <a:pPr algn="ctr">
                        <a:defRPr sz="550">
                          <a:solidFill>
                            <a:srgbClr val="1E242B"/>
                          </a:solidFill>
                          <a:latin typeface="Meiryo UI"/>
                        </a:defRPr>
                      </a:pPr>
                      <a:r>
                        <a:t>VN追加</a:t>
                      </a:r>
                    </a:p>
                  </a:txBody>
                  <a:tcPr anchor="ctr" marL="36576" marR="36576" marT="9144" marB="9144">
                    <a:solidFill>
                      <a:srgbClr val="FFFFFF"/>
                    </a:solidFill>
                  </a:tcPr>
                </a:tc>
                <a:tc>
                  <a:txBody>
                    <a:bodyPr wrap="square"/>
                    <a:lstStyle/>
                    <a:p>
                      <a:pPr algn="l">
                        <a:defRPr sz="550">
                          <a:solidFill>
                            <a:srgbClr val="1E242B"/>
                          </a:solidFill>
                          <a:latin typeface="Meiryo UI"/>
                        </a:defRPr>
                      </a:pPr>
                      <a:r>
                        <a:t>A8：Halftone Mono統合によるMono廃止（ドアスイッチ自動化）</a:t>
                      </a:r>
                    </a:p>
                  </a:txBody>
                  <a:tcPr anchor="ctr" marL="36576" marR="36576" marT="9144" marB="9144">
                    <a:solidFill>
                      <a:srgbClr val="FFFFFF"/>
                    </a:solidFill>
                  </a:tcPr>
                </a:tc>
                <a:tc>
                  <a:txBody>
                    <a:bodyPr wrap="square"/>
                    <a:lstStyle/>
                    <a:p>
                      <a:pPr algn="l">
                        <a:defRPr sz="550">
                          <a:solidFill>
                            <a:srgbClr val="1E242B"/>
                          </a:solidFill>
                          <a:latin typeface="Meiryo UI"/>
                        </a:defRPr>
                      </a:pPr>
                      <a:r>
                        <a:t>日本設計確認中</a:t>
                      </a:r>
                    </a:p>
                  </a:txBody>
                  <a:tcPr anchor="ctr" marL="36576" marR="36576" marT="9144" marB="9144">
                    <a:solidFill>
                      <a:srgbClr val="FFFFFF"/>
                    </a:solidFill>
                  </a:tcPr>
                </a:tc>
              </a:tr>
              <a:tr h="272034">
                <a:tc>
                  <a:txBody>
                    <a:bodyPr wrap="square"/>
                    <a:lstStyle/>
                    <a:p>
                      <a:pPr algn="ctr">
                        <a:defRPr sz="550" b="1">
                          <a:solidFill>
                            <a:srgbClr val="1E242B"/>
                          </a:solidFill>
                          <a:latin typeface="Meiryo UI"/>
                        </a:defRPr>
                      </a:pPr>
                      <a:r>
                        <a:t>37</a:t>
                      </a:r>
                    </a:p>
                  </a:txBody>
                  <a:tcPr anchor="ctr" marL="36576" marR="36576" marT="9144" marB="9144">
                    <a:solidFill>
                      <a:srgbClr val="F7F9FC"/>
                    </a:solidFill>
                  </a:tcPr>
                </a:tc>
                <a:tc>
                  <a:txBody>
                    <a:bodyPr wrap="square"/>
                    <a:lstStyle/>
                    <a:p>
                      <a:pPr algn="ctr">
                        <a:defRPr sz="550">
                          <a:solidFill>
                            <a:srgbClr val="1E242B"/>
                          </a:solidFill>
                          <a:latin typeface="Meiryo UI"/>
                        </a:defRPr>
                      </a:pPr>
                      <a:r>
                        <a:t>VN追加</a:t>
                      </a:r>
                    </a:p>
                  </a:txBody>
                  <a:tcPr anchor="ctr" marL="36576" marR="36576" marT="9144" marB="9144">
                    <a:solidFill>
                      <a:srgbClr val="F7F9FC"/>
                    </a:solidFill>
                  </a:tcPr>
                </a:tc>
                <a:tc>
                  <a:txBody>
                    <a:bodyPr wrap="square"/>
                    <a:lstStyle/>
                    <a:p>
                      <a:pPr algn="l">
                        <a:defRPr sz="550">
                          <a:solidFill>
                            <a:srgbClr val="1E242B"/>
                          </a:solidFill>
                          <a:latin typeface="Meiryo UI"/>
                        </a:defRPr>
                      </a:pPr>
                      <a:r>
                        <a:t>A11：RCGコピー確認の統合検討および転写ベルト蛇行測定廃止</a:t>
                      </a:r>
                    </a:p>
                  </a:txBody>
                  <a:tcPr anchor="ctr" marL="36576" marR="36576" marT="9144" marB="9144">
                    <a:solidFill>
                      <a:srgbClr val="F7F9FC"/>
                    </a:solidFill>
                  </a:tcPr>
                </a:tc>
                <a:tc>
                  <a:txBody>
                    <a:bodyPr wrap="square"/>
                    <a:lstStyle/>
                    <a:p>
                      <a:pPr algn="l">
                        <a:defRPr sz="550">
                          <a:solidFill>
                            <a:srgbClr val="1E242B"/>
                          </a:solidFill>
                          <a:latin typeface="Meiryo UI"/>
                        </a:defRPr>
                      </a:pPr>
                      <a:r>
                        <a:t>日本設計確認中</a:t>
                      </a:r>
                    </a:p>
                  </a:txBody>
                  <a:tcPr anchor="ctr" marL="36576" marR="36576" marT="9144" marB="9144">
                    <a:solidFill>
                      <a:srgbClr val="F7F9FC"/>
                    </a:solidFill>
                  </a:tcPr>
                </a:tc>
              </a:tr>
              <a:tr h="272034">
                <a:tc>
                  <a:txBody>
                    <a:bodyPr wrap="square"/>
                    <a:lstStyle/>
                    <a:p>
                      <a:pPr algn="ctr">
                        <a:defRPr sz="550" b="1">
                          <a:solidFill>
                            <a:srgbClr val="1E242B"/>
                          </a:solidFill>
                          <a:latin typeface="Meiryo UI"/>
                        </a:defRPr>
                      </a:pPr>
                      <a:r>
                        <a:t>38</a:t>
                      </a:r>
                    </a:p>
                  </a:txBody>
                  <a:tcPr anchor="ctr" marL="36576" marR="36576" marT="9144" marB="9144">
                    <a:solidFill>
                      <a:srgbClr val="E8EEF5"/>
                    </a:solidFill>
                  </a:tcPr>
                </a:tc>
                <a:tc>
                  <a:txBody>
                    <a:bodyPr wrap="square"/>
                    <a:lstStyle/>
                    <a:p>
                      <a:pPr algn="ctr">
                        <a:defRPr sz="550">
                          <a:solidFill>
                            <a:srgbClr val="1E242B"/>
                          </a:solidFill>
                          <a:latin typeface="Meiryo UI"/>
                        </a:defRPr>
                      </a:pPr>
                      <a:r>
                        <a:t>中国追加</a:t>
                      </a:r>
                    </a:p>
                  </a:txBody>
                  <a:tcPr anchor="ctr" marL="36576" marR="36576" marT="9144" marB="9144">
                    <a:solidFill>
                      <a:srgbClr val="E8EEF5"/>
                    </a:solidFill>
                  </a:tcPr>
                </a:tc>
                <a:tc>
                  <a:txBody>
                    <a:bodyPr wrap="square"/>
                    <a:lstStyle/>
                    <a:p>
                      <a:pPr algn="l">
                        <a:defRPr sz="550">
                          <a:solidFill>
                            <a:srgbClr val="1E242B"/>
                          </a:solidFill>
                          <a:latin typeface="Meiryo UI"/>
                        </a:defRPr>
                      </a:pPr>
                      <a:r>
                        <a:t>AI画像学習による治具自動検査（WeChat - Chen Zhi Feng氏）</a:t>
                      </a:r>
                    </a:p>
                  </a:txBody>
                  <a:tcPr anchor="ctr" marL="36576" marR="36576" marT="9144" marB="9144">
                    <a:solidFill>
                      <a:srgbClr val="E8EEF5"/>
                    </a:solidFill>
                  </a:tcPr>
                </a:tc>
                <a:tc>
                  <a:txBody>
                    <a:bodyPr wrap="square"/>
                    <a:lstStyle/>
                    <a:p>
                      <a:pPr algn="l">
                        <a:defRPr sz="550">
                          <a:solidFill>
                            <a:srgbClr val="1E242B"/>
                          </a:solidFill>
                          <a:latin typeface="Meiryo UI"/>
                        </a:defRPr>
                      </a:pPr>
                      <a:r>
                        <a:t>日本設計確認中</a:t>
                      </a:r>
                    </a:p>
                  </a:txBody>
                  <a:tcPr anchor="ctr" marL="36576" marR="36576" marT="9144" marB="9144">
                    <a:solidFill>
                      <a:srgbClr val="E8EEF5"/>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