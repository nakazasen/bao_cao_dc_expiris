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chọn phương án đầu tư giữa Robot ISU/USB (No.23, 24) và Quét DP/Host PC (No.25),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950">
                <a:solidFill>
                  <a:srgbClr val="FFFFFF"/>
                </a:solidFill>
                <a:latin typeface="Arial"/>
              </a:defRPr>
            </a:pPr>
            <a:r>
              <a:t>• Dự toán 3 đề án tự động hóa tại Iris EXPのVN提案.xlsx: 855.690.000 VNĐ (32.911,15 USD; làm tròn 33.000 USD), gồm No.22 (101,69tr / 3.911,15$), No.23 (650tr / 25.000$) và No.24 (104tr / 4.000$).</a:t>
            </a:r>
            <a:br/>
            <a:r>
              <a:t>• Nếu thay Robot No.23, 24 bằng DP/Host PC sau DR4: duyệt trước No.22 là 101.690.000 VNĐ.</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Bùi Đức Vinh</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Trưởng bộ phận: (a) Xin ý kiến chỉ đạo cho 20 đề án VN, và (b) Xin duyệt kinh phí theo bảng giá Iris EXPのVN提案.xlsx (Tổng 3 đề án có báo giá: 855,69 triệu VNĐ / 32.911,15 USD; duyệt riêng No.22: 101,69 triệu VNĐ).</a:t>
            </a:r>
          </a:p>
        </p:txBody>
      </p:sp>
      <p:sp>
        <p:nvSpPr>
          <p:cNvPr id="7" name="Rectangle 6"/>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9" name="TextBox 8"/>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10" b="1">
                <a:solidFill>
                  <a:srgbClr val="1E242B"/>
                </a:solidFill>
                <a:latin typeface="Arial"/>
              </a:defRPr>
            </a:pPr>
            <a:r>
              <a:t>■ 1. Lựa chọn giữa phương án Robot (No.23, 24) và phương án Quét DP / Host PC (No.25):</a:t>
            </a:r>
          </a:p>
          <a:p>
            <a:pPr>
              <a:spcAft>
                <a:spcPts val="300"/>
              </a:spcAft>
              <a:defRPr sz="910">
                <a:solidFill>
                  <a:srgbClr val="1E242B"/>
                </a:solidFill>
                <a:latin typeface="Arial"/>
              </a:defRPr>
            </a:pPr>
            <a:r>
              <a:t>   • Trong bảng tính Iris EXPのVN提案.xlsx, KTSX đã lập dự toán 3 đề án thiết bị: No.22 (Đo thông mạch/chịu áp: 101,69tr / 3.911,15 USD [纏め: 4.000 USD]), No.23 (Robot đặt bản thảo ISU: 650tr / 25.000 USD) và No.24 (Robot cắm USB &amp; chấm tọa độ U201: 104tr / 4.000 USD).</a:t>
            </a:r>
          </a:p>
          <a:p>
            <a:pPr>
              <a:spcAft>
                <a:spcPts val="300"/>
              </a:spcAft>
              <a:defRPr sz="910">
                <a:solidFill>
                  <a:srgbClr val="1E242B"/>
                </a:solidFill>
                <a:latin typeface="Arial"/>
              </a:defRPr>
            </a:pPr>
            <a:r>
              <a:t>   • Tại kỳ họp 連携会 lần 7 / DR4, nhóm dự án đề xuất hướng thay thế không dùng Robot để giảm chi phí đầu tư: Quét bản thảo liên tục bằng khay nạp DP của máy + PC tự phán định (No.25, -110s) và Đọc log tọa độ U201 qua Host PC (JP No.3, -15,12s).</a:t>
            </a:r>
          </a:p>
          <a:p>
            <a:pPr>
              <a:spcAft>
                <a:spcPts val="300"/>
              </a:spcAft>
              <a:defRPr sz="910" b="1">
                <a:solidFill>
                  <a:srgbClr val="1E242B"/>
                </a:solidFill>
                <a:latin typeface="Arial"/>
              </a:defRPr>
            </a:pPr>
            <a:r>
              <a:t>■ 2. Xử lý các điều kiện kỹ thuật phát sinh tại nhà máy Việt Nam (KDTVN):</a:t>
            </a:r>
          </a:p>
          <a:p>
            <a:pPr>
              <a:spcAft>
                <a:spcPts val="300"/>
              </a:spcAft>
              <a:defRPr sz="91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1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10" b="1">
                <a:solidFill>
                  <a:srgbClr val="1E242B"/>
                </a:solidFill>
                <a:latin typeface="Arial"/>
              </a:defRPr>
            </a:pPr>
            <a:r>
              <a:t>■ 3. Phối hợp liên bộ phận (Partner, TK JP, PE JP) để đẩy nhanh tiến độ PDCA:</a:t>
            </a:r>
          </a:p>
          <a:p>
            <a:pPr>
              <a:spcAft>
                <a:spcPts val="300"/>
              </a:spcAft>
              <a:defRPr sz="910">
                <a:solidFill>
                  <a:srgbClr val="1E242B"/>
                </a:solidFill>
                <a:latin typeface="Arial"/>
              </a:defRPr>
            </a:pPr>
            <a:r>
              <a:t>   • Phương án nạp sẵn Firmware tại Partner giúp giảm 1 người tại A-1 (từ 4 -&gt; 3 người).</a:t>
            </a:r>
          </a:p>
          <a:p>
            <a:pPr>
              <a:spcAft>
                <a:spcPts val="300"/>
              </a:spcAft>
              <a:defRPr sz="910">
                <a:solidFill>
                  <a:srgbClr val="1E242B"/>
                </a:solidFill>
                <a:latin typeface="Arial"/>
              </a:defRPr>
            </a:pPr>
            <a:r>
              <a:t>   • Đẩy nhanh tiến độ PDCA (thực tích T10 mới đạt -4,32s / 0,18% do chờ phía JP chốt DR công đoạn).</a:t>
            </a:r>
          </a:p>
        </p:txBody>
      </p:sp>
      <p:sp>
        <p:nvSpPr>
          <p:cNvPr id="10" name="Rectangle 9"/>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(THEO IRIS EXPのVN提案.xlsx)</a:t>
            </a:r>
          </a:p>
        </p:txBody>
      </p:sp>
      <p:sp>
        <p:nvSpPr>
          <p:cNvPr id="12" name="TextBox 11"/>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890" b="1">
                <a:solidFill>
                  <a:srgbClr val="1E242B"/>
                </a:solidFill>
                <a:latin typeface="Arial"/>
              </a:defRPr>
            </a:pPr>
            <a:r>
              <a:t>■ 1. Bảng giá 3 đề án tự động hóa của VN trong Iris EXPのVN提案.xlsx:</a:t>
            </a:r>
          </a:p>
          <a:p>
            <a:pPr>
              <a:spcAft>
                <a:spcPts val="300"/>
              </a:spcAft>
              <a:defRPr sz="890">
                <a:solidFill>
                  <a:srgbClr val="1E242B"/>
                </a:solidFill>
                <a:latin typeface="Arial"/>
              </a:defRPr>
            </a:pPr>
            <a:r>
              <a:t>   • Đề án 1 (No.22 - Tự động kiểm tra thông mạch, tiếp đất, chịu áp cách điện): 101.690.000 VNĐ (3.911,15 USD theo BOM 25 mục; Sheet thuyết minh: 101,7 triệu VNĐ / 3.911,54 USD; Sheet 纏め: 4.000 USD). Giảm 30s/máy, tiết kiệm 29,6 triệu VNĐ/năm (1.138,46 USD/năm).</a:t>
            </a:r>
          </a:p>
          <a:p>
            <a:pPr>
              <a:spcAft>
                <a:spcPts val="300"/>
              </a:spcAft>
              <a:defRPr sz="890">
                <a:solidFill>
                  <a:srgbClr val="1E242B"/>
                </a:solidFill>
                <a:latin typeface="Arial"/>
              </a:defRPr>
            </a:pPr>
            <a:r>
              <a:t>   • Đề án 2 (No.23 - Robot đặt bản thảo lên ISU chỉnh U411, SITC-2, Halftone): 650.000.000 VNĐ (25.000 USD: Thêm 2 Cell băng tải 200tr + Cấp nguồn 50tr + Định vị cáp USB/LAN 50tr + Cánh tay Robot 350tr). Giảm 110s/máy, tiết kiệm 108,53 triệu VNĐ/năm (4.174,36 USD/năm).</a:t>
            </a:r>
          </a:p>
          <a:p>
            <a:pPr>
              <a:spcAft>
                <a:spcPts val="300"/>
              </a:spcAft>
              <a:defRPr sz="890">
                <a:solidFill>
                  <a:srgbClr val="1E242B"/>
                </a:solidFill>
                <a:latin typeface="Arial"/>
              </a:defRPr>
            </a:pPr>
            <a:r>
              <a:t>   • Đề án 3 (No.24 - Robot kết nối USB &amp; Camera AI / Robot chấm tọa độ U201): 104.000.000 VNĐ (4.000 USD). Giảm 30s/máy, tiết kiệm 29,6 triệu VNĐ/năm (1.138,46 USD/năm).</a:t>
            </a:r>
          </a:p>
          <a:p>
            <a:pPr>
              <a:spcAft>
                <a:spcPts val="300"/>
              </a:spcAft>
              <a:defRPr sz="890">
                <a:solidFill>
                  <a:srgbClr val="1E242B"/>
                </a:solidFill>
                <a:latin typeface="Arial"/>
              </a:defRPr>
            </a:pPr>
            <a:r>
              <a:t>   • Tổng cộng 3 đề án có báo giá trong VN提案.xlsx: 855.690.000 VNĐ (32.911,15 USD) theo BOM [hoặc 855.700.000 VNĐ / 32.911,54 USD theo thuyết minh; 858.000.000 VNĐ / 33.000 USD theo 纏め].</a:t>
            </a:r>
          </a:p>
          <a:p>
            <a:pPr>
              <a:spcAft>
                <a:spcPts val="300"/>
              </a:spcAft>
              <a:defRPr sz="890" b="1">
                <a:solidFill>
                  <a:srgbClr val="1E242B"/>
                </a:solidFill>
                <a:latin typeface="Arial"/>
              </a:defRPr>
            </a:pPr>
            <a:r>
              <a:t>■ 2. Hai phương án trình Trưởng bộ phận phê duyệt:</a:t>
            </a:r>
          </a:p>
          <a:p>
            <a:pPr>
              <a:spcAft>
                <a:spcPts val="300"/>
              </a:spcAft>
              <a:defRPr sz="890">
                <a:solidFill>
                  <a:srgbClr val="1E242B"/>
                </a:solidFill>
                <a:latin typeface="Arial"/>
              </a:defRPr>
            </a:pPr>
            <a:r>
              <a:t>   • Phương án A (Triển khai ngay sau DR4): Duyệt trước Đề án No.22 là 101.690.000 VNĐ (3.911,15 USD); còn No.23 &amp; No.24 chuyển sang dùng DP (No.25) và đọc log Host PC.</a:t>
            </a:r>
          </a:p>
          <a:p>
            <a:pPr>
              <a:spcAft>
                <a:spcPts val="300"/>
              </a:spcAft>
              <a:defRPr sz="890">
                <a:solidFill>
                  <a:srgbClr val="1E242B"/>
                </a:solidFill>
                <a:latin typeface="Arial"/>
              </a:defRPr>
            </a:pPr>
            <a:r>
              <a:t>   • Phương án B (Tổng dự toán theo VN提案.xlsx): 855.690.000 VNĐ (32.911,15 USD / làm tròn 33.000 USD) cho cả 3 đề án No.22, No.23, No.24. Các mục Đang báo giá (見積中) tách riêng.</a:t>
            </a:r>
          </a:p>
        </p:txBody>
      </p:sp>
      <p:graphicFrame>
        <p:nvGraphicFramePr>
          <p:cNvPr id="13" name="Table 12"/>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514600"/>
                <a:gridCol w="1691640"/>
                <a:gridCol w="2331720"/>
                <a:gridCol w="2606040"/>
                <a:gridCol w="2499055"/>
              </a:tblGrid>
              <a:tr h="324612">
                <a:tc>
                  <a:txBody>
                    <a:bodyPr/>
                    <a:lstStyle/>
                    <a:p>
                      <a:pPr algn="ctr">
                        <a:defRPr sz="880" b="1">
                          <a:solidFill>
                            <a:srgbClr val="FFFFFF"/>
                          </a:solidFill>
                          <a:latin typeface="Arial"/>
                        </a:defRPr>
                      </a:pPr>
                      <a:r>
                        <a:t>Phân nhóm đề án tại Việt Nam (Iris EXPのVN提案.xlsx)</a:t>
                      </a:r>
                    </a:p>
                  </a:txBody>
                  <a:tcPr anchor="ctr" marL="45720" marR="45720" marT="18288" marB="18288">
                    <a:solidFill>
                      <a:srgbClr val="1B365D"/>
                    </a:solidFill>
                  </a:tcPr>
                </a:tc>
                <a:tc>
                  <a:txBody>
                    <a:bodyPr/>
                    <a:lstStyle/>
                    <a:p>
                      <a:pPr algn="ctr">
                        <a:defRPr sz="88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880" b="1">
                          <a:solidFill>
                            <a:srgbClr val="FFFFFF"/>
                          </a:solidFill>
                          <a:latin typeface="Arial"/>
                        </a:defRPr>
                      </a:pPr>
                      <a:r>
                        <a:t>Thời gian giảm &amp; Tiết kiệm/năm</a:t>
                      </a:r>
                    </a:p>
                  </a:txBody>
                  <a:tcPr anchor="ctr" marL="45720" marR="45720" marT="18288" marB="18288">
                    <a:solidFill>
                      <a:srgbClr val="1B365D"/>
                    </a:solidFill>
                  </a:tcPr>
                </a:tc>
                <a:tc>
                  <a:txBody>
                    <a:bodyPr/>
                    <a:lstStyle/>
                    <a:p>
                      <a:pPr algn="ctr">
                        <a:defRPr sz="880" b="1">
                          <a:solidFill>
                            <a:srgbClr val="FFFFFF"/>
                          </a:solidFill>
                          <a:latin typeface="Arial"/>
                        </a:defRPr>
                      </a:pPr>
                      <a:r>
                        <a:t>Kinh phí thiết bị theo báo giá nguồn</a:t>
                      </a:r>
                    </a:p>
                  </a:txBody>
                  <a:tcPr anchor="ctr" marL="45720" marR="45720" marT="18288" marB="18288">
                    <a:solidFill>
                      <a:srgbClr val="1B365D"/>
                    </a:solidFill>
                  </a:tcPr>
                </a:tc>
                <a:tc>
                  <a:txBody>
                    <a:bodyPr/>
                    <a:lstStyle/>
                    <a:p>
                      <a:pPr algn="ctr">
                        <a:defRPr sz="880" b="1">
                          <a:solidFill>
                            <a:srgbClr val="FFFFFF"/>
                          </a:solidFill>
                          <a:latin typeface="Arial"/>
                        </a:defRPr>
                      </a:pPr>
                      <a:r>
                        <a:t>Đề xuất trình Trưởng bộ phận</a:t>
                      </a:r>
                    </a:p>
                  </a:txBody>
                  <a:tcPr anchor="ctr" marL="45720" marR="45720" marT="18288" marB="18288">
                    <a:solidFill>
                      <a:srgbClr val="1B365D"/>
                    </a:solidFill>
                  </a:tcPr>
                </a:tc>
              </a:tr>
              <a:tr h="324612">
                <a:tc>
                  <a:txBody>
                    <a:bodyPr/>
                    <a:lstStyle/>
                    <a:p>
                      <a:pPr algn="l">
                        <a:defRPr sz="819" b="1">
                          <a:solidFill>
                            <a:srgbClr val="1E242B"/>
                          </a:solidFill>
                          <a:latin typeface="Arial"/>
                        </a:defRPr>
                      </a:pPr>
                      <a:r>
                        <a:t>1. Đề án No.22 (Đo thông mạch, tiếp đất, chịu áp tự động)</a:t>
                      </a:r>
                    </a:p>
                  </a:txBody>
                  <a:tcPr anchor="ctr" marL="45720" marR="45720" marT="18288" marB="18288">
                    <a:solidFill>
                      <a:srgbClr val="EAF7EE"/>
                    </a:solidFill>
                  </a:tcPr>
                </a:tc>
                <a:tc>
                  <a:txBody>
                    <a:bodyPr/>
                    <a:lstStyle/>
                    <a:p>
                      <a:pPr algn="ctr">
                        <a:defRPr sz="819">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19">
                          <a:solidFill>
                            <a:srgbClr val="1E242B"/>
                          </a:solidFill>
                          <a:latin typeface="Arial"/>
                        </a:defRPr>
                      </a:pPr>
                      <a:r>
                        <a:t>-30,00 s/máy (29,60 tr VNĐ/năm)</a:t>
                      </a:r>
                    </a:p>
                  </a:txBody>
                  <a:tcPr anchor="ctr" marL="45720" marR="45720" marT="18288" marB="18288">
                    <a:solidFill>
                      <a:srgbClr val="EAF7EE"/>
                    </a:solidFill>
                  </a:tcPr>
                </a:tc>
                <a:tc>
                  <a:txBody>
                    <a:bodyPr/>
                    <a:lstStyle/>
                    <a:p>
                      <a:pPr algn="r">
                        <a:defRPr sz="819">
                          <a:solidFill>
                            <a:srgbClr val="1E242B"/>
                          </a:solidFill>
                          <a:latin typeface="Arial"/>
                        </a:defRPr>
                      </a:pPr>
                      <a:r>
                        <a:t>101.690.000 VNĐ (3.911,15 USD) [纏め: 4.000$]</a:t>
                      </a:r>
                    </a:p>
                  </a:txBody>
                  <a:tcPr anchor="ctr" marL="45720" marR="45720" marT="18288" marB="18288">
                    <a:solidFill>
                      <a:srgbClr val="EAF7EE"/>
                    </a:solidFill>
                  </a:tcPr>
                </a:tc>
                <a:tc>
                  <a:txBody>
                    <a:bodyPr/>
                    <a:lstStyle/>
                    <a:p>
                      <a:pPr algn="l">
                        <a:defRPr sz="819">
                          <a:solidFill>
                            <a:srgbClr val="1E242B"/>
                          </a:solidFill>
                          <a:latin typeface="Arial"/>
                        </a:defRPr>
                      </a:pPr>
                      <a:r>
                        <a:t>Phê duyệt triển khai ngay Đợt 1 (Phương án A)</a:t>
                      </a:r>
                    </a:p>
                  </a:txBody>
                  <a:tcPr anchor="ctr" marL="45720" marR="45720" marT="18288" marB="18288">
                    <a:solidFill>
                      <a:srgbClr val="EAF7EE"/>
                    </a:solidFill>
                  </a:tcPr>
                </a:tc>
              </a:tr>
              <a:tr h="324612">
                <a:tc>
                  <a:txBody>
                    <a:bodyPr/>
                    <a:lstStyle/>
                    <a:p>
                      <a:pPr algn="l">
                        <a:defRPr sz="819" b="1">
                          <a:solidFill>
                            <a:srgbClr val="1E242B"/>
                          </a:solidFill>
                          <a:latin typeface="Arial"/>
                        </a:defRPr>
                      </a:pPr>
                      <a:r>
                        <a:t>2. Đề án No.23 (Robot ISU 25k$) &amp; No.24 (Robot USB/U201 4k$)</a:t>
                      </a:r>
                    </a:p>
                  </a:txBody>
                  <a:tcPr anchor="ctr" marL="45720" marR="45720" marT="18288" marB="18288">
                    <a:solidFill>
                      <a:srgbClr val="E8EEF5"/>
                    </a:solidFill>
                  </a:tcPr>
                </a:tc>
                <a:tc>
                  <a:txBody>
                    <a:bodyPr/>
                    <a:lstStyle/>
                    <a:p>
                      <a:pPr algn="ctr">
                        <a:defRPr sz="819">
                          <a:solidFill>
                            <a:srgbClr val="1E242B"/>
                          </a:solidFill>
                          <a:latin typeface="Arial"/>
                        </a:defRPr>
                      </a:pPr>
                      <a:r>
                        <a:t>2 đề án (trong VN提案.xlsx)</a:t>
                      </a:r>
                    </a:p>
                  </a:txBody>
                  <a:tcPr anchor="ctr" marL="45720" marR="45720" marT="18288" marB="18288">
                    <a:solidFill>
                      <a:srgbClr val="E8EEF5"/>
                    </a:solidFill>
                  </a:tcPr>
                </a:tc>
                <a:tc>
                  <a:txBody>
                    <a:bodyPr/>
                    <a:lstStyle/>
                    <a:p>
                      <a:pPr algn="ctr">
                        <a:defRPr sz="819">
                          <a:solidFill>
                            <a:srgbClr val="1E242B"/>
                          </a:solidFill>
                          <a:latin typeface="Arial"/>
                        </a:defRPr>
                      </a:pPr>
                      <a:r>
                        <a:t>-140,00 s/máy (138,13 tr VNĐ/năm)</a:t>
                      </a:r>
                    </a:p>
                  </a:txBody>
                  <a:tcPr anchor="ctr" marL="45720" marR="45720" marT="18288" marB="18288">
                    <a:solidFill>
                      <a:srgbClr val="E8EEF5"/>
                    </a:solidFill>
                  </a:tcPr>
                </a:tc>
                <a:tc>
                  <a:txBody>
                    <a:bodyPr/>
                    <a:lstStyle/>
                    <a:p>
                      <a:pPr algn="r">
                        <a:defRPr sz="819">
                          <a:solidFill>
                            <a:srgbClr val="1E242B"/>
                          </a:solidFill>
                          <a:latin typeface="Arial"/>
                        </a:defRPr>
                      </a:pPr>
                      <a:r>
                        <a:t>754.000.000 VNĐ (29.000 USD: 650tr + 104tr)</a:t>
                      </a:r>
                    </a:p>
                  </a:txBody>
                  <a:tcPr anchor="ctr" marL="45720" marR="45720" marT="18288" marB="18288">
                    <a:solidFill>
                      <a:srgbClr val="E8EEF5"/>
                    </a:solidFill>
                  </a:tcPr>
                </a:tc>
                <a:tc>
                  <a:txBody>
                    <a:bodyPr/>
                    <a:lstStyle/>
                    <a:p>
                      <a:pPr algn="l">
                        <a:defRPr sz="819">
                          <a:solidFill>
                            <a:srgbClr val="1E242B"/>
                          </a:solidFill>
                          <a:latin typeface="Arial"/>
                        </a:defRPr>
                      </a:pPr>
                      <a:r>
                        <a:t>Tổng 3 ĐA (No.22+23+24): 855,69 tr (32.911,15$ / 33k$)</a:t>
                      </a:r>
                    </a:p>
                  </a:txBody>
                  <a:tcPr anchor="ctr" marL="45720" marR="45720" marT="18288" marB="18288">
                    <a:solidFill>
                      <a:srgbClr val="E8EEF5"/>
                    </a:solidFill>
                  </a:tcPr>
                </a:tc>
              </a:tr>
              <a:tr h="324612">
                <a:tc>
                  <a:txBody>
                    <a:bodyPr/>
                    <a:lstStyle/>
                    <a:p>
                      <a:pPr algn="l">
                        <a:defRPr sz="819" b="1">
                          <a:solidFill>
                            <a:srgbClr val="1E242B"/>
                          </a:solidFill>
                          <a:latin typeface="Arial"/>
                        </a:defRPr>
                      </a:pPr>
                      <a:r>
                        <a:t>3. Hạng mục Đang báo giá (見積中 / DP) &amp; Cải tiến TK/FW</a:t>
                      </a:r>
                    </a:p>
                  </a:txBody>
                  <a:tcPr anchor="ctr" marL="45720" marR="45720" marT="18288" marB="18288">
                    <a:solidFill>
                      <a:srgbClr val="FEF7E6"/>
                    </a:solidFill>
                  </a:tcPr>
                </a:tc>
                <a:tc>
                  <a:txBody>
                    <a:bodyPr/>
                    <a:lstStyle/>
                    <a:p>
                      <a:pPr algn="ctr">
                        <a:defRPr sz="819">
                          <a:solidFill>
                            <a:srgbClr val="1E242B"/>
                          </a:solidFill>
                          <a:latin typeface="Arial"/>
                        </a:defRPr>
                      </a:pPr>
                      <a:r>
                        <a:t>10 TB báo giá + 6 TK + 1 R&amp;D</a:t>
                      </a:r>
                    </a:p>
                  </a:txBody>
                  <a:tcPr anchor="ctr" marL="45720" marR="45720" marT="18288" marB="18288">
                    <a:solidFill>
                      <a:srgbClr val="FEF7E6"/>
                    </a:solidFill>
                  </a:tcPr>
                </a:tc>
                <a:tc>
                  <a:txBody>
                    <a:bodyPr/>
                    <a:lstStyle/>
                    <a:p>
                      <a:pPr algn="ctr">
                        <a:defRPr sz="819">
                          <a:solidFill>
                            <a:srgbClr val="1E242B"/>
                          </a:solidFill>
                          <a:latin typeface="Arial"/>
                        </a:defRPr>
                      </a:pPr>
                      <a:r>
                        <a:t>-569,32 s ~ -581,32 s/máy</a:t>
                      </a:r>
                    </a:p>
                  </a:txBody>
                  <a:tcPr anchor="ctr" marL="45720" marR="45720" marT="18288" marB="18288">
                    <a:solidFill>
                      <a:srgbClr val="FEF7E6"/>
                    </a:solidFill>
                  </a:tcPr>
                </a:tc>
                <a:tc>
                  <a:txBody>
                    <a:bodyPr/>
                    <a:lstStyle/>
                    <a:p>
                      <a:pPr algn="r">
                        <a:defRPr sz="819">
                          <a:solidFill>
                            <a:srgbClr val="1E242B"/>
                          </a:solidFill>
                          <a:latin typeface="Arial"/>
                        </a:defRPr>
                      </a:pPr>
                      <a:r>
                        <a:t>Đang báo giá (見積中) | No.26 AI: 600 vạn JPY</a:t>
                      </a:r>
                    </a:p>
                  </a:txBody>
                  <a:tcPr anchor="ctr" marL="45720" marR="45720" marT="18288" marB="18288">
                    <a:solidFill>
                      <a:srgbClr val="FEF7E6"/>
                    </a:solidFill>
                  </a:tcPr>
                </a:tc>
                <a:tc>
                  <a:txBody>
                    <a:bodyPr/>
                    <a:lstStyle/>
                    <a:p>
                      <a:pPr algn="l">
                        <a:defRPr sz="819">
                          <a:solidFill>
                            <a:srgbClr val="1E242B"/>
                          </a:solidFill>
                          <a:latin typeface="Arial"/>
                        </a:defRPr>
                      </a:pPr>
                      <a:r>
                        <a:t>Hoàn tất báo giá Đợt 2 (Tách riêng, chưa cộng gộp)</a:t>
                      </a:r>
                    </a:p>
                  </a:txBody>
                  <a:tcPr anchor="ctr" marL="45720" marR="45720" marT="18288" marB="18288">
                    <a:solidFill>
                      <a:srgbClr val="FEF7E6"/>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mẫu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Sản lượng Iris EXP tại VN là 16.000 máy/tháng (Takt time giảm từ 114s xuống 97s). Nếu giữ quy trình Iris2024 (2.350s/máy), nhân lực phải tăng từ 14-15 lên 18 người, nên cần thiết kế lại công đoạn theo mẫu Athena và Spica.</a:t>
            </a:r>
          </a:p>
        </p:txBody>
      </p:sp>
      <p:graphicFrame>
        <p:nvGraphicFramePr>
          <p:cNvPr id="7" name="Table 6"/>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8" name="Picture 7"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9" name="Rectangle 8"/>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CÔNG ĐOẠN THEO MẪU ATHENA &amp; SPICA (Nguồn: Athena保証工程取り組み説明2025 VN.pptx, 【Spica】保証工程構成.pptx, 第8回打ち合わせ資料.pptx)</a:t>
            </a:r>
          </a:p>
        </p:txBody>
      </p:sp>
      <p:sp>
        <p:nvSpPr>
          <p:cNvPr id="11" name="TextBox 10"/>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công nhân tự nhìn màn hình PC để phán định.</a:t>
            </a:r>
          </a:p>
          <a:p>
            <a:pPr>
              <a:spcAft>
                <a:spcPts val="300"/>
              </a:spcAft>
              <a:defRPr sz="880">
                <a:solidFill>
                  <a:srgbClr val="1E242B"/>
                </a:solidFill>
                <a:latin typeface="Arial"/>
              </a:defRPr>
            </a:pPr>
            <a:r>
              <a:t>   • Mẫu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thay đổi qua các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Theo biên bản Kỳ 8, DR4, Kỳ 11-12 và tài liệu 24/09/2026: Mục tiêu "Tăng gấp đôi năng suất / giảm 50% nhân lực" từng tạm rút tại Kỳ 11, hiện được ghi nhận ở mức "Quyết định tạm thời (仮決定)".</a:t>
            </a:r>
          </a:p>
        </p:txBody>
      </p:sp>
      <p:graphicFrame>
        <p:nvGraphicFramePr>
          <p:cNvPr id="7" name="Table 6"/>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mẫu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mẫu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8" name="Rectangle 7"/>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0" name="TextBox 9"/>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1" name="Rectangle 10"/>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3" name="TextBox 12"/>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Nhà máy Việt Nam đề xuất 20 đề án (11 đề án tháng 8 + 9 đề án bổ sung tháng 9) cùng phương án nạp FW tại Partner; tổng dự toán 3 đề án có giá trong Iris EXPのVN提案.xlsx là 855,69 triệu VNĐ (32.911,15 USD / làm tròn 33.000 USD).</a:t>
            </a:r>
          </a:p>
        </p:txBody>
      </p:sp>
      <p:pic>
        <p:nvPicPr>
          <p:cNvPr id="7" name="Picture 6"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8" name="Table 7"/>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371600"/>
                <a:gridCol w="1097280"/>
                <a:gridCol w="1143000"/>
                <a:gridCol w="126461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[纏め: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A-4 đầu</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xem xét</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[Riêng No.22: 101,69 tr]</a:t>
                      </a:r>
                    </a:p>
                  </a:txBody>
                  <a:tcPr anchor="ctr" marL="45720" marR="45720" marT="18288" marB="18288">
                    <a:solidFill>
                      <a:srgbClr val="E8EEF5"/>
                    </a:solidFill>
                  </a:tcPr>
                </a:tc>
              </a:tr>
            </a:tbl>
          </a:graphicData>
        </a:graphic>
      </p:graphicFrame>
      <p:sp>
        <p:nvSpPr>
          <p:cNvPr id="9" name="Rectangle 8"/>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&amp; BẢNG GIÁ TRONG FILE IRIS EXPのVN提案.xlsx</a:t>
            </a:r>
          </a:p>
        </p:txBody>
      </p:sp>
      <p:sp>
        <p:nvSpPr>
          <p:cNvPr id="11" name="TextBox 10"/>
          <p:cNvSpPr txBox="1"/>
          <p:nvPr/>
        </p:nvSpPr>
        <p:spPr>
          <a:xfrm>
            <a:off x="347472" y="4187952"/>
            <a:ext cx="11496751" cy="2249424"/>
          </a:xfrm>
          <a:prstGeom prst="rect">
            <a:avLst/>
          </a:prstGeom>
          <a:noFill/>
        </p:spPr>
        <p:txBody>
          <a:bodyPr wrap="square" lIns="36576" rIns="36576" tIns="18288" bIns="18288">
            <a:spAutoFit/>
          </a:bodyPr>
          <a:lstStyle/>
          <a:p>
            <a:pPr>
              <a:spcAft>
                <a:spcPts val="200"/>
              </a:spcAft>
              <a:defRPr sz="810" b="1">
                <a:solidFill>
                  <a:srgbClr val="1E242B"/>
                </a:solidFill>
                <a:latin typeface="Arial"/>
              </a:defRPr>
            </a:pPr>
            <a:r>
              <a:t>■ 1. Bảng dự toán kinh phí 4 hạng mục trong file Iris EXPのVN提案.xlsx (Tỷ giá quy đổi trong file: 26.000 VNĐ/USD):</a:t>
            </a:r>
          </a:p>
          <a:p>
            <a:pPr>
              <a:spcAft>
                <a:spcPts val="200"/>
              </a:spcAft>
              <a:defRPr sz="810">
                <a:solidFill>
                  <a:srgbClr val="1E242B"/>
                </a:solidFill>
                <a:latin typeface="Arial"/>
              </a:defRPr>
            </a:pPr>
            <a:r>
              <a:t>   • Mục 1 (No.22 - Kiểm tra thông mạch tiếp đất &amp; chịu áp cách điện, 30s): JIG kết nối + kiểm tra tự động, giảm 30s/máy (tiết kiệm 29,6 triệu VNĐ/năm = 1.138,46 USD/năm). Kinh phí: 101.690.000 VNĐ (3.911,15 USD theo BOM 25 mục tại Sheet 導通・耐圧検査設備リスト; Sheet 自動導通・耐圧検査 ghi 101.700.000 VNĐ / 3.911,54 USD; Sheet 纏め ghi 4.000 USD).</a:t>
            </a:r>
          </a:p>
          <a:p>
            <a:pPr>
              <a:spcAft>
                <a:spcPts val="200"/>
              </a:spcAft>
              <a:defRPr sz="810">
                <a:solidFill>
                  <a:srgbClr val="1E242B"/>
                </a:solidFill>
                <a:latin typeface="Arial"/>
              </a:defRPr>
            </a:pPr>
            <a:r>
              <a:t>   • Mục 2 (No.23 - Điều chỉnh tự động ISU U411 [45s] + Scan SITC-2 [35s] + Scan Halftone [30s] = 110s): Chế tạo Robot đặt bản thảo lên ISU liên kết Program 7910, giảm 110s/máy (tiết kiệm 108,53 triệu VNĐ/năm = 4.174,36 USD/năm). Kinh phí tại Sheet 自動Scan tự động: 650.000.000 VNĐ (25.000 USD: 2 Cell băng tải 200tr + Cấp nguồn 50tr + Định vị cáp USB/LAN 50tr + Cánh tay Robot 350tr).</a:t>
            </a:r>
          </a:p>
          <a:p>
            <a:pPr>
              <a:spcAft>
                <a:spcPts val="200"/>
              </a:spcAft>
              <a:defRPr sz="810">
                <a:solidFill>
                  <a:srgbClr val="1E242B"/>
                </a:solidFill>
                <a:latin typeface="Arial"/>
              </a:defRPr>
            </a:pPr>
            <a:r>
              <a:t>   • Mục 3 (No.24 - Kiểm tra nhận biết USB [15s] + Kiểm tra tọa độ U201 trên Panel [15s] = 30s): Robot kết nối USB, Camera AI cảm biến tọa độ &amp; Robot chấm tọa độ, giảm 30s/máy (tiết kiệm 29,6 triệu VNĐ/năm = 1.138,46 USD/năm). Kinh phí tại Sheet 纏め: 4.000 USD (104.000.000 VNĐ).</a:t>
            </a:r>
          </a:p>
          <a:p>
            <a:pPr>
              <a:spcAft>
                <a:spcPts val="200"/>
              </a:spcAft>
              <a:defRPr sz="810">
                <a:solidFill>
                  <a:srgbClr val="1E242B"/>
                </a:solidFill>
                <a:latin typeface="Arial"/>
              </a:defRPr>
            </a:pPr>
            <a:r>
              <a:t>   • Mục 4 (No.25 - Bổ sung DP vào máy thực nghiệm để chuyển hình ảnh liên tục): Đang xem xét / đang báo giá (検討中). Tổng 3 mục đã có giá (No.22 + 23 + 24) = 855.690.000 VNĐ (32.911,15 USD; làm tròn trên Sheet 纏め là 33.000 USD / 858.000.000 VNĐ).</a:t>
            </a:r>
          </a:p>
          <a:p>
            <a:pPr>
              <a:spcAft>
                <a:spcPts val="200"/>
              </a:spcAft>
              <a:defRPr sz="810" b="1">
                <a:solidFill>
                  <a:srgbClr val="1E242B"/>
                </a:solidFill>
                <a:latin typeface="Arial"/>
              </a:defRPr>
            </a:pPr>
            <a:r>
              <a:t>■ 2. Nhóm đề án còn lại của VN (No.18~21, No.26~37): 10 đề án thiết bị đang báo giá (見積中), 6 đề án cải tiến mạch/FW (0đ TB), và No.26 AI âm thanh lạ (600 vạn JPY ~ 40.000 USD, R&amp;D 2026-2030).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đề án VN tại A-1 ~ A-3 và phương án nạp FW tại Partner giúp giảm ~173s-185s/máy, giảm 1 công nhân tại A-1; trong đó Đề án No.22 có báo giá BOM 25 mục là 101.690.000 VNĐ (3.911,15 USD / 4.000 USD).</a:t>
            </a:r>
          </a:p>
        </p:txBody>
      </p:sp>
      <p:graphicFrame>
        <p:nvGraphicFramePr>
          <p:cNvPr id="7" name="Table 6"/>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5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5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5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5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5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5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5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5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5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5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5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5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5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5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5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5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5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5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5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5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5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5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5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5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5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5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50">
                          <a:solidFill>
                            <a:srgbClr val="1E242B"/>
                          </a:solidFill>
                          <a:latin typeface="Arial"/>
                        </a:defRPr>
                      </a:pPr>
                      <a:r>
                        <a:t>Tự động hóa kiểm tra thông mạch, tiếp đất và chịu áp cách điện</a:t>
                      </a:r>
                      <a:br/>
                      <a:r>
                        <a:t>(導通・接地および絶縁耐圧の自動検査)</a:t>
                      </a:r>
                    </a:p>
                  </a:txBody>
                  <a:tcPr anchor="ctr" marL="45720" marR="45720" marT="18288" marB="18288">
                    <a:solidFill>
                      <a:srgbClr val="EAF7EE"/>
                    </a:solidFill>
                  </a:tcPr>
                </a:tc>
                <a:tc>
                  <a:txBody>
                    <a:bodyPr/>
                    <a:lstStyle/>
                    <a:p>
                      <a:pPr algn="l">
                        <a:defRPr sz="750">
                          <a:solidFill>
                            <a:srgbClr val="1E242B"/>
                          </a:solidFill>
                          <a:latin typeface="Arial"/>
                        </a:defRPr>
                      </a:pPr>
                      <a:r>
                        <a:t>Công nhân cắm nguồn, kẹp que đo tiếp đất, bấm máy đo cao áp và xác nhận thủ công (20s thông mạch/tiếp đất + 10s cách điện chịu áp = 30s/máy).</a:t>
                      </a:r>
                    </a:p>
                  </a:txBody>
                  <a:tcPr anchor="ctr" marL="45720" marR="45720" marT="18288" marB="18288">
                    <a:solidFill>
                      <a:srgbClr val="EAF7EE"/>
                    </a:solidFill>
                  </a:tcPr>
                </a:tc>
                <a:tc>
                  <a:txBody>
                    <a:bodyPr/>
                    <a:lstStyle/>
                    <a:p>
                      <a:pPr algn="l">
                        <a:defRPr sz="750">
                          <a:solidFill>
                            <a:srgbClr val="1E242B"/>
                          </a:solidFill>
                          <a:latin typeface="Arial"/>
                        </a:defRPr>
                      </a:pPr>
                      <a:r>
                        <a:t>Chế tạo JIG kết nối + kiểm tra tự động (BOM 25 mục): PLC Mitsubishi FX5U-64MT/ES, Module FX5-16EYR/ES, HMI Wecon PI3070ig, 6 Xylanh SMC (MGCLB16/CXSL15), 5 Van SY5120, 2 Cảm biến quang E3Z-LS61, Khung nhôm Misumi LCF8-4040.</a:t>
                      </a:r>
                      <a:br/>
                      <a:r>
                        <a:t>※ Quyết định DR4: Đo khi ĐÃ ĐÓNG VỎ MÁY.</a:t>
                      </a:r>
                    </a:p>
                  </a:txBody>
                  <a:tcPr anchor="ctr" marL="45720" marR="45720" marT="18288" marB="18288">
                    <a:solidFill>
                      <a:srgbClr val="EAF7EE"/>
                    </a:solidFill>
                  </a:tcPr>
                </a:tc>
                <a:tc>
                  <a:txBody>
                    <a:bodyPr/>
                    <a:lstStyle/>
                    <a:p>
                      <a:pPr algn="l">
                        <a:defRPr sz="750">
                          <a:solidFill>
                            <a:srgbClr val="1E242B"/>
                          </a:solidFill>
                          <a:latin typeface="Arial"/>
                        </a:defRPr>
                      </a:pPr>
                      <a:r>
                        <a:t>• Giảm 30,00 s/máy (20s thông mạch + 10s chịu áp)</a:t>
                      </a:r>
                      <a:br/>
                      <a:r>
                        <a:t>• Tiết kiệm: 29.600.000 VNĐ/năm (1.138,46 USD/năm)</a:t>
                      </a:r>
                    </a:p>
                  </a:txBody>
                  <a:tcPr anchor="ctr" marL="45720" marR="45720" marT="18288" marB="18288">
                    <a:solidFill>
                      <a:srgbClr val="EAF7EE"/>
                    </a:solidFill>
                  </a:tcPr>
                </a:tc>
                <a:tc>
                  <a:txBody>
                    <a:bodyPr/>
                    <a:lstStyle/>
                    <a:p>
                      <a:pPr algn="ctr">
                        <a:defRPr sz="750" b="1">
                          <a:solidFill>
                            <a:srgbClr val="1E6E3E"/>
                          </a:solidFill>
                          <a:latin typeface="Arial"/>
                        </a:defRPr>
                      </a:pPr>
                      <a:r>
                        <a:t>ĐÃ CÓ BÁO GIÁ:</a:t>
                      </a:r>
                      <a:br/>
                      <a:r>
                        <a:t>101.690.000 VNĐ</a:t>
                      </a:r>
                      <a:br/>
                      <a:r>
                        <a:t>(3.911,15 USD theo BOM 25 mục)</a:t>
                      </a:r>
                      <a:br/>
                      <a:r>
                        <a:t>[Thuyết minh: 101,7tr / 3.911,54$;</a:t>
                      </a:r>
                      <a:br/>
                      <a:r>
                        <a:t>纏め: 4.000 USD]</a:t>
                      </a:r>
                    </a:p>
                  </a:txBody>
                  <a:tcPr anchor="ctr" marL="45720" marR="45720" marT="18288" marB="18288">
                    <a:solidFill>
                      <a:srgbClr val="EAF7EE"/>
                    </a:solidFill>
                  </a:tcPr>
                </a:tc>
                <a:tc>
                  <a:txBody>
                    <a:bodyPr/>
                    <a:lstStyle/>
                    <a:p>
                      <a:pPr algn="l">
                        <a:defRPr sz="750">
                          <a:solidFill>
                            <a:srgbClr val="1E242B"/>
                          </a:solidFill>
                          <a:latin typeface="Arial"/>
                        </a:defRPr>
                      </a:pPr>
                      <a:r>
                        <a:t>Đề nghị phê duyệt đầu tư</a:t>
                      </a:r>
                      <a:br/>
                      <a:r>
                        <a:t>(Iris EXPのVN提案.xlsx;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A-4 (No.23 ~ No.28) &amp; Dự toán chi tiết trong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Dự toán trong Iris EXPのVN提案.xlsx gồm No.23 Robot Scan ISU (650 triệu VNĐ / 25.000 USD, -110s) và No.24 Robot USB/U201 (104 triệu VNĐ / 4.000 USD, -30s), song song với phương án đối ứng bổ sung DP (No.25) và Camera (No.27).</a:t>
            </a:r>
          </a:p>
        </p:txBody>
      </p:sp>
      <p:graphicFrame>
        <p:nvGraphicFramePr>
          <p:cNvPr id="7" name="Table 6"/>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Phương án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thiết bị</a:t>
                      </a:r>
                      <a:br/>
                      <a:r>
                        <a:t>(Iris EXPのVN提案.xlsx)</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 Nguồn đối chiếu</a:t>
                      </a:r>
                    </a:p>
                  </a:txBody>
                  <a:tcPr anchor="ctr" marL="45720" marR="45720" marT="18288" marB="18288">
                    <a:solidFill>
                      <a:srgbClr val="1B365D"/>
                    </a:solidFill>
                  </a:tcPr>
                </a:tc>
              </a:tr>
              <a:tr h="568234">
                <a:tc>
                  <a:txBody>
                    <a:bodyPr/>
                    <a:lstStyle/>
                    <a:p>
                      <a:pPr algn="ctr">
                        <a:defRPr sz="730" b="1">
                          <a:solidFill>
                            <a:srgbClr val="1E242B"/>
                          </a:solidFill>
                          <a:latin typeface="Arial"/>
                        </a:defRPr>
                      </a:pPr>
                      <a:r>
                        <a:t>No.23</a:t>
                      </a:r>
                      <a:br/>
                      <a:r>
                        <a:t>(K4 -&gt; A-4)</a:t>
                      </a:r>
                      <a:br/>
                      <a:r>
                        <a:t>[VN提案 #2]</a:t>
                      </a:r>
                    </a:p>
                  </a:txBody>
                  <a:tcPr anchor="ctr" marL="45720" marR="45720" marT="18288" marB="18288">
                    <a:solidFill>
                      <a:srgbClr val="EAF7EE"/>
                    </a:solidFill>
                  </a:tcPr>
                </a:tc>
                <a:tc>
                  <a:txBody>
                    <a:bodyPr/>
                    <a:lstStyle/>
                    <a:p>
                      <a:pPr algn="l">
                        <a:defRPr sz="730">
                          <a:solidFill>
                            <a:srgbClr val="1E242B"/>
                          </a:solidFill>
                          <a:latin typeface="Arial"/>
                        </a:defRPr>
                      </a:pPr>
                      <a:r>
                        <a:t>Chế tạo Robot đặt bản thảo lên ISU, liên kết Program tự động chỉnh</a:t>
                      </a:r>
                      <a:br/>
                      <a:r>
                        <a:t>(ISU原稿セットロボット＋プログラム連携)</a:t>
                      </a:r>
                    </a:p>
                  </a:txBody>
                  <a:tcPr anchor="ctr" marL="45720" marR="45720" marT="18288" marB="18288">
                    <a:solidFill>
                      <a:srgbClr val="EAF7EE"/>
                    </a:solidFill>
                  </a:tcPr>
                </a:tc>
                <a:tc>
                  <a:txBody>
                    <a:bodyPr/>
                    <a:lstStyle/>
                    <a:p>
                      <a:pPr algn="l">
                        <a:defRPr sz="730">
                          <a:solidFill>
                            <a:srgbClr val="1E242B"/>
                          </a:solidFill>
                          <a:latin typeface="Arial"/>
                        </a:defRPr>
                      </a:pPr>
                      <a:r>
                        <a:t>Công nhân mở nắp Platen, đặt/lấy 3 bản thảo lên mặt kính ISU: U411 Scan chart color (45s) + Scan SITC-2 (35s) + Scan Halftone máy màu (30s) = 110s/máy.</a:t>
                      </a:r>
                    </a:p>
                  </a:txBody>
                  <a:tcPr anchor="ctr" marL="45720" marR="45720" marT="18288" marB="18288">
                    <a:solidFill>
                      <a:srgbClr val="EAF7EE"/>
                    </a:solidFill>
                  </a:tcPr>
                </a:tc>
                <a:tc>
                  <a:txBody>
                    <a:bodyPr/>
                    <a:lstStyle/>
                    <a:p>
                      <a:pPr algn="l">
                        <a:defRPr sz="730">
                          <a:solidFill>
                            <a:srgbClr val="1E242B"/>
                          </a:solidFill>
                          <a:latin typeface="Arial"/>
                        </a:defRPr>
                      </a:pPr>
                      <a:r>
                        <a:t>Dự toán tại Sheet 自動Scan tự động (4 mục): (1) Bổ sung 2 Cell vào băng tải: 200tr ($7.692,31) + (2) Bộ cấp nguồn máy in: 50tr ($1.923,08) + (3) Bộ định vị dây USB/LAN: 50tr ($1.923,08) + (4) Cánh tay Robot: 350tr ($13.461,54). Cần cải tiến Program 7910 (sau DR4 đề xuất thêm phương án DP No.25).</a:t>
                      </a:r>
                    </a:p>
                  </a:txBody>
                  <a:tcPr anchor="ctr" marL="45720" marR="45720" marT="18288" marB="18288">
                    <a:solidFill>
                      <a:srgbClr val="EAF7EE"/>
                    </a:solidFill>
                  </a:tcPr>
                </a:tc>
                <a:tc>
                  <a:txBody>
                    <a:bodyPr/>
                    <a:lstStyle/>
                    <a:p>
                      <a:pPr algn="l">
                        <a:defRPr sz="730">
                          <a:solidFill>
                            <a:srgbClr val="1E242B"/>
                          </a:solidFill>
                          <a:latin typeface="Arial"/>
                        </a:defRPr>
                      </a:pPr>
                      <a:r>
                        <a:t>• Giảm 110,00 s/máy (U411: 45s, SITC-2: 35s, Halftone: 30s)</a:t>
                      </a:r>
                      <a:br/>
                      <a:r>
                        <a:t>• Tiết kiệm: 108.533.333 VNĐ/năm (4.174,36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650.000.000 VNĐ</a:t>
                      </a:r>
                      <a:br/>
                      <a:r>
                        <a:t>(25.000,00 USD)</a:t>
                      </a:r>
                      <a:br/>
                      <a:r>
                        <a:t>[Sheet 自動Scan tự động]</a:t>
                      </a:r>
                    </a:p>
                  </a:txBody>
                  <a:tcPr anchor="ctr" marL="45720" marR="45720" marT="18288" marB="18288">
                    <a:solidFill>
                      <a:srgbClr val="EAF7EE"/>
                    </a:solidFill>
                  </a:tcPr>
                </a:tc>
                <a:tc>
                  <a:txBody>
                    <a:bodyPr/>
                    <a:lstStyle/>
                    <a:p>
                      <a:pPr algn="l">
                        <a:defRPr sz="730">
                          <a:solidFill>
                            <a:srgbClr val="1E242B"/>
                          </a:solidFill>
                          <a:latin typeface="Arial"/>
                        </a:defRPr>
                      </a:pPr>
                      <a:r>
                        <a:t>KTSX đã xác nhận giá TB; đối chiếu phương án DP No.25</a:t>
                      </a:r>
                      <a:br/>
                      <a:r>
                        <a:t>(VN提案.xlsx S1-S2;</a:t>
                      </a:r>
                      <a:br/>
                      <a:r>
                        <a:t>まとめ Row 37)</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No.24</a:t>
                      </a:r>
                      <a:br/>
                      <a:r>
                        <a:t>(K4 -&gt; A-2)</a:t>
                      </a:r>
                      <a:br/>
                      <a:r>
                        <a:t>[VN提案 #3]</a:t>
                      </a:r>
                    </a:p>
                  </a:txBody>
                  <a:tcPr anchor="ctr" marL="45720" marR="45720" marT="18288" marB="18288">
                    <a:solidFill>
                      <a:srgbClr val="EAF7EE"/>
                    </a:solidFill>
                  </a:tcPr>
                </a:tc>
                <a:tc>
                  <a:txBody>
                    <a:bodyPr/>
                    <a:lstStyle/>
                    <a:p>
                      <a:pPr algn="l">
                        <a:defRPr sz="730">
                          <a:solidFill>
                            <a:srgbClr val="1E242B"/>
                          </a:solidFill>
                          <a:latin typeface="Arial"/>
                        </a:defRPr>
                      </a:pPr>
                      <a:r>
                        <a:t>Robot kết nối USB, Camera đánh giá Panel &amp; Camera AI + Robot chấm tọa độ U201</a:t>
                      </a:r>
                      <a:br/>
                      <a:r>
                        <a:t>(USB接続・U201座標タッチロボット)</a:t>
                      </a:r>
                    </a:p>
                  </a:txBody>
                  <a:tcPr anchor="ctr" marL="45720" marR="45720" marT="18288" marB="18288">
                    <a:solidFill>
                      <a:srgbClr val="EAF7EE"/>
                    </a:solidFill>
                  </a:tcPr>
                </a:tc>
                <a:tc>
                  <a:txBody>
                    <a:bodyPr/>
                    <a:lstStyle/>
                    <a:p>
                      <a:pPr algn="l">
                        <a:defRPr sz="730">
                          <a:solidFill>
                            <a:srgbClr val="1E242B"/>
                          </a:solidFill>
                          <a:latin typeface="Arial"/>
                        </a:defRPr>
                      </a:pPr>
                      <a:r>
                        <a:t>Công nhân cắm/rút USB kiểm tra nhận biết (15s) và dùng bút chấm tọa độ U201 trên Panel (15s) = 30s/máy.</a:t>
                      </a:r>
                    </a:p>
                  </a:txBody>
                  <a:tcPr anchor="ctr" marL="45720" marR="45720" marT="18288" marB="18288">
                    <a:solidFill>
                      <a:srgbClr val="EAF7EE"/>
                    </a:solidFill>
                  </a:tcPr>
                </a:tc>
                <a:tc>
                  <a:txBody>
                    <a:bodyPr/>
                    <a:lstStyle/>
                    <a:p>
                      <a:pPr algn="l">
                        <a:defRPr sz="730">
                          <a:solidFill>
                            <a:srgbClr val="1E242B"/>
                          </a:solidFill>
                          <a:latin typeface="Arial"/>
                        </a:defRPr>
                      </a:pPr>
                      <a:r>
                        <a:t>Theo Sheet 纏め Row 6-7: Trang bị Robot kết nối USB + Camera đánh giá hiển thị Panel (15s) và Camera AI cảm biến tọa độ + Robot chấm tọa độ trên Panel (15s). (Phương án thay thế không dùng Robot tại 連携会: bảo chứng USB khi nạp FW [JP No.6] &amp; đọc log U201 qua Host PC [JP No.3]).</a:t>
                      </a:r>
                    </a:p>
                  </a:txBody>
                  <a:tcPr anchor="ctr" marL="45720" marR="45720" marT="18288" marB="18288">
                    <a:solidFill>
                      <a:srgbClr val="EAF7EE"/>
                    </a:solidFill>
                  </a:tcPr>
                </a:tc>
                <a:tc>
                  <a:txBody>
                    <a:bodyPr/>
                    <a:lstStyle/>
                    <a:p>
                      <a:pPr algn="l">
                        <a:defRPr sz="730">
                          <a:solidFill>
                            <a:srgbClr val="1E242B"/>
                          </a:solidFill>
                          <a:latin typeface="Arial"/>
                        </a:defRPr>
                      </a:pPr>
                      <a:r>
                        <a:t>• Giảm 30,00 s/máy (No.1と同等の効果)</a:t>
                      </a:r>
                      <a:br/>
                      <a:r>
                        <a:t>• Tiết kiệm: 29.600.000 VNĐ/năm (1.138,46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104.000.000 VNĐ</a:t>
                      </a:r>
                      <a:br/>
                      <a:r>
                        <a:t>(4.000,00 USD)</a:t>
                      </a:r>
                      <a:br/>
                      <a:r>
                        <a:t>[Sheet 纏め Row 6]</a:t>
                      </a:r>
                    </a:p>
                  </a:txBody>
                  <a:tcPr anchor="ctr" marL="45720" marR="45720" marT="18288" marB="18288">
                    <a:solidFill>
                      <a:srgbClr val="EAF7EE"/>
                    </a:solidFill>
                  </a:tcPr>
                </a:tc>
                <a:tc>
                  <a:txBody>
                    <a:bodyPr/>
                    <a:lstStyle/>
                    <a:p>
                      <a:pPr algn="l">
                        <a:defRPr sz="730">
                          <a:solidFill>
                            <a:srgbClr val="1E242B"/>
                          </a:solidFill>
                          <a:latin typeface="Arial"/>
                        </a:defRPr>
                      </a:pPr>
                      <a:r>
                        <a:t>Đã có giá trong VN提案; đối chiếu JP No.3 &amp; No.6</a:t>
                      </a:r>
                      <a:br/>
                      <a:r>
                        <a:t>(VN提案.xlsx S1;</a:t>
                      </a:r>
                      <a:br/>
                      <a:r>
                        <a:t>まとめ Row 38)</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No.25</a:t>
                      </a:r>
                      <a:br/>
                      <a:r>
                        <a:t>(K4/K5 -&gt; A-4)</a:t>
                      </a:r>
                      <a:br/>
                      <a:r>
                        <a:t>[VN提案 #4]</a:t>
                      </a:r>
                    </a:p>
                  </a:txBody>
                  <a:tcPr anchor="ctr" marL="45720" marR="45720" marT="18288" marB="18288">
                    <a:solidFill>
                      <a:srgbClr val="E8EEF5"/>
                    </a:solidFill>
                  </a:tcPr>
                </a:tc>
                <a:tc>
                  <a:txBody>
                    <a:bodyPr/>
                    <a:lstStyle/>
                    <a:p>
                      <a:pPr algn="l">
                        <a:defRPr sz="730">
                          <a:solidFill>
                            <a:srgbClr val="1E242B"/>
                          </a:solidFill>
                          <a:latin typeface="Arial"/>
                        </a:defRPr>
                      </a:pPr>
                      <a:r>
                        <a:t>Bổ sung DP vào máy thực nghiệm để quét liên tục &amp; PC tự động đánh giá</a:t>
                      </a:r>
                      <a:br/>
                      <a:r>
                        <a:t>(実機にDPを追加し連続スキャン＋PC自動判定)</a:t>
                      </a:r>
                    </a:p>
                  </a:txBody>
                  <a:tcPr anchor="ctr" marL="45720" marR="45720" marT="18288" marB="18288">
                    <a:solidFill>
                      <a:srgbClr val="E8EEF5"/>
                    </a:solidFill>
                  </a:tcPr>
                </a:tc>
                <a:tc>
                  <a:txBody>
                    <a:bodyPr/>
                    <a:lstStyle/>
                    <a:p>
                      <a:pPr algn="l">
                        <a:defRPr sz="730">
                          <a:solidFill>
                            <a:srgbClr val="1E242B"/>
                          </a:solidFill>
                          <a:latin typeface="Arial"/>
                        </a:defRPr>
                      </a:pPr>
                      <a:r>
                        <a:t>Đặt từng tờ bản thảo lên mặt kính ISU thủ công (110s) và đặt giấy kiểm tra hình ảnh qua 8 bước K5 (RCG Ledger 20s, Scan RCG 20s, LSU SKEW 130s, Color Regist 60s, RCC 100s, U410 110s, Process 190s, Giấy dày 45s = 675s).</a:t>
                      </a:r>
                    </a:p>
                  </a:txBody>
                  <a:tcPr anchor="ctr" marL="45720" marR="45720" marT="18288" marB="18288">
                    <a:solidFill>
                      <a:srgbClr val="E8EEF5"/>
                    </a:solidFill>
                  </a:tcPr>
                </a:tc>
                <a:tc>
                  <a:txBody>
                    <a:bodyPr/>
                    <a:lstStyle/>
                    <a:p>
                      <a:pPr algn="l">
                        <a:defRPr sz="730">
                          <a:solidFill>
                            <a:srgbClr val="1E242B"/>
                          </a:solidFill>
                          <a:latin typeface="Arial"/>
                        </a:defRPr>
                      </a:pPr>
                      <a:r>
                        <a:t>Theo Sheet 纏め Row 8-15 &amp; まとめ Row 39: Lắp bổ sung bộ nạp bản gốc tự động DP vào máy thực nghiệm để chuyển hình ảnh liên tục (giảm thời kết nối/đặt ảnh) và gửi ảnh về PC tự động phán định OK/NG thay cho Robot ISU.</a:t>
                      </a:r>
                    </a:p>
                  </a:txBody>
                  <a:tcPr anchor="ctr" marL="45720" marR="45720" marT="18288" marB="18288">
                    <a:solidFill>
                      <a:srgbClr val="E8EEF5"/>
                    </a:solidFill>
                  </a:tcPr>
                </a:tc>
                <a:tc>
                  <a:txBody>
                    <a:bodyPr/>
                    <a:lstStyle/>
                    <a:p>
                      <a:pPr algn="l">
                        <a:defRPr sz="730">
                          <a:solidFill>
                            <a:srgbClr val="1E242B"/>
                          </a:solidFill>
                          <a:latin typeface="Arial"/>
                        </a:defRPr>
                      </a:pPr>
                      <a:r>
                        <a:t>• Giảm 110,00 s/máy đặt bản thảo (và rút ngắn cụm 675s kiểm tra hình ảnh)</a:t>
                      </a:r>
                      <a:br/>
                      <a:r>
                        <a:t>• Không cần mở rộng 2 cell băng tải</a:t>
                      </a:r>
                    </a:p>
                  </a:txBody>
                  <a:tcPr anchor="ctr" marL="45720" marR="45720" marT="18288" marB="18288">
                    <a:solidFill>
                      <a:srgbClr val="E8EEF5"/>
                    </a:solidFill>
                  </a:tcPr>
                </a:tc>
                <a:tc>
                  <a:txBody>
                    <a:bodyPr/>
                    <a:lstStyle/>
                    <a:p>
                      <a:pPr algn="ctr">
                        <a:defRPr sz="730">
                          <a:solidFill>
                            <a:srgbClr val="1E242B"/>
                          </a:solidFill>
                          <a:latin typeface="Arial"/>
                        </a:defRPr>
                      </a:pPr>
                      <a:r>
                        <a:t>Đang xem xét /</a:t>
                      </a:r>
                      <a:br/>
                      <a:r>
                        <a:t>Đang báo giá</a:t>
                      </a:r>
                      <a:br/>
                      <a:r>
                        <a:t>(検討中 / 見積中)</a:t>
                      </a:r>
                      <a:br/>
                      <a:r>
                        <a:t>[Sheet 纏め Row 8]</a:t>
                      </a:r>
                    </a:p>
                  </a:txBody>
                  <a:tcPr anchor="ctr" marL="45720" marR="45720" marT="18288" marB="18288">
                    <a:solidFill>
                      <a:srgbClr val="E8EEF5"/>
                    </a:solidFill>
                  </a:tcPr>
                </a:tc>
                <a:tc>
                  <a:txBody>
                    <a:bodyPr/>
                    <a:lstStyle/>
                    <a:p>
                      <a:pPr algn="l">
                        <a:defRPr sz="730">
                          <a:solidFill>
                            <a:srgbClr val="1E242B"/>
                          </a:solidFill>
                          <a:latin typeface="Arial"/>
                        </a:defRPr>
                      </a:pPr>
                      <a:r>
                        <a:t>Đang kiểm chứng độ chính xác DP vs ISU</a:t>
                      </a:r>
                      <a:br/>
                      <a:r>
                        <a:t>(VN提案.xlsx S1;</a:t>
                      </a:r>
                      <a:br/>
                      <a:r>
                        <a:t>まとめ Row 39;</a:t>
                      </a:r>
                      <a:br/>
                      <a:r>
                        <a:t>第13回~17回)</a:t>
                      </a:r>
                    </a:p>
                  </a:txBody>
                  <a:tcPr anchor="ctr" marL="45720" marR="45720" marT="18288" marB="18288">
                    <a:solidFill>
                      <a:srgbClr val="E8EEF5"/>
                    </a:solidFill>
                  </a:tcPr>
                </a:tc>
              </a:tr>
              <a:tr h="568234">
                <a:tc>
                  <a:txBody>
                    <a:bodyPr/>
                    <a:lstStyle/>
                    <a:p>
                      <a:pPr algn="ctr">
                        <a:defRPr sz="730" b="1">
                          <a:solidFill>
                            <a:srgbClr val="1E242B"/>
                          </a:solidFill>
                          <a:latin typeface="Arial"/>
                        </a:defRPr>
                      </a:pPr>
                      <a:r>
                        <a:t>No.26</a:t>
                      </a:r>
                      <a:br/>
                      <a:r>
                        <a:t>(K6 -&gt; A-3)</a:t>
                      </a:r>
                      <a:br/>
                      <a:r>
                        <a:t>[DÀI HẠN]</a:t>
                      </a:r>
                    </a:p>
                  </a:txBody>
                  <a:tcPr anchor="ctr" marL="45720" marR="45720" marT="18288" marB="18288">
                    <a:solidFill>
                      <a:srgbClr val="FEF7E6"/>
                    </a:solidFill>
                  </a:tcPr>
                </a:tc>
                <a:tc>
                  <a:txBody>
                    <a:bodyPr/>
                    <a:lstStyle/>
                    <a:p>
                      <a:pPr algn="l">
                        <a:defRPr sz="73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3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3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3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Chuyển đề tài R&amp;D 2026-2030</a:t>
                      </a:r>
                      <a:br/>
                      <a:r>
                        <a:t>(検討資料 S8;</a:t>
                      </a:r>
                      <a:br/>
                      <a:r>
                        <a:t>まとめ Row 40)</a:t>
                      </a:r>
                    </a:p>
                  </a:txBody>
                  <a:tcPr anchor="ctr" marL="45720" marR="45720" marT="18288" marB="18288">
                    <a:solidFill>
                      <a:srgbClr val="FEF7E6"/>
                    </a:solidFill>
                  </a:tcPr>
                </a:tc>
              </a:tr>
              <a:tr h="568234">
                <a:tc>
                  <a:txBody>
                    <a:bodyPr/>
                    <a:lstStyle/>
                    <a:p>
                      <a:pPr algn="ctr">
                        <a:defRPr sz="730" b="1">
                          <a:solidFill>
                            <a:srgbClr val="1E242B"/>
                          </a:solidFill>
                          <a:latin typeface="Arial"/>
                        </a:defRPr>
                      </a:pPr>
                      <a:r>
                        <a:t>No.27</a:t>
                      </a:r>
                      <a:br/>
                      <a:r>
                        <a:t>(K6, K7 -&gt;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Sử dụng Camera HIKROBOT đo nồng độ, đo lề, kiểm tra PPT &amp; đánh giá ảnh</a:t>
                      </a:r>
                      <a:br/>
                      <a:r>
                        <a:t>(カメラによる濃度・マージン・PPT・画像総合検査)</a:t>
                      </a:r>
                    </a:p>
                  </a:txBody>
                  <a:tcPr anchor="ctr" marL="45720" marR="45720" marT="18288" marB="18288">
                    <a:solidFill>
                      <a:srgbClr val="EAF7EE"/>
                    </a:solidFill>
                  </a:tcPr>
                </a:tc>
                <a:tc>
                  <a:txBody>
                    <a:bodyPr/>
                    <a:lstStyle/>
                    <a:p>
                      <a:pPr algn="l">
                        <a:defRPr sz="73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30">
                          <a:solidFill>
                            <a:srgbClr val="1E242B"/>
                          </a:solidFill>
                          <a:latin typeface="Arial"/>
                        </a:defRPr>
                      </a:pPr>
                      <a:r>
                        <a:t>Dùng hệ thống Camera công nghiệp HIKROBOT phân tích ảnh tự động: Thời gian đo nồng độ 3 tờ giảm từ 192s xuống còn 15s (5s/tờ -&gt; giảm 177s/máy); tích hợp tự động đo lề (-28s) và kiểm tra PPT (-10s).</a:t>
                      </a:r>
                    </a:p>
                  </a:txBody>
                  <a:tcPr anchor="ctr" marL="45720" marR="45720" marT="18288" marB="18288">
                    <a:solidFill>
                      <a:srgbClr val="EAF7EE"/>
                    </a:solidFill>
                  </a:tcPr>
                </a:tc>
                <a:tc>
                  <a:txBody>
                    <a:bodyPr/>
                    <a:lstStyle/>
                    <a:p>
                      <a:pPr algn="l">
                        <a:defRPr sz="73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thiết kế / thử nghiệm Camera</a:t>
                      </a:r>
                      <a:br/>
                      <a:r>
                        <a:t>(DSLK Sheet 5;</a:t>
                      </a:r>
                      <a:br/>
                      <a:r>
                        <a:t>まとめ Row 41)</a:t>
                      </a:r>
                    </a:p>
                  </a:txBody>
                  <a:tcPr anchor="ctr" marL="45720" marR="45720" marT="18288" marB="18288">
                    <a:solidFill>
                      <a:srgbClr val="EAF7EE"/>
                    </a:solidFill>
                  </a:tcPr>
                </a:tc>
              </a:tr>
              <a:tr h="568235">
                <a:tc>
                  <a:txBody>
                    <a:bodyPr/>
                    <a:lstStyle/>
                    <a:p>
                      <a:pPr algn="ctr">
                        <a:defRPr sz="730" b="1">
                          <a:solidFill>
                            <a:srgbClr val="1E242B"/>
                          </a:solidFill>
                          <a:latin typeface="Arial"/>
                        </a:defRPr>
                      </a:pPr>
                      <a:r>
                        <a:t>No.28</a:t>
                      </a:r>
                      <a:br/>
                      <a:r>
                        <a:t>(K8 -&gt;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Tự động hóa thiết lập xuất hàng qua mạng &amp; AI phân tích video thao tác</a:t>
                      </a:r>
                      <a:br/>
                      <a:r>
                        <a:t>(出荷設定自動化 / 作業動作AI動画解析)</a:t>
                      </a:r>
                    </a:p>
                  </a:txBody>
                  <a:tcPr anchor="ctr" marL="45720" marR="45720" marT="18288" marB="18288">
                    <a:solidFill>
                      <a:srgbClr val="EAF7EE"/>
                    </a:solidFill>
                  </a:tcPr>
                </a:tc>
                <a:tc>
                  <a:txBody>
                    <a:bodyPr/>
                    <a:lstStyle/>
                    <a:p>
                      <a:pPr algn="l">
                        <a:defRPr sz="73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30">
                          <a:solidFill>
                            <a:srgbClr val="1E242B"/>
                          </a:solidFill>
                          <a:latin typeface="Arial"/>
                        </a:defRPr>
                      </a:pPr>
                      <a:r>
                        <a:t>Tự động gửi lệnh thiết lập xuất hàng (FinalSetup) từ Host PC / Mini PC qua mạng nội bộ (-50s tại K8); kết hợp quay video phân tích thao tác công nhân bằng AI để bóc tách thời gian chờ.</a:t>
                      </a:r>
                    </a:p>
                  </a:txBody>
                  <a:tcPr anchor="ctr" marL="45720" marR="45720" marT="18288" marB="18288">
                    <a:solidFill>
                      <a:srgbClr val="EAF7EE"/>
                    </a:solidFill>
                  </a:tcPr>
                </a:tc>
                <a:tc>
                  <a:txBody>
                    <a:bodyPr/>
                    <a:lstStyle/>
                    <a:p>
                      <a:pPr algn="l">
                        <a:defRPr sz="73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8" name="Rectangle 7"/>
          <p:cNvSpPr/>
          <p:nvPr/>
        </p:nvSpPr>
        <p:spPr>
          <a:xfrm>
            <a:off x="274320" y="5303520"/>
            <a:ext cx="11643055" cy="118872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303520"/>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TỔNG HỢP KINH PHÍ &amp; HIỆU QUẢ 3 ĐỀ ÁN CÓ BÁO GIÁ TRONG FILE IRIS EXPのVN提案.xlsx (TỶ GIÁ 26.000 VNĐ/USD)</a:t>
            </a:r>
          </a:p>
        </p:txBody>
      </p:sp>
      <p:sp>
        <p:nvSpPr>
          <p:cNvPr id="10" name="TextBox 9"/>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790">
                <a:solidFill>
                  <a:srgbClr val="1E242B"/>
                </a:solidFill>
                <a:latin typeface="Arial"/>
              </a:defRPr>
            </a:pPr>
            <a:r>
              <a:t>• Tổng hợp 3 đề án có báo giá trong Iris EXPのVN提案.xlsx: (1) Đề án 1 [No.22 - Đo thông mạch &amp; chịu áp tự động]: 101.690.000 VNĐ / 3.911,15 USD (BOM 25 mục; thuyết minh: 101.700.000 VNĐ / 3.911,54 USD; 纏め: 4.000 USD), giảm 30s, tiết kiệm 29.600.000 VNĐ/năm ($1.138,46/năm)  |  (2) Đề án 2 [No.23 - Robot đặt bản thảo ISU]: 650.000.000 VNĐ / 25.000 USD (U411 45s = 44,4tr/năm + SITC-2 35s = 34,53tr/năm + Halftone 30s = 29,6tr/năm), giảm 110s, tiết kiệm 108.533.333 VNĐ/năm ($4.174,36/năm)  |  (3) Đề án 3 [No.24 - Robot USB &amp; U201]: 104.000.000 VNĐ / 4.000 USD, giảm 30s, tiết kiệm 29.600.000 VNĐ/năm ($1.138,46/năm).</a:t>
            </a:r>
          </a:p>
          <a:p>
            <a:pPr>
              <a:spcAft>
                <a:spcPts val="200"/>
              </a:spcAft>
              <a:defRPr sz="790">
                <a:solidFill>
                  <a:srgbClr val="1E242B"/>
                </a:solidFill>
                <a:latin typeface="Arial"/>
              </a:defRPr>
            </a:pPr>
            <a:r>
              <a:t>• Tổng cộng cả 3 đề án (No.22 + No.23 + No.24): Kinh phí = 855.690.000 VNĐ (32.911,15 USD theo BOM) [hoặc 855.700.000 VNĐ / 32.911,54 USD theo thuyết minh; 858.000.000 VNĐ / 33.000 USD theo bảng 纏め]; Tổng thời gian giảm = 170s/máy; Tổng tiết kiệm nhân công = 167.733.333 VNĐ/năm (6.451,28 USD/năm). Nếu thay No.23 &amp; No.24 bằng Quét DP (No.25) và Host PC (JP No.3, 6) theo thảo luận tại DR4/連携会 thì chỉ cần duyệt trước No.22 là 101.690.000 VNĐ (3.911,15 USD).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9 đề án bổ sung (No.29~37) gồm 6 kiến nghị sửa mạch/FW (0 đồng TB tại xưởng) và 3 đề án thiết bị đang báo giá; tháng 10/2026 đã xóa 4 bước thao tác trên bảng công đoạn, giảm thực tế 4,32s/máy.</a:t>
            </a:r>
          </a:p>
        </p:txBody>
      </p:sp>
      <p:graphicFrame>
        <p:nvGraphicFramePr>
          <p:cNvPr id="7" name="Table 6"/>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38 đề án (JP: 7 | CN: 11 | VN: 20); cột VN khớp với Phần 5: Tổng 3 đề án có báo giá trong Iris EXPのVN提案.xlsx là 855.690.000 VNĐ (32.911,15 USD / làm tròn 33.000 USD); riêng No.22 là 101.690.000 VNĐ.</a:t>
            </a:r>
          </a:p>
        </p:txBody>
      </p:sp>
      <p:graphicFrame>
        <p:nvGraphicFramePr>
          <p:cNvPr id="7" name="Table 6"/>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[Theo số liệu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8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8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8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80">
                          <a:solidFill>
                            <a:srgbClr val="1E242B"/>
                          </a:solidFill>
                          <a:latin typeface="Arial"/>
                        </a:defRPr>
                      </a:pPr>
                      <a:r>
                        <a:t>• T8: 11 đề án (No.18~28) + T9: 9 đề án (No.29~37) = 20 đề án VN (trong đó 3 đề án có giá tại VN提案.xlsx)</a:t>
                      </a:r>
                    </a:p>
                  </a:txBody>
                  <a:tcPr anchor="ctr" marL="36576" marR="36576" marT="9144" marB="9144">
                    <a:solidFill>
                      <a:srgbClr val="FFFFFF"/>
                    </a:solidFill>
                  </a:tcPr>
                </a:tc>
                <a:tc>
                  <a:txBody>
                    <a:bodyPr/>
                    <a:lstStyle/>
                    <a:p>
                      <a:pPr algn="l">
                        <a:defRPr sz="58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8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8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8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8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8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8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8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8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8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8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80">
                          <a:solidFill>
                            <a:srgbClr val="1E242B"/>
                          </a:solidFill>
                          <a:latin typeface="Arial"/>
                        </a:defRPr>
                      </a:pPr>
                      <a:r>
                        <a:t>• 3 ĐA trong VN提案.xlsx: -170s (No.22: -30s, No.23: -110s, No.24: -30s)</a:t>
                      </a:r>
                      <a:br/>
                      <a:r>
                        <a:t>• Thực tích PDCA T10: -4,32s (0,18%)</a:t>
                      </a:r>
                      <a:br/>
                      <a:r>
                        <a:t>• Mục tiêu T3/2027: Giảm &gt;= 1.175,00s (&gt;=50%)</a:t>
                      </a:r>
                    </a:p>
                  </a:txBody>
                  <a:tcPr anchor="ctr" marL="36576" marR="36576" marT="9144" marB="9144">
                    <a:solidFill>
                      <a:srgbClr val="FFFFFF"/>
                    </a:solidFill>
                  </a:tcPr>
                </a:tc>
                <a:tc>
                  <a:txBody>
                    <a:bodyPr/>
                    <a:lstStyle/>
                    <a:p>
                      <a:pPr algn="l">
                        <a:defRPr sz="58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8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8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8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8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80">
                          <a:solidFill>
                            <a:srgbClr val="1E242B"/>
                          </a:solidFill>
                          <a:latin typeface="Arial"/>
                        </a:defRPr>
                      </a:pPr>
                      <a:r>
                        <a:t>• Hiện trạng Iris2024: 14 người (15 người ở Takt 114s DR4)</a:t>
                      </a:r>
                      <a:br/>
                      <a:r>
                        <a:t>• Sản lượng 16.000 máy/tháng (Takt 97s): Không cải tiến cần 18 người -&gt; Mục tiêu: 9 người; 3 ĐA VN提案 tiết kiệm 167,73tr/năm ($6.451/năm)</a:t>
                      </a:r>
                    </a:p>
                  </a:txBody>
                  <a:tcPr anchor="ctr" marL="36576" marR="36576" marT="9144" marB="9144">
                    <a:solidFill>
                      <a:srgbClr val="F7F9FC"/>
                    </a:solidFill>
                  </a:tcPr>
                </a:tc>
                <a:tc>
                  <a:txBody>
                    <a:bodyPr/>
                    <a:lstStyle/>
                    <a:p>
                      <a:pPr algn="l">
                        <a:defRPr sz="58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80">
                          <a:solidFill>
                            <a:srgbClr val="1E242B"/>
                          </a:solidFill>
                          <a:latin typeface="Arial"/>
                        </a:defRPr>
                      </a:pPr>
                      <a:r>
                        <a:t>調整工程計画.xlsx;</a:t>
                      </a:r>
                      <a:br/>
                      <a:r>
                        <a:t>DR 4.pdf S2;</a:t>
                      </a:r>
                      <a:br/>
                      <a:r>
                        <a:t>VN提案.xlsx</a:t>
                      </a:r>
                    </a:p>
                  </a:txBody>
                  <a:tcPr anchor="ctr" marL="36576" marR="36576" marT="9144" marB="9144">
                    <a:solidFill>
                      <a:srgbClr val="F7F9FC"/>
                    </a:solidFill>
                  </a:tcPr>
                </a:tc>
              </a:tr>
              <a:tr h="386080">
                <a:tc>
                  <a:txBody>
                    <a:bodyPr/>
                    <a:lstStyle/>
                    <a:p>
                      <a:pPr algn="l">
                        <a:defRPr sz="580" b="1">
                          <a:solidFill>
                            <a:srgbClr val="1E242B"/>
                          </a:solidFill>
                          <a:latin typeface="Arial"/>
                        </a:defRPr>
                      </a:pPr>
                      <a:r>
                        <a:t>5. Kinh phí ĐÃ CÓ</a:t>
                      </a:r>
                      <a:br/>
                      <a:r>
                        <a:t>BÁO GIÁ (Theo nguồn)</a:t>
                      </a:r>
                    </a:p>
                  </a:txBody>
                  <a:tcPr anchor="ctr" marL="36576" marR="36576" marT="9144" marB="9144">
                    <a:solidFill>
                      <a:srgbClr val="EAF7EE"/>
                    </a:solidFill>
                  </a:tcPr>
                </a:tc>
                <a:tc>
                  <a:txBody>
                    <a:bodyPr/>
                    <a:lstStyle/>
                    <a:p>
                      <a:pPr algn="l">
                        <a:defRPr sz="58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8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80">
                          <a:solidFill>
                            <a:srgbClr val="1E242B"/>
                          </a:solidFill>
                          <a:latin typeface="Arial"/>
                        </a:defRPr>
                      </a:pPr>
                      <a:r>
                        <a:t>• No.22 (Đo thông mạch/chịu áp): 101.690.000 VNĐ (3.911,15 USD; 纏め: 4.000 USD)</a:t>
                      </a:r>
                      <a:br/>
                      <a:r>
                        <a:t>• No.23 (Robot ISU): 650.000.000 VNĐ (25.000 USD)</a:t>
                      </a:r>
                      <a:br/>
                      <a:r>
                        <a:t>• No.24 (Robot USB/U201): 104.000.000 VNĐ (4.000 USD)</a:t>
                      </a:r>
                      <a:br/>
                      <a:r>
                        <a:t>=&gt; Tổng 3 ĐA: 855.690.000 VNĐ (32.911,15 USD / 33.000 USD)</a:t>
                      </a:r>
                    </a:p>
                  </a:txBody>
                  <a:tcPr anchor="ctr" marL="36576" marR="36576" marT="9144" marB="9144">
                    <a:solidFill>
                      <a:srgbClr val="EAF7EE"/>
                    </a:solidFill>
                  </a:tcPr>
                </a:tc>
                <a:tc>
                  <a:txBody>
                    <a:bodyPr/>
                    <a:lstStyle/>
                    <a:p>
                      <a:pPr algn="l">
                        <a:defRPr sz="580">
                          <a:solidFill>
                            <a:srgbClr val="1E242B"/>
                          </a:solidFill>
                          <a:latin typeface="Arial"/>
                        </a:defRPr>
                      </a:pPr>
                      <a:r>
                        <a:t>• VN (3 ĐA trong VN提案.xlsx): 855.690.000 VNĐ (32.911,15 USD; 纏め: 33.000 USD) [Duyệt riêng No.22: 101,69tr]</a:t>
                      </a:r>
                      <a:br/>
                      <a:r>
                        <a:t>• JP: Mini PC ~40k JPY/bộ; PM U413: 225~250 vạn JPY</a:t>
                      </a:r>
                    </a:p>
                  </a:txBody>
                  <a:tcPr anchor="ctr" marL="36576" marR="36576" marT="9144" marB="9144">
                    <a:solidFill>
                      <a:srgbClr val="EAF7EE"/>
                    </a:solidFill>
                  </a:tcPr>
                </a:tc>
                <a:tc>
                  <a:txBody>
                    <a:bodyPr/>
                    <a:lstStyle/>
                    <a:p>
                      <a:pPr algn="l">
                        <a:defRPr sz="580">
                          <a:solidFill>
                            <a:srgbClr val="1E242B"/>
                          </a:solidFill>
                          <a:latin typeface="Arial"/>
                        </a:defRPr>
                      </a:pPr>
                      <a:r>
                        <a:t>Iris EXPのVN提案</a:t>
                      </a:r>
                      <a:br/>
                      <a:r>
                        <a:t>(4 Sheets);</a:t>
                      </a:r>
                      <a:br/>
                      <a:r>
                        <a:t>AthenaとSpica比較</a:t>
                      </a:r>
                    </a:p>
                  </a:txBody>
                  <a:tcPr anchor="ctr" marL="36576" marR="36576" marT="9144" marB="9144">
                    <a:solidFill>
                      <a:srgbClr val="EAF7EE"/>
                    </a:solidFill>
                  </a:tcPr>
                </a:tc>
              </a:tr>
              <a:tr h="386080">
                <a:tc>
                  <a:txBody>
                    <a:bodyPr/>
                    <a:lstStyle/>
                    <a:p>
                      <a:pPr algn="l">
                        <a:defRPr sz="58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8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8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80">
                          <a:solidFill>
                            <a:srgbClr val="1E242B"/>
                          </a:solidFill>
                          <a:latin typeface="Arial"/>
                        </a:defRPr>
                      </a:pPr>
                      <a:r>
                        <a:t>• 10 đề án TB/DP đang ghi "Đang báo giá / Đang xem xét (見積中 / 検討中)": No.18, No.19, No.20, No.21, No.25 (Bổ sung DP quét liên tục), No.27 (Camera HIKROBOT), No.28, No.31, No.33, No.35 (+ Mục 17 Tủ điện 5tr của No.22)</a:t>
                      </a:r>
                    </a:p>
                  </a:txBody>
                  <a:tcPr anchor="ctr" marL="36576" marR="36576" marT="9144" marB="9144">
                    <a:solidFill>
                      <a:srgbClr val="FEF7E6"/>
                    </a:solidFill>
                  </a:tcPr>
                </a:tc>
                <a:tc>
                  <a:txBody>
                    <a:bodyPr/>
                    <a:lstStyle/>
                    <a:p>
                      <a:pPr algn="l">
                        <a:defRPr sz="580">
                          <a:solidFill>
                            <a:srgbClr val="1E242B"/>
                          </a:solidFill>
                          <a:latin typeface="Arial"/>
                        </a:defRPr>
                      </a:pPr>
                      <a:r>
                        <a:t>• Giữ nguyên "Đang báo giá (見積中)" theo nguồn; tách riêng để trình duyệt Đợt 2 sau khi chốt giá.</a:t>
                      </a:r>
                    </a:p>
                  </a:txBody>
                  <a:tcPr anchor="ctr" marL="36576" marR="36576" marT="9144" marB="9144">
                    <a:solidFill>
                      <a:srgbClr val="FEF7E6"/>
                    </a:solidFill>
                  </a:tcPr>
                </a:tc>
                <a:tc>
                  <a:txBody>
                    <a:bodyPr/>
                    <a:lstStyle/>
                    <a:p>
                      <a:pPr algn="l">
                        <a:defRPr sz="580">
                          <a:solidFill>
                            <a:srgbClr val="1E242B"/>
                          </a:solidFill>
                          <a:latin typeface="Arial"/>
                        </a:defRPr>
                      </a:pPr>
                      <a:r>
                        <a:t>IrisEXP改善提案まとめ;</a:t>
                      </a:r>
                      <a:br/>
                      <a:r>
                        <a:t>Iris EXPのVN提案</a:t>
                      </a:r>
                    </a:p>
                  </a:txBody>
                  <a:tcPr anchor="ctr" marL="36576" marR="36576" marT="9144" marB="9144">
                    <a:solidFill>
                      <a:srgbClr val="FEF7E6"/>
                    </a:solidFill>
                  </a:tcPr>
                </a:tc>
              </a:tr>
              <a:tr h="386080">
                <a:tc>
                  <a:txBody>
                    <a:bodyPr/>
                    <a:lstStyle/>
                    <a:p>
                      <a:pPr algn="l">
                        <a:defRPr sz="580" b="1">
                          <a:solidFill>
                            <a:srgbClr val="1E242B"/>
                          </a:solidFill>
                          <a:latin typeface="Arial"/>
                        </a:defRPr>
                      </a:pPr>
                      <a:r>
                        <a:t>7. Đối chiếu DR4 /</a:t>
                      </a:r>
                      <a:br/>
                      <a:r>
                        <a:t>R&amp;D Dài hạn</a:t>
                      </a:r>
                    </a:p>
                  </a:txBody>
                  <a:tcPr anchor="ctr" marL="36576" marR="36576" marT="9144" marB="9144">
                    <a:solidFill>
                      <a:srgbClr val="E8EEF5"/>
                    </a:solidFill>
                  </a:tcPr>
                </a:tc>
                <a:tc>
                  <a:txBody>
                    <a:bodyPr/>
                    <a:lstStyle/>
                    <a:p>
                      <a:pPr algn="l">
                        <a:defRPr sz="580">
                          <a:solidFill>
                            <a:srgbClr val="1E242B"/>
                          </a:solidFill>
                          <a:latin typeface="Arial"/>
                        </a:defRPr>
                      </a:pPr>
                      <a:r>
                        <a:t>• Bỏ phương án dùng lại Raspberry Pi + Pin Mobile của Athena do chai pin &amp; rớt Wi-Fi</a:t>
                      </a:r>
                    </a:p>
                  </a:txBody>
                  <a:tcPr anchor="ctr" marL="36576" marR="36576" marT="9144" marB="9144">
                    <a:solidFill>
                      <a:srgbClr val="E8EEF5"/>
                    </a:solidFill>
                  </a:tcPr>
                </a:tc>
                <a:tc>
                  <a:txBody>
                    <a:bodyPr/>
                    <a:lstStyle/>
                    <a:p>
                      <a:pPr algn="l">
                        <a:defRPr sz="580">
                          <a:solidFill>
                            <a:srgbClr val="1E242B"/>
                          </a:solidFill>
                          <a:latin typeface="Arial"/>
                        </a:defRPr>
                      </a:pPr>
                      <a:r>
                        <a:t>• Không có mục hủy có giá tiền riêng trong bảng CN</a:t>
                      </a:r>
                    </a:p>
                  </a:txBody>
                  <a:tcPr anchor="ctr" marL="36576" marR="36576" marT="9144" marB="9144">
                    <a:solidFill>
                      <a:srgbClr val="E8EEF5"/>
                    </a:solidFill>
                  </a:tcPr>
                </a:tc>
                <a:tc>
                  <a:txBody>
                    <a:bodyPr/>
                    <a:lstStyle/>
                    <a:p>
                      <a:pPr algn="l">
                        <a:defRPr sz="580">
                          <a:solidFill>
                            <a:srgbClr val="1E242B"/>
                          </a:solidFill>
                          <a:latin typeface="Arial"/>
                        </a:defRPr>
                      </a:pPr>
                      <a:r>
                        <a:t>• Tại 連携会 7 / DR4: Đề xuất phương án thay thế không dùng Robot cho No.23 (650tr) &amp; No.24 (104tr) bằng Quét DP (No.25) &amp; Host PC (JP No.3, 6)</a:t>
                      </a:r>
                      <a:br/>
                      <a:r>
                        <a:t>• R&amp;D dài hạn 2026-2030: No.26 AI âm thanh lạ (600 vạn JPY ~ 40.000 USD)</a:t>
                      </a:r>
                    </a:p>
                  </a:txBody>
                  <a:tcPr anchor="ctr" marL="36576" marR="36576" marT="9144" marB="9144">
                    <a:solidFill>
                      <a:srgbClr val="E8EEF5"/>
                    </a:solidFill>
                  </a:tcPr>
                </a:tc>
                <a:tc>
                  <a:txBody>
                    <a:bodyPr/>
                    <a:lstStyle/>
                    <a:p>
                      <a:pPr algn="l">
                        <a:defRPr sz="580">
                          <a:solidFill>
                            <a:srgbClr val="1E242B"/>
                          </a:solidFill>
                          <a:latin typeface="Arial"/>
                        </a:defRPr>
                      </a:pPr>
                      <a:r>
                        <a:t>• Trình Trưởng bộ phận chọn giữa gói 3 ĐA (855,69tr / 32.911$) hoặc duyệt trước No.22 (101,69tr / 3.911$)</a:t>
                      </a:r>
                      <a:br/>
                      <a:r>
                        <a:t>• R&amp;D 2026-2030: 600 vạn JPY</a:t>
                      </a:r>
                    </a:p>
                  </a:txBody>
                  <a:tcPr anchor="ctr" marL="36576" marR="36576" marT="9144" marB="9144">
                    <a:solidFill>
                      <a:srgbClr val="E8EEF5"/>
                    </a:solidFill>
                  </a:tcPr>
                </a:tc>
                <a:tc>
                  <a:txBody>
                    <a:bodyPr/>
                    <a:lstStyle/>
                    <a:p>
                      <a:pPr algn="l">
                        <a:defRPr sz="580">
                          <a:solidFill>
                            <a:srgbClr val="1E242B"/>
                          </a:solidFill>
                          <a:latin typeface="Arial"/>
                        </a:defRPr>
                      </a:pPr>
                      <a:r>
                        <a:t>連携会 第7回.txt;</a:t>
                      </a:r>
                      <a:br/>
                      <a:r>
                        <a:t>検討資料(8月3日) S8</a:t>
                      </a:r>
                    </a:p>
                  </a:txBody>
                  <a:tcPr anchor="ctr" marL="36576" marR="36576" marT="9144" marB="9144">
                    <a:solidFill>
                      <a:srgbClr val="E8EEF5"/>
                    </a:solidFill>
                  </a:tcPr>
                </a:tc>
              </a:tr>
              <a:tr h="386080">
                <a:tc>
                  <a:txBody>
                    <a:bodyPr/>
                    <a:lstStyle/>
                    <a:p>
                      <a:pPr algn="l">
                        <a:defRPr sz="58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8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8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80">
                          <a:solidFill>
                            <a:srgbClr val="1E242B"/>
                          </a:solidFill>
                          <a:latin typeface="Arial"/>
                        </a:defRPr>
                      </a:pPr>
                      <a:r>
                        <a:t>• Đã xóa 4 bước trên bảng công đoạn T10 (-4,32s/máy); hoàn tất báo giá trong Iris EXPのVN提案.xlsx; chuẩn bị PMT1 (T12/2026)</a:t>
                      </a:r>
                    </a:p>
                  </a:txBody>
                  <a:tcPr anchor="ctr" marL="36576" marR="36576" marT="9144" marB="9144">
                    <a:solidFill>
                      <a:srgbClr val="F7F9FC"/>
                    </a:solidFill>
                  </a:tcPr>
                </a:tc>
                <a:tc>
                  <a:txBody>
                    <a:bodyPr/>
                    <a:lstStyle/>
                    <a:p>
                      <a:pPr algn="l">
                        <a:defRPr sz="58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8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8" name="Rectangle 7"/>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SỐ LƯỢNG ĐỀ ÁN GIỮA CÁC FILE NGUỒN (28 vs 37 vs 38 ĐỀ ÁN) VÀ CÁCH TÍNH THỜI GIAN</a:t>
            </a:r>
          </a:p>
        </p:txBody>
      </p:sp>
      <p:sp>
        <p:nvSpPr>
          <p:cNvPr id="10" name="TextBox 9"/>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8" name="Table 7"/>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9" name="TextBox 8"/>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0" name="Table 9"/>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mẫu in kiểm tra (từ 17 tờ xuống 9 tờ theo chuẩn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mẫu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Thực tích PDCA tại VN tới T10/2026 đã giảm 4,32s/máy (0,18%); trên bảng công đoạn JP đã giảm 176,84s ~ 267,74s; mục tiêu khi triển khai đủ là giảm &gt;=1.175s (&gt;=50%) và giảm từ 18 xuống 9 người.</a:t>
            </a:r>
          </a:p>
        </p:txBody>
      </p:sp>
      <p:graphicFrame>
        <p:nvGraphicFramePr>
          <p:cNvPr id="7" name="Table 6"/>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-&gt;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mẫu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theo 4 cụm</a:t>
                      </a:r>
                      <a:br/>
                      <a:r>
                        <a:t>A-1 ~ A-4 mẫu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mẫu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IRISEXP (Nguồn: KDTVN-A-QA-QA-BM-003-F 5月~10月.xlsx &amp; 調整工程計画.xlsx)</a:t>
            </a:r>
          </a:p>
        </p:txBody>
      </p:sp>
      <p:graphicFrame>
        <p:nvGraphicFramePr>
          <p:cNvPr id="8" name="Table 7"/>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9" name="TextBox 8"/>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 (Nguồn: 連携会 第13~17回 &amp; BM-003-F)</a:t>
            </a:r>
          </a:p>
        </p:txBody>
      </p:sp>
      <p:graphicFrame>
        <p:nvGraphicFramePr>
          <p:cNvPr id="10" name="Table 9"/>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 (Theo biên bản)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6 rủi ro chính từ biên bản DR4, 連携会 2~17 và bảng đánh giá kỹ thuật (bao gồm 2 phương án Robot đã hủy và lỗi mất nguồn/mạng của hệ thống Athena).</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trong biên bản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nội dung xin ý kiến chỉ đạo của Trưởng bộ phận để đẩy nhanh tiến độ PDCA (mới đạt 0,18% tại T10) và chốt thiết kế công đoạn trước mốc PMT1 (T12/2026).</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Lựa chọn phương án đầu tư giữa gói 3 đề án trong VN提案.xlsx (855,69tr) và phương án thay Robot bằng DP/Host PC</a:t>
                      </a:r>
                    </a:p>
                  </a:txBody>
                  <a:tcPr anchor="ctr" marL="45720" marR="45720" marT="18288" marB="18288">
                    <a:solidFill>
                      <a:srgbClr val="E8EEF5"/>
                    </a:solidFill>
                  </a:tcPr>
                </a:tc>
                <a:tc>
                  <a:txBody>
                    <a:bodyPr/>
                    <a:lstStyle/>
                    <a:p>
                      <a:pPr algn="l">
                        <a:defRPr sz="700">
                          <a:solidFill>
                            <a:srgbClr val="1E242B"/>
                          </a:solidFill>
                          <a:latin typeface="Arial"/>
                        </a:defRPr>
                      </a:pPr>
                      <a:r>
                        <a:t>Trong file Iris EXPのVN提案.xlsx, KTSX đã xác nhận giá 3 đề án: No.22 (Đo thông mạch/chịu áp: 101,69tr / 3.911,15$), No.23 (Robot đặt bản thảo ISU: 650tr / 25.000$) và No.24 (Robot USB/U201: 104tr / 4.000$), tổng cộng 855,69 triệu VNĐ (32.911,15 USD). Còn 10 đề án thiết bị khác đang ghi "Đang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 Phương án A (Khuyến nghị theo DR4/連携会): Duyệt triển khai ngay No.22 (101,69 triệu VNĐ); thay Robot No.23 &amp; No.24 bằng Quét DP liên tục (No.25) và đọc log Host PC; đồng thời ưu tiên hoàn tất báo giá cho No.27 (Camera HIKROBOT: -177s~-215s), No.25 (-110s) và No.28 (-50s).</a:t>
                      </a:r>
                      <a:br/>
                      <a:r>
                        <a:t>• Phương án B: Duyệt tổng dự toán cả 3 đề án trong VN提案.xlsx là 855,69 triệu VNĐ (32.911,15 USD / làm tròn 33.000 USD).</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chọn Phương án A hay Phương án B và hạn mức ngân sách Đợt 2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theo bảng giá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dự toán 3 đề án có báo giá trong Iris EXPのVN提案.xlsx là 855.690.000 VNĐ (32.911,15 USD; làm tròn trên 纏め là 33.000 USD / 858tr VNĐ); nếu thay Robot bằng DP/Host PC sau DR4 thì duyệt trước No.22 là 101.690.000 VNĐ (3.911,15 USD).</a:t>
            </a:r>
          </a:p>
        </p:txBody>
      </p:sp>
      <p:sp>
        <p:nvSpPr>
          <p:cNvPr id="7" name="TextBox 6"/>
          <p:cNvSpPr txBox="1"/>
          <p:nvPr/>
        </p:nvSpPr>
        <p:spPr>
          <a:xfrm>
            <a:off x="274320" y="119786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TỔNG HỢP KINH PHÍ TRÌNH DUYỆT THEO FILE IRIS EXPのVN提案.xlsx (TỶ GIÁ 26.000 VNĐ/USD)</a:t>
            </a:r>
          </a:p>
        </p:txBody>
      </p:sp>
      <p:graphicFrame>
        <p:nvGraphicFramePr>
          <p:cNvPr id="8" name="Table 7"/>
          <p:cNvGraphicFramePr>
            <a:graphicFrameLocks noGrp="1"/>
          </p:cNvGraphicFramePr>
          <p:nvPr/>
        </p:nvGraphicFramePr>
        <p:xfrm>
          <a:off x="274320" y="1389888"/>
          <a:ext cx="6629400" cy="260604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36912">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trong Iris EXPのVN提案.xlsx</a:t>
                      </a:r>
                      <a:br/>
                      <a:r>
                        <a:t>(Sheets: 纏め, 自動Scan tự động, 自動導通・耐圧検査, 設備リスト)</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br/>
                      <a:r>
                        <a:t>[Theo file nguồn]</a:t>
                      </a:r>
                    </a:p>
                  </a:txBody>
                  <a:tcPr anchor="ctr" marL="36576" marR="36576" marT="9144" marB="9144">
                    <a:solidFill>
                      <a:srgbClr val="1B365D"/>
                    </a:solidFill>
                  </a:tcPr>
                </a:tc>
                <a:tc>
                  <a:txBody>
                    <a:bodyPr/>
                    <a:lstStyle/>
                    <a:p>
                      <a:pPr algn="ctr">
                        <a:defRPr sz="620" b="1">
                          <a:solidFill>
                            <a:srgbClr val="FFFFFF"/>
                          </a:solidFill>
                          <a:latin typeface="Arial"/>
                        </a:defRPr>
                      </a:pPr>
                      <a:r>
                        <a:t>Hiệu quả giảm TG &amp;</a:t>
                      </a:r>
                      <a:br/>
                      <a:r>
                        <a:t>Tiết kiệm/năm</a:t>
                      </a:r>
                    </a:p>
                  </a:txBody>
                  <a:tcPr anchor="ctr" marL="36576" marR="36576" marT="9144" marB="9144">
                    <a:solidFill>
                      <a:srgbClr val="1B365D"/>
                    </a:solidFill>
                  </a:tcPr>
                </a:tc>
              </a:tr>
              <a:tr h="236912">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自動導通・耐圧検査: 101.700.000 VNĐ / 3.911,54 USD | Sheet 纏め: 4.000 USD)</a:t>
                      </a:r>
                    </a:p>
                  </a:txBody>
                  <a:tcPr anchor="ctr" marL="36576" marR="36576" marT="9144" marB="9144">
                    <a:solidFill>
                      <a:srgbClr val="EAF7EE"/>
                    </a:solidFill>
                  </a:tcPr>
                </a:tc>
                <a:tc>
                  <a:txBody>
                    <a:bodyPr/>
                    <a:lstStyle/>
                    <a:p>
                      <a:pPr algn="r">
                        <a:defRPr sz="530">
                          <a:solidFill>
                            <a:srgbClr val="1E242B"/>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(纏め: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36912">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36912">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3692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纏め: 858.000.000 VNĐ / 33.000 USD)</a:t>
                      </a:r>
                    </a:p>
                  </a:txBody>
                  <a:tcPr anchor="ctr" marL="36576" marR="36576" marT="9144" marB="9144">
                    <a:solidFill>
                      <a:srgbClr val="EAF7EE"/>
                    </a:solidFill>
                  </a:tcPr>
                </a:tc>
                <a:tc>
                  <a:txBody>
                    <a:bodyPr/>
                    <a:lstStyle/>
                    <a:p>
                      <a:pPr algn="r">
                        <a:defRPr sz="530">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(纏め: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74320" y="4069080"/>
            <a:ext cx="6629400" cy="182880"/>
          </a:xfrm>
          <a:prstGeom prst="rect">
            <a:avLst/>
          </a:prstGeom>
          <a:noFill/>
        </p:spPr>
        <p:txBody>
          <a:bodyPr wrap="square" lIns="18288" rIns="18288" tIns="9144" bIns="9144">
            <a:spAutoFit/>
          </a:bodyPr>
          <a:lstStyle/>
          <a:p>
            <a:pPr>
              <a:defRPr sz="780" b="1">
                <a:solidFill>
                  <a:srgbClr val="B96800"/>
                </a:solidFill>
                <a:latin typeface="Arial"/>
              </a:defRPr>
            </a:pPr>
            <a:r>
              <a:t>■ 2. DANH MỤC ĐANG CHỜ BÁO GIÁ (見積中 / 検討中) TÁCH RIÊNG</a:t>
            </a:r>
          </a:p>
        </p:txBody>
      </p:sp>
      <p:graphicFrame>
        <p:nvGraphicFramePr>
          <p:cNvPr id="10" name="Table 9"/>
          <p:cNvGraphicFramePr>
            <a:graphicFrameLocks noGrp="1"/>
          </p:cNvGraphicFramePr>
          <p:nvPr/>
        </p:nvGraphicFramePr>
        <p:xfrm>
          <a:off x="274320" y="4261104"/>
          <a:ext cx="6629400" cy="1993392"/>
        </p:xfrm>
        <a:graphic>
          <a:graphicData uri="http://schemas.openxmlformats.org/drawingml/2006/table">
            <a:tbl>
              <a:tblPr firstRow="1" bandRow="1">
                <a:tableStyleId>{5C22544A-7EE6-4342-B048-85BDC9FD1C3A}</a:tableStyleId>
              </a:tblPr>
              <a:tblGrid>
                <a:gridCol w="1234440"/>
                <a:gridCol w="3108960"/>
                <a:gridCol w="1097280"/>
                <a:gridCol w="1188720"/>
              </a:tblGrid>
              <a:tr h="398678">
                <a:tc>
                  <a:txBody>
                    <a:bodyPr/>
                    <a:lstStyle/>
                    <a:p>
                      <a:pPr algn="ctr">
                        <a:defRPr sz="63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3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3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30" b="1">
                          <a:solidFill>
                            <a:srgbClr val="FFFFFF"/>
                          </a:solidFill>
                          <a:latin typeface="Arial"/>
                        </a:defRPr>
                      </a:pPr>
                      <a:r>
                        <a:t>Xử lý ngân sách</a:t>
                      </a:r>
                    </a:p>
                  </a:txBody>
                  <a:tcPr anchor="ctr" marL="36576" marR="36576" marT="9144" marB="9144">
                    <a:solidFill>
                      <a:srgbClr val="1B365D"/>
                    </a:solidFill>
                  </a:tcPr>
                </a:tc>
              </a:tr>
              <a:tr h="398678">
                <a:tc>
                  <a:txBody>
                    <a:bodyPr/>
                    <a:lstStyle/>
                    <a:p>
                      <a:pPr algn="l">
                        <a:defRPr sz="560" b="1">
                          <a:solidFill>
                            <a:srgbClr val="1E242B"/>
                          </a:solidFill>
                          <a:latin typeface="Arial"/>
                        </a:defRPr>
                      </a:pPr>
                      <a:r>
                        <a:t>A. Đang chờ báo giá</a:t>
                      </a:r>
                      <a:br/>
                      <a:r>
                        <a:t>(見積中 / 検討中)</a:t>
                      </a:r>
                      <a:br/>
                      <a:r>
                        <a:t>[10 đề án TB / DP]</a:t>
                      </a:r>
                    </a:p>
                  </a:txBody>
                  <a:tcPr anchor="ctr" marL="36576" marR="36576" marT="9144" marB="9144">
                    <a:solidFill>
                      <a:srgbClr val="FEF7E6"/>
                    </a:solidFill>
                  </a:tcPr>
                </a:tc>
                <a:tc>
                  <a:txBody>
                    <a:bodyPr/>
                    <a:lstStyle/>
                    <a:p>
                      <a:pPr algn="l">
                        <a:defRPr sz="560">
                          <a:solidFill>
                            <a:srgbClr val="1E242B"/>
                          </a:solidFill>
                          <a:latin typeface="Arial"/>
                        </a:defRPr>
                      </a:pPr>
                      <a:r>
                        <a:t>• Mục 4 trong VN提案.xlsx (No.25): Lắp bổ sung DP vào máy thực nghiệm để chuyển ảnh liên tục + PC tự phán định (検討中 / 見積中)</a:t>
                      </a:r>
                      <a:br/>
                      <a:r>
                        <a:t>• Cụm A-1 ~ A-4: No.18 (Gá nạp FW), No.19 (Không tháo nắp/cáp), No.20 (Mạng hóa log USB), No.21 (Gá Option), No.27 (Camera HIKROBOT), No.28, No.31, No.33, No.35</a:t>
                      </a:r>
                    </a:p>
                  </a:txBody>
                  <a:tcPr anchor="ctr" marL="36576" marR="36576" marT="9144" marB="9144">
                    <a:solidFill>
                      <a:srgbClr val="FEF7E6"/>
                    </a:solidFill>
                  </a:tcPr>
                </a:tc>
                <a:tc>
                  <a:txBody>
                    <a:bodyPr/>
                    <a:lstStyle/>
                    <a:p>
                      <a:pPr algn="ctr">
                        <a:defRPr sz="56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60">
                          <a:solidFill>
                            <a:srgbClr val="1E242B"/>
                          </a:solidFill>
                          <a:latin typeface="Arial"/>
                        </a:defRPr>
                      </a:pPr>
                      <a:r>
                        <a:t>ĐANG BÁO GIÁ (見積中)</a:t>
                      </a:r>
                      <a:br/>
                      <a:r>
                        <a:t>-&gt; Tách riêng trình Đợt 2 sau khi có báo giá</a:t>
                      </a:r>
                    </a:p>
                  </a:txBody>
                  <a:tcPr anchor="ctr" marL="36576" marR="36576" marT="9144" marB="9144">
                    <a:solidFill>
                      <a:srgbClr val="FEF7E6"/>
                    </a:solidFill>
                  </a:tcPr>
                </a:tc>
              </a:tr>
              <a:tr h="398678">
                <a:tc>
                  <a:txBody>
                    <a:bodyPr/>
                    <a:lstStyle/>
                    <a:p>
                      <a:pPr algn="l">
                        <a:defRPr sz="560" b="1">
                          <a:solidFill>
                            <a:srgbClr val="1E242B"/>
                          </a:solidFill>
                          <a:latin typeface="Arial"/>
                        </a:defRPr>
                      </a:pPr>
                      <a:r>
                        <a:t>B. Cải tiến Phần mềm /</a:t>
                      </a:r>
                      <a:br/>
                      <a:r>
                        <a:t>Mạch / Quy trình</a:t>
                      </a:r>
                      <a:br/>
                      <a:r>
                        <a:t>[6 đề án VN + T10]</a:t>
                      </a:r>
                    </a:p>
                  </a:txBody>
                  <a:tcPr anchor="ctr" marL="36576" marR="36576" marT="9144" marB="9144">
                    <a:solidFill>
                      <a:srgbClr val="EAF7EE"/>
                    </a:solidFill>
                  </a:tcPr>
                </a:tc>
                <a:tc>
                  <a:txBody>
                    <a:bodyPr/>
                    <a:lstStyle/>
                    <a:p>
                      <a:pPr algn="l">
                        <a:defRPr sz="560">
                          <a:solidFill>
                            <a:srgbClr val="1E242B"/>
                          </a:solidFill>
                          <a:latin typeface="Arial"/>
                        </a:defRPr>
                      </a:pPr>
                      <a:r>
                        <a:t>• Đã duyệt / triển khai ngay: No.30 (U155/Barcode), No.34 (Cassette/LSU Skew), No.36 (Cover Right/Halftone), Thực tích T10 (Xóa 4 bước = -4,32s), Nạp FW tại Partner</a:t>
                      </a:r>
                      <a:br/>
                      <a:r>
                        <a:t>• Đang chờ TK/QA JP xác nhận: No.29 (Hộp mực), No.32, No.37 (Đo lệch Transfer Belt / Copy check)</a:t>
                      </a:r>
                    </a:p>
                  </a:txBody>
                  <a:tcPr anchor="ctr" marL="36576" marR="36576" marT="9144" marB="9144">
                    <a:solidFill>
                      <a:srgbClr val="EAF7EE"/>
                    </a:solidFill>
                  </a:tcPr>
                </a:tc>
                <a:tc>
                  <a:txBody>
                    <a:bodyPr/>
                    <a:lstStyle/>
                    <a:p>
                      <a:pPr algn="ctr">
                        <a:defRPr sz="56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60">
                          <a:solidFill>
                            <a:srgbClr val="1E242B"/>
                          </a:solidFill>
                          <a:latin typeface="Arial"/>
                        </a:defRPr>
                      </a:pPr>
                      <a:r>
                        <a:t>0 VNĐ chi phí thiết bị</a:t>
                      </a:r>
                      <a:br/>
                      <a:r>
                        <a:t>tại nhà máy VN</a:t>
                      </a:r>
                    </a:p>
                  </a:txBody>
                  <a:tcPr anchor="ctr" marL="36576" marR="36576" marT="9144" marB="9144">
                    <a:solidFill>
                      <a:srgbClr val="EAF7EE"/>
                    </a:solidFill>
                  </a:tcPr>
                </a:tc>
              </a:tr>
              <a:tr h="398678">
                <a:tc>
                  <a:txBody>
                    <a:bodyPr/>
                    <a:lstStyle/>
                    <a:p>
                      <a:pPr algn="l">
                        <a:defRPr sz="56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6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6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60">
                          <a:solidFill>
                            <a:srgbClr val="1E242B"/>
                          </a:solidFill>
                          <a:latin typeface="Arial"/>
                        </a:defRPr>
                      </a:pPr>
                      <a:r>
                        <a:t>Ngân sách phía JP /</a:t>
                      </a:r>
                      <a:br/>
                      <a:r>
                        <a:t>Trình riêng sau khi chốt</a:t>
                      </a:r>
                    </a:p>
                  </a:txBody>
                  <a:tcPr anchor="ctr" marL="36576" marR="36576" marT="9144" marB="9144">
                    <a:solidFill>
                      <a:srgbClr val="FFFFFF"/>
                    </a:solidFill>
                  </a:tcPr>
                </a:tc>
              </a:tr>
              <a:tr h="398680">
                <a:tc>
                  <a:txBody>
                    <a:bodyPr/>
                    <a:lstStyle/>
                    <a:p>
                      <a:pPr algn="l">
                        <a:defRPr sz="560" b="1">
                          <a:solidFill>
                            <a:srgbClr val="1E242B"/>
                          </a:solidFill>
                          <a:latin typeface="Arial"/>
                        </a:defRPr>
                      </a:pPr>
                      <a:r>
                        <a:t>D. Nghiên cứu dài hạn</a:t>
                      </a:r>
                      <a:br/>
                      <a:r>
                        <a:t>(R&amp;D 2026-2030)</a:t>
                      </a:r>
                    </a:p>
                  </a:txBody>
                  <a:tcPr anchor="ctr" marL="36576" marR="36576" marT="9144" marB="9144">
                    <a:solidFill>
                      <a:srgbClr val="F7F9FC"/>
                    </a:solidFill>
                  </a:tcPr>
                </a:tc>
                <a:tc>
                  <a:txBody>
                    <a:bodyPr/>
                    <a:lstStyle/>
                    <a:p>
                      <a:pPr algn="l">
                        <a:defRPr sz="56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7F9FC"/>
                    </a:solidFill>
                  </a:tcPr>
                </a:tc>
                <a:tc>
                  <a:txBody>
                    <a:bodyPr/>
                    <a:lstStyle/>
                    <a:p>
                      <a:pPr algn="ctr">
                        <a:defRPr sz="560">
                          <a:solidFill>
                            <a:srgbClr val="1E242B"/>
                          </a:solidFill>
                          <a:latin typeface="Arial"/>
                        </a:defRPr>
                      </a:pPr>
                      <a:r>
                        <a:t>Kỳ vọng dài hạn:</a:t>
                      </a:r>
                      <a:br/>
                      <a:r>
                        <a:t>-40s/máy</a:t>
                      </a:r>
                    </a:p>
                  </a:txBody>
                  <a:tcPr anchor="ctr" marL="36576" marR="36576" marT="9144" marB="9144">
                    <a:solidFill>
                      <a:srgbClr val="F7F9FC"/>
                    </a:solidFill>
                  </a:tcPr>
                </a:tc>
                <a:tc>
                  <a:txBody>
                    <a:bodyPr/>
                    <a:lstStyle/>
                    <a:p>
                      <a:pPr algn="l">
                        <a:defRPr sz="560">
                          <a:solidFill>
                            <a:srgbClr val="1E242B"/>
                          </a:solidFill>
                          <a:latin typeface="Arial"/>
                        </a:defRPr>
                      </a:pPr>
                      <a:r>
                        <a:t>Chuyển sang R&amp;D 2026-30</a:t>
                      </a:r>
                      <a:br/>
                      <a:r>
                        <a:t>Không xin duyệt đợt này</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2" name="Rectangle 11"/>
          <p:cNvSpPr/>
          <p:nvPr/>
        </p:nvSpPr>
        <p:spPr>
          <a:xfrm>
            <a:off x="6995160" y="4261104"/>
            <a:ext cx="4919472" cy="2176272"/>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2 PHƯƠNG ÁN KINH PHÍ TRÌNH TRƯỞNG BỘ PHẬN PHÊ DUYỆT</a:t>
            </a:r>
          </a:p>
        </p:txBody>
      </p:sp>
      <p:sp>
        <p:nvSpPr>
          <p:cNvPr id="14" name="TextBox 13"/>
          <p:cNvSpPr txBox="1"/>
          <p:nvPr/>
        </p:nvSpPr>
        <p:spPr>
          <a:xfrm>
            <a:off x="7068312" y="4590288"/>
            <a:ext cx="4773168" cy="1810512"/>
          </a:xfrm>
          <a:prstGeom prst="rect">
            <a:avLst/>
          </a:prstGeom>
          <a:noFill/>
        </p:spPr>
        <p:txBody>
          <a:bodyPr wrap="square" lIns="36576" rIns="36576" tIns="18288" bIns="18288">
            <a:spAutoFit/>
          </a:bodyPr>
          <a:lstStyle/>
          <a:p>
            <a:pPr>
              <a:spcAft>
                <a:spcPts val="200"/>
              </a:spcAft>
              <a:defRPr sz="700" b="1">
                <a:solidFill>
                  <a:srgbClr val="1E242B"/>
                </a:solidFill>
                <a:latin typeface="Arial"/>
              </a:defRPr>
            </a:pPr>
            <a:r>
              <a:t>■ Phương án A (Triển khai ngay Đề án No.22, thay Robot bằng DP/Host PC):</a:t>
            </a:r>
          </a:p>
          <a:p>
            <a:pPr>
              <a:spcAft>
                <a:spcPts val="200"/>
              </a:spcAft>
              <a:defRPr sz="700">
                <a:solidFill>
                  <a:srgbClr val="1E242B"/>
                </a:solidFill>
                <a:latin typeface="Arial"/>
              </a:defRPr>
            </a:pPr>
            <a:r>
              <a:t>   • Duyệt Đề án No.22 (BOM 25 mục): 101.690.000 VNĐ (3.911,15 USD)</a:t>
            </a:r>
          </a:p>
          <a:p>
            <a:pPr>
              <a:spcAft>
                <a:spcPts val="200"/>
              </a:spcAft>
              <a:defRPr sz="700">
                <a:solidFill>
                  <a:srgbClr val="1E242B"/>
                </a:solidFill>
                <a:latin typeface="Arial"/>
              </a:defRPr>
            </a:pPr>
            <a:r>
              <a:t>   • Sheet 自動導通・耐圧検査: 101.700.000 VNĐ (3.911,54 USD) | Sheet 纏め: 4.000 USD</a:t>
            </a:r>
          </a:p>
          <a:p>
            <a:pPr>
              <a:spcAft>
                <a:spcPts val="200"/>
              </a:spcAft>
              <a:defRPr sz="700">
                <a:solidFill>
                  <a:srgbClr val="1E242B"/>
                </a:solidFill>
                <a:latin typeface="Arial"/>
              </a:defRPr>
            </a:pPr>
            <a:r>
              <a:t>   • Hiệu quả: Giảm 30s/máy, tiết kiệm 29,60 triệu VNĐ/năm (1.138,46 USD/năm).</a:t>
            </a:r>
          </a:p>
          <a:p>
            <a:pPr>
              <a:spcAft>
                <a:spcPts val="200"/>
              </a:spcAft>
              <a:defRPr sz="700" b="1">
                <a:solidFill>
                  <a:srgbClr val="1E242B"/>
                </a:solidFill>
                <a:latin typeface="Arial"/>
              </a:defRPr>
            </a:pPr>
            <a:r>
              <a:t>■ Phương án B (Tổng dự toán cả 3 đề án có giá trong Iris EXPのVN提案.xlsx):</a:t>
            </a:r>
          </a:p>
          <a:p>
            <a:pPr>
              <a:spcAft>
                <a:spcPts val="200"/>
              </a:spcAft>
              <a:defRPr sz="700">
                <a:solidFill>
                  <a:srgbClr val="1E242B"/>
                </a:solidFill>
                <a:latin typeface="Arial"/>
              </a:defRPr>
            </a:pPr>
            <a:r>
              <a:t>   • No.22 (101,69tr / 3.911,15$) + No.23 Robot ISU (650tr / 25.000$) + No.24 Robot USB/U201 (104tr / 4.000$)</a:t>
            </a:r>
          </a:p>
          <a:p>
            <a:pPr>
              <a:spcAft>
                <a:spcPts val="200"/>
              </a:spcAft>
              <a:defRPr sz="700">
                <a:solidFill>
                  <a:srgbClr val="1E242B"/>
                </a:solidFill>
                <a:latin typeface="Arial"/>
              </a:defRPr>
            </a:pPr>
            <a:r>
              <a:t>   • Tổng cộng (BOM): 855.690.000 VNĐ (32.911,15 USD) [Bảng 纏め: 858tr / 33.000 USD]</a:t>
            </a:r>
          </a:p>
          <a:p>
            <a:pPr>
              <a:spcAft>
                <a:spcPts val="200"/>
              </a:spcAft>
              <a:defRPr sz="700">
                <a:solidFill>
                  <a:srgbClr val="1E242B"/>
                </a:solidFill>
                <a:latin typeface="Arial"/>
              </a:defRPr>
            </a:pPr>
            <a:r>
              <a:t>   • Hiệu quả: Giảm 170s/máy, tiết kiệm 167,73 triệu VNĐ/năm (6.451,28 USD/năm).</a:t>
            </a:r>
          </a:p>
          <a:p>
            <a:pPr>
              <a:spcAft>
                <a:spcPts val="200"/>
              </a:spcAft>
              <a:defRPr sz="700" b="1">
                <a:solidFill>
                  <a:srgbClr val="1E242B"/>
                </a:solidFill>
                <a:latin typeface="Arial"/>
              </a:defRPr>
            </a:pPr>
            <a:r>
              <a:t>■ File số liệu kèm theo: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