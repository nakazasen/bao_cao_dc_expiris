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Chi tiết 20 đề án cải tiến tại nhà máy Việt Nam (KDTVN) trong tổng thể 38 đề án của 3 cứ điểm Nhật Bản (JP) - Trung Quốc (CN) - Việt Nam (VN) theo mẫu Athena và Spica</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và phương án nạp FW tại Partner), hướng thay thế 2 đề án Robot đã hủy sau DR4, cùng lộ trình giảm 50% thời gian thao tác (2.350s -&gt; &lt;=1.175s).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1000">
                <a:solidFill>
                  <a:srgbClr val="FFFFFF"/>
                </a:solidFill>
                <a:latin typeface="Arial"/>
              </a:defRPr>
            </a:pPr>
            <a:r>
              <a:t>• Xin phê duyệt 101.690.000 VNĐ (3.911,15 USD) cho Đề án No.22 (Tự động kiểm tra thông mạch, tiếp địa, chịu áp, đã có BOM 25 mục).</a:t>
            </a:r>
            <a:br/>
            <a:r>
              <a:t>• Tách riêng 11 hạng mục đang chờ báo giá (見積中), không cộng phương án đã hủy.</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Dự án: Iris EXP (カラー複合機・プリンタ 新規開発)  |  Công đoạn: Điều chỉnh / Bảo chứng thân máy (調整工程 -&gt; 本体保証工程)</a:t>
            </a:r>
          </a:p>
          <a:p>
            <a:pPr algn="l">
              <a:spcAft>
                <a:spcPts val="300"/>
              </a:spcAft>
              <a:defRPr sz="1000">
                <a:solidFill>
                  <a:srgbClr val="E5EBF2"/>
                </a:solidFill>
                <a:latin typeface="Arial"/>
              </a:defRPr>
            </a:pPr>
            <a:r>
              <a:t>• Bộ phận lập báo cáo: Kỹ thuật chế tạo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Bùi Đức Vinh  |  Người nhận báo cáo: Trưởng bộ phận</a:t>
            </a:r>
          </a:p>
          <a:p>
            <a:pPr algn="l">
              <a:spcAft>
                <a:spcPts val="300"/>
              </a:spcAft>
              <a:defRPr sz="1000">
                <a:solidFill>
                  <a:srgbClr val="E5EBF2"/>
                </a:solidFill>
                <a:latin typeface="Arial"/>
              </a:defRPr>
            </a:pPr>
            <a:r>
              <a:t>• Nguồn dữ liệu: Hồ sơ kỹ thuật công đoạn Điều chỉnh / Bảo chứng thân máy (Biên bản 保証工程連携会 lần 2-17 đến 15/10/2026, tài liệu DR4 &amp; bảng tính PE)</a:t>
            </a:r>
          </a:p>
          <a:p>
            <a:pPr algn="l">
              <a:spcAft>
                <a:spcPts val="300"/>
              </a:spcAft>
              <a:defRPr sz="1000">
                <a:solidFill>
                  <a:srgbClr val="E5EBF2"/>
                </a:solidFill>
                <a:latin typeface="Arial"/>
              </a:defRPr>
            </a:pPr>
            <a:r>
              <a:t>• File số liệu chi tiết đi kèm: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phương án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Trình Trưởng bộ phận 2 nội dung: (a) Xin ý kiến chỉ đạo cho 5 vấn đề kỹ thuật của 20 đề án VN, và (b) Xin duyệt 101,69 triệu VNĐ (3.911,15 USD) cho hạng mục đã có báo giá.</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Rectangle 7"/>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10" name="TextBox 9"/>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Phương án kỹ thuật thay thế 2 đề án Robot đã hủy sau DR4:</a:t>
            </a:r>
          </a:p>
          <a:p>
            <a:pPr>
              <a:spcAft>
                <a:spcPts val="300"/>
              </a:spcAft>
              <a:defRPr sz="930">
                <a:solidFill>
                  <a:srgbClr val="1E242B"/>
                </a:solidFill>
                <a:latin typeface="Arial"/>
              </a:defRPr>
            </a:pPr>
            <a:r>
              <a:t>   • Đề án Robot đặt bản thảo mặt kính ISU (No.23: 650 triệu VNĐ / 25.000 USD) và Robot cắm USB/U201 (No.24: 4.000 USD) đã hủy tại 連携会 lần 7 / DR4 do thời gian hoàn vốn dài (&gt;6 năm) và tốn diện tích chuyền.</a:t>
            </a:r>
          </a:p>
          <a:p>
            <a:pPr>
              <a:spcAft>
                <a:spcPts val="300"/>
              </a:spcAft>
              <a:defRPr sz="930">
                <a:solidFill>
                  <a:srgbClr val="1E242B"/>
                </a:solidFill>
                <a:latin typeface="Arial"/>
              </a:defRPr>
            </a:pPr>
            <a:r>
              <a:t>   • Xin ý kiến triển khai hướng thay thế: Quét bản thảo liên tục bằng khay nạp tự động DP của máy + PC tự động phán định (No.25, -110s) và Đọc log tọa độ U201 qua Host PC (JP No.3, -15,12s).</a:t>
            </a:r>
          </a:p>
          <a:p>
            <a:pPr>
              <a:spcAft>
                <a:spcPts val="300"/>
              </a:spcAft>
              <a:defRPr sz="930" b="1">
                <a:solidFill>
                  <a:srgbClr val="1E242B"/>
                </a:solidFill>
                <a:latin typeface="Arial"/>
              </a:defRPr>
            </a:pPr>
            <a:r>
              <a:t>■ 2. Xử lý các điều kiện kỹ thuật phát sinh tại nhà máy Việt Nam (KDTVN):</a:t>
            </a:r>
          </a:p>
          <a:p>
            <a:pPr>
              <a:spcAft>
                <a:spcPts val="300"/>
              </a:spcAft>
              <a:defRPr sz="930">
                <a:solidFill>
                  <a:srgbClr val="1E242B"/>
                </a:solidFill>
                <a:latin typeface="Arial"/>
              </a:defRPr>
            </a:pPr>
            <a:r>
              <a:t>   • Điều chỉnh thiết kế gá tự động kiểm tra thông mạch/chịu áp (No.22) sang đo khi ĐÃ ĐÓNG VỎ MÁY tại A-3 theo yêu cầu DR4 (tránh sót lỗi kẹt dây điện).</a:t>
            </a:r>
          </a:p>
          <a:p>
            <a:pPr>
              <a:spcAft>
                <a:spcPts val="300"/>
              </a:spcAft>
              <a:defRPr sz="930">
                <a:solidFill>
                  <a:srgbClr val="1E242B"/>
                </a:solidFill>
                <a:latin typeface="Arial"/>
              </a:defRPr>
            </a:pPr>
            <a:r>
              <a:t>   • Lộ trình kiểm soát lỗi lệch Transfer Belt tại VN (hiện còn 1-2 máy NG/tháng, từng có đợt 11 máy lỗi) trước khi bỏ bước đo thủ công như nhà máy CN.</a:t>
            </a:r>
          </a:p>
          <a:p>
            <a:pPr>
              <a:spcAft>
                <a:spcPts val="300"/>
              </a:spcAft>
              <a:defRPr sz="930" b="1">
                <a:solidFill>
                  <a:srgbClr val="1E242B"/>
                </a:solidFill>
                <a:latin typeface="Arial"/>
              </a:defRPr>
            </a:pPr>
            <a:r>
              <a:t>■ 3. Phối hợp liên bộ phận (Partner, TK JP, PE JP) để đẩy nhanh tiến độ PDCA:</a:t>
            </a:r>
          </a:p>
          <a:p>
            <a:pPr>
              <a:spcAft>
                <a:spcPts val="300"/>
              </a:spcAft>
              <a:defRPr sz="930">
                <a:solidFill>
                  <a:srgbClr val="1E242B"/>
                </a:solidFill>
                <a:latin typeface="Arial"/>
              </a:defRPr>
            </a:pPr>
            <a:r>
              <a:t>   • Phương án nạp sẵn Firmware tại Partner giúp giảm 1 người tại A-1 (từ 4 -&gt; 3 người).</a:t>
            </a:r>
          </a:p>
          <a:p>
            <a:pPr>
              <a:spcAft>
                <a:spcPts val="300"/>
              </a:spcAft>
              <a:defRPr sz="930">
                <a:solidFill>
                  <a:srgbClr val="1E242B"/>
                </a:solidFill>
                <a:latin typeface="Arial"/>
              </a:defRPr>
            </a:pPr>
            <a:r>
              <a:t>   • Đẩy nhanh tiến độ PDCA (thực tích T10 mới đạt -4,32s / 0,18% do chờ phía JP chốt DR công đoạn).</a:t>
            </a:r>
          </a:p>
        </p:txBody>
      </p:sp>
      <p:sp>
        <p:nvSpPr>
          <p:cNvPr id="11" name="Rectangle 10"/>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CHO CÁC ĐỀ ÁN VIỆT NAM</a:t>
            </a:r>
          </a:p>
        </p:txBody>
      </p:sp>
      <p:sp>
        <p:nvSpPr>
          <p:cNvPr id="13" name="TextBox 12"/>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930" b="1">
                <a:solidFill>
                  <a:srgbClr val="1E242B"/>
                </a:solidFill>
                <a:latin typeface="Arial"/>
              </a:defRPr>
            </a:pPr>
            <a:r>
              <a:t>■ 1. Kinh phí trình duyệt đợt này (Hạng mục đã có báo giá chi tiết):</a:t>
            </a:r>
          </a:p>
          <a:p>
            <a:pPr>
              <a:spcAft>
                <a:spcPts val="300"/>
              </a:spcAft>
              <a:defRPr sz="930">
                <a:solidFill>
                  <a:srgbClr val="1E242B"/>
                </a:solidFill>
                <a:latin typeface="Arial"/>
              </a:defRPr>
            </a:pPr>
            <a:r>
              <a:t>   • Đề án No.22: Tự động hóa kiểm tra thông mạch, tiếp địa, cách điện chịu áp (自動導通・耐圧検査).</a:t>
            </a:r>
          </a:p>
          <a:p>
            <a:pPr>
              <a:spcAft>
                <a:spcPts val="300"/>
              </a:spcAft>
              <a:defRPr sz="930">
                <a:solidFill>
                  <a:srgbClr val="1E242B"/>
                </a:solidFill>
                <a:latin typeface="Arial"/>
              </a:defRPr>
            </a:pPr>
            <a:r>
              <a:t>   • Tổng dự toán theo BOM 25 hạng mục (Sheet 導通・耐圧検査設備リスト): 101.690.000 VNĐ (3.911,15 USD). Nếu tách riêng Mục 17 Tủ điện 5.000.000 VNĐ đang ghi "Xin báo giá", tổng 24 mục đã có giá cố định là 96.690.000 VNĐ (3.718,85 USD) [Sheet thuyết minh làm tròn 101,7 triệu VNĐ / 3.911,54 USD; Sheet 纏め làm tròn 4.000 USD].</a:t>
            </a:r>
          </a:p>
          <a:p>
            <a:pPr>
              <a:spcAft>
                <a:spcPts val="300"/>
              </a:spcAft>
              <a:defRPr sz="930">
                <a:solidFill>
                  <a:srgbClr val="1E242B"/>
                </a:solidFill>
                <a:latin typeface="Arial"/>
              </a:defRPr>
            </a:pPr>
            <a:r>
              <a:t>   • Hiệu quả: Giảm 30s/máy (20s tiếp địa + 10s chịu áp), tiết kiệm 29.600.000 VNĐ/năm (1.138,46 USD/năm).</a:t>
            </a:r>
          </a:p>
          <a:p>
            <a:pPr>
              <a:spcAft>
                <a:spcPts val="300"/>
              </a:spcAft>
              <a:defRPr sz="930" b="1">
                <a:solidFill>
                  <a:srgbClr val="1E242B"/>
                </a:solidFill>
                <a:latin typeface="Arial"/>
              </a:defRPr>
            </a:pPr>
            <a:r>
              <a:t>■ 2. Xin chủ trương lấy báo giá tiếp cho 11 hạng mục "Đang báo giá (見積中)":</a:t>
            </a:r>
          </a:p>
          <a:p>
            <a:pPr>
              <a:spcAft>
                <a:spcPts val="300"/>
              </a:spcAft>
              <a:defRPr sz="930">
                <a:solidFill>
                  <a:srgbClr val="1E242B"/>
                </a:solidFill>
                <a:latin typeface="Arial"/>
              </a:defRPr>
            </a:pPr>
            <a:r>
              <a:t>   • Gồm 10 đề án thiết bị/mạng (No.18, 19, 20, 21, 25 [Quét DP], 27 [Camera nồng độ/lề/PPT], 28 [Xuất hàng mạng], 31, 33, 35) và Mục 17 Tủ điện của No.22.</a:t>
            </a:r>
          </a:p>
          <a:p>
            <a:pPr>
              <a:spcAft>
                <a:spcPts val="300"/>
              </a:spcAft>
              <a:defRPr sz="930">
                <a:solidFill>
                  <a:srgbClr val="1E242B"/>
                </a:solidFill>
                <a:latin typeface="Arial"/>
              </a:defRPr>
            </a:pPr>
            <a:r>
              <a:t>   • Các hạng mục "Đang báo giá (見積中)" được tách thành bảng riêng, không tự điền giá và không cộng vào tổng kinh phí trình duyệt đợt này.</a:t>
            </a:r>
          </a:p>
          <a:p>
            <a:pPr>
              <a:spcAft>
                <a:spcPts val="300"/>
              </a:spcAft>
              <a:defRPr sz="930" b="1">
                <a:solidFill>
                  <a:srgbClr val="1E242B"/>
                </a:solidFill>
                <a:latin typeface="Arial"/>
              </a:defRPr>
            </a:pPr>
            <a:r>
              <a:t>■ 3. Các khoản không đưa vào kinh phí đầu tư MP:</a:t>
            </a:r>
          </a:p>
          <a:p>
            <a:pPr>
              <a:spcAft>
                <a:spcPts val="300"/>
              </a:spcAft>
              <a:defRPr sz="930">
                <a:solidFill>
                  <a:srgbClr val="1E242B"/>
                </a:solidFill>
                <a:latin typeface="Arial"/>
              </a:defRPr>
            </a:pPr>
            <a:r>
              <a:t>   • Không tính 650 triệu VNĐ (25.000 USD) của Robot No.23 và 4.000 USD của Robot No.24 (đã hủy); phần mềm AI âm thanh lạ No.26 (600 vạn JPY / ~40.000 USD) chuyển sang R&amp;D dài hạn 2026-2030.</a:t>
            </a:r>
          </a:p>
        </p:txBody>
      </p:sp>
      <p:graphicFrame>
        <p:nvGraphicFramePr>
          <p:cNvPr id="14" name="Table 13"/>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468880"/>
                <a:gridCol w="1645920"/>
                <a:gridCol w="2423160"/>
                <a:gridCol w="2514600"/>
                <a:gridCol w="2590495"/>
              </a:tblGrid>
              <a:tr h="324612">
                <a:tc>
                  <a:txBody>
                    <a:bodyPr/>
                    <a:lstStyle/>
                    <a:p>
                      <a:pPr algn="ctr">
                        <a:defRPr sz="900" b="1">
                          <a:solidFill>
                            <a:srgbClr val="FFFFFF"/>
                          </a:solidFill>
                          <a:latin typeface="Arial"/>
                        </a:defRPr>
                      </a:pPr>
                      <a:r>
                        <a:t>Phân nhóm đề án tại Việt Nam</a:t>
                      </a:r>
                    </a:p>
                  </a:txBody>
                  <a:tcPr anchor="ctr" marL="45720" marR="45720" marT="18288" marB="18288">
                    <a:solidFill>
                      <a:srgbClr val="1B365D"/>
                    </a:solidFill>
                  </a:tcPr>
                </a:tc>
                <a:tc>
                  <a:txBody>
                    <a:bodyPr/>
                    <a:lstStyle/>
                    <a:p>
                      <a:pPr algn="ctr">
                        <a:defRPr sz="90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900" b="1">
                          <a:solidFill>
                            <a:srgbClr val="FFFFFF"/>
                          </a:solidFill>
                          <a:latin typeface="Arial"/>
                        </a:defRPr>
                      </a:pPr>
                      <a:r>
                        <a:t>Tổng thời gian giảm kỳ vọng</a:t>
                      </a:r>
                    </a:p>
                  </a:txBody>
                  <a:tcPr anchor="ctr" marL="45720" marR="45720" marT="18288" marB="18288">
                    <a:solidFill>
                      <a:srgbClr val="1B365D"/>
                    </a:solidFill>
                  </a:tcPr>
                </a:tc>
                <a:tc>
                  <a:txBody>
                    <a:bodyPr/>
                    <a:lstStyle/>
                    <a:p>
                      <a:pPr algn="ctr">
                        <a:defRPr sz="900" b="1">
                          <a:solidFill>
                            <a:srgbClr val="FFFFFF"/>
                          </a:solidFill>
                          <a:latin typeface="Arial"/>
                        </a:defRPr>
                      </a:pPr>
                      <a:r>
                        <a:t>Kinh phí xin phê duyệt đợt này</a:t>
                      </a:r>
                    </a:p>
                  </a:txBody>
                  <a:tcPr anchor="ctr" marL="45720" marR="45720" marT="18288" marB="18288">
                    <a:solidFill>
                      <a:srgbClr val="1B365D"/>
                    </a:solidFill>
                  </a:tcPr>
                </a:tc>
                <a:tc>
                  <a:txBody>
                    <a:bodyPr/>
                    <a:lstStyle/>
                    <a:p>
                      <a:pPr algn="ctr">
                        <a:defRPr sz="900" b="1">
                          <a:solidFill>
                            <a:srgbClr val="FFFFFF"/>
                          </a:solidFill>
                          <a:latin typeface="Arial"/>
                        </a:defRPr>
                      </a:pPr>
                      <a:r>
                        <a:t>Đề xuất xử lý</a:t>
                      </a:r>
                    </a:p>
                  </a:txBody>
                  <a:tcPr anchor="ctr" marL="45720" marR="45720" marT="18288" marB="18288">
                    <a:solidFill>
                      <a:srgbClr val="1B365D"/>
                    </a:solidFill>
                  </a:tcPr>
                </a:tc>
              </a:tr>
              <a:tr h="324612">
                <a:tc>
                  <a:txBody>
                    <a:bodyPr/>
                    <a:lstStyle/>
                    <a:p>
                      <a:pPr algn="l">
                        <a:defRPr sz="850" b="1">
                          <a:solidFill>
                            <a:srgbClr val="1E242B"/>
                          </a:solidFill>
                          <a:latin typeface="Arial"/>
                        </a:defRPr>
                      </a:pPr>
                      <a:r>
                        <a:t>1. Hạng mục đã có báo giá chi tiết (No.22)</a:t>
                      </a:r>
                    </a:p>
                  </a:txBody>
                  <a:tcPr anchor="ctr" marL="45720" marR="45720" marT="18288" marB="18288">
                    <a:solidFill>
                      <a:srgbClr val="EAF7EE"/>
                    </a:solidFill>
                  </a:tcPr>
                </a:tc>
                <a:tc>
                  <a:txBody>
                    <a:bodyPr/>
                    <a:lstStyle/>
                    <a:p>
                      <a:pPr algn="ctr">
                        <a:defRPr sz="850">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50">
                          <a:solidFill>
                            <a:srgbClr val="1E242B"/>
                          </a:solidFill>
                          <a:latin typeface="Arial"/>
                        </a:defRPr>
                      </a:pPr>
                      <a:r>
                        <a:t>-30,00 s/máy (-29,6 triệu VNĐ/năm)</a:t>
                      </a:r>
                    </a:p>
                  </a:txBody>
                  <a:tcPr anchor="ctr" marL="45720" marR="45720" marT="18288" marB="18288">
                    <a:solidFill>
                      <a:srgbClr val="EAF7EE"/>
                    </a:solidFill>
                  </a:tcPr>
                </a:tc>
                <a:tc>
                  <a:txBody>
                    <a:bodyPr/>
                    <a:lstStyle/>
                    <a:p>
                      <a:pPr algn="r">
                        <a:defRPr sz="850">
                          <a:solidFill>
                            <a:srgbClr val="1E242B"/>
                          </a:solidFill>
                          <a:latin typeface="Arial"/>
                        </a:defRPr>
                      </a:pPr>
                      <a:r>
                        <a:t>101.690.000 VNĐ (3.911,15 USD)</a:t>
                      </a:r>
                    </a:p>
                  </a:txBody>
                  <a:tcPr anchor="ctr" marL="45720" marR="45720" marT="18288" marB="18288">
                    <a:solidFill>
                      <a:srgbClr val="EAF7EE"/>
                    </a:solidFill>
                  </a:tcPr>
                </a:tc>
                <a:tc>
                  <a:txBody>
                    <a:bodyPr/>
                    <a:lstStyle/>
                    <a:p>
                      <a:pPr algn="l">
                        <a:defRPr sz="850">
                          <a:solidFill>
                            <a:srgbClr val="1E242B"/>
                          </a:solidFill>
                          <a:latin typeface="Arial"/>
                        </a:defRPr>
                      </a:pPr>
                      <a:r>
                        <a:t>Trình phê duyệt ngân sách đầu tư Đợt 1</a:t>
                      </a:r>
                    </a:p>
                  </a:txBody>
                  <a:tcPr anchor="ctr" marL="45720" marR="45720" marT="18288" marB="18288">
                    <a:solidFill>
                      <a:srgbClr val="EAF7EE"/>
                    </a:solidFill>
                  </a:tcPr>
                </a:tc>
              </a:tr>
              <a:tr h="324612">
                <a:tc>
                  <a:txBody>
                    <a:bodyPr/>
                    <a:lstStyle/>
                    <a:p>
                      <a:pPr algn="l">
                        <a:defRPr sz="850" b="1">
                          <a:solidFill>
                            <a:srgbClr val="1E242B"/>
                          </a:solidFill>
                          <a:latin typeface="Arial"/>
                        </a:defRPr>
                      </a:pPr>
                      <a:r>
                        <a:t>2. Hạng mục Đang báo giá (見積中) &amp; Cải tiến TK</a:t>
                      </a:r>
                    </a:p>
                  </a:txBody>
                  <a:tcPr anchor="ctr" marL="45720" marR="45720" marT="18288" marB="18288">
                    <a:solidFill>
                      <a:srgbClr val="F7F9FC"/>
                    </a:solidFill>
                  </a:tcPr>
                </a:tc>
                <a:tc>
                  <a:txBody>
                    <a:bodyPr/>
                    <a:lstStyle/>
                    <a:p>
                      <a:pPr algn="ctr">
                        <a:defRPr sz="850">
                          <a:solidFill>
                            <a:srgbClr val="1E242B"/>
                          </a:solidFill>
                          <a:latin typeface="Arial"/>
                        </a:defRPr>
                      </a:pPr>
                      <a:r>
                        <a:t>10 TB đang báo giá + 6 TK/FW</a:t>
                      </a:r>
                    </a:p>
                  </a:txBody>
                  <a:tcPr anchor="ctr" marL="45720" marR="45720" marT="18288" marB="18288">
                    <a:solidFill>
                      <a:srgbClr val="F7F9FC"/>
                    </a:solidFill>
                  </a:tcPr>
                </a:tc>
                <a:tc>
                  <a:txBody>
                    <a:bodyPr/>
                    <a:lstStyle/>
                    <a:p>
                      <a:pPr algn="ctr">
                        <a:defRPr sz="850">
                          <a:solidFill>
                            <a:srgbClr val="1E242B"/>
                          </a:solidFill>
                          <a:latin typeface="Arial"/>
                        </a:defRPr>
                      </a:pPr>
                      <a:r>
                        <a:t>-569,32 s ~ -581,32 s/máy</a:t>
                      </a:r>
                    </a:p>
                  </a:txBody>
                  <a:tcPr anchor="ctr" marL="45720" marR="45720" marT="18288" marB="18288">
                    <a:solidFill>
                      <a:srgbClr val="F7F9FC"/>
                    </a:solidFill>
                  </a:tcPr>
                </a:tc>
                <a:tc>
                  <a:txBody>
                    <a:bodyPr/>
                    <a:lstStyle/>
                    <a:p>
                      <a:pPr algn="r">
                        <a:defRPr sz="850">
                          <a:solidFill>
                            <a:srgbClr val="1E242B"/>
                          </a:solidFill>
                          <a:latin typeface="Arial"/>
                        </a:defRPr>
                      </a:pPr>
                      <a:r>
                        <a:t>0 VNĐ đợt này (Chờ báo giá / 0đ TB)</a:t>
                      </a:r>
                    </a:p>
                  </a:txBody>
                  <a:tcPr anchor="ctr" marL="45720" marR="45720" marT="18288" marB="18288">
                    <a:solidFill>
                      <a:srgbClr val="F7F9FC"/>
                    </a:solidFill>
                  </a:tcPr>
                </a:tc>
                <a:tc>
                  <a:txBody>
                    <a:bodyPr/>
                    <a:lstStyle/>
                    <a:p>
                      <a:pPr algn="l">
                        <a:defRPr sz="850">
                          <a:solidFill>
                            <a:srgbClr val="1E242B"/>
                          </a:solidFill>
                          <a:latin typeface="Arial"/>
                        </a:defRPr>
                      </a:pPr>
                      <a:r>
                        <a:t>Xin ý kiến kỹ thuật &amp; hoàn tất báo giá Đợt 2</a:t>
                      </a:r>
                    </a:p>
                  </a:txBody>
                  <a:tcPr anchor="ctr" marL="45720" marR="45720" marT="18288" marB="18288">
                    <a:solidFill>
                      <a:srgbClr val="F7F9FC"/>
                    </a:solidFill>
                  </a:tcPr>
                </a:tc>
              </a:tr>
              <a:tr h="324612">
                <a:tc>
                  <a:txBody>
                    <a:bodyPr/>
                    <a:lstStyle/>
                    <a:p>
                      <a:pPr algn="l">
                        <a:defRPr sz="850" b="1">
                          <a:solidFill>
                            <a:srgbClr val="1E242B"/>
                          </a:solidFill>
                          <a:latin typeface="Arial"/>
                        </a:defRPr>
                      </a:pPr>
                      <a:r>
                        <a:t>3. Phương án Đã hủy (No.23, 24) &amp; Dài hạn (No.26)</a:t>
                      </a:r>
                    </a:p>
                  </a:txBody>
                  <a:tcPr anchor="ctr" marL="45720" marR="45720" marT="18288" marB="18288">
                    <a:solidFill>
                      <a:srgbClr val="FDEDEC"/>
                    </a:solidFill>
                  </a:tcPr>
                </a:tc>
                <a:tc>
                  <a:txBody>
                    <a:bodyPr/>
                    <a:lstStyle/>
                    <a:p>
                      <a:pPr algn="ctr">
                        <a:defRPr sz="850">
                          <a:solidFill>
                            <a:srgbClr val="1E242B"/>
                          </a:solidFill>
                          <a:latin typeface="Arial"/>
                        </a:defRPr>
                      </a:pPr>
                      <a:r>
                        <a:t>2 đã hủy + 1 R&amp;D 2026-2030</a:t>
                      </a:r>
                    </a:p>
                  </a:txBody>
                  <a:tcPr anchor="ctr" marL="45720" marR="45720" marT="18288" marB="18288">
                    <a:solidFill>
                      <a:srgbClr val="FDEDEC"/>
                    </a:solidFill>
                  </a:tcPr>
                </a:tc>
                <a:tc>
                  <a:txBody>
                    <a:bodyPr/>
                    <a:lstStyle/>
                    <a:p>
                      <a:pPr algn="ctr">
                        <a:defRPr sz="850">
                          <a:solidFill>
                            <a:srgbClr val="1E242B"/>
                          </a:solidFill>
                          <a:latin typeface="Arial"/>
                        </a:defRPr>
                      </a:pPr>
                      <a:r>
                        <a:t>Đã thay bằng No.25, JP No.3 &amp; No.6</a:t>
                      </a:r>
                    </a:p>
                  </a:txBody>
                  <a:tcPr anchor="ctr" marL="45720" marR="45720" marT="18288" marB="18288">
                    <a:solidFill>
                      <a:srgbClr val="FDEDEC"/>
                    </a:solidFill>
                  </a:tcPr>
                </a:tc>
                <a:tc>
                  <a:txBody>
                    <a:bodyPr/>
                    <a:lstStyle/>
                    <a:p>
                      <a:pPr algn="r">
                        <a:defRPr sz="850">
                          <a:solidFill>
                            <a:srgbClr val="1E242B"/>
                          </a:solidFill>
                          <a:latin typeface="Arial"/>
                        </a:defRPr>
                      </a:pPr>
                      <a:r>
                        <a:t>0 VNĐ (Không tính 25.000$ &amp; 4.000$)</a:t>
                      </a:r>
                    </a:p>
                  </a:txBody>
                  <a:tcPr anchor="ctr" marL="45720" marR="45720" marT="18288" marB="18288">
                    <a:solidFill>
                      <a:srgbClr val="FDEDEC"/>
                    </a:solidFill>
                  </a:tcPr>
                </a:tc>
                <a:tc>
                  <a:txBody>
                    <a:bodyPr/>
                    <a:lstStyle/>
                    <a:p>
                      <a:pPr algn="l">
                        <a:defRPr sz="850">
                          <a:solidFill>
                            <a:srgbClr val="1E242B"/>
                          </a:solidFill>
                          <a:latin typeface="Arial"/>
                        </a:defRPr>
                      </a:pPr>
                      <a:r>
                        <a:t>Không đưa vào ngân sách đầu tư MP</a:t>
                      </a:r>
                    </a:p>
                  </a:txBody>
                  <a:tcPr anchor="ctr" marL="45720" marR="45720" marT="18288" marB="18288">
                    <a:solidFill>
                      <a:srgbClr val="FDEDE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Sản lượng Iris EXP tăng lên 16.000 máy/tháng và phương án theo mẫu Athena / 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Sản lượng Iris EXP tại VN là 16.000 máy/tháng (Takt time giảm từ 114s xuống 97s). Nếu giữ quy trình Iris2024 (2.350s/máy), nhân lực phải tăng từ 14-15 lên 18 người, nên cần thiết kế lại công đoạn theo mẫu Athena và Spica.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 (Nguồn đối chiếu)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Thiết kế chuẩn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 (第8回 S7)</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 (DR4 S2)</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 (調整工程計画)</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&gt;=50% (&lt;=1.175s)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 (工程表)</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 (DR4 &amp; DSLK)</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16 -&gt; 8 người (-50%)</a:t>
                      </a:r>
                      <a:br/>
                      <a:r>
                        <a:t>IrisEXP mục tiêu: 18 -&gt;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-&gt; Check -&gt; Chịu áp -&gt; Âm thanh -&gt;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công nhân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9" name="Picture 8"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10" name="Rectangle 9"/>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CĂN CỨ THIẾT KẾ CÔNG ĐOẠN THEO MẪU ATHENA &amp; SPICA (Nguồn: Athena保証工程取り組み説明2025 VN.pptx, 【Spica】保証工程構成.pptx, 第8回打ち合わせ資料.pptx)</a:t>
            </a:r>
          </a:p>
        </p:txBody>
      </p:sp>
      <p:sp>
        <p:nvSpPr>
          <p:cNvPr id="12" name="TextBox 11"/>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Chuyển từ "Công đoạn Điều chỉnh (調整工程)" sang "Công đoạn Bảo chứng thân máy (本体保証工程)":</a:t>
            </a:r>
          </a:p>
          <a:p>
            <a:pPr>
              <a:spcAft>
                <a:spcPts val="300"/>
              </a:spcAft>
              <a:defRPr sz="880">
                <a:solidFill>
                  <a:srgbClr val="1E242B"/>
                </a:solidFill>
                <a:latin typeface="Arial"/>
              </a:defRPr>
            </a:pPr>
            <a:r>
              <a:t>   • Quy trình Iris2024 hiện tại phải đo và chỉnh tay nhiều bước trên chuyền: đo belt, chỉnh góc vuông ISU/RCG, chỉnh lề RCC (tỷ lệ phải chỉnh lại tới 50%), chỉnh lề Gray US0 (30-40%), công nhân tự nhìn màn hình PC để phán định.</a:t>
            </a:r>
          </a:p>
          <a:p>
            <a:pPr>
              <a:spcAft>
                <a:spcPts val="300"/>
              </a:spcAft>
              <a:defRPr sz="880">
                <a:solidFill>
                  <a:srgbClr val="1E242B"/>
                </a:solidFill>
                <a:latin typeface="Arial"/>
              </a:defRPr>
            </a:pPr>
            <a:r>
              <a:t>   • Mẫu Athena gom thao tác vào khoảng 60 file kịch bản JSON/hướng xuất trên Host PC (2V9_7401), tự động gửi lệnh tuần tự và đọc kết quả phán định, giúp giảm nhân lực từ 16 người (Mercury4) xuống 8 người (Athena).</a:t>
            </a:r>
          </a:p>
          <a:p>
            <a:pPr>
              <a:spcAft>
                <a:spcPts val="300"/>
              </a:spcAft>
              <a:defRPr sz="880" b="1">
                <a:solidFill>
                  <a:srgbClr val="1E242B"/>
                </a:solidFill>
                <a:latin typeface="Arial"/>
              </a:defRPr>
            </a:pPr>
            <a:r>
              <a:t>■ 2. Khắc phục lỗi mất nguồn/mạng của Athena bằng cấu hình Mini PC của Spica cho sản lượng lớn tại Việt Nam (16.000 máy/tháng):</a:t>
            </a:r>
          </a:p>
          <a:p>
            <a:pPr>
              <a:spcAft>
                <a:spcPts val="300"/>
              </a:spcAft>
              <a:defRPr sz="880">
                <a:solidFill>
                  <a:srgbClr val="1E242B"/>
                </a:solidFill>
                <a:latin typeface="Arial"/>
              </a:defRPr>
            </a:pPr>
            <a:r>
              <a:t>   • Trên Athena (sản lượng 1.000 máy/tháng), mỗi máy gắn 1 Raspberry Pi (8.000-12.000 JPY) cấp nguồn bằng Pin sạc dự phòng (9.600 JPY + hộp sạc 190.000 JPY) để đi kèm AGV; thực tế bị lỗi tắt nguồn/rớt mạng Wi-Fi 2-3 lần/tuần.</a:t>
            </a:r>
          </a:p>
          <a:p>
            <a:pPr>
              <a:spcAft>
                <a:spcPts val="300"/>
              </a:spcAft>
              <a:defRPr sz="880">
                <a:solidFill>
                  <a:srgbClr val="1E242B"/>
                </a:solidFill>
                <a:latin typeface="Arial"/>
              </a:defRPr>
            </a:pPr>
            <a:r>
              <a:t>   • Với Iris EXP (VN: 16.000 máy/tháng, CN: 2.700 máy/tháng), kỳ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Đối chiếu thay đổi qua các kỳ họp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Theo biên bản Kỳ 8, DR4, Kỳ 11-12 và tài liệu 24/09/2026: Mục tiêu "Tăng gấp đôi năng suất / giảm 50% nhân lực" từng tạm rút tại Kỳ 11, hiện được ghi nhận ở mức "Quyết định tạm thời (仮決定)".</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nguồn đối chiếu</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&amp; Ghi chú</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hoặc tự động hóa &gt;=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(x2);</a:t>
                      </a:r>
                      <a:br/>
                      <a:r>
                        <a:t>Nhân lực VN: 18 người -&gt; 9 người (A-1: 4 người -&gt;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&gt;= 50% thời gian thao tác:</a:t>
                      </a:r>
                      <a:br/>
                      <a:r>
                        <a:t>• VN: giảm &gt;=1.175s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&gt;= 3 mục kiểm tra thủ công (WTB, Belt, Điện)</a:t>
                      </a:r>
                      <a:br/>
                      <a:r>
                        <a:t>② Giảm 1/2 số tờ in: Print 17 -&gt; 9 tờ; Copy 2 -&gt; 1 tờ</a:t>
                      </a:r>
                    </a:p>
                  </a:txBody>
                  <a:tcPr anchor="ctr" marL="45720" marR="45720" marT="18288" marB="18288">
                    <a:solidFill>
                      <a:srgbClr val="F7F9FC"/>
                    </a:solidFill>
                  </a:tcPr>
                </a:tc>
                <a:tc>
                  <a:txBody>
                    <a:bodyPr/>
                    <a:lstStyle/>
                    <a:p>
                      <a:pPr algn="l">
                        <a:defRPr sz="800">
                          <a:solidFill>
                            <a:srgbClr val="1E242B"/>
                          </a:solidFill>
                          <a:latin typeface="Arial"/>
                        </a:defRPr>
                      </a:pPr>
                      <a:r>
                        <a:t>Đưa ra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Ông Goto (後藤) tạm rút con số "Năng suất x2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Mới xác nhận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&gt;= 3 mục kiểm tra</a:t>
                      </a:r>
                      <a:br/>
                      <a:r>
                        <a:t>• Giảm 1/2 mẫu in (Print 17-&gt;9, Copy 2-&gt;1)</a:t>
                      </a:r>
                    </a:p>
                  </a:txBody>
                  <a:tcPr anchor="ctr" marL="45720" marR="45720" marT="18288" marB="18288">
                    <a:solidFill>
                      <a:srgbClr val="FDEDEC"/>
                    </a:solidFill>
                  </a:tcPr>
                </a:tc>
                <a:tc>
                  <a:txBody>
                    <a:bodyPr/>
                    <a:lstStyle/>
                    <a:p>
                      <a:pPr algn="l">
                        <a:defRPr sz="800">
                          <a:solidFill>
                            <a:srgbClr val="1E242B"/>
                          </a:solidFill>
                          <a:latin typeface="Arial"/>
                        </a:defRPr>
                      </a:pPr>
                      <a:r>
                        <a:t>Tạm rút khỏi mục tiêu chính thức tại Kỳ 11 do chưa đủ đối sách cắt giảm đủ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mẫu in Print (仮決定)</a:t>
                      </a:r>
                      <a:br/>
                      <a:r>
                        <a:t>• Năng lực công đoạn khi MP: Cpk &gt;= 1,33 (仮決定)</a:t>
                      </a:r>
                    </a:p>
                  </a:txBody>
                  <a:tcPr anchor="ctr" marL="45720" marR="45720" marT="18288" marB="18288">
                    <a:solidFill>
                      <a:srgbClr val="EAF7EE"/>
                    </a:solidFill>
                  </a:tcPr>
                </a:tc>
                <a:tc>
                  <a:txBody>
                    <a:bodyPr/>
                    <a:lstStyle/>
                    <a:p>
                      <a:pPr algn="l">
                        <a:defRPr sz="800">
                          <a:solidFill>
                            <a:srgbClr val="1E242B"/>
                          </a:solidFill>
                          <a:latin typeface="Arial"/>
                        </a:defRPr>
                      </a:pPr>
                      <a:r>
                        <a:t>Đang giữ ở mức "Quyết định tạm thời (仮決定)", chờ PE Leader xác nhận cuối cùng</a:t>
                      </a:r>
                    </a:p>
                  </a:txBody>
                  <a:tcPr anchor="ctr" marL="45720" marR="45720" marT="18288" marB="18288">
                    <a:solidFill>
                      <a:srgbClr val="EAF7EE"/>
                    </a:solidFill>
                  </a:tcPr>
                </a:tc>
              </a:tr>
            </a:tbl>
          </a:graphicData>
        </a:graphic>
      </p:graphicFrame>
      <p:sp>
        <p:nvSpPr>
          <p:cNvPr id="9" name="Rectangle 8"/>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THỐNG NHẤT 3 CỨ ĐIỂM)</a:t>
            </a:r>
          </a:p>
        </p:txBody>
      </p:sp>
      <p:sp>
        <p:nvSpPr>
          <p:cNvPr id="11" name="TextBox 10"/>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hoặc giảm &gt;=1/2 thời gian cho ít nhất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giảm 29,16s chuẩn / 60s tại K1 VN).</a:t>
            </a:r>
          </a:p>
          <a:p>
            <a:pPr>
              <a:spcAft>
                <a:spcPts val="200"/>
              </a:spcAft>
              <a:defRPr sz="800">
                <a:solidFill>
                  <a:srgbClr val="1E242B"/>
                </a:solidFill>
                <a:latin typeface="Arial"/>
              </a:defRPr>
            </a:pPr>
            <a:r>
              <a:t>   • Hạng mục 2: Xóa kiểm tra lại tọa độ Panel U201 bằng tay, chuyển sang đối chiếu log Host PC (JP No.3, 削除確定 giảm 15,12s).</a:t>
            </a:r>
          </a:p>
          <a:p>
            <a:pPr>
              <a:spcAft>
                <a:spcPts val="200"/>
              </a:spcAft>
              <a:defRPr sz="800">
                <a:solidFill>
                  <a:srgbClr val="1E242B"/>
                </a:solidFill>
                <a:latin typeface="Arial"/>
              </a:defRPr>
            </a:pPr>
            <a:r>
              <a:t>   • Hạng mục 3: Xóa kiểm tra nhận diện khổ giấy/lượng giấy Cassette 1/2 thủ công (VN No.34, giảm 66,68s) và kiểm tra cảm biến người/công tắc cửa.</a:t>
            </a:r>
          </a:p>
          <a:p>
            <a:pPr>
              <a:spcAft>
                <a:spcPts val="200"/>
              </a:spcAft>
              <a:defRPr sz="800" b="1">
                <a:solidFill>
                  <a:srgbClr val="1E242B"/>
                </a:solidFill>
                <a:latin typeface="Arial"/>
              </a:defRPr>
            </a:pPr>
            <a:r>
              <a:t>✔ 2. Giảm 1/2 số tờ in kiểm tra: Print giảm từ 17 tờ xuống 9 tờ (gộp RC9+RCG, bỏ Calibration Process...); Copy giảm từ 2 tờ xuống 1 tờ (gộp DC-1 + Gray).</a:t>
            </a:r>
          </a:p>
        </p:txBody>
      </p:sp>
      <p:sp>
        <p:nvSpPr>
          <p:cNvPr id="12" name="Rectangle 11"/>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LƯU Ý VỀ CHỈ TIÊU GIẢM 50% THỜI GIAN GIỮA CÔNG TY MẸ (JP) VÀ NHÀ MÁY VIỆT NAM</a:t>
            </a:r>
          </a:p>
        </p:txBody>
      </p:sp>
      <p:sp>
        <p:nvSpPr>
          <p:cNvPr id="14" name="TextBox 13"/>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Lý do Kỳ 11 tạm rút mục tiêu "Giảm 50% nhân lực / Năng suất x2"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toàn bộ các dòng đánh dấu xóa (削) là -267,74s (-21,2%), chưa đủ 50% nếu chỉ dựa vào việc xóa bước.</a:t>
            </a:r>
          </a:p>
          <a:p>
            <a:pPr>
              <a:spcAft>
                <a:spcPts val="200"/>
              </a:spcAft>
              <a:defRPr sz="800" b="1">
                <a:solidFill>
                  <a:srgbClr val="1E242B"/>
                </a:solidFill>
                <a:latin typeface="Arial"/>
              </a:defRPr>
            </a:pPr>
            <a:r>
              <a:t>⚠ 2. Kế hoạch thực hiện tại nhà máy Việt Nam (KDTVN):</a:t>
            </a:r>
          </a:p>
          <a:p>
            <a:pPr>
              <a:spcAft>
                <a:spcPts val="200"/>
              </a:spcAft>
              <a:defRPr sz="800">
                <a:solidFill>
                  <a:srgbClr val="1E242B"/>
                </a:solidFill>
                <a:latin typeface="Arial"/>
              </a:defRPr>
            </a:pPr>
            <a:r>
              <a:t>   • Trong biểu mục tiêu chất lượng nội bộ (KDTVN-A-QA-QA-BM-003-F), phòng KTCT VN vẫn đặt mục tiêu giảm &gt;=50% (1.175s / 2.350s) vào tháng 03/2027 nhờ kết hợp 20 đề án tự động hóa của VN với các đề án xóa bước của JP/CN.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20 đề án Việt Nam trong tổng số 38 đề án toàn chương trình (Tách riêng với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Nhà máy Việt Nam đề xuất 20 đề án (11 đề án tháng 8 + 9 đề án bổ sung tháng 9) cùng phương án nạp FW tại Partner; tổng thời gian có thể giảm của riêng đề án VN là ~599,32s-611,32s/máy.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pic>
        <p:nvPicPr>
          <p:cNvPr id="8" name="Picture 7"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9" name="Table 8"/>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417320"/>
                <a:gridCol w="1143000"/>
                <a:gridCol w="1143000"/>
                <a:gridCol w="117317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 ngân sách</a:t>
                      </a:r>
                    </a:p>
                  </a:txBody>
                  <a:tcPr anchor="ctr" marL="45720" marR="45720" marT="18288" marB="18288">
                    <a:solidFill>
                      <a:srgbClr val="1B365D"/>
                    </a:solidFill>
                  </a:tcPr>
                </a:tc>
              </a:tr>
              <a:tr h="359228">
                <a:tc>
                  <a:txBody>
                    <a:bodyPr/>
                    <a:lstStyle/>
                    <a:p>
                      <a:pPr algn="ctr">
                        <a:defRPr sz="76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6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6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6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6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6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60">
                          <a:solidFill>
                            <a:srgbClr val="1E242B"/>
                          </a:solidFill>
                          <a:latin typeface="Arial"/>
                        </a:defRPr>
                      </a:pPr>
                      <a:r>
                        <a:t>No.21, 31, 32</a:t>
                      </a:r>
                    </a:p>
                  </a:txBody>
                  <a:tcPr anchor="ctr" marL="45720" marR="45720" marT="18288" marB="18288">
                    <a:solidFill>
                      <a:srgbClr val="F7F9FC"/>
                    </a:solidFill>
                  </a:tcPr>
                </a:tc>
                <a:tc>
                  <a:txBody>
                    <a:bodyPr/>
                    <a:lstStyle/>
                    <a:p>
                      <a:pPr algn="ctr">
                        <a:defRPr sz="76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60">
                          <a:solidFill>
                            <a:srgbClr val="1E242B"/>
                          </a:solidFill>
                          <a:latin typeface="Arial"/>
                        </a:defRPr>
                      </a:pPr>
                      <a:r>
                        <a:t>-65,00s ~ -110,00s</a:t>
                      </a:r>
                    </a:p>
                  </a:txBody>
                  <a:tcPr anchor="ctr" marL="45720" marR="45720" marT="18288" marB="18288">
                    <a:solidFill>
                      <a:srgbClr val="F7F9FC"/>
                    </a:solidFill>
                  </a:tcPr>
                </a:tc>
                <a:tc>
                  <a:txBody>
                    <a:bodyPr/>
                    <a:lstStyle/>
                    <a:p>
                      <a:pPr algn="l">
                        <a:defRPr sz="76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60">
                          <a:solidFill>
                            <a:srgbClr val="1E242B"/>
                          </a:solidFill>
                          <a:latin typeface="Arial"/>
                        </a:defRPr>
                      </a:pPr>
                      <a:r>
                        <a:t>No.22, 33, 34, 35</a:t>
                      </a:r>
                    </a:p>
                  </a:txBody>
                  <a:tcPr anchor="ctr" marL="45720" marR="45720" marT="18288" marB="18288">
                    <a:solidFill>
                      <a:srgbClr val="EAF7EE"/>
                    </a:solidFill>
                  </a:tcPr>
                </a:tc>
                <a:tc>
                  <a:txBody>
                    <a:bodyPr/>
                    <a:lstStyle/>
                    <a:p>
                      <a:pPr algn="ctr">
                        <a:defRPr sz="76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60">
                          <a:solidFill>
                            <a:srgbClr val="1E242B"/>
                          </a:solidFill>
                          <a:latin typeface="Arial"/>
                        </a:defRPr>
                      </a:pPr>
                      <a:r>
                        <a:t>-158,32s ~ -200,00s</a:t>
                      </a:r>
                    </a:p>
                  </a:txBody>
                  <a:tcPr anchor="ctr" marL="45720" marR="45720" marT="18288" marB="18288">
                    <a:solidFill>
                      <a:srgbClr val="EAF7EE"/>
                    </a:solidFill>
                  </a:tcPr>
                </a:tc>
                <a:tc>
                  <a:txBody>
                    <a:bodyPr/>
                    <a:lstStyle/>
                    <a:p>
                      <a:pPr algn="l">
                        <a:defRPr sz="760">
                          <a:solidFill>
                            <a:srgbClr val="1E242B"/>
                          </a:solidFill>
                          <a:latin typeface="Arial"/>
                        </a:defRPr>
                      </a:pPr>
                      <a:r>
                        <a:t>No.22: 101,69 tr VNĐ</a:t>
                      </a:r>
                      <a:br/>
                      <a:r>
                        <a:t>2 Báo giá | 1 TK (0đ)</a:t>
                      </a:r>
                    </a:p>
                  </a:txBody>
                  <a:tcPr anchor="ctr" marL="45720" marR="45720" marT="18288" marB="18288">
                    <a:solidFill>
                      <a:srgbClr val="EAF7EE"/>
                    </a:solidFill>
                  </a:tcPr>
                </a:tc>
              </a:tr>
              <a:tr h="359228">
                <a:tc>
                  <a:txBody>
                    <a:bodyPr/>
                    <a:lstStyle/>
                    <a:p>
                      <a:pPr algn="ctr">
                        <a:defRPr sz="760" b="1">
                          <a:solidFill>
                            <a:srgbClr val="1E242B"/>
                          </a:solidFill>
                          <a:latin typeface="Arial"/>
                        </a:defRPr>
                      </a:pPr>
                      <a:r>
                        <a:t>K4 -&gt; A-4 đầu</a:t>
                      </a:r>
                      <a:br/>
                      <a:r>
                        <a:t>(Scan, USB, U201)</a:t>
                      </a:r>
                    </a:p>
                  </a:txBody>
                  <a:tcPr anchor="ctr" marL="45720" marR="45720" marT="18288" marB="18288">
                    <a:solidFill>
                      <a:srgbClr val="F7F9FC"/>
                    </a:solidFill>
                  </a:tcPr>
                </a:tc>
                <a:tc>
                  <a:txBody>
                    <a:bodyPr/>
                    <a:lstStyle/>
                    <a:p>
                      <a:pPr algn="l">
                        <a:defRPr sz="760">
                          <a:solidFill>
                            <a:srgbClr val="1E242B"/>
                          </a:solidFill>
                          <a:latin typeface="Arial"/>
                        </a:defRPr>
                      </a:pPr>
                      <a:r>
                        <a:t>No.25 (thay No.23),</a:t>
                      </a:r>
                      <a:br/>
                      <a:r>
                        <a:t>No.36, 37 (+ hủy No.24)</a:t>
                      </a:r>
                    </a:p>
                  </a:txBody>
                  <a:tcPr anchor="ctr" marL="45720" marR="45720" marT="18288" marB="18288">
                    <a:solidFill>
                      <a:srgbClr val="F7F9FC"/>
                    </a:solidFill>
                  </a:tcPr>
                </a:tc>
                <a:tc>
                  <a:txBody>
                    <a:bodyPr/>
                    <a:lstStyle/>
                    <a:p>
                      <a:pPr algn="ctr">
                        <a:defRPr sz="760">
                          <a:solidFill>
                            <a:srgbClr val="1E242B"/>
                          </a:solidFill>
                          <a:latin typeface="Arial"/>
                        </a:defRPr>
                      </a:pPr>
                      <a:r>
                        <a:t>480,00 s</a:t>
                      </a:r>
                      <a:br/>
                      <a:r>
                        <a:t>(gồm 285s U950)</a:t>
                      </a:r>
                    </a:p>
                  </a:txBody>
                  <a:tcPr anchor="ctr" marL="45720" marR="45720" marT="18288" marB="18288">
                    <a:solidFill>
                      <a:srgbClr val="F7F9FC"/>
                    </a:solidFill>
                  </a:tcPr>
                </a:tc>
                <a:tc>
                  <a:txBody>
                    <a:bodyPr/>
                    <a:lstStyle/>
                    <a:p>
                      <a:pPr algn="ctr">
                        <a:defRPr sz="760">
                          <a:solidFill>
                            <a:srgbClr val="1E242B"/>
                          </a:solidFill>
                          <a:latin typeface="Arial"/>
                        </a:defRPr>
                      </a:pPr>
                      <a:r>
                        <a:t>-153,88s ~ -170,00s</a:t>
                      </a:r>
                    </a:p>
                  </a:txBody>
                  <a:tcPr anchor="ctr" marL="45720" marR="45720" marT="18288" marB="18288">
                    <a:solidFill>
                      <a:srgbClr val="F7F9FC"/>
                    </a:solidFill>
                  </a:tcPr>
                </a:tc>
                <a:tc>
                  <a:txBody>
                    <a:bodyPr/>
                    <a:lstStyle/>
                    <a:p>
                      <a:pPr algn="l">
                        <a:defRPr sz="760">
                          <a:solidFill>
                            <a:srgbClr val="1E242B"/>
                          </a:solidFill>
                          <a:latin typeface="Arial"/>
                        </a:defRPr>
                      </a:pPr>
                      <a:r>
                        <a:t>No.25: Đang báo giá</a:t>
                      </a:r>
                      <a:br/>
                      <a:r>
                        <a:t>(Hủy 2 Robot 29k$)</a:t>
                      </a:r>
                    </a:p>
                  </a:txBody>
                  <a:tcPr anchor="ctr" marL="45720" marR="45720" marT="18288" marB="18288">
                    <a:solidFill>
                      <a:srgbClr val="F7F9FC"/>
                    </a:solidFill>
                  </a:tcPr>
                </a:tc>
              </a:tr>
              <a:tr h="359228">
                <a:tc>
                  <a:txBody>
                    <a:bodyPr/>
                    <a:lstStyle/>
                    <a:p>
                      <a:pPr algn="ctr">
                        <a:defRPr sz="760" b="1">
                          <a:solidFill>
                            <a:srgbClr val="1E242B"/>
                          </a:solidFill>
                          <a:latin typeface="Arial"/>
                        </a:defRPr>
                      </a:pPr>
                      <a:r>
                        <a:t>K6, K7, K8 -&gt; A-4</a:t>
                      </a:r>
                      <a:br/>
                      <a:r>
                        <a:t>(Ảnh, Âm, Xuất)</a:t>
                      </a:r>
                    </a:p>
                  </a:txBody>
                  <a:tcPr anchor="ctr" marL="45720" marR="45720" marT="18288" marB="18288">
                    <a:solidFill>
                      <a:srgbClr val="FFFFFF"/>
                    </a:solidFill>
                  </a:tcPr>
                </a:tc>
                <a:tc>
                  <a:txBody>
                    <a:bodyPr/>
                    <a:lstStyle/>
                    <a:p>
                      <a:pPr algn="l">
                        <a:defRPr sz="760">
                          <a:solidFill>
                            <a:srgbClr val="1E242B"/>
                          </a:solidFill>
                          <a:latin typeface="Arial"/>
                        </a:defRPr>
                      </a:pPr>
                      <a:r>
                        <a:t>No.26 (Dài hạn),</a:t>
                      </a:r>
                      <a:br/>
                      <a:r>
                        <a:t>No.27, No.28</a:t>
                      </a:r>
                    </a:p>
                  </a:txBody>
                  <a:tcPr anchor="ctr" marL="45720" marR="45720" marT="18288" marB="18288">
                    <a:solidFill>
                      <a:srgbClr val="FFFFFF"/>
                    </a:solidFill>
                  </a:tcPr>
                </a:tc>
                <a:tc>
                  <a:txBody>
                    <a:bodyPr/>
                    <a:lstStyle/>
                    <a:p>
                      <a:pPr algn="ctr">
                        <a:defRPr sz="76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6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60">
                          <a:solidFill>
                            <a:srgbClr val="1E242B"/>
                          </a:solidFill>
                          <a:latin typeface="Arial"/>
                        </a:defRPr>
                      </a:pPr>
                      <a:r>
                        <a:t>No.27, 28: Báo giá</a:t>
                      </a:r>
                      <a:br/>
                      <a:r>
                        <a:t>No.26: R&amp;D 26-30</a:t>
                      </a:r>
                    </a:p>
                  </a:txBody>
                  <a:tcPr anchor="ctr" marL="45720" marR="45720" marT="18288" marB="18288">
                    <a:solidFill>
                      <a:srgbClr val="FFFFFF"/>
                    </a:solidFill>
                  </a:tcPr>
                </a:tc>
              </a:tr>
              <a:tr h="359232">
                <a:tc>
                  <a:txBody>
                    <a:bodyPr/>
                    <a:lstStyle/>
                    <a:p>
                      <a:pPr algn="ctr">
                        <a:defRPr sz="76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60">
                          <a:solidFill>
                            <a:srgbClr val="1E242B"/>
                          </a:solidFill>
                          <a:latin typeface="Arial"/>
                        </a:defRPr>
                      </a:pPr>
                      <a:r>
                        <a:t>20 đề án (18 khả thi)</a:t>
                      </a:r>
                    </a:p>
                  </a:txBody>
                  <a:tcPr anchor="ctr" marL="45720" marR="45720" marT="18288" marB="18288">
                    <a:solidFill>
                      <a:srgbClr val="E8EEF5"/>
                    </a:solidFill>
                  </a:tcPr>
                </a:tc>
                <a:tc>
                  <a:txBody>
                    <a:bodyPr/>
                    <a:lstStyle/>
                    <a:p>
                      <a:pPr algn="ctr">
                        <a:defRPr sz="76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60">
                          <a:solidFill>
                            <a:srgbClr val="1E242B"/>
                          </a:solidFill>
                          <a:latin typeface="Arial"/>
                        </a:defRPr>
                      </a:pPr>
                      <a:r>
                        <a:t>~599,32s - 611,32s*</a:t>
                      </a:r>
                    </a:p>
                  </a:txBody>
                  <a:tcPr anchor="ctr" marL="45720" marR="45720" marT="18288" marB="18288">
                    <a:solidFill>
                      <a:srgbClr val="E8EEF5"/>
                    </a:solidFill>
                  </a:tcPr>
                </a:tc>
                <a:tc>
                  <a:txBody>
                    <a:bodyPr/>
                    <a:lstStyle/>
                    <a:p>
                      <a:pPr algn="l">
                        <a:defRPr sz="760">
                          <a:solidFill>
                            <a:srgbClr val="1E242B"/>
                          </a:solidFill>
                          <a:latin typeface="Arial"/>
                        </a:defRPr>
                      </a:pPr>
                      <a:r>
                        <a:t>Duyệt: 101,69 tr VNĐ</a:t>
                      </a:r>
                    </a:p>
                  </a:txBody>
                  <a:tcPr anchor="ctr" marL="45720" marR="45720" marT="18288" marB="18288">
                    <a:solidFill>
                      <a:srgbClr val="E8EEF5"/>
                    </a:solidFill>
                  </a:tcPr>
                </a:tc>
              </a:tr>
            </a:tbl>
          </a:graphicData>
        </a:graphic>
      </p:graphicFrame>
      <p:sp>
        <p:nvSpPr>
          <p:cNvPr id="10" name="Rectangle 9"/>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NHÓM 20 ĐỀ ÁN CỦA VIỆT NAM (TÁCH RIÊNG VỚI 7 ĐỀ ÁN CỦA JP VÀ 11 ĐỀ ÁN CỦA CN)</a:t>
            </a:r>
          </a:p>
        </p:txBody>
      </p:sp>
      <p:sp>
        <p:nvSpPr>
          <p:cNvPr id="12" name="TextBox 11"/>
          <p:cNvSpPr txBox="1"/>
          <p:nvPr/>
        </p:nvSpPr>
        <p:spPr>
          <a:xfrm>
            <a:off x="347472" y="4187952"/>
            <a:ext cx="11496751" cy="2249424"/>
          </a:xfrm>
          <a:prstGeom prst="rect">
            <a:avLst/>
          </a:prstGeom>
          <a:noFill/>
        </p:spPr>
        <p:txBody>
          <a:bodyPr wrap="square" lIns="36576" rIns="36576" tIns="18288" bIns="18288">
            <a:spAutoFit/>
          </a:bodyPr>
          <a:lstStyle/>
          <a:p>
            <a:pPr>
              <a:spcAft>
                <a:spcPts val="300"/>
              </a:spcAft>
              <a:defRPr sz="840" b="1">
                <a:solidFill>
                  <a:srgbClr val="1E242B"/>
                </a:solidFill>
                <a:latin typeface="Arial"/>
              </a:defRPr>
            </a:pPr>
            <a:r>
              <a:t>■ 1. Nhóm A - 11 đề án Việt Nam lập tháng 8/2026 (IrisEXP報告.pptx Slide 3 &amp; IrisEXP改善提案まとめ.xlsx No.18 ~ No.28):</a:t>
            </a:r>
          </a:p>
          <a:p>
            <a:pPr>
              <a:spcAft>
                <a:spcPts val="300"/>
              </a:spcAft>
              <a:defRPr sz="840">
                <a:solidFill>
                  <a:srgbClr val="1E242B"/>
                </a:solidFill>
                <a:latin typeface="Arial"/>
              </a:defRPr>
            </a:pPr>
            <a:r>
              <a:t>   • Giải pháp thiết bị, đồ gá và mạng hóa tại 4 trạm A-1 ~ A-4: (1) Gá nạp FW 4 máy đồng thời [No.18], (2) Không tháo nắp/cáp khi nạp FW &amp; TLBĐ [No.19], (3) Lấy log kiểm tra qua mạng LAN thay USB [No.20], (4) Gá kiểm tra Option bằng nam châm [No.21], (5) Tự động kiểm tra thông mạch, tiếp địa, cách điện chịu áp [No.22: Đã có BOM 101,69 triệu VNĐ], (6) Quét bản thảo liên tục bằng DP của máy + PC tự động đánh giá [No.25: Thay thế Robot ISU No.23], (7) Camera đo nồng độ, đo lề, PPT [No.27], (8) Tự động thiết lập xuất hàng qua mạng [No.28].</a:t>
            </a:r>
          </a:p>
          <a:p>
            <a:pPr>
              <a:spcAft>
                <a:spcPts val="300"/>
              </a:spcAft>
              <a:defRPr sz="840">
                <a:solidFill>
                  <a:srgbClr val="1E242B"/>
                </a:solidFill>
                <a:latin typeface="Arial"/>
              </a:defRPr>
            </a:pPr>
            <a:r>
              <a:t>   • Tách riêng 2 đề án Robot đã hủy sau DR4: Robot đặt bản thảo mặt kính ISU [No.23: 650 triệu VNĐ / 25.000 USD] &amp; Robot cắm USB/chạm U201 [No.24: 4.000 USD]; cùng 1 đề án chuyển nghiên cứu dài hạn 2026-2030: Phần mềm AI kiểm tra âm thanh lạ &amp; nhiệt độ [No.26: 600 vạn JPY / ~40.000 USD].</a:t>
            </a:r>
          </a:p>
          <a:p>
            <a:pPr>
              <a:spcAft>
                <a:spcPts val="300"/>
              </a:spcAft>
              <a:defRPr sz="840" b="1">
                <a:solidFill>
                  <a:srgbClr val="1E242B"/>
                </a:solidFill>
                <a:latin typeface="Arial"/>
              </a:defRPr>
            </a:pPr>
            <a:r>
              <a:t>■ 2. Nhóm B - 9 đề án Việt Nam bổ sung tháng 9/2026 (IrisEXP VN改善案LIST.xlsx &amp; IrisEXP改善提案まとめ.xlsx No.29 ~ No.37):</a:t>
            </a:r>
          </a:p>
          <a:p>
            <a:pPr>
              <a:spcAft>
                <a:spcPts val="300"/>
              </a:spcAft>
              <a:defRPr sz="840">
                <a:solidFill>
                  <a:srgbClr val="1E242B"/>
                </a:solidFill>
                <a:latin typeface="Arial"/>
              </a:defRPr>
            </a:pPr>
            <a:r>
              <a:t>   • Do 11 đề án đợt 1 chưa đủ giảm 50% thời gian (1.175s), KDTVN rà soát tiếp các thao tác thủ công tại K1-K4 và đề xuất thêm 9 mục: 6 kiến nghị Thiết kế JP sửa bản mạch/phần mềm để tự kiểm tra (Hộp mực [No.29], Mực thải WTB [No.30], Không cắm dây Option [No.32], Nhận diện cỡ/lượng giấy Cassette 1/2 [No.34], Đóng mở Cover Right [No.36], Bỏ đo lệch Transfer Belt [No.37]) và 3 đề án thiết bị / chuyển công đoạn (Đóng mở Cassette tải nặng [No.31], Lắp 6 tấm vỏ máy [No.33], Đặt giấy tự động [No.35]).</a:t>
            </a:r>
          </a:p>
          <a:p>
            <a:pPr>
              <a:spcAft>
                <a:spcPts val="300"/>
              </a:spcAft>
              <a:defRPr sz="840">
                <a:solidFill>
                  <a:srgbClr val="1E242B"/>
                </a:solidFill>
                <a:latin typeface="Arial"/>
              </a:defRPr>
            </a:pPr>
            <a:r>
              <a:t>   • Ghi chú cách tính (*): Mức giảm ~599,32s-611,32s/máy của các đề án VN không tính trùng giữa Robot ISU đã hủy (No.23: 110s) và Quét DP liên tục (No.25: 110s). Khi gộp thêm các mục giảm tờ in/bỏ Calibration tại K5 của JP &amp; CN (-178,56s ~ -267,74s) và giảm thời gian chờ máy sẽ tiến tới mốc -1.175s.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đề án VN tại A-1 ~ A-3 và phương án nạp FW tại Partner giúp giảm ~173s-185s/máy, giảm 1 công nhân tại A-1; trong đó Đề án No.22 đã có báo giá BOM 101,69 triệu VNĐ.</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 &amp;</a:t>
                      </a:r>
                      <a:br/>
                      <a:r>
                        <a:t>Trạng thái giá</a:t>
                      </a:r>
                    </a:p>
                  </a:txBody>
                  <a:tcPr anchor="ctr" marL="45720" marR="45720" marT="18288" marB="18288">
                    <a:solidFill>
                      <a:srgbClr val="1B365D"/>
                    </a:solidFill>
                  </a:tcPr>
                </a:tc>
                <a:tc>
                  <a:txBody>
                    <a:bodyPr/>
                    <a:lstStyle/>
                    <a:p>
                      <a:pPr algn="ctr">
                        <a:defRPr sz="819" b="1">
                          <a:solidFill>
                            <a:srgbClr val="FFFFFF"/>
                          </a:solidFill>
                          <a:latin typeface="Arial"/>
                        </a:defRPr>
                      </a:pPr>
                      <a:r>
                        <a:t>Tiến độ / Nguồn</a:t>
                      </a:r>
                      <a:br/>
                      <a:r>
                        <a:t>đối chiếu</a:t>
                      </a:r>
                    </a:p>
                  </a:txBody>
                  <a:tcPr anchor="ctr" marL="45720" marR="45720" marT="18288" marB="18288">
                    <a:solidFill>
                      <a:srgbClr val="1B365D"/>
                    </a:solidFill>
                  </a:tcPr>
                </a:tc>
              </a:tr>
              <a:tr h="741970">
                <a:tc>
                  <a:txBody>
                    <a:bodyPr/>
                    <a:lstStyle/>
                    <a:p>
                      <a:pPr algn="ctr">
                        <a:defRPr sz="76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6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60">
                          <a:solidFill>
                            <a:srgbClr val="1E242B"/>
                          </a:solidFill>
                          <a:latin typeface="Arial"/>
                        </a:defRPr>
                      </a:pPr>
                      <a:r>
                        <a:t>Nạp FW bằng USB từng máy (90s/máy). 1 công nhân đứng chờ thao tác cắm/rút USB và bấm khởi động.</a:t>
                      </a:r>
                    </a:p>
                  </a:txBody>
                  <a:tcPr anchor="ctr" marL="45720" marR="45720" marT="18288" marB="18288">
                    <a:solidFill>
                      <a:srgbClr val="FFFFFF"/>
                    </a:solidFill>
                  </a:tcPr>
                </a:tc>
                <a:tc>
                  <a:txBody>
                    <a:bodyPr/>
                    <a:lstStyle/>
                    <a:p>
                      <a:pPr algn="l">
                        <a:defRPr sz="760">
                          <a:solidFill>
                            <a:srgbClr val="1E242B"/>
                          </a:solidFill>
                          <a:latin typeface="Arial"/>
                        </a:defRPr>
                      </a:pPr>
                      <a:r>
                        <a:t>Thiết kế trạm A-1 cho phép 1 công nhân vận hành nạp FW đồng thời 4 máy qua hệ thống Mini PC / mạng LAN.</a:t>
                      </a:r>
                    </a:p>
                  </a:txBody>
                  <a:tcPr anchor="ctr" marL="45720" marR="45720" marT="18288" marB="18288">
                    <a:solidFill>
                      <a:srgbClr val="FFFFFF"/>
                    </a:solidFill>
                  </a:tcPr>
                </a:tc>
                <a:tc>
                  <a:txBody>
                    <a:bodyPr/>
                    <a:lstStyle/>
                    <a:p>
                      <a:pPr algn="l">
                        <a:defRPr sz="76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thiết kế chuẩn A-1</a:t>
                      </a:r>
                      <a:br/>
                      <a:r>
                        <a:t>(IrisEXP報告 S3;</a:t>
                      </a:r>
                      <a:br/>
                      <a:r>
                        <a:t>まとめ Row 32)</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6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6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6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60">
                          <a:solidFill>
                            <a:srgbClr val="1E242B"/>
                          </a:solidFill>
                          <a:latin typeface="Arial"/>
                        </a:defRPr>
                      </a:pPr>
                      <a:r>
                        <a:t>• Giảm 13s ~ 25s thao tác tay; chu kỳ A-1 giảm 379s -&gt; 279s (354s -&gt; 254s)</a:t>
                      </a:r>
                      <a:br/>
                      <a:r>
                        <a:t>• Giảm 1 người tại A-1 (từ 4 -&gt; 3 người)</a:t>
                      </a:r>
                    </a:p>
                  </a:txBody>
                  <a:tcPr anchor="ctr" marL="45720" marR="45720" marT="18288" marB="18288">
                    <a:solidFill>
                      <a:srgbClr val="E8EEF5"/>
                    </a:solidFill>
                  </a:tcPr>
                </a:tc>
                <a:tc>
                  <a:txBody>
                    <a:bodyPr/>
                    <a:lstStyle/>
                    <a:p>
                      <a:pPr algn="ctr">
                        <a:defRPr sz="76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60">
                          <a:solidFill>
                            <a:srgbClr val="1E242B"/>
                          </a:solidFill>
                          <a:latin typeface="Arial"/>
                        </a:defRPr>
                      </a:pPr>
                      <a:r>
                        <a:t>Đang xác nhận với TK JP &amp; Partner</a:t>
                      </a:r>
                      <a:br/>
                      <a:r>
                        <a:t>(開発目標 Sheet 4;</a:t>
                      </a:r>
                      <a:br/>
                      <a:r>
                        <a:t>第11回, 第13回)</a:t>
                      </a:r>
                    </a:p>
                  </a:txBody>
                  <a:tcPr anchor="ctr" marL="45720" marR="45720" marT="18288" marB="18288">
                    <a:solidFill>
                      <a:srgbClr val="E8EEF5"/>
                    </a:solidFill>
                  </a:tcPr>
                </a:tc>
              </a:tr>
              <a:tr h="741970">
                <a:tc>
                  <a:txBody>
                    <a:bodyPr/>
                    <a:lstStyle/>
                    <a:p>
                      <a:pPr algn="ctr">
                        <a:defRPr sz="76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6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6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6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6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60">
                          <a:solidFill>
                            <a:srgbClr val="1E242B"/>
                          </a:solidFill>
                          <a:latin typeface="Arial"/>
                        </a:defRPr>
                      </a:pPr>
                      <a:r>
                        <a:t>Đang xác nhận điều kiện với TK JP</a:t>
                      </a:r>
                      <a:br/>
                      <a:r>
                        <a:t>(IrisEXP報告 S3;</a:t>
                      </a:r>
                      <a:br/>
                      <a:r>
                        <a:t>まとめ Row 33)</a:t>
                      </a:r>
                    </a:p>
                  </a:txBody>
                  <a:tcPr anchor="ctr" marL="45720" marR="45720" marT="18288" marB="18288">
                    <a:solidFill>
                      <a:srgbClr val="FFFFFF"/>
                    </a:solidFill>
                  </a:tcPr>
                </a:tc>
              </a:tr>
              <a:tr h="741970">
                <a:tc>
                  <a:txBody>
                    <a:bodyPr/>
                    <a:lstStyle/>
                    <a:p>
                      <a:pPr algn="ctr">
                        <a:defRPr sz="760" b="1">
                          <a:solidFill>
                            <a:srgbClr val="1E242B"/>
                          </a:solidFill>
                          <a:latin typeface="Arial"/>
                        </a:defRPr>
                      </a:pPr>
                      <a:r>
                        <a:t>No.20</a:t>
                      </a:r>
                      <a:br/>
                      <a:r>
                        <a:t>(K1 -&gt; A-1)</a:t>
                      </a:r>
                    </a:p>
                  </a:txBody>
                  <a:tcPr anchor="ctr" marL="45720" marR="45720" marT="18288" marB="18288">
                    <a:solidFill>
                      <a:srgbClr val="F7F9FC"/>
                    </a:solidFill>
                  </a:tcPr>
                </a:tc>
                <a:tc>
                  <a:txBody>
                    <a:bodyPr/>
                    <a:lstStyle/>
                    <a:p>
                      <a:pPr algn="l">
                        <a:defRPr sz="76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60">
                          <a:solidFill>
                            <a:srgbClr val="1E242B"/>
                          </a:solidFill>
                          <a:latin typeface="Arial"/>
                        </a:defRPr>
                      </a:pPr>
                      <a:r>
                        <a:t>Công nhân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60">
                          <a:solidFill>
                            <a:srgbClr val="1E242B"/>
                          </a:solidFill>
                          <a:latin typeface="Arial"/>
                        </a:defRPr>
                      </a:pPr>
                      <a:r>
                        <a:t>Truyền trực tiếp dữ liệu log kiểm tra từ máy về Host PC qua mạng nội bộ (LAN/VLAN qua Mini PC).</a:t>
                      </a:r>
                    </a:p>
                  </a:txBody>
                  <a:tcPr anchor="ctr" marL="45720" marR="45720" marT="18288" marB="18288">
                    <a:solidFill>
                      <a:srgbClr val="F7F9FC"/>
                    </a:solidFill>
                  </a:tcPr>
                </a:tc>
                <a:tc>
                  <a:txBody>
                    <a:bodyPr/>
                    <a:lstStyle/>
                    <a:p>
                      <a:pPr algn="l">
                        <a:defRPr sz="76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60">
                          <a:solidFill>
                            <a:srgbClr val="1E242B"/>
                          </a:solidFill>
                          <a:latin typeface="Arial"/>
                        </a:defRPr>
                      </a:pPr>
                      <a:r>
                        <a:t>Tích hợp vào hệ thống Host PC / Mini PC</a:t>
                      </a:r>
                      <a:br/>
                      <a:r>
                        <a:t>(IrisEXP報告 S3;</a:t>
                      </a:r>
                      <a:br/>
                      <a:r>
                        <a:t>まとめ Row 34)</a:t>
                      </a:r>
                    </a:p>
                  </a:txBody>
                  <a:tcPr anchor="ctr" marL="45720" marR="45720" marT="18288" marB="18288">
                    <a:solidFill>
                      <a:srgbClr val="F7F9FC"/>
                    </a:solidFill>
                  </a:tcPr>
                </a:tc>
              </a:tr>
              <a:tr h="741970">
                <a:tc>
                  <a:txBody>
                    <a:bodyPr/>
                    <a:lstStyle/>
                    <a:p>
                      <a:pPr algn="ctr">
                        <a:defRPr sz="76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6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6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6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6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6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60">
                          <a:solidFill>
                            <a:srgbClr val="1E242B"/>
                          </a:solidFill>
                          <a:latin typeface="Arial"/>
                        </a:defRPr>
                      </a:pPr>
                      <a:r>
                        <a:t>Đang báo giá chế tạo đồ gá (Đồng bộ CN No.17)</a:t>
                      </a:r>
                      <a:br/>
                      <a:r>
                        <a:t>(まとめ Row 35)</a:t>
                      </a:r>
                    </a:p>
                  </a:txBody>
                  <a:tcPr anchor="ctr" marL="45720" marR="45720" marT="18288" marB="18288">
                    <a:solidFill>
                      <a:srgbClr val="FFFFFF"/>
                    </a:solidFill>
                  </a:tcPr>
                </a:tc>
              </a:tr>
              <a:tr h="741972">
                <a:tc>
                  <a:txBody>
                    <a:bodyPr/>
                    <a:lstStyle/>
                    <a:p>
                      <a:pPr algn="ctr">
                        <a:defRPr sz="76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60">
                          <a:solidFill>
                            <a:srgbClr val="1E242B"/>
                          </a:solidFill>
                          <a:latin typeface="Arial"/>
                        </a:defRPr>
                      </a:pPr>
                      <a:r>
                        <a:t>Tự động hóa kiểm tra thông mạch, tiếp địa, cách điện chịu áp</a:t>
                      </a:r>
                      <a:br/>
                      <a:r>
                        <a:t>(自動導通・耐圧検査の自動化)</a:t>
                      </a:r>
                    </a:p>
                  </a:txBody>
                  <a:tcPr anchor="ctr" marL="45720" marR="45720" marT="18288" marB="18288">
                    <a:solidFill>
                      <a:srgbClr val="EAF7EE"/>
                    </a:solidFill>
                  </a:tcPr>
                </a:tc>
                <a:tc>
                  <a:txBody>
                    <a:bodyPr/>
                    <a:lstStyle/>
                    <a:p>
                      <a:pPr algn="l">
                        <a:defRPr sz="760">
                          <a:solidFill>
                            <a:srgbClr val="1E242B"/>
                          </a:solidFill>
                          <a:latin typeface="Arial"/>
                        </a:defRPr>
                      </a:pPr>
                      <a:r>
                        <a:t>Công nhân cắm nguồn, kẹp que đo tiếp địa, bấm máy đo Chroma 19032 và quét barcode thủ công (20s tiếp địa + 10s chịu áp = 30s/máy).</a:t>
                      </a:r>
                    </a:p>
                  </a:txBody>
                  <a:tcPr anchor="ctr" marL="45720" marR="45720" marT="18288" marB="18288">
                    <a:solidFill>
                      <a:srgbClr val="EAF7EE"/>
                    </a:solidFill>
                  </a:tcPr>
                </a:tc>
                <a:tc>
                  <a:txBody>
                    <a:bodyPr/>
                    <a:lstStyle/>
                    <a:p>
                      <a:pPr algn="l">
                        <a:defRPr sz="760">
                          <a:solidFill>
                            <a:srgbClr val="1E242B"/>
                          </a:solidFill>
                          <a:latin typeface="Arial"/>
                        </a:defRPr>
                      </a:pPr>
                      <a:r>
                        <a:t>Chế tạo hệ thống tự động: 4 Xylanh khí nén SMC tự động cắm nguồn/chạm kim tiếp địa/bấm nút + PLC FX5U + HMI GOT2000 + Đầu đọc Barcode cố định.</a:t>
                      </a:r>
                      <a:br/>
                      <a:r>
                        <a:t>※ Quyết định DR4: Phải đo khi ĐÃ ĐÓNG VỎ MÁY tại A-3 để phát hiện lỗi kẹt dây điện.</a:t>
                      </a:r>
                    </a:p>
                  </a:txBody>
                  <a:tcPr anchor="ctr" marL="45720" marR="45720" marT="18288" marB="18288">
                    <a:solidFill>
                      <a:srgbClr val="EAF7EE"/>
                    </a:solidFill>
                  </a:tcPr>
                </a:tc>
                <a:tc>
                  <a:txBody>
                    <a:bodyPr/>
                    <a:lstStyle/>
                    <a:p>
                      <a:pPr algn="l">
                        <a:defRPr sz="760">
                          <a:solidFill>
                            <a:srgbClr val="1E242B"/>
                          </a:solidFill>
                          <a:latin typeface="Arial"/>
                        </a:defRPr>
                      </a:pPr>
                      <a:r>
                        <a:t>• Giảm 30,00 s/máy</a:t>
                      </a:r>
                      <a:br/>
                      <a:r>
                        <a:t>• Tiết kiệm nhân công: 29.600.000 VNĐ/năm (1.138,46 USD/năm)</a:t>
                      </a:r>
                      <a:br/>
                      <a:r>
                        <a:t>• Tự động lưu kết quả barcode</a:t>
                      </a:r>
                    </a:p>
                  </a:txBody>
                  <a:tcPr anchor="ctr" marL="45720" marR="45720" marT="18288" marB="18288">
                    <a:solidFill>
                      <a:srgbClr val="EAF7EE"/>
                    </a:solidFill>
                  </a:tcPr>
                </a:tc>
                <a:tc>
                  <a:txBody>
                    <a:bodyPr/>
                    <a:lstStyle/>
                    <a:p>
                      <a:pPr algn="ctr">
                        <a:defRPr sz="760" b="1">
                          <a:solidFill>
                            <a:srgbClr val="1E6E3E"/>
                          </a:solidFill>
                          <a:latin typeface="Arial"/>
                        </a:defRPr>
                      </a:pPr>
                      <a:r>
                        <a:t>ĐÃ CÓ BÁO GIÁ:</a:t>
                      </a:r>
                      <a:br/>
                      <a:r>
                        <a:t>101.690.000 VNĐ</a:t>
                      </a:r>
                      <a:br/>
                      <a:r>
                        <a:t>(3.911,15 USD theo BOM 25 mục)</a:t>
                      </a:r>
                      <a:br/>
                      <a:r>
                        <a:t>[Thuyết minh: 101,7tr;</a:t>
                      </a:r>
                      <a:br/>
                      <a:r>
                        <a:t>纏め: 4.000 USD]</a:t>
                      </a:r>
                    </a:p>
                  </a:txBody>
                  <a:tcPr anchor="ctr" marL="45720" marR="45720" marT="18288" marB="18288">
                    <a:solidFill>
                      <a:srgbClr val="EAF7EE"/>
                    </a:solidFill>
                  </a:tcPr>
                </a:tc>
                <a:tc>
                  <a:txBody>
                    <a:bodyPr/>
                    <a:lstStyle/>
                    <a:p>
                      <a:pPr algn="l">
                        <a:defRPr sz="760">
                          <a:solidFill>
                            <a:srgbClr val="1E242B"/>
                          </a:solidFill>
                          <a:latin typeface="Arial"/>
                        </a:defRPr>
                      </a:pPr>
                      <a:r>
                        <a:t>Đề nghị phê duyệt đầu tư đợt này</a:t>
                      </a:r>
                      <a:br/>
                      <a:r>
                        <a:t>(VN提案.xlsx;</a:t>
                      </a:r>
                      <a:br/>
                      <a:r>
                        <a:t>まとめ Row 36;</a:t>
                      </a:r>
                      <a:br/>
                      <a:r>
                        <a:t>DR 4.pdf)</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A-4 (No.23 ~ No.28) &amp; Đối chiếu 2 phương án Robot đã hủy sau DR4</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Hai đề án Robot (No.23: 650 triệu VNĐ / 25.000 USD và No.24: 4.000 USD) đã hủy sau DR4; được thay bằng Quét liên tục qua DP (No.25, -110s) và Camera đo nồng độ/lề/PPT (No.27, -177s ~ -215s).</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Quyết định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&amp; Trạng thái báo giá</a:t>
                      </a:r>
                    </a:p>
                  </a:txBody>
                  <a:tcPr anchor="ctr" marL="45720" marR="45720" marT="18288" marB="18288">
                    <a:solidFill>
                      <a:srgbClr val="1B365D"/>
                    </a:solidFill>
                  </a:tcPr>
                </a:tc>
                <a:tc>
                  <a:txBody>
                    <a:bodyPr/>
                    <a:lstStyle/>
                    <a:p>
                      <a:pPr algn="ctr">
                        <a:defRPr sz="800" b="1">
                          <a:solidFill>
                            <a:srgbClr val="FFFFFF"/>
                          </a:solidFill>
                          <a:latin typeface="Arial"/>
                        </a:defRPr>
                      </a:pPr>
                      <a:r>
                        <a:t>Quyết định / Nguồn đối chiếu</a:t>
                      </a:r>
                    </a:p>
                  </a:txBody>
                  <a:tcPr anchor="ctr" marL="45720" marR="45720" marT="18288" marB="18288">
                    <a:solidFill>
                      <a:srgbClr val="1B365D"/>
                    </a:solidFill>
                  </a:tcPr>
                </a:tc>
              </a:tr>
              <a:tr h="568234">
                <a:tc>
                  <a:txBody>
                    <a:bodyPr/>
                    <a:lstStyle/>
                    <a:p>
                      <a:pPr algn="ctr">
                        <a:defRPr sz="740" b="1">
                          <a:solidFill>
                            <a:srgbClr val="B8292F"/>
                          </a:solidFill>
                          <a:latin typeface="Arial"/>
                        </a:defRPr>
                      </a:pPr>
                      <a:r>
                        <a:t>No.23</a:t>
                      </a:r>
                      <a:br/>
                      <a:r>
                        <a:t>(K4 -&gt; A-4)</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Chế tạo Robot đặt bản thảo lên mặt kính ISU</a:t>
                      </a:r>
                      <a:br/>
                      <a:r>
                        <a:t>(ISU原稿セットロボット)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mở nắp Platen, đặt/lấy 3 bản thảo lên kính ISU: U411 (45s) + SITC-2 (35s) + Halftone (30s) = 110s/máy.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mở rộng 2 cell băng tải (200tr) + cấp nguồn (50tr) + định vị USB/LAN (50tr) + Cánh tay Robot (350tr). ĐÃ HỦY tại 連携会 7 / DR4 do chi phí cao, hoàn vốn &gt;6 năm, tốn diện tích.</a:t>
                      </a:r>
                    </a:p>
                  </a:txBody>
                  <a:tcPr anchor="ctr" marL="45720" marR="45720" marT="18288" marB="18288">
                    <a:solidFill>
                      <a:srgbClr val="FDEDEC"/>
                    </a:solidFill>
                  </a:tcPr>
                </a:tc>
                <a:tc>
                  <a:txBody>
                    <a:bodyPr/>
                    <a:lstStyle/>
                    <a:p>
                      <a:pPr algn="l">
                        <a:defRPr sz="740">
                          <a:solidFill>
                            <a:srgbClr val="1E242B"/>
                          </a:solidFill>
                          <a:latin typeface="Arial"/>
                        </a:defRPr>
                      </a:pPr>
                      <a:r>
                        <a:t>• Mục tiêu: -110s/máy (108,53tr VNĐ/năm)</a:t>
                      </a:r>
                      <a:br/>
                      <a:r>
                        <a:t>• Hoàn vốn &gt;6 năm -&gt; HỦY BỎ</a:t>
                      </a:r>
                    </a:p>
                  </a:txBody>
                  <a:tcPr anchor="ctr" marL="45720" marR="45720" marT="18288" marB="18288">
                    <a:solidFill>
                      <a:srgbClr val="FDEDEC"/>
                    </a:solidFill>
                  </a:tcPr>
                </a:tc>
                <a:tc>
                  <a:txBody>
                    <a:bodyPr/>
                    <a:lstStyle/>
                    <a:p>
                      <a:pPr algn="ctr">
                        <a:defRPr sz="740" b="1">
                          <a:solidFill>
                            <a:srgbClr val="B8292F"/>
                          </a:solidFill>
                          <a:latin typeface="Arial"/>
                        </a:defRPr>
                      </a:pPr>
                      <a:r>
                        <a:t>650.000.000 VNĐ</a:t>
                      </a:r>
                      <a:br/>
                      <a:r>
                        <a:t>(25.000 USD)</a:t>
                      </a:r>
                      <a:br/>
                      <a:r>
                        <a:t>[ĐÃ HỦY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(廃止)</a:t>
                      </a:r>
                      <a:br/>
                      <a:r>
                        <a:t>Thay bằng No.25</a:t>
                      </a:r>
                      <a:br/>
                      <a:r>
                        <a:t>(VN提案.xlsx;</a:t>
                      </a:r>
                      <a:br/>
                      <a:r>
                        <a:t>第7回.txt; R37)</a:t>
                      </a:r>
                    </a:p>
                  </a:txBody>
                  <a:tcPr anchor="ctr" marL="45720" marR="45720" marT="18288" marB="18288">
                    <a:solidFill>
                      <a:srgbClr val="FDEDEC"/>
                    </a:solidFill>
                  </a:tcPr>
                </a:tc>
              </a:tr>
              <a:tr h="568234">
                <a:tc>
                  <a:txBody>
                    <a:bodyPr/>
                    <a:lstStyle/>
                    <a:p>
                      <a:pPr algn="ctr">
                        <a:defRPr sz="740" b="1">
                          <a:solidFill>
                            <a:srgbClr val="B8292F"/>
                          </a:solidFill>
                          <a:latin typeface="Arial"/>
                        </a:defRPr>
                      </a:pPr>
                      <a:r>
                        <a:t>No.24</a:t>
                      </a:r>
                      <a:br/>
                      <a:r>
                        <a:t>(K4 -&gt; A-2)</a:t>
                      </a:r>
                      <a:br/>
                      <a:r>
                        <a:t>[ĐÃ HỦY]</a:t>
                      </a:r>
                    </a:p>
                  </a:txBody>
                  <a:tcPr anchor="ctr" marL="45720" marR="45720" marT="18288" marB="18288">
                    <a:solidFill>
                      <a:srgbClr val="FDEDEC"/>
                    </a:solidFill>
                  </a:tcPr>
                </a:tc>
                <a:tc>
                  <a:txBody>
                    <a:bodyPr/>
                    <a:lstStyle/>
                    <a:p>
                      <a:pPr algn="l">
                        <a:defRPr sz="740" b="1">
                          <a:solidFill>
                            <a:srgbClr val="B8292F"/>
                          </a:solidFill>
                          <a:latin typeface="Arial"/>
                        </a:defRPr>
                      </a:pPr>
                      <a:r>
                        <a:t>[ĐÃ HỦY SAU DR4]</a:t>
                      </a:r>
                      <a:br/>
                      <a:r>
                        <a:t>Robot kiểm tra nhận diện USB &amp; tọa độ Panel U201</a:t>
                      </a:r>
                      <a:br/>
                      <a:r>
                        <a:t>(USB・U201検査ロボット)</a:t>
                      </a:r>
                    </a:p>
                  </a:txBody>
                  <a:tcPr anchor="ctr" marL="45720" marR="45720" marT="18288" marB="18288">
                    <a:solidFill>
                      <a:srgbClr val="FDEDEC"/>
                    </a:solidFill>
                  </a:tcPr>
                </a:tc>
                <a:tc>
                  <a:txBody>
                    <a:bodyPr/>
                    <a:lstStyle/>
                    <a:p>
                      <a:pPr algn="l">
                        <a:defRPr sz="740">
                          <a:solidFill>
                            <a:srgbClr val="1E242B"/>
                          </a:solidFill>
                          <a:latin typeface="Arial"/>
                        </a:defRPr>
                      </a:pPr>
                      <a:r>
                        <a:t>Công nhân cắm/rút USB kiểm tra nhận diện (15s) và dùng bút chạm 3 điểm trên màn hình U201 (15s) = 30s/máy.</a:t>
                      </a:r>
                    </a:p>
                  </a:txBody>
                  <a:tcPr anchor="ctr" marL="45720" marR="45720" marT="18288" marB="18288">
                    <a:solidFill>
                      <a:srgbClr val="FDEDEC"/>
                    </a:solidFill>
                  </a:tcPr>
                </a:tc>
                <a:tc>
                  <a:txBody>
                    <a:bodyPr/>
                    <a:lstStyle/>
                    <a:p>
                      <a:pPr algn="l">
                        <a:defRPr sz="740" b="1">
                          <a:solidFill>
                            <a:srgbClr val="B8292F"/>
                          </a:solidFill>
                          <a:latin typeface="Arial"/>
                        </a:defRPr>
                      </a:pPr>
                      <a:r>
                        <a:t>Dự kiến làm cơ cấu tự động cắm USB &amp; chạm Panel. ĐÃ HỦY (見送り) vì USB đã được bảo chứng khi nạp FW đầu chuyền (JP No.6) và U201 chuyển sang đọc log từ Panel Assy qua Host PC (JP No.3).</a:t>
                      </a:r>
                    </a:p>
                  </a:txBody>
                  <a:tcPr anchor="ctr" marL="45720" marR="45720" marT="18288" marB="18288">
                    <a:solidFill>
                      <a:srgbClr val="FDEDEC"/>
                    </a:solidFill>
                  </a:tcPr>
                </a:tc>
                <a:tc>
                  <a:txBody>
                    <a:bodyPr/>
                    <a:lstStyle/>
                    <a:p>
                      <a:pPr algn="l">
                        <a:defRPr sz="740">
                          <a:solidFill>
                            <a:srgbClr val="1E242B"/>
                          </a:solidFill>
                          <a:latin typeface="Arial"/>
                        </a:defRPr>
                      </a:pPr>
                      <a:r>
                        <a:t>• Xóa 30s tại VN (15,12s U201 + 3,96s USB chuẩn) bằng phần mềm 0 đồng TB</a:t>
                      </a:r>
                    </a:p>
                  </a:txBody>
                  <a:tcPr anchor="ctr" marL="45720" marR="45720" marT="18288" marB="18288">
                    <a:solidFill>
                      <a:srgbClr val="FDEDEC"/>
                    </a:solidFill>
                  </a:tcPr>
                </a:tc>
                <a:tc>
                  <a:txBody>
                    <a:bodyPr/>
                    <a:lstStyle/>
                    <a:p>
                      <a:pPr algn="ctr">
                        <a:defRPr sz="740" b="1">
                          <a:solidFill>
                            <a:srgbClr val="B8292F"/>
                          </a:solidFill>
                          <a:latin typeface="Arial"/>
                        </a:defRPr>
                      </a:pPr>
                      <a:r>
                        <a:t>4.000 USD</a:t>
                      </a:r>
                      <a:br/>
                      <a:r>
                        <a:t>(~104 triệu VNĐ)</a:t>
                      </a:r>
                      <a:br/>
                      <a:r>
                        <a:t>[ĐÃ HỦY - KHÔNG DÙNG]</a:t>
                      </a:r>
                    </a:p>
                  </a:txBody>
                  <a:tcPr anchor="ctr" marL="45720" marR="45720" marT="18288" marB="18288">
                    <a:solidFill>
                      <a:srgbClr val="FDEDEC"/>
                    </a:solidFill>
                  </a:tcPr>
                </a:tc>
                <a:tc>
                  <a:txBody>
                    <a:bodyPr/>
                    <a:lstStyle/>
                    <a:p>
                      <a:pPr algn="l">
                        <a:defRPr sz="740" b="1">
                          <a:solidFill>
                            <a:srgbClr val="B8292F"/>
                          </a:solidFill>
                          <a:latin typeface="Arial"/>
                        </a:defRPr>
                      </a:pPr>
                      <a:r>
                        <a:t>ĐÃ HỦY ROBOT</a:t>
                      </a:r>
                      <a:br/>
                      <a:r>
                        <a:t>Đã xóa bước nhờ JP No.3 &amp; No.6</a:t>
                      </a:r>
                      <a:br/>
                      <a:r>
                        <a:t>(VN提案; 第7回)</a:t>
                      </a:r>
                    </a:p>
                  </a:txBody>
                  <a:tcPr anchor="ctr" marL="45720" marR="45720" marT="18288" marB="18288">
                    <a:solidFill>
                      <a:srgbClr val="FDEDEC"/>
                    </a:solidFill>
                  </a:tcPr>
                </a:tc>
              </a:tr>
              <a:tr h="568234">
                <a:tc>
                  <a:txBody>
                    <a:bodyPr/>
                    <a:lstStyle/>
                    <a:p>
                      <a:pPr algn="ctr">
                        <a:defRPr sz="740" b="1">
                          <a:solidFill>
                            <a:srgbClr val="1E242B"/>
                          </a:solidFill>
                          <a:latin typeface="Arial"/>
                        </a:defRPr>
                      </a:pPr>
                      <a:r>
                        <a:t>No.25</a:t>
                      </a:r>
                      <a:br/>
                      <a:r>
                        <a:t>(K4 -&gt; A-4)</a:t>
                      </a:r>
                      <a:br/>
                      <a:r>
                        <a:t>[ĐƯỢC CHỌN]</a:t>
                      </a:r>
                    </a:p>
                  </a:txBody>
                  <a:tcPr anchor="ctr" marL="45720" marR="45720" marT="18288" marB="18288">
                    <a:solidFill>
                      <a:srgbClr val="EAF7EE"/>
                    </a:solidFill>
                  </a:tcPr>
                </a:tc>
                <a:tc>
                  <a:txBody>
                    <a:bodyPr/>
                    <a:lstStyle/>
                    <a:p>
                      <a:pPr algn="l">
                        <a:defRPr sz="740">
                          <a:solidFill>
                            <a:srgbClr val="1E242B"/>
                          </a:solidFill>
                          <a:latin typeface="Arial"/>
                        </a:defRPr>
                      </a:pPr>
                      <a:r>
                        <a:t>Quét bản thảo liên tục bằng bộ nạp DP của máy + PC tự động đánh giá</a:t>
                      </a:r>
                      <a:br/>
                      <a:r>
                        <a:t>(本体DP連続スキャン＋PC自動判定)</a:t>
                      </a:r>
                    </a:p>
                  </a:txBody>
                  <a:tcPr anchor="ctr" marL="45720" marR="45720" marT="18288" marB="18288">
                    <a:solidFill>
                      <a:srgbClr val="EAF7EE"/>
                    </a:solidFill>
                  </a:tcPr>
                </a:tc>
                <a:tc>
                  <a:txBody>
                    <a:bodyPr/>
                    <a:lstStyle/>
                    <a:p>
                      <a:pPr algn="l">
                        <a:defRPr sz="740">
                          <a:solidFill>
                            <a:srgbClr val="1E242B"/>
                          </a:solidFill>
                          <a:latin typeface="Arial"/>
                        </a:defRPr>
                      </a:pPr>
                      <a:r>
                        <a:t>Đặt từng tờ bản thảo lên mặt kính ISU thủ công tốn 110s/máy (U411 45s + SITC-2 35s + Halftone 30s).</a:t>
                      </a:r>
                    </a:p>
                  </a:txBody>
                  <a:tcPr anchor="ctr" marL="45720" marR="45720" marT="18288" marB="18288">
                    <a:solidFill>
                      <a:srgbClr val="EAF7EE"/>
                    </a:solidFill>
                  </a:tcPr>
                </a:tc>
                <a:tc>
                  <a:txBody>
                    <a:bodyPr/>
                    <a:lstStyle/>
                    <a:p>
                      <a:pPr algn="l">
                        <a:defRPr sz="740">
                          <a:solidFill>
                            <a:srgbClr val="1E242B"/>
                          </a:solidFill>
                          <a:latin typeface="Arial"/>
                        </a:defRPr>
                      </a:pPr>
                      <a:r>
                        <a:t>Phương án thay thế Robot No.23: Đặt cả xấp bản thảo vào khay nạp tự động DP (Document Processor) của máy MFP để máy tự kéo giấy quét liên tục 1 lần và gửi ảnh về PC phán định.</a:t>
                      </a:r>
                    </a:p>
                  </a:txBody>
                  <a:tcPr anchor="ctr" marL="45720" marR="45720" marT="18288" marB="18288">
                    <a:solidFill>
                      <a:srgbClr val="EAF7EE"/>
                    </a:solidFill>
                  </a:tcPr>
                </a:tc>
                <a:tc>
                  <a:txBody>
                    <a:bodyPr/>
                    <a:lstStyle/>
                    <a:p>
                      <a:pPr algn="l">
                        <a:defRPr sz="740">
                          <a:solidFill>
                            <a:srgbClr val="1E242B"/>
                          </a:solidFill>
                          <a:latin typeface="Arial"/>
                        </a:defRPr>
                      </a:pPr>
                      <a:r>
                        <a:t>• Giảm 110,00 s/máy</a:t>
                      </a:r>
                      <a:br/>
                      <a:r>
                        <a:t>• Không tốn diện tích mở rộng 2 cell băng tải và không cần Robot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br/>
                      <a:r>
                        <a:t>[Không dùng giá 650tr của No.23]</a:t>
                      </a:r>
                    </a:p>
                  </a:txBody>
                  <a:tcPr anchor="ctr" marL="45720" marR="45720" marT="18288" marB="18288">
                    <a:solidFill>
                      <a:srgbClr val="EAF7EE"/>
                    </a:solidFill>
                  </a:tcPr>
                </a:tc>
                <a:tc>
                  <a:txBody>
                    <a:bodyPr/>
                    <a:lstStyle/>
                    <a:p>
                      <a:pPr algn="l">
                        <a:defRPr sz="740">
                          <a:solidFill>
                            <a:srgbClr val="1E242B"/>
                          </a:solidFill>
                          <a:latin typeface="Arial"/>
                        </a:defRPr>
                      </a:pPr>
                      <a:r>
                        <a:t>Đang kiểm chứng độ chính xác DP vs ISU</a:t>
                      </a:r>
                      <a:br/>
                      <a:r>
                        <a:t>(まとめ Row 39;</a:t>
                      </a:r>
                      <a:br/>
                      <a:r>
                        <a:t>第13回~17回)</a:t>
                      </a:r>
                    </a:p>
                  </a:txBody>
                  <a:tcPr anchor="ctr" marL="45720" marR="45720" marT="18288" marB="18288">
                    <a:solidFill>
                      <a:srgbClr val="EAF7EE"/>
                    </a:solidFill>
                  </a:tcPr>
                </a:tc>
              </a:tr>
              <a:tr h="568234">
                <a:tc>
                  <a:txBody>
                    <a:bodyPr/>
                    <a:lstStyle/>
                    <a:p>
                      <a:pPr algn="ctr">
                        <a:defRPr sz="740" b="1">
                          <a:solidFill>
                            <a:srgbClr val="1E242B"/>
                          </a:solidFill>
                          <a:latin typeface="Arial"/>
                        </a:defRPr>
                      </a:pPr>
                      <a:r>
                        <a:t>No.26</a:t>
                      </a:r>
                      <a:br/>
                      <a:r>
                        <a:t>(K6 -&gt; A-3)</a:t>
                      </a:r>
                      <a:br/>
                      <a:r>
                        <a:t>[DÀI HẠN]</a:t>
                      </a:r>
                    </a:p>
                  </a:txBody>
                  <a:tcPr anchor="ctr" marL="45720" marR="45720" marT="18288" marB="18288">
                    <a:solidFill>
                      <a:srgbClr val="FEF7E6"/>
                    </a:solidFill>
                  </a:tcPr>
                </a:tc>
                <a:tc>
                  <a:txBody>
                    <a:bodyPr/>
                    <a:lstStyle/>
                    <a:p>
                      <a:pPr algn="l">
                        <a:defRPr sz="74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40">
                          <a:solidFill>
                            <a:srgbClr val="1E242B"/>
                          </a:solidFill>
                          <a:latin typeface="Arial"/>
                        </a:defRPr>
                      </a:pPr>
                      <a:r>
                        <a:t>Công nhân nghe âm thanh lạ bằng tai trong buồng cách âm (Fuser, FAN, Operation, MPF/DU = 40s tại K6).</a:t>
                      </a:r>
                    </a:p>
                  </a:txBody>
                  <a:tcPr anchor="ctr" marL="45720" marR="45720" marT="18288" marB="18288">
                    <a:solidFill>
                      <a:srgbClr val="FEF7E6"/>
                    </a:solidFill>
                  </a:tcPr>
                </a:tc>
                <a:tc>
                  <a:txBody>
                    <a:bodyPr/>
                    <a:lstStyle/>
                    <a:p>
                      <a:pPr algn="l">
                        <a:defRPr sz="74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40">
                          <a:solidFill>
                            <a:srgbClr val="1E242B"/>
                          </a:solidFill>
                          <a:latin typeface="Arial"/>
                        </a:defRPr>
                      </a:pPr>
                      <a:r>
                        <a:t>600 vạn JPY</a:t>
                      </a:r>
                      <a:br/>
                      <a:r>
                        <a:t>(~40.000 USD)</a:t>
                      </a:r>
                      <a:br/>
                      <a:r>
                        <a:t>[Nghiên cứu dài hạn 2026-2030]</a:t>
                      </a:r>
                    </a:p>
                  </a:txBody>
                  <a:tcPr anchor="ctr" marL="45720" marR="45720" marT="18288" marB="18288">
                    <a:solidFill>
                      <a:srgbClr val="FEF7E6"/>
                    </a:solidFill>
                  </a:tcPr>
                </a:tc>
                <a:tc>
                  <a:txBody>
                    <a:bodyPr/>
                    <a:lstStyle/>
                    <a:p>
                      <a:pPr algn="l">
                        <a:defRPr sz="740">
                          <a:solidFill>
                            <a:srgbClr val="1E242B"/>
                          </a:solidFill>
                          <a:latin typeface="Arial"/>
                        </a:defRPr>
                      </a:pPr>
                      <a:r>
                        <a:t>Hoãn ngắn hạn -&gt; Chuyển R&amp;D 2026-2030</a:t>
                      </a:r>
                      <a:br/>
                      <a:r>
                        <a:t>(検討資料 S8;</a:t>
                      </a:r>
                      <a:br/>
                      <a:r>
                        <a:t>まとめ Row 40)</a:t>
                      </a:r>
                    </a:p>
                  </a:txBody>
                  <a:tcPr anchor="ctr" marL="45720" marR="45720" marT="18288" marB="18288">
                    <a:solidFill>
                      <a:srgbClr val="FEF7E6"/>
                    </a:solidFill>
                  </a:tcPr>
                </a:tc>
              </a:tr>
              <a:tr h="568234">
                <a:tc>
                  <a:txBody>
                    <a:bodyPr/>
                    <a:lstStyle/>
                    <a:p>
                      <a:pPr algn="ctr">
                        <a:defRPr sz="740" b="1">
                          <a:solidFill>
                            <a:srgbClr val="1E242B"/>
                          </a:solidFill>
                          <a:latin typeface="Arial"/>
                        </a:defRPr>
                      </a:pPr>
                      <a:r>
                        <a:t>No.27</a:t>
                      </a:r>
                      <a:br/>
                      <a:r>
                        <a:t>(K6, K7 -&gt;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Sử dụng Camera đo nồng độ, đo lề, kiểm tra PPT &amp; đánh giá hình ảnh</a:t>
                      </a:r>
                      <a:br/>
                      <a:r>
                        <a:t>(カメラによる濃度・マージン・PPT・画像総合検査)</a:t>
                      </a:r>
                    </a:p>
                  </a:txBody>
                  <a:tcPr anchor="ctr" marL="45720" marR="45720" marT="18288" marB="18288">
                    <a:solidFill>
                      <a:srgbClr val="EAF7EE"/>
                    </a:solidFill>
                  </a:tcPr>
                </a:tc>
                <a:tc>
                  <a:txBody>
                    <a:bodyPr/>
                    <a:lstStyle/>
                    <a:p>
                      <a:pPr algn="l">
                        <a:defRPr sz="74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40">
                          <a:solidFill>
                            <a:srgbClr val="1E242B"/>
                          </a:solidFill>
                          <a:latin typeface="Arial"/>
                        </a:defRPr>
                      </a:pPr>
                      <a:r>
                        <a:t>Dùng hệ thống Camera/Scanner phân tích ảnh tự động: Thời gian đo nồng độ 3 tờ giảm từ 192s xuống còn 15s (5s/tờ -&gt; giảm 177s/máy); tích hợp tự động đo lề (-28s) và xóa/tự động kiểm tra PPT (-10s).</a:t>
                      </a:r>
                    </a:p>
                  </a:txBody>
                  <a:tcPr anchor="ctr" marL="45720" marR="45720" marT="18288" marB="18288">
                    <a:solidFill>
                      <a:srgbClr val="EAF7EE"/>
                    </a:solidFill>
                  </a:tcPr>
                </a:tc>
                <a:tc>
                  <a:txBody>
                    <a:bodyPr/>
                    <a:lstStyle/>
                    <a:p>
                      <a:pPr algn="l">
                        <a:defRPr sz="74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triển khai (PPT đã duyệt xóa theo CN No.10)</a:t>
                      </a:r>
                      <a:br/>
                      <a:r>
                        <a:t>(DSLK Sheet 5;</a:t>
                      </a:r>
                      <a:br/>
                      <a:r>
                        <a:t>まとめ Row 41)</a:t>
                      </a:r>
                    </a:p>
                  </a:txBody>
                  <a:tcPr anchor="ctr" marL="45720" marR="45720" marT="18288" marB="18288">
                    <a:solidFill>
                      <a:srgbClr val="EAF7EE"/>
                    </a:solidFill>
                  </a:tcPr>
                </a:tc>
              </a:tr>
              <a:tr h="568235">
                <a:tc>
                  <a:txBody>
                    <a:bodyPr/>
                    <a:lstStyle/>
                    <a:p>
                      <a:pPr algn="ctr">
                        <a:defRPr sz="740" b="1">
                          <a:solidFill>
                            <a:srgbClr val="1E242B"/>
                          </a:solidFill>
                          <a:latin typeface="Arial"/>
                        </a:defRPr>
                      </a:pPr>
                      <a:r>
                        <a:t>No.28</a:t>
                      </a:r>
                      <a:br/>
                      <a:r>
                        <a:t>(K8 -&gt; A-4)</a:t>
                      </a:r>
                      <a:br/>
                      <a:r>
                        <a:t>[TRỌNG TÂM]</a:t>
                      </a:r>
                    </a:p>
                  </a:txBody>
                  <a:tcPr anchor="ctr" marL="45720" marR="45720" marT="18288" marB="18288">
                    <a:solidFill>
                      <a:srgbClr val="EAF7EE"/>
                    </a:solidFill>
                  </a:tcPr>
                </a:tc>
                <a:tc>
                  <a:txBody>
                    <a:bodyPr/>
                    <a:lstStyle/>
                    <a:p>
                      <a:pPr algn="l">
                        <a:defRPr sz="740">
                          <a:solidFill>
                            <a:srgbClr val="1E242B"/>
                          </a:solidFill>
                          <a:latin typeface="Arial"/>
                        </a:defRPr>
                      </a:pPr>
                      <a:r>
                        <a:t>Tự động hóa thiết lập xuất hàng qua mạng nội bộ</a:t>
                      </a:r>
                      <a:br/>
                      <a:r>
                        <a:t>(出荷設定のネットワーク自動化)</a:t>
                      </a:r>
                    </a:p>
                  </a:txBody>
                  <a:tcPr anchor="ctr" marL="45720" marR="45720" marT="18288" marB="18288">
                    <a:solidFill>
                      <a:srgbClr val="EAF7EE"/>
                    </a:solidFill>
                  </a:tcPr>
                </a:tc>
                <a:tc>
                  <a:txBody>
                    <a:bodyPr/>
                    <a:lstStyle/>
                    <a:p>
                      <a:pPr algn="l">
                        <a:defRPr sz="740">
                          <a:solidFill>
                            <a:srgbClr val="1E242B"/>
                          </a:solidFill>
                          <a:latin typeface="Arial"/>
                        </a:defRPr>
                      </a:pPr>
                      <a:r>
                        <a:t>Công nhân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40">
                          <a:solidFill>
                            <a:srgbClr val="1E242B"/>
                          </a:solidFill>
                          <a:latin typeface="Arial"/>
                        </a:defRPr>
                      </a:pPr>
                      <a:r>
                        <a:t>Tự động gửi lệnh thiết lập xuất hàng (FinalSetup) và đối chiếu thông số từ Host PC / Mini PC qua mạng nội bộ, xóa thao tác cắm/rút USB và bấm xác nhận thủ công.</a:t>
                      </a:r>
                    </a:p>
                  </a:txBody>
                  <a:tcPr anchor="ctr" marL="45720" marR="45720" marT="18288" marB="18288">
                    <a:solidFill>
                      <a:srgbClr val="EAF7EE"/>
                    </a:solidFill>
                  </a:tcPr>
                </a:tc>
                <a:tc>
                  <a:txBody>
                    <a:bodyPr/>
                    <a:lstStyle/>
                    <a:p>
                      <a:pPr algn="l">
                        <a:defRPr sz="74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4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40">
                          <a:solidFill>
                            <a:srgbClr val="1E242B"/>
                          </a:solidFill>
                          <a:latin typeface="Arial"/>
                        </a:defRPr>
                      </a:pPr>
                      <a:r>
                        <a:t>Đang tích hợp vào Host PC / Mini PC</a:t>
                      </a:r>
                      <a:br/>
                      <a:r>
                        <a:t>(IrisEXP報告 S3;</a:t>
                      </a:r>
                      <a:br/>
                      <a:r>
                        <a:t>まとめ Row 42)</a:t>
                      </a:r>
                    </a:p>
                  </a:txBody>
                  <a:tcPr anchor="ctr" marL="45720" marR="45720" marT="18288" marB="18288">
                    <a:solidFill>
                      <a:srgbClr val="EAF7EE"/>
                    </a:solidFill>
                  </a:tcPr>
                </a:tc>
              </a:tr>
            </a:tbl>
          </a:graphicData>
        </a:graphic>
      </p:graphicFrame>
      <p:sp>
        <p:nvSpPr>
          <p:cNvPr id="9" name="Rectangle 8"/>
          <p:cNvSpPr/>
          <p:nvPr/>
        </p:nvSpPr>
        <p:spPr>
          <a:xfrm>
            <a:off x="274320" y="5303520"/>
            <a:ext cx="11643055" cy="118872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303520"/>
            <a:ext cx="11643055" cy="310896"/>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ĐỐI CHIẾU NGUỒN: KHOẢN 650.000.000 VNĐ (25.000 USD) LÀ GIÁ PHƯƠNG ÁN ROBOT ISU ĐÃ HỦY (NO.23)</a:t>
            </a:r>
          </a:p>
        </p:txBody>
      </p:sp>
      <p:sp>
        <p:nvSpPr>
          <p:cNvPr id="11" name="TextBox 10"/>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819">
                <a:solidFill>
                  <a:srgbClr val="1E242B"/>
                </a:solidFill>
                <a:latin typeface="Arial"/>
              </a:defRPr>
            </a:pPr>
            <a:r>
              <a:t>• Theo file đề án cải tiến Điều chỉnh\Iris EXPのVN提案.xlsx (Sheet 纏め Row 3-5 &amp; Sheet 自動Scan tự động Row 1-15): Khoản 650.000.000 VNĐ (25.000 USD, tỷ giá 26.000) là dự toán của Phương án 2: Chế tạo Robot đặt bản thảo lên mặt kính ISU [No.23], gồm 4 phần: (1) Mở rộng 2 cell băng tải: 200.000.000 VNĐ ($7.692,31) + (2) Cụm cấp nguồn máy in: 50.000.000 VNĐ ($1.923,08) + (3) Cụm định vị cổng USB/LAN: 50.000.000 VNĐ ($1.923,08) + (4) Cánh tay Robot: 350.000.000 VNĐ ($13.461,54).</a:t>
            </a:r>
          </a:p>
          <a:p>
            <a:pPr>
              <a:spcAft>
                <a:spcPts val="200"/>
              </a:spcAft>
              <a:defRPr sz="819">
                <a:solidFill>
                  <a:srgbClr val="1E242B"/>
                </a:solidFill>
                <a:latin typeface="Arial"/>
              </a:defRPr>
            </a:pPr>
            <a:r>
              <a:t>• Theo biên bản IrisEXP 保証工程連携会 第7回.txt và IrisEXP改善提案まとめ.xlsx (Row 37 &amp; Row 39): Phương án Robot 650 triệu VNĐ này đã hủy (廃止) vì chi phí đầu tư quá cao so với mức tiết kiệm nhân công 108.533.333 VNĐ/năm ($4.174,36/năm), chuyển sang Đề án No.25: Quét bản thảo liên tục bằng khay DP của máy + PC tự động đánh giá (hiện No.25 đang ở trạng thái "Đang báo giá / 見積中").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thực hiện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9 đề án bổ sung (No.29~37) gồm 6 kiến nghị sửa mạch/FW (0 đồng TB tại xưởng) và 3 đề án thiết bị đang báo giá; tháng 10/2026 đã xóa 4 bước thao tác trên bảng công đoạn, giảm thực tế 4,32s/máy.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br/>
                      <a:r>
                        <a:t>(IrisEXP VN改善案LIST)</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&amp;</a:t>
                      </a:r>
                      <a:br/>
                      <a:r>
                        <a:t>Trạng thái giá</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 /</a:t>
                      </a:r>
                      <a:br/>
                      <a:r>
                        <a:t>Nguồn đối chiếu</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(K1 -&gt;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br/>
                      <a:r>
                        <a:t>(VN改善案LIST R14;</a:t>
                      </a:r>
                      <a:br/>
                      <a:r>
                        <a:t>まとめ Row 43)</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(K1 -&gt;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-&gt;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 Row 16, 44)</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(K2 -&gt;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Công nhân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R16;</a:t>
                      </a:r>
                      <a:br/>
                      <a:r>
                        <a:t>まとめ Row 45)</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(K2 -&gt;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br/>
                      <a:r>
                        <a:t>(VN改善案LIST R17;</a:t>
                      </a:r>
                      <a:br/>
                      <a:r>
                        <a:t>まとめ Row 46)</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Công nhân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Tránh ngắt quãng chu trình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br/>
                      <a:r>
                        <a:t>(まとめ Row 47;</a:t>
                      </a:r>
                      <a:br/>
                      <a:r>
                        <a:t>DR議事録 R15-16)</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(K3 -&gt;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 (R187-231;</a:t>
                      </a:r>
                      <a:br/>
                      <a:r>
                        <a:t>まとめ Row 48)</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Công nhân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các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R20;</a:t>
                      </a:r>
                      <a:br/>
                      <a:r>
                        <a:t>まとめ Row 49)</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(K4 -&gt;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Công nhân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br/>
                      <a:r>
                        <a:t>(まとめ Row 18, 50)</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(K4 -&gt;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công nhân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-&gt;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&gt;=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br/>
                      <a:r>
                        <a:t>(まとめ Row 22, 51)</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x 2 = 1,44s) và nhìn xác nhận cảnh báo Toner xuất hiện rồi tắt (1,44s x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xóa 4 bước này trong file T10/IrisEXP 工程 (更新中).xlsx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(BM-003-F 10月 R18, R32; 作業確実)</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38 đề án (JP: 7 | CN: 11 | VN: 20); tách riêng hạng mục đã có báo giá (No.22: 101,69 triệu VNĐ), phần đang chờ báo giá (見積中) và phương án đã hủy.</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680" b="1">
                          <a:solidFill>
                            <a:srgbClr val="FFFFFF"/>
                          </a:solidFill>
                          <a:latin typeface="Arial"/>
                        </a:defRPr>
                      </a:pPr>
                      <a:r>
                        <a:t>Cứ điểm Nhật Bản</a:t>
                      </a:r>
                      <a:br/>
                      <a:r>
                        <a:t>(JP: Thiết kế &amp; PE)</a:t>
                      </a:r>
                    </a:p>
                  </a:txBody>
                  <a:tcPr anchor="ctr" marL="36576" marR="36576" marT="9144" marB="9144">
                    <a:solidFill>
                      <a:srgbClr val="1B365D"/>
                    </a:solidFill>
                  </a:tcPr>
                </a:tc>
                <a:tc>
                  <a:txBody>
                    <a:bodyPr/>
                    <a:lstStyle/>
                    <a:p>
                      <a:pPr algn="ctr">
                        <a:defRPr sz="680" b="1">
                          <a:solidFill>
                            <a:srgbClr val="FFFFFF"/>
                          </a:solidFill>
                          <a:latin typeface="Arial"/>
                        </a:defRPr>
                      </a:pPr>
                      <a:r>
                        <a:t>Cứ điểm Trung Quốc</a:t>
                      </a:r>
                      <a:br/>
                      <a:r>
                        <a:t>(CN: Nhà máy CN)</a:t>
                      </a:r>
                    </a:p>
                  </a:txBody>
                  <a:tcPr anchor="ctr" marL="36576" marR="36576" marT="9144" marB="9144">
                    <a:solidFill>
                      <a:srgbClr val="1B365D"/>
                    </a:solidFill>
                  </a:tcPr>
                </a:tc>
                <a:tc>
                  <a:txBody>
                    <a:bodyPr/>
                    <a:lstStyle/>
                    <a:p>
                      <a:pPr algn="ctr">
                        <a:defRPr sz="680" b="1">
                          <a:solidFill>
                            <a:srgbClr val="FFFFFF"/>
                          </a:solidFill>
                          <a:latin typeface="Arial"/>
                        </a:defRPr>
                      </a:pPr>
                      <a:r>
                        <a:t>Cứ điểm Việt Nam (VN)</a:t>
                      </a:r>
                      <a:br/>
                      <a:r>
                        <a:t>[Theo số liệu Phần 5]</a:t>
                      </a:r>
                    </a:p>
                  </a:txBody>
                  <a:tcPr anchor="ctr" marL="36576" marR="36576" marT="9144" marB="9144">
                    <a:solidFill>
                      <a:srgbClr val="1B365D"/>
                    </a:solidFill>
                  </a:tcPr>
                </a:tc>
                <a:tc>
                  <a:txBody>
                    <a:bodyPr/>
                    <a:lstStyle/>
                    <a:p>
                      <a:pPr algn="ctr">
                        <a:defRPr sz="680" b="1">
                          <a:solidFill>
                            <a:srgbClr val="FFFFFF"/>
                          </a:solidFill>
                          <a:latin typeface="Arial"/>
                        </a:defRPr>
                      </a:pPr>
                      <a:r>
                        <a:t>Tổng hợp cả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Nguồn đối chiếu</a:t>
                      </a:r>
                      <a:br/>
                      <a:r>
                        <a:t>(File + Sheet/Slide)</a:t>
                      </a:r>
                    </a:p>
                  </a:txBody>
                  <a:tcPr anchor="ctr" marL="36576" marR="36576" marT="9144" marB="9144">
                    <a:solidFill>
                      <a:srgbClr val="1B365D"/>
                    </a:solidFill>
                  </a:tcPr>
                </a:tc>
              </a:tr>
              <a:tr h="386080">
                <a:tc>
                  <a:txBody>
                    <a:bodyPr/>
                    <a:lstStyle/>
                    <a:p>
                      <a:pPr algn="l">
                        <a:defRPr sz="590" b="1">
                          <a:solidFill>
                            <a:srgbClr val="1E242B"/>
                          </a:solidFill>
                          <a:latin typeface="Arial"/>
                        </a:defRPr>
                      </a:pPr>
                      <a:r>
                        <a:t>1. Số lượng đề án</a:t>
                      </a:r>
                      <a:br/>
                      <a:r>
                        <a:t>(Đối chiếu 3 mốc)</a:t>
                      </a:r>
                    </a:p>
                  </a:txBody>
                  <a:tcPr anchor="ctr" marL="36576" marR="36576" marT="9144" marB="9144">
                    <a:solidFill>
                      <a:srgbClr val="FFFFFF"/>
                    </a:solidFill>
                  </a:tcPr>
                </a:tc>
                <a:tc>
                  <a:txBody>
                    <a:bodyPr/>
                    <a:lstStyle/>
                    <a:p>
                      <a:pPr algn="l">
                        <a:defRPr sz="59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590">
                          <a:solidFill>
                            <a:srgbClr val="1E242B"/>
                          </a:solidFill>
                          <a:latin typeface="Arial"/>
                        </a:defRPr>
                      </a:pPr>
                      <a:r>
                        <a:t>• T8~T9: 10 đề án (No.8~17)</a:t>
                      </a:r>
                      <a:br/>
                      <a:r>
                        <a:t>• Bản mới nhất: 11 đề án (+No.38 AI WeChat) [List CN 11 dòng do tính U155]</a:t>
                      </a:r>
                    </a:p>
                  </a:txBody>
                  <a:tcPr anchor="ctr" marL="36576" marR="36576" marT="9144" marB="9144">
                    <a:solidFill>
                      <a:srgbClr val="FFFFFF"/>
                    </a:solidFill>
                  </a:tcPr>
                </a:tc>
                <a:tc>
                  <a:txBody>
                    <a:bodyPr/>
                    <a:lstStyle/>
                    <a:p>
                      <a:pPr algn="l">
                        <a:defRPr sz="590">
                          <a:solidFill>
                            <a:srgbClr val="1E242B"/>
                          </a:solidFill>
                          <a:latin typeface="Arial"/>
                        </a:defRPr>
                      </a:pPr>
                      <a:r>
                        <a:t>• T8: 11 đề án (No.18~28) + T9: 9 đề án (No.29~37) = 20 đề án VN (17 triển khai + 2 đã hủy + 1 R&amp;D dài hạn)</a:t>
                      </a:r>
                    </a:p>
                  </a:txBody>
                  <a:tcPr anchor="ctr" marL="36576" marR="36576" marT="9144" marB="9144">
                    <a:solidFill>
                      <a:srgbClr val="FFFFFF"/>
                    </a:solidFill>
                  </a:tcPr>
                </a:tc>
                <a:tc>
                  <a:txBody>
                    <a:bodyPr/>
                    <a:lstStyle/>
                    <a:p>
                      <a:pPr algn="l">
                        <a:defRPr sz="590">
                          <a:solidFill>
                            <a:srgbClr val="1E242B"/>
                          </a:solidFill>
                          <a:latin typeface="Arial"/>
                        </a:defRPr>
                      </a:pPr>
                      <a:r>
                        <a:t>• T8 (IrisEXP報告): 28 đề án</a:t>
                      </a:r>
                      <a:br/>
                      <a:r>
                        <a:t>• T9~T10 (BM-003-F): 37 đề án</a:t>
                      </a:r>
                      <a:br/>
                      <a:r>
                        <a:t>• Bản Master: 38 đề án (7+11+20)</a:t>
                      </a:r>
                    </a:p>
                  </a:txBody>
                  <a:tcPr anchor="ctr" marL="36576" marR="36576" marT="9144" marB="9144">
                    <a:solidFill>
                      <a:srgbClr val="FFFFFF"/>
                    </a:solidFill>
                  </a:tcPr>
                </a:tc>
                <a:tc>
                  <a:txBody>
                    <a:bodyPr/>
                    <a:lstStyle/>
                    <a:p>
                      <a:pPr algn="l">
                        <a:defRPr sz="590">
                          <a:solidFill>
                            <a:srgbClr val="1E242B"/>
                          </a:solidFill>
                          <a:latin typeface="Arial"/>
                        </a:defRPr>
                      </a:pPr>
                      <a:r>
                        <a:t>IrisEXP改善提案まとめ (R15~52);</a:t>
                      </a:r>
                      <a:br/>
                      <a:r>
                        <a:t>IrisEXP報告 S1</a:t>
                      </a:r>
                    </a:p>
                  </a:txBody>
                  <a:tcPr anchor="ctr" marL="36576" marR="36576" marT="9144" marB="9144">
                    <a:solidFill>
                      <a:srgbClr val="FFFFFF"/>
                    </a:solidFill>
                  </a:tcPr>
                </a:tc>
              </a:tr>
              <a:tr h="386080">
                <a:tc>
                  <a:txBody>
                    <a:bodyPr/>
                    <a:lstStyle/>
                    <a:p>
                      <a:pPr algn="l">
                        <a:defRPr sz="590" b="1">
                          <a:solidFill>
                            <a:srgbClr val="1E242B"/>
                          </a:solidFill>
                          <a:latin typeface="Arial"/>
                        </a:defRPr>
                      </a:pPr>
                      <a:r>
                        <a:t>2. Hiện trạng TG</a:t>
                      </a:r>
                      <a:br/>
                      <a:r>
                        <a:t>(Baseline Iris2024)</a:t>
                      </a:r>
                    </a:p>
                  </a:txBody>
                  <a:tcPr anchor="ctr" marL="36576" marR="36576" marT="9144" marB="9144">
                    <a:solidFill>
                      <a:srgbClr val="F7F9FC"/>
                    </a:solidFill>
                  </a:tcPr>
                </a:tc>
                <a:tc>
                  <a:txBody>
                    <a:bodyPr/>
                    <a:lstStyle/>
                    <a:p>
                      <a:pPr algn="l">
                        <a:defRPr sz="59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9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9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9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90">
                          <a:solidFill>
                            <a:srgbClr val="1E242B"/>
                          </a:solidFill>
                          <a:latin typeface="Arial"/>
                        </a:defRPr>
                      </a:pPr>
                      <a:r>
                        <a:t>IrisEXP 工程 3 (既存機との工数比較);</a:t>
                      </a:r>
                      <a:br/>
                      <a:r>
                        <a:t>DSLK Sheet 4, 5</a:t>
                      </a:r>
                    </a:p>
                  </a:txBody>
                  <a:tcPr anchor="ctr" marL="36576" marR="36576" marT="9144" marB="9144">
                    <a:solidFill>
                      <a:srgbClr val="F7F9FC"/>
                    </a:solidFill>
                  </a:tcPr>
                </a:tc>
              </a:tr>
              <a:tr h="386080">
                <a:tc>
                  <a:txBody>
                    <a:bodyPr/>
                    <a:lstStyle/>
                    <a:p>
                      <a:pPr algn="l">
                        <a:defRPr sz="59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90">
                          <a:solidFill>
                            <a:srgbClr val="1E242B"/>
                          </a:solidFill>
                          <a:latin typeface="Arial"/>
                        </a:defRPr>
                      </a:pPr>
                      <a:r>
                        <a:t>• Công thức 7 ĐA: -87,84s vs Iris2024 (-176,84s vs 改善無 -&gt; còn 1.083,86s Color)</a:t>
                      </a:r>
                      <a:br/>
                      <a:r>
                        <a:t>• Tổng bước 削 (147) + 削除確定 (6): -267,74s Color / -263,06s Mono</a:t>
                      </a:r>
                    </a:p>
                  </a:txBody>
                  <a:tcPr anchor="ctr" marL="36576" marR="36576" marT="9144" marB="9144">
                    <a:solidFill>
                      <a:srgbClr val="FFFFFF"/>
                    </a:solidFill>
                  </a:tcPr>
                </a:tc>
                <a:tc>
                  <a:txBody>
                    <a:bodyPr/>
                    <a:lstStyle/>
                    <a:p>
                      <a:pPr algn="l">
                        <a:defRPr sz="590">
                          <a:solidFill>
                            <a:srgbClr val="1E242B"/>
                          </a:solidFill>
                          <a:latin typeface="Arial"/>
                        </a:defRPr>
                      </a:pPr>
                      <a:r>
                        <a:t>• Tổng 10 dòng có số giây trong list CN: -178,56 s/máy thao tác</a:t>
                      </a:r>
                      <a:br/>
                      <a:r>
                        <a:t>• No.13: Rút ngắn chờ in -110s (230s-&gt;120s); No.38: AI WeChat</a:t>
                      </a:r>
                    </a:p>
                  </a:txBody>
                  <a:tcPr anchor="ctr" marL="36576" marR="36576" marT="9144" marB="9144">
                    <a:solidFill>
                      <a:srgbClr val="FFFFFF"/>
                    </a:solidFill>
                  </a:tcPr>
                </a:tc>
                <a:tc>
                  <a:txBody>
                    <a:bodyPr/>
                    <a:lstStyle/>
                    <a:p>
                      <a:pPr algn="l">
                        <a:defRPr sz="590">
                          <a:solidFill>
                            <a:srgbClr val="1E242B"/>
                          </a:solidFill>
                          <a:latin typeface="Arial"/>
                        </a:defRPr>
                      </a:pPr>
                      <a:r>
                        <a:t>• Thực tích PDCA T10/2026: -4,32s (0,18%)</a:t>
                      </a:r>
                      <a:br/>
                      <a:r>
                        <a:t>• Tiềm năng các đề án VN khả thi: ~599,32s ~ 611,32s thao tác</a:t>
                      </a:r>
                      <a:br/>
                      <a:r>
                        <a:t>• Mục tiêu T3/2027: Giảm &gt;= 1.175,00s (&gt;=50%, còn &lt;=1.175s)</a:t>
                      </a:r>
                    </a:p>
                  </a:txBody>
                  <a:tcPr anchor="ctr" marL="36576" marR="36576" marT="9144" marB="9144">
                    <a:solidFill>
                      <a:srgbClr val="FFFFFF"/>
                    </a:solidFill>
                  </a:tcPr>
                </a:tc>
                <a:tc>
                  <a:txBody>
                    <a:bodyPr/>
                    <a:lstStyle/>
                    <a:p>
                      <a:pPr algn="l">
                        <a:defRPr sz="590">
                          <a:solidFill>
                            <a:srgbClr val="1E242B"/>
                          </a:solidFill>
                          <a:latin typeface="Arial"/>
                        </a:defRPr>
                      </a:pPr>
                      <a:r>
                        <a:t>• JP: -176,84s ~ -267,74s thao tác</a:t>
                      </a:r>
                      <a:br/>
                      <a:r>
                        <a:t>• CN: -178,56s thao tác + -110s in</a:t>
                      </a:r>
                      <a:br/>
                      <a:r>
                        <a:t>• VN: Mục tiêu -1.175,00s (&gt;=50%)</a:t>
                      </a:r>
                    </a:p>
                  </a:txBody>
                  <a:tcPr anchor="ctr" marL="36576" marR="36576" marT="9144" marB="9144">
                    <a:solidFill>
                      <a:srgbClr val="FFFFFF"/>
                    </a:solidFill>
                  </a:tcPr>
                </a:tc>
                <a:tc>
                  <a:txBody>
                    <a:bodyPr/>
                    <a:lstStyle/>
                    <a:p>
                      <a:pPr algn="l">
                        <a:defRPr sz="590">
                          <a:solidFill>
                            <a:srgbClr val="1E242B"/>
                          </a:solidFill>
                          <a:latin typeface="Arial"/>
                        </a:defRPr>
                      </a:pPr>
                      <a:r>
                        <a:t>IrisEXP 工程 3;</a:t>
                      </a:r>
                      <a:br/>
                      <a:r>
                        <a:t>cn改善案list;</a:t>
                      </a:r>
                      <a:br/>
                      <a:r>
                        <a:t>BM-003-F 10月</a:t>
                      </a:r>
                    </a:p>
                  </a:txBody>
                  <a:tcPr anchor="ctr" marL="36576" marR="36576" marT="9144" marB="9144">
                    <a:solidFill>
                      <a:srgbClr val="FFFFFF"/>
                    </a:solidFill>
                  </a:tcPr>
                </a:tc>
              </a:tr>
              <a:tr h="386080">
                <a:tc>
                  <a:txBody>
                    <a:bodyPr/>
                    <a:lstStyle/>
                    <a:p>
                      <a:pPr algn="l">
                        <a:defRPr sz="59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90">
                          <a:solidFill>
                            <a:srgbClr val="1E242B"/>
                          </a:solidFill>
                          <a:latin typeface="Arial"/>
                        </a:defRPr>
                      </a:pPr>
                      <a:r>
                        <a:t>• Tham chiếu Athena: 16 -&gt; 8 người (-50%); thiết kế JIG &amp; phần mềm Semifinal dùng chung</a:t>
                      </a:r>
                    </a:p>
                  </a:txBody>
                  <a:tcPr anchor="ctr" marL="36576" marR="36576" marT="9144" marB="9144">
                    <a:solidFill>
                      <a:srgbClr val="F7F9FC"/>
                    </a:solidFill>
                  </a:tcPr>
                </a:tc>
                <a:tc>
                  <a:txBody>
                    <a:bodyPr/>
                    <a:lstStyle/>
                    <a:p>
                      <a:pPr algn="l">
                        <a:defRPr sz="59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90">
                          <a:solidFill>
                            <a:srgbClr val="1E242B"/>
                          </a:solidFill>
                          <a:latin typeface="Arial"/>
                        </a:defRPr>
                      </a:pPr>
                      <a:r>
                        <a:t>• Hiện trạng Iris2024: 14 người (15 người ở Takt 114s DR4)</a:t>
                      </a:r>
                      <a:br/>
                      <a:r>
                        <a:t>• Sản lượng 16.000 máy/tháng (Takt 97s): Không cải tiến cần 18 người (17,62) -&gt; Mục tiêu (仮決定): 9 người (A-1: 4-&gt;3 người)</a:t>
                      </a:r>
                    </a:p>
                  </a:txBody>
                  <a:tcPr anchor="ctr" marL="36576" marR="36576" marT="9144" marB="9144">
                    <a:solidFill>
                      <a:srgbClr val="F7F9FC"/>
                    </a:solidFill>
                  </a:tcPr>
                </a:tc>
                <a:tc>
                  <a:txBody>
                    <a:bodyPr/>
                    <a:lstStyle/>
                    <a:p>
                      <a:pPr algn="l">
                        <a:defRPr sz="590">
                          <a:solidFill>
                            <a:srgbClr val="1E242B"/>
                          </a:solidFill>
                          <a:latin typeface="Arial"/>
                        </a:defRPr>
                      </a:pPr>
                      <a:r>
                        <a:t>• Năng suất mục tiêu: Tăng gấp 2 lần (2倍 - 仮決定)</a:t>
                      </a:r>
                      <a:br/>
                      <a:r>
                        <a:t>• VN: 18 -&gt; 9 người; CN: -11.160 RMB/tháng</a:t>
                      </a:r>
                    </a:p>
                  </a:txBody>
                  <a:tcPr anchor="ctr" marL="36576" marR="36576" marT="9144" marB="9144">
                    <a:solidFill>
                      <a:srgbClr val="F7F9FC"/>
                    </a:solidFill>
                  </a:tcPr>
                </a:tc>
                <a:tc>
                  <a:txBody>
                    <a:bodyPr/>
                    <a:lstStyle/>
                    <a:p>
                      <a:pPr algn="l">
                        <a:defRPr sz="590">
                          <a:solidFill>
                            <a:srgbClr val="1E242B"/>
                          </a:solidFill>
                          <a:latin typeface="Arial"/>
                        </a:defRPr>
                      </a:pPr>
                      <a:r>
                        <a:t>調整工程計画.xlsx;</a:t>
                      </a:r>
                      <a:br/>
                      <a:r>
                        <a:t>DR 4.pdf S2;</a:t>
                      </a:r>
                      <a:br/>
                      <a:r>
                        <a:t>cn改善案list</a:t>
                      </a:r>
                    </a:p>
                  </a:txBody>
                  <a:tcPr anchor="ctr" marL="36576" marR="36576" marT="9144" marB="9144">
                    <a:solidFill>
                      <a:srgbClr val="F7F9FC"/>
                    </a:solidFill>
                  </a:tcPr>
                </a:tc>
              </a:tr>
              <a:tr h="386080">
                <a:tc>
                  <a:txBody>
                    <a:bodyPr/>
                    <a:lstStyle/>
                    <a:p>
                      <a:pPr algn="l">
                        <a:defRPr sz="590" b="1">
                          <a:solidFill>
                            <a:srgbClr val="1E242B"/>
                          </a:solidFill>
                          <a:latin typeface="Arial"/>
                        </a:defRPr>
                      </a:pPr>
                      <a:r>
                        <a:t>5. Kinh phí ĐÃ CÓ</a:t>
                      </a:r>
                      <a:br/>
                      <a:r>
                        <a:t>BÁO GIÁ (Xin duyệt)</a:t>
                      </a:r>
                    </a:p>
                  </a:txBody>
                  <a:tcPr anchor="ctr" marL="36576" marR="36576" marT="9144" marB="9144">
                    <a:solidFill>
                      <a:srgbClr val="EAF7EE"/>
                    </a:solidFill>
                  </a:tcPr>
                </a:tc>
                <a:tc>
                  <a:txBody>
                    <a:bodyPr/>
                    <a:lstStyle/>
                    <a:p>
                      <a:pPr algn="l">
                        <a:defRPr sz="59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9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90">
                          <a:solidFill>
                            <a:srgbClr val="1E242B"/>
                          </a:solidFill>
                          <a:latin typeface="Arial"/>
                        </a:defRPr>
                      </a:pPr>
                      <a:r>
                        <a:t>• XIN PHÊ DUYỆT ĐỢT NÀY (No.22: Tự động đo thông mạch/chịu áp): 101.690.000 VNĐ (3.911,15 USD theo BOM 25 mục) [96.690.000 VNĐ / 3.718,85 USD nếu tách Mục 17 Tủ điện 5tr]; 7 đề án TK/FW: 0 VNĐ TB</a:t>
                      </a:r>
                    </a:p>
                  </a:txBody>
                  <a:tcPr anchor="ctr" marL="36576" marR="36576" marT="9144" marB="9144">
                    <a:solidFill>
                      <a:srgbClr val="EAF7EE"/>
                    </a:solidFill>
                  </a:tcPr>
                </a:tc>
                <a:tc>
                  <a:txBody>
                    <a:bodyPr/>
                    <a:lstStyle/>
                    <a:p>
                      <a:pPr algn="l">
                        <a:defRPr sz="590">
                          <a:solidFill>
                            <a:srgbClr val="1E242B"/>
                          </a:solidFill>
                          <a:latin typeface="Arial"/>
                        </a:defRPr>
                      </a:pPr>
                      <a:r>
                        <a:t>• VN xin duyệt ngay (No.22): 101.690.000 VNĐ (3.911,15 USD)</a:t>
                      </a:r>
                      <a:br/>
                      <a:r>
                        <a:t>• Tham khảo JP: Mini PC ~40k JPY/bộ; PM U413: 225~250 vạn JPY</a:t>
                      </a:r>
                    </a:p>
                  </a:txBody>
                  <a:tcPr anchor="ctr" marL="36576" marR="36576" marT="9144" marB="9144">
                    <a:solidFill>
                      <a:srgbClr val="EAF7EE"/>
                    </a:solidFill>
                  </a:tcPr>
                </a:tc>
                <a:tc>
                  <a:txBody>
                    <a:bodyPr/>
                    <a:lstStyle/>
                    <a:p>
                      <a:pPr algn="l">
                        <a:defRPr sz="590">
                          <a:solidFill>
                            <a:srgbClr val="1E242B"/>
                          </a:solidFill>
                          <a:latin typeface="Arial"/>
                        </a:defRPr>
                      </a:pPr>
                      <a:r>
                        <a:t>Iris EXPのVN提案</a:t>
                      </a:r>
                      <a:br/>
                      <a:r>
                        <a:t>(BOM 25 mục);</a:t>
                      </a:r>
                      <a:br/>
                      <a:r>
                        <a:t>AthenaとSpica比較</a:t>
                      </a:r>
                    </a:p>
                  </a:txBody>
                  <a:tcPr anchor="ctr" marL="36576" marR="36576" marT="9144" marB="9144">
                    <a:solidFill>
                      <a:srgbClr val="EAF7EE"/>
                    </a:solidFill>
                  </a:tcPr>
                </a:tc>
              </a:tr>
              <a:tr h="386080">
                <a:tc>
                  <a:txBody>
                    <a:bodyPr/>
                    <a:lstStyle/>
                    <a:p>
                      <a:pPr algn="l">
                        <a:defRPr sz="590" b="1">
                          <a:solidFill>
                            <a:srgbClr val="1E242B"/>
                          </a:solidFill>
                          <a:latin typeface="Arial"/>
                        </a:defRPr>
                      </a:pPr>
                      <a:r>
                        <a:t>6. Hạng mục ĐANG</a:t>
                      </a:r>
                      <a:br/>
                      <a:r>
                        <a:t>BÁO GIÁ (見積中)</a:t>
                      </a:r>
                      <a:br/>
                      <a:r>
                        <a:t>[Không cộng gộp]</a:t>
                      </a:r>
                    </a:p>
                  </a:txBody>
                  <a:tcPr anchor="ctr" marL="36576" marR="36576" marT="9144" marB="9144">
                    <a:solidFill>
                      <a:srgbClr val="FEF7E6"/>
                    </a:solidFill>
                  </a:tcPr>
                </a:tc>
                <a:tc>
                  <a:txBody>
                    <a:bodyPr/>
                    <a:lstStyle/>
                    <a:p>
                      <a:pPr algn="l">
                        <a:defRPr sz="59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9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90">
                          <a:solidFill>
                            <a:srgbClr val="1E242B"/>
                          </a:solidFill>
                          <a:latin typeface="Arial"/>
                        </a:defRPr>
                      </a:pPr>
                      <a:r>
                        <a:t>• 10 đề án TB đang ghi "Đang báo giá / 見積中": No.18, No.19, No.20, No.21, No.25 (Quét DP liên tục), No.27 (Camera nồng độ/lề), No.28 (Xuất hàng mạng), No.31, No.33 (nếu làm TB), No.35 (+ Mục 17 Tủ điện 5tr của No.22)</a:t>
                      </a:r>
                    </a:p>
                  </a:txBody>
                  <a:tcPr anchor="ctr" marL="36576" marR="36576" marT="9144" marB="9144">
                    <a:solidFill>
                      <a:srgbClr val="FEF7E6"/>
                    </a:solidFill>
                  </a:tcPr>
                </a:tc>
                <a:tc>
                  <a:txBody>
                    <a:bodyPr/>
                    <a:lstStyle/>
                    <a:p>
                      <a:pPr algn="l">
                        <a:defRPr sz="590">
                          <a:solidFill>
                            <a:srgbClr val="1E242B"/>
                          </a:solidFill>
                          <a:latin typeface="Arial"/>
                        </a:defRPr>
                      </a:pPr>
                      <a:r>
                        <a:t>• Giữ nguyên "Đang báo giá (見積中)" theo nguồn; không tự điền giá hoặc cộng vào tổng xin duyệt.</a:t>
                      </a:r>
                    </a:p>
                  </a:txBody>
                  <a:tcPr anchor="ctr" marL="36576" marR="36576" marT="9144" marB="9144">
                    <a:solidFill>
                      <a:srgbClr val="FEF7E6"/>
                    </a:solidFill>
                  </a:tcPr>
                </a:tc>
                <a:tc>
                  <a:txBody>
                    <a:bodyPr/>
                    <a:lstStyle/>
                    <a:p>
                      <a:pPr algn="l">
                        <a:defRPr sz="590">
                          <a:solidFill>
                            <a:srgbClr val="1E242B"/>
                          </a:solidFill>
                          <a:latin typeface="Arial"/>
                        </a:defRPr>
                      </a:pPr>
                      <a:r>
                        <a:t>IrisEXP改善提案まとめ (Cột O);</a:t>
                      </a:r>
                      <a:br/>
                      <a:r>
                        <a:t>Iris EXPのVN提案</a:t>
                      </a:r>
                    </a:p>
                  </a:txBody>
                  <a:tcPr anchor="ctr" marL="36576" marR="36576" marT="9144" marB="9144">
                    <a:solidFill>
                      <a:srgbClr val="FEF7E6"/>
                    </a:solidFill>
                  </a:tcPr>
                </a:tc>
              </a:tr>
              <a:tr h="386080">
                <a:tc>
                  <a:txBody>
                    <a:bodyPr/>
                    <a:lstStyle/>
                    <a:p>
                      <a:pPr algn="l">
                        <a:defRPr sz="590" b="1">
                          <a:solidFill>
                            <a:srgbClr val="B8292F"/>
                          </a:solidFill>
                          <a:latin typeface="Arial"/>
                        </a:defRPr>
                      </a:pPr>
                      <a:r>
                        <a:t>7. ĐÃ HỦY (廃止) /</a:t>
                      </a:r>
                      <a:br/>
                      <a:r>
                        <a:t>R&amp;D Dài hạn</a:t>
                      </a:r>
                    </a:p>
                  </a:txBody>
                  <a:tcPr anchor="ctr" marL="36576" marR="36576" marT="9144" marB="9144">
                    <a:solidFill>
                      <a:srgbClr val="FDEDEC"/>
                    </a:solidFill>
                  </a:tcPr>
                </a:tc>
                <a:tc>
                  <a:txBody>
                    <a:bodyPr/>
                    <a:lstStyle/>
                    <a:p>
                      <a:pPr algn="l">
                        <a:defRPr sz="590">
                          <a:solidFill>
                            <a:srgbClr val="1E242B"/>
                          </a:solidFill>
                          <a:latin typeface="Arial"/>
                        </a:defRPr>
                      </a:pPr>
                      <a:r>
                        <a:t>• Bỏ phương án dùng lại Raspberry Pi + Pin Mobile của Athena do chai pin &amp; rớt Wi-Fi</a:t>
                      </a:r>
                    </a:p>
                  </a:txBody>
                  <a:tcPr anchor="ctr" marL="36576" marR="36576" marT="9144" marB="9144">
                    <a:solidFill>
                      <a:srgbClr val="FDEDEC"/>
                    </a:solidFill>
                  </a:tcPr>
                </a:tc>
                <a:tc>
                  <a:txBody>
                    <a:bodyPr/>
                    <a:lstStyle/>
                    <a:p>
                      <a:pPr algn="l">
                        <a:defRPr sz="590">
                          <a:solidFill>
                            <a:srgbClr val="1E242B"/>
                          </a:solidFill>
                          <a:latin typeface="Arial"/>
                        </a:defRPr>
                      </a:pPr>
                      <a:r>
                        <a:t>• Không có mục hủy có giá tiền riêng trong bảng CN</a:t>
                      </a:r>
                    </a:p>
                  </a:txBody>
                  <a:tcPr anchor="ctr" marL="36576" marR="36576" marT="9144" marB="9144">
                    <a:solidFill>
                      <a:srgbClr val="FDEDEC"/>
                    </a:solidFill>
                  </a:tcPr>
                </a:tc>
                <a:tc>
                  <a:txBody>
                    <a:bodyPr/>
                    <a:lstStyle/>
                    <a:p>
                      <a:pPr algn="l">
                        <a:defRPr sz="590" b="1">
                          <a:solidFill>
                            <a:srgbClr val="B8292F"/>
                          </a:solidFill>
                          <a:latin typeface="Arial"/>
                        </a:defRPr>
                      </a:pPr>
                      <a:r>
                        <a:t>• ĐÃ HỦY SAU DR4 (KHÔNG DÙNG): No.23 Robot đặt bản thảo ISU (650.000.000 VNĐ = 25.000 USD) &amp; No.24 Robot USB/U201 (4.000 USD)</a:t>
                      </a:r>
                      <a:br/>
                      <a:r>
                        <a:t>• R&amp;D dài hạn 2026-2030: No.26 AI âm thanh lạ &amp; nhiệt độ (600 vạn JPY ~ 40.000 USD)</a:t>
                      </a:r>
                    </a:p>
                  </a:txBody>
                  <a:tcPr anchor="ctr" marL="36576" marR="36576" marT="9144" marB="9144">
                    <a:solidFill>
                      <a:srgbClr val="FDEDEC"/>
                    </a:solidFill>
                  </a:tcPr>
                </a:tc>
                <a:tc>
                  <a:txBody>
                    <a:bodyPr/>
                    <a:lstStyle/>
                    <a:p>
                      <a:pPr algn="l">
                        <a:defRPr sz="590">
                          <a:solidFill>
                            <a:srgbClr val="1E242B"/>
                          </a:solidFill>
                          <a:latin typeface="Arial"/>
                        </a:defRPr>
                      </a:pPr>
                      <a:r>
                        <a:t>• Đã hủy: 29.000 USD (No.23: 25k$ / 650tr VNĐ + No.24: 4k$)</a:t>
                      </a:r>
                      <a:br/>
                      <a:r>
                        <a:t>• R&amp;D 2026-2030: 600 vạn JPY</a:t>
                      </a:r>
                    </a:p>
                  </a:txBody>
                  <a:tcPr anchor="ctr" marL="36576" marR="36576" marT="9144" marB="9144">
                    <a:solidFill>
                      <a:srgbClr val="FDEDEC"/>
                    </a:solidFill>
                  </a:tcPr>
                </a:tc>
                <a:tc>
                  <a:txBody>
                    <a:bodyPr/>
                    <a:lstStyle/>
                    <a:p>
                      <a:pPr algn="l">
                        <a:defRPr sz="590">
                          <a:solidFill>
                            <a:srgbClr val="1E242B"/>
                          </a:solidFill>
                          <a:latin typeface="Arial"/>
                        </a:defRPr>
                      </a:pPr>
                      <a:r>
                        <a:t>連携会 第7回.txt;</a:t>
                      </a:r>
                      <a:br/>
                      <a:r>
                        <a:t>検討資料(8月3日) S8</a:t>
                      </a:r>
                    </a:p>
                  </a:txBody>
                  <a:tcPr anchor="ctr" marL="36576" marR="36576" marT="9144" marB="9144">
                    <a:solidFill>
                      <a:srgbClr val="FDEDEC"/>
                    </a:solidFill>
                  </a:tcPr>
                </a:tc>
              </a:tr>
              <a:tr h="386080">
                <a:tc>
                  <a:txBody>
                    <a:bodyPr/>
                    <a:lstStyle/>
                    <a:p>
                      <a:pPr algn="l">
                        <a:defRPr sz="59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9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9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90">
                          <a:solidFill>
                            <a:srgbClr val="1E242B"/>
                          </a:solidFill>
                          <a:latin typeface="Arial"/>
                        </a:defRPr>
                      </a:pPr>
                      <a:r>
                        <a:t>• Đã xóa 4 bước trên bảng công đoạn T10 (-4,32s/máy); hoàn tất BOM 25 mục No.22 (101,69tr VNĐ); chuẩn bị PMT1 (T12/2026)</a:t>
                      </a:r>
                    </a:p>
                  </a:txBody>
                  <a:tcPr anchor="ctr" marL="36576" marR="36576" marT="9144" marB="9144">
                    <a:solidFill>
                      <a:srgbClr val="F7F9FC"/>
                    </a:solidFill>
                  </a:tcPr>
                </a:tc>
                <a:tc>
                  <a:txBody>
                    <a:bodyPr/>
                    <a:lstStyle/>
                    <a:p>
                      <a:pPr algn="l">
                        <a:defRPr sz="590">
                          <a:solidFill>
                            <a:srgbClr val="1E242B"/>
                          </a:solidFill>
                          <a:latin typeface="Arial"/>
                        </a:defRPr>
                      </a:pPr>
                      <a:r>
                        <a:t>• Lộ trình: DMT (T8~T11/2026) -&gt; PMT1 (T12/2026) -&gt; PMT2 (T2/2027) -&gt; MP (T3/2027)</a:t>
                      </a:r>
                    </a:p>
                  </a:txBody>
                  <a:tcPr anchor="ctr" marL="36576" marR="36576" marT="9144" marB="9144">
                    <a:solidFill>
                      <a:srgbClr val="F7F9FC"/>
                    </a:solidFill>
                  </a:tcPr>
                </a:tc>
                <a:tc>
                  <a:txBody>
                    <a:bodyPr/>
                    <a:lstStyle/>
                    <a:p>
                      <a:pPr algn="l">
                        <a:defRPr sz="59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9" name="Rectangle 8"/>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ĐỐI CHIẾU SỐ LƯỢNG ĐỀ ÁN GIỮA CÁC FILE NGUỒN (28 vs 37 vs 38 ĐỀ ÁN) VÀ CÁCH TÍNH THỜI GIAN</a:t>
            </a:r>
          </a:p>
        </p:txBody>
      </p:sp>
      <p:sp>
        <p:nvSpPr>
          <p:cNvPr id="11" name="TextBox 10"/>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(IrisEXP報告.pptx &amp; BM-003-F 8月.xlsx) ghi 28 đề án (JP: 7, CN: 10, VN: 11); (2) Tháng 9 VN bổ sung 9 đề án (No.29~37) nâng lên 37 đề án (T9/IrisEXP改善提案まとめ.xlsx &amp; BM-003-F 9~10月); (3) Bản tổng hợp mới nhất (đề án cải tiến Điều chỉnh\IrisEXP改善提案まとめ.xlsx) thêm No.38 của CN (WeChat AI kiểm tra hình ảnh) thành 38 đề án (JP: 7, CN: 11, VN: 20). Riêng file IrisEXP cn改善案list.xlsx có 11 dòng vì tính cả mục xóa U155 (-28,2s) mà bản tổng hợp gộp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Bảng đối chiếu 7 đề án Nhật Bản (No.1~7) và 11 đề án Trung Quốc (No.8~17,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Tách riêng đề án của JP và CN với đề án của VN; các hạng mục phần mềm và xóa bước kiểm tra của JP &amp; CN được áp dụng chung sang chuyền VN.</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TextBox 7"/>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 | Nguồn: IrisEXP改善提案まとめ &amp; 既存機との工数比較</a:t>
            </a:r>
          </a:p>
        </p:txBody>
      </p:sp>
      <p:graphicFrame>
        <p:nvGraphicFramePr>
          <p:cNvPr id="9" name="Table 8"/>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 (Thuật ngữ gốc)</a:t>
                      </a:r>
                    </a:p>
                  </a:txBody>
                  <a:tcPr anchor="ctr" marL="36576" marR="36576" marT="9144" marB="9144">
                    <a:solidFill>
                      <a:srgbClr val="1B365D"/>
                    </a:solidFill>
                  </a:tcPr>
                </a:tc>
                <a:tc>
                  <a:txBody>
                    <a:bodyPr/>
                    <a:lstStyle/>
                    <a:p>
                      <a:pPr algn="ctr">
                        <a:defRPr sz="720" b="1">
                          <a:solidFill>
                            <a:srgbClr val="FFFFFF"/>
                          </a:solidFill>
                          <a:latin typeface="Arial"/>
                        </a:defRPr>
                      </a:pPr>
                      <a:r>
                        <a:t>Giải pháp &amp; Quyết định連携会</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br/>
                      <a:r>
                        <a:t>(Row 15)</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-&gt;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(Row 21)</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10" name="TextBox 9"/>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 | Nguồn: IrisEXP cn改善案list.xlsx &amp; まとめ</a:t>
            </a:r>
          </a:p>
        </p:txBody>
      </p:sp>
      <p:graphicFrame>
        <p:nvGraphicFramePr>
          <p:cNvPr id="11" name="Table 10"/>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 (IrisEXP cn改善案list)</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 (R2)</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mẫu in kiểm tra (từ 17 tờ xuống 9 tờ theo chuẩn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 (R4)</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br/>
                      <a:r>
                        <a:t>(Row 23)</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 (R5)</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br/>
                      <a:r>
                        <a:t>(Row 24)</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 (R6)</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 (R7)</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26)</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 (R8)</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mẫu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Sắp xếp lại trình tự khởi động và in liên tục để giảm thời gian chờ in từ 230s -&gt; 120s.</a:t>
                      </a:r>
                    </a:p>
                  </a:txBody>
                  <a:tcPr anchor="ctr" marL="36576" marR="36576" marT="9144" marB="9144">
                    <a:solidFill>
                      <a:srgbClr val="F7F9FC"/>
                    </a:solidFill>
                  </a:tcPr>
                </a:tc>
                <a:tc>
                  <a:txBody>
                    <a:bodyPr/>
                    <a:lstStyle/>
                    <a:p>
                      <a:pPr algn="ctr">
                        <a:defRPr sz="590">
                          <a:solidFill>
                            <a:srgbClr val="1E242B"/>
                          </a:solidFill>
                          <a:latin typeface="Arial"/>
                        </a:defRPr>
                      </a:pPr>
                      <a:r>
                        <a:t>230s -&gt;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br/>
                      <a:r>
                        <a:t>(Row 27)</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 (R9)</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 (R10)</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 (R11)</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30)</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 (R12)</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 Row 31)</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Thực tích đã đo bằng PDCA và Mục tiêu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Thực tích PDCA tại VN tới T10/2026 đã giảm 4,32s/máy (0,18%); trên bảng công đoạn JP đã giảm 176,84s ~ 267,74s; mục tiêu khi triển khai đủ là giảm &gt;=1.175s (&gt;=50%) và giảm từ 18 xuống 9 người.</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br/>
                      <a:r>
                        <a:t>(Nguồn đối chiếu)</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(Baseline Iris2024)</a:t>
                      </a:r>
                    </a:p>
                  </a:txBody>
                  <a:tcPr anchor="ctr" marL="36576" marR="36576" marT="9144" marB="9144">
                    <a:solidFill>
                      <a:srgbClr val="1B365D"/>
                    </a:solidFill>
                  </a:tcPr>
                </a:tc>
                <a:tc>
                  <a:txBody>
                    <a:bodyPr/>
                    <a:lstStyle/>
                    <a:p>
                      <a:pPr algn="ctr">
                        <a:defRPr sz="740" b="1">
                          <a:solidFill>
                            <a:srgbClr val="FFFFFF"/>
                          </a:solidFill>
                          <a:latin typeface="Arial"/>
                        </a:defRPr>
                      </a:pPr>
                      <a:r>
                        <a:t>ĐÃ ĐO / XÁC LẬP</a:t>
                      </a:r>
                      <a:br/>
                      <a:r>
                        <a:t>TỚI T10/2026 (PDCA)</a:t>
                      </a:r>
                    </a:p>
                  </a:txBody>
                  <a:tcPr anchor="ctr" marL="36576" marR="36576" marT="9144" marB="9144">
                    <a:solidFill>
                      <a:srgbClr val="1B365D"/>
                    </a:solidFill>
                  </a:tcPr>
                </a:tc>
                <a:tc>
                  <a:txBody>
                    <a:bodyPr/>
                    <a:lstStyle/>
                    <a:p>
                      <a:pPr algn="ctr">
                        <a:defRPr sz="740" b="1">
                          <a:solidFill>
                            <a:srgbClr val="FFFFFF"/>
                          </a:solidFill>
                          <a:latin typeface="Arial"/>
                        </a:defRPr>
                      </a:pPr>
                      <a:r>
                        <a:t>SAU CẢI TIẾN ĐỦ</a:t>
                      </a:r>
                      <a:br/>
                      <a:r>
                        <a:t>(Kỳ vọng 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br/>
                      <a:r>
                        <a:t>(Before -&gt; After)</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br/>
                      <a:r>
                        <a:t>[BM-003-F 10月; DSLK]</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&lt;= 1.175,00 s/máy</a:t>
                      </a:r>
                      <a:br/>
                      <a:r>
                        <a:t>(4 cụm trạm A-1 ~ A-4</a:t>
                      </a:r>
                      <a:br/>
                      <a:r>
                        <a:t>mẫu Athena)</a:t>
                      </a:r>
                    </a:p>
                  </a:txBody>
                  <a:tcPr anchor="ctr" marL="36576" marR="36576" marT="9144" marB="9144">
                    <a:solidFill>
                      <a:srgbClr val="EAF7EE"/>
                    </a:solidFill>
                  </a:tcPr>
                </a:tc>
                <a:tc>
                  <a:txBody>
                    <a:bodyPr/>
                    <a:lstStyle/>
                    <a:p>
                      <a:pPr algn="l">
                        <a:defRPr sz="670">
                          <a:solidFill>
                            <a:srgbClr val="1E242B"/>
                          </a:solidFill>
                          <a:latin typeface="Arial"/>
                        </a:defRPr>
                      </a:pPr>
                      <a:r>
                        <a:t>Giảm &gt;= 1.175,00 s</a:t>
                      </a:r>
                      <a:br/>
                      <a:r>
                        <a:t>(Giảm &gt;=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không chờ máy)</a:t>
                      </a:r>
                      <a:br/>
                      <a:r>
                        <a:t>[IrisEXP 工程 3.xlsx]</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không chờ máy)</a:t>
                      </a:r>
                      <a:br/>
                      <a:r>
                        <a:t>[IrisEXP 工程 3.xlsx]</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theo 4 cụm</a:t>
                      </a:r>
                      <a:br/>
                      <a:r>
                        <a:t>A-1 ~ A-4 mẫu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(Productivity / 生産性)</a:t>
                      </a:r>
                      <a:br/>
                      <a:r>
                        <a:t>[開発目標決定 S1]</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2倍 -</a:t>
                      </a:r>
                      <a:br/>
                      <a:r>
                        <a:t>仮決定)</a:t>
                      </a:r>
                    </a:p>
                  </a:txBody>
                  <a:tcPr anchor="ctr" marL="36576" marR="36576" marT="9144" marB="9144">
                    <a:solidFill>
                      <a:srgbClr val="E8EEF5"/>
                    </a:solidFill>
                  </a:tcPr>
                </a:tc>
                <a:tc>
                  <a:txBody>
                    <a:bodyPr/>
                    <a:lstStyle/>
                    <a:p>
                      <a:pPr algn="l">
                        <a:defRPr sz="670">
                          <a:solidFill>
                            <a:srgbClr val="1E242B"/>
                          </a:solidFill>
                          <a:latin typeface="Arial"/>
                        </a:defRPr>
                      </a:pPr>
                      <a:r>
                        <a:t>Tăng +100% (x2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br/>
                      <a:r>
                        <a:t>(Print Samples)</a:t>
                      </a:r>
                      <a:br/>
                      <a:r>
                        <a:t>[開発目標決定 S2]</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mẫu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br/>
                      <a:r>
                        <a:t>(Copy Samples)</a:t>
                      </a:r>
                      <a:br/>
                      <a:r>
                        <a:t>[開発目標決定 S2]</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br/>
                      <a:r>
                        <a:t>(Cable / USB Plug-Unplug)</a:t>
                      </a:r>
                      <a:br/>
                      <a:r>
                        <a:t>[IrisEXP報告 S3]</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Lộ trình PDCA hàng tháng</a:t>
                      </a:r>
                      <a:br/>
                      <a:r>
                        <a:t>tại VN (BM-003-F 8~10月)</a:t>
                      </a:r>
                      <a:br/>
                      <a:r>
                        <a:t>[KDTVN-PE-3]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-&gt;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-&gt;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9" name="Picture 8"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công việc tiếp theo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Lộ trình theo các mốc DMT (T8~T11/2026) -&gt; PMT1 (T12/2026) -&gt; PMT2 (T2/2027) -&gt; MP (T3/2027); trọng tâm tháng 11 là duyệt kinh phí No.22, chốt báo giá Đợt 2 và hoàn tất DR công đoạn với PE JP.</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TextBox 7"/>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CẢI TIẾN CÔNG ĐOẠN ĐIỀU CHỈNH IRISEXP (Nguồn: KDTVN-A-QA-QA-BM-003-F 5月~10月.xlsx &amp; 調整工程計画.xlsx)</a:t>
            </a:r>
          </a:p>
        </p:txBody>
      </p:sp>
      <p:graphicFrame>
        <p:nvGraphicFramePr>
          <p:cNvPr id="9" name="Table 8"/>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br/>
                      <a:r>
                        <a:t>(Theo BM-003-F)</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br/>
                      <a:r>
                        <a:t>(Development Milestones)</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28 -&gt;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&gt;= 50% thời gian</a:t>
                      </a:r>
                      <a:br/>
                      <a:r>
                        <a:t>(&lt;=1.175s, 9 người, NS x2)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10" name="TextBox 9"/>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HẠNG MỤC CÔNG VIỆC TIẾP THEO &amp; PHÂN CÔNG PHỤ TRÁCH (Nguồn: 連携会 第13~17回 &amp; BM-003-F)</a:t>
            </a:r>
          </a:p>
        </p:txBody>
      </p:sp>
      <p:graphicFrame>
        <p:nvGraphicFramePr>
          <p:cNvPr id="11" name="Table 10"/>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 (Action Items)</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a:t>
                      </a:r>
                    </a:p>
                  </a:txBody>
                  <a:tcPr anchor="ctr" marL="36576" marR="36576" marT="9144" marB="9144">
                    <a:solidFill>
                      <a:srgbClr val="1B365D"/>
                    </a:solidFill>
                  </a:tcPr>
                </a:tc>
                <a:tc>
                  <a:txBody>
                    <a:bodyPr/>
                    <a:lstStyle/>
                    <a:p>
                      <a:pPr algn="ctr">
                        <a:defRPr sz="700" b="1">
                          <a:solidFill>
                            <a:srgbClr val="FFFFFF"/>
                          </a:solidFill>
                          <a:latin typeface="Arial"/>
                        </a:defRPr>
                      </a:pPr>
                      <a:r>
                        <a:t>Bộ phận / Cá nhân phụ trách (Theo biên bản)</a:t>
                      </a:r>
                    </a:p>
                  </a:txBody>
                  <a:tcPr anchor="ctr" marL="36576" marR="36576" marT="9144" marB="9144">
                    <a:solidFill>
                      <a:srgbClr val="1B365D"/>
                    </a:solidFill>
                  </a:tcPr>
                </a:tc>
                <a:tc>
                  <a:txBody>
                    <a:bodyPr/>
                    <a:lstStyle/>
                    <a:p>
                      <a:pPr algn="ctr">
                        <a:defRPr sz="700" b="1">
                          <a:solidFill>
                            <a:srgbClr val="FFFFFF"/>
                          </a:solidFill>
                          <a:latin typeface="Arial"/>
                        </a:defRPr>
                      </a:pPr>
                      <a:r>
                        <a:t>Nguồn trích xuất</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mua linh kiện chế tạo Thiết bị tự động kiểm tra thông mạch &amp; chịu áp (Đề án No.22: 101.690.000 VNĐ / 3.911,15 USD); chốt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các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-&gt;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phương án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Chốt phương án cho bước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và kinh phí ghi nhận trong hồ sơ cùng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6 rủi ro chính từ biên bản DR4, 連携会 2~17 và bảng đánh giá kỹ thuật (bao gồm 2 phương án Robot đã hủy và lỗi mất nguồn/mạng của hệ thống Athena).</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Nhóm rủi ro / Vấn đề ghi nhận</a:t>
                      </a:r>
                    </a:p>
                  </a:txBody>
                  <a:tcPr anchor="ctr" marL="36576" marR="36576" marT="9144" marB="9144">
                    <a:solidFill>
                      <a:srgbClr val="1B365D"/>
                    </a:solidFill>
                  </a:tcPr>
                </a:tc>
                <a:tc>
                  <a:txBody>
                    <a:bodyPr/>
                    <a:lstStyle/>
                    <a:p>
                      <a:pPr algn="ctr">
                        <a:defRPr sz="750" b="1">
                          <a:solidFill>
                            <a:srgbClr val="FFFFFF"/>
                          </a:solidFill>
                          <a:latin typeface="Arial"/>
                        </a:defRPr>
                      </a:pPr>
                      <a:r>
                        <a:t>Chi tiết rủi ro &amp; Nguyên nhân</a:t>
                      </a:r>
                    </a:p>
                  </a:txBody>
                  <a:tcPr anchor="ctr" marL="36576" marR="36576" marT="9144" marB="9144">
                    <a:solidFill>
                      <a:srgbClr val="1B365D"/>
                    </a:solidFill>
                  </a:tcPr>
                </a:tc>
                <a:tc>
                  <a:txBody>
                    <a:bodyPr/>
                    <a:lstStyle/>
                    <a:p>
                      <a:pPr algn="ctr">
                        <a:defRPr sz="750" b="1">
                          <a:solidFill>
                            <a:srgbClr val="FFFFFF"/>
                          </a:solidFill>
                          <a:latin typeface="Arial"/>
                        </a:defRPr>
                      </a:pPr>
                      <a:r>
                        <a:t>Đối sách &amp; Quyết định trong biên bản</a:t>
                      </a:r>
                    </a:p>
                  </a:txBody>
                  <a:tcPr anchor="ctr" marL="36576" marR="36576" marT="9144" marB="9144">
                    <a:solidFill>
                      <a:srgbClr val="1B365D"/>
                    </a:solidFill>
                  </a:tcPr>
                </a:tc>
                <a:tc>
                  <a:txBody>
                    <a:bodyPr/>
                    <a:lstStyle/>
                    <a:p>
                      <a:pPr algn="ctr">
                        <a:defRPr sz="750" b="1">
                          <a:solidFill>
                            <a:srgbClr val="FFFFFF"/>
                          </a:solidFill>
                          <a:latin typeface="Arial"/>
                        </a:defRPr>
                      </a:pPr>
                      <a:r>
                        <a:t>Nguồn đối chiếu</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Hiệu quả đầu tư thấp:</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Hủy bỏ (廃止 / 見送り) cả 2 phương án Robot sau DR4 / 連携会 7.</a:t>
                      </a:r>
                      <a:br/>
                      <a:r>
                        <a:t>• Thay No.23 bằng Đề án No.25: Quét bản thảo liên tục bằng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hệ thống Athena:</a:t>
                      </a:r>
                      <a:br/>
                      <a:r>
                        <a:t>Chai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 (劣化), cần bộ sạc 10 cổng đắt tiền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đặt bản thảo trên mặt kính ISU bằng quét kéo giấy liên tục qua DP (No.25), có rủi ro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kiểm chứng so sánh dữ liệu quét DP vs ISU và hiệu chỉnh thuật toán phần mềm tự động đánh giá trên PC (連携会 13~17).</a:t>
                      </a:r>
                      <a:br/>
                      <a:r>
                        <a:t>• Chỉ áp dụng chính thức khi năng lực công đoạn đạt Cpk &gt;=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khi ĐÃ LẮP ĐỦ VỎ NGOÀI (外装カバー付き) để phát hiện lỗi kẹt dây điện vào sườn máy.</a:t>
                      </a:r>
                      <a:br/>
                      <a:r>
                        <a:t>• Tuy nhiên tại A-3 còn phải kiểm tra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Bố trí hệ thống tự động No.22 tại cuối trạm A-3 (sau khi máy đã đóng kín vỏ).</a:t>
                      </a:r>
                      <a:br/>
                      <a:r>
                        <a:t>• Thực hiện Đề án No.33: Chuyển nguyên công lắp 6 tấm vỏ máy về công đoạn Lắp ráp (本体組立) và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-&gt;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viết phần mềm nạp dữ liệu LSU tự động để xóa thao tác U413 trên chuyền (tiết kiệm 42 vạn JPY/năm).</a:t>
                      </a:r>
                      <a:br/>
                      <a:r>
                        <a:t>• Về No.18: Nếu nạp FW ở Partner thì ghép bước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phương án kỹ thuật và phối hợp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nội dung xin ý kiến chỉ đạo của Trưởng bộ phận để đẩy nhanh tiến độ PDCA (mới đạt 0,18% tại T10) và chốt thiết kế công đoạn trước mốc PMT1 (T12/2026).</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graphicFrame>
        <p:nvGraphicFramePr>
          <p:cNvPr id="8" name="Table 7"/>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Hiện trạng &amp; Vướng mắc thực tế</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Thứ tự ưu tiên đầu tư cho các đề án thiết bị VN đang chờ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Hiện mới có Đề án No.22 hoàn tất BOM báo giá chi tiết (101,69 triệu VNĐ). Còn 10 đề án thiết bị của VN đang ghi "Đang báo giá (見積中)", trong khi mục tiêu PDCA tháng 11 là 15% (-282s) và tháng 12 là 30% (-705s).</a:t>
                      </a:r>
                    </a:p>
                  </a:txBody>
                  <a:tcPr anchor="ctr" marL="45720" marR="45720" marT="18288" marB="18288">
                    <a:solidFill>
                      <a:srgbClr val="E8EEF5"/>
                    </a:solidFill>
                  </a:tcPr>
                </a:tc>
                <a:tc>
                  <a:txBody>
                    <a:bodyPr/>
                    <a:lstStyle/>
                    <a:p>
                      <a:pPr algn="l">
                        <a:defRPr sz="700">
                          <a:solidFill>
                            <a:srgbClr val="1E242B"/>
                          </a:solidFill>
                          <a:latin typeface="Arial"/>
                        </a:defRPr>
                      </a:pPr>
                      <a:r>
                        <a:t>Đề xuất chia nhóm ưu tiên lấy báo giá trong tháng 11/2026:</a:t>
                      </a:r>
                      <a:br/>
                      <a:r>
                        <a:t>• Nhóm Ưu tiên 1 (Giảm nhiều thời gian &amp; nhân lực nhất): No.27 (Camera đo nồng độ/lề: -177s~-215s), No.25 (Quét DP liên tục + PC: -110s), No.28 (Thiết lập xuất hàng qua mạng: -50s).</a:t>
                      </a:r>
                      <a:br/>
                      <a:r>
                        <a:t>• Nhóm Ưu tiên 2 (Chống lỗi &amp; giảm thao tác nặng): No.21 (Gá Option nam châm: -45s), No.18 (Gá nạp FW 4 máy), No.31 &amp; No.35.</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cho ý kiến về thứ tự ưu tiên và hạn mức ngân sách dự kiến cho Nhóm Ưu tiên 1 trước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công nhân điều chỉnh đang phải lắp và siết vít 6 tấm vỏ ngoài (TRAY INNER, COVER DP, REAR LOW/UP, FILTER, PLATE OPTION) mất 48,32s~90s/máy,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0 đồng thiết bị): Chuyển nguyên công lắp 6 tấm vỏ này về cuối công đoạn Lắp ráp thân máy (本体組立) trước khi máy sang chuyền Điều chỉnh.</a:t>
                      </a:r>
                      <a:br/>
                      <a:r>
                        <a:t>• Phương án B: Làm cơ cấu gá lắp/siết vít tự động tại trạm A-3 (phát sinh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ý kiến chỉ đạo để làm việc với bộ phận Lắp ráp (Assy) và PE JP, chốt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Làm việc với Thiết kế JP &amp; PE JP để chốt DR công đoạn và phản hồi 6 kiến nghị sửa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công đoạn. Ngoài ra, 6 kiến nghị sửa FW/mạch của VN (No.19, 29, 30, 32, 34, 36) đang chờ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đưa nội dung này vào cuộc họp cấp Quản lý giữa KDTVN và bộ phận Thiết kế / PE JP để chốt lịch DR công đoạn trong tháng 11/2026, kịp tiến độ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trao đổi với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Điều kiện nghiệm thu trước khi xóa bước đo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đo độ lệch Transfer Belt (-15,36s trên 工程表), nhưng tại nhà máy VN vẫn phát sinh 1~2 máy NG/tháng nên QA VN chưa đồng ý bỏ ngay khi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bước kiểm tra Transfer Belt trong giai đoạn PMT1 (T12/2026); chỉ xóa bước này tại VN sau khi lô máy dùng Puli 35° + Belt đàn hồi mới đạt Cpk &gt;= 1,33 và không phát sinh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để thống nhất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Chuẩn bị hạ tầng phần cứng điều khiển tự động tại VN theo cấu hình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phục vụ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mạng nội bộ (LAN/VLAN) và vị trí lắp Mini PC theo cấu hình Spica (1 Mini PC / 4 máy MFP) đồng bộ với chuẩn JP để dùng chung phần mềm.</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duyệt chủ trương đồng bộ phần cứng theo hệ Spica để đưa vào dự toán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đầu tư &amp; Danh mục chờ báo giá riêng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Trình phê duyệt Đề án No.22: 101.690.000 VNĐ (3.911,15 USD theo BOM 25 mục; hoặc 96.690.000 VNĐ nếu tách Mục 17 Tủ điện 5tr chờ báo giá). Các mục 見積中 tách riêng, không cộng gộp.</a:t>
            </a:r>
          </a:p>
        </p:txBody>
      </p:sp>
      <p:sp>
        <p:nvSpPr>
          <p:cNvPr id="7" name="TextBox 6"/>
          <p:cNvSpPr txBox="1"/>
          <p:nvPr/>
        </p:nvSpPr>
        <p:spPr>
          <a:xfrm>
            <a:off x="274320" y="6565392"/>
            <a:ext cx="11643055" cy="237744"/>
          </a:xfrm>
          <a:prstGeom prst="rect">
            <a:avLst/>
          </a:prstGeom>
          <a:noFill/>
        </p:spPr>
        <p:txBody>
          <a:bodyPr wrap="none" lIns="9144" tIns="9144" bIns="9144">
            <a:spAutoFit/>
          </a:bodyPr>
          <a:lstStyle/>
          <a:p>
            <a:pPr>
              <a:defRPr sz="750">
                <a:solidFill>
                  <a:srgbClr val="55606E"/>
                </a:solidFill>
                <a:latin typeface="Arial"/>
              </a:defRPr>
            </a:pPr>
            <a:r>
              <a:t>Dự án Iris EXP: Báo cáo đề án cải tiến công đoạn Điều chỉnh / Bảo chứng thân máy (本体保証工程) | Nguồn: Hồ sơ 保証工程連携会 (Kỳ 2-17) &amp; DR4 | Bảng chi tiết: bang-so-lieu/Bang_so_lieu_chi_tiet_IrisEXP_VN.xlsx</a:t>
            </a:r>
          </a:p>
        </p:txBody>
      </p:sp>
      <p:sp>
        <p:nvSpPr>
          <p:cNvPr id="8" name="TextBox 7"/>
          <p:cNvSpPr txBox="1"/>
          <p:nvPr/>
        </p:nvSpPr>
        <p:spPr>
          <a:xfrm>
            <a:off x="274320" y="1197864"/>
            <a:ext cx="6629400" cy="201168"/>
          </a:xfrm>
          <a:prstGeom prst="rect">
            <a:avLst/>
          </a:prstGeom>
          <a:noFill/>
        </p:spPr>
        <p:txBody>
          <a:bodyPr wrap="square" lIns="18288" rIns="18288" tIns="9144" bIns="9144">
            <a:spAutoFit/>
          </a:bodyPr>
          <a:lstStyle/>
          <a:p>
            <a:pPr>
              <a:defRPr sz="800" b="1">
                <a:solidFill>
                  <a:srgbClr val="1E6E3E"/>
                </a:solidFill>
                <a:latin typeface="Arial"/>
              </a:defRPr>
            </a:pPr>
            <a:r>
              <a:t>■ 1. TỔNG KINH PHÍ ĐỀ NGHỊ PHÊ DUYỆT ĐỢT NÀY (HẠNG MỤC ĐÃ CÓ BÁO GIÁ: ĐỀ ÁN NO.22)</a:t>
            </a:r>
          </a:p>
        </p:txBody>
      </p:sp>
      <p:graphicFrame>
        <p:nvGraphicFramePr>
          <p:cNvPr id="9" name="Table 8"/>
          <p:cNvGraphicFramePr>
            <a:graphicFrameLocks noGrp="1"/>
          </p:cNvGraphicFramePr>
          <p:nvPr/>
        </p:nvGraphicFramePr>
        <p:xfrm>
          <a:off x="274320" y="1399032"/>
          <a:ext cx="6629400" cy="2286000"/>
        </p:xfrm>
        <a:graphic>
          <a:graphicData uri="http://schemas.openxmlformats.org/drawingml/2006/table">
            <a:tbl>
              <a:tblPr firstRow="1" bandRow="1">
                <a:tableStyleId>{5C22544A-7EE6-4342-B048-85BDC9FD1C3A}</a:tableStyleId>
              </a:tblPr>
              <a:tblGrid>
                <a:gridCol w="457200"/>
                <a:gridCol w="2697480"/>
                <a:gridCol w="1234440"/>
                <a:gridCol w="1097280"/>
                <a:gridCol w="1143000"/>
              </a:tblGrid>
              <a:tr h="254000">
                <a:tc>
                  <a:txBody>
                    <a:bodyPr/>
                    <a:lstStyle/>
                    <a:p>
                      <a:pPr algn="ctr">
                        <a:defRPr sz="650" b="1">
                          <a:solidFill>
                            <a:srgbClr val="FFFFFF"/>
                          </a:solidFill>
                          <a:latin typeface="Arial"/>
                        </a:defRPr>
                      </a:pPr>
                      <a:r>
                        <a:t>Nhóm</a:t>
                      </a:r>
                    </a:p>
                  </a:txBody>
                  <a:tcPr anchor="ctr" marL="36576" marR="36576" marT="9144" marB="9144">
                    <a:solidFill>
                      <a:srgbClr val="1B365D"/>
                    </a:solidFill>
                  </a:tcPr>
                </a:tc>
                <a:tc>
                  <a:txBody>
                    <a:bodyPr/>
                    <a:lstStyle/>
                    <a:p>
                      <a:pPr algn="ctr">
                        <a:defRPr sz="650" b="1">
                          <a:solidFill>
                            <a:srgbClr val="FFFFFF"/>
                          </a:solidFill>
                          <a:latin typeface="Arial"/>
                        </a:defRPr>
                      </a:pPr>
                      <a:r>
                        <a:t>Phân bổ theo nhóm linh kiện thuộc Đề án No.22</a:t>
                      </a:r>
                      <a:br/>
                      <a:r>
                        <a:t>(Nguồn: Sheet 導通・耐圧検査設備リスト, 25 mục BOM)</a:t>
                      </a:r>
                    </a:p>
                  </a:txBody>
                  <a:tcPr anchor="ctr" marL="36576" marR="36576" marT="9144" marB="9144">
                    <a:solidFill>
                      <a:srgbClr val="1B365D"/>
                    </a:solidFill>
                  </a:tcPr>
                </a:tc>
                <a:tc>
                  <a:txBody>
                    <a:bodyPr/>
                    <a:lstStyle/>
                    <a:p>
                      <a:pPr algn="ctr">
                        <a:defRPr sz="65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50" b="1">
                          <a:solidFill>
                            <a:srgbClr val="FFFFFF"/>
                          </a:solidFill>
                          <a:latin typeface="Arial"/>
                        </a:defRPr>
                      </a:pPr>
                      <a:r>
                        <a:t>Quy đổi (USD)</a:t>
                      </a:r>
                      <a:br/>
                      <a:r>
                        <a:t>[Chính xác]</a:t>
                      </a:r>
                    </a:p>
                  </a:txBody>
                  <a:tcPr anchor="ctr" marL="36576" marR="36576" marT="9144" marB="9144">
                    <a:solidFill>
                      <a:srgbClr val="1B365D"/>
                    </a:solidFill>
                  </a:tcPr>
                </a:tc>
                <a:tc>
                  <a:txBody>
                    <a:bodyPr/>
                    <a:lstStyle/>
                    <a:p>
                      <a:pPr algn="ctr">
                        <a:defRPr sz="650" b="1">
                          <a:solidFill>
                            <a:srgbClr val="FFFFFF"/>
                          </a:solidFill>
                          <a:latin typeface="Arial"/>
                        </a:defRPr>
                      </a:pPr>
                      <a:r>
                        <a:t>Ghi chú trong</a:t>
                      </a:r>
                      <a:br/>
                      <a:r>
                        <a:t>file nguồn</a:t>
                      </a:r>
                    </a:p>
                  </a:txBody>
                  <a:tcPr anchor="ctr" marL="36576" marR="36576" marT="9144" marB="9144">
                    <a:solidFill>
                      <a:srgbClr val="1B365D"/>
                    </a:solidFill>
                  </a:tcPr>
                </a:tc>
              </a:tr>
              <a:tr h="254000">
                <a:tc>
                  <a:txBody>
                    <a:bodyPr/>
                    <a:lstStyle/>
                    <a:p>
                      <a:pPr algn="ctr">
                        <a:defRPr sz="580" b="1">
                          <a:solidFill>
                            <a:srgbClr val="1E242B"/>
                          </a:solidFill>
                          <a:latin typeface="Arial"/>
                        </a:defRPr>
                      </a:pPr>
                      <a:r>
                        <a:t>1</a:t>
                      </a:r>
                    </a:p>
                  </a:txBody>
                  <a:tcPr anchor="ctr" marL="36576" marR="36576" marT="9144" marB="9144">
                    <a:solidFill>
                      <a:srgbClr val="FFFFFF"/>
                    </a:solidFill>
                  </a:tcPr>
                </a:tc>
                <a:tc>
                  <a:txBody>
                    <a:bodyPr/>
                    <a:lstStyle/>
                    <a:p>
                      <a:pPr algn="l">
                        <a:defRPr sz="580">
                          <a:solidFill>
                            <a:srgbClr val="1E242B"/>
                          </a:solidFill>
                          <a:latin typeface="Arial"/>
                        </a:defRPr>
                      </a:pPr>
                      <a:r>
                        <a:t>Nhóm 1 (Mục 18~24): PLC FX5U-32MT/ES (13tr) + Màn hình HMI GOT2000 (12tr) + Nguồn, Rơ-le, Đèn tháp, Vật tư điện (5,6tr)</a:t>
                      </a:r>
                    </a:p>
                  </a:txBody>
                  <a:tcPr anchor="ctr" marL="36576" marR="36576" marT="9144" marB="9144">
                    <a:solidFill>
                      <a:srgbClr val="FFFFFF"/>
                    </a:solidFill>
                  </a:tcPr>
                </a:tc>
                <a:tc>
                  <a:txBody>
                    <a:bodyPr/>
                    <a:lstStyle/>
                    <a:p>
                      <a:pPr algn="r">
                        <a:defRPr sz="580">
                          <a:solidFill>
                            <a:srgbClr val="1E242B"/>
                          </a:solidFill>
                          <a:latin typeface="Arial"/>
                        </a:defRPr>
                      </a:pPr>
                      <a:r>
                        <a:t>30.600.000 VNĐ</a:t>
                      </a:r>
                    </a:p>
                  </a:txBody>
                  <a:tcPr anchor="ctr" marL="36576" marR="36576" marT="9144" marB="9144">
                    <a:solidFill>
                      <a:srgbClr val="FFFFFF"/>
                    </a:solidFill>
                  </a:tcPr>
                </a:tc>
                <a:tc>
                  <a:txBody>
                    <a:bodyPr/>
                    <a:lstStyle/>
                    <a:p>
                      <a:pPr algn="r">
                        <a:defRPr sz="580">
                          <a:solidFill>
                            <a:srgbClr val="1E242B"/>
                          </a:solidFill>
                          <a:latin typeface="Arial"/>
                        </a:defRPr>
                      </a:pPr>
                      <a:r>
                        <a:t>1.176,92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(30,1%)</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2</a:t>
                      </a:r>
                    </a:p>
                  </a:txBody>
                  <a:tcPr anchor="ctr" marL="36576" marR="36576" marT="9144" marB="9144">
                    <a:solidFill>
                      <a:srgbClr val="F7F9FC"/>
                    </a:solidFill>
                  </a:tcPr>
                </a:tc>
                <a:tc>
                  <a:txBody>
                    <a:bodyPr/>
                    <a:lstStyle/>
                    <a:p>
                      <a:pPr algn="l">
                        <a:defRPr sz="580">
                          <a:solidFill>
                            <a:srgbClr val="1E242B"/>
                          </a:solidFill>
                          <a:latin typeface="Arial"/>
                        </a:defRPr>
                      </a:pPr>
                      <a:r>
                        <a:t>Nhóm 2 (Mục 8, 9, 25): Gia công cơ khí chính xác CNC (20tr) + Tấm Bakelit đồ gá (5tr) + Tấm Mica chắn an toàn (2,8tr)</a:t>
                      </a:r>
                    </a:p>
                  </a:txBody>
                  <a:tcPr anchor="ctr" marL="36576" marR="36576" marT="9144" marB="9144">
                    <a:solidFill>
                      <a:srgbClr val="F7F9FC"/>
                    </a:solidFill>
                  </a:tcPr>
                </a:tc>
                <a:tc>
                  <a:txBody>
                    <a:bodyPr/>
                    <a:lstStyle/>
                    <a:p>
                      <a:pPr algn="r">
                        <a:defRPr sz="580">
                          <a:solidFill>
                            <a:srgbClr val="1E242B"/>
                          </a:solidFill>
                          <a:latin typeface="Arial"/>
                        </a:defRPr>
                      </a:pPr>
                      <a:r>
                        <a:t>27.800.000 VNĐ</a:t>
                      </a:r>
                    </a:p>
                  </a:txBody>
                  <a:tcPr anchor="ctr" marL="36576" marR="36576" marT="9144" marB="9144">
                    <a:solidFill>
                      <a:srgbClr val="F7F9FC"/>
                    </a:solidFill>
                  </a:tcPr>
                </a:tc>
                <a:tc>
                  <a:txBody>
                    <a:bodyPr/>
                    <a:lstStyle/>
                    <a:p>
                      <a:pPr algn="r">
                        <a:defRPr sz="580">
                          <a:solidFill>
                            <a:srgbClr val="1E242B"/>
                          </a:solidFill>
                          <a:latin typeface="Arial"/>
                        </a:defRPr>
                      </a:pPr>
                      <a:r>
                        <a:t>1.069,23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(27,3%)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3</a:t>
                      </a:r>
                    </a:p>
                  </a:txBody>
                  <a:tcPr anchor="ctr" marL="36576" marR="36576" marT="9144" marB="9144">
                    <a:solidFill>
                      <a:srgbClr val="FFFFFF"/>
                    </a:solidFill>
                  </a:tcPr>
                </a:tc>
                <a:tc>
                  <a:txBody>
                    <a:bodyPr/>
                    <a:lstStyle/>
                    <a:p>
                      <a:pPr algn="l">
                        <a:defRPr sz="580">
                          <a:solidFill>
                            <a:srgbClr val="1E242B"/>
                          </a:solidFill>
                          <a:latin typeface="Arial"/>
                        </a:defRPr>
                      </a:pPr>
                      <a:r>
                        <a:t>Nhóm 3 (Mục 10): Đầu đọc Barcode cố định tự động (Fixed Barcode Reader, đọc S/N máy tự động)</a:t>
                      </a:r>
                    </a:p>
                  </a:txBody>
                  <a:tcPr anchor="ctr" marL="36576" marR="36576" marT="9144" marB="9144">
                    <a:solidFill>
                      <a:srgbClr val="FFFFFF"/>
                    </a:solidFill>
                  </a:tcPr>
                </a:tc>
                <a:tc>
                  <a:txBody>
                    <a:bodyPr/>
                    <a:lstStyle/>
                    <a:p>
                      <a:pPr algn="r">
                        <a:defRPr sz="580">
                          <a:solidFill>
                            <a:srgbClr val="1E242B"/>
                          </a:solidFill>
                          <a:latin typeface="Arial"/>
                        </a:defRPr>
                      </a:pPr>
                      <a:r>
                        <a:t>19.000.000 VNĐ</a:t>
                      </a:r>
                    </a:p>
                  </a:txBody>
                  <a:tcPr anchor="ctr" marL="36576" marR="36576" marT="9144" marB="9144">
                    <a:solidFill>
                      <a:srgbClr val="FFFFFF"/>
                    </a:solidFill>
                  </a:tcPr>
                </a:tc>
                <a:tc>
                  <a:txBody>
                    <a:bodyPr/>
                    <a:lstStyle/>
                    <a:p>
                      <a:pPr algn="r">
                        <a:defRPr sz="580">
                          <a:solidFill>
                            <a:srgbClr val="1E242B"/>
                          </a:solidFill>
                          <a:latin typeface="Arial"/>
                        </a:defRPr>
                      </a:pPr>
                      <a:r>
                        <a:t>730,77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(18,7%)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4</a:t>
                      </a:r>
                    </a:p>
                  </a:txBody>
                  <a:tcPr anchor="ctr" marL="36576" marR="36576" marT="9144" marB="9144">
                    <a:solidFill>
                      <a:srgbClr val="F7F9FC"/>
                    </a:solidFill>
                  </a:tcPr>
                </a:tc>
                <a:tc>
                  <a:txBody>
                    <a:bodyPr/>
                    <a:lstStyle/>
                    <a:p>
                      <a:pPr algn="l">
                        <a:defRPr sz="580">
                          <a:solidFill>
                            <a:srgbClr val="1E242B"/>
                          </a:solidFill>
                          <a:latin typeface="Arial"/>
                        </a:defRPr>
                      </a:pPr>
                      <a:r>
                        <a:t>Nhóm 4 (Mục 11~16): 4 Xylanh khí nén SMC tự động cắm nguồn/đo (9,5tr) + 4 Van điện từ + 8 Cảm biến + Giảm chấn, Ống khí (4tr)</a:t>
                      </a:r>
                    </a:p>
                  </a:txBody>
                  <a:tcPr anchor="ctr" marL="36576" marR="36576" marT="9144" marB="9144">
                    <a:solidFill>
                      <a:srgbClr val="F7F9FC"/>
                    </a:solidFill>
                  </a:tcPr>
                </a:tc>
                <a:tc>
                  <a:txBody>
                    <a:bodyPr/>
                    <a:lstStyle/>
                    <a:p>
                      <a:pPr algn="r">
                        <a:defRPr sz="580">
                          <a:solidFill>
                            <a:srgbClr val="1E242B"/>
                          </a:solidFill>
                          <a:latin typeface="Arial"/>
                        </a:defRPr>
                      </a:pPr>
                      <a:r>
                        <a:t>13.500.000 VNĐ</a:t>
                      </a:r>
                    </a:p>
                  </a:txBody>
                  <a:tcPr anchor="ctr" marL="36576" marR="36576" marT="9144" marB="9144">
                    <a:solidFill>
                      <a:srgbClr val="F7F9FC"/>
                    </a:solidFill>
                  </a:tcPr>
                </a:tc>
                <a:tc>
                  <a:txBody>
                    <a:bodyPr/>
                    <a:lstStyle/>
                    <a:p>
                      <a:pPr algn="r">
                        <a:defRPr sz="580">
                          <a:solidFill>
                            <a:srgbClr val="1E242B"/>
                          </a:solidFill>
                          <a:latin typeface="Arial"/>
                        </a:defRPr>
                      </a:pPr>
                      <a:r>
                        <a:t>519,23 USD</a:t>
                      </a:r>
                    </a:p>
                  </a:txBody>
                  <a:tcPr anchor="ctr" marL="36576" marR="36576" marT="9144" marB="9144">
                    <a:solidFill>
                      <a:srgbClr val="F7F9FC"/>
                    </a:solidFill>
                  </a:tcPr>
                </a:tc>
                <a:tc>
                  <a:txBody>
                    <a:bodyPr/>
                    <a:lstStyle/>
                    <a:p>
                      <a:pPr algn="l">
                        <a:defRPr sz="580">
                          <a:solidFill>
                            <a:srgbClr val="1E242B"/>
                          </a:solidFill>
                          <a:latin typeface="Arial"/>
                        </a:defRPr>
                      </a:pPr>
                      <a:r>
                        <a:t>Đã có giá chuẩn (13,3%)</a:t>
                      </a:r>
                    </a:p>
                  </a:txBody>
                  <a:tcPr anchor="ctr" marL="36576" marR="36576" marT="9144" marB="9144">
                    <a:solidFill>
                      <a:srgbClr val="F7F9FC"/>
                    </a:solidFill>
                  </a:tcPr>
                </a:tc>
              </a:tr>
              <a:tr h="254000">
                <a:tc>
                  <a:txBody>
                    <a:bodyPr/>
                    <a:lstStyle/>
                    <a:p>
                      <a:pPr algn="ctr">
                        <a:defRPr sz="580" b="1">
                          <a:solidFill>
                            <a:srgbClr val="1E242B"/>
                          </a:solidFill>
                          <a:latin typeface="Arial"/>
                        </a:defRPr>
                      </a:pPr>
                      <a:r>
                        <a:t>5</a:t>
                      </a:r>
                    </a:p>
                  </a:txBody>
                  <a:tcPr anchor="ctr" marL="36576" marR="36576" marT="9144" marB="9144">
                    <a:solidFill>
                      <a:srgbClr val="FFFFFF"/>
                    </a:solidFill>
                  </a:tcPr>
                </a:tc>
                <a:tc>
                  <a:txBody>
                    <a:bodyPr/>
                    <a:lstStyle/>
                    <a:p>
                      <a:pPr algn="l">
                        <a:defRPr sz="580">
                          <a:solidFill>
                            <a:srgbClr val="1E242B"/>
                          </a:solidFill>
                          <a:latin typeface="Arial"/>
                        </a:defRPr>
                      </a:pPr>
                      <a:r>
                        <a:t>Nhóm 5 (Mục 1~7): Khung nhôm định hình 30x30/30x60/40x40 (3,94tr) + Ke góc (0,75tr) + Chân đế M12 &amp; Bánh xe (1,1tr)</a:t>
                      </a:r>
                    </a:p>
                  </a:txBody>
                  <a:tcPr anchor="ctr" marL="36576" marR="36576" marT="9144" marB="9144">
                    <a:solidFill>
                      <a:srgbClr val="FFFFFF"/>
                    </a:solidFill>
                  </a:tcPr>
                </a:tc>
                <a:tc>
                  <a:txBody>
                    <a:bodyPr/>
                    <a:lstStyle/>
                    <a:p>
                      <a:pPr algn="r">
                        <a:defRPr sz="580">
                          <a:solidFill>
                            <a:srgbClr val="1E242B"/>
                          </a:solidFill>
                          <a:latin typeface="Arial"/>
                        </a:defRPr>
                      </a:pPr>
                      <a:r>
                        <a:t>5.790.000 VNĐ</a:t>
                      </a:r>
                    </a:p>
                  </a:txBody>
                  <a:tcPr anchor="ctr" marL="36576" marR="36576" marT="9144" marB="9144">
                    <a:solidFill>
                      <a:srgbClr val="FFFFFF"/>
                    </a:solidFill>
                  </a:tcPr>
                </a:tc>
                <a:tc>
                  <a:txBody>
                    <a:bodyPr/>
                    <a:lstStyle/>
                    <a:p>
                      <a:pPr algn="r">
                        <a:defRPr sz="580">
                          <a:solidFill>
                            <a:srgbClr val="1E242B"/>
                          </a:solidFill>
                          <a:latin typeface="Arial"/>
                        </a:defRPr>
                      </a:pPr>
                      <a:r>
                        <a:t>222,69 USD</a:t>
                      </a:r>
                    </a:p>
                  </a:txBody>
                  <a:tcPr anchor="ctr" marL="36576" marR="36576" marT="9144" marB="9144">
                    <a:solidFill>
                      <a:srgbClr val="FFFFFF"/>
                    </a:solidFill>
                  </a:tcPr>
                </a:tc>
                <a:tc>
                  <a:txBody>
                    <a:bodyPr/>
                    <a:lstStyle/>
                    <a:p>
                      <a:pPr algn="l">
                        <a:defRPr sz="580">
                          <a:solidFill>
                            <a:srgbClr val="1E242B"/>
                          </a:solidFill>
                          <a:latin typeface="Arial"/>
                        </a:defRPr>
                      </a:pPr>
                      <a:r>
                        <a:t>Đã có giá chuẩn (5,7%)</a:t>
                      </a:r>
                    </a:p>
                  </a:txBody>
                  <a:tcPr anchor="ctr" marL="36576" marR="36576" marT="9144" marB="9144">
                    <a:solidFill>
                      <a:srgbClr val="FFFFFF"/>
                    </a:solidFill>
                  </a:tcPr>
                </a:tc>
              </a:tr>
              <a:tr h="254000">
                <a:tc>
                  <a:txBody>
                    <a:bodyPr/>
                    <a:lstStyle/>
                    <a:p>
                      <a:pPr algn="ctr">
                        <a:defRPr sz="580" b="1">
                          <a:solidFill>
                            <a:srgbClr val="1E242B"/>
                          </a:solidFill>
                          <a:latin typeface="Arial"/>
                        </a:defRPr>
                      </a:pPr>
                      <a:r>
                        <a:t>-</a:t>
                      </a:r>
                    </a:p>
                  </a:txBody>
                  <a:tcPr anchor="ctr" marL="36576" marR="36576" marT="9144" marB="9144">
                    <a:solidFill>
                      <a:srgbClr val="E8EEF5"/>
                    </a:solidFill>
                  </a:tcPr>
                </a:tc>
                <a:tc>
                  <a:txBody>
                    <a:bodyPr/>
                    <a:lstStyle/>
                    <a:p>
                      <a:pPr algn="l">
                        <a:defRPr sz="580">
                          <a:solidFill>
                            <a:srgbClr val="1E242B"/>
                          </a:solidFill>
                          <a:latin typeface="Arial"/>
                        </a:defRPr>
                      </a:pPr>
                      <a:r>
                        <a:t>CỘNG 24 MỤC ĐÃ CÓ GIÁ CỐ ĐỊNH (Mục 1~16 &amp; 18~25)</a:t>
                      </a:r>
                    </a:p>
                  </a:txBody>
                  <a:tcPr anchor="ctr" marL="36576" marR="36576" marT="9144" marB="9144">
                    <a:solidFill>
                      <a:srgbClr val="E8EEF5"/>
                    </a:solidFill>
                  </a:tcPr>
                </a:tc>
                <a:tc>
                  <a:txBody>
                    <a:bodyPr/>
                    <a:lstStyle/>
                    <a:p>
                      <a:pPr algn="r">
                        <a:defRPr sz="580">
                          <a:solidFill>
                            <a:srgbClr val="1E242B"/>
                          </a:solidFill>
                          <a:latin typeface="Arial"/>
                        </a:defRPr>
                      </a:pPr>
                      <a:r>
                        <a:t>96.690.000 VNĐ</a:t>
                      </a:r>
                    </a:p>
                  </a:txBody>
                  <a:tcPr anchor="ctr" marL="36576" marR="36576" marT="9144" marB="9144">
                    <a:solidFill>
                      <a:srgbClr val="E8EEF5"/>
                    </a:solidFill>
                  </a:tcPr>
                </a:tc>
                <a:tc>
                  <a:txBody>
                    <a:bodyPr/>
                    <a:lstStyle/>
                    <a:p>
                      <a:pPr algn="r">
                        <a:defRPr sz="580">
                          <a:solidFill>
                            <a:srgbClr val="1E242B"/>
                          </a:solidFill>
                          <a:latin typeface="Arial"/>
                        </a:defRPr>
                      </a:pPr>
                      <a:r>
                        <a:t>3.718,85 USD</a:t>
                      </a:r>
                    </a:p>
                  </a:txBody>
                  <a:tcPr anchor="ctr" marL="36576" marR="36576" marT="9144" marB="9144">
                    <a:solidFill>
                      <a:srgbClr val="E8EEF5"/>
                    </a:solidFill>
                  </a:tcPr>
                </a:tc>
                <a:tc>
                  <a:txBody>
                    <a:bodyPr/>
                    <a:lstStyle/>
                    <a:p>
                      <a:pPr algn="l">
                        <a:defRPr sz="580">
                          <a:solidFill>
                            <a:srgbClr val="1E242B"/>
                          </a:solidFill>
                          <a:latin typeface="Arial"/>
                        </a:defRPr>
                      </a:pPr>
                      <a:r>
                        <a:t>Đã có báo giá (95,1%)</a:t>
                      </a:r>
                    </a:p>
                  </a:txBody>
                  <a:tcPr anchor="ctr" marL="36576" marR="36576" marT="9144" marB="9144">
                    <a:solidFill>
                      <a:srgbClr val="E8EEF5"/>
                    </a:solidFill>
                  </a:tcPr>
                </a:tc>
              </a:tr>
              <a:tr h="254000">
                <a:tc>
                  <a:txBody>
                    <a:bodyPr/>
                    <a:lstStyle/>
                    <a:p>
                      <a:pPr algn="ctr">
                        <a:defRPr sz="580" b="1">
                          <a:solidFill>
                            <a:srgbClr val="1E242B"/>
                          </a:solidFill>
                          <a:latin typeface="Arial"/>
                        </a:defRPr>
                      </a:pPr>
                      <a:r>
                        <a:t>6</a:t>
                      </a:r>
                    </a:p>
                  </a:txBody>
                  <a:tcPr anchor="ctr" marL="36576" marR="36576" marT="9144" marB="9144">
                    <a:solidFill>
                      <a:srgbClr val="FEF7E6"/>
                    </a:solidFill>
                  </a:tcPr>
                </a:tc>
                <a:tc>
                  <a:txBody>
                    <a:bodyPr/>
                    <a:lstStyle/>
                    <a:p>
                      <a:pPr algn="l">
                        <a:defRPr sz="580">
                          <a:solidFill>
                            <a:srgbClr val="1E242B"/>
                          </a:solidFill>
                          <a:latin typeface="Arial"/>
                        </a:defRPr>
                      </a:pPr>
                      <a:r>
                        <a:t>Nhóm 6 (Mục 17): Tủ điện điều khiển 500x400x200 (1 cái x 5.000.000 VNĐ, cột Ghi chú ghi "Xin báo giá")</a:t>
                      </a:r>
                    </a:p>
                  </a:txBody>
                  <a:tcPr anchor="ctr" marL="36576" marR="36576" marT="9144" marB="9144">
                    <a:solidFill>
                      <a:srgbClr val="FEF7E6"/>
                    </a:solidFill>
                  </a:tcPr>
                </a:tc>
                <a:tc>
                  <a:txBody>
                    <a:bodyPr/>
                    <a:lstStyle/>
                    <a:p>
                      <a:pPr algn="r">
                        <a:defRPr sz="580">
                          <a:solidFill>
                            <a:srgbClr val="1E242B"/>
                          </a:solidFill>
                          <a:latin typeface="Arial"/>
                        </a:defRPr>
                      </a:pPr>
                      <a:r>
                        <a:t>5.000.000 VNĐ</a:t>
                      </a:r>
                    </a:p>
                  </a:txBody>
                  <a:tcPr anchor="ctr" marL="36576" marR="36576" marT="9144" marB="9144">
                    <a:solidFill>
                      <a:srgbClr val="FEF7E6"/>
                    </a:solidFill>
                  </a:tcPr>
                </a:tc>
                <a:tc>
                  <a:txBody>
                    <a:bodyPr/>
                    <a:lstStyle/>
                    <a:p>
                      <a:pPr algn="r">
                        <a:defRPr sz="580">
                          <a:solidFill>
                            <a:srgbClr val="1E242B"/>
                          </a:solidFill>
                          <a:latin typeface="Arial"/>
                        </a:defRPr>
                      </a:pPr>
                      <a:r>
                        <a:t>192,31 USD</a:t>
                      </a:r>
                    </a:p>
                  </a:txBody>
                  <a:tcPr anchor="ctr" marL="36576" marR="36576" marT="9144" marB="9144">
                    <a:solidFill>
                      <a:srgbClr val="FEF7E6"/>
                    </a:solidFill>
                  </a:tcPr>
                </a:tc>
                <a:tc>
                  <a:txBody>
                    <a:bodyPr/>
                    <a:lstStyle/>
                    <a:p>
                      <a:pPr algn="l">
                        <a:defRPr sz="580">
                          <a:solidFill>
                            <a:srgbClr val="1E242B"/>
                          </a:solidFill>
                          <a:latin typeface="Arial"/>
                        </a:defRPr>
                      </a:pPr>
                      <a:r>
                        <a:t>Ghi chú: "Xin báo giá"</a:t>
                      </a:r>
                    </a:p>
                  </a:txBody>
                  <a:tcPr anchor="ctr" marL="36576" marR="36576" marT="9144" marB="9144">
                    <a:solidFill>
                      <a:srgbClr val="FEF7E6"/>
                    </a:solidFill>
                  </a:tcPr>
                </a:tc>
              </a:tr>
              <a:tr h="254000">
                <a:tc>
                  <a:txBody>
                    <a:bodyPr/>
                    <a:lstStyle/>
                    <a:p>
                      <a:pPr algn="ctr">
                        <a:defRPr sz="580" b="1">
                          <a:solidFill>
                            <a:srgbClr val="1E242B"/>
                          </a:solidFill>
                          <a:latin typeface="Arial"/>
                        </a:defRPr>
                      </a:pPr>
                      <a:r>
                        <a:t>TỔNG</a:t>
                      </a:r>
                    </a:p>
                  </a:txBody>
                  <a:tcPr anchor="ctr" marL="36576" marR="36576" marT="9144" marB="9144">
                    <a:solidFill>
                      <a:srgbClr val="EAF7EE"/>
                    </a:solidFill>
                  </a:tcPr>
                </a:tc>
                <a:tc>
                  <a:txBody>
                    <a:bodyPr/>
                    <a:lstStyle/>
                    <a:p>
                      <a:pPr algn="l">
                        <a:defRPr sz="580" b="1">
                          <a:solidFill>
                            <a:srgbClr val="1E242B"/>
                          </a:solidFill>
                          <a:latin typeface="Arial"/>
                        </a:defRPr>
                      </a:pPr>
                      <a:r>
                        <a:t>TỔNG CỘNG ĐỀ ÁN NO.22 XIN PHÊ DUYỆT (25 MỤC BOM)</a:t>
                      </a:r>
                      <a:br/>
                      <a:r>
                        <a:t>[Thuyết minh làm tròn: 101.700.000 VNĐ / 3.911,54 USD | Sheet 纏め: 4.000 USD]</a:t>
                      </a:r>
                    </a:p>
                  </a:txBody>
                  <a:tcPr anchor="ctr" marL="36576" marR="36576" marT="9144" marB="9144">
                    <a:solidFill>
                      <a:srgbClr val="EAF7EE"/>
                    </a:solidFill>
                  </a:tcPr>
                </a:tc>
                <a:tc>
                  <a:txBody>
                    <a:bodyPr/>
                    <a:lstStyle/>
                    <a:p>
                      <a:pPr algn="r">
                        <a:defRPr sz="580">
                          <a:solidFill>
                            <a:srgbClr val="1E242B"/>
                          </a:solidFill>
                          <a:latin typeface="Arial"/>
                        </a:defRPr>
                      </a:pPr>
                      <a:r>
                        <a:t>101.690.000 VNĐ</a:t>
                      </a:r>
                    </a:p>
                  </a:txBody>
                  <a:tcPr anchor="ctr" marL="36576" marR="36576" marT="9144" marB="9144">
                    <a:solidFill>
                      <a:srgbClr val="EAF7EE"/>
                    </a:solidFill>
                  </a:tcPr>
                </a:tc>
                <a:tc>
                  <a:txBody>
                    <a:bodyPr/>
                    <a:lstStyle/>
                    <a:p>
                      <a:pPr algn="r">
                        <a:defRPr sz="580">
                          <a:solidFill>
                            <a:srgbClr val="1E242B"/>
                          </a:solidFill>
                          <a:latin typeface="Arial"/>
                        </a:defRPr>
                      </a:pPr>
                      <a:r>
                        <a:t>3.911,15 USD</a:t>
                      </a:r>
                    </a:p>
                  </a:txBody>
                  <a:tcPr anchor="ctr" marL="36576" marR="36576" marT="9144" marB="9144">
                    <a:solidFill>
                      <a:srgbClr val="EAF7EE"/>
                    </a:solidFill>
                  </a:tcPr>
                </a:tc>
                <a:tc>
                  <a:txBody>
                    <a:bodyPr/>
                    <a:lstStyle/>
                    <a:p>
                      <a:pPr algn="l">
                        <a:defRPr sz="580">
                          <a:solidFill>
                            <a:srgbClr val="1E242B"/>
                          </a:solidFill>
                          <a:latin typeface="Arial"/>
                        </a:defRPr>
                      </a:pPr>
                      <a:r>
                        <a:t>Tiết kiệm: 30s/máy</a:t>
                      </a:r>
                      <a:br/>
                      <a:r>
                        <a:t>(29,6tr VNĐ/năm)</a:t>
                      </a:r>
                    </a:p>
                  </a:txBody>
                  <a:tcPr anchor="ctr" marL="36576" marR="36576" marT="9144" marB="9144">
                    <a:solidFill>
                      <a:srgbClr val="EAF7EE"/>
                    </a:solidFill>
                  </a:tcPr>
                </a:tc>
              </a:tr>
            </a:tbl>
          </a:graphicData>
        </a:graphic>
      </p:graphicFrame>
      <p:sp>
        <p:nvSpPr>
          <p:cNvPr id="10" name="TextBox 9"/>
          <p:cNvSpPr txBox="1"/>
          <p:nvPr/>
        </p:nvSpPr>
        <p:spPr>
          <a:xfrm>
            <a:off x="274320" y="3950208"/>
            <a:ext cx="6629400" cy="201168"/>
          </a:xfrm>
          <a:prstGeom prst="rect">
            <a:avLst/>
          </a:prstGeom>
          <a:noFill/>
        </p:spPr>
        <p:txBody>
          <a:bodyPr wrap="square" lIns="18288" rIns="18288" tIns="9144" bIns="9144">
            <a:spAutoFit/>
          </a:bodyPr>
          <a:lstStyle/>
          <a:p>
            <a:pPr>
              <a:defRPr sz="800" b="1">
                <a:solidFill>
                  <a:srgbClr val="B96800"/>
                </a:solidFill>
                <a:latin typeface="Arial"/>
              </a:defRPr>
            </a:pPr>
            <a:r>
              <a:t>■ 2. DANH MỤC ĐANG CHỜ BÁO GIÁ (見積中) &amp; CÁC MỤC KHÔNG CỘNG VÀO TỔNG XIN PHÊ DUYỆT</a:t>
            </a:r>
          </a:p>
        </p:txBody>
      </p:sp>
      <p:graphicFrame>
        <p:nvGraphicFramePr>
          <p:cNvPr id="11" name="Table 10"/>
          <p:cNvGraphicFramePr>
            <a:graphicFrameLocks noGrp="1"/>
          </p:cNvGraphicFramePr>
          <p:nvPr/>
        </p:nvGraphicFramePr>
        <p:xfrm>
          <a:off x="274320" y="4151376"/>
          <a:ext cx="6629400" cy="2057400"/>
        </p:xfrm>
        <a:graphic>
          <a:graphicData uri="http://schemas.openxmlformats.org/drawingml/2006/table">
            <a:tbl>
              <a:tblPr firstRow="1" bandRow="1">
                <a:tableStyleId>{5C22544A-7EE6-4342-B048-85BDC9FD1C3A}</a:tableStyleId>
              </a:tblPr>
              <a:tblGrid>
                <a:gridCol w="1234440"/>
                <a:gridCol w="3108960"/>
                <a:gridCol w="1097280"/>
                <a:gridCol w="1188720"/>
              </a:tblGrid>
              <a:tr h="342900">
                <a:tc>
                  <a:txBody>
                    <a:bodyPr/>
                    <a:lstStyle/>
                    <a:p>
                      <a:pPr algn="ctr">
                        <a:defRPr sz="65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50" b="1">
                          <a:solidFill>
                            <a:srgbClr val="FFFFFF"/>
                          </a:solidFill>
                          <a:latin typeface="Arial"/>
                        </a:defRPr>
                      </a:pPr>
                      <a:r>
                        <a:t>Danh sách các đề án cụ thể</a:t>
                      </a:r>
                    </a:p>
                  </a:txBody>
                  <a:tcPr anchor="ctr" marL="36576" marR="36576" marT="9144" marB="9144">
                    <a:solidFill>
                      <a:srgbClr val="1B365D"/>
                    </a:solidFill>
                  </a:tcPr>
                </a:tc>
                <a:tc>
                  <a:txBody>
                    <a:bodyPr/>
                    <a:lstStyle/>
                    <a:p>
                      <a:pPr algn="ctr">
                        <a:defRPr sz="65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50" b="1">
                          <a:solidFill>
                            <a:srgbClr val="FFFFFF"/>
                          </a:solidFill>
                          <a:latin typeface="Arial"/>
                        </a:defRPr>
                      </a:pPr>
                      <a:r>
                        <a:t>Xử lý ngân sách</a:t>
                      </a:r>
                    </a:p>
                  </a:txBody>
                  <a:tcPr anchor="ctr" marL="36576" marR="36576" marT="9144" marB="9144">
                    <a:solidFill>
                      <a:srgbClr val="1B365D"/>
                    </a:solidFill>
                  </a:tcPr>
                </a:tc>
              </a:tr>
              <a:tr h="342900">
                <a:tc>
                  <a:txBody>
                    <a:bodyPr/>
                    <a:lstStyle/>
                    <a:p>
                      <a:pPr algn="l">
                        <a:defRPr sz="580" b="1">
                          <a:solidFill>
                            <a:srgbClr val="1E242B"/>
                          </a:solidFill>
                          <a:latin typeface="Arial"/>
                        </a:defRPr>
                      </a:pPr>
                      <a:r>
                        <a:t>A. Đang chờ báo giá</a:t>
                      </a:r>
                      <a:br/>
                      <a:r>
                        <a:t>(Đang báo giá / 見積中)</a:t>
                      </a:r>
                      <a:br/>
                      <a:r>
                        <a:t>[10 đề án TB VN]</a:t>
                      </a:r>
                    </a:p>
                  </a:txBody>
                  <a:tcPr anchor="ctr" marL="36576" marR="36576" marT="9144" marB="9144">
                    <a:solidFill>
                      <a:srgbClr val="FEF7E6"/>
                    </a:solidFill>
                  </a:tcPr>
                </a:tc>
                <a:tc>
                  <a:txBody>
                    <a:bodyPr/>
                    <a:lstStyle/>
                    <a:p>
                      <a:pPr algn="l">
                        <a:defRPr sz="580">
                          <a:solidFill>
                            <a:srgbClr val="1E242B"/>
                          </a:solidFill>
                          <a:latin typeface="Arial"/>
                        </a:defRPr>
                      </a:pPr>
                      <a:r>
                        <a:t>• Cụm A-1: No.18 (Gá nạp FW 4 máy), No.19 (Bỏ tháo nắp/cáp FW, tận dụng 12 gá hiện có), No.20 (Mạng hóa log USB)</a:t>
                      </a:r>
                      <a:br/>
                      <a:r>
                        <a:t>• Cụm A-2 &amp; A-3: No.21 (Gá Option nam châm), No.31 (Đóng mở Cassette tải nặng), No.35 (Tự động đặt giấy), No.33 (Nếu làm TB lắp vỏ)</a:t>
                      </a:r>
                      <a:br/>
                      <a:r>
                        <a:t>• Cụm A-4: No.25 (Quét DP liên tục + PC), No.27 (Camera đo nồng độ/lề), No.28 (Xuất hàng qua mạng)</a:t>
                      </a:r>
                    </a:p>
                  </a:txBody>
                  <a:tcPr anchor="ctr" marL="36576" marR="36576" marT="9144" marB="9144">
                    <a:solidFill>
                      <a:srgbClr val="FEF7E6"/>
                    </a:solidFill>
                  </a:tcPr>
                </a:tc>
                <a:tc>
                  <a:txBody>
                    <a:bodyPr/>
                    <a:lstStyle/>
                    <a:p>
                      <a:pPr algn="ctr">
                        <a:defRPr sz="58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80">
                          <a:solidFill>
                            <a:srgbClr val="1E242B"/>
                          </a:solidFill>
                          <a:latin typeface="Arial"/>
                        </a:defRPr>
                      </a:pPr>
                      <a:r>
                        <a:t>ĐANG BÁO GIÁ (見積中)</a:t>
                      </a:r>
                      <a:br/>
                      <a:r>
                        <a:t>-&gt; Không cộng vào tổng duyệt đợt này (Trình Đợt 2)</a:t>
                      </a:r>
                    </a:p>
                  </a:txBody>
                  <a:tcPr anchor="ctr" marL="36576" marR="36576" marT="9144" marB="9144">
                    <a:solidFill>
                      <a:srgbClr val="FEF7E6"/>
                    </a:solidFill>
                  </a:tcPr>
                </a:tc>
              </a:tr>
              <a:tr h="342900">
                <a:tc>
                  <a:txBody>
                    <a:bodyPr/>
                    <a:lstStyle/>
                    <a:p>
                      <a:pPr algn="l">
                        <a:defRPr sz="580" b="1">
                          <a:solidFill>
                            <a:srgbClr val="1E242B"/>
                          </a:solidFill>
                          <a:latin typeface="Arial"/>
                        </a:defRPr>
                      </a:pPr>
                      <a:r>
                        <a:t>B. Cải tiến Phần mềm /</a:t>
                      </a:r>
                      <a:br/>
                      <a:r>
                        <a:t>Mạch / Quy trình</a:t>
                      </a:r>
                      <a:br/>
                      <a:r>
                        <a:t>[7 đề án VN + T10]</a:t>
                      </a:r>
                    </a:p>
                  </a:txBody>
                  <a:tcPr anchor="ctr" marL="36576" marR="36576" marT="9144" marB="9144">
                    <a:solidFill>
                      <a:srgbClr val="EAF7EE"/>
                    </a:solidFill>
                  </a:tcPr>
                </a:tc>
                <a:tc>
                  <a:txBody>
                    <a:bodyPr/>
                    <a:lstStyle/>
                    <a:p>
                      <a:pPr algn="l">
                        <a:defRPr sz="580">
                          <a:solidFill>
                            <a:srgbClr val="1E242B"/>
                          </a:solidFill>
                          <a:latin typeface="Arial"/>
                        </a:defRPr>
                      </a:pPr>
                      <a:r>
                        <a:t>• Đã duyệt / triển khai ngay: No.30 (Xóa U155), No.34 (Xóa đổi cữ giấy), No.36 (Xóa KT công tắc nắp phải), Thực tích T10 (Xóa 4 bước = -4,32s), Nạp FW tại Partner</a:t>
                      </a:r>
                      <a:br/>
                      <a:r>
                        <a:t>• Đang chờ TK/QA JP xác nhận: No.29 (Hộp mực), No.32 (Option không dây), No.37 (Đo lệch Transfer Belt sau khi đổi Puli 35°)</a:t>
                      </a:r>
                    </a:p>
                  </a:txBody>
                  <a:tcPr anchor="ctr" marL="36576" marR="36576" marT="9144" marB="9144">
                    <a:solidFill>
                      <a:srgbClr val="EAF7EE"/>
                    </a:solidFill>
                  </a:tcPr>
                </a:tc>
                <a:tc>
                  <a:txBody>
                    <a:bodyPr/>
                    <a:lstStyle/>
                    <a:p>
                      <a:pPr algn="ctr">
                        <a:defRPr sz="58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80">
                          <a:solidFill>
                            <a:srgbClr val="1E242B"/>
                          </a:solidFill>
                          <a:latin typeface="Arial"/>
                        </a:defRPr>
                      </a:pPr>
                      <a:r>
                        <a:t>0 VNĐ chi phí thiết bị</a:t>
                      </a:r>
                      <a:br/>
                      <a:r>
                        <a:t>tại nhà máy VN</a:t>
                      </a:r>
                    </a:p>
                  </a:txBody>
                  <a:tcPr anchor="ctr" marL="36576" marR="36576" marT="9144" marB="9144">
                    <a:solidFill>
                      <a:srgbClr val="EAF7EE"/>
                    </a:solidFill>
                  </a:tcPr>
                </a:tc>
              </a:tr>
              <a:tr h="342900">
                <a:tc>
                  <a:txBody>
                    <a:bodyPr/>
                    <a:lstStyle/>
                    <a:p>
                      <a:pPr algn="l">
                        <a:defRPr sz="58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8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8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80">
                          <a:solidFill>
                            <a:srgbClr val="1E242B"/>
                          </a:solidFill>
                          <a:latin typeface="Arial"/>
                        </a:defRPr>
                      </a:pPr>
                      <a:r>
                        <a:t>Ngân sách phía JP /</a:t>
                      </a:r>
                      <a:br/>
                      <a:r>
                        <a:t>Trình riêng sau khi chốt</a:t>
                      </a:r>
                    </a:p>
                  </a:txBody>
                  <a:tcPr anchor="ctr" marL="36576" marR="36576" marT="9144" marB="9144">
                    <a:solidFill>
                      <a:srgbClr val="FFFFFF"/>
                    </a:solidFill>
                  </a:tcPr>
                </a:tc>
              </a:tr>
              <a:tr h="342900">
                <a:tc>
                  <a:txBody>
                    <a:bodyPr/>
                    <a:lstStyle/>
                    <a:p>
                      <a:pPr algn="l">
                        <a:defRPr sz="580" b="1">
                          <a:solidFill>
                            <a:srgbClr val="B8292F"/>
                          </a:solidFill>
                          <a:latin typeface="Arial"/>
                        </a:defRPr>
                      </a:pPr>
                      <a:r>
                        <a:t>D. ĐÃ HỦY SAU DR4</a:t>
                      </a:r>
                      <a:br/>
                      <a:r>
                        <a:t>(廃止 - Không thực hiện)</a:t>
                      </a:r>
                    </a:p>
                  </a:txBody>
                  <a:tcPr anchor="ctr" marL="36576" marR="36576" marT="9144" marB="9144">
                    <a:solidFill>
                      <a:srgbClr val="FDEDEC"/>
                    </a:solidFill>
                  </a:tcPr>
                </a:tc>
                <a:tc>
                  <a:txBody>
                    <a:bodyPr/>
                    <a:lstStyle/>
                    <a:p>
                      <a:pPr algn="l">
                        <a:defRPr sz="580">
                          <a:solidFill>
                            <a:srgbClr val="1E242B"/>
                          </a:solidFill>
                          <a:latin typeface="Arial"/>
                        </a:defRPr>
                      </a:pPr>
                      <a:r>
                        <a:t>• No.23: Robot đặt bản thảo mặt kính ISU (650.000.000 VNĐ = 25.000 USD), đã hủy, thay bằng No.25</a:t>
                      </a:r>
                      <a:br/>
                      <a:r>
                        <a:t>• No.24: Robot cắm USB &amp; chạm Panel U201 (4.000 USD), đã hủy, thay bằng JP No.3 &amp; No.6</a:t>
                      </a:r>
                    </a:p>
                  </a:txBody>
                  <a:tcPr anchor="ctr" marL="36576" marR="36576" marT="9144" marB="9144">
                    <a:solidFill>
                      <a:srgbClr val="FDEDEC"/>
                    </a:solidFill>
                  </a:tcPr>
                </a:tc>
                <a:tc>
                  <a:txBody>
                    <a:bodyPr/>
                    <a:lstStyle/>
                    <a:p>
                      <a:pPr algn="ctr">
                        <a:defRPr sz="580">
                          <a:solidFill>
                            <a:srgbClr val="1E242B"/>
                          </a:solidFill>
                          <a:latin typeface="Arial"/>
                        </a:defRPr>
                      </a:pPr>
                      <a:r>
                        <a:t>Đã thay bằng phương</a:t>
                      </a:r>
                      <a:br/>
                      <a:r>
                        <a:t>án không dùng Robot</a:t>
                      </a:r>
                    </a:p>
                  </a:txBody>
                  <a:tcPr anchor="ctr" marL="36576" marR="36576" marT="9144" marB="9144">
                    <a:solidFill>
                      <a:srgbClr val="FDEDEC"/>
                    </a:solidFill>
                  </a:tcPr>
                </a:tc>
                <a:tc>
                  <a:txBody>
                    <a:bodyPr/>
                    <a:lstStyle/>
                    <a:p>
                      <a:pPr algn="l">
                        <a:defRPr sz="580" b="1">
                          <a:solidFill>
                            <a:srgbClr val="B8292F"/>
                          </a:solidFill>
                          <a:latin typeface="Arial"/>
                        </a:defRPr>
                      </a:pPr>
                      <a:r>
                        <a:t>ĐÃ HỦY BỎ (0 VNĐ)</a:t>
                      </a:r>
                      <a:br/>
                      <a:r>
                        <a:t>Không tính khoản 650tr</a:t>
                      </a:r>
                    </a:p>
                  </a:txBody>
                  <a:tcPr anchor="ctr" marL="36576" marR="36576" marT="9144" marB="9144">
                    <a:solidFill>
                      <a:srgbClr val="FDEDEC"/>
                    </a:solidFill>
                  </a:tcPr>
                </a:tc>
              </a:tr>
              <a:tr h="342900">
                <a:tc>
                  <a:txBody>
                    <a:bodyPr/>
                    <a:lstStyle/>
                    <a:p>
                      <a:pPr algn="l">
                        <a:defRPr sz="580" b="1">
                          <a:solidFill>
                            <a:srgbClr val="1E242B"/>
                          </a:solidFill>
                          <a:latin typeface="Arial"/>
                        </a:defRPr>
                      </a:pPr>
                      <a:r>
                        <a:t>E. Nghiên cứu dài hạn</a:t>
                      </a:r>
                      <a:br/>
                      <a:r>
                        <a:t>(R&amp;D 2026-2030)</a:t>
                      </a:r>
                    </a:p>
                  </a:txBody>
                  <a:tcPr anchor="ctr" marL="36576" marR="36576" marT="9144" marB="9144">
                    <a:solidFill>
                      <a:srgbClr val="FFFFFF"/>
                    </a:solidFill>
                  </a:tcPr>
                </a:tc>
                <a:tc>
                  <a:txBody>
                    <a:bodyPr/>
                    <a:lstStyle/>
                    <a:p>
                      <a:pPr algn="l">
                        <a:defRPr sz="58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FFFFF"/>
                    </a:solidFill>
                  </a:tcPr>
                </a:tc>
                <a:tc>
                  <a:txBody>
                    <a:bodyPr/>
                    <a:lstStyle/>
                    <a:p>
                      <a:pPr algn="ctr">
                        <a:defRPr sz="580">
                          <a:solidFill>
                            <a:srgbClr val="1E242B"/>
                          </a:solidFill>
                          <a:latin typeface="Arial"/>
                        </a:defRPr>
                      </a:pPr>
                      <a:r>
                        <a:t>Kỳ vọng dài hạn:</a:t>
                      </a:r>
                      <a:br/>
                      <a:r>
                        <a:t>-40s/máy</a:t>
                      </a:r>
                    </a:p>
                  </a:txBody>
                  <a:tcPr anchor="ctr" marL="36576" marR="36576" marT="9144" marB="9144">
                    <a:solidFill>
                      <a:srgbClr val="FFFFFF"/>
                    </a:solidFill>
                  </a:tcPr>
                </a:tc>
                <a:tc>
                  <a:txBody>
                    <a:bodyPr/>
                    <a:lstStyle/>
                    <a:p>
                      <a:pPr algn="l">
                        <a:defRPr sz="580">
                          <a:solidFill>
                            <a:srgbClr val="1E242B"/>
                          </a:solidFill>
                          <a:latin typeface="Arial"/>
                        </a:defRPr>
                      </a:pPr>
                      <a:r>
                        <a:t>Chuyển sang R&amp;D 2026-30</a:t>
                      </a:r>
                      <a:br/>
                      <a:r>
                        <a:t>Không xin duyệt đợt này</a:t>
                      </a:r>
                    </a:p>
                  </a:txBody>
                  <a:tcPr anchor="ctr" marL="36576" marR="36576" marT="9144" marB="9144">
                    <a:solidFill>
                      <a:srgbClr val="FFFFFF"/>
                    </a:solidFill>
                  </a:tcPr>
                </a:tc>
              </a:tr>
            </a:tbl>
          </a:graphicData>
        </a:graphic>
      </p:graphicFrame>
      <p:pic>
        <p:nvPicPr>
          <p:cNvPr id="12" name="Picture 11"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3" name="Rectangle 12"/>
          <p:cNvSpPr/>
          <p:nvPr/>
        </p:nvSpPr>
        <p:spPr>
          <a:xfrm>
            <a:off x="6995160" y="4480560"/>
            <a:ext cx="4919472" cy="196596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95160" y="4480560"/>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TÓM TẮT ĐỀ NGHỊ PHÊ DUYỆT &amp; TÀI LIỆU KÈM THEO</a:t>
            </a:r>
          </a:p>
        </p:txBody>
      </p:sp>
      <p:sp>
        <p:nvSpPr>
          <p:cNvPr id="15" name="TextBox 14"/>
          <p:cNvSpPr txBox="1"/>
          <p:nvPr/>
        </p:nvSpPr>
        <p:spPr>
          <a:xfrm>
            <a:off x="7068312" y="4809744"/>
            <a:ext cx="4773168" cy="1600200"/>
          </a:xfrm>
          <a:prstGeom prst="rect">
            <a:avLst/>
          </a:prstGeom>
          <a:noFill/>
        </p:spPr>
        <p:txBody>
          <a:bodyPr wrap="square" lIns="36576" rIns="36576" tIns="18288" bIns="18288">
            <a:spAutoFit/>
          </a:bodyPr>
          <a:lstStyle/>
          <a:p>
            <a:pPr>
              <a:spcAft>
                <a:spcPts val="200"/>
              </a:spcAft>
              <a:defRPr sz="720" b="1">
                <a:solidFill>
                  <a:srgbClr val="1E242B"/>
                </a:solidFill>
                <a:latin typeface="Arial"/>
              </a:defRPr>
            </a:pPr>
            <a:r>
              <a:t>■ 1. Phê duyệt kinh phí Đợt 1 (Đề án No.22 - Trạm A-3):</a:t>
            </a:r>
          </a:p>
          <a:p>
            <a:pPr>
              <a:spcAft>
                <a:spcPts val="200"/>
              </a:spcAft>
              <a:defRPr sz="720">
                <a:solidFill>
                  <a:srgbClr val="1E242B"/>
                </a:solidFill>
                <a:latin typeface="Arial"/>
              </a:defRPr>
            </a:pPr>
            <a:r>
              <a:t>   • Tổng cộng (25 mục BOM): 101.690.000 VNĐ (3.911,15 USD)</a:t>
            </a:r>
          </a:p>
          <a:p>
            <a:pPr>
              <a:spcAft>
                <a:spcPts val="200"/>
              </a:spcAft>
              <a:defRPr sz="720">
                <a:solidFill>
                  <a:srgbClr val="1E242B"/>
                </a:solidFill>
                <a:latin typeface="Arial"/>
              </a:defRPr>
            </a:pPr>
            <a:r>
              <a:t>   • Phần đã có giá cố định (24 mục): 96.690.000 VNĐ (3.718,85 USD)</a:t>
            </a:r>
          </a:p>
          <a:p>
            <a:pPr>
              <a:spcAft>
                <a:spcPts val="200"/>
              </a:spcAft>
              <a:defRPr sz="720">
                <a:solidFill>
                  <a:srgbClr val="1E242B"/>
                </a:solidFill>
                <a:latin typeface="Arial"/>
              </a:defRPr>
            </a:pPr>
            <a:r>
              <a:t>   • Phần đang xin báo giá (Mục 17 - Tủ điện): 5.000.000 VNĐ (192,31 USD)</a:t>
            </a:r>
          </a:p>
          <a:p>
            <a:pPr>
              <a:spcAft>
                <a:spcPts val="200"/>
              </a:spcAft>
              <a:defRPr sz="720">
                <a:solidFill>
                  <a:srgbClr val="1E242B"/>
                </a:solidFill>
                <a:latin typeface="Arial"/>
              </a:defRPr>
            </a:pPr>
            <a:r>
              <a:t>   • Hiệu quả: Giảm 30,00s/máy (tiết kiệm 29,6 triệu VNĐ/năm = 1.138,46 USD/năm).</a:t>
            </a:r>
          </a:p>
          <a:p>
            <a:pPr>
              <a:spcAft>
                <a:spcPts val="200"/>
              </a:spcAft>
              <a:defRPr sz="720" b="1">
                <a:solidFill>
                  <a:srgbClr val="1E242B"/>
                </a:solidFill>
                <a:latin typeface="Arial"/>
              </a:defRPr>
            </a:pPr>
            <a:r>
              <a:t>■ 2. Cho phép tiến hành lấy báo giá Đợt 2 (T11/2026):</a:t>
            </a:r>
          </a:p>
          <a:p>
            <a:pPr>
              <a:spcAft>
                <a:spcPts val="200"/>
              </a:spcAft>
              <a:defRPr sz="720">
                <a:solidFill>
                  <a:srgbClr val="1E242B"/>
                </a:solidFill>
                <a:latin typeface="Arial"/>
              </a:defRPr>
            </a:pPr>
            <a:r>
              <a:t>   • Trọng tâm: No.25 (Quét DP liên tục), No.27 (Camera đo nồng độ/lề), No.28 (Thiết lập xuất hàng qua mạng), No.21 (Gá nam châm).</a:t>
            </a:r>
          </a:p>
          <a:p>
            <a:pPr>
              <a:spcAft>
                <a:spcPts val="200"/>
              </a:spcAft>
              <a:defRPr sz="720" b="1">
                <a:solidFill>
                  <a:srgbClr val="1E242B"/>
                </a:solidFill>
                <a:latin typeface="Arial"/>
              </a:defRPr>
            </a:pPr>
            <a:r>
              <a:t>■ 3. Bảng số liệu chi tiết đi kèm trong cùng Repo báo cáo:</a:t>
            </a:r>
          </a:p>
          <a:p>
            <a:pPr>
              <a:spcAft>
                <a:spcPts val="200"/>
              </a:spcAft>
              <a:defRPr sz="720">
                <a:solidFill>
                  <a:srgbClr val="1E242B"/>
                </a:solidFill>
                <a:latin typeface="Arial"/>
              </a:defRPr>
            </a:pPr>
            <a:r>
              <a:t>   •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