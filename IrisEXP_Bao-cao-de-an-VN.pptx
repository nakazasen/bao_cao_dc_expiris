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85800"/>
            <a:ext cx="164592" cy="544068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713232"/>
            <a:ext cx="7086600" cy="411480"/>
          </a:xfrm>
          <a:prstGeom prst="round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BÁO CÁO XIN TƯ VẤN KỸ THUẬT &amp; XIN PHÊ DUYỆT KINH PHÍ ĐẦU TƯ (稟議・相談資料)</a:t>
            </a:r>
          </a:p>
        </p:txBody>
      </p:sp>
      <p:sp>
        <p:nvSpPr>
          <p:cNvPr id="5" name="TextBox 4"/>
          <p:cNvSpPr txBox="1"/>
          <p:nvPr/>
        </p:nvSpPr>
        <p:spPr>
          <a:xfrm>
            <a:off x="868680" y="1280160"/>
            <a:ext cx="10607040" cy="1691640"/>
          </a:xfrm>
          <a:prstGeom prst="rect">
            <a:avLst/>
          </a:prstGeom>
          <a:noFill/>
        </p:spPr>
        <p:txBody>
          <a:bodyPr wrap="square">
            <a:spAutoFit/>
          </a:bodyPr>
          <a:lstStyle/>
          <a:p>
            <a:pPr>
              <a:spcAft>
                <a:spcPts val="1000"/>
              </a:spcAft>
              <a:defRPr sz="2500" b="1">
                <a:solidFill>
                  <a:srgbClr val="FFFFFF"/>
                </a:solidFill>
                <a:latin typeface="Arial"/>
              </a:defRPr>
            </a:pPr>
            <a:r>
              <a:t>BÁO CÁO ĐỀ ÁN CẢI TIẾN CÔNG ĐOẠN ĐIỀU CHỈNH / BẢO CHỨNG THÂN MÁY IRIS EXP (本体保証工程 / 調整工程)</a:t>
            </a:r>
          </a:p>
          <a:p>
            <a:pPr>
              <a:defRPr sz="1350">
                <a:solidFill>
                  <a:srgbClr val="D0DCEB"/>
                </a:solidFill>
                <a:latin typeface="Arial"/>
              </a:defRPr>
            </a:pPr>
            <a:r>
              <a:t>Chi tiết 20 đề án cải tiến tại nhà máy Việt Nam (KDTVN) trong tổng thể 38 đề án của 3 cứ điểm Nhật Bản (JP) - Trung Quốc (CN) - Việt Nam (VN)</a:t>
            </a:r>
          </a:p>
        </p:txBody>
      </p:sp>
      <p:sp>
        <p:nvSpPr>
          <p:cNvPr id="6" name="Rounded Rectangle 5"/>
          <p:cNvSpPr/>
          <p:nvPr/>
        </p:nvSpPr>
        <p:spPr>
          <a:xfrm>
            <a:off x="868680" y="3090672"/>
            <a:ext cx="5166360" cy="1325880"/>
          </a:xfrm>
          <a:prstGeom prst="roundRect">
            <a:avLst/>
          </a:prstGeom>
          <a:solidFill>
            <a:srgbClr val="183052"/>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defRPr sz="1200" b="1">
                <a:solidFill>
                  <a:srgbClr val="F5B041"/>
                </a:solidFill>
                <a:latin typeface="Arial"/>
              </a:defRPr>
            </a:pPr>
            <a:r>
              <a:t>MỤC ĐÍCH 1: XIN TƯ VẤN CỦA TRƯỞNG BỘ PHẬN</a:t>
            </a:r>
          </a:p>
          <a:p>
            <a:pPr>
              <a:defRPr sz="1000">
                <a:solidFill>
                  <a:srgbClr val="FFFFFF"/>
                </a:solidFill>
                <a:latin typeface="Arial"/>
              </a:defRPr>
            </a:pPr>
            <a:r>
              <a:t>• Xin ý kiến chỉ đạo về 20 đề án cải tiến của Việt Nam (No.18~37 và phương án nạp FW tại Partner), hướng thay thế 2 đề án Robot đã hủy sau DR4, cùng lộ trình giảm 50% thời gian thao tác (2.350s -&gt; &lt;=1.175s).</a:t>
            </a:r>
          </a:p>
        </p:txBody>
      </p:sp>
      <p:sp>
        <p:nvSpPr>
          <p:cNvPr id="7" name="Rounded Rectangle 6"/>
          <p:cNvSpPr/>
          <p:nvPr/>
        </p:nvSpPr>
        <p:spPr>
          <a:xfrm>
            <a:off x="6263640" y="3090672"/>
            <a:ext cx="5166360" cy="1325880"/>
          </a:xfrm>
          <a:prstGeom prst="roundRect">
            <a:avLst/>
          </a:prstGeom>
          <a:solidFill>
            <a:srgbClr val="183052"/>
          </a:solidFill>
          <a:ln w="19050">
            <a:solidFill>
              <a:srgbClr val="58D68D"/>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defRPr sz="1200" b="1">
                <a:solidFill>
                  <a:srgbClr val="58D68D"/>
                </a:solidFill>
                <a:latin typeface="Arial"/>
              </a:defRPr>
            </a:pPr>
            <a:r>
              <a:t>MỤC ĐÍCH 2: XIN PHÊ DUYỆT KINH PHÍ ĐẦU TƯ</a:t>
            </a:r>
          </a:p>
          <a:p>
            <a:pPr>
              <a:defRPr sz="1000">
                <a:solidFill>
                  <a:srgbClr val="FFFFFF"/>
                </a:solidFill>
                <a:latin typeface="Arial"/>
              </a:defRPr>
            </a:pPr>
            <a:r>
              <a:t>• Xin phê duyệt 101.690.000 VNĐ (3.911,15 USD) cho Đề án No.22 (Tự động kiểm tra thông mạch, tiếp địa, chịu áp, đã có BOM 25 mục).</a:t>
            </a:r>
            <a:br/>
            <a:r>
              <a:t>• Tách riêng 11 hạng mục đang chờ báo giá (見積中), không cộng phương án đã hủy.</a:t>
            </a:r>
          </a:p>
        </p:txBody>
      </p:sp>
      <p:sp>
        <p:nvSpPr>
          <p:cNvPr id="8" name="Rectangle 7"/>
          <p:cNvSpPr/>
          <p:nvPr/>
        </p:nvSpPr>
        <p:spPr>
          <a:xfrm>
            <a:off x="868680" y="4645152"/>
            <a:ext cx="10561320" cy="1508760"/>
          </a:xfrm>
          <a:prstGeom prst="rect">
            <a:avLst/>
          </a:prstGeom>
          <a:solidFill>
            <a:srgbClr val="142948"/>
          </a:solidFill>
          <a:ln w="1016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l">
              <a:spcAft>
                <a:spcPts val="300"/>
              </a:spcAft>
              <a:defRPr sz="1000">
                <a:solidFill>
                  <a:srgbClr val="E5EBF2"/>
                </a:solidFill>
                <a:latin typeface="Arial"/>
              </a:defRPr>
            </a:pPr>
            <a:r>
              <a:t>• Dự án: Iris EXP (カラー複合機・プリンタ 新規開発)  |  Công đoạn: Điều chỉnh / Bảo chứng thân máy (調整工程 -&gt; 本体保証工程)</a:t>
            </a:r>
          </a:p>
          <a:p>
            <a:pPr algn="l">
              <a:spcAft>
                <a:spcPts val="300"/>
              </a:spcAft>
              <a:defRPr sz="1000">
                <a:solidFill>
                  <a:srgbClr val="E5EBF2"/>
                </a:solidFill>
                <a:latin typeface="Arial"/>
              </a:defRPr>
            </a:pPr>
            <a:r>
              <a:t>• Bộ phận lập báo cáo: Kỹ thuật chế tạo KDTVN (Phòng Cơ + Phòng Phát triển hệ thống chế tạo / 製造技術: メカ + 製造システム開発)</a:t>
            </a:r>
          </a:p>
          <a:p>
            <a:pPr algn="l">
              <a:spcAft>
                <a:spcPts val="300"/>
              </a:spcAft>
              <a:defRPr sz="1000">
                <a:solidFill>
                  <a:srgbClr val="E5EBF2"/>
                </a:solidFill>
                <a:latin typeface="Arial"/>
              </a:defRPr>
            </a:pPr>
            <a:r>
              <a:t>• Ngày lập báo cáo: 26/10/2026  |  Người trình bày: Bùi Đức Vinh</a:t>
            </a:r>
          </a:p>
          <a:p>
            <a:pPr algn="l">
              <a:spcAft>
                <a:spcPts val="300"/>
              </a:spcAft>
              <a:defRPr sz="1000">
                <a:solidFill>
                  <a:srgbClr val="E5EBF2"/>
                </a:solidFill>
                <a:latin typeface="Arial"/>
              </a:defRPr>
            </a:pPr>
            <a:r>
              <a:t>• Nguồn dữ liệu: Hồ sơ kỹ thuật công đoạn Điều chỉnh / Bảo chứng thân máy (Biên bản 保証工程連携会 lần 2-17 đến 15/10/2026, tài liệu DR4 &amp; bảng tính PE)</a:t>
            </a:r>
          </a:p>
          <a:p>
            <a:pPr algn="l">
              <a:spcAft>
                <a:spcPts val="300"/>
              </a:spcAft>
              <a:defRPr sz="1000">
                <a:solidFill>
                  <a:srgbClr val="E5EBF2"/>
                </a:solidFill>
                <a:latin typeface="Arial"/>
              </a:defRPr>
            </a:pPr>
            <a:r>
              <a:t>• File số liệu chi tiết đi kèm: bang-so-lieu/Bang_so_lieu_chi_tiet_IrisEXP_VN.xlsx &amp; Bang_so_lieu_chi_tiet_IrisEXP_VN.md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2: MỤC ĐÍCH</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Mục đích báo cáo: Xin tư vấn phương án kỹ thuật &amp; Xin phê duyệt kinh phí đầu tư</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2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Trình Trưởng bộ phận 2 nội dung: (a) Xin ý kiến chỉ đạo cho 5 vấn đề kỹ thuật của 20 đề án VN, và (b) Xin duyệt 101,69 triệu VNĐ (3.911,15 USD) cho hạng mục đã có báo giá.</a:t>
            </a:r>
          </a:p>
        </p:txBody>
      </p:sp>
      <p:sp>
        <p:nvSpPr>
          <p:cNvPr id="7" name="Rectangle 6"/>
          <p:cNvSpPr/>
          <p:nvPr/>
        </p:nvSpPr>
        <p:spPr>
          <a:xfrm>
            <a:off x="274320" y="1261872"/>
            <a:ext cx="5687568" cy="3794760"/>
          </a:xfrm>
          <a:prstGeom prst="rect">
            <a:avLst/>
          </a:prstGeom>
          <a:solidFill>
            <a:srgbClr val="FFFFFF"/>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261872"/>
            <a:ext cx="5687568" cy="31089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1000" b="1">
                <a:solidFill>
                  <a:srgbClr val="FFFFFF"/>
                </a:solidFill>
                <a:latin typeface="Arial"/>
              </a:defRPr>
            </a:pPr>
            <a:r>
              <a:t>MỤC ĐÍCH (a): XIN TƯ VẤN CỦA TRƯỞNG BỘ PHẬN VỀ CÁC ĐỀ ÁN VIỆT NAM</a:t>
            </a:r>
          </a:p>
        </p:txBody>
      </p:sp>
      <p:sp>
        <p:nvSpPr>
          <p:cNvPr id="9" name="TextBox 8"/>
          <p:cNvSpPr txBox="1"/>
          <p:nvPr/>
        </p:nvSpPr>
        <p:spPr>
          <a:xfrm>
            <a:off x="347472" y="1591055"/>
            <a:ext cx="5541264" cy="3429000"/>
          </a:xfrm>
          <a:prstGeom prst="rect">
            <a:avLst/>
          </a:prstGeom>
          <a:noFill/>
        </p:spPr>
        <p:txBody>
          <a:bodyPr wrap="square" lIns="36576" rIns="36576" tIns="18288" bIns="18288">
            <a:spAutoFit/>
          </a:bodyPr>
          <a:lstStyle/>
          <a:p>
            <a:pPr>
              <a:spcAft>
                <a:spcPts val="300"/>
              </a:spcAft>
              <a:defRPr sz="930" b="1">
                <a:solidFill>
                  <a:srgbClr val="1E242B"/>
                </a:solidFill>
                <a:latin typeface="Arial"/>
              </a:defRPr>
            </a:pPr>
            <a:r>
              <a:t>■ 1. Phương án kỹ thuật thay thế 2 đề án Robot đã hủy sau DR4:</a:t>
            </a:r>
          </a:p>
          <a:p>
            <a:pPr>
              <a:spcAft>
                <a:spcPts val="300"/>
              </a:spcAft>
              <a:defRPr sz="930">
                <a:solidFill>
                  <a:srgbClr val="1E242B"/>
                </a:solidFill>
                <a:latin typeface="Arial"/>
              </a:defRPr>
            </a:pPr>
            <a:r>
              <a:t>   • Đề án Robot đặt bản thảo mặt kính ISU (No.23: 650 triệu VNĐ / 25.000 USD) và Robot cắm USB/U201 (No.24: 4.000 USD) đã hủy tại 連携会 lần 7 / DR4 do thời gian hoàn vốn dài (&gt;6 năm) và tốn diện tích chuyền.</a:t>
            </a:r>
          </a:p>
          <a:p>
            <a:pPr>
              <a:spcAft>
                <a:spcPts val="300"/>
              </a:spcAft>
              <a:defRPr sz="930">
                <a:solidFill>
                  <a:srgbClr val="1E242B"/>
                </a:solidFill>
                <a:latin typeface="Arial"/>
              </a:defRPr>
            </a:pPr>
            <a:r>
              <a:t>   • Xin ý kiến triển khai hướng thay thế: Quét bản thảo liên tục bằng khay nạp tự động DP của máy + PC tự động phán định (No.25, -110s) và Đọc log tọa độ U201 qua Host PC (JP No.3, -15,12s).</a:t>
            </a:r>
          </a:p>
          <a:p>
            <a:pPr>
              <a:spcAft>
                <a:spcPts val="300"/>
              </a:spcAft>
              <a:defRPr sz="930" b="1">
                <a:solidFill>
                  <a:srgbClr val="1E242B"/>
                </a:solidFill>
                <a:latin typeface="Arial"/>
              </a:defRPr>
            </a:pPr>
            <a:r>
              <a:t>■ 2. Xử lý các điều kiện kỹ thuật phát sinh tại nhà máy Việt Nam (KDTVN):</a:t>
            </a:r>
          </a:p>
          <a:p>
            <a:pPr>
              <a:spcAft>
                <a:spcPts val="300"/>
              </a:spcAft>
              <a:defRPr sz="930">
                <a:solidFill>
                  <a:srgbClr val="1E242B"/>
                </a:solidFill>
                <a:latin typeface="Arial"/>
              </a:defRPr>
            </a:pPr>
            <a:r>
              <a:t>   • Điều chỉnh thiết kế gá tự động kiểm tra thông mạch/chịu áp (No.22) sang đo khi ĐÃ ĐÓNG VỎ MÁY tại A-3 theo yêu cầu DR4 (tránh sót lỗi kẹt dây điện).</a:t>
            </a:r>
          </a:p>
          <a:p>
            <a:pPr>
              <a:spcAft>
                <a:spcPts val="300"/>
              </a:spcAft>
              <a:defRPr sz="930">
                <a:solidFill>
                  <a:srgbClr val="1E242B"/>
                </a:solidFill>
                <a:latin typeface="Arial"/>
              </a:defRPr>
            </a:pPr>
            <a:r>
              <a:t>   • Lộ trình kiểm soát lỗi lệch Transfer Belt tại VN (hiện còn 1-2 máy NG/tháng, từng có đợt 11 máy lỗi) trước khi bỏ bước đo thủ công như nhà máy CN.</a:t>
            </a:r>
          </a:p>
          <a:p>
            <a:pPr>
              <a:spcAft>
                <a:spcPts val="300"/>
              </a:spcAft>
              <a:defRPr sz="930" b="1">
                <a:solidFill>
                  <a:srgbClr val="1E242B"/>
                </a:solidFill>
                <a:latin typeface="Arial"/>
              </a:defRPr>
            </a:pPr>
            <a:r>
              <a:t>■ 3. Phối hợp liên bộ phận (Partner, TK JP, PE JP) để đẩy nhanh tiến độ PDCA:</a:t>
            </a:r>
          </a:p>
          <a:p>
            <a:pPr>
              <a:spcAft>
                <a:spcPts val="300"/>
              </a:spcAft>
              <a:defRPr sz="930">
                <a:solidFill>
                  <a:srgbClr val="1E242B"/>
                </a:solidFill>
                <a:latin typeface="Arial"/>
              </a:defRPr>
            </a:pPr>
            <a:r>
              <a:t>   • Phương án nạp sẵn Firmware tại Partner giúp giảm 1 người tại A-1 (từ 4 -&gt; 3 người).</a:t>
            </a:r>
          </a:p>
          <a:p>
            <a:pPr>
              <a:spcAft>
                <a:spcPts val="300"/>
              </a:spcAft>
              <a:defRPr sz="930">
                <a:solidFill>
                  <a:srgbClr val="1E242B"/>
                </a:solidFill>
                <a:latin typeface="Arial"/>
              </a:defRPr>
            </a:pPr>
            <a:r>
              <a:t>   • Đẩy nhanh tiến độ PDCA (thực tích T10 mới đạt -4,32s / 0,18% do chờ phía JP chốt DR công đoạn).</a:t>
            </a:r>
          </a:p>
        </p:txBody>
      </p:sp>
      <p:sp>
        <p:nvSpPr>
          <p:cNvPr id="10" name="Rectangle 9"/>
          <p:cNvSpPr/>
          <p:nvPr/>
        </p:nvSpPr>
        <p:spPr>
          <a:xfrm>
            <a:off x="6227064" y="1261872"/>
            <a:ext cx="5687568" cy="3794760"/>
          </a:xfrm>
          <a:prstGeom prst="rect">
            <a:avLst/>
          </a:prstGeom>
          <a:solidFill>
            <a:srgbClr val="FFFFFF"/>
          </a:solidFill>
          <a:ln w="1270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261872"/>
            <a:ext cx="5687568" cy="310896"/>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MỤC ĐÍCH (b): XIN PHÊ DUYỆT KINH PHÍ ĐẦU TƯ CHO CÁC ĐỀ ÁN VIỆT NAM</a:t>
            </a:r>
          </a:p>
        </p:txBody>
      </p:sp>
      <p:sp>
        <p:nvSpPr>
          <p:cNvPr id="12" name="TextBox 11"/>
          <p:cNvSpPr txBox="1"/>
          <p:nvPr/>
        </p:nvSpPr>
        <p:spPr>
          <a:xfrm>
            <a:off x="6300216" y="1591055"/>
            <a:ext cx="5541264" cy="3429000"/>
          </a:xfrm>
          <a:prstGeom prst="rect">
            <a:avLst/>
          </a:prstGeom>
          <a:noFill/>
        </p:spPr>
        <p:txBody>
          <a:bodyPr wrap="square" lIns="36576" rIns="36576" tIns="18288" bIns="18288">
            <a:spAutoFit/>
          </a:bodyPr>
          <a:lstStyle/>
          <a:p>
            <a:pPr>
              <a:spcAft>
                <a:spcPts val="300"/>
              </a:spcAft>
              <a:defRPr sz="930" b="1">
                <a:solidFill>
                  <a:srgbClr val="1E242B"/>
                </a:solidFill>
                <a:latin typeface="Arial"/>
              </a:defRPr>
            </a:pPr>
            <a:r>
              <a:t>■ 1. Kinh phí trình duyệt đợt này (Hạng mục đã có báo giá chi tiết):</a:t>
            </a:r>
          </a:p>
          <a:p>
            <a:pPr>
              <a:spcAft>
                <a:spcPts val="300"/>
              </a:spcAft>
              <a:defRPr sz="930">
                <a:solidFill>
                  <a:srgbClr val="1E242B"/>
                </a:solidFill>
                <a:latin typeface="Arial"/>
              </a:defRPr>
            </a:pPr>
            <a:r>
              <a:t>   • Đề án No.22: Tự động hóa kiểm tra thông mạch, tiếp địa, cách điện chịu áp (自動導通・耐圧検査).</a:t>
            </a:r>
          </a:p>
          <a:p>
            <a:pPr>
              <a:spcAft>
                <a:spcPts val="300"/>
              </a:spcAft>
              <a:defRPr sz="930">
                <a:solidFill>
                  <a:srgbClr val="1E242B"/>
                </a:solidFill>
                <a:latin typeface="Arial"/>
              </a:defRPr>
            </a:pPr>
            <a:r>
              <a:t>   • Tổng dự toán theo BOM 25 hạng mục (Sheet 導通・耐圧検査設備リスト): 101.690.000 VNĐ (3.911,15 USD). Nếu tách riêng Mục 17 Tủ điện 5.000.000 VNĐ đang ghi "Xin báo giá", tổng 24 mục đã có giá cố định là 96.690.000 VNĐ (3.718,85 USD) [Sheet thuyết minh làm tròn 101,7 triệu VNĐ / 3.911,54 USD; Sheet 纏め làm tròn 4.000 USD].</a:t>
            </a:r>
          </a:p>
          <a:p>
            <a:pPr>
              <a:spcAft>
                <a:spcPts val="300"/>
              </a:spcAft>
              <a:defRPr sz="930">
                <a:solidFill>
                  <a:srgbClr val="1E242B"/>
                </a:solidFill>
                <a:latin typeface="Arial"/>
              </a:defRPr>
            </a:pPr>
            <a:r>
              <a:t>   • Hiệu quả: Giảm 30s/máy (20s tiếp địa + 10s chịu áp), tiết kiệm 29.600.000 VNĐ/năm (1.138,46 USD/năm).</a:t>
            </a:r>
          </a:p>
          <a:p>
            <a:pPr>
              <a:spcAft>
                <a:spcPts val="300"/>
              </a:spcAft>
              <a:defRPr sz="930" b="1">
                <a:solidFill>
                  <a:srgbClr val="1E242B"/>
                </a:solidFill>
                <a:latin typeface="Arial"/>
              </a:defRPr>
            </a:pPr>
            <a:r>
              <a:t>■ 2. Xin chủ trương lấy báo giá tiếp cho 11 hạng mục "Đang báo giá (見積中)":</a:t>
            </a:r>
          </a:p>
          <a:p>
            <a:pPr>
              <a:spcAft>
                <a:spcPts val="300"/>
              </a:spcAft>
              <a:defRPr sz="930">
                <a:solidFill>
                  <a:srgbClr val="1E242B"/>
                </a:solidFill>
                <a:latin typeface="Arial"/>
              </a:defRPr>
            </a:pPr>
            <a:r>
              <a:t>   • Gồm 10 đề án thiết bị/mạng (No.18, 19, 20, 21, 25 [Quét DP], 27 [Camera nồng độ/lề/PPT], 28 [Xuất hàng mạng], 31, 33, 35) và Mục 17 Tủ điện của No.22.</a:t>
            </a:r>
          </a:p>
          <a:p>
            <a:pPr>
              <a:spcAft>
                <a:spcPts val="300"/>
              </a:spcAft>
              <a:defRPr sz="930">
                <a:solidFill>
                  <a:srgbClr val="1E242B"/>
                </a:solidFill>
                <a:latin typeface="Arial"/>
              </a:defRPr>
            </a:pPr>
            <a:r>
              <a:t>   • Các hạng mục "Đang báo giá (見積中)" được tách thành bảng riêng, không tự điền giá và không cộng vào tổng kinh phí trình duyệt đợt này.</a:t>
            </a:r>
          </a:p>
          <a:p>
            <a:pPr>
              <a:spcAft>
                <a:spcPts val="300"/>
              </a:spcAft>
              <a:defRPr sz="930" b="1">
                <a:solidFill>
                  <a:srgbClr val="1E242B"/>
                </a:solidFill>
                <a:latin typeface="Arial"/>
              </a:defRPr>
            </a:pPr>
            <a:r>
              <a:t>■ 3. Các khoản không đưa vào kinh phí đầu tư MP:</a:t>
            </a:r>
          </a:p>
          <a:p>
            <a:pPr>
              <a:spcAft>
                <a:spcPts val="300"/>
              </a:spcAft>
              <a:defRPr sz="930">
                <a:solidFill>
                  <a:srgbClr val="1E242B"/>
                </a:solidFill>
                <a:latin typeface="Arial"/>
              </a:defRPr>
            </a:pPr>
            <a:r>
              <a:t>   • Không tính 650 triệu VNĐ (25.000 USD) của Robot No.23 và 4.000 USD của Robot No.24 (đã hủy); phần mềm AI âm thanh lạ No.26 (600 vạn JPY / ~40.000 USD) chuyển sang R&amp;D dài hạn 2026-2030.</a:t>
            </a:r>
          </a:p>
        </p:txBody>
      </p:sp>
      <p:graphicFrame>
        <p:nvGraphicFramePr>
          <p:cNvPr id="13" name="Table 12"/>
          <p:cNvGraphicFramePr>
            <a:graphicFrameLocks noGrp="1"/>
          </p:cNvGraphicFramePr>
          <p:nvPr/>
        </p:nvGraphicFramePr>
        <p:xfrm>
          <a:off x="274320" y="5166360"/>
          <a:ext cx="11643055" cy="1298448"/>
        </p:xfrm>
        <a:graphic>
          <a:graphicData uri="http://schemas.openxmlformats.org/drawingml/2006/table">
            <a:tbl>
              <a:tblPr firstRow="1" bandRow="1">
                <a:tableStyleId>{5C22544A-7EE6-4342-B048-85BDC9FD1C3A}</a:tableStyleId>
              </a:tblPr>
              <a:tblGrid>
                <a:gridCol w="2468880"/>
                <a:gridCol w="1645920"/>
                <a:gridCol w="2423160"/>
                <a:gridCol w="2514600"/>
                <a:gridCol w="2590495"/>
              </a:tblGrid>
              <a:tr h="324612">
                <a:tc>
                  <a:txBody>
                    <a:bodyPr/>
                    <a:lstStyle/>
                    <a:p>
                      <a:pPr algn="ctr">
                        <a:defRPr sz="900" b="1">
                          <a:solidFill>
                            <a:srgbClr val="FFFFFF"/>
                          </a:solidFill>
                          <a:latin typeface="Arial"/>
                        </a:defRPr>
                      </a:pPr>
                      <a:r>
                        <a:t>Phân nhóm đề án tại Việt Nam</a:t>
                      </a:r>
                    </a:p>
                  </a:txBody>
                  <a:tcPr anchor="ctr" marL="45720" marR="45720" marT="18288" marB="18288">
                    <a:solidFill>
                      <a:srgbClr val="1B365D"/>
                    </a:solidFill>
                  </a:tcPr>
                </a:tc>
                <a:tc>
                  <a:txBody>
                    <a:bodyPr/>
                    <a:lstStyle/>
                    <a:p>
                      <a:pPr algn="ctr">
                        <a:defRPr sz="900" b="1">
                          <a:solidFill>
                            <a:srgbClr val="FFFFFF"/>
                          </a:solidFill>
                          <a:latin typeface="Arial"/>
                        </a:defRPr>
                      </a:pPr>
                      <a:r>
                        <a:t>Số lượng hạng mục</a:t>
                      </a:r>
                    </a:p>
                  </a:txBody>
                  <a:tcPr anchor="ctr" marL="45720" marR="45720" marT="18288" marB="18288">
                    <a:solidFill>
                      <a:srgbClr val="1B365D"/>
                    </a:solidFill>
                  </a:tcPr>
                </a:tc>
                <a:tc>
                  <a:txBody>
                    <a:bodyPr/>
                    <a:lstStyle/>
                    <a:p>
                      <a:pPr algn="ctr">
                        <a:defRPr sz="900" b="1">
                          <a:solidFill>
                            <a:srgbClr val="FFFFFF"/>
                          </a:solidFill>
                          <a:latin typeface="Arial"/>
                        </a:defRPr>
                      </a:pPr>
                      <a:r>
                        <a:t>Tổng thời gian giảm kỳ vọng</a:t>
                      </a:r>
                    </a:p>
                  </a:txBody>
                  <a:tcPr anchor="ctr" marL="45720" marR="45720" marT="18288" marB="18288">
                    <a:solidFill>
                      <a:srgbClr val="1B365D"/>
                    </a:solidFill>
                  </a:tcPr>
                </a:tc>
                <a:tc>
                  <a:txBody>
                    <a:bodyPr/>
                    <a:lstStyle/>
                    <a:p>
                      <a:pPr algn="ctr">
                        <a:defRPr sz="900" b="1">
                          <a:solidFill>
                            <a:srgbClr val="FFFFFF"/>
                          </a:solidFill>
                          <a:latin typeface="Arial"/>
                        </a:defRPr>
                      </a:pPr>
                      <a:r>
                        <a:t>Kinh phí xin phê duyệt đợt này</a:t>
                      </a:r>
                    </a:p>
                  </a:txBody>
                  <a:tcPr anchor="ctr" marL="45720" marR="45720" marT="18288" marB="18288">
                    <a:solidFill>
                      <a:srgbClr val="1B365D"/>
                    </a:solidFill>
                  </a:tcPr>
                </a:tc>
                <a:tc>
                  <a:txBody>
                    <a:bodyPr/>
                    <a:lstStyle/>
                    <a:p>
                      <a:pPr algn="ctr">
                        <a:defRPr sz="900" b="1">
                          <a:solidFill>
                            <a:srgbClr val="FFFFFF"/>
                          </a:solidFill>
                          <a:latin typeface="Arial"/>
                        </a:defRPr>
                      </a:pPr>
                      <a:r>
                        <a:t>Đề xuất xử lý</a:t>
                      </a:r>
                    </a:p>
                  </a:txBody>
                  <a:tcPr anchor="ctr" marL="45720" marR="45720" marT="18288" marB="18288">
                    <a:solidFill>
                      <a:srgbClr val="1B365D"/>
                    </a:solidFill>
                  </a:tcPr>
                </a:tc>
              </a:tr>
              <a:tr h="324612">
                <a:tc>
                  <a:txBody>
                    <a:bodyPr/>
                    <a:lstStyle/>
                    <a:p>
                      <a:pPr algn="l">
                        <a:defRPr sz="850" b="1">
                          <a:solidFill>
                            <a:srgbClr val="1E242B"/>
                          </a:solidFill>
                          <a:latin typeface="Arial"/>
                        </a:defRPr>
                      </a:pPr>
                      <a:r>
                        <a:t>1. Hạng mục đã có báo giá chi tiết (No.22)</a:t>
                      </a:r>
                    </a:p>
                  </a:txBody>
                  <a:tcPr anchor="ctr" marL="45720" marR="45720" marT="18288" marB="18288">
                    <a:solidFill>
                      <a:srgbClr val="EAF7EE"/>
                    </a:solidFill>
                  </a:tcPr>
                </a:tc>
                <a:tc>
                  <a:txBody>
                    <a:bodyPr/>
                    <a:lstStyle/>
                    <a:p>
                      <a:pPr algn="ctr">
                        <a:defRPr sz="850">
                          <a:solidFill>
                            <a:srgbClr val="1E242B"/>
                          </a:solidFill>
                          <a:latin typeface="Arial"/>
                        </a:defRPr>
                      </a:pPr>
                      <a:r>
                        <a:t>1 đề án (BOM 25 mục)</a:t>
                      </a:r>
                    </a:p>
                  </a:txBody>
                  <a:tcPr anchor="ctr" marL="45720" marR="45720" marT="18288" marB="18288">
                    <a:solidFill>
                      <a:srgbClr val="EAF7EE"/>
                    </a:solidFill>
                  </a:tcPr>
                </a:tc>
                <a:tc>
                  <a:txBody>
                    <a:bodyPr/>
                    <a:lstStyle/>
                    <a:p>
                      <a:pPr algn="ctr">
                        <a:defRPr sz="850">
                          <a:solidFill>
                            <a:srgbClr val="1E242B"/>
                          </a:solidFill>
                          <a:latin typeface="Arial"/>
                        </a:defRPr>
                      </a:pPr>
                      <a:r>
                        <a:t>-30,00 s/máy (-29,6 triệu VNĐ/năm)</a:t>
                      </a:r>
                    </a:p>
                  </a:txBody>
                  <a:tcPr anchor="ctr" marL="45720" marR="45720" marT="18288" marB="18288">
                    <a:solidFill>
                      <a:srgbClr val="EAF7EE"/>
                    </a:solidFill>
                  </a:tcPr>
                </a:tc>
                <a:tc>
                  <a:txBody>
                    <a:bodyPr/>
                    <a:lstStyle/>
                    <a:p>
                      <a:pPr algn="r">
                        <a:defRPr sz="850">
                          <a:solidFill>
                            <a:srgbClr val="1E242B"/>
                          </a:solidFill>
                          <a:latin typeface="Arial"/>
                        </a:defRPr>
                      </a:pPr>
                      <a:r>
                        <a:t>101.690.000 VNĐ (3.911,15 USD)</a:t>
                      </a:r>
                    </a:p>
                  </a:txBody>
                  <a:tcPr anchor="ctr" marL="45720" marR="45720" marT="18288" marB="18288">
                    <a:solidFill>
                      <a:srgbClr val="EAF7EE"/>
                    </a:solidFill>
                  </a:tcPr>
                </a:tc>
                <a:tc>
                  <a:txBody>
                    <a:bodyPr/>
                    <a:lstStyle/>
                    <a:p>
                      <a:pPr algn="l">
                        <a:defRPr sz="850">
                          <a:solidFill>
                            <a:srgbClr val="1E242B"/>
                          </a:solidFill>
                          <a:latin typeface="Arial"/>
                        </a:defRPr>
                      </a:pPr>
                      <a:r>
                        <a:t>Trình phê duyệt ngân sách đầu tư Đợt 1</a:t>
                      </a:r>
                    </a:p>
                  </a:txBody>
                  <a:tcPr anchor="ctr" marL="45720" marR="45720" marT="18288" marB="18288">
                    <a:solidFill>
                      <a:srgbClr val="EAF7EE"/>
                    </a:solidFill>
                  </a:tcPr>
                </a:tc>
              </a:tr>
              <a:tr h="324612">
                <a:tc>
                  <a:txBody>
                    <a:bodyPr/>
                    <a:lstStyle/>
                    <a:p>
                      <a:pPr algn="l">
                        <a:defRPr sz="850" b="1">
                          <a:solidFill>
                            <a:srgbClr val="1E242B"/>
                          </a:solidFill>
                          <a:latin typeface="Arial"/>
                        </a:defRPr>
                      </a:pPr>
                      <a:r>
                        <a:t>2. Hạng mục Đang báo giá (見積中) &amp; Cải tiến TK</a:t>
                      </a:r>
                    </a:p>
                  </a:txBody>
                  <a:tcPr anchor="ctr" marL="45720" marR="45720" marT="18288" marB="18288">
                    <a:solidFill>
                      <a:srgbClr val="F7F9FC"/>
                    </a:solidFill>
                  </a:tcPr>
                </a:tc>
                <a:tc>
                  <a:txBody>
                    <a:bodyPr/>
                    <a:lstStyle/>
                    <a:p>
                      <a:pPr algn="ctr">
                        <a:defRPr sz="850">
                          <a:solidFill>
                            <a:srgbClr val="1E242B"/>
                          </a:solidFill>
                          <a:latin typeface="Arial"/>
                        </a:defRPr>
                      </a:pPr>
                      <a:r>
                        <a:t>10 TB đang báo giá + 6 TK/FW</a:t>
                      </a:r>
                    </a:p>
                  </a:txBody>
                  <a:tcPr anchor="ctr" marL="45720" marR="45720" marT="18288" marB="18288">
                    <a:solidFill>
                      <a:srgbClr val="F7F9FC"/>
                    </a:solidFill>
                  </a:tcPr>
                </a:tc>
                <a:tc>
                  <a:txBody>
                    <a:bodyPr/>
                    <a:lstStyle/>
                    <a:p>
                      <a:pPr algn="ctr">
                        <a:defRPr sz="850">
                          <a:solidFill>
                            <a:srgbClr val="1E242B"/>
                          </a:solidFill>
                          <a:latin typeface="Arial"/>
                        </a:defRPr>
                      </a:pPr>
                      <a:r>
                        <a:t>-569,32 s ~ -581,32 s/máy</a:t>
                      </a:r>
                    </a:p>
                  </a:txBody>
                  <a:tcPr anchor="ctr" marL="45720" marR="45720" marT="18288" marB="18288">
                    <a:solidFill>
                      <a:srgbClr val="F7F9FC"/>
                    </a:solidFill>
                  </a:tcPr>
                </a:tc>
                <a:tc>
                  <a:txBody>
                    <a:bodyPr/>
                    <a:lstStyle/>
                    <a:p>
                      <a:pPr algn="r">
                        <a:defRPr sz="850">
                          <a:solidFill>
                            <a:srgbClr val="1E242B"/>
                          </a:solidFill>
                          <a:latin typeface="Arial"/>
                        </a:defRPr>
                      </a:pPr>
                      <a:r>
                        <a:t>0 VNĐ đợt này (Chờ báo giá / 0đ TB)</a:t>
                      </a:r>
                    </a:p>
                  </a:txBody>
                  <a:tcPr anchor="ctr" marL="45720" marR="45720" marT="18288" marB="18288">
                    <a:solidFill>
                      <a:srgbClr val="F7F9FC"/>
                    </a:solidFill>
                  </a:tcPr>
                </a:tc>
                <a:tc>
                  <a:txBody>
                    <a:bodyPr/>
                    <a:lstStyle/>
                    <a:p>
                      <a:pPr algn="l">
                        <a:defRPr sz="850">
                          <a:solidFill>
                            <a:srgbClr val="1E242B"/>
                          </a:solidFill>
                          <a:latin typeface="Arial"/>
                        </a:defRPr>
                      </a:pPr>
                      <a:r>
                        <a:t>Xin ý kiến kỹ thuật &amp; hoàn tất báo giá Đợt 2</a:t>
                      </a:r>
                    </a:p>
                  </a:txBody>
                  <a:tcPr anchor="ctr" marL="45720" marR="45720" marT="18288" marB="18288">
                    <a:solidFill>
                      <a:srgbClr val="F7F9FC"/>
                    </a:solidFill>
                  </a:tcPr>
                </a:tc>
              </a:tr>
              <a:tr h="324612">
                <a:tc>
                  <a:txBody>
                    <a:bodyPr/>
                    <a:lstStyle/>
                    <a:p>
                      <a:pPr algn="l">
                        <a:defRPr sz="850" b="1">
                          <a:solidFill>
                            <a:srgbClr val="1E242B"/>
                          </a:solidFill>
                          <a:latin typeface="Arial"/>
                        </a:defRPr>
                      </a:pPr>
                      <a:r>
                        <a:t>3. Phương án Đã hủy (No.23, 24) &amp; Dài hạn (No.26)</a:t>
                      </a:r>
                    </a:p>
                  </a:txBody>
                  <a:tcPr anchor="ctr" marL="45720" marR="45720" marT="18288" marB="18288">
                    <a:solidFill>
                      <a:srgbClr val="FDEDEC"/>
                    </a:solidFill>
                  </a:tcPr>
                </a:tc>
                <a:tc>
                  <a:txBody>
                    <a:bodyPr/>
                    <a:lstStyle/>
                    <a:p>
                      <a:pPr algn="ctr">
                        <a:defRPr sz="850">
                          <a:solidFill>
                            <a:srgbClr val="1E242B"/>
                          </a:solidFill>
                          <a:latin typeface="Arial"/>
                        </a:defRPr>
                      </a:pPr>
                      <a:r>
                        <a:t>2 đã hủy + 1 R&amp;D 2026-2030</a:t>
                      </a:r>
                    </a:p>
                  </a:txBody>
                  <a:tcPr anchor="ctr" marL="45720" marR="45720" marT="18288" marB="18288">
                    <a:solidFill>
                      <a:srgbClr val="FDEDEC"/>
                    </a:solidFill>
                  </a:tcPr>
                </a:tc>
                <a:tc>
                  <a:txBody>
                    <a:bodyPr/>
                    <a:lstStyle/>
                    <a:p>
                      <a:pPr algn="ctr">
                        <a:defRPr sz="850">
                          <a:solidFill>
                            <a:srgbClr val="1E242B"/>
                          </a:solidFill>
                          <a:latin typeface="Arial"/>
                        </a:defRPr>
                      </a:pPr>
                      <a:r>
                        <a:t>Đã thay bằng No.25, JP No.3 &amp; No.6</a:t>
                      </a:r>
                    </a:p>
                  </a:txBody>
                  <a:tcPr anchor="ctr" marL="45720" marR="45720" marT="18288" marB="18288">
                    <a:solidFill>
                      <a:srgbClr val="FDEDEC"/>
                    </a:solidFill>
                  </a:tcPr>
                </a:tc>
                <a:tc>
                  <a:txBody>
                    <a:bodyPr/>
                    <a:lstStyle/>
                    <a:p>
                      <a:pPr algn="r">
                        <a:defRPr sz="850">
                          <a:solidFill>
                            <a:srgbClr val="1E242B"/>
                          </a:solidFill>
                          <a:latin typeface="Arial"/>
                        </a:defRPr>
                      </a:pPr>
                      <a:r>
                        <a:t>0 VNĐ (Không tính 25.000$ &amp; 4.000$)</a:t>
                      </a:r>
                    </a:p>
                  </a:txBody>
                  <a:tcPr anchor="ctr" marL="45720" marR="45720" marT="18288" marB="18288">
                    <a:solidFill>
                      <a:srgbClr val="FDEDEC"/>
                    </a:solidFill>
                  </a:tcPr>
                </a:tc>
                <a:tc>
                  <a:txBody>
                    <a:bodyPr/>
                    <a:lstStyle/>
                    <a:p>
                      <a:pPr algn="l">
                        <a:defRPr sz="850">
                          <a:solidFill>
                            <a:srgbClr val="1E242B"/>
                          </a:solidFill>
                          <a:latin typeface="Arial"/>
                        </a:defRPr>
                      </a:pPr>
                      <a:r>
                        <a:t>Không đưa vào ngân sách đầu tư MP</a:t>
                      </a:r>
                    </a:p>
                  </a:txBody>
                  <a:tcPr anchor="ctr" marL="45720" marR="45720" marT="18288" marB="18288">
                    <a:solidFill>
                      <a:srgbClr val="FDEDE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3: BỐI CẢNH</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Bối cảnh &amp; Hiện trạng: Sản lượng Iris EXP tăng lên 16.000 máy/tháng và phương án theo mẫu Athena / Spica</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3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Sản lượng Iris EXP tại VN là 16.000 máy/tháng (Takt time giảm từ 114s xuống 97s). Nếu giữ quy trình Iris2024 (2.350s/máy), nhân lực phải tăng từ 14-15 lên 18 người, nên cần thiết kế lại công đoạn theo mẫu Athena và Spica.</a:t>
            </a:r>
          </a:p>
        </p:txBody>
      </p:sp>
      <p:graphicFrame>
        <p:nvGraphicFramePr>
          <p:cNvPr id="7" name="Table 6"/>
          <p:cNvGraphicFramePr>
            <a:graphicFrameLocks noGrp="1"/>
          </p:cNvGraphicFramePr>
          <p:nvPr/>
        </p:nvGraphicFramePr>
        <p:xfrm>
          <a:off x="274320" y="1243584"/>
          <a:ext cx="5989320" cy="3154680"/>
        </p:xfrm>
        <a:graphic>
          <a:graphicData uri="http://schemas.openxmlformats.org/drawingml/2006/table">
            <a:tbl>
              <a:tblPr firstRow="1" bandRow="1">
                <a:tableStyleId>{5C22544A-7EE6-4342-B048-85BDC9FD1C3A}</a:tableStyleId>
              </a:tblPr>
              <a:tblGrid>
                <a:gridCol w="1691640"/>
                <a:gridCol w="1371600"/>
                <a:gridCol w="1463040"/>
                <a:gridCol w="1463040"/>
              </a:tblGrid>
              <a:tr h="394335">
                <a:tc>
                  <a:txBody>
                    <a:bodyPr/>
                    <a:lstStyle/>
                    <a:p>
                      <a:pPr algn="ctr">
                        <a:defRPr sz="830" b="1">
                          <a:solidFill>
                            <a:srgbClr val="FFFFFF"/>
                          </a:solidFill>
                          <a:latin typeface="Arial"/>
                        </a:defRPr>
                      </a:pPr>
                      <a:r>
                        <a:t>Chỉ tiêu (Nguồn đối chiếu)</a:t>
                      </a:r>
                    </a:p>
                  </a:txBody>
                  <a:tcPr anchor="ctr" marL="45720" marR="45720" marT="18288" marB="18288">
                    <a:solidFill>
                      <a:srgbClr val="1B365D"/>
                    </a:solidFill>
                  </a:tcPr>
                </a:tc>
                <a:tc>
                  <a:txBody>
                    <a:bodyPr/>
                    <a:lstStyle/>
                    <a:p>
                      <a:pPr algn="ctr">
                        <a:defRPr sz="830" b="1">
                          <a:solidFill>
                            <a:srgbClr val="FFFFFF"/>
                          </a:solidFill>
                          <a:latin typeface="Arial"/>
                        </a:defRPr>
                      </a:pPr>
                      <a:r>
                        <a:t>Hiện trạng Iris2024 (VN)</a:t>
                      </a:r>
                    </a:p>
                  </a:txBody>
                  <a:tcPr anchor="ctr" marL="45720" marR="45720" marT="18288" marB="18288">
                    <a:solidFill>
                      <a:srgbClr val="1B365D"/>
                    </a:solidFill>
                  </a:tcPr>
                </a:tc>
                <a:tc>
                  <a:txBody>
                    <a:bodyPr/>
                    <a:lstStyle/>
                    <a:p>
                      <a:pPr algn="ctr">
                        <a:defRPr sz="830" b="1">
                          <a:solidFill>
                            <a:srgbClr val="FFFFFF"/>
                          </a:solidFill>
                          <a:latin typeface="Arial"/>
                        </a:defRPr>
                      </a:pPr>
                      <a:r>
                        <a:t>Iris EXP Chưa cải tiến</a:t>
                      </a:r>
                    </a:p>
                  </a:txBody>
                  <a:tcPr anchor="ctr" marL="45720" marR="45720" marT="18288" marB="18288">
                    <a:solidFill>
                      <a:srgbClr val="1B365D"/>
                    </a:solidFill>
                  </a:tcPr>
                </a:tc>
                <a:tc>
                  <a:txBody>
                    <a:bodyPr/>
                    <a:lstStyle/>
                    <a:p>
                      <a:pPr algn="ctr">
                        <a:defRPr sz="830" b="1">
                          <a:solidFill>
                            <a:srgbClr val="FFFFFF"/>
                          </a:solidFill>
                          <a:latin typeface="Arial"/>
                        </a:defRPr>
                      </a:pPr>
                      <a:r>
                        <a:t>Thiết kế chuẩn Athena / Spica</a:t>
                      </a:r>
                    </a:p>
                  </a:txBody>
                  <a:tcPr anchor="ctr" marL="45720" marR="45720" marT="18288" marB="18288">
                    <a:solidFill>
                      <a:srgbClr val="1B365D"/>
                    </a:solidFill>
                  </a:tcPr>
                </a:tc>
              </a:tr>
              <a:tr h="394335">
                <a:tc>
                  <a:txBody>
                    <a:bodyPr/>
                    <a:lstStyle/>
                    <a:p>
                      <a:pPr algn="l">
                        <a:defRPr sz="780" b="1">
                          <a:solidFill>
                            <a:srgbClr val="1E242B"/>
                          </a:solidFill>
                          <a:latin typeface="Arial"/>
                        </a:defRPr>
                      </a:pPr>
                      <a:r>
                        <a:t>Sản lượng tháng (第8回 S7)</a:t>
                      </a:r>
                    </a:p>
                  </a:txBody>
                  <a:tcPr anchor="ctr" marL="45720" marR="45720" marT="18288" marB="18288">
                    <a:solidFill>
                      <a:srgbClr val="FFFFFF"/>
                    </a:solidFill>
                  </a:tcPr>
                </a:tc>
                <a:tc>
                  <a:txBody>
                    <a:bodyPr/>
                    <a:lstStyle/>
                    <a:p>
                      <a:pPr algn="ctr">
                        <a:defRPr sz="780">
                          <a:solidFill>
                            <a:srgbClr val="1E242B"/>
                          </a:solidFill>
                          <a:latin typeface="Arial"/>
                        </a:defRPr>
                      </a:pPr>
                      <a:r>
                        <a:t>Hiện hành tại KDTVN</a:t>
                      </a:r>
                    </a:p>
                  </a:txBody>
                  <a:tcPr anchor="ctr" marL="45720" marR="45720" marT="18288" marB="18288">
                    <a:solidFill>
                      <a:srgbClr val="FFFFFF"/>
                    </a:solidFill>
                  </a:tcPr>
                </a:tc>
                <a:tc>
                  <a:txBody>
                    <a:bodyPr/>
                    <a:lstStyle/>
                    <a:p>
                      <a:pPr algn="ctr">
                        <a:defRPr sz="780">
                          <a:solidFill>
                            <a:srgbClr val="1E242B"/>
                          </a:solidFill>
                          <a:latin typeface="Arial"/>
                        </a:defRPr>
                      </a:pPr>
                      <a:r>
                        <a:t>VN: 16.000 | CN: 2.700</a:t>
                      </a:r>
                    </a:p>
                  </a:txBody>
                  <a:tcPr anchor="ctr" marL="45720" marR="45720" marT="18288" marB="18288">
                    <a:solidFill>
                      <a:srgbClr val="FFFFFF"/>
                    </a:solidFill>
                  </a:tcPr>
                </a:tc>
                <a:tc>
                  <a:txBody>
                    <a:bodyPr/>
                    <a:lstStyle/>
                    <a:p>
                      <a:pPr algn="l">
                        <a:defRPr sz="780">
                          <a:solidFill>
                            <a:srgbClr val="1E242B"/>
                          </a:solidFill>
                          <a:latin typeface="Arial"/>
                        </a:defRPr>
                      </a:pPr>
                      <a:r>
                        <a:t>Athena: 1.000 | Spica: 20.000</a:t>
                      </a:r>
                    </a:p>
                  </a:txBody>
                  <a:tcPr anchor="ctr" marL="45720" marR="45720" marT="18288" marB="18288">
                    <a:solidFill>
                      <a:srgbClr val="FFFFFF"/>
                    </a:solidFill>
                  </a:tcPr>
                </a:tc>
              </a:tr>
              <a:tr h="394335">
                <a:tc>
                  <a:txBody>
                    <a:bodyPr/>
                    <a:lstStyle/>
                    <a:p>
                      <a:pPr algn="l">
                        <a:defRPr sz="780" b="1">
                          <a:solidFill>
                            <a:srgbClr val="1E242B"/>
                          </a:solidFill>
                          <a:latin typeface="Arial"/>
                        </a:defRPr>
                      </a:pPr>
                      <a:r>
                        <a:t>Takt Time tại VN (DR4 S2)</a:t>
                      </a:r>
                    </a:p>
                  </a:txBody>
                  <a:tcPr anchor="ctr" marL="45720" marR="45720" marT="18288" marB="18288">
                    <a:solidFill>
                      <a:srgbClr val="F7F9FC"/>
                    </a:solidFill>
                  </a:tcPr>
                </a:tc>
                <a:tc>
                  <a:txBody>
                    <a:bodyPr/>
                    <a:lstStyle/>
                    <a:p>
                      <a:pPr algn="ctr">
                        <a:defRPr sz="780">
                          <a:solidFill>
                            <a:srgbClr val="1E242B"/>
                          </a:solidFill>
                          <a:latin typeface="Arial"/>
                        </a:defRPr>
                      </a:pPr>
                      <a:r>
                        <a:t>114 giây / máy</a:t>
                      </a:r>
                    </a:p>
                  </a:txBody>
                  <a:tcPr anchor="ctr" marL="45720" marR="45720" marT="18288" marB="18288">
                    <a:solidFill>
                      <a:srgbClr val="F7F9FC"/>
                    </a:solidFill>
                  </a:tcPr>
                </a:tc>
                <a:tc>
                  <a:txBody>
                    <a:bodyPr/>
                    <a:lstStyle/>
                    <a:p>
                      <a:pPr algn="ctr">
                        <a:defRPr sz="780">
                          <a:solidFill>
                            <a:srgbClr val="1E242B"/>
                          </a:solidFill>
                          <a:latin typeface="Arial"/>
                        </a:defRPr>
                      </a:pPr>
                      <a:r>
                        <a:t>97 giây / máy (-17s)</a:t>
                      </a:r>
                    </a:p>
                  </a:txBody>
                  <a:tcPr anchor="ctr" marL="45720" marR="45720" marT="18288" marB="18288">
                    <a:solidFill>
                      <a:srgbClr val="F7F9FC"/>
                    </a:solidFill>
                  </a:tcPr>
                </a:tc>
                <a:tc>
                  <a:txBody>
                    <a:bodyPr/>
                    <a:lstStyle/>
                    <a:p>
                      <a:pPr algn="l">
                        <a:defRPr sz="780">
                          <a:solidFill>
                            <a:srgbClr val="1E242B"/>
                          </a:solidFill>
                          <a:latin typeface="Arial"/>
                        </a:defRPr>
                      </a:pPr>
                      <a:r>
                        <a:t>Theo nhịp chuyền tự động</a:t>
                      </a:r>
                    </a:p>
                  </a:txBody>
                  <a:tcPr anchor="ctr" marL="45720" marR="45720" marT="18288" marB="18288">
                    <a:solidFill>
                      <a:srgbClr val="F7F9FC"/>
                    </a:solidFill>
                  </a:tcPr>
                </a:tc>
              </a:tr>
              <a:tr h="394335">
                <a:tc>
                  <a:txBody>
                    <a:bodyPr/>
                    <a:lstStyle/>
                    <a:p>
                      <a:pPr algn="l">
                        <a:defRPr sz="780" b="1">
                          <a:solidFill>
                            <a:srgbClr val="1E242B"/>
                          </a:solidFill>
                          <a:latin typeface="Arial"/>
                        </a:defRPr>
                      </a:pPr>
                      <a:r>
                        <a:t>Tổng TG công đoạn VN (調整工程計画)</a:t>
                      </a:r>
                    </a:p>
                  </a:txBody>
                  <a:tcPr anchor="ctr" marL="45720" marR="45720" marT="18288" marB="18288">
                    <a:solidFill>
                      <a:srgbClr val="FEF7E6"/>
                    </a:solidFill>
                  </a:tcPr>
                </a:tc>
                <a:tc>
                  <a:txBody>
                    <a:bodyPr/>
                    <a:lstStyle/>
                    <a:p>
                      <a:pPr algn="ctr">
                        <a:defRPr sz="780">
                          <a:solidFill>
                            <a:srgbClr val="1E242B"/>
                          </a:solidFill>
                          <a:latin typeface="Arial"/>
                        </a:defRPr>
                      </a:pPr>
                      <a:r>
                        <a:t>2.350,00 s (39 bước K1-K8)</a:t>
                      </a:r>
                    </a:p>
                  </a:txBody>
                  <a:tcPr anchor="ctr" marL="45720" marR="45720" marT="18288" marB="18288">
                    <a:solidFill>
                      <a:srgbClr val="FEF7E6"/>
                    </a:solidFill>
                  </a:tcPr>
                </a:tc>
                <a:tc>
                  <a:txBody>
                    <a:bodyPr/>
                    <a:lstStyle/>
                    <a:p>
                      <a:pPr algn="ctr">
                        <a:defRPr sz="780">
                          <a:solidFill>
                            <a:srgbClr val="1E242B"/>
                          </a:solidFill>
                          <a:latin typeface="Arial"/>
                        </a:defRPr>
                      </a:pPr>
                      <a:r>
                        <a:t>2.350,00 s (+ bước mới)</a:t>
                      </a:r>
                    </a:p>
                  </a:txBody>
                  <a:tcPr anchor="ctr" marL="45720" marR="45720" marT="18288" marB="18288">
                    <a:solidFill>
                      <a:srgbClr val="FEF7E6"/>
                    </a:solidFill>
                  </a:tcPr>
                </a:tc>
                <a:tc>
                  <a:txBody>
                    <a:bodyPr/>
                    <a:lstStyle/>
                    <a:p>
                      <a:pPr algn="l">
                        <a:defRPr sz="780">
                          <a:solidFill>
                            <a:srgbClr val="1E242B"/>
                          </a:solidFill>
                          <a:latin typeface="Arial"/>
                        </a:defRPr>
                      </a:pPr>
                      <a:r>
                        <a:t>Mục tiêu giảm &gt;=50% (&lt;=1.175s)</a:t>
                      </a:r>
                    </a:p>
                  </a:txBody>
                  <a:tcPr anchor="ctr" marL="45720" marR="45720" marT="18288" marB="18288">
                    <a:solidFill>
                      <a:srgbClr val="FEF7E6"/>
                    </a:solidFill>
                  </a:tcPr>
                </a:tc>
              </a:tr>
              <a:tr h="394335">
                <a:tc>
                  <a:txBody>
                    <a:bodyPr/>
                    <a:lstStyle/>
                    <a:p>
                      <a:pPr algn="l">
                        <a:defRPr sz="780" b="1">
                          <a:solidFill>
                            <a:srgbClr val="1E242B"/>
                          </a:solidFill>
                          <a:latin typeface="Arial"/>
                        </a:defRPr>
                      </a:pPr>
                      <a:r>
                        <a:t>TG thao tác tay chuẩn JP (工程表)</a:t>
                      </a:r>
                    </a:p>
                  </a:txBody>
                  <a:tcPr anchor="ctr" marL="45720" marR="45720" marT="18288" marB="18288">
                    <a:solidFill>
                      <a:srgbClr val="F7F9FC"/>
                    </a:solidFill>
                  </a:tcPr>
                </a:tc>
                <a:tc>
                  <a:txBody>
                    <a:bodyPr/>
                    <a:lstStyle/>
                    <a:p>
                      <a:pPr algn="ctr">
                        <a:defRPr sz="780">
                          <a:solidFill>
                            <a:srgbClr val="1E242B"/>
                          </a:solidFill>
                          <a:latin typeface="Arial"/>
                        </a:defRPr>
                      </a:pPr>
                      <a:r>
                        <a:t>Color: 1.171,7s | Mono: 1.120,9s</a:t>
                      </a:r>
                    </a:p>
                  </a:txBody>
                  <a:tcPr anchor="ctr" marL="45720" marR="45720" marT="18288" marB="18288">
                    <a:solidFill>
                      <a:srgbClr val="F7F9FC"/>
                    </a:solidFill>
                  </a:tcPr>
                </a:tc>
                <a:tc>
                  <a:txBody>
                    <a:bodyPr/>
                    <a:lstStyle/>
                    <a:p>
                      <a:pPr algn="ctr">
                        <a:defRPr sz="780">
                          <a:solidFill>
                            <a:srgbClr val="1E242B"/>
                          </a:solidFill>
                          <a:latin typeface="Arial"/>
                        </a:defRPr>
                      </a:pPr>
                      <a:r>
                        <a:t>Color: 1.260,7s (+89s U413)</a:t>
                      </a:r>
                      <a:br/>
                      <a:r>
                        <a:t>Mono: 1.172,62s (+51,72s)</a:t>
                      </a:r>
                    </a:p>
                  </a:txBody>
                  <a:tcPr anchor="ctr" marL="45720" marR="45720" marT="18288" marB="18288">
                    <a:solidFill>
                      <a:srgbClr val="F7F9FC"/>
                    </a:solidFill>
                  </a:tcPr>
                </a:tc>
                <a:tc>
                  <a:txBody>
                    <a:bodyPr/>
                    <a:lstStyle/>
                    <a:p>
                      <a:pPr algn="l">
                        <a:defRPr sz="780">
                          <a:solidFill>
                            <a:srgbClr val="1E242B"/>
                          </a:solidFill>
                          <a:latin typeface="Arial"/>
                        </a:defRPr>
                      </a:pPr>
                      <a:r>
                        <a:t>Athena: Color 1.561s / Mono 1.276s</a:t>
                      </a:r>
                      <a:br/>
                      <a:r>
                        <a:t>IrisEXP改善有: 1.083,86s (Color)</a:t>
                      </a:r>
                    </a:p>
                  </a:txBody>
                  <a:tcPr anchor="ctr" marL="45720" marR="45720" marT="18288" marB="18288">
                    <a:solidFill>
                      <a:srgbClr val="F7F9FC"/>
                    </a:solidFill>
                  </a:tcPr>
                </a:tc>
              </a:tr>
              <a:tr h="394335">
                <a:tc>
                  <a:txBody>
                    <a:bodyPr/>
                    <a:lstStyle/>
                    <a:p>
                      <a:pPr algn="l">
                        <a:defRPr sz="780" b="1">
                          <a:solidFill>
                            <a:srgbClr val="1E242B"/>
                          </a:solidFill>
                          <a:latin typeface="Arial"/>
                        </a:defRPr>
                      </a:pPr>
                      <a:r>
                        <a:t>Nhân lực trên Line VN (DR4 &amp; DSLK)</a:t>
                      </a:r>
                    </a:p>
                  </a:txBody>
                  <a:tcPr anchor="ctr" marL="45720" marR="45720" marT="18288" marB="18288">
                    <a:solidFill>
                      <a:srgbClr val="FDEDEC"/>
                    </a:solidFill>
                  </a:tcPr>
                </a:tc>
                <a:tc>
                  <a:txBody>
                    <a:bodyPr/>
                    <a:lstStyle/>
                    <a:p>
                      <a:pPr algn="ctr">
                        <a:defRPr sz="780">
                          <a:solidFill>
                            <a:srgbClr val="1E242B"/>
                          </a:solidFill>
                          <a:latin typeface="Arial"/>
                        </a:defRPr>
                      </a:pPr>
                      <a:r>
                        <a:t>14 người (chi tiết K1-K8)</a:t>
                      </a:r>
                      <a:br/>
                      <a:r>
                        <a:t>15 người (Slide DR4 S2)</a:t>
                      </a:r>
                    </a:p>
                  </a:txBody>
                  <a:tcPr anchor="ctr" marL="45720" marR="45720" marT="18288" marB="18288">
                    <a:solidFill>
                      <a:srgbClr val="FDEDEC"/>
                    </a:solidFill>
                  </a:tcPr>
                </a:tc>
                <a:tc>
                  <a:txBody>
                    <a:bodyPr/>
                    <a:lstStyle/>
                    <a:p>
                      <a:pPr algn="ctr">
                        <a:defRPr sz="780">
                          <a:solidFill>
                            <a:srgbClr val="1E242B"/>
                          </a:solidFill>
                          <a:latin typeface="Arial"/>
                        </a:defRPr>
                      </a:pPr>
                      <a:r>
                        <a:t>18 người (17,62 người)</a:t>
                      </a:r>
                      <a:br/>
                      <a:r>
                        <a:t>do Takt giảm còn 97s</a:t>
                      </a:r>
                    </a:p>
                  </a:txBody>
                  <a:tcPr anchor="ctr" marL="45720" marR="45720" marT="18288" marB="18288">
                    <a:solidFill>
                      <a:srgbClr val="FDEDEC"/>
                    </a:solidFill>
                  </a:tcPr>
                </a:tc>
                <a:tc>
                  <a:txBody>
                    <a:bodyPr/>
                    <a:lstStyle/>
                    <a:p>
                      <a:pPr algn="l">
                        <a:defRPr sz="780">
                          <a:solidFill>
                            <a:srgbClr val="1E242B"/>
                          </a:solidFill>
                          <a:latin typeface="Arial"/>
                        </a:defRPr>
                      </a:pPr>
                      <a:r>
                        <a:t>Athena: 16 -&gt; 8 người (-50%)</a:t>
                      </a:r>
                      <a:br/>
                      <a:r>
                        <a:t>IrisEXP mục tiêu: 18 -&gt; 9 người</a:t>
                      </a:r>
                    </a:p>
                  </a:txBody>
                  <a:tcPr anchor="ctr" marL="45720" marR="45720" marT="18288" marB="18288">
                    <a:solidFill>
                      <a:srgbClr val="FDEDEC"/>
                    </a:solidFill>
                  </a:tcPr>
                </a:tc>
              </a:tr>
              <a:tr h="394335">
                <a:tc>
                  <a:txBody>
                    <a:bodyPr/>
                    <a:lstStyle/>
                    <a:p>
                      <a:pPr algn="l">
                        <a:defRPr sz="780" b="1">
                          <a:solidFill>
                            <a:srgbClr val="1E242B"/>
                          </a:solidFill>
                          <a:latin typeface="Arial"/>
                        </a:defRPr>
                      </a:pPr>
                      <a:r>
                        <a:t>Cấu trúc trạm công đoạn</a:t>
                      </a:r>
                    </a:p>
                  </a:txBody>
                  <a:tcPr anchor="ctr" marL="45720" marR="45720" marT="18288" marB="18288">
                    <a:solidFill>
                      <a:srgbClr val="F7F9FC"/>
                    </a:solidFill>
                  </a:tcPr>
                </a:tc>
                <a:tc>
                  <a:txBody>
                    <a:bodyPr/>
                    <a:lstStyle/>
                    <a:p>
                      <a:pPr algn="ctr">
                        <a:defRPr sz="780">
                          <a:solidFill>
                            <a:srgbClr val="1E242B"/>
                          </a:solidFill>
                          <a:latin typeface="Arial"/>
                        </a:defRPr>
                      </a:pPr>
                      <a:r>
                        <a:t>8 trạm rời (K1 ~ K8)</a:t>
                      </a:r>
                      <a:br/>
                      <a:r>
                        <a:t>1 người kèm 1 PC/máy</a:t>
                      </a:r>
                    </a:p>
                  </a:txBody>
                  <a:tcPr anchor="ctr" marL="45720" marR="45720" marT="18288" marB="18288">
                    <a:solidFill>
                      <a:srgbClr val="F7F9FC"/>
                    </a:solidFill>
                  </a:tcPr>
                </a:tc>
                <a:tc>
                  <a:txBody>
                    <a:bodyPr/>
                    <a:lstStyle/>
                    <a:p>
                      <a:pPr algn="ctr">
                        <a:defRPr sz="780">
                          <a:solidFill>
                            <a:srgbClr val="1E242B"/>
                          </a:solidFill>
                          <a:latin typeface="Arial"/>
                        </a:defRPr>
                      </a:pPr>
                      <a:r>
                        <a:t>Ngắt quãng 5 lần (Tiếp địa -&gt; Check -&gt; Chịu áp -&gt; Âm thanh -&gt; Xuất)</a:t>
                      </a:r>
                    </a:p>
                  </a:txBody>
                  <a:tcPr anchor="ctr" marL="45720" marR="45720" marT="18288" marB="18288">
                    <a:solidFill>
                      <a:srgbClr val="F7F9FC"/>
                    </a:solidFill>
                  </a:tcPr>
                </a:tc>
                <a:tc>
                  <a:txBody>
                    <a:bodyPr/>
                    <a:lstStyle/>
                    <a:p>
                      <a:pPr algn="l">
                        <a:defRPr sz="780">
                          <a:solidFill>
                            <a:srgbClr val="1E242B"/>
                          </a:solidFill>
                          <a:latin typeface="Arial"/>
                        </a:defRPr>
                      </a:pPr>
                      <a:r>
                        <a:t>Gom 4 trạm A-1 ~ A-4</a:t>
                      </a:r>
                      <a:br/>
                      <a:r>
                        <a:t>1 công nhân quản lý 3-4 máy</a:t>
                      </a:r>
                    </a:p>
                  </a:txBody>
                  <a:tcPr anchor="ctr" marL="45720" marR="45720" marT="18288" marB="18288">
                    <a:solidFill>
                      <a:srgbClr val="F7F9FC"/>
                    </a:solidFill>
                  </a:tcPr>
                </a:tc>
              </a:tr>
              <a:tr h="394335">
                <a:tc>
                  <a:txBody>
                    <a:bodyPr/>
                    <a:lstStyle/>
                    <a:p>
                      <a:pPr algn="l">
                        <a:defRPr sz="780" b="1">
                          <a:solidFill>
                            <a:srgbClr val="1E242B"/>
                          </a:solidFill>
                          <a:latin typeface="Arial"/>
                        </a:defRPr>
                      </a:pPr>
                      <a:r>
                        <a:t>Hệ thống điều khiển &amp; truyền thông</a:t>
                      </a:r>
                    </a:p>
                  </a:txBody>
                  <a:tcPr anchor="ctr" marL="45720" marR="45720" marT="18288" marB="18288">
                    <a:solidFill>
                      <a:srgbClr val="EAF7EE"/>
                    </a:solidFill>
                  </a:tcPr>
                </a:tc>
                <a:tc>
                  <a:txBody>
                    <a:bodyPr/>
                    <a:lstStyle/>
                    <a:p>
                      <a:pPr algn="ctr">
                        <a:defRPr sz="780">
                          <a:solidFill>
                            <a:srgbClr val="1E242B"/>
                          </a:solidFill>
                          <a:latin typeface="Arial"/>
                        </a:defRPr>
                      </a:pPr>
                      <a:r>
                        <a:t>Chương trình 7900 / 7910</a:t>
                      </a:r>
                      <a:br/>
                      <a:r>
                        <a:t>Cắm/rút cáp ~11 lần/máy</a:t>
                      </a:r>
                    </a:p>
                  </a:txBody>
                  <a:tcPr anchor="ctr" marL="45720" marR="45720" marT="18288" marB="18288">
                    <a:solidFill>
                      <a:srgbClr val="EAF7EE"/>
                    </a:solidFill>
                  </a:tcPr>
                </a:tc>
                <a:tc>
                  <a:txBody>
                    <a:bodyPr/>
                    <a:lstStyle/>
                    <a:p>
                      <a:pPr algn="ctr">
                        <a:defRPr sz="780">
                          <a:solidFill>
                            <a:srgbClr val="1E242B"/>
                          </a:solidFill>
                          <a:latin typeface="Arial"/>
                        </a:defRPr>
                      </a:pPr>
                      <a:r>
                        <a:t>Tốn thời gian chờ máy khởi động, in và nạp FW</a:t>
                      </a:r>
                    </a:p>
                  </a:txBody>
                  <a:tcPr anchor="ctr" marL="45720" marR="45720" marT="18288" marB="18288">
                    <a:solidFill>
                      <a:srgbClr val="EAF7EE"/>
                    </a:solidFill>
                  </a:tcPr>
                </a:tc>
                <a:tc>
                  <a:txBody>
                    <a:bodyPr/>
                    <a:lstStyle/>
                    <a:p>
                      <a:pPr algn="l">
                        <a:defRPr sz="780">
                          <a:solidFill>
                            <a:srgbClr val="1E242B"/>
                          </a:solidFill>
                          <a:latin typeface="Arial"/>
                        </a:defRPr>
                      </a:pPr>
                      <a:r>
                        <a:t>Host PC + Tablet + PC ảnh + Mini PC Spica (1 bộ/4 máy, ~40.000 JPY)</a:t>
                      </a:r>
                    </a:p>
                  </a:txBody>
                  <a:tcPr anchor="ctr" marL="45720" marR="45720" marT="18288" marB="18288">
                    <a:solidFill>
                      <a:srgbClr val="EAF7EE"/>
                    </a:solidFill>
                  </a:tcPr>
                </a:tc>
              </a:tr>
            </a:tbl>
          </a:graphicData>
        </a:graphic>
      </p:graphicFrame>
      <p:pic>
        <p:nvPicPr>
          <p:cNvPr id="8" name="Picture 7" descr="chart_s3_k1_k8.png"/>
          <p:cNvPicPr>
            <a:picLocks noChangeAspect="1"/>
          </p:cNvPicPr>
          <p:nvPr/>
        </p:nvPicPr>
        <p:blipFill>
          <a:blip r:embed="rId2"/>
          <a:stretch>
            <a:fillRect/>
          </a:stretch>
        </p:blipFill>
        <p:spPr>
          <a:xfrm>
            <a:off x="6355080" y="1243584"/>
            <a:ext cx="5559552" cy="2959116"/>
          </a:xfrm>
          <a:prstGeom prst="rect">
            <a:avLst/>
          </a:prstGeom>
        </p:spPr>
      </p:pic>
      <p:sp>
        <p:nvSpPr>
          <p:cNvPr id="9" name="Rectangle 8"/>
          <p:cNvSpPr/>
          <p:nvPr/>
        </p:nvSpPr>
        <p:spPr>
          <a:xfrm>
            <a:off x="274320" y="4498848"/>
            <a:ext cx="11643055" cy="1993392"/>
          </a:xfrm>
          <a:prstGeom prst="rect">
            <a:avLst/>
          </a:prstGeom>
          <a:solidFill>
            <a:srgbClr val="F4F6F9"/>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4498848"/>
            <a:ext cx="11643055" cy="310896"/>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CĂN CỨ THIẾT KẾ CÔNG ĐOẠN THEO MẪU ATHENA &amp; SPICA (Nguồn: Athena保証工程取り組み説明2025 VN.pptx, 【Spica】保証工程構成.pptx, 第8回打ち合わせ資料.pptx)</a:t>
            </a:r>
          </a:p>
        </p:txBody>
      </p:sp>
      <p:sp>
        <p:nvSpPr>
          <p:cNvPr id="11" name="TextBox 10"/>
          <p:cNvSpPr txBox="1"/>
          <p:nvPr/>
        </p:nvSpPr>
        <p:spPr>
          <a:xfrm>
            <a:off x="347472" y="4828032"/>
            <a:ext cx="11496751" cy="1627632"/>
          </a:xfrm>
          <a:prstGeom prst="rect">
            <a:avLst/>
          </a:prstGeom>
          <a:noFill/>
        </p:spPr>
        <p:txBody>
          <a:bodyPr wrap="square" lIns="36576" rIns="36576" tIns="18288" bIns="18288">
            <a:spAutoFit/>
          </a:bodyPr>
          <a:lstStyle/>
          <a:p>
            <a:pPr>
              <a:spcAft>
                <a:spcPts val="300"/>
              </a:spcAft>
              <a:defRPr sz="880" b="1">
                <a:solidFill>
                  <a:srgbClr val="1E242B"/>
                </a:solidFill>
                <a:latin typeface="Arial"/>
              </a:defRPr>
            </a:pPr>
            <a:r>
              <a:t>■ 1. Chuyển từ "Công đoạn Điều chỉnh (調整工程)" sang "Công đoạn Bảo chứng thân máy (本体保証工程)":</a:t>
            </a:r>
          </a:p>
          <a:p>
            <a:pPr>
              <a:spcAft>
                <a:spcPts val="300"/>
              </a:spcAft>
              <a:defRPr sz="880">
                <a:solidFill>
                  <a:srgbClr val="1E242B"/>
                </a:solidFill>
                <a:latin typeface="Arial"/>
              </a:defRPr>
            </a:pPr>
            <a:r>
              <a:t>   • Quy trình Iris2024 hiện tại phải đo và chỉnh tay nhiều bước trên chuyền: đo belt, chỉnh góc vuông ISU/RCG, chỉnh lề RCC (tỷ lệ phải chỉnh lại tới 50%), chỉnh lề Gray US0 (30-40%), công nhân tự nhìn màn hình PC để phán định.</a:t>
            </a:r>
          </a:p>
          <a:p>
            <a:pPr>
              <a:spcAft>
                <a:spcPts val="300"/>
              </a:spcAft>
              <a:defRPr sz="880">
                <a:solidFill>
                  <a:srgbClr val="1E242B"/>
                </a:solidFill>
                <a:latin typeface="Arial"/>
              </a:defRPr>
            </a:pPr>
            <a:r>
              <a:t>   • Mẫu Athena gom thao tác vào khoảng 60 file kịch bản JSON/hướng xuất trên Host PC (2V9_7401), tự động gửi lệnh tuần tự và đọc kết quả phán định, giúp giảm nhân lực từ 16 người (Mercury4) xuống 8 người (Athena).</a:t>
            </a:r>
          </a:p>
          <a:p>
            <a:pPr>
              <a:spcAft>
                <a:spcPts val="300"/>
              </a:spcAft>
              <a:defRPr sz="880" b="1">
                <a:solidFill>
                  <a:srgbClr val="1E242B"/>
                </a:solidFill>
                <a:latin typeface="Arial"/>
              </a:defRPr>
            </a:pPr>
            <a:r>
              <a:t>■ 2. Khắc phục lỗi mất nguồn/mạng của Athena bằng cấu hình Mini PC của Spica cho sản lượng lớn tại Việt Nam (16.000 máy/tháng):</a:t>
            </a:r>
          </a:p>
          <a:p>
            <a:pPr>
              <a:spcAft>
                <a:spcPts val="300"/>
              </a:spcAft>
              <a:defRPr sz="880">
                <a:solidFill>
                  <a:srgbClr val="1E242B"/>
                </a:solidFill>
                <a:latin typeface="Arial"/>
              </a:defRPr>
            </a:pPr>
            <a:r>
              <a:t>   • Trên Athena (sản lượng 1.000 máy/tháng), mỗi máy gắn 1 Raspberry Pi (8.000-12.000 JPY) cấp nguồn bằng Pin sạc dự phòng (9.600 JPY + hộp sạc 190.000 JPY) để đi kèm AGV; thực tế bị lỗi tắt nguồn/rớt mạng Wi-Fi 2-3 lần/tuần.</a:t>
            </a:r>
          </a:p>
          <a:p>
            <a:pPr>
              <a:spcAft>
                <a:spcPts val="300"/>
              </a:spcAft>
              <a:defRPr sz="880">
                <a:solidFill>
                  <a:srgbClr val="1E242B"/>
                </a:solidFill>
                <a:latin typeface="Arial"/>
              </a:defRPr>
            </a:pPr>
            <a:r>
              <a:t>   • Với Iris EXP (VN: 16.000 máy/tháng, CN: 2.700 máy/tháng), kỳ họp 連携会 lần 8 đã tạm quyết định chọn hệ thống Mini PC kiểu Spica (PC＆Spicaシステムに仮決定): cấp nguồn AC cố định, 1 Mini PC (~40.000 JPY) điều khiển 4 máy trong 1 Cell.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4: MỤC TIÊU</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Mục tiêu chương trình &amp; Đối chiếu thay đổi qua các kỳ họp 保証工程連携会</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4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Theo biên bản Kỳ 8, DR4, Kỳ 11-12 và tài liệu 24/09/2026: Mục tiêu "Tăng gấp đôi năng suất / giảm 50% nhân lực" từng tạm rút tại Kỳ 11, hiện được ghi nhận ở mức "Quyết định tạm thời (仮決定)".</a:t>
            </a:r>
          </a:p>
        </p:txBody>
      </p:sp>
      <p:graphicFrame>
        <p:nvGraphicFramePr>
          <p:cNvPr id="7" name="Table 6"/>
          <p:cNvGraphicFramePr>
            <a:graphicFrameLocks noGrp="1"/>
          </p:cNvGraphicFramePr>
          <p:nvPr/>
        </p:nvGraphicFramePr>
        <p:xfrm>
          <a:off x="274320" y="1243584"/>
          <a:ext cx="11643055" cy="3291840"/>
        </p:xfrm>
        <a:graphic>
          <a:graphicData uri="http://schemas.openxmlformats.org/drawingml/2006/table">
            <a:tbl>
              <a:tblPr firstRow="1" bandRow="1">
                <a:tableStyleId>{5C22544A-7EE6-4342-B048-85BDC9FD1C3A}</a:tableStyleId>
              </a:tblPr>
              <a:tblGrid>
                <a:gridCol w="1600200"/>
                <a:gridCol w="1965960"/>
                <a:gridCol w="1691640"/>
                <a:gridCol w="2057400"/>
                <a:gridCol w="2057400"/>
                <a:gridCol w="2270455"/>
              </a:tblGrid>
              <a:tr h="658368">
                <a:tc>
                  <a:txBody>
                    <a:bodyPr/>
                    <a:lstStyle/>
                    <a:p>
                      <a:pPr algn="ctr">
                        <a:defRPr sz="850" b="1">
                          <a:solidFill>
                            <a:srgbClr val="FFFFFF"/>
                          </a:solidFill>
                          <a:latin typeface="Arial"/>
                        </a:defRPr>
                      </a:pPr>
                      <a:r>
                        <a:t>Giai đoạn / Mốc họp</a:t>
                      </a:r>
                    </a:p>
                  </a:txBody>
                  <a:tcPr anchor="ctr" marL="45720" marR="45720" marT="18288" marB="18288">
                    <a:solidFill>
                      <a:srgbClr val="1B365D"/>
                    </a:solidFill>
                  </a:tcPr>
                </a:tc>
                <a:tc>
                  <a:txBody>
                    <a:bodyPr/>
                    <a:lstStyle/>
                    <a:p>
                      <a:pPr algn="ctr">
                        <a:defRPr sz="850" b="1">
                          <a:solidFill>
                            <a:srgbClr val="FFFFFF"/>
                          </a:solidFill>
                          <a:latin typeface="Arial"/>
                        </a:defRPr>
                      </a:pPr>
                      <a:r>
                        <a:t>Tài liệu nguồn đối chiếu</a:t>
                      </a:r>
                    </a:p>
                  </a:txBody>
                  <a:tcPr anchor="ctr" marL="45720" marR="45720" marT="18288" marB="18288">
                    <a:solidFill>
                      <a:srgbClr val="1B365D"/>
                    </a:solidFill>
                  </a:tcPr>
                </a:tc>
                <a:tc>
                  <a:txBody>
                    <a:bodyPr/>
                    <a:lstStyle/>
                    <a:p>
                      <a:pPr algn="ctr">
                        <a:defRPr sz="850" b="1">
                          <a:solidFill>
                            <a:srgbClr val="FFFFFF"/>
                          </a:solidFill>
                          <a:latin typeface="Arial"/>
                        </a:defRPr>
                      </a:pPr>
                      <a:r>
                        <a:t>Mục tiêu Năng suất &amp; Nhân lực</a:t>
                      </a:r>
                    </a:p>
                  </a:txBody>
                  <a:tcPr anchor="ctr" marL="45720" marR="45720" marT="18288" marB="18288">
                    <a:solidFill>
                      <a:srgbClr val="1B365D"/>
                    </a:solidFill>
                  </a:tcPr>
                </a:tc>
                <a:tc>
                  <a:txBody>
                    <a:bodyPr/>
                    <a:lstStyle/>
                    <a:p>
                      <a:pPr algn="ctr">
                        <a:defRPr sz="850" b="1">
                          <a:solidFill>
                            <a:srgbClr val="FFFFFF"/>
                          </a:solidFill>
                          <a:latin typeface="Arial"/>
                        </a:defRPr>
                      </a:pPr>
                      <a:r>
                        <a:t>Mục tiêu Thời gian thao tác</a:t>
                      </a:r>
                    </a:p>
                  </a:txBody>
                  <a:tcPr anchor="ctr" marL="45720" marR="45720" marT="18288" marB="18288">
                    <a:solidFill>
                      <a:srgbClr val="1B365D"/>
                    </a:solidFill>
                  </a:tcPr>
                </a:tc>
                <a:tc>
                  <a:txBody>
                    <a:bodyPr/>
                    <a:lstStyle/>
                    <a:p>
                      <a:pPr algn="ctr">
                        <a:defRPr sz="850" b="1">
                          <a:solidFill>
                            <a:srgbClr val="FFFFFF"/>
                          </a:solidFill>
                          <a:latin typeface="Arial"/>
                        </a:defRPr>
                      </a:pPr>
                      <a:r>
                        <a:t>Mục tiêu Hạng mục &amp; Số tờ in</a:t>
                      </a:r>
                    </a:p>
                  </a:txBody>
                  <a:tcPr anchor="ctr" marL="45720" marR="45720" marT="18288" marB="18288">
                    <a:solidFill>
                      <a:srgbClr val="1B365D"/>
                    </a:solidFill>
                  </a:tcPr>
                </a:tc>
                <a:tc>
                  <a:txBody>
                    <a:bodyPr/>
                    <a:lstStyle/>
                    <a:p>
                      <a:pPr algn="ctr">
                        <a:defRPr sz="850" b="1">
                          <a:solidFill>
                            <a:srgbClr val="FFFFFF"/>
                          </a:solidFill>
                          <a:latin typeface="Arial"/>
                        </a:defRPr>
                      </a:pPr>
                      <a:r>
                        <a:t>Trạng thái &amp; Ghi chú</a:t>
                      </a:r>
                    </a:p>
                  </a:txBody>
                  <a:tcPr anchor="ctr" marL="45720" marR="45720" marT="18288" marB="18288">
                    <a:solidFill>
                      <a:srgbClr val="1B365D"/>
                    </a:solidFill>
                  </a:tcPr>
                </a:tc>
              </a:tr>
              <a:tr h="658368">
                <a:tc>
                  <a:txBody>
                    <a:bodyPr/>
                    <a:lstStyle/>
                    <a:p>
                      <a:pPr algn="ctr">
                        <a:defRPr sz="800" b="1">
                          <a:solidFill>
                            <a:srgbClr val="1E242B"/>
                          </a:solidFill>
                          <a:latin typeface="Arial"/>
                        </a:defRPr>
                      </a:pPr>
                      <a:r>
                        <a:t>1. Khởi động</a:t>
                      </a:r>
                      <a:br/>
                      <a:r>
                        <a:t>(T6 - T7/2026)</a:t>
                      </a:r>
                    </a:p>
                  </a:txBody>
                  <a:tcPr anchor="ctr" marL="45720" marR="45720" marT="18288" marB="18288">
                    <a:solidFill>
                      <a:srgbClr val="FFFFFF"/>
                    </a:solidFill>
                  </a:tcPr>
                </a:tc>
                <a:tc>
                  <a:txBody>
                    <a:bodyPr/>
                    <a:lstStyle/>
                    <a:p>
                      <a:pPr algn="l">
                        <a:defRPr sz="800">
                          <a:solidFill>
                            <a:srgbClr val="1E242B"/>
                          </a:solidFill>
                          <a:latin typeface="Arial"/>
                        </a:defRPr>
                      </a:pPr>
                      <a:r>
                        <a:t>IrisEXP 保証工程検討資料 (第8回打ち合わせ資料).pptx (Slide 3, 17)</a:t>
                      </a:r>
                    </a:p>
                  </a:txBody>
                  <a:tcPr anchor="ctr" marL="45720" marR="45720" marT="18288" marB="18288">
                    <a:solidFill>
                      <a:srgbClr val="FFFFFF"/>
                    </a:solidFill>
                  </a:tcPr>
                </a:tc>
                <a:tc>
                  <a:txBody>
                    <a:bodyPr/>
                    <a:lstStyle/>
                    <a:p>
                      <a:pPr algn="l">
                        <a:defRPr sz="800">
                          <a:solidFill>
                            <a:srgbClr val="1E242B"/>
                          </a:solidFill>
                          <a:latin typeface="Arial"/>
                        </a:defRPr>
                      </a:pPr>
                      <a:r>
                        <a:t>Tăng năng suất +20% so với Iris2024</a:t>
                      </a:r>
                    </a:p>
                  </a:txBody>
                  <a:tcPr anchor="ctr" marL="45720" marR="45720" marT="18288" marB="18288">
                    <a:solidFill>
                      <a:srgbClr val="FFFFFF"/>
                    </a:solidFill>
                  </a:tcPr>
                </a:tc>
                <a:tc>
                  <a:txBody>
                    <a:bodyPr/>
                    <a:lstStyle/>
                    <a:p>
                      <a:pPr algn="l">
                        <a:defRPr sz="800">
                          <a:solidFill>
                            <a:srgbClr val="1E242B"/>
                          </a:solidFill>
                          <a:latin typeface="Arial"/>
                        </a:defRPr>
                      </a:pPr>
                      <a:r>
                        <a:t>Giảm thời gian thao tác tương ứng +20% năng suất</a:t>
                      </a:r>
                    </a:p>
                  </a:txBody>
                  <a:tcPr anchor="ctr" marL="45720" marR="45720" marT="18288" marB="18288">
                    <a:solidFill>
                      <a:srgbClr val="FFFFFF"/>
                    </a:solidFill>
                  </a:tcPr>
                </a:tc>
                <a:tc>
                  <a:txBody>
                    <a:bodyPr/>
                    <a:lstStyle/>
                    <a:p>
                      <a:pPr algn="l">
                        <a:defRPr sz="800">
                          <a:solidFill>
                            <a:srgbClr val="1E242B"/>
                          </a:solidFill>
                          <a:latin typeface="Arial"/>
                        </a:defRPr>
                      </a:pPr>
                      <a:r>
                        <a:t>Xóa hoặc tự động hóa &gt;= 3 hạng mục kiểm tra thủ công</a:t>
                      </a:r>
                    </a:p>
                  </a:txBody>
                  <a:tcPr anchor="ctr" marL="45720" marR="45720" marT="18288" marB="18288">
                    <a:solidFill>
                      <a:srgbClr val="FFFFFF"/>
                    </a:solidFill>
                  </a:tcPr>
                </a:tc>
                <a:tc>
                  <a:txBody>
                    <a:bodyPr/>
                    <a:lstStyle/>
                    <a:p>
                      <a:pPr algn="l">
                        <a:defRPr sz="800">
                          <a:solidFill>
                            <a:srgbClr val="1E242B"/>
                          </a:solidFill>
                          <a:latin typeface="Arial"/>
                        </a:defRPr>
                      </a:pPr>
                      <a:r>
                        <a:t>Mục tiêu ban đầu trước khi áp dụng cấu trúc Athena/Spica</a:t>
                      </a:r>
                    </a:p>
                  </a:txBody>
                  <a:tcPr anchor="ctr" marL="45720" marR="45720" marT="18288" marB="18288">
                    <a:solidFill>
                      <a:srgbClr val="FFFFFF"/>
                    </a:solidFill>
                  </a:tcPr>
                </a:tc>
              </a:tr>
              <a:tr h="658368">
                <a:tc>
                  <a:txBody>
                    <a:bodyPr/>
                    <a:lstStyle/>
                    <a:p>
                      <a:pPr algn="ctr">
                        <a:defRPr sz="800" b="1">
                          <a:solidFill>
                            <a:srgbClr val="1E242B"/>
                          </a:solidFill>
                          <a:latin typeface="Arial"/>
                        </a:defRPr>
                      </a:pPr>
                      <a:r>
                        <a:t>2. Đánh giá DR4 &amp;</a:t>
                      </a:r>
                      <a:br/>
                      <a:r>
                        <a:t>Biểu PDCA KDTVN</a:t>
                      </a:r>
                      <a:br/>
                      <a:r>
                        <a:t>(06/08/2026)</a:t>
                      </a:r>
                    </a:p>
                  </a:txBody>
                  <a:tcPr anchor="ctr" marL="45720" marR="45720" marT="18288" marB="18288">
                    <a:solidFill>
                      <a:srgbClr val="F7F9FC"/>
                    </a:solidFill>
                  </a:tcPr>
                </a:tc>
                <a:tc>
                  <a:txBody>
                    <a:bodyPr/>
                    <a:lstStyle/>
                    <a:p>
                      <a:pPr algn="l">
                        <a:defRPr sz="800">
                          <a:solidFill>
                            <a:srgbClr val="1E242B"/>
                          </a:solidFill>
                          <a:latin typeface="Arial"/>
                        </a:defRPr>
                      </a:pPr>
                      <a:r>
                        <a:t>海外工場連携用20260806.pptx (S2);</a:t>
                      </a:r>
                      <a:br/>
                      <a:r>
                        <a:t>IrisEXP開発目標(後藤作成) 1.xlsx;</a:t>
                      </a:r>
                      <a:br/>
                      <a:r>
                        <a:t>KDTVN-A-QA-QA-BM-003-F (T7-T10)</a:t>
                      </a:r>
                    </a:p>
                  </a:txBody>
                  <a:tcPr anchor="ctr" marL="45720" marR="45720" marT="18288" marB="18288">
                    <a:solidFill>
                      <a:srgbClr val="F7F9FC"/>
                    </a:solidFill>
                  </a:tcPr>
                </a:tc>
                <a:tc>
                  <a:txBody>
                    <a:bodyPr/>
                    <a:lstStyle/>
                    <a:p>
                      <a:pPr algn="l">
                        <a:defRPr sz="800">
                          <a:solidFill>
                            <a:srgbClr val="1E242B"/>
                          </a:solidFill>
                          <a:latin typeface="Arial"/>
                        </a:defRPr>
                      </a:pPr>
                      <a:r>
                        <a:t>Tăng gấp đôi năng suất (x2);</a:t>
                      </a:r>
                      <a:br/>
                      <a:r>
                        <a:t>Nhân lực VN: 18 người -&gt; 9 người (A-1: 4 người -&gt; 3 người)</a:t>
                      </a:r>
                    </a:p>
                  </a:txBody>
                  <a:tcPr anchor="ctr" marL="45720" marR="45720" marT="18288" marB="18288">
                    <a:solidFill>
                      <a:srgbClr val="F7F9FC"/>
                    </a:solidFill>
                  </a:tcPr>
                </a:tc>
                <a:tc>
                  <a:txBody>
                    <a:bodyPr/>
                    <a:lstStyle/>
                    <a:p>
                      <a:pPr algn="l">
                        <a:defRPr sz="800">
                          <a:solidFill>
                            <a:srgbClr val="1E242B"/>
                          </a:solidFill>
                          <a:latin typeface="Arial"/>
                        </a:defRPr>
                      </a:pPr>
                      <a:r>
                        <a:t>Giảm &gt;= 50% thời gian thao tác:</a:t>
                      </a:r>
                      <a:br/>
                      <a:r>
                        <a:t>• VN: giảm &gt;=1.175s / 2.350s (hạn 03/2027)</a:t>
                      </a:r>
                      <a:br/>
                      <a:r>
                        <a:t>• JP: giảm 50% so với Iris2024</a:t>
                      </a:r>
                    </a:p>
                  </a:txBody>
                  <a:tcPr anchor="ctr" marL="45720" marR="45720" marT="18288" marB="18288">
                    <a:solidFill>
                      <a:srgbClr val="F7F9FC"/>
                    </a:solidFill>
                  </a:tcPr>
                </a:tc>
                <a:tc>
                  <a:txBody>
                    <a:bodyPr/>
                    <a:lstStyle/>
                    <a:p>
                      <a:pPr algn="l">
                        <a:defRPr sz="800">
                          <a:solidFill>
                            <a:srgbClr val="1E242B"/>
                          </a:solidFill>
                          <a:latin typeface="Arial"/>
                        </a:defRPr>
                      </a:pPr>
                      <a:r>
                        <a:t>① Xóa/giảm 1/2 công sức &gt;= 3 mục kiểm tra thủ công (WTB, Belt, Điện)</a:t>
                      </a:r>
                      <a:br/>
                      <a:r>
                        <a:t>② Giảm 1/2 số tờ in: Print 17 -&gt; 9 tờ; Copy 2 -&gt; 1 tờ</a:t>
                      </a:r>
                    </a:p>
                  </a:txBody>
                  <a:tcPr anchor="ctr" marL="45720" marR="45720" marT="18288" marB="18288">
                    <a:solidFill>
                      <a:srgbClr val="F7F9FC"/>
                    </a:solidFill>
                  </a:tcPr>
                </a:tc>
                <a:tc>
                  <a:txBody>
                    <a:bodyPr/>
                    <a:lstStyle/>
                    <a:p>
                      <a:pPr algn="l">
                        <a:defRPr sz="800">
                          <a:solidFill>
                            <a:srgbClr val="1E242B"/>
                          </a:solidFill>
                          <a:latin typeface="Arial"/>
                        </a:defRPr>
                      </a:pPr>
                      <a:r>
                        <a:t>Đưa ra tại DR4 và đăng ký làm Mục tiêu chất lượng phòng KTCT VN (KDTVN-PE-③)</a:t>
                      </a:r>
                    </a:p>
                  </a:txBody>
                  <a:tcPr anchor="ctr" marL="45720" marR="45720" marT="18288" marB="18288">
                    <a:solidFill>
                      <a:srgbClr val="F7F9FC"/>
                    </a:solidFill>
                  </a:tcPr>
                </a:tc>
              </a:tr>
              <a:tr h="658368">
                <a:tc>
                  <a:txBody>
                    <a:bodyPr/>
                    <a:lstStyle/>
                    <a:p>
                      <a:pPr algn="ctr">
                        <a:defRPr sz="800" b="1">
                          <a:solidFill>
                            <a:srgbClr val="1E242B"/>
                          </a:solidFill>
                          <a:latin typeface="Arial"/>
                        </a:defRPr>
                      </a:pPr>
                      <a:r>
                        <a:t>3. Họp 連携会</a:t>
                      </a:r>
                      <a:br/>
                      <a:r>
                        <a:t>Lần 11 &amp; 12</a:t>
                      </a:r>
                      <a:br/>
                      <a:r>
                        <a:t>(10/09/2026)</a:t>
                      </a:r>
                    </a:p>
                  </a:txBody>
                  <a:tcPr anchor="ctr" marL="45720" marR="45720" marT="18288" marB="18288">
                    <a:solidFill>
                      <a:srgbClr val="FDEDEC"/>
                    </a:solidFill>
                  </a:tcPr>
                </a:tc>
                <a:tc>
                  <a:txBody>
                    <a:bodyPr/>
                    <a:lstStyle/>
                    <a:p>
                      <a:pPr algn="l">
                        <a:defRPr sz="800">
                          <a:solidFill>
                            <a:srgbClr val="1E242B"/>
                          </a:solidFill>
                          <a:latin typeface="Arial"/>
                        </a:defRPr>
                      </a:pPr>
                      <a:r>
                        <a:t>第11回 開発目標決定～前半～.txt (Dòng 2214);</a:t>
                      </a:r>
                      <a:br/>
                      <a:r>
                        <a:t>第11・12回 開発目標決定.pptx (Slide 5)</a:t>
                      </a:r>
                    </a:p>
                  </a:txBody>
                  <a:tcPr anchor="ctr" marL="45720" marR="45720" marT="18288" marB="18288">
                    <a:solidFill>
                      <a:srgbClr val="FDEDEC"/>
                    </a:solidFill>
                  </a:tcPr>
                </a:tc>
                <a:tc>
                  <a:txBody>
                    <a:bodyPr/>
                    <a:lstStyle/>
                    <a:p>
                      <a:pPr algn="l">
                        <a:defRPr sz="800">
                          <a:solidFill>
                            <a:srgbClr val="1E242B"/>
                          </a:solidFill>
                          <a:latin typeface="Arial"/>
                        </a:defRPr>
                      </a:pPr>
                      <a:r>
                        <a:t>Ông Goto (後藤) tạm rút con số "Năng suất x2 / Giảm 1/2 người" khỏi cam kết chính thức</a:t>
                      </a:r>
                    </a:p>
                  </a:txBody>
                  <a:tcPr anchor="ctr" marL="45720" marR="45720" marT="18288" marB="18288">
                    <a:solidFill>
                      <a:srgbClr val="FDEDEC"/>
                    </a:solidFill>
                  </a:tcPr>
                </a:tc>
                <a:tc>
                  <a:txBody>
                    <a:bodyPr/>
                    <a:lstStyle/>
                    <a:p>
                      <a:pPr algn="l">
                        <a:defRPr sz="800">
                          <a:solidFill>
                            <a:srgbClr val="1E242B"/>
                          </a:solidFill>
                          <a:latin typeface="Arial"/>
                        </a:defRPr>
                      </a:pPr>
                      <a:r>
                        <a:t>Mới xác nhận giảm chắc chắn được một phần (trên 工程表 mới giảm ~14% so với chưa cải tiến)</a:t>
                      </a:r>
                    </a:p>
                  </a:txBody>
                  <a:tcPr anchor="ctr" marL="45720" marR="45720" marT="18288" marB="18288">
                    <a:solidFill>
                      <a:srgbClr val="FDEDEC"/>
                    </a:solidFill>
                  </a:tcPr>
                </a:tc>
                <a:tc>
                  <a:txBody>
                    <a:bodyPr/>
                    <a:lstStyle/>
                    <a:p>
                      <a:pPr algn="l">
                        <a:defRPr sz="800">
                          <a:solidFill>
                            <a:srgbClr val="1E242B"/>
                          </a:solidFill>
                          <a:latin typeface="Arial"/>
                        </a:defRPr>
                      </a:pPr>
                      <a:r>
                        <a:t>Giữ nguyên mục tiêu:</a:t>
                      </a:r>
                      <a:br/>
                      <a:r>
                        <a:t>• Xóa/giảm &gt;= 3 mục kiểm tra</a:t>
                      </a:r>
                      <a:br/>
                      <a:r>
                        <a:t>• Giảm 1/2 mẫu in (Print 17-&gt;9, Copy 2-&gt;1)</a:t>
                      </a:r>
                    </a:p>
                  </a:txBody>
                  <a:tcPr anchor="ctr" marL="45720" marR="45720" marT="18288" marB="18288">
                    <a:solidFill>
                      <a:srgbClr val="FDEDEC"/>
                    </a:solidFill>
                  </a:tcPr>
                </a:tc>
                <a:tc>
                  <a:txBody>
                    <a:bodyPr/>
                    <a:lstStyle/>
                    <a:p>
                      <a:pPr algn="l">
                        <a:defRPr sz="800">
                          <a:solidFill>
                            <a:srgbClr val="1E242B"/>
                          </a:solidFill>
                          <a:latin typeface="Arial"/>
                        </a:defRPr>
                      </a:pPr>
                      <a:r>
                        <a:t>Tạm rút khỏi mục tiêu chính thức tại Kỳ 11 do chưa đủ đối sách cắt giảm đủ 50%</a:t>
                      </a:r>
                    </a:p>
                  </a:txBody>
                  <a:tcPr anchor="ctr" marL="45720" marR="45720" marT="18288" marB="18288">
                    <a:solidFill>
                      <a:srgbClr val="FDEDEC"/>
                    </a:solidFill>
                  </a:tcPr>
                </a:tc>
              </a:tr>
              <a:tr h="658368">
                <a:tc>
                  <a:txBody>
                    <a:bodyPr/>
                    <a:lstStyle/>
                    <a:p>
                      <a:pPr algn="ctr">
                        <a:defRPr sz="800" b="1">
                          <a:solidFill>
                            <a:srgbClr val="1E242B"/>
                          </a:solidFill>
                          <a:latin typeface="Arial"/>
                        </a:defRPr>
                      </a:pPr>
                      <a:r>
                        <a:t>4. Cập nhật mới nhất</a:t>
                      </a:r>
                      <a:br/>
                      <a:r>
                        <a:t>(24/09 - 15/10/2026</a:t>
                      </a:r>
                      <a:br/>
                      <a:r>
                        <a:t>Kỳ 14 ~ 17)</a:t>
                      </a:r>
                    </a:p>
                  </a:txBody>
                  <a:tcPr anchor="ctr" marL="45720" marR="45720" marT="18288" marB="18288">
                    <a:solidFill>
                      <a:srgbClr val="EAF7EE"/>
                    </a:solidFill>
                  </a:tcPr>
                </a:tc>
                <a:tc>
                  <a:txBody>
                    <a:bodyPr/>
                    <a:lstStyle/>
                    <a:p>
                      <a:pPr algn="l">
                        <a:defRPr sz="800">
                          <a:solidFill>
                            <a:srgbClr val="1E242B"/>
                          </a:solidFill>
                          <a:latin typeface="Arial"/>
                        </a:defRPr>
                      </a:pPr>
                      <a:r>
                        <a:t>2026年9月24日打ち合わせ資料 開発目標と変化点の整理.pptx (Slide 1-2);</a:t>
                      </a:r>
                      <a:br/>
                      <a:r>
                        <a:t>連携会 第14回 ~ 第17回.pptx</a:t>
                      </a:r>
                    </a:p>
                  </a:txBody>
                  <a:tcPr anchor="ctr" marL="45720" marR="45720" marT="18288" marB="18288">
                    <a:solidFill>
                      <a:srgbClr val="EAF7EE"/>
                    </a:solidFill>
                  </a:tcPr>
                </a:tc>
                <a:tc>
                  <a:txBody>
                    <a:bodyPr/>
                    <a:lstStyle/>
                    <a:p>
                      <a:pPr algn="l">
                        <a:defRPr sz="800">
                          <a:solidFill>
                            <a:srgbClr val="1E242B"/>
                          </a:solidFill>
                          <a:latin typeface="Arial"/>
                        </a:defRPr>
                      </a:pPr>
                      <a:r>
                        <a:t>Ghi nhận là "Quyết định tạm thời (仮決定)": Năng suất gấp 2 lần (Chờ PE Leader 滕さん chốt số cuối)</a:t>
                      </a:r>
                    </a:p>
                  </a:txBody>
                  <a:tcPr anchor="ctr" marL="45720" marR="45720" marT="18288" marB="18288">
                    <a:solidFill>
                      <a:srgbClr val="EAF7EE"/>
                    </a:solidFill>
                  </a:tcPr>
                </a:tc>
                <a:tc>
                  <a:txBody>
                    <a:bodyPr/>
                    <a:lstStyle/>
                    <a:p>
                      <a:pPr algn="l">
                        <a:defRPr sz="800">
                          <a:solidFill>
                            <a:srgbClr val="1E242B"/>
                          </a:solidFill>
                          <a:latin typeface="Arial"/>
                        </a:defRPr>
                      </a:pPr>
                      <a:r>
                        <a:t>Quyết định tạm thời (仮決定): Thời gian thao tác giảm 1/2 so với Iris2024</a:t>
                      </a:r>
                    </a:p>
                  </a:txBody>
                  <a:tcPr anchor="ctr" marL="45720" marR="45720" marT="18288" marB="18288">
                    <a:solidFill>
                      <a:srgbClr val="EAF7EE"/>
                    </a:solidFill>
                  </a:tcPr>
                </a:tc>
                <a:tc>
                  <a:txBody>
                    <a:bodyPr/>
                    <a:lstStyle/>
                    <a:p>
                      <a:pPr algn="l">
                        <a:defRPr sz="800">
                          <a:solidFill>
                            <a:srgbClr val="1E242B"/>
                          </a:solidFill>
                          <a:latin typeface="Arial"/>
                        </a:defRPr>
                      </a:pPr>
                      <a:r>
                        <a:t>• Giảm 1/2 mẫu in Print (仮決定)</a:t>
                      </a:r>
                      <a:br/>
                      <a:r>
                        <a:t>• Năng lực công đoạn khi MP: Cpk &gt;= 1,33 (仮決定)</a:t>
                      </a:r>
                    </a:p>
                  </a:txBody>
                  <a:tcPr anchor="ctr" marL="45720" marR="45720" marT="18288" marB="18288">
                    <a:solidFill>
                      <a:srgbClr val="EAF7EE"/>
                    </a:solidFill>
                  </a:tcPr>
                </a:tc>
                <a:tc>
                  <a:txBody>
                    <a:bodyPr/>
                    <a:lstStyle/>
                    <a:p>
                      <a:pPr algn="l">
                        <a:defRPr sz="800">
                          <a:solidFill>
                            <a:srgbClr val="1E242B"/>
                          </a:solidFill>
                          <a:latin typeface="Arial"/>
                        </a:defRPr>
                      </a:pPr>
                      <a:r>
                        <a:t>Đang giữ ở mức "Quyết định tạm thời (仮決定)", chờ PE Leader xác nhận cuối cùng</a:t>
                      </a:r>
                    </a:p>
                  </a:txBody>
                  <a:tcPr anchor="ctr" marL="45720" marR="45720" marT="18288" marB="18288">
                    <a:solidFill>
                      <a:srgbClr val="EAF7EE"/>
                    </a:solidFill>
                  </a:tcPr>
                </a:tc>
              </a:tr>
            </a:tbl>
          </a:graphicData>
        </a:graphic>
      </p:graphicFrame>
      <p:sp>
        <p:nvSpPr>
          <p:cNvPr id="8" name="Rectangle 7"/>
          <p:cNvSpPr/>
          <p:nvPr/>
        </p:nvSpPr>
        <p:spPr>
          <a:xfrm>
            <a:off x="274320" y="4645152"/>
            <a:ext cx="5687568" cy="1828800"/>
          </a:xfrm>
          <a:prstGeom prst="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4645152"/>
            <a:ext cx="5687568" cy="31089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CÁC MỤC TIÊU KỸ THUẬT CHÍNH THỨC ĐANG TRIỂN KHAI (ĐÃ THỐNG NHẤT 3 CỨ ĐIỂM)</a:t>
            </a:r>
          </a:p>
        </p:txBody>
      </p:sp>
      <p:sp>
        <p:nvSpPr>
          <p:cNvPr id="10" name="TextBox 9"/>
          <p:cNvSpPr txBox="1"/>
          <p:nvPr/>
        </p:nvSpPr>
        <p:spPr>
          <a:xfrm>
            <a:off x="347472" y="4974336"/>
            <a:ext cx="5541264" cy="1463040"/>
          </a:xfrm>
          <a:prstGeom prst="rect">
            <a:avLst/>
          </a:prstGeom>
          <a:noFill/>
        </p:spPr>
        <p:txBody>
          <a:bodyPr wrap="square" lIns="36576" rIns="36576" tIns="18288" bIns="18288">
            <a:spAutoFit/>
          </a:bodyPr>
          <a:lstStyle/>
          <a:p>
            <a:pPr>
              <a:spcAft>
                <a:spcPts val="200"/>
              </a:spcAft>
              <a:defRPr sz="800" b="1">
                <a:solidFill>
                  <a:srgbClr val="1E242B"/>
                </a:solidFill>
                <a:latin typeface="Arial"/>
              </a:defRPr>
            </a:pPr>
            <a:r>
              <a:t>✔ 1. Xóa hoặc giảm &gt;=1/2 thời gian cho ít nhất 3 hạng mục kiểm tra thủ công từ Iris2024:</a:t>
            </a:r>
          </a:p>
          <a:p>
            <a:pPr>
              <a:spcAft>
                <a:spcPts val="200"/>
              </a:spcAft>
              <a:defRPr sz="800">
                <a:solidFill>
                  <a:srgbClr val="1E242B"/>
                </a:solidFill>
                <a:latin typeface="Arial"/>
              </a:defRPr>
            </a:pPr>
            <a:r>
              <a:t>   • Hạng mục 1: Xóa cài đặt ngưỡng hộp mực thải WTB U155 (Đề án JP No.2 / VN No.30, giảm 29,16s chuẩn / 60s tại K1 VN).</a:t>
            </a:r>
          </a:p>
          <a:p>
            <a:pPr>
              <a:spcAft>
                <a:spcPts val="200"/>
              </a:spcAft>
              <a:defRPr sz="800">
                <a:solidFill>
                  <a:srgbClr val="1E242B"/>
                </a:solidFill>
                <a:latin typeface="Arial"/>
              </a:defRPr>
            </a:pPr>
            <a:r>
              <a:t>   • Hạng mục 2: Xóa kiểm tra lại tọa độ Panel U201 bằng tay, chuyển sang đối chiếu log Host PC (JP No.3, 削除確定 giảm 15,12s).</a:t>
            </a:r>
          </a:p>
          <a:p>
            <a:pPr>
              <a:spcAft>
                <a:spcPts val="200"/>
              </a:spcAft>
              <a:defRPr sz="800">
                <a:solidFill>
                  <a:srgbClr val="1E242B"/>
                </a:solidFill>
                <a:latin typeface="Arial"/>
              </a:defRPr>
            </a:pPr>
            <a:r>
              <a:t>   • Hạng mục 3: Xóa kiểm tra nhận diện khổ giấy/lượng giấy Cassette 1/2 thủ công (VN No.34, giảm 66,68s) và kiểm tra cảm biến người/công tắc cửa.</a:t>
            </a:r>
          </a:p>
          <a:p>
            <a:pPr>
              <a:spcAft>
                <a:spcPts val="200"/>
              </a:spcAft>
              <a:defRPr sz="800" b="1">
                <a:solidFill>
                  <a:srgbClr val="1E242B"/>
                </a:solidFill>
                <a:latin typeface="Arial"/>
              </a:defRPr>
            </a:pPr>
            <a:r>
              <a:t>✔ 2. Giảm 1/2 số tờ in kiểm tra: Print giảm từ 17 tờ xuống 9 tờ (gộp RC9+RCG, bỏ Calibration Process...); Copy giảm từ 2 tờ xuống 1 tờ (gộp DC-1 + Gray).</a:t>
            </a:r>
          </a:p>
        </p:txBody>
      </p:sp>
      <p:sp>
        <p:nvSpPr>
          <p:cNvPr id="11" name="Rectangle 10"/>
          <p:cNvSpPr/>
          <p:nvPr/>
        </p:nvSpPr>
        <p:spPr>
          <a:xfrm>
            <a:off x="6227064" y="4645152"/>
            <a:ext cx="5687568" cy="1828800"/>
          </a:xfrm>
          <a:prstGeom prst="rect">
            <a:avLst/>
          </a:prstGeom>
          <a:solidFill>
            <a:srgbClr val="FEF7E6"/>
          </a:solidFill>
          <a:ln w="12700">
            <a:solidFill>
              <a:srgbClr val="B96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27064" y="4645152"/>
            <a:ext cx="5687568" cy="310896"/>
          </a:xfrm>
          <a:prstGeom prst="rect">
            <a:avLst/>
          </a:prstGeom>
          <a:solidFill>
            <a:srgbClr val="B96800"/>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LƯU Ý VỀ CHỈ TIÊU GIẢM 50% THỜI GIAN GIỮA CÔNG TY MẸ (JP) VÀ NHÀ MÁY VIỆT NAM</a:t>
            </a:r>
          </a:p>
        </p:txBody>
      </p:sp>
      <p:sp>
        <p:nvSpPr>
          <p:cNvPr id="13" name="TextBox 12"/>
          <p:cNvSpPr txBox="1"/>
          <p:nvPr/>
        </p:nvSpPr>
        <p:spPr>
          <a:xfrm>
            <a:off x="6300216" y="4974336"/>
            <a:ext cx="5541264" cy="1463040"/>
          </a:xfrm>
          <a:prstGeom prst="rect">
            <a:avLst/>
          </a:prstGeom>
          <a:noFill/>
        </p:spPr>
        <p:txBody>
          <a:bodyPr wrap="square" lIns="36576" rIns="36576" tIns="18288" bIns="18288">
            <a:spAutoFit/>
          </a:bodyPr>
          <a:lstStyle/>
          <a:p>
            <a:pPr>
              <a:spcAft>
                <a:spcPts val="200"/>
              </a:spcAft>
              <a:defRPr sz="800" b="1">
                <a:solidFill>
                  <a:srgbClr val="1E242B"/>
                </a:solidFill>
                <a:latin typeface="Arial"/>
              </a:defRPr>
            </a:pPr>
            <a:r>
              <a:t>⚠ 1. Lý do Kỳ 11 tạm rút mục tiêu "Giảm 50% nhân lực / Năng suất x2" khỏi cam kết chính thức:</a:t>
            </a:r>
          </a:p>
          <a:p>
            <a:pPr>
              <a:spcAft>
                <a:spcPts val="200"/>
              </a:spcAft>
              <a:defRPr sz="800">
                <a:solidFill>
                  <a:srgbClr val="1E242B"/>
                </a:solidFill>
                <a:latin typeface="Arial"/>
              </a:defRPr>
            </a:pPr>
            <a:r>
              <a:t>   • Trên bảng tính chuẩn JP (既存機との工数比較), tổng thời gian thao tác tay mới giảm từ 1.260,70s xuống 1.083,86s (-176,84s = -14,0%), hoặc tính toàn bộ các dòng đánh dấu xóa (削) là -267,74s (-21,2%), chưa đủ 50% nếu chỉ dựa vào việc xóa bước.</a:t>
            </a:r>
          </a:p>
          <a:p>
            <a:pPr>
              <a:spcAft>
                <a:spcPts val="200"/>
              </a:spcAft>
              <a:defRPr sz="800" b="1">
                <a:solidFill>
                  <a:srgbClr val="1E242B"/>
                </a:solidFill>
                <a:latin typeface="Arial"/>
              </a:defRPr>
            </a:pPr>
            <a:r>
              <a:t>⚠ 2. Kế hoạch thực hiện tại nhà máy Việt Nam (KDTVN):</a:t>
            </a:r>
          </a:p>
          <a:p>
            <a:pPr>
              <a:spcAft>
                <a:spcPts val="200"/>
              </a:spcAft>
              <a:defRPr sz="800">
                <a:solidFill>
                  <a:srgbClr val="1E242B"/>
                </a:solidFill>
                <a:latin typeface="Arial"/>
              </a:defRPr>
            </a:pPr>
            <a:r>
              <a:t>   • Trong biểu mục tiêu chất lượng nội bộ (KDTVN-A-QA-QA-BM-003-F), phòng KTCT VN vẫn đặt mục tiêu giảm &gt;=50% (1.175s / 2.350s) vào tháng 03/2027 nhờ kết hợp 20 đề án tự động hóa của VN với các đề án xóa bước của JP/CN.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5.1: ĐỀ ÁN VN</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Tổng quan 20 đề án Việt Nam trong tổng số 38 đề án toàn chương trình (Tách riêng với JP &amp; CN)</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5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Nhà máy Việt Nam đề xuất 20 đề án (11 đề án tháng 8 + 9 đề án bổ sung tháng 9) cùng phương án nạp FW tại Partner; tổng thời gian có thể giảm của riêng đề án VN là ~599,32s-611,32s/máy.</a:t>
            </a:r>
          </a:p>
        </p:txBody>
      </p:sp>
      <p:pic>
        <p:nvPicPr>
          <p:cNvPr id="7" name="Picture 6" descr="chart_s5_overview.png"/>
          <p:cNvPicPr>
            <a:picLocks noChangeAspect="1"/>
          </p:cNvPicPr>
          <p:nvPr/>
        </p:nvPicPr>
        <p:blipFill>
          <a:blip r:embed="rId2"/>
          <a:stretch>
            <a:fillRect/>
          </a:stretch>
        </p:blipFill>
        <p:spPr>
          <a:xfrm>
            <a:off x="274320" y="1243584"/>
            <a:ext cx="5623560" cy="2539672"/>
          </a:xfrm>
          <a:prstGeom prst="rect">
            <a:avLst/>
          </a:prstGeom>
        </p:spPr>
      </p:pic>
      <p:graphicFrame>
        <p:nvGraphicFramePr>
          <p:cNvPr id="8" name="Table 7"/>
          <p:cNvGraphicFramePr>
            <a:graphicFrameLocks noGrp="1"/>
          </p:cNvGraphicFramePr>
          <p:nvPr/>
        </p:nvGraphicFramePr>
        <p:xfrm>
          <a:off x="5989320" y="1243584"/>
          <a:ext cx="5928055" cy="2514600"/>
        </p:xfrm>
        <a:graphic>
          <a:graphicData uri="http://schemas.openxmlformats.org/drawingml/2006/table">
            <a:tbl>
              <a:tblPr firstRow="1" bandRow="1">
                <a:tableStyleId>{5C22544A-7EE6-4342-B048-85BDC9FD1C3A}</a:tableStyleId>
              </a:tblPr>
              <a:tblGrid>
                <a:gridCol w="1051560"/>
                <a:gridCol w="1417320"/>
                <a:gridCol w="1143000"/>
                <a:gridCol w="1143000"/>
                <a:gridCol w="1173175"/>
              </a:tblGrid>
              <a:tr h="359228">
                <a:tc>
                  <a:txBody>
                    <a:bodyPr/>
                    <a:lstStyle/>
                    <a:p>
                      <a:pPr algn="ctr">
                        <a:defRPr sz="800" b="1">
                          <a:solidFill>
                            <a:srgbClr val="FFFFFF"/>
                          </a:solidFill>
                          <a:latin typeface="Arial"/>
                        </a:defRPr>
                      </a:pPr>
                      <a:r>
                        <a:t>Cụm công đoạn</a:t>
                      </a:r>
                    </a:p>
                  </a:txBody>
                  <a:tcPr anchor="ctr" marL="45720" marR="45720" marT="18288" marB="18288">
                    <a:solidFill>
                      <a:srgbClr val="1B365D"/>
                    </a:solidFill>
                  </a:tcPr>
                </a:tc>
                <a:tc>
                  <a:txBody>
                    <a:bodyPr/>
                    <a:lstStyle/>
                    <a:p>
                      <a:pPr algn="ctr">
                        <a:defRPr sz="800" b="1">
                          <a:solidFill>
                            <a:srgbClr val="FFFFFF"/>
                          </a:solidFill>
                          <a:latin typeface="Arial"/>
                        </a:defRPr>
                      </a:pPr>
                      <a:r>
                        <a:t>Mã đề án VN (No.18~37)</a:t>
                      </a:r>
                    </a:p>
                  </a:txBody>
                  <a:tcPr anchor="ctr" marL="45720" marR="45720" marT="18288" marB="18288">
                    <a:solidFill>
                      <a:srgbClr val="1B365D"/>
                    </a:solidFill>
                  </a:tcPr>
                </a:tc>
                <a:tc>
                  <a:txBody>
                    <a:bodyPr/>
                    <a:lstStyle/>
                    <a:p>
                      <a:pPr algn="ctr">
                        <a:defRPr sz="800" b="1">
                          <a:solidFill>
                            <a:srgbClr val="FFFFFF"/>
                          </a:solidFill>
                          <a:latin typeface="Arial"/>
                        </a:defRPr>
                      </a:pPr>
                      <a:r>
                        <a:t>TG hiện tại (VN)</a:t>
                      </a:r>
                    </a:p>
                  </a:txBody>
                  <a:tcPr anchor="ctr" marL="45720" marR="45720" marT="18288" marB="18288">
                    <a:solidFill>
                      <a:srgbClr val="1B365D"/>
                    </a:solidFill>
                  </a:tcPr>
                </a:tc>
                <a:tc>
                  <a:txBody>
                    <a:bodyPr/>
                    <a:lstStyle/>
                    <a:p>
                      <a:pPr algn="ctr">
                        <a:defRPr sz="800" b="1">
                          <a:solidFill>
                            <a:srgbClr val="FFFFFF"/>
                          </a:solidFill>
                          <a:latin typeface="Arial"/>
                        </a:defRPr>
                      </a:pPr>
                      <a:r>
                        <a:t>TG giảm kỳ vọng</a:t>
                      </a:r>
                    </a:p>
                  </a:txBody>
                  <a:tcPr anchor="ctr" marL="45720" marR="45720" marT="18288" marB="18288">
                    <a:solidFill>
                      <a:srgbClr val="1B365D"/>
                    </a:solidFill>
                  </a:tcPr>
                </a:tc>
                <a:tc>
                  <a:txBody>
                    <a:bodyPr/>
                    <a:lstStyle/>
                    <a:p>
                      <a:pPr algn="ctr">
                        <a:defRPr sz="800" b="1">
                          <a:solidFill>
                            <a:srgbClr val="FFFFFF"/>
                          </a:solidFill>
                          <a:latin typeface="Arial"/>
                        </a:defRPr>
                      </a:pPr>
                      <a:r>
                        <a:t>Trạng thái ngân sách</a:t>
                      </a:r>
                    </a:p>
                  </a:txBody>
                  <a:tcPr anchor="ctr" marL="45720" marR="45720" marT="18288" marB="18288">
                    <a:solidFill>
                      <a:srgbClr val="1B365D"/>
                    </a:solidFill>
                  </a:tcPr>
                </a:tc>
              </a:tr>
              <a:tr h="359228">
                <a:tc>
                  <a:txBody>
                    <a:bodyPr/>
                    <a:lstStyle/>
                    <a:p>
                      <a:pPr algn="ctr">
                        <a:defRPr sz="760" b="1">
                          <a:solidFill>
                            <a:srgbClr val="1E242B"/>
                          </a:solidFill>
                          <a:latin typeface="Arial"/>
                        </a:defRPr>
                      </a:pPr>
                      <a:r>
                        <a:t>K1 -&gt; A-1</a:t>
                      </a:r>
                      <a:br/>
                      <a:r>
                        <a:t>(Nạp FW, TLBĐ)</a:t>
                      </a:r>
                    </a:p>
                  </a:txBody>
                  <a:tcPr anchor="ctr" marL="45720" marR="45720" marT="18288" marB="18288">
                    <a:solidFill>
                      <a:srgbClr val="FFFFFF"/>
                    </a:solidFill>
                  </a:tcPr>
                </a:tc>
                <a:tc>
                  <a:txBody>
                    <a:bodyPr/>
                    <a:lstStyle/>
                    <a:p>
                      <a:pPr algn="l">
                        <a:defRPr sz="760">
                          <a:solidFill>
                            <a:srgbClr val="1E242B"/>
                          </a:solidFill>
                          <a:latin typeface="Arial"/>
                        </a:defRPr>
                      </a:pPr>
                      <a:r>
                        <a:t>No.18, 19, 20, 29, 30</a:t>
                      </a:r>
                      <a:br/>
                      <a:r>
                        <a:t>+ Nạp FW Partner + T10</a:t>
                      </a:r>
                    </a:p>
                  </a:txBody>
                  <a:tcPr anchor="ctr" marL="45720" marR="45720" marT="18288" marB="18288">
                    <a:solidFill>
                      <a:srgbClr val="FFFFFF"/>
                    </a:solidFill>
                  </a:tcPr>
                </a:tc>
                <a:tc>
                  <a:txBody>
                    <a:bodyPr/>
                    <a:lstStyle/>
                    <a:p>
                      <a:pPr algn="ctr">
                        <a:defRPr sz="760">
                          <a:solidFill>
                            <a:srgbClr val="1E242B"/>
                          </a:solidFill>
                          <a:latin typeface="Arial"/>
                        </a:defRPr>
                      </a:pPr>
                      <a:r>
                        <a:t>295,00 s</a:t>
                      </a:r>
                      <a:br/>
                      <a:r>
                        <a:t>(1 người)</a:t>
                      </a:r>
                    </a:p>
                  </a:txBody>
                  <a:tcPr anchor="ctr" marL="45720" marR="45720" marT="18288" marB="18288">
                    <a:solidFill>
                      <a:srgbClr val="FFFFFF"/>
                    </a:solidFill>
                  </a:tcPr>
                </a:tc>
                <a:tc>
                  <a:txBody>
                    <a:bodyPr/>
                    <a:lstStyle/>
                    <a:p>
                      <a:pPr algn="ctr">
                        <a:defRPr sz="760">
                          <a:solidFill>
                            <a:srgbClr val="1E242B"/>
                          </a:solidFill>
                          <a:latin typeface="Arial"/>
                        </a:defRPr>
                      </a:pPr>
                      <a:r>
                        <a:t>-112,48s ~ -124,48s</a:t>
                      </a:r>
                      <a:br/>
                      <a:r>
                        <a:t>(A-1 giảm 1 người)</a:t>
                      </a:r>
                    </a:p>
                  </a:txBody>
                  <a:tcPr anchor="ctr" marL="45720" marR="45720" marT="18288" marB="18288">
                    <a:solidFill>
                      <a:srgbClr val="FFFFFF"/>
                    </a:solidFill>
                  </a:tcPr>
                </a:tc>
                <a:tc>
                  <a:txBody>
                    <a:bodyPr/>
                    <a:lstStyle/>
                    <a:p>
                      <a:pPr algn="l">
                        <a:defRPr sz="760">
                          <a:solidFill>
                            <a:srgbClr val="1E242B"/>
                          </a:solidFill>
                          <a:latin typeface="Arial"/>
                        </a:defRPr>
                      </a:pPr>
                      <a:r>
                        <a:t>3 Đang báo giá</a:t>
                      </a:r>
                      <a:br/>
                      <a:r>
                        <a:t>2 Cải tiến TK (0đ)</a:t>
                      </a:r>
                    </a:p>
                  </a:txBody>
                  <a:tcPr anchor="ctr" marL="45720" marR="45720" marT="18288" marB="18288">
                    <a:solidFill>
                      <a:srgbClr val="FFFFFF"/>
                    </a:solidFill>
                  </a:tcPr>
                </a:tc>
              </a:tr>
              <a:tr h="359228">
                <a:tc>
                  <a:txBody>
                    <a:bodyPr/>
                    <a:lstStyle/>
                    <a:p>
                      <a:pPr algn="ctr">
                        <a:defRPr sz="760" b="1">
                          <a:solidFill>
                            <a:srgbClr val="1E242B"/>
                          </a:solidFill>
                          <a:latin typeface="Arial"/>
                        </a:defRPr>
                      </a:pPr>
                      <a:r>
                        <a:t>K2 -&gt; A-2</a:t>
                      </a:r>
                      <a:br/>
                      <a:r>
                        <a:t>(Semi, Option)</a:t>
                      </a:r>
                    </a:p>
                  </a:txBody>
                  <a:tcPr anchor="ctr" marL="45720" marR="45720" marT="18288" marB="18288">
                    <a:solidFill>
                      <a:srgbClr val="F7F9FC"/>
                    </a:solidFill>
                  </a:tcPr>
                </a:tc>
                <a:tc>
                  <a:txBody>
                    <a:bodyPr/>
                    <a:lstStyle/>
                    <a:p>
                      <a:pPr algn="l">
                        <a:defRPr sz="760">
                          <a:solidFill>
                            <a:srgbClr val="1E242B"/>
                          </a:solidFill>
                          <a:latin typeface="Arial"/>
                        </a:defRPr>
                      </a:pPr>
                      <a:r>
                        <a:t>No.21, 31, 32</a:t>
                      </a:r>
                    </a:p>
                  </a:txBody>
                  <a:tcPr anchor="ctr" marL="45720" marR="45720" marT="18288" marB="18288">
                    <a:solidFill>
                      <a:srgbClr val="F7F9FC"/>
                    </a:solidFill>
                  </a:tcPr>
                </a:tc>
                <a:tc>
                  <a:txBody>
                    <a:bodyPr/>
                    <a:lstStyle/>
                    <a:p>
                      <a:pPr algn="ctr">
                        <a:defRPr sz="760">
                          <a:solidFill>
                            <a:srgbClr val="1E242B"/>
                          </a:solidFill>
                          <a:latin typeface="Arial"/>
                        </a:defRPr>
                      </a:pPr>
                      <a:r>
                        <a:t>150,00 s</a:t>
                      </a:r>
                      <a:br/>
                      <a:r>
                        <a:t>(1 người)</a:t>
                      </a:r>
                    </a:p>
                  </a:txBody>
                  <a:tcPr anchor="ctr" marL="45720" marR="45720" marT="18288" marB="18288">
                    <a:solidFill>
                      <a:srgbClr val="F7F9FC"/>
                    </a:solidFill>
                  </a:tcPr>
                </a:tc>
                <a:tc>
                  <a:txBody>
                    <a:bodyPr/>
                    <a:lstStyle/>
                    <a:p>
                      <a:pPr algn="ctr">
                        <a:defRPr sz="760">
                          <a:solidFill>
                            <a:srgbClr val="1E242B"/>
                          </a:solidFill>
                          <a:latin typeface="Arial"/>
                        </a:defRPr>
                      </a:pPr>
                      <a:r>
                        <a:t>-65,00s ~ -110,00s</a:t>
                      </a:r>
                    </a:p>
                  </a:txBody>
                  <a:tcPr anchor="ctr" marL="45720" marR="45720" marT="18288" marB="18288">
                    <a:solidFill>
                      <a:srgbClr val="F7F9FC"/>
                    </a:solidFill>
                  </a:tcPr>
                </a:tc>
                <a:tc>
                  <a:txBody>
                    <a:bodyPr/>
                    <a:lstStyle/>
                    <a:p>
                      <a:pPr algn="l">
                        <a:defRPr sz="760">
                          <a:solidFill>
                            <a:srgbClr val="1E242B"/>
                          </a:solidFill>
                          <a:latin typeface="Arial"/>
                        </a:defRPr>
                      </a:pPr>
                      <a:r>
                        <a:t>2 Đang báo giá</a:t>
                      </a:r>
                      <a:br/>
                      <a:r>
                        <a:t>1 Cải tiến TK (0đ)</a:t>
                      </a:r>
                    </a:p>
                  </a:txBody>
                  <a:tcPr anchor="ctr" marL="45720" marR="45720" marT="18288" marB="18288">
                    <a:solidFill>
                      <a:srgbClr val="F7F9FC"/>
                    </a:solidFill>
                  </a:tcPr>
                </a:tc>
              </a:tr>
              <a:tr h="359228">
                <a:tc>
                  <a:txBody>
                    <a:bodyPr/>
                    <a:lstStyle/>
                    <a:p>
                      <a:pPr algn="ctr">
                        <a:defRPr sz="760" b="1">
                          <a:solidFill>
                            <a:srgbClr val="1E242B"/>
                          </a:solidFill>
                          <a:latin typeface="Arial"/>
                        </a:defRPr>
                      </a:pPr>
                      <a:r>
                        <a:t>K3 -&gt; A-3</a:t>
                      </a:r>
                      <a:br/>
                      <a:r>
                        <a:t>(Vỏ, Chịu áp, Khay)</a:t>
                      </a:r>
                    </a:p>
                  </a:txBody>
                  <a:tcPr anchor="ctr" marL="45720" marR="45720" marT="18288" marB="18288">
                    <a:solidFill>
                      <a:srgbClr val="EAF7EE"/>
                    </a:solidFill>
                  </a:tcPr>
                </a:tc>
                <a:tc>
                  <a:txBody>
                    <a:bodyPr/>
                    <a:lstStyle/>
                    <a:p>
                      <a:pPr algn="l">
                        <a:defRPr sz="760">
                          <a:solidFill>
                            <a:srgbClr val="1E242B"/>
                          </a:solidFill>
                          <a:latin typeface="Arial"/>
                        </a:defRPr>
                      </a:pPr>
                      <a:r>
                        <a:t>No.22, 33, 34, 35</a:t>
                      </a:r>
                    </a:p>
                  </a:txBody>
                  <a:tcPr anchor="ctr" marL="45720" marR="45720" marT="18288" marB="18288">
                    <a:solidFill>
                      <a:srgbClr val="EAF7EE"/>
                    </a:solidFill>
                  </a:tcPr>
                </a:tc>
                <a:tc>
                  <a:txBody>
                    <a:bodyPr/>
                    <a:lstStyle/>
                    <a:p>
                      <a:pPr algn="ctr">
                        <a:defRPr sz="760">
                          <a:solidFill>
                            <a:srgbClr val="1E242B"/>
                          </a:solidFill>
                          <a:latin typeface="Arial"/>
                        </a:defRPr>
                      </a:pPr>
                      <a:r>
                        <a:t>180,00 s</a:t>
                      </a:r>
                      <a:br/>
                      <a:r>
                        <a:t>(1 người)</a:t>
                      </a:r>
                    </a:p>
                  </a:txBody>
                  <a:tcPr anchor="ctr" marL="45720" marR="45720" marT="18288" marB="18288">
                    <a:solidFill>
                      <a:srgbClr val="EAF7EE"/>
                    </a:solidFill>
                  </a:tcPr>
                </a:tc>
                <a:tc>
                  <a:txBody>
                    <a:bodyPr/>
                    <a:lstStyle/>
                    <a:p>
                      <a:pPr algn="ctr">
                        <a:defRPr sz="760">
                          <a:solidFill>
                            <a:srgbClr val="1E242B"/>
                          </a:solidFill>
                          <a:latin typeface="Arial"/>
                        </a:defRPr>
                      </a:pPr>
                      <a:r>
                        <a:t>-158,32s ~ -200,00s</a:t>
                      </a:r>
                    </a:p>
                  </a:txBody>
                  <a:tcPr anchor="ctr" marL="45720" marR="45720" marT="18288" marB="18288">
                    <a:solidFill>
                      <a:srgbClr val="EAF7EE"/>
                    </a:solidFill>
                  </a:tcPr>
                </a:tc>
                <a:tc>
                  <a:txBody>
                    <a:bodyPr/>
                    <a:lstStyle/>
                    <a:p>
                      <a:pPr algn="l">
                        <a:defRPr sz="760">
                          <a:solidFill>
                            <a:srgbClr val="1E242B"/>
                          </a:solidFill>
                          <a:latin typeface="Arial"/>
                        </a:defRPr>
                      </a:pPr>
                      <a:r>
                        <a:t>No.22: 101,69 tr VNĐ</a:t>
                      </a:r>
                      <a:br/>
                      <a:r>
                        <a:t>2 Báo giá | 1 TK (0đ)</a:t>
                      </a:r>
                    </a:p>
                  </a:txBody>
                  <a:tcPr anchor="ctr" marL="45720" marR="45720" marT="18288" marB="18288">
                    <a:solidFill>
                      <a:srgbClr val="EAF7EE"/>
                    </a:solidFill>
                  </a:tcPr>
                </a:tc>
              </a:tr>
              <a:tr h="359228">
                <a:tc>
                  <a:txBody>
                    <a:bodyPr/>
                    <a:lstStyle/>
                    <a:p>
                      <a:pPr algn="ctr">
                        <a:defRPr sz="760" b="1">
                          <a:solidFill>
                            <a:srgbClr val="1E242B"/>
                          </a:solidFill>
                          <a:latin typeface="Arial"/>
                        </a:defRPr>
                      </a:pPr>
                      <a:r>
                        <a:t>K4 -&gt; A-4 đầu</a:t>
                      </a:r>
                      <a:br/>
                      <a:r>
                        <a:t>(Scan, USB, U201)</a:t>
                      </a:r>
                    </a:p>
                  </a:txBody>
                  <a:tcPr anchor="ctr" marL="45720" marR="45720" marT="18288" marB="18288">
                    <a:solidFill>
                      <a:srgbClr val="F7F9FC"/>
                    </a:solidFill>
                  </a:tcPr>
                </a:tc>
                <a:tc>
                  <a:txBody>
                    <a:bodyPr/>
                    <a:lstStyle/>
                    <a:p>
                      <a:pPr algn="l">
                        <a:defRPr sz="760">
                          <a:solidFill>
                            <a:srgbClr val="1E242B"/>
                          </a:solidFill>
                          <a:latin typeface="Arial"/>
                        </a:defRPr>
                      </a:pPr>
                      <a:r>
                        <a:t>No.25 (thay No.23),</a:t>
                      </a:r>
                      <a:br/>
                      <a:r>
                        <a:t>No.36, 37 (+ hủy No.24)</a:t>
                      </a:r>
                    </a:p>
                  </a:txBody>
                  <a:tcPr anchor="ctr" marL="45720" marR="45720" marT="18288" marB="18288">
                    <a:solidFill>
                      <a:srgbClr val="F7F9FC"/>
                    </a:solidFill>
                  </a:tcPr>
                </a:tc>
                <a:tc>
                  <a:txBody>
                    <a:bodyPr/>
                    <a:lstStyle/>
                    <a:p>
                      <a:pPr algn="ctr">
                        <a:defRPr sz="760">
                          <a:solidFill>
                            <a:srgbClr val="1E242B"/>
                          </a:solidFill>
                          <a:latin typeface="Arial"/>
                        </a:defRPr>
                      </a:pPr>
                      <a:r>
                        <a:t>480,00 s</a:t>
                      </a:r>
                      <a:br/>
                      <a:r>
                        <a:t>(gồm 285s U950)</a:t>
                      </a:r>
                    </a:p>
                  </a:txBody>
                  <a:tcPr anchor="ctr" marL="45720" marR="45720" marT="18288" marB="18288">
                    <a:solidFill>
                      <a:srgbClr val="F7F9FC"/>
                    </a:solidFill>
                  </a:tcPr>
                </a:tc>
                <a:tc>
                  <a:txBody>
                    <a:bodyPr/>
                    <a:lstStyle/>
                    <a:p>
                      <a:pPr algn="ctr">
                        <a:defRPr sz="760">
                          <a:solidFill>
                            <a:srgbClr val="1E242B"/>
                          </a:solidFill>
                          <a:latin typeface="Arial"/>
                        </a:defRPr>
                      </a:pPr>
                      <a:r>
                        <a:t>-153,88s ~ -170,00s</a:t>
                      </a:r>
                    </a:p>
                  </a:txBody>
                  <a:tcPr anchor="ctr" marL="45720" marR="45720" marT="18288" marB="18288">
                    <a:solidFill>
                      <a:srgbClr val="F7F9FC"/>
                    </a:solidFill>
                  </a:tcPr>
                </a:tc>
                <a:tc>
                  <a:txBody>
                    <a:bodyPr/>
                    <a:lstStyle/>
                    <a:p>
                      <a:pPr algn="l">
                        <a:defRPr sz="760">
                          <a:solidFill>
                            <a:srgbClr val="1E242B"/>
                          </a:solidFill>
                          <a:latin typeface="Arial"/>
                        </a:defRPr>
                      </a:pPr>
                      <a:r>
                        <a:t>No.25: Đang báo giá</a:t>
                      </a:r>
                      <a:br/>
                      <a:r>
                        <a:t>(Hủy 2 Robot 29k$)</a:t>
                      </a:r>
                    </a:p>
                  </a:txBody>
                  <a:tcPr anchor="ctr" marL="45720" marR="45720" marT="18288" marB="18288">
                    <a:solidFill>
                      <a:srgbClr val="F7F9FC"/>
                    </a:solidFill>
                  </a:tcPr>
                </a:tc>
              </a:tr>
              <a:tr h="359228">
                <a:tc>
                  <a:txBody>
                    <a:bodyPr/>
                    <a:lstStyle/>
                    <a:p>
                      <a:pPr algn="ctr">
                        <a:defRPr sz="760" b="1">
                          <a:solidFill>
                            <a:srgbClr val="1E242B"/>
                          </a:solidFill>
                          <a:latin typeface="Arial"/>
                        </a:defRPr>
                      </a:pPr>
                      <a:r>
                        <a:t>K6, K7, K8 -&gt; A-4</a:t>
                      </a:r>
                      <a:br/>
                      <a:r>
                        <a:t>(Ảnh, Âm, Xuất)</a:t>
                      </a:r>
                    </a:p>
                  </a:txBody>
                  <a:tcPr anchor="ctr" marL="45720" marR="45720" marT="18288" marB="18288">
                    <a:solidFill>
                      <a:srgbClr val="FFFFFF"/>
                    </a:solidFill>
                  </a:tcPr>
                </a:tc>
                <a:tc>
                  <a:txBody>
                    <a:bodyPr/>
                    <a:lstStyle/>
                    <a:p>
                      <a:pPr algn="l">
                        <a:defRPr sz="760">
                          <a:solidFill>
                            <a:srgbClr val="1E242B"/>
                          </a:solidFill>
                          <a:latin typeface="Arial"/>
                        </a:defRPr>
                      </a:pPr>
                      <a:r>
                        <a:t>No.26 (Dài hạn),</a:t>
                      </a:r>
                      <a:br/>
                      <a:r>
                        <a:t>No.27, No.28</a:t>
                      </a:r>
                    </a:p>
                  </a:txBody>
                  <a:tcPr anchor="ctr" marL="45720" marR="45720" marT="18288" marB="18288">
                    <a:solidFill>
                      <a:srgbClr val="FFFFFF"/>
                    </a:solidFill>
                  </a:tcPr>
                </a:tc>
                <a:tc>
                  <a:txBody>
                    <a:bodyPr/>
                    <a:lstStyle/>
                    <a:p>
                      <a:pPr algn="ctr">
                        <a:defRPr sz="760">
                          <a:solidFill>
                            <a:srgbClr val="1E242B"/>
                          </a:solidFill>
                          <a:latin typeface="Arial"/>
                        </a:defRPr>
                      </a:pPr>
                      <a:r>
                        <a:t>540,00 s</a:t>
                      </a:r>
                      <a:br/>
                      <a:r>
                        <a:t>(K6+K7+K8)</a:t>
                      </a:r>
                    </a:p>
                  </a:txBody>
                  <a:tcPr anchor="ctr" marL="45720" marR="45720" marT="18288" marB="18288">
                    <a:solidFill>
                      <a:srgbClr val="FFFFFF"/>
                    </a:solidFill>
                  </a:tcPr>
                </a:tc>
                <a:tc>
                  <a:txBody>
                    <a:bodyPr/>
                    <a:lstStyle/>
                    <a:p>
                      <a:pPr algn="ctr">
                        <a:defRPr sz="760">
                          <a:solidFill>
                            <a:srgbClr val="1E242B"/>
                          </a:solidFill>
                          <a:latin typeface="Arial"/>
                        </a:defRPr>
                      </a:pPr>
                      <a:r>
                        <a:t>-227,00s ~ -265,00s</a:t>
                      </a:r>
                      <a:br/>
                      <a:r>
                        <a:t>(+40s AI dài hạn)</a:t>
                      </a:r>
                    </a:p>
                  </a:txBody>
                  <a:tcPr anchor="ctr" marL="45720" marR="45720" marT="18288" marB="18288">
                    <a:solidFill>
                      <a:srgbClr val="FFFFFF"/>
                    </a:solidFill>
                  </a:tcPr>
                </a:tc>
                <a:tc>
                  <a:txBody>
                    <a:bodyPr/>
                    <a:lstStyle/>
                    <a:p>
                      <a:pPr algn="l">
                        <a:defRPr sz="760">
                          <a:solidFill>
                            <a:srgbClr val="1E242B"/>
                          </a:solidFill>
                          <a:latin typeface="Arial"/>
                        </a:defRPr>
                      </a:pPr>
                      <a:r>
                        <a:t>No.27, 28: Báo giá</a:t>
                      </a:r>
                      <a:br/>
                      <a:r>
                        <a:t>No.26: R&amp;D 26-30</a:t>
                      </a:r>
                    </a:p>
                  </a:txBody>
                  <a:tcPr anchor="ctr" marL="45720" marR="45720" marT="18288" marB="18288">
                    <a:solidFill>
                      <a:srgbClr val="FFFFFF"/>
                    </a:solidFill>
                  </a:tcPr>
                </a:tc>
              </a:tr>
              <a:tr h="359232">
                <a:tc>
                  <a:txBody>
                    <a:bodyPr/>
                    <a:lstStyle/>
                    <a:p>
                      <a:pPr algn="ctr">
                        <a:defRPr sz="760" b="1">
                          <a:solidFill>
                            <a:srgbClr val="1E242B"/>
                          </a:solidFill>
                          <a:latin typeface="Arial"/>
                        </a:defRPr>
                      </a:pPr>
                      <a:r>
                        <a:t>TỔNG CỘNG VN</a:t>
                      </a:r>
                    </a:p>
                  </a:txBody>
                  <a:tcPr anchor="ctr" marL="45720" marR="45720" marT="18288" marB="18288">
                    <a:solidFill>
                      <a:srgbClr val="E8EEF5"/>
                    </a:solidFill>
                  </a:tcPr>
                </a:tc>
                <a:tc>
                  <a:txBody>
                    <a:bodyPr/>
                    <a:lstStyle/>
                    <a:p>
                      <a:pPr algn="l">
                        <a:defRPr sz="760">
                          <a:solidFill>
                            <a:srgbClr val="1E242B"/>
                          </a:solidFill>
                          <a:latin typeface="Arial"/>
                        </a:defRPr>
                      </a:pPr>
                      <a:r>
                        <a:t>20 đề án (18 khả thi)</a:t>
                      </a:r>
                    </a:p>
                  </a:txBody>
                  <a:tcPr anchor="ctr" marL="45720" marR="45720" marT="18288" marB="18288">
                    <a:solidFill>
                      <a:srgbClr val="E8EEF5"/>
                    </a:solidFill>
                  </a:tcPr>
                </a:tc>
                <a:tc>
                  <a:txBody>
                    <a:bodyPr/>
                    <a:lstStyle/>
                    <a:p>
                      <a:pPr algn="ctr">
                        <a:defRPr sz="760">
                          <a:solidFill>
                            <a:srgbClr val="1E242B"/>
                          </a:solidFill>
                          <a:latin typeface="Arial"/>
                        </a:defRPr>
                      </a:pPr>
                      <a:r>
                        <a:t>2.350,00 s (gồm K5)</a:t>
                      </a:r>
                    </a:p>
                  </a:txBody>
                  <a:tcPr anchor="ctr" marL="45720" marR="45720" marT="18288" marB="18288">
                    <a:solidFill>
                      <a:srgbClr val="E8EEF5"/>
                    </a:solidFill>
                  </a:tcPr>
                </a:tc>
                <a:tc>
                  <a:txBody>
                    <a:bodyPr/>
                    <a:lstStyle/>
                    <a:p>
                      <a:pPr algn="ctr">
                        <a:defRPr sz="760">
                          <a:solidFill>
                            <a:srgbClr val="1E242B"/>
                          </a:solidFill>
                          <a:latin typeface="Arial"/>
                        </a:defRPr>
                      </a:pPr>
                      <a:r>
                        <a:t>~599,32s - 611,32s*</a:t>
                      </a:r>
                    </a:p>
                  </a:txBody>
                  <a:tcPr anchor="ctr" marL="45720" marR="45720" marT="18288" marB="18288">
                    <a:solidFill>
                      <a:srgbClr val="E8EEF5"/>
                    </a:solidFill>
                  </a:tcPr>
                </a:tc>
                <a:tc>
                  <a:txBody>
                    <a:bodyPr/>
                    <a:lstStyle/>
                    <a:p>
                      <a:pPr algn="l">
                        <a:defRPr sz="760">
                          <a:solidFill>
                            <a:srgbClr val="1E242B"/>
                          </a:solidFill>
                          <a:latin typeface="Arial"/>
                        </a:defRPr>
                      </a:pPr>
                      <a:r>
                        <a:t>Duyệt: 101,69 tr VNĐ</a:t>
                      </a:r>
                    </a:p>
                  </a:txBody>
                  <a:tcPr anchor="ctr" marL="45720" marR="45720" marT="18288" marB="18288">
                    <a:solidFill>
                      <a:srgbClr val="E8EEF5"/>
                    </a:solidFill>
                  </a:tcPr>
                </a:tc>
              </a:tr>
            </a:tbl>
          </a:graphicData>
        </a:graphic>
      </p:graphicFrame>
      <p:sp>
        <p:nvSpPr>
          <p:cNvPr id="9" name="Rectangle 8"/>
          <p:cNvSpPr/>
          <p:nvPr/>
        </p:nvSpPr>
        <p:spPr>
          <a:xfrm>
            <a:off x="274320" y="3858768"/>
            <a:ext cx="11643055" cy="2615184"/>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3858768"/>
            <a:ext cx="11643055" cy="31089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PHÂN NHÓM 20 ĐỀ ÁN CỦA VIỆT NAM (TÁCH RIÊNG VỚI 7 ĐỀ ÁN CỦA JP VÀ 11 ĐỀ ÁN CỦA CN)</a:t>
            </a:r>
          </a:p>
        </p:txBody>
      </p:sp>
      <p:sp>
        <p:nvSpPr>
          <p:cNvPr id="11" name="TextBox 10"/>
          <p:cNvSpPr txBox="1"/>
          <p:nvPr/>
        </p:nvSpPr>
        <p:spPr>
          <a:xfrm>
            <a:off x="347472" y="4187952"/>
            <a:ext cx="11496751" cy="2249424"/>
          </a:xfrm>
          <a:prstGeom prst="rect">
            <a:avLst/>
          </a:prstGeom>
          <a:noFill/>
        </p:spPr>
        <p:txBody>
          <a:bodyPr wrap="square" lIns="36576" rIns="36576" tIns="18288" bIns="18288">
            <a:spAutoFit/>
          </a:bodyPr>
          <a:lstStyle/>
          <a:p>
            <a:pPr>
              <a:spcAft>
                <a:spcPts val="300"/>
              </a:spcAft>
              <a:defRPr sz="840" b="1">
                <a:solidFill>
                  <a:srgbClr val="1E242B"/>
                </a:solidFill>
                <a:latin typeface="Arial"/>
              </a:defRPr>
            </a:pPr>
            <a:r>
              <a:t>■ 1. Nhóm A - 11 đề án Việt Nam lập tháng 8/2026 (IrisEXP報告.pptx Slide 3 &amp; IrisEXP改善提案まとめ.xlsx No.18 ~ No.28):</a:t>
            </a:r>
          </a:p>
          <a:p>
            <a:pPr>
              <a:spcAft>
                <a:spcPts val="300"/>
              </a:spcAft>
              <a:defRPr sz="840">
                <a:solidFill>
                  <a:srgbClr val="1E242B"/>
                </a:solidFill>
                <a:latin typeface="Arial"/>
              </a:defRPr>
            </a:pPr>
            <a:r>
              <a:t>   • Giải pháp thiết bị, đồ gá và mạng hóa tại 4 trạm A-1 ~ A-4: (1) Gá nạp FW 4 máy đồng thời [No.18], (2) Không tháo nắp/cáp khi nạp FW &amp; TLBĐ [No.19], (3) Lấy log kiểm tra qua mạng LAN thay USB [No.20], (4) Gá kiểm tra Option bằng nam châm [No.21], (5) Tự động kiểm tra thông mạch, tiếp địa, cách điện chịu áp [No.22: Đã có BOM 101,69 triệu VNĐ], (6) Quét bản thảo liên tục bằng DP của máy + PC tự động đánh giá [No.25: Thay thế Robot ISU No.23], (7) Camera đo nồng độ, đo lề, PPT [No.27], (8) Tự động thiết lập xuất hàng qua mạng [No.28].</a:t>
            </a:r>
          </a:p>
          <a:p>
            <a:pPr>
              <a:spcAft>
                <a:spcPts val="300"/>
              </a:spcAft>
              <a:defRPr sz="840">
                <a:solidFill>
                  <a:srgbClr val="1E242B"/>
                </a:solidFill>
                <a:latin typeface="Arial"/>
              </a:defRPr>
            </a:pPr>
            <a:r>
              <a:t>   • Tách riêng 2 đề án Robot đã hủy sau DR4: Robot đặt bản thảo mặt kính ISU [No.23: 650 triệu VNĐ / 25.000 USD] &amp; Robot cắm USB/chạm U201 [No.24: 4.000 USD]; cùng 1 đề án chuyển nghiên cứu dài hạn 2026-2030: Phần mềm AI kiểm tra âm thanh lạ &amp; nhiệt độ [No.26: 600 vạn JPY / ~40.000 USD].</a:t>
            </a:r>
          </a:p>
          <a:p>
            <a:pPr>
              <a:spcAft>
                <a:spcPts val="300"/>
              </a:spcAft>
              <a:defRPr sz="840" b="1">
                <a:solidFill>
                  <a:srgbClr val="1E242B"/>
                </a:solidFill>
                <a:latin typeface="Arial"/>
              </a:defRPr>
            </a:pPr>
            <a:r>
              <a:t>■ 2. Nhóm B - 9 đề án Việt Nam bổ sung tháng 9/2026 (IrisEXP VN改善案LIST.xlsx &amp; IrisEXP改善提案まとめ.xlsx No.29 ~ No.37):</a:t>
            </a:r>
          </a:p>
          <a:p>
            <a:pPr>
              <a:spcAft>
                <a:spcPts val="300"/>
              </a:spcAft>
              <a:defRPr sz="840">
                <a:solidFill>
                  <a:srgbClr val="1E242B"/>
                </a:solidFill>
                <a:latin typeface="Arial"/>
              </a:defRPr>
            </a:pPr>
            <a:r>
              <a:t>   • Do 11 đề án đợt 1 chưa đủ giảm 50% thời gian (1.175s), KDTVN rà soát tiếp các thao tác thủ công tại K1-K4 và đề xuất thêm 9 mục: 6 kiến nghị Thiết kế JP sửa bản mạch/phần mềm để tự kiểm tra (Hộp mực [No.29], Mực thải WTB [No.30], Không cắm dây Option [No.32], Nhận diện cỡ/lượng giấy Cassette 1/2 [No.34], Đóng mở Cover Right [No.36], Bỏ đo lệch Transfer Belt [No.37]) và 3 đề án thiết bị / chuyển công đoạn (Đóng mở Cassette tải nặng [No.31], Lắp 6 tấm vỏ máy [No.33], Đặt giấy tự động [No.35]).</a:t>
            </a:r>
          </a:p>
          <a:p>
            <a:pPr>
              <a:spcAft>
                <a:spcPts val="300"/>
              </a:spcAft>
              <a:defRPr sz="840">
                <a:solidFill>
                  <a:srgbClr val="1E242B"/>
                </a:solidFill>
                <a:latin typeface="Arial"/>
              </a:defRPr>
            </a:pPr>
            <a:r>
              <a:t>   • Ghi chú cách tính (*): Mức giảm ~599,32s-611,32s/máy của các đề án VN không tính trùng giữa Robot ISU đã hủy (No.23: 110s) và Quét DP liên tục (No.25: 110s). Khi gộp thêm các mục giảm tờ in/bỏ Calibration tại K5 của JP &amp; CN (-178,56s ~ -267,74s) và giảm thời gian chờ máy sẽ tiến tới mốc -1.175s.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5.2: CHI TIẾT VN (1)</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Chi tiết đề án Việt Nam: Cụm công đoạn A-1, A-2, A-3 (Đề án No.18 ~ No.22 &amp; Nạp FW tại Partner)</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6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5 đề án VN tại A-1 ~ A-3 và phương án nạp FW tại Partner giúp giảm ~173s-185s/máy, giảm 1 công nhân tại A-1; trong đó Đề án No.22 đã có báo giá BOM 101,69 triệu VNĐ.</a:t>
            </a:r>
          </a:p>
        </p:txBody>
      </p:sp>
      <p:graphicFrame>
        <p:nvGraphicFramePr>
          <p:cNvPr id="7" name="Table 6"/>
          <p:cNvGraphicFramePr>
            <a:graphicFrameLocks noGrp="1"/>
          </p:cNvGraphicFramePr>
          <p:nvPr/>
        </p:nvGraphicFramePr>
        <p:xfrm>
          <a:off x="274320" y="1243584"/>
          <a:ext cx="11643055" cy="5193792"/>
        </p:xfrm>
        <a:graphic>
          <a:graphicData uri="http://schemas.openxmlformats.org/drawingml/2006/table">
            <a:tbl>
              <a:tblPr firstRow="1" bandRow="1">
                <a:tableStyleId>{5C22544A-7EE6-4342-B048-85BDC9FD1C3A}</a:tableStyleId>
              </a:tblPr>
              <a:tblGrid>
                <a:gridCol w="868680"/>
                <a:gridCol w="2057400"/>
                <a:gridCol w="2103120"/>
                <a:gridCol w="2423160"/>
                <a:gridCol w="1417320"/>
                <a:gridCol w="1417320"/>
                <a:gridCol w="1356055"/>
              </a:tblGrid>
              <a:tr h="741970">
                <a:tc>
                  <a:txBody>
                    <a:bodyPr/>
                    <a:lstStyle/>
                    <a:p>
                      <a:pPr algn="ctr">
                        <a:defRPr sz="819" b="1">
                          <a:solidFill>
                            <a:srgbClr val="FFFFFF"/>
                          </a:solidFill>
                          <a:latin typeface="Arial"/>
                        </a:defRPr>
                      </a:pPr>
                      <a:r>
                        <a:t>Mã Đề án</a:t>
                      </a:r>
                      <a:br/>
                      <a:r>
                        <a:t>(Trạm)</a:t>
                      </a:r>
                    </a:p>
                  </a:txBody>
                  <a:tcPr anchor="ctr" marL="45720" marR="45720" marT="18288" marB="18288">
                    <a:solidFill>
                      <a:srgbClr val="1B365D"/>
                    </a:solidFill>
                  </a:tcPr>
                </a:tc>
                <a:tc>
                  <a:txBody>
                    <a:bodyPr/>
                    <a:lstStyle/>
                    <a:p>
                      <a:pPr algn="ctr">
                        <a:defRPr sz="819" b="1">
                          <a:solidFill>
                            <a:srgbClr val="FFFFFF"/>
                          </a:solidFill>
                          <a:latin typeface="Arial"/>
                        </a:defRPr>
                      </a:pPr>
                      <a:r>
                        <a:t>Tên đề án</a:t>
                      </a:r>
                      <a:br/>
                      <a:r>
                        <a:t>(Thuật ngữ gốc Nhật)</a:t>
                      </a:r>
                    </a:p>
                  </a:txBody>
                  <a:tcPr anchor="ctr" marL="45720" marR="45720" marT="18288" marB="18288">
                    <a:solidFill>
                      <a:srgbClr val="1B365D"/>
                    </a:solidFill>
                  </a:tcPr>
                </a:tc>
                <a:tc>
                  <a:txBody>
                    <a:bodyPr/>
                    <a:lstStyle/>
                    <a:p>
                      <a:pPr algn="ctr">
                        <a:defRPr sz="819" b="1">
                          <a:solidFill>
                            <a:srgbClr val="FFFFFF"/>
                          </a:solidFill>
                          <a:latin typeface="Arial"/>
                        </a:defRPr>
                      </a:pPr>
                      <a:r>
                        <a:t>Hiện trạng đối ứng</a:t>
                      </a:r>
                      <a:br/>
                      <a:r>
                        <a:t>(Iris2024 tại VN)</a:t>
                      </a:r>
                    </a:p>
                  </a:txBody>
                  <a:tcPr anchor="ctr" marL="45720" marR="45720" marT="18288" marB="18288">
                    <a:solidFill>
                      <a:srgbClr val="1B365D"/>
                    </a:solidFill>
                  </a:tcPr>
                </a:tc>
                <a:tc>
                  <a:txBody>
                    <a:bodyPr/>
                    <a:lstStyle/>
                    <a:p>
                      <a:pPr algn="ctr">
                        <a:defRPr sz="819" b="1">
                          <a:solidFill>
                            <a:srgbClr val="FFFFFF"/>
                          </a:solidFill>
                          <a:latin typeface="Arial"/>
                        </a:defRPr>
                      </a:pPr>
                      <a:r>
                        <a:t>Nội dung cải tiến &amp; Quyết định tại 連携会 / DR4</a:t>
                      </a:r>
                    </a:p>
                  </a:txBody>
                  <a:tcPr anchor="ctr" marL="45720" marR="45720" marT="18288" marB="18288">
                    <a:solidFill>
                      <a:srgbClr val="1B365D"/>
                    </a:solidFill>
                  </a:tcPr>
                </a:tc>
                <a:tc>
                  <a:txBody>
                    <a:bodyPr/>
                    <a:lstStyle/>
                    <a:p>
                      <a:pPr algn="ctr">
                        <a:defRPr sz="819" b="1">
                          <a:solidFill>
                            <a:srgbClr val="FFFFFF"/>
                          </a:solidFill>
                          <a:latin typeface="Arial"/>
                        </a:defRPr>
                      </a:pPr>
                      <a:r>
                        <a:t>Hiệu quả</a:t>
                      </a:r>
                      <a:br/>
                      <a:r>
                        <a:t>(TG / Nhân lực / NS)</a:t>
                      </a:r>
                    </a:p>
                  </a:txBody>
                  <a:tcPr anchor="ctr" marL="45720" marR="45720" marT="18288" marB="18288">
                    <a:solidFill>
                      <a:srgbClr val="1B365D"/>
                    </a:solidFill>
                  </a:tcPr>
                </a:tc>
                <a:tc>
                  <a:txBody>
                    <a:bodyPr/>
                    <a:lstStyle/>
                    <a:p>
                      <a:pPr algn="ctr">
                        <a:defRPr sz="819" b="1">
                          <a:solidFill>
                            <a:srgbClr val="FFFFFF"/>
                          </a:solidFill>
                          <a:latin typeface="Arial"/>
                        </a:defRPr>
                      </a:pPr>
                      <a:r>
                        <a:t>Kinh phí đầu tư &amp;</a:t>
                      </a:r>
                      <a:br/>
                      <a:r>
                        <a:t>Trạng thái giá</a:t>
                      </a:r>
                    </a:p>
                  </a:txBody>
                  <a:tcPr anchor="ctr" marL="45720" marR="45720" marT="18288" marB="18288">
                    <a:solidFill>
                      <a:srgbClr val="1B365D"/>
                    </a:solidFill>
                  </a:tcPr>
                </a:tc>
                <a:tc>
                  <a:txBody>
                    <a:bodyPr/>
                    <a:lstStyle/>
                    <a:p>
                      <a:pPr algn="ctr">
                        <a:defRPr sz="819" b="1">
                          <a:solidFill>
                            <a:srgbClr val="FFFFFF"/>
                          </a:solidFill>
                          <a:latin typeface="Arial"/>
                        </a:defRPr>
                      </a:pPr>
                      <a:r>
                        <a:t>Tiến độ / Nguồn</a:t>
                      </a:r>
                      <a:br/>
                      <a:r>
                        <a:t>đối chiếu</a:t>
                      </a:r>
                    </a:p>
                  </a:txBody>
                  <a:tcPr anchor="ctr" marL="45720" marR="45720" marT="18288" marB="18288">
                    <a:solidFill>
                      <a:srgbClr val="1B365D"/>
                    </a:solidFill>
                  </a:tcPr>
                </a:tc>
              </a:tr>
              <a:tr h="741970">
                <a:tc>
                  <a:txBody>
                    <a:bodyPr/>
                    <a:lstStyle/>
                    <a:p>
                      <a:pPr algn="ctr">
                        <a:defRPr sz="760" b="1">
                          <a:solidFill>
                            <a:srgbClr val="1E242B"/>
                          </a:solidFill>
                          <a:latin typeface="Arial"/>
                        </a:defRPr>
                      </a:pPr>
                      <a:r>
                        <a:t>No.18</a:t>
                      </a:r>
                      <a:br/>
                      <a:r>
                        <a:t>(K1 -&gt; A-1)</a:t>
                      </a:r>
                    </a:p>
                  </a:txBody>
                  <a:tcPr anchor="ctr" marL="45720" marR="45720" marT="18288" marB="18288">
                    <a:solidFill>
                      <a:srgbClr val="FFFFFF"/>
                    </a:solidFill>
                  </a:tcPr>
                </a:tc>
                <a:tc>
                  <a:txBody>
                    <a:bodyPr/>
                    <a:lstStyle/>
                    <a:p>
                      <a:pPr algn="l">
                        <a:defRPr sz="760">
                          <a:solidFill>
                            <a:srgbClr val="1E242B"/>
                          </a:solidFill>
                          <a:latin typeface="Arial"/>
                        </a:defRPr>
                      </a:pPr>
                      <a:r>
                        <a:t>Cải tiến thiết bị nạp Firmware đồng thời nhiều máy</a:t>
                      </a:r>
                      <a:br/>
                      <a:r>
                        <a:t>(複数台同時FW書込)</a:t>
                      </a:r>
                    </a:p>
                  </a:txBody>
                  <a:tcPr anchor="ctr" marL="45720" marR="45720" marT="18288" marB="18288">
                    <a:solidFill>
                      <a:srgbClr val="FFFFFF"/>
                    </a:solidFill>
                  </a:tcPr>
                </a:tc>
                <a:tc>
                  <a:txBody>
                    <a:bodyPr/>
                    <a:lstStyle/>
                    <a:p>
                      <a:pPr algn="l">
                        <a:defRPr sz="760">
                          <a:solidFill>
                            <a:srgbClr val="1E242B"/>
                          </a:solidFill>
                          <a:latin typeface="Arial"/>
                        </a:defRPr>
                      </a:pPr>
                      <a:r>
                        <a:t>Nạp FW bằng USB từng máy (90s/máy). 1 công nhân đứng chờ thao tác cắm/rút USB và bấm khởi động.</a:t>
                      </a:r>
                    </a:p>
                  </a:txBody>
                  <a:tcPr anchor="ctr" marL="45720" marR="45720" marT="18288" marB="18288">
                    <a:solidFill>
                      <a:srgbClr val="FFFFFF"/>
                    </a:solidFill>
                  </a:tcPr>
                </a:tc>
                <a:tc>
                  <a:txBody>
                    <a:bodyPr/>
                    <a:lstStyle/>
                    <a:p>
                      <a:pPr algn="l">
                        <a:defRPr sz="760">
                          <a:solidFill>
                            <a:srgbClr val="1E242B"/>
                          </a:solidFill>
                          <a:latin typeface="Arial"/>
                        </a:defRPr>
                      </a:pPr>
                      <a:r>
                        <a:t>Thiết kế trạm A-1 cho phép 1 công nhân vận hành nạp FW đồng thời 4 máy qua hệ thống Mini PC / mạng LAN.</a:t>
                      </a:r>
                    </a:p>
                  </a:txBody>
                  <a:tcPr anchor="ctr" marL="45720" marR="45720" marT="18288" marB="18288">
                    <a:solidFill>
                      <a:srgbClr val="FFFFFF"/>
                    </a:solidFill>
                  </a:tcPr>
                </a:tc>
                <a:tc>
                  <a:txBody>
                    <a:bodyPr/>
                    <a:lstStyle/>
                    <a:p>
                      <a:pPr algn="l">
                        <a:defRPr sz="760">
                          <a:solidFill>
                            <a:srgbClr val="1E242B"/>
                          </a:solidFill>
                          <a:latin typeface="Arial"/>
                        </a:defRPr>
                      </a:pPr>
                      <a:r>
                        <a:t>• Giảm chờ nạp FW (gộp 4 máy/cell)</a:t>
                      </a:r>
                      <a:br/>
                      <a:r>
                        <a:t>• Tăng năng suất trạm đầu chuyền A-1</a:t>
                      </a:r>
                    </a:p>
                  </a:txBody>
                  <a:tcPr anchor="ctr" marL="45720" marR="45720" marT="18288" marB="18288">
                    <a:solidFill>
                      <a:srgbClr val="FFFFFF"/>
                    </a:solidFill>
                  </a:tcPr>
                </a:tc>
                <a:tc>
                  <a:txBody>
                    <a:bodyPr/>
                    <a:lstStyle/>
                    <a:p>
                      <a:pPr algn="ctr">
                        <a:defRPr sz="760">
                          <a:solidFill>
                            <a:srgbClr val="1E242B"/>
                          </a:solidFill>
                          <a:latin typeface="Arial"/>
                        </a:defRPr>
                      </a:pPr>
                      <a:r>
                        <a:t>Đang báo giá</a:t>
                      </a:r>
                      <a:br/>
                      <a:r>
                        <a:t>(見積中)</a:t>
                      </a:r>
                    </a:p>
                  </a:txBody>
                  <a:tcPr anchor="ctr" marL="45720" marR="45720" marT="18288" marB="18288">
                    <a:solidFill>
                      <a:srgbClr val="FFFFFF"/>
                    </a:solidFill>
                  </a:tcPr>
                </a:tc>
                <a:tc>
                  <a:txBody>
                    <a:bodyPr/>
                    <a:lstStyle/>
                    <a:p>
                      <a:pPr algn="l">
                        <a:defRPr sz="760">
                          <a:solidFill>
                            <a:srgbClr val="1E242B"/>
                          </a:solidFill>
                          <a:latin typeface="Arial"/>
                        </a:defRPr>
                      </a:pPr>
                      <a:r>
                        <a:t>Đang thiết kế chuẩn A-1</a:t>
                      </a:r>
                      <a:br/>
                      <a:r>
                        <a:t>(IrisEXP報告 S3;</a:t>
                      </a:r>
                      <a:br/>
                      <a:r>
                        <a:t>まとめ Row 32)</a:t>
                      </a:r>
                    </a:p>
                  </a:txBody>
                  <a:tcPr anchor="ctr" marL="45720" marR="45720" marT="18288" marB="18288">
                    <a:solidFill>
                      <a:srgbClr val="FFFFFF"/>
                    </a:solidFill>
                  </a:tcPr>
                </a:tc>
              </a:tr>
              <a:tr h="741970">
                <a:tc>
                  <a:txBody>
                    <a:bodyPr/>
                    <a:lstStyle/>
                    <a:p>
                      <a:pPr algn="ctr">
                        <a:defRPr sz="760" b="1">
                          <a:solidFill>
                            <a:srgbClr val="1E242B"/>
                          </a:solidFill>
                          <a:latin typeface="Arial"/>
                        </a:defRPr>
                      </a:pPr>
                      <a:r>
                        <a:t>Đề án A-1</a:t>
                      </a:r>
                      <a:br/>
                      <a:r>
                        <a:t>bổ sung</a:t>
                      </a:r>
                      <a:br/>
                      <a:r>
                        <a:t>(Kỳ 11, 13)</a:t>
                      </a:r>
                    </a:p>
                  </a:txBody>
                  <a:tcPr anchor="ctr" marL="45720" marR="45720" marT="18288" marB="18288">
                    <a:solidFill>
                      <a:srgbClr val="E8EEF5"/>
                    </a:solidFill>
                  </a:tcPr>
                </a:tc>
                <a:tc>
                  <a:txBody>
                    <a:bodyPr/>
                    <a:lstStyle/>
                    <a:p>
                      <a:pPr algn="l">
                        <a:defRPr sz="760">
                          <a:solidFill>
                            <a:srgbClr val="1E242B"/>
                          </a:solidFill>
                          <a:latin typeface="Arial"/>
                        </a:defRPr>
                      </a:pPr>
                      <a:r>
                        <a:t>Nạp sẵn FW tại Partner hoặc bỏ bước chờ nạp lại trên Line</a:t>
                      </a:r>
                      <a:br/>
                      <a:r>
                        <a:t>(パートナーでのFW書込 / ライン上ソフト書込廃止)</a:t>
                      </a:r>
                    </a:p>
                  </a:txBody>
                  <a:tcPr anchor="ctr" marL="45720" marR="45720" marT="18288" marB="18288">
                    <a:solidFill>
                      <a:srgbClr val="E8EEF5"/>
                    </a:solidFill>
                  </a:tcPr>
                </a:tc>
                <a:tc>
                  <a:txBody>
                    <a:bodyPr/>
                    <a:lstStyle/>
                    <a:p>
                      <a:pPr algn="l">
                        <a:defRPr sz="760">
                          <a:solidFill>
                            <a:srgbClr val="1E242B"/>
                          </a:solidFill>
                          <a:latin typeface="Arial"/>
                        </a:defRPr>
                      </a:pPr>
                      <a:r>
                        <a:t>Tại A-1 tốn 100s chu kỳ chờ nạp FW + 13s~25s thao tác cắm/rút USB. Cả trạm A-1 tốn 379s (OP1: 78s, OP2: 83s, OP3: 95s, OP4: 102s) cần 4 người.</a:t>
                      </a:r>
                    </a:p>
                  </a:txBody>
                  <a:tcPr anchor="ctr" marL="45720" marR="45720" marT="18288" marB="18288">
                    <a:solidFill>
                      <a:srgbClr val="E8EEF5"/>
                    </a:solidFill>
                  </a:tcPr>
                </a:tc>
                <a:tc>
                  <a:txBody>
                    <a:bodyPr/>
                    <a:lstStyle/>
                    <a:p>
                      <a:pPr algn="l">
                        <a:defRPr sz="760">
                          <a:solidFill>
                            <a:srgbClr val="1E242B"/>
                          </a:solidFill>
                          <a:latin typeface="Arial"/>
                        </a:defRPr>
                      </a:pPr>
                      <a:r>
                        <a:t>Yêu cầu Partner nạp sẵn FW bản mạch Main/Engine/Panel mới nhất trước khi cấp lên Line; trên Line chỉ kiểm tra đối chiếu Version tự động (nếu khớp thì bỏ qua nạp lại).</a:t>
                      </a:r>
                    </a:p>
                  </a:txBody>
                  <a:tcPr anchor="ctr" marL="45720" marR="45720" marT="18288" marB="18288">
                    <a:solidFill>
                      <a:srgbClr val="E8EEF5"/>
                    </a:solidFill>
                  </a:tcPr>
                </a:tc>
                <a:tc>
                  <a:txBody>
                    <a:bodyPr/>
                    <a:lstStyle/>
                    <a:p>
                      <a:pPr algn="l">
                        <a:defRPr sz="760">
                          <a:solidFill>
                            <a:srgbClr val="1E242B"/>
                          </a:solidFill>
                          <a:latin typeface="Arial"/>
                        </a:defRPr>
                      </a:pPr>
                      <a:r>
                        <a:t>• Giảm 13s ~ 25s thao tác tay; chu kỳ A-1 giảm 379s -&gt; 279s (354s -&gt; 254s)</a:t>
                      </a:r>
                      <a:br/>
                      <a:r>
                        <a:t>• Giảm 1 người tại A-1 (từ 4 -&gt; 3 người)</a:t>
                      </a:r>
                    </a:p>
                  </a:txBody>
                  <a:tcPr anchor="ctr" marL="45720" marR="45720" marT="18288" marB="18288">
                    <a:solidFill>
                      <a:srgbClr val="E8EEF5"/>
                    </a:solidFill>
                  </a:tcPr>
                </a:tc>
                <a:tc>
                  <a:txBody>
                    <a:bodyPr/>
                    <a:lstStyle/>
                    <a:p>
                      <a:pPr algn="ctr">
                        <a:defRPr sz="760">
                          <a:solidFill>
                            <a:srgbClr val="1E242B"/>
                          </a:solidFill>
                          <a:latin typeface="Arial"/>
                        </a:defRPr>
                      </a:pPr>
                      <a:r>
                        <a:t>0 VNĐ thiết bị</a:t>
                      </a:r>
                      <a:br/>
                      <a:r>
                        <a:t>(Đàm phán phí gia công Partner / TK JP)</a:t>
                      </a:r>
                    </a:p>
                  </a:txBody>
                  <a:tcPr anchor="ctr" marL="45720" marR="45720" marT="18288" marB="18288">
                    <a:solidFill>
                      <a:srgbClr val="E8EEF5"/>
                    </a:solidFill>
                  </a:tcPr>
                </a:tc>
                <a:tc>
                  <a:txBody>
                    <a:bodyPr/>
                    <a:lstStyle/>
                    <a:p>
                      <a:pPr algn="l">
                        <a:defRPr sz="760">
                          <a:solidFill>
                            <a:srgbClr val="1E242B"/>
                          </a:solidFill>
                          <a:latin typeface="Arial"/>
                        </a:defRPr>
                      </a:pPr>
                      <a:r>
                        <a:t>Đang xác nhận với TK JP &amp; Partner</a:t>
                      </a:r>
                      <a:br/>
                      <a:r>
                        <a:t>(開発目標 Sheet 4;</a:t>
                      </a:r>
                      <a:br/>
                      <a:r>
                        <a:t>第11回, 第13回)</a:t>
                      </a:r>
                    </a:p>
                  </a:txBody>
                  <a:tcPr anchor="ctr" marL="45720" marR="45720" marT="18288" marB="18288">
                    <a:solidFill>
                      <a:srgbClr val="E8EEF5"/>
                    </a:solidFill>
                  </a:tcPr>
                </a:tc>
              </a:tr>
              <a:tr h="741970">
                <a:tc>
                  <a:txBody>
                    <a:bodyPr/>
                    <a:lstStyle/>
                    <a:p>
                      <a:pPr algn="ctr">
                        <a:defRPr sz="760" b="1">
                          <a:solidFill>
                            <a:srgbClr val="1E242B"/>
                          </a:solidFill>
                          <a:latin typeface="Arial"/>
                        </a:defRPr>
                      </a:pPr>
                      <a:r>
                        <a:t>No.19</a:t>
                      </a:r>
                      <a:br/>
                      <a:r>
                        <a:t>(K1 -&gt; A-1)</a:t>
                      </a:r>
                    </a:p>
                  </a:txBody>
                  <a:tcPr anchor="ctr" marL="45720" marR="45720" marT="18288" marB="18288">
                    <a:solidFill>
                      <a:srgbClr val="FFFFFF"/>
                    </a:solidFill>
                  </a:tcPr>
                </a:tc>
                <a:tc>
                  <a:txBody>
                    <a:bodyPr/>
                    <a:lstStyle/>
                    <a:p>
                      <a:pPr algn="l">
                        <a:defRPr sz="760">
                          <a:solidFill>
                            <a:srgbClr val="1E242B"/>
                          </a:solidFill>
                          <a:latin typeface="Arial"/>
                        </a:defRPr>
                      </a:pPr>
                      <a:r>
                        <a:t>Không tháo/lắp nắp máy và dây cáp khi nạp FW &amp; TLBĐ</a:t>
                      </a:r>
                      <a:br/>
                      <a:r>
                        <a:t>(FW書込・初期設定時のカバー・ケーブル着脱廃止)</a:t>
                      </a:r>
                    </a:p>
                  </a:txBody>
                  <a:tcPr anchor="ctr" marL="45720" marR="45720" marT="18288" marB="18288">
                    <a:solidFill>
                      <a:srgbClr val="FFFFFF"/>
                    </a:solidFill>
                  </a:tcPr>
                </a:tc>
                <a:tc>
                  <a:txBody>
                    <a:bodyPr/>
                    <a:lstStyle/>
                    <a:p>
                      <a:pPr algn="l">
                        <a:defRPr sz="760">
                          <a:solidFill>
                            <a:srgbClr val="1E242B"/>
                          </a:solidFill>
                          <a:latin typeface="Arial"/>
                        </a:defRPr>
                      </a:pPr>
                      <a:r>
                        <a:t>Phải lắp FAX, bật máy, lắp đồ gá hộp mực (30s) rồi tháo FAX, tháo đồ gá hộp mực, lắp dummy hộp mực và nắp che (25s) = 55s/máy.</a:t>
                      </a:r>
                    </a:p>
                  </a:txBody>
                  <a:tcPr anchor="ctr" marL="45720" marR="45720" marT="18288" marB="18288">
                    <a:solidFill>
                      <a:srgbClr val="FFFFFF"/>
                    </a:solidFill>
                  </a:tcPr>
                </a:tc>
                <a:tc>
                  <a:txBody>
                    <a:bodyPr/>
                    <a:lstStyle/>
                    <a:p>
                      <a:pPr algn="l">
                        <a:defRPr sz="760">
                          <a:solidFill>
                            <a:srgbClr val="1E242B"/>
                          </a:solidFill>
                          <a:latin typeface="Arial"/>
                        </a:defRPr>
                      </a:pPr>
                      <a:r>
                        <a:t>Cải tiến trình tự kiểm tra và phần mềm để nạp FW &amp; thiết lập ban đầu liền mạch không cần tháo/lắp nắp và cáp nhiều lần. Tận dụng ngay 12 bộ đồ gá hộp mực hiện có.</a:t>
                      </a:r>
                    </a:p>
                  </a:txBody>
                  <a:tcPr anchor="ctr" marL="45720" marR="45720" marT="18288" marB="18288">
                    <a:solidFill>
                      <a:srgbClr val="FFFFFF"/>
                    </a:solidFill>
                  </a:tcPr>
                </a:tc>
                <a:tc>
                  <a:txBody>
                    <a:bodyPr/>
                    <a:lstStyle/>
                    <a:p>
                      <a:pPr algn="l">
                        <a:defRPr sz="760">
                          <a:solidFill>
                            <a:srgbClr val="1E242B"/>
                          </a:solidFill>
                          <a:latin typeface="Arial"/>
                        </a:defRPr>
                      </a:pPr>
                      <a:r>
                        <a:t>• Giảm 55,00 s/máy thao tác tay tại K1 (A-1)</a:t>
                      </a:r>
                      <a:br/>
                      <a:r>
                        <a:t>• Giảm 11 lần cắm/rút cáp toàn chuyền</a:t>
                      </a:r>
                    </a:p>
                  </a:txBody>
                  <a:tcPr anchor="ctr" marL="45720" marR="45720" marT="18288" marB="18288">
                    <a:solidFill>
                      <a:srgbClr val="FFFFFF"/>
                    </a:solidFill>
                  </a:tcPr>
                </a:tc>
                <a:tc>
                  <a:txBody>
                    <a:bodyPr/>
                    <a:lstStyle/>
                    <a:p>
                      <a:pPr algn="ctr">
                        <a:defRPr sz="760">
                          <a:solidFill>
                            <a:srgbClr val="1E242B"/>
                          </a:solidFill>
                          <a:latin typeface="Arial"/>
                        </a:defRPr>
                      </a:pPr>
                      <a:r>
                        <a:t>Đang báo giá</a:t>
                      </a:r>
                      <a:br/>
                      <a:r>
                        <a:t>(見積中)</a:t>
                      </a:r>
                      <a:br/>
                      <a:r>
                        <a:t>[Tận dụng 12 bộ đồ gá hiện có]</a:t>
                      </a:r>
                    </a:p>
                  </a:txBody>
                  <a:tcPr anchor="ctr" marL="45720" marR="45720" marT="18288" marB="18288">
                    <a:solidFill>
                      <a:srgbClr val="FFFFFF"/>
                    </a:solidFill>
                  </a:tcPr>
                </a:tc>
                <a:tc>
                  <a:txBody>
                    <a:bodyPr/>
                    <a:lstStyle/>
                    <a:p>
                      <a:pPr algn="l">
                        <a:defRPr sz="760">
                          <a:solidFill>
                            <a:srgbClr val="1E242B"/>
                          </a:solidFill>
                          <a:latin typeface="Arial"/>
                        </a:defRPr>
                      </a:pPr>
                      <a:r>
                        <a:t>Đang xác nhận điều kiện với TK JP</a:t>
                      </a:r>
                      <a:br/>
                      <a:r>
                        <a:t>(IrisEXP報告 S3;</a:t>
                      </a:r>
                      <a:br/>
                      <a:r>
                        <a:t>まとめ Row 33)</a:t>
                      </a:r>
                    </a:p>
                  </a:txBody>
                  <a:tcPr anchor="ctr" marL="45720" marR="45720" marT="18288" marB="18288">
                    <a:solidFill>
                      <a:srgbClr val="FFFFFF"/>
                    </a:solidFill>
                  </a:tcPr>
                </a:tc>
              </a:tr>
              <a:tr h="741970">
                <a:tc>
                  <a:txBody>
                    <a:bodyPr/>
                    <a:lstStyle/>
                    <a:p>
                      <a:pPr algn="ctr">
                        <a:defRPr sz="760" b="1">
                          <a:solidFill>
                            <a:srgbClr val="1E242B"/>
                          </a:solidFill>
                          <a:latin typeface="Arial"/>
                        </a:defRPr>
                      </a:pPr>
                      <a:r>
                        <a:t>No.20</a:t>
                      </a:r>
                      <a:br/>
                      <a:r>
                        <a:t>(K1 -&gt; A-1)</a:t>
                      </a:r>
                    </a:p>
                  </a:txBody>
                  <a:tcPr anchor="ctr" marL="45720" marR="45720" marT="18288" marB="18288">
                    <a:solidFill>
                      <a:srgbClr val="F7F9FC"/>
                    </a:solidFill>
                  </a:tcPr>
                </a:tc>
                <a:tc>
                  <a:txBody>
                    <a:bodyPr/>
                    <a:lstStyle/>
                    <a:p>
                      <a:pPr algn="l">
                        <a:defRPr sz="760">
                          <a:solidFill>
                            <a:srgbClr val="1E242B"/>
                          </a:solidFill>
                          <a:latin typeface="Arial"/>
                        </a:defRPr>
                      </a:pPr>
                      <a:r>
                        <a:t>Chuyển thu thập dữ liệu kiểm tra từ USB sang mạng nội bộ</a:t>
                      </a:r>
                      <a:br/>
                      <a:r>
                        <a:t>(USB検査ログ取得のネットワーク化)</a:t>
                      </a:r>
                    </a:p>
                  </a:txBody>
                  <a:tcPr anchor="ctr" marL="45720" marR="45720" marT="18288" marB="18288">
                    <a:solidFill>
                      <a:srgbClr val="F7F9FC"/>
                    </a:solidFill>
                  </a:tcPr>
                </a:tc>
                <a:tc>
                  <a:txBody>
                    <a:bodyPr/>
                    <a:lstStyle/>
                    <a:p>
                      <a:pPr algn="l">
                        <a:defRPr sz="760">
                          <a:solidFill>
                            <a:srgbClr val="1E242B"/>
                          </a:solidFill>
                          <a:latin typeface="Arial"/>
                        </a:defRPr>
                      </a:pPr>
                      <a:r>
                        <a:t>Công nhân phải cắm và rút USB thủ công trên từng máy để lấy dữ liệu log kiểm tra (10s/máy).</a:t>
                      </a:r>
                    </a:p>
                  </a:txBody>
                  <a:tcPr anchor="ctr" marL="45720" marR="45720" marT="18288" marB="18288">
                    <a:solidFill>
                      <a:srgbClr val="F7F9FC"/>
                    </a:solidFill>
                  </a:tcPr>
                </a:tc>
                <a:tc>
                  <a:txBody>
                    <a:bodyPr/>
                    <a:lstStyle/>
                    <a:p>
                      <a:pPr algn="l">
                        <a:defRPr sz="760">
                          <a:solidFill>
                            <a:srgbClr val="1E242B"/>
                          </a:solidFill>
                          <a:latin typeface="Arial"/>
                        </a:defRPr>
                      </a:pPr>
                      <a:r>
                        <a:t>Truyền trực tiếp dữ liệu log kiểm tra từ máy về Host PC qua mạng nội bộ (LAN/VLAN qua Mini PC).</a:t>
                      </a:r>
                    </a:p>
                  </a:txBody>
                  <a:tcPr anchor="ctr" marL="45720" marR="45720" marT="18288" marB="18288">
                    <a:solidFill>
                      <a:srgbClr val="F7F9FC"/>
                    </a:solidFill>
                  </a:tcPr>
                </a:tc>
                <a:tc>
                  <a:txBody>
                    <a:bodyPr/>
                    <a:lstStyle/>
                    <a:p>
                      <a:pPr algn="l">
                        <a:defRPr sz="760">
                          <a:solidFill>
                            <a:srgbClr val="1E242B"/>
                          </a:solidFill>
                          <a:latin typeface="Arial"/>
                        </a:defRPr>
                      </a:pPr>
                      <a:r>
                        <a:t>• Giảm 10,00 s/máy</a:t>
                      </a:r>
                      <a:br/>
                      <a:r>
                        <a:t>• Xóa thao tác cắm/rút USB lấy log</a:t>
                      </a:r>
                    </a:p>
                  </a:txBody>
                  <a:tcPr anchor="ctr" marL="45720" marR="45720" marT="18288" marB="18288">
                    <a:solidFill>
                      <a:srgbClr val="F7F9FC"/>
                    </a:solidFill>
                  </a:tcPr>
                </a:tc>
                <a:tc>
                  <a:txBody>
                    <a:bodyPr/>
                    <a:lstStyle/>
                    <a:p>
                      <a:pPr algn="ctr">
                        <a:defRPr sz="760">
                          <a:solidFill>
                            <a:srgbClr val="1E242B"/>
                          </a:solidFill>
                          <a:latin typeface="Arial"/>
                        </a:defRPr>
                      </a:pPr>
                      <a:r>
                        <a:t>Đang báo giá</a:t>
                      </a:r>
                      <a:br/>
                      <a:r>
                        <a:t>(見積中)</a:t>
                      </a:r>
                    </a:p>
                  </a:txBody>
                  <a:tcPr anchor="ctr" marL="45720" marR="45720" marT="18288" marB="18288">
                    <a:solidFill>
                      <a:srgbClr val="F7F9FC"/>
                    </a:solidFill>
                  </a:tcPr>
                </a:tc>
                <a:tc>
                  <a:txBody>
                    <a:bodyPr/>
                    <a:lstStyle/>
                    <a:p>
                      <a:pPr algn="l">
                        <a:defRPr sz="760">
                          <a:solidFill>
                            <a:srgbClr val="1E242B"/>
                          </a:solidFill>
                          <a:latin typeface="Arial"/>
                        </a:defRPr>
                      </a:pPr>
                      <a:r>
                        <a:t>Tích hợp vào hệ thống Host PC / Mini PC</a:t>
                      </a:r>
                      <a:br/>
                      <a:r>
                        <a:t>(IrisEXP報告 S3;</a:t>
                      </a:r>
                      <a:br/>
                      <a:r>
                        <a:t>まとめ Row 34)</a:t>
                      </a:r>
                    </a:p>
                  </a:txBody>
                  <a:tcPr anchor="ctr" marL="45720" marR="45720" marT="18288" marB="18288">
                    <a:solidFill>
                      <a:srgbClr val="F7F9FC"/>
                    </a:solidFill>
                  </a:tcPr>
                </a:tc>
              </a:tr>
              <a:tr h="741970">
                <a:tc>
                  <a:txBody>
                    <a:bodyPr/>
                    <a:lstStyle/>
                    <a:p>
                      <a:pPr algn="ctr">
                        <a:defRPr sz="760" b="1">
                          <a:solidFill>
                            <a:srgbClr val="1E242B"/>
                          </a:solidFill>
                          <a:latin typeface="Arial"/>
                        </a:defRPr>
                      </a:pPr>
                      <a:r>
                        <a:t>No.21</a:t>
                      </a:r>
                      <a:br/>
                      <a:r>
                        <a:t>(K2 -&gt; A-2)</a:t>
                      </a:r>
                    </a:p>
                  </a:txBody>
                  <a:tcPr anchor="ctr" marL="45720" marR="45720" marT="18288" marB="18288">
                    <a:solidFill>
                      <a:srgbClr val="FFFFFF"/>
                    </a:solidFill>
                  </a:tcPr>
                </a:tc>
                <a:tc>
                  <a:txBody>
                    <a:bodyPr/>
                    <a:lstStyle/>
                    <a:p>
                      <a:pPr algn="l">
                        <a:defRPr sz="760">
                          <a:solidFill>
                            <a:srgbClr val="1E242B"/>
                          </a:solidFill>
                          <a:latin typeface="Arial"/>
                        </a:defRPr>
                      </a:pPr>
                      <a:r>
                        <a:t>Đổi cơ cấu kết nối đồ gá kiểm tra Option sang hút nam châm</a:t>
                      </a:r>
                      <a:br/>
                      <a:r>
                        <a:t>(オプション検査治具のマグネット固定化)</a:t>
                      </a:r>
                    </a:p>
                  </a:txBody>
                  <a:tcPr anchor="ctr" marL="45720" marR="45720" marT="18288" marB="18288">
                    <a:solidFill>
                      <a:srgbClr val="FFFFFF"/>
                    </a:solidFill>
                  </a:tcPr>
                </a:tc>
                <a:tc>
                  <a:txBody>
                    <a:bodyPr/>
                    <a:lstStyle/>
                    <a:p>
                      <a:pPr algn="l">
                        <a:defRPr sz="760">
                          <a:solidFill>
                            <a:srgbClr val="1E242B"/>
                          </a:solidFill>
                          <a:latin typeface="Arial"/>
                        </a:defRPr>
                      </a:pPr>
                      <a:r>
                        <a:t>Cắm/rút thủ công nhiều đầu giắc DP, DF, PF, IS/ZF (90s/máy; trên 工程表 là 44,26s); chân giắc dễ mòn, đứt dây ngầm làm dừng chuyền.</a:t>
                      </a:r>
                    </a:p>
                  </a:txBody>
                  <a:tcPr anchor="ctr" marL="45720" marR="45720" marT="18288" marB="18288">
                    <a:solidFill>
                      <a:srgbClr val="FFFFFF"/>
                    </a:solidFill>
                  </a:tcPr>
                </a:tc>
                <a:tc>
                  <a:txBody>
                    <a:bodyPr/>
                    <a:lstStyle/>
                    <a:p>
                      <a:pPr algn="l">
                        <a:defRPr sz="760">
                          <a:solidFill>
                            <a:srgbClr val="1E242B"/>
                          </a:solidFill>
                          <a:latin typeface="Arial"/>
                        </a:defRPr>
                      </a:pPr>
                      <a:r>
                        <a:t>Cải tiến đầu kết nối đồ gá Option từ kiểu ngàm cài cơ khí sang cơ cấu hút từ tính (nam châm) giúp gá lắp nhanh và chống đứt dây.</a:t>
                      </a:r>
                    </a:p>
                  </a:txBody>
                  <a:tcPr anchor="ctr" marL="45720" marR="45720" marT="18288" marB="18288">
                    <a:solidFill>
                      <a:srgbClr val="FFFFFF"/>
                    </a:solidFill>
                  </a:tcPr>
                </a:tc>
                <a:tc>
                  <a:txBody>
                    <a:bodyPr/>
                    <a:lstStyle/>
                    <a:p>
                      <a:pPr algn="l">
                        <a:defRPr sz="760">
                          <a:solidFill>
                            <a:srgbClr val="1E242B"/>
                          </a:solidFill>
                          <a:latin typeface="Arial"/>
                        </a:defRPr>
                      </a:pPr>
                      <a:r>
                        <a:t>• Giảm 45,00 s/máy (giảm 1/2 thời gian gá Option)</a:t>
                      </a:r>
                      <a:br/>
                      <a:r>
                        <a:t>• Giảm dừng chuyền do hỏng cáp đồ gá</a:t>
                      </a:r>
                    </a:p>
                  </a:txBody>
                  <a:tcPr anchor="ctr" marL="45720" marR="45720" marT="18288" marB="18288">
                    <a:solidFill>
                      <a:srgbClr val="FFFFFF"/>
                    </a:solidFill>
                  </a:tcPr>
                </a:tc>
                <a:tc>
                  <a:txBody>
                    <a:bodyPr/>
                    <a:lstStyle/>
                    <a:p>
                      <a:pPr algn="ctr">
                        <a:defRPr sz="760">
                          <a:solidFill>
                            <a:srgbClr val="1E242B"/>
                          </a:solidFill>
                          <a:latin typeface="Arial"/>
                        </a:defRPr>
                      </a:pPr>
                      <a:r>
                        <a:t>Đang báo giá</a:t>
                      </a:r>
                      <a:br/>
                      <a:r>
                        <a:t>(見積中)</a:t>
                      </a:r>
                    </a:p>
                  </a:txBody>
                  <a:tcPr anchor="ctr" marL="45720" marR="45720" marT="18288" marB="18288">
                    <a:solidFill>
                      <a:srgbClr val="FFFFFF"/>
                    </a:solidFill>
                  </a:tcPr>
                </a:tc>
                <a:tc>
                  <a:txBody>
                    <a:bodyPr/>
                    <a:lstStyle/>
                    <a:p>
                      <a:pPr algn="l">
                        <a:defRPr sz="760">
                          <a:solidFill>
                            <a:srgbClr val="1E242B"/>
                          </a:solidFill>
                          <a:latin typeface="Arial"/>
                        </a:defRPr>
                      </a:pPr>
                      <a:r>
                        <a:t>Đang báo giá chế tạo đồ gá (Đồng bộ CN No.17)</a:t>
                      </a:r>
                      <a:br/>
                      <a:r>
                        <a:t>(まとめ Row 35)</a:t>
                      </a:r>
                    </a:p>
                  </a:txBody>
                  <a:tcPr anchor="ctr" marL="45720" marR="45720" marT="18288" marB="18288">
                    <a:solidFill>
                      <a:srgbClr val="FFFFFF"/>
                    </a:solidFill>
                  </a:tcPr>
                </a:tc>
              </a:tr>
              <a:tr h="741972">
                <a:tc>
                  <a:txBody>
                    <a:bodyPr/>
                    <a:lstStyle/>
                    <a:p>
                      <a:pPr algn="ctr">
                        <a:defRPr sz="760" b="1">
                          <a:solidFill>
                            <a:srgbClr val="1E242B"/>
                          </a:solidFill>
                          <a:latin typeface="Arial"/>
                        </a:defRPr>
                      </a:pPr>
                      <a:r>
                        <a:t>No.22</a:t>
                      </a:r>
                      <a:br/>
                      <a:r>
                        <a:t>(K3 -&gt; A-3)</a:t>
                      </a:r>
                    </a:p>
                  </a:txBody>
                  <a:tcPr anchor="ctr" marL="45720" marR="45720" marT="18288" marB="18288">
                    <a:solidFill>
                      <a:srgbClr val="EAF7EE"/>
                    </a:solidFill>
                  </a:tcPr>
                </a:tc>
                <a:tc>
                  <a:txBody>
                    <a:bodyPr/>
                    <a:lstStyle/>
                    <a:p>
                      <a:pPr algn="l">
                        <a:defRPr sz="760">
                          <a:solidFill>
                            <a:srgbClr val="1E242B"/>
                          </a:solidFill>
                          <a:latin typeface="Arial"/>
                        </a:defRPr>
                      </a:pPr>
                      <a:r>
                        <a:t>Tự động hóa kiểm tra thông mạch, tiếp địa, cách điện chịu áp</a:t>
                      </a:r>
                      <a:br/>
                      <a:r>
                        <a:t>(自動導通・耐圧検査の自動化)</a:t>
                      </a:r>
                    </a:p>
                  </a:txBody>
                  <a:tcPr anchor="ctr" marL="45720" marR="45720" marT="18288" marB="18288">
                    <a:solidFill>
                      <a:srgbClr val="EAF7EE"/>
                    </a:solidFill>
                  </a:tcPr>
                </a:tc>
                <a:tc>
                  <a:txBody>
                    <a:bodyPr/>
                    <a:lstStyle/>
                    <a:p>
                      <a:pPr algn="l">
                        <a:defRPr sz="760">
                          <a:solidFill>
                            <a:srgbClr val="1E242B"/>
                          </a:solidFill>
                          <a:latin typeface="Arial"/>
                        </a:defRPr>
                      </a:pPr>
                      <a:r>
                        <a:t>Công nhân cắm nguồn, kẹp que đo tiếp địa, bấm máy đo Chroma 19032 và quét barcode thủ công (20s tiếp địa + 10s chịu áp = 30s/máy).</a:t>
                      </a:r>
                    </a:p>
                  </a:txBody>
                  <a:tcPr anchor="ctr" marL="45720" marR="45720" marT="18288" marB="18288">
                    <a:solidFill>
                      <a:srgbClr val="EAF7EE"/>
                    </a:solidFill>
                  </a:tcPr>
                </a:tc>
                <a:tc>
                  <a:txBody>
                    <a:bodyPr/>
                    <a:lstStyle/>
                    <a:p>
                      <a:pPr algn="l">
                        <a:defRPr sz="760">
                          <a:solidFill>
                            <a:srgbClr val="1E242B"/>
                          </a:solidFill>
                          <a:latin typeface="Arial"/>
                        </a:defRPr>
                      </a:pPr>
                      <a:r>
                        <a:t>Chế tạo hệ thống tự động: 4 Xylanh khí nén SMC tự động cắm nguồn/chạm kim tiếp địa/bấm nút + PLC FX5U + HMI GOT2000 + Đầu đọc Barcode cố định.</a:t>
                      </a:r>
                      <a:br/>
                      <a:r>
                        <a:t>※ Quyết định DR4: Phải đo khi ĐÃ ĐÓNG VỎ MÁY tại A-3 để phát hiện lỗi kẹt dây điện.</a:t>
                      </a:r>
                    </a:p>
                  </a:txBody>
                  <a:tcPr anchor="ctr" marL="45720" marR="45720" marT="18288" marB="18288">
                    <a:solidFill>
                      <a:srgbClr val="EAF7EE"/>
                    </a:solidFill>
                  </a:tcPr>
                </a:tc>
                <a:tc>
                  <a:txBody>
                    <a:bodyPr/>
                    <a:lstStyle/>
                    <a:p>
                      <a:pPr algn="l">
                        <a:defRPr sz="760">
                          <a:solidFill>
                            <a:srgbClr val="1E242B"/>
                          </a:solidFill>
                          <a:latin typeface="Arial"/>
                        </a:defRPr>
                      </a:pPr>
                      <a:r>
                        <a:t>• Giảm 30,00 s/máy</a:t>
                      </a:r>
                      <a:br/>
                      <a:r>
                        <a:t>• Tiết kiệm nhân công: 29.600.000 VNĐ/năm (1.138,46 USD/năm)</a:t>
                      </a:r>
                      <a:br/>
                      <a:r>
                        <a:t>• Tự động lưu kết quả barcode</a:t>
                      </a:r>
                    </a:p>
                  </a:txBody>
                  <a:tcPr anchor="ctr" marL="45720" marR="45720" marT="18288" marB="18288">
                    <a:solidFill>
                      <a:srgbClr val="EAF7EE"/>
                    </a:solidFill>
                  </a:tcPr>
                </a:tc>
                <a:tc>
                  <a:txBody>
                    <a:bodyPr/>
                    <a:lstStyle/>
                    <a:p>
                      <a:pPr algn="ctr">
                        <a:defRPr sz="760" b="1">
                          <a:solidFill>
                            <a:srgbClr val="1E6E3E"/>
                          </a:solidFill>
                          <a:latin typeface="Arial"/>
                        </a:defRPr>
                      </a:pPr>
                      <a:r>
                        <a:t>ĐÃ CÓ BÁO GIÁ:</a:t>
                      </a:r>
                      <a:br/>
                      <a:r>
                        <a:t>101.690.000 VNĐ</a:t>
                      </a:r>
                      <a:br/>
                      <a:r>
                        <a:t>(3.911,15 USD theo BOM 25 mục)</a:t>
                      </a:r>
                      <a:br/>
                      <a:r>
                        <a:t>[Thuyết minh: 101,7tr;</a:t>
                      </a:r>
                      <a:br/>
                      <a:r>
                        <a:t>纏め: 4.000 USD]</a:t>
                      </a:r>
                    </a:p>
                  </a:txBody>
                  <a:tcPr anchor="ctr" marL="45720" marR="45720" marT="18288" marB="18288">
                    <a:solidFill>
                      <a:srgbClr val="EAF7EE"/>
                    </a:solidFill>
                  </a:tcPr>
                </a:tc>
                <a:tc>
                  <a:txBody>
                    <a:bodyPr/>
                    <a:lstStyle/>
                    <a:p>
                      <a:pPr algn="l">
                        <a:defRPr sz="760">
                          <a:solidFill>
                            <a:srgbClr val="1E242B"/>
                          </a:solidFill>
                          <a:latin typeface="Arial"/>
                        </a:defRPr>
                      </a:pPr>
                      <a:r>
                        <a:t>Đề nghị phê duyệt đầu tư đợt này</a:t>
                      </a:r>
                      <a:br/>
                      <a:r>
                        <a:t>(VN提案.xlsx;</a:t>
                      </a:r>
                      <a:br/>
                      <a:r>
                        <a:t>まとめ Row 36;</a:t>
                      </a:r>
                      <a:br/>
                      <a:r>
                        <a:t>DR 4.pdf)</a:t>
                      </a:r>
                    </a:p>
                  </a:txBody>
                  <a:tcPr anchor="ctr" marL="45720" marR="45720" marT="18288" marB="18288">
                    <a:solidFill>
                      <a:srgbClr val="EAF7E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5.3: CHI TIẾT VN (2)</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Chi tiết đề án Việt Nam: Cụm A-4 (No.23 ~ No.28) &amp; Đối chiếu 2 phương án Robot đã hủy sau DR4</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7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Hai đề án Robot (No.23: 650 triệu VNĐ / 25.000 USD và No.24: 4.000 USD) đã hủy sau DR4; được thay bằng Quét liên tục qua DP (No.25, -110s) và Camera đo nồng độ/lề/PPT (No.27, -177s ~ -215s).</a:t>
            </a:r>
          </a:p>
        </p:txBody>
      </p:sp>
      <p:graphicFrame>
        <p:nvGraphicFramePr>
          <p:cNvPr id="7" name="Table 6"/>
          <p:cNvGraphicFramePr>
            <a:graphicFrameLocks noGrp="1"/>
          </p:cNvGraphicFramePr>
          <p:nvPr/>
        </p:nvGraphicFramePr>
        <p:xfrm>
          <a:off x="274320" y="1243584"/>
          <a:ext cx="11643055" cy="3977639"/>
        </p:xfrm>
        <a:graphic>
          <a:graphicData uri="http://schemas.openxmlformats.org/drawingml/2006/table">
            <a:tbl>
              <a:tblPr firstRow="1" bandRow="1">
                <a:tableStyleId>{5C22544A-7EE6-4342-B048-85BDC9FD1C3A}</a:tableStyleId>
              </a:tblPr>
              <a:tblGrid>
                <a:gridCol w="868680"/>
                <a:gridCol w="2011680"/>
                <a:gridCol w="2011680"/>
                <a:gridCol w="2514600"/>
                <a:gridCol w="1417320"/>
                <a:gridCol w="1463040"/>
                <a:gridCol w="1356055"/>
              </a:tblGrid>
              <a:tr h="568234">
                <a:tc>
                  <a:txBody>
                    <a:bodyPr/>
                    <a:lstStyle/>
                    <a:p>
                      <a:pPr algn="ctr">
                        <a:defRPr sz="800" b="1">
                          <a:solidFill>
                            <a:srgbClr val="FFFFFF"/>
                          </a:solidFill>
                          <a:latin typeface="Arial"/>
                        </a:defRPr>
                      </a:pPr>
                      <a:r>
                        <a:t>Mã Đề án</a:t>
                      </a:r>
                      <a:br/>
                      <a:r>
                        <a:t>(Trạm)</a:t>
                      </a:r>
                    </a:p>
                  </a:txBody>
                  <a:tcPr anchor="ctr" marL="45720" marR="45720" marT="18288" marB="18288">
                    <a:solidFill>
                      <a:srgbClr val="1B365D"/>
                    </a:solidFill>
                  </a:tcPr>
                </a:tc>
                <a:tc>
                  <a:txBody>
                    <a:bodyPr/>
                    <a:lstStyle/>
                    <a:p>
                      <a:pPr algn="ctr">
                        <a:defRPr sz="800" b="1">
                          <a:solidFill>
                            <a:srgbClr val="FFFFFF"/>
                          </a:solidFill>
                          <a:latin typeface="Arial"/>
                        </a:defRPr>
                      </a:pPr>
                      <a:r>
                        <a:t>Tên đề án</a:t>
                      </a:r>
                      <a:br/>
                      <a:r>
                        <a:t>(Thuật ngữ gốc Nhật)</a:t>
                      </a:r>
                    </a:p>
                  </a:txBody>
                  <a:tcPr anchor="ctr" marL="45720" marR="45720" marT="18288" marB="18288">
                    <a:solidFill>
                      <a:srgbClr val="1B365D"/>
                    </a:solidFill>
                  </a:tcPr>
                </a:tc>
                <a:tc>
                  <a:txBody>
                    <a:bodyPr/>
                    <a:lstStyle/>
                    <a:p>
                      <a:pPr algn="ctr">
                        <a:defRPr sz="800" b="1">
                          <a:solidFill>
                            <a:srgbClr val="FFFFFF"/>
                          </a:solidFill>
                          <a:latin typeface="Arial"/>
                        </a:defRPr>
                      </a:pPr>
                      <a:r>
                        <a:t>Hiện trạng đối ứng</a:t>
                      </a:r>
                      <a:br/>
                      <a:r>
                        <a:t>(Iris2024 tại VN)</a:t>
                      </a:r>
                    </a:p>
                  </a:txBody>
                  <a:tcPr anchor="ctr" marL="45720" marR="45720" marT="18288" marB="18288">
                    <a:solidFill>
                      <a:srgbClr val="1B365D"/>
                    </a:solidFill>
                  </a:tcPr>
                </a:tc>
                <a:tc>
                  <a:txBody>
                    <a:bodyPr/>
                    <a:lstStyle/>
                    <a:p>
                      <a:pPr algn="ctr">
                        <a:defRPr sz="800" b="1">
                          <a:solidFill>
                            <a:srgbClr val="FFFFFF"/>
                          </a:solidFill>
                          <a:latin typeface="Arial"/>
                        </a:defRPr>
                      </a:pPr>
                      <a:r>
                        <a:t>Nội dung giải pháp &amp; Quyết định tại 連携会 / DR4</a:t>
                      </a:r>
                    </a:p>
                  </a:txBody>
                  <a:tcPr anchor="ctr" marL="45720" marR="45720" marT="18288" marB="18288">
                    <a:solidFill>
                      <a:srgbClr val="1B365D"/>
                    </a:solidFill>
                  </a:tcPr>
                </a:tc>
                <a:tc>
                  <a:txBody>
                    <a:bodyPr/>
                    <a:lstStyle/>
                    <a:p>
                      <a:pPr algn="ctr">
                        <a:defRPr sz="800" b="1">
                          <a:solidFill>
                            <a:srgbClr val="FFFFFF"/>
                          </a:solidFill>
                          <a:latin typeface="Arial"/>
                        </a:defRPr>
                      </a:pPr>
                      <a:r>
                        <a:t>Hiệu quả</a:t>
                      </a:r>
                      <a:br/>
                      <a:r>
                        <a:t>(TG / Nhân lực / NS)</a:t>
                      </a:r>
                    </a:p>
                  </a:txBody>
                  <a:tcPr anchor="ctr" marL="45720" marR="45720" marT="18288" marB="18288">
                    <a:solidFill>
                      <a:srgbClr val="1B365D"/>
                    </a:solidFill>
                  </a:tcPr>
                </a:tc>
                <a:tc>
                  <a:txBody>
                    <a:bodyPr/>
                    <a:lstStyle/>
                    <a:p>
                      <a:pPr algn="ctr">
                        <a:defRPr sz="800" b="1">
                          <a:solidFill>
                            <a:srgbClr val="FFFFFF"/>
                          </a:solidFill>
                          <a:latin typeface="Arial"/>
                        </a:defRPr>
                      </a:pPr>
                      <a:r>
                        <a:t>Kinh phí &amp; Trạng thái báo giá</a:t>
                      </a:r>
                    </a:p>
                  </a:txBody>
                  <a:tcPr anchor="ctr" marL="45720" marR="45720" marT="18288" marB="18288">
                    <a:solidFill>
                      <a:srgbClr val="1B365D"/>
                    </a:solidFill>
                  </a:tcPr>
                </a:tc>
                <a:tc>
                  <a:txBody>
                    <a:bodyPr/>
                    <a:lstStyle/>
                    <a:p>
                      <a:pPr algn="ctr">
                        <a:defRPr sz="800" b="1">
                          <a:solidFill>
                            <a:srgbClr val="FFFFFF"/>
                          </a:solidFill>
                          <a:latin typeface="Arial"/>
                        </a:defRPr>
                      </a:pPr>
                      <a:r>
                        <a:t>Quyết định / Nguồn đối chiếu</a:t>
                      </a:r>
                    </a:p>
                  </a:txBody>
                  <a:tcPr anchor="ctr" marL="45720" marR="45720" marT="18288" marB="18288">
                    <a:solidFill>
                      <a:srgbClr val="1B365D"/>
                    </a:solidFill>
                  </a:tcPr>
                </a:tc>
              </a:tr>
              <a:tr h="568234">
                <a:tc>
                  <a:txBody>
                    <a:bodyPr/>
                    <a:lstStyle/>
                    <a:p>
                      <a:pPr algn="ctr">
                        <a:defRPr sz="740" b="1">
                          <a:solidFill>
                            <a:srgbClr val="B8292F"/>
                          </a:solidFill>
                          <a:latin typeface="Arial"/>
                        </a:defRPr>
                      </a:pPr>
                      <a:r>
                        <a:t>No.23</a:t>
                      </a:r>
                      <a:br/>
                      <a:r>
                        <a:t>(K4 -&gt; A-4)</a:t>
                      </a:r>
                      <a:br/>
                      <a:r>
                        <a:t>[ĐÃ HỦY]</a:t>
                      </a:r>
                    </a:p>
                  </a:txBody>
                  <a:tcPr anchor="ctr" marL="45720" marR="45720" marT="18288" marB="18288">
                    <a:solidFill>
                      <a:srgbClr val="FDEDEC"/>
                    </a:solidFill>
                  </a:tcPr>
                </a:tc>
                <a:tc>
                  <a:txBody>
                    <a:bodyPr/>
                    <a:lstStyle/>
                    <a:p>
                      <a:pPr algn="l">
                        <a:defRPr sz="740" b="1">
                          <a:solidFill>
                            <a:srgbClr val="B8292F"/>
                          </a:solidFill>
                          <a:latin typeface="Arial"/>
                        </a:defRPr>
                      </a:pPr>
                      <a:r>
                        <a:t>[ĐÃ HỦY SAU DR4]</a:t>
                      </a:r>
                      <a:br/>
                      <a:r>
                        <a:t>Chế tạo Robot đặt bản thảo lên mặt kính ISU</a:t>
                      </a:r>
                      <a:br/>
                      <a:r>
                        <a:t>(ISU原稿セットロボット)</a:t>
                      </a:r>
                    </a:p>
                  </a:txBody>
                  <a:tcPr anchor="ctr" marL="45720" marR="45720" marT="18288" marB="18288">
                    <a:solidFill>
                      <a:srgbClr val="FDEDEC"/>
                    </a:solidFill>
                  </a:tcPr>
                </a:tc>
                <a:tc>
                  <a:txBody>
                    <a:bodyPr/>
                    <a:lstStyle/>
                    <a:p>
                      <a:pPr algn="l">
                        <a:defRPr sz="740">
                          <a:solidFill>
                            <a:srgbClr val="1E242B"/>
                          </a:solidFill>
                          <a:latin typeface="Arial"/>
                        </a:defRPr>
                      </a:pPr>
                      <a:r>
                        <a:t>Công nhân mở nắp Platen, đặt/lấy 3 bản thảo lên kính ISU: U411 (45s) + SITC-2 (35s) + Halftone (30s) = 110s/máy.</a:t>
                      </a:r>
                    </a:p>
                  </a:txBody>
                  <a:tcPr anchor="ctr" marL="45720" marR="45720" marT="18288" marB="18288">
                    <a:solidFill>
                      <a:srgbClr val="FDEDEC"/>
                    </a:solidFill>
                  </a:tcPr>
                </a:tc>
                <a:tc>
                  <a:txBody>
                    <a:bodyPr/>
                    <a:lstStyle/>
                    <a:p>
                      <a:pPr algn="l">
                        <a:defRPr sz="740" b="1">
                          <a:solidFill>
                            <a:srgbClr val="B8292F"/>
                          </a:solidFill>
                          <a:latin typeface="Arial"/>
                        </a:defRPr>
                      </a:pPr>
                      <a:r>
                        <a:t>Dự kiến mở rộng 2 cell băng tải (200tr) + cấp nguồn (50tr) + định vị USB/LAN (50tr) + Cánh tay Robot (350tr). ĐÃ HỦY tại 連携会 7 / DR4 do chi phí cao, hoàn vốn &gt;6 năm, tốn diện tích.</a:t>
                      </a:r>
                    </a:p>
                  </a:txBody>
                  <a:tcPr anchor="ctr" marL="45720" marR="45720" marT="18288" marB="18288">
                    <a:solidFill>
                      <a:srgbClr val="FDEDEC"/>
                    </a:solidFill>
                  </a:tcPr>
                </a:tc>
                <a:tc>
                  <a:txBody>
                    <a:bodyPr/>
                    <a:lstStyle/>
                    <a:p>
                      <a:pPr algn="l">
                        <a:defRPr sz="740">
                          <a:solidFill>
                            <a:srgbClr val="1E242B"/>
                          </a:solidFill>
                          <a:latin typeface="Arial"/>
                        </a:defRPr>
                      </a:pPr>
                      <a:r>
                        <a:t>• Mục tiêu: -110s/máy (108,53tr VNĐ/năm)</a:t>
                      </a:r>
                      <a:br/>
                      <a:r>
                        <a:t>• Hoàn vốn &gt;6 năm -&gt; HỦY BỎ</a:t>
                      </a:r>
                    </a:p>
                  </a:txBody>
                  <a:tcPr anchor="ctr" marL="45720" marR="45720" marT="18288" marB="18288">
                    <a:solidFill>
                      <a:srgbClr val="FDEDEC"/>
                    </a:solidFill>
                  </a:tcPr>
                </a:tc>
                <a:tc>
                  <a:txBody>
                    <a:bodyPr/>
                    <a:lstStyle/>
                    <a:p>
                      <a:pPr algn="ctr">
                        <a:defRPr sz="740" b="1">
                          <a:solidFill>
                            <a:srgbClr val="B8292F"/>
                          </a:solidFill>
                          <a:latin typeface="Arial"/>
                        </a:defRPr>
                      </a:pPr>
                      <a:r>
                        <a:t>650.000.000 VNĐ</a:t>
                      </a:r>
                      <a:br/>
                      <a:r>
                        <a:t>(25.000 USD)</a:t>
                      </a:r>
                      <a:br/>
                      <a:r>
                        <a:t>[ĐÃ HỦY - KHÔNG DÙNG]</a:t>
                      </a:r>
                    </a:p>
                  </a:txBody>
                  <a:tcPr anchor="ctr" marL="45720" marR="45720" marT="18288" marB="18288">
                    <a:solidFill>
                      <a:srgbClr val="FDEDEC"/>
                    </a:solidFill>
                  </a:tcPr>
                </a:tc>
                <a:tc>
                  <a:txBody>
                    <a:bodyPr/>
                    <a:lstStyle/>
                    <a:p>
                      <a:pPr algn="l">
                        <a:defRPr sz="740" b="1">
                          <a:solidFill>
                            <a:srgbClr val="B8292F"/>
                          </a:solidFill>
                          <a:latin typeface="Arial"/>
                        </a:defRPr>
                      </a:pPr>
                      <a:r>
                        <a:t>ĐÃ HỦY (廃止)</a:t>
                      </a:r>
                      <a:br/>
                      <a:r>
                        <a:t>Thay bằng No.25</a:t>
                      </a:r>
                      <a:br/>
                      <a:r>
                        <a:t>(VN提案.xlsx;</a:t>
                      </a:r>
                      <a:br/>
                      <a:r>
                        <a:t>第7回.txt; R37)</a:t>
                      </a:r>
                    </a:p>
                  </a:txBody>
                  <a:tcPr anchor="ctr" marL="45720" marR="45720" marT="18288" marB="18288">
                    <a:solidFill>
                      <a:srgbClr val="FDEDEC"/>
                    </a:solidFill>
                  </a:tcPr>
                </a:tc>
              </a:tr>
              <a:tr h="568234">
                <a:tc>
                  <a:txBody>
                    <a:bodyPr/>
                    <a:lstStyle/>
                    <a:p>
                      <a:pPr algn="ctr">
                        <a:defRPr sz="740" b="1">
                          <a:solidFill>
                            <a:srgbClr val="B8292F"/>
                          </a:solidFill>
                          <a:latin typeface="Arial"/>
                        </a:defRPr>
                      </a:pPr>
                      <a:r>
                        <a:t>No.24</a:t>
                      </a:r>
                      <a:br/>
                      <a:r>
                        <a:t>(K4 -&gt; A-2)</a:t>
                      </a:r>
                      <a:br/>
                      <a:r>
                        <a:t>[ĐÃ HỦY]</a:t>
                      </a:r>
                    </a:p>
                  </a:txBody>
                  <a:tcPr anchor="ctr" marL="45720" marR="45720" marT="18288" marB="18288">
                    <a:solidFill>
                      <a:srgbClr val="FDEDEC"/>
                    </a:solidFill>
                  </a:tcPr>
                </a:tc>
                <a:tc>
                  <a:txBody>
                    <a:bodyPr/>
                    <a:lstStyle/>
                    <a:p>
                      <a:pPr algn="l">
                        <a:defRPr sz="740" b="1">
                          <a:solidFill>
                            <a:srgbClr val="B8292F"/>
                          </a:solidFill>
                          <a:latin typeface="Arial"/>
                        </a:defRPr>
                      </a:pPr>
                      <a:r>
                        <a:t>[ĐÃ HỦY SAU DR4]</a:t>
                      </a:r>
                      <a:br/>
                      <a:r>
                        <a:t>Robot kiểm tra nhận diện USB &amp; tọa độ Panel U201</a:t>
                      </a:r>
                      <a:br/>
                      <a:r>
                        <a:t>(USB・U201検査ロボット)</a:t>
                      </a:r>
                    </a:p>
                  </a:txBody>
                  <a:tcPr anchor="ctr" marL="45720" marR="45720" marT="18288" marB="18288">
                    <a:solidFill>
                      <a:srgbClr val="FDEDEC"/>
                    </a:solidFill>
                  </a:tcPr>
                </a:tc>
                <a:tc>
                  <a:txBody>
                    <a:bodyPr/>
                    <a:lstStyle/>
                    <a:p>
                      <a:pPr algn="l">
                        <a:defRPr sz="740">
                          <a:solidFill>
                            <a:srgbClr val="1E242B"/>
                          </a:solidFill>
                          <a:latin typeface="Arial"/>
                        </a:defRPr>
                      </a:pPr>
                      <a:r>
                        <a:t>Công nhân cắm/rút USB kiểm tra nhận diện (15s) và dùng bút chạm 3 điểm trên màn hình U201 (15s) = 30s/máy.</a:t>
                      </a:r>
                    </a:p>
                  </a:txBody>
                  <a:tcPr anchor="ctr" marL="45720" marR="45720" marT="18288" marB="18288">
                    <a:solidFill>
                      <a:srgbClr val="FDEDEC"/>
                    </a:solidFill>
                  </a:tcPr>
                </a:tc>
                <a:tc>
                  <a:txBody>
                    <a:bodyPr/>
                    <a:lstStyle/>
                    <a:p>
                      <a:pPr algn="l">
                        <a:defRPr sz="740" b="1">
                          <a:solidFill>
                            <a:srgbClr val="B8292F"/>
                          </a:solidFill>
                          <a:latin typeface="Arial"/>
                        </a:defRPr>
                      </a:pPr>
                      <a:r>
                        <a:t>Dự kiến làm cơ cấu tự động cắm USB &amp; chạm Panel. ĐÃ HỦY (見送り) vì USB đã được bảo chứng khi nạp FW đầu chuyền (JP No.6) và U201 chuyển sang đọc log từ Panel Assy qua Host PC (JP No.3).</a:t>
                      </a:r>
                    </a:p>
                  </a:txBody>
                  <a:tcPr anchor="ctr" marL="45720" marR="45720" marT="18288" marB="18288">
                    <a:solidFill>
                      <a:srgbClr val="FDEDEC"/>
                    </a:solidFill>
                  </a:tcPr>
                </a:tc>
                <a:tc>
                  <a:txBody>
                    <a:bodyPr/>
                    <a:lstStyle/>
                    <a:p>
                      <a:pPr algn="l">
                        <a:defRPr sz="740">
                          <a:solidFill>
                            <a:srgbClr val="1E242B"/>
                          </a:solidFill>
                          <a:latin typeface="Arial"/>
                        </a:defRPr>
                      </a:pPr>
                      <a:r>
                        <a:t>• Xóa 30s tại VN (15,12s U201 + 3,96s USB chuẩn) bằng phần mềm 0 đồng TB</a:t>
                      </a:r>
                    </a:p>
                  </a:txBody>
                  <a:tcPr anchor="ctr" marL="45720" marR="45720" marT="18288" marB="18288">
                    <a:solidFill>
                      <a:srgbClr val="FDEDEC"/>
                    </a:solidFill>
                  </a:tcPr>
                </a:tc>
                <a:tc>
                  <a:txBody>
                    <a:bodyPr/>
                    <a:lstStyle/>
                    <a:p>
                      <a:pPr algn="ctr">
                        <a:defRPr sz="740" b="1">
                          <a:solidFill>
                            <a:srgbClr val="B8292F"/>
                          </a:solidFill>
                          <a:latin typeface="Arial"/>
                        </a:defRPr>
                      </a:pPr>
                      <a:r>
                        <a:t>4.000 USD</a:t>
                      </a:r>
                      <a:br/>
                      <a:r>
                        <a:t>(~104 triệu VNĐ)</a:t>
                      </a:r>
                      <a:br/>
                      <a:r>
                        <a:t>[ĐÃ HỦY - KHÔNG DÙNG]</a:t>
                      </a:r>
                    </a:p>
                  </a:txBody>
                  <a:tcPr anchor="ctr" marL="45720" marR="45720" marT="18288" marB="18288">
                    <a:solidFill>
                      <a:srgbClr val="FDEDEC"/>
                    </a:solidFill>
                  </a:tcPr>
                </a:tc>
                <a:tc>
                  <a:txBody>
                    <a:bodyPr/>
                    <a:lstStyle/>
                    <a:p>
                      <a:pPr algn="l">
                        <a:defRPr sz="740" b="1">
                          <a:solidFill>
                            <a:srgbClr val="B8292F"/>
                          </a:solidFill>
                          <a:latin typeface="Arial"/>
                        </a:defRPr>
                      </a:pPr>
                      <a:r>
                        <a:t>ĐÃ HỦY ROBOT</a:t>
                      </a:r>
                      <a:br/>
                      <a:r>
                        <a:t>Đã xóa bước nhờ JP No.3 &amp; No.6</a:t>
                      </a:r>
                      <a:br/>
                      <a:r>
                        <a:t>(VN提案; 第7回)</a:t>
                      </a:r>
                    </a:p>
                  </a:txBody>
                  <a:tcPr anchor="ctr" marL="45720" marR="45720" marT="18288" marB="18288">
                    <a:solidFill>
                      <a:srgbClr val="FDEDEC"/>
                    </a:solidFill>
                  </a:tcPr>
                </a:tc>
              </a:tr>
              <a:tr h="568234">
                <a:tc>
                  <a:txBody>
                    <a:bodyPr/>
                    <a:lstStyle/>
                    <a:p>
                      <a:pPr algn="ctr">
                        <a:defRPr sz="740" b="1">
                          <a:solidFill>
                            <a:srgbClr val="1E242B"/>
                          </a:solidFill>
                          <a:latin typeface="Arial"/>
                        </a:defRPr>
                      </a:pPr>
                      <a:r>
                        <a:t>No.25</a:t>
                      </a:r>
                      <a:br/>
                      <a:r>
                        <a:t>(K4 -&gt; A-4)</a:t>
                      </a:r>
                      <a:br/>
                      <a:r>
                        <a:t>[ĐƯỢC CHỌN]</a:t>
                      </a:r>
                    </a:p>
                  </a:txBody>
                  <a:tcPr anchor="ctr" marL="45720" marR="45720" marT="18288" marB="18288">
                    <a:solidFill>
                      <a:srgbClr val="EAF7EE"/>
                    </a:solidFill>
                  </a:tcPr>
                </a:tc>
                <a:tc>
                  <a:txBody>
                    <a:bodyPr/>
                    <a:lstStyle/>
                    <a:p>
                      <a:pPr algn="l">
                        <a:defRPr sz="740">
                          <a:solidFill>
                            <a:srgbClr val="1E242B"/>
                          </a:solidFill>
                          <a:latin typeface="Arial"/>
                        </a:defRPr>
                      </a:pPr>
                      <a:r>
                        <a:t>Quét bản thảo liên tục bằng bộ nạp DP của máy + PC tự động đánh giá</a:t>
                      </a:r>
                      <a:br/>
                      <a:r>
                        <a:t>(本体DP連続スキャン＋PC自動判定)</a:t>
                      </a:r>
                    </a:p>
                  </a:txBody>
                  <a:tcPr anchor="ctr" marL="45720" marR="45720" marT="18288" marB="18288">
                    <a:solidFill>
                      <a:srgbClr val="EAF7EE"/>
                    </a:solidFill>
                  </a:tcPr>
                </a:tc>
                <a:tc>
                  <a:txBody>
                    <a:bodyPr/>
                    <a:lstStyle/>
                    <a:p>
                      <a:pPr algn="l">
                        <a:defRPr sz="740">
                          <a:solidFill>
                            <a:srgbClr val="1E242B"/>
                          </a:solidFill>
                          <a:latin typeface="Arial"/>
                        </a:defRPr>
                      </a:pPr>
                      <a:r>
                        <a:t>Đặt từng tờ bản thảo lên mặt kính ISU thủ công tốn 110s/máy (U411 45s + SITC-2 35s + Halftone 30s).</a:t>
                      </a:r>
                    </a:p>
                  </a:txBody>
                  <a:tcPr anchor="ctr" marL="45720" marR="45720" marT="18288" marB="18288">
                    <a:solidFill>
                      <a:srgbClr val="EAF7EE"/>
                    </a:solidFill>
                  </a:tcPr>
                </a:tc>
                <a:tc>
                  <a:txBody>
                    <a:bodyPr/>
                    <a:lstStyle/>
                    <a:p>
                      <a:pPr algn="l">
                        <a:defRPr sz="740">
                          <a:solidFill>
                            <a:srgbClr val="1E242B"/>
                          </a:solidFill>
                          <a:latin typeface="Arial"/>
                        </a:defRPr>
                      </a:pPr>
                      <a:r>
                        <a:t>Phương án thay thế Robot No.23: Đặt cả xấp bản thảo vào khay nạp tự động DP (Document Processor) của máy MFP để máy tự kéo giấy quét liên tục 1 lần và gửi ảnh về PC phán định.</a:t>
                      </a:r>
                    </a:p>
                  </a:txBody>
                  <a:tcPr anchor="ctr" marL="45720" marR="45720" marT="18288" marB="18288">
                    <a:solidFill>
                      <a:srgbClr val="EAF7EE"/>
                    </a:solidFill>
                  </a:tcPr>
                </a:tc>
                <a:tc>
                  <a:txBody>
                    <a:bodyPr/>
                    <a:lstStyle/>
                    <a:p>
                      <a:pPr algn="l">
                        <a:defRPr sz="740">
                          <a:solidFill>
                            <a:srgbClr val="1E242B"/>
                          </a:solidFill>
                          <a:latin typeface="Arial"/>
                        </a:defRPr>
                      </a:pPr>
                      <a:r>
                        <a:t>• Giảm 110,00 s/máy</a:t>
                      </a:r>
                      <a:br/>
                      <a:r>
                        <a:t>• Không tốn diện tích mở rộng 2 cell băng tải và không cần Robot</a:t>
                      </a:r>
                    </a:p>
                  </a:txBody>
                  <a:tcPr anchor="ctr" marL="45720" marR="45720" marT="18288" marB="18288">
                    <a:solidFill>
                      <a:srgbClr val="EAF7EE"/>
                    </a:solidFill>
                  </a:tcPr>
                </a:tc>
                <a:tc>
                  <a:txBody>
                    <a:bodyPr/>
                    <a:lstStyle/>
                    <a:p>
                      <a:pPr algn="ctr">
                        <a:defRPr sz="740">
                          <a:solidFill>
                            <a:srgbClr val="1E242B"/>
                          </a:solidFill>
                          <a:latin typeface="Arial"/>
                        </a:defRPr>
                      </a:pPr>
                      <a:r>
                        <a:t>Đang báo giá</a:t>
                      </a:r>
                      <a:br/>
                      <a:r>
                        <a:t>(見積中)</a:t>
                      </a:r>
                      <a:br/>
                      <a:r>
                        <a:t>[Không dùng giá 650tr của No.23]</a:t>
                      </a:r>
                    </a:p>
                  </a:txBody>
                  <a:tcPr anchor="ctr" marL="45720" marR="45720" marT="18288" marB="18288">
                    <a:solidFill>
                      <a:srgbClr val="EAF7EE"/>
                    </a:solidFill>
                  </a:tcPr>
                </a:tc>
                <a:tc>
                  <a:txBody>
                    <a:bodyPr/>
                    <a:lstStyle/>
                    <a:p>
                      <a:pPr algn="l">
                        <a:defRPr sz="740">
                          <a:solidFill>
                            <a:srgbClr val="1E242B"/>
                          </a:solidFill>
                          <a:latin typeface="Arial"/>
                        </a:defRPr>
                      </a:pPr>
                      <a:r>
                        <a:t>Đang kiểm chứng độ chính xác DP vs ISU</a:t>
                      </a:r>
                      <a:br/>
                      <a:r>
                        <a:t>(まとめ Row 39;</a:t>
                      </a:r>
                      <a:br/>
                      <a:r>
                        <a:t>第13回~17回)</a:t>
                      </a:r>
                    </a:p>
                  </a:txBody>
                  <a:tcPr anchor="ctr" marL="45720" marR="45720" marT="18288" marB="18288">
                    <a:solidFill>
                      <a:srgbClr val="EAF7EE"/>
                    </a:solidFill>
                  </a:tcPr>
                </a:tc>
              </a:tr>
              <a:tr h="568234">
                <a:tc>
                  <a:txBody>
                    <a:bodyPr/>
                    <a:lstStyle/>
                    <a:p>
                      <a:pPr algn="ctr">
                        <a:defRPr sz="740" b="1">
                          <a:solidFill>
                            <a:srgbClr val="1E242B"/>
                          </a:solidFill>
                          <a:latin typeface="Arial"/>
                        </a:defRPr>
                      </a:pPr>
                      <a:r>
                        <a:t>No.26</a:t>
                      </a:r>
                      <a:br/>
                      <a:r>
                        <a:t>(K6 -&gt; A-3)</a:t>
                      </a:r>
                      <a:br/>
                      <a:r>
                        <a:t>[DÀI HẠN]</a:t>
                      </a:r>
                    </a:p>
                  </a:txBody>
                  <a:tcPr anchor="ctr" marL="45720" marR="45720" marT="18288" marB="18288">
                    <a:solidFill>
                      <a:srgbClr val="FEF7E6"/>
                    </a:solidFill>
                  </a:tcPr>
                </a:tc>
                <a:tc>
                  <a:txBody>
                    <a:bodyPr/>
                    <a:lstStyle/>
                    <a:p>
                      <a:pPr algn="l">
                        <a:defRPr sz="740">
                          <a:solidFill>
                            <a:srgbClr val="1E242B"/>
                          </a:solidFill>
                          <a:latin typeface="Arial"/>
                        </a:defRPr>
                      </a:pPr>
                      <a:r>
                        <a:t>Phần mềm AI phân tích âm thanh lạ và kiểm tra nhiệt độ</a:t>
                      </a:r>
                      <a:br/>
                      <a:r>
                        <a:t>(AI異音・温度検査ソフト開発)</a:t>
                      </a:r>
                    </a:p>
                  </a:txBody>
                  <a:tcPr anchor="ctr" marL="45720" marR="45720" marT="18288" marB="18288">
                    <a:solidFill>
                      <a:srgbClr val="FEF7E6"/>
                    </a:solidFill>
                  </a:tcPr>
                </a:tc>
                <a:tc>
                  <a:txBody>
                    <a:bodyPr/>
                    <a:lstStyle/>
                    <a:p>
                      <a:pPr algn="l">
                        <a:defRPr sz="740">
                          <a:solidFill>
                            <a:srgbClr val="1E242B"/>
                          </a:solidFill>
                          <a:latin typeface="Arial"/>
                        </a:defRPr>
                      </a:pPr>
                      <a:r>
                        <a:t>Công nhân nghe âm thanh lạ bằng tai trong buồng cách âm (Fuser, FAN, Operation, MPF/DU = 40s tại K6).</a:t>
                      </a:r>
                    </a:p>
                  </a:txBody>
                  <a:tcPr anchor="ctr" marL="45720" marR="45720" marT="18288" marB="18288">
                    <a:solidFill>
                      <a:srgbClr val="FEF7E6"/>
                    </a:solidFill>
                  </a:tcPr>
                </a:tc>
                <a:tc>
                  <a:txBody>
                    <a:bodyPr/>
                    <a:lstStyle/>
                    <a:p>
                      <a:pPr algn="l">
                        <a:defRPr sz="740">
                          <a:solidFill>
                            <a:srgbClr val="1E242B"/>
                          </a:solidFill>
                          <a:latin typeface="Arial"/>
                        </a:defRPr>
                      </a:pPr>
                      <a:r>
                        <a:t>Dùng Microphone + AI phân tích phổ âm thanh và Camera nhiệt. Phía JP ước tính chi phí 600 vạn JPY (~40.000 USD: 100 vạn JPY gá/mic + 500 vạn JPY phát triển AI). Chuyển sang R&amp;D dài hạn 2026-2030.</a:t>
                      </a:r>
                    </a:p>
                  </a:txBody>
                  <a:tcPr anchor="ctr" marL="45720" marR="45720" marT="18288" marB="18288">
                    <a:solidFill>
                      <a:srgbClr val="FEF7E6"/>
                    </a:solidFill>
                  </a:tcPr>
                </a:tc>
                <a:tc>
                  <a:txBody>
                    <a:bodyPr/>
                    <a:lstStyle/>
                    <a:p>
                      <a:pPr algn="l">
                        <a:defRPr sz="740">
                          <a:solidFill>
                            <a:srgbClr val="1E242B"/>
                          </a:solidFill>
                          <a:latin typeface="Arial"/>
                        </a:defRPr>
                      </a:pPr>
                      <a:r>
                        <a:t>• Kỳ vọng dài hạn: -40,00 s/máy</a:t>
                      </a:r>
                      <a:br/>
                      <a:r>
                        <a:t>• Chưa áp dụng cho đợt MP đầu tiên</a:t>
                      </a:r>
                    </a:p>
                  </a:txBody>
                  <a:tcPr anchor="ctr" marL="45720" marR="45720" marT="18288" marB="18288">
                    <a:solidFill>
                      <a:srgbClr val="FEF7E6"/>
                    </a:solidFill>
                  </a:tcPr>
                </a:tc>
                <a:tc>
                  <a:txBody>
                    <a:bodyPr/>
                    <a:lstStyle/>
                    <a:p>
                      <a:pPr algn="ctr">
                        <a:defRPr sz="740">
                          <a:solidFill>
                            <a:srgbClr val="1E242B"/>
                          </a:solidFill>
                          <a:latin typeface="Arial"/>
                        </a:defRPr>
                      </a:pPr>
                      <a:r>
                        <a:t>600 vạn JPY</a:t>
                      </a:r>
                      <a:br/>
                      <a:r>
                        <a:t>(~40.000 USD)</a:t>
                      </a:r>
                      <a:br/>
                      <a:r>
                        <a:t>[Nghiên cứu dài hạn 2026-2030]</a:t>
                      </a:r>
                    </a:p>
                  </a:txBody>
                  <a:tcPr anchor="ctr" marL="45720" marR="45720" marT="18288" marB="18288">
                    <a:solidFill>
                      <a:srgbClr val="FEF7E6"/>
                    </a:solidFill>
                  </a:tcPr>
                </a:tc>
                <a:tc>
                  <a:txBody>
                    <a:bodyPr/>
                    <a:lstStyle/>
                    <a:p>
                      <a:pPr algn="l">
                        <a:defRPr sz="740">
                          <a:solidFill>
                            <a:srgbClr val="1E242B"/>
                          </a:solidFill>
                          <a:latin typeface="Arial"/>
                        </a:defRPr>
                      </a:pPr>
                      <a:r>
                        <a:t>Hoãn ngắn hạn -&gt; Chuyển R&amp;D 2026-2030</a:t>
                      </a:r>
                      <a:br/>
                      <a:r>
                        <a:t>(検討資料 S8;</a:t>
                      </a:r>
                      <a:br/>
                      <a:r>
                        <a:t>まとめ Row 40)</a:t>
                      </a:r>
                    </a:p>
                  </a:txBody>
                  <a:tcPr anchor="ctr" marL="45720" marR="45720" marT="18288" marB="18288">
                    <a:solidFill>
                      <a:srgbClr val="FEF7E6"/>
                    </a:solidFill>
                  </a:tcPr>
                </a:tc>
              </a:tr>
              <a:tr h="568234">
                <a:tc>
                  <a:txBody>
                    <a:bodyPr/>
                    <a:lstStyle/>
                    <a:p>
                      <a:pPr algn="ctr">
                        <a:defRPr sz="740" b="1">
                          <a:solidFill>
                            <a:srgbClr val="1E242B"/>
                          </a:solidFill>
                          <a:latin typeface="Arial"/>
                        </a:defRPr>
                      </a:pPr>
                      <a:r>
                        <a:t>No.27</a:t>
                      </a:r>
                      <a:br/>
                      <a:r>
                        <a:t>(K6, K7 -&gt; A-4)</a:t>
                      </a:r>
                      <a:br/>
                      <a:r>
                        <a:t>[TRỌNG TÂM]</a:t>
                      </a:r>
                    </a:p>
                  </a:txBody>
                  <a:tcPr anchor="ctr" marL="45720" marR="45720" marT="18288" marB="18288">
                    <a:solidFill>
                      <a:srgbClr val="EAF7EE"/>
                    </a:solidFill>
                  </a:tcPr>
                </a:tc>
                <a:tc>
                  <a:txBody>
                    <a:bodyPr/>
                    <a:lstStyle/>
                    <a:p>
                      <a:pPr algn="l">
                        <a:defRPr sz="740">
                          <a:solidFill>
                            <a:srgbClr val="1E242B"/>
                          </a:solidFill>
                          <a:latin typeface="Arial"/>
                        </a:defRPr>
                      </a:pPr>
                      <a:r>
                        <a:t>Sử dụng Camera đo nồng độ, đo lề, kiểm tra PPT &amp; đánh giá hình ảnh</a:t>
                      </a:r>
                      <a:br/>
                      <a:r>
                        <a:t>(カメラによる濃度・マージン・PPT・画像総合検査)</a:t>
                      </a:r>
                    </a:p>
                  </a:txBody>
                  <a:tcPr anchor="ctr" marL="45720" marR="45720" marT="18288" marB="18288">
                    <a:solidFill>
                      <a:srgbClr val="EAF7EE"/>
                    </a:solidFill>
                  </a:tcPr>
                </a:tc>
                <a:tc>
                  <a:txBody>
                    <a:bodyPr/>
                    <a:lstStyle/>
                    <a:p>
                      <a:pPr algn="l">
                        <a:defRPr sz="740">
                          <a:solidFill>
                            <a:srgbClr val="1E242B"/>
                          </a:solidFill>
                          <a:latin typeface="Arial"/>
                        </a:defRPr>
                      </a:pPr>
                      <a:r>
                        <a:t>Đo nồng độ 3 tờ bằng máy đo tay (Check Black 45s + Check Color 112s + DC-1 35s = 192s), đo lề bằng thước (28s), soi kính lúp kiểm tra PPT tờ GY (10s) = 230s/máy.</a:t>
                      </a:r>
                    </a:p>
                  </a:txBody>
                  <a:tcPr anchor="ctr" marL="45720" marR="45720" marT="18288" marB="18288">
                    <a:solidFill>
                      <a:srgbClr val="EAF7EE"/>
                    </a:solidFill>
                  </a:tcPr>
                </a:tc>
                <a:tc>
                  <a:txBody>
                    <a:bodyPr/>
                    <a:lstStyle/>
                    <a:p>
                      <a:pPr algn="l">
                        <a:defRPr sz="740">
                          <a:solidFill>
                            <a:srgbClr val="1E242B"/>
                          </a:solidFill>
                          <a:latin typeface="Arial"/>
                        </a:defRPr>
                      </a:pPr>
                      <a:r>
                        <a:t>Dùng hệ thống Camera/Scanner phân tích ảnh tự động: Thời gian đo nồng độ 3 tờ giảm từ 192s xuống còn 15s (5s/tờ -&gt; giảm 177s/máy); tích hợp tự động đo lề (-28s) và xóa/tự động kiểm tra PPT (-10s).</a:t>
                      </a:r>
                    </a:p>
                  </a:txBody>
                  <a:tcPr anchor="ctr" marL="45720" marR="45720" marT="18288" marB="18288">
                    <a:solidFill>
                      <a:srgbClr val="EAF7EE"/>
                    </a:solidFill>
                  </a:tcPr>
                </a:tc>
                <a:tc>
                  <a:txBody>
                    <a:bodyPr/>
                    <a:lstStyle/>
                    <a:p>
                      <a:pPr algn="l">
                        <a:defRPr sz="740">
                          <a:solidFill>
                            <a:srgbClr val="1E242B"/>
                          </a:solidFill>
                          <a:latin typeface="Arial"/>
                        </a:defRPr>
                      </a:pPr>
                      <a:r>
                        <a:t>• Giảm 177,00 s/máy (riêng nồng độ)</a:t>
                      </a:r>
                      <a:br/>
                      <a:r>
                        <a:t>• Giảm tới 215,00 s/máy khi gộp đo lề (28s) &amp; PPT (10s)</a:t>
                      </a:r>
                      <a:br/>
                      <a:r>
                        <a:t>• Giảm ~2 nhân sự</a:t>
                      </a:r>
                    </a:p>
                  </a:txBody>
                  <a:tcPr anchor="ctr" marL="45720" marR="45720" marT="18288" marB="18288">
                    <a:solidFill>
                      <a:srgbClr val="EAF7EE"/>
                    </a:solidFill>
                  </a:tcPr>
                </a:tc>
                <a:tc>
                  <a:txBody>
                    <a:bodyPr/>
                    <a:lstStyle/>
                    <a:p>
                      <a:pPr algn="ctr">
                        <a:defRPr sz="740">
                          <a:solidFill>
                            <a:srgbClr val="1E242B"/>
                          </a:solidFill>
                          <a:latin typeface="Arial"/>
                        </a:defRPr>
                      </a:pPr>
                      <a:r>
                        <a:t>Đang báo giá</a:t>
                      </a:r>
                      <a:br/>
                      <a:r>
                        <a:t>(見積中)</a:t>
                      </a:r>
                    </a:p>
                  </a:txBody>
                  <a:tcPr anchor="ctr" marL="45720" marR="45720" marT="18288" marB="18288">
                    <a:solidFill>
                      <a:srgbClr val="EAF7EE"/>
                    </a:solidFill>
                  </a:tcPr>
                </a:tc>
                <a:tc>
                  <a:txBody>
                    <a:bodyPr/>
                    <a:lstStyle/>
                    <a:p>
                      <a:pPr algn="l">
                        <a:defRPr sz="740">
                          <a:solidFill>
                            <a:srgbClr val="1E242B"/>
                          </a:solidFill>
                          <a:latin typeface="Arial"/>
                        </a:defRPr>
                      </a:pPr>
                      <a:r>
                        <a:t>Đang triển khai (PPT đã duyệt xóa theo CN No.10)</a:t>
                      </a:r>
                      <a:br/>
                      <a:r>
                        <a:t>(DSLK Sheet 5;</a:t>
                      </a:r>
                      <a:br/>
                      <a:r>
                        <a:t>まとめ Row 41)</a:t>
                      </a:r>
                    </a:p>
                  </a:txBody>
                  <a:tcPr anchor="ctr" marL="45720" marR="45720" marT="18288" marB="18288">
                    <a:solidFill>
                      <a:srgbClr val="EAF7EE"/>
                    </a:solidFill>
                  </a:tcPr>
                </a:tc>
              </a:tr>
              <a:tr h="568235">
                <a:tc>
                  <a:txBody>
                    <a:bodyPr/>
                    <a:lstStyle/>
                    <a:p>
                      <a:pPr algn="ctr">
                        <a:defRPr sz="740" b="1">
                          <a:solidFill>
                            <a:srgbClr val="1E242B"/>
                          </a:solidFill>
                          <a:latin typeface="Arial"/>
                        </a:defRPr>
                      </a:pPr>
                      <a:r>
                        <a:t>No.28</a:t>
                      </a:r>
                      <a:br/>
                      <a:r>
                        <a:t>(K8 -&gt; A-4)</a:t>
                      </a:r>
                      <a:br/>
                      <a:r>
                        <a:t>[TRỌNG TÂM]</a:t>
                      </a:r>
                    </a:p>
                  </a:txBody>
                  <a:tcPr anchor="ctr" marL="45720" marR="45720" marT="18288" marB="18288">
                    <a:solidFill>
                      <a:srgbClr val="EAF7EE"/>
                    </a:solidFill>
                  </a:tcPr>
                </a:tc>
                <a:tc>
                  <a:txBody>
                    <a:bodyPr/>
                    <a:lstStyle/>
                    <a:p>
                      <a:pPr algn="l">
                        <a:defRPr sz="740">
                          <a:solidFill>
                            <a:srgbClr val="1E242B"/>
                          </a:solidFill>
                          <a:latin typeface="Arial"/>
                        </a:defRPr>
                      </a:pPr>
                      <a:r>
                        <a:t>Tự động hóa thiết lập xuất hàng qua mạng nội bộ</a:t>
                      </a:r>
                      <a:br/>
                      <a:r>
                        <a:t>(出荷設定のネットワーク自動化)</a:t>
                      </a:r>
                    </a:p>
                  </a:txBody>
                  <a:tcPr anchor="ctr" marL="45720" marR="45720" marT="18288" marB="18288">
                    <a:solidFill>
                      <a:srgbClr val="EAF7EE"/>
                    </a:solidFill>
                  </a:tcPr>
                </a:tc>
                <a:tc>
                  <a:txBody>
                    <a:bodyPr/>
                    <a:lstStyle/>
                    <a:p>
                      <a:pPr algn="l">
                        <a:defRPr sz="740">
                          <a:solidFill>
                            <a:srgbClr val="1E242B"/>
                          </a:solidFill>
                          <a:latin typeface="Arial"/>
                        </a:defRPr>
                      </a:pPr>
                      <a:r>
                        <a:t>Công nhân cắm USB, quét barcode, bấm nút trên Panel và click xác nhận thủ công trên PC (130s/máy tại K8).</a:t>
                      </a:r>
                    </a:p>
                  </a:txBody>
                  <a:tcPr anchor="ctr" marL="45720" marR="45720" marT="18288" marB="18288">
                    <a:solidFill>
                      <a:srgbClr val="EAF7EE"/>
                    </a:solidFill>
                  </a:tcPr>
                </a:tc>
                <a:tc>
                  <a:txBody>
                    <a:bodyPr/>
                    <a:lstStyle/>
                    <a:p>
                      <a:pPr algn="l">
                        <a:defRPr sz="740">
                          <a:solidFill>
                            <a:srgbClr val="1E242B"/>
                          </a:solidFill>
                          <a:latin typeface="Arial"/>
                        </a:defRPr>
                      </a:pPr>
                      <a:r>
                        <a:t>Tự động gửi lệnh thiết lập xuất hàng (FinalSetup) và đối chiếu thông số từ Host PC / Mini PC qua mạng nội bộ, xóa thao tác cắm/rút USB và bấm xác nhận thủ công.</a:t>
                      </a:r>
                    </a:p>
                  </a:txBody>
                  <a:tcPr anchor="ctr" marL="45720" marR="45720" marT="18288" marB="18288">
                    <a:solidFill>
                      <a:srgbClr val="EAF7EE"/>
                    </a:solidFill>
                  </a:tcPr>
                </a:tc>
                <a:tc>
                  <a:txBody>
                    <a:bodyPr/>
                    <a:lstStyle/>
                    <a:p>
                      <a:pPr algn="l">
                        <a:defRPr sz="740">
                          <a:solidFill>
                            <a:srgbClr val="1E242B"/>
                          </a:solidFill>
                          <a:latin typeface="Arial"/>
                        </a:defRPr>
                      </a:pPr>
                      <a:r>
                        <a:t>• Giảm 50,00 s/máy tại trạm cuối A-4</a:t>
                      </a:r>
                      <a:br/>
                      <a:r>
                        <a:t>• Chống lỗi cài đặt nhầm hướng xuất</a:t>
                      </a:r>
                    </a:p>
                  </a:txBody>
                  <a:tcPr anchor="ctr" marL="45720" marR="45720" marT="18288" marB="18288">
                    <a:solidFill>
                      <a:srgbClr val="EAF7EE"/>
                    </a:solidFill>
                  </a:tcPr>
                </a:tc>
                <a:tc>
                  <a:txBody>
                    <a:bodyPr/>
                    <a:lstStyle/>
                    <a:p>
                      <a:pPr algn="ctr">
                        <a:defRPr sz="740">
                          <a:solidFill>
                            <a:srgbClr val="1E242B"/>
                          </a:solidFill>
                          <a:latin typeface="Arial"/>
                        </a:defRPr>
                      </a:pPr>
                      <a:r>
                        <a:t>Đang báo giá</a:t>
                      </a:r>
                      <a:br/>
                      <a:r>
                        <a:t>(見積中)</a:t>
                      </a:r>
                    </a:p>
                  </a:txBody>
                  <a:tcPr anchor="ctr" marL="45720" marR="45720" marT="18288" marB="18288">
                    <a:solidFill>
                      <a:srgbClr val="EAF7EE"/>
                    </a:solidFill>
                  </a:tcPr>
                </a:tc>
                <a:tc>
                  <a:txBody>
                    <a:bodyPr/>
                    <a:lstStyle/>
                    <a:p>
                      <a:pPr algn="l">
                        <a:defRPr sz="740">
                          <a:solidFill>
                            <a:srgbClr val="1E242B"/>
                          </a:solidFill>
                          <a:latin typeface="Arial"/>
                        </a:defRPr>
                      </a:pPr>
                      <a:r>
                        <a:t>Đang tích hợp vào Host PC / Mini PC</a:t>
                      </a:r>
                      <a:br/>
                      <a:r>
                        <a:t>(IrisEXP報告 S3;</a:t>
                      </a:r>
                      <a:br/>
                      <a:r>
                        <a:t>まとめ Row 42)</a:t>
                      </a:r>
                    </a:p>
                  </a:txBody>
                  <a:tcPr anchor="ctr" marL="45720" marR="45720" marT="18288" marB="18288">
                    <a:solidFill>
                      <a:srgbClr val="EAF7EE"/>
                    </a:solidFill>
                  </a:tcPr>
                </a:tc>
              </a:tr>
            </a:tbl>
          </a:graphicData>
        </a:graphic>
      </p:graphicFrame>
      <p:sp>
        <p:nvSpPr>
          <p:cNvPr id="8" name="Rectangle 7"/>
          <p:cNvSpPr/>
          <p:nvPr/>
        </p:nvSpPr>
        <p:spPr>
          <a:xfrm>
            <a:off x="274320" y="5303520"/>
            <a:ext cx="11643055" cy="1188720"/>
          </a:xfrm>
          <a:prstGeom prst="rect">
            <a:avLst/>
          </a:prstGeom>
          <a:solidFill>
            <a:srgbClr val="FDEDEC"/>
          </a:solidFill>
          <a:ln w="12700">
            <a:solidFill>
              <a:srgbClr val="B82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5303520"/>
            <a:ext cx="11643055" cy="310896"/>
          </a:xfrm>
          <a:prstGeom prst="rect">
            <a:avLst/>
          </a:prstGeom>
          <a:solidFill>
            <a:srgbClr val="B8292F"/>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GHI CHÚ ĐỐI CHIẾU NGUỒN: KHOẢN 650.000.000 VNĐ (25.000 USD) LÀ GIÁ PHƯƠNG ÁN ROBOT ISU ĐÃ HỦY (NO.23)</a:t>
            </a:r>
          </a:p>
        </p:txBody>
      </p:sp>
      <p:sp>
        <p:nvSpPr>
          <p:cNvPr id="10" name="TextBox 9"/>
          <p:cNvSpPr txBox="1"/>
          <p:nvPr/>
        </p:nvSpPr>
        <p:spPr>
          <a:xfrm>
            <a:off x="347472" y="5632704"/>
            <a:ext cx="11496751" cy="822960"/>
          </a:xfrm>
          <a:prstGeom prst="rect">
            <a:avLst/>
          </a:prstGeom>
          <a:noFill/>
        </p:spPr>
        <p:txBody>
          <a:bodyPr wrap="square" lIns="36576" rIns="36576" tIns="18288" bIns="18288">
            <a:spAutoFit/>
          </a:bodyPr>
          <a:lstStyle/>
          <a:p>
            <a:pPr>
              <a:spcAft>
                <a:spcPts val="200"/>
              </a:spcAft>
              <a:defRPr sz="819">
                <a:solidFill>
                  <a:srgbClr val="1E242B"/>
                </a:solidFill>
                <a:latin typeface="Arial"/>
              </a:defRPr>
            </a:pPr>
            <a:r>
              <a:t>• Theo file đề án cải tiến Điều chỉnh\Iris EXPのVN提案.xlsx (Sheet 纏め Row 3-5 &amp; Sheet 自動Scan tự động Row 1-15): Khoản 650.000.000 VNĐ (25.000 USD, tỷ giá 26.000) là dự toán của Phương án 2: Chế tạo Robot đặt bản thảo lên mặt kính ISU [No.23], gồm 4 phần: (1) Mở rộng 2 cell băng tải: 200.000.000 VNĐ ($7.692,31) + (2) Cụm cấp nguồn máy in: 50.000.000 VNĐ ($1.923,08) + (3) Cụm định vị cổng USB/LAN: 50.000.000 VNĐ ($1.923,08) + (4) Cánh tay Robot: 350.000.000 VNĐ ($13.461,54).</a:t>
            </a:r>
          </a:p>
          <a:p>
            <a:pPr>
              <a:spcAft>
                <a:spcPts val="200"/>
              </a:spcAft>
              <a:defRPr sz="819">
                <a:solidFill>
                  <a:srgbClr val="1E242B"/>
                </a:solidFill>
                <a:latin typeface="Arial"/>
              </a:defRPr>
            </a:pPr>
            <a:r>
              <a:t>• Theo biên bản IrisEXP 保証工程連携会 第7回.txt và IrisEXP改善提案まとめ.xlsx (Row 37 &amp; Row 39): Phương án Robot 650 triệu VNĐ này đã hủy (廃止) vì chi phí đầu tư quá cao so với mức tiết kiệm nhân công 108.533.333 VNĐ/năm ($4.174,36/năm), chuyển sang Đề án No.25: Quét bản thảo liên tục bằng khay DP của máy + PC tự động đánh giá (hiện No.25 đang ở trạng thái "Đang báo giá / 見積中").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5.4: CHI TIẾT VN (3)</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Chi tiết 9 đề án Việt Nam bổ sung tháng 9 (No.29 ~ No.37) &amp; Hạng mục đã thực hiện tháng 10/2026</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8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9 đề án bổ sung (No.29~37) gồm 6 kiến nghị sửa mạch/FW (0 đồng TB tại xưởng) và 3 đề án thiết bị đang báo giá; tháng 10/2026 đã xóa 4 bước thao tác trên bảng công đoạn, giảm thực tế 4,32s/máy.</a:t>
            </a:r>
          </a:p>
        </p:txBody>
      </p:sp>
      <p:graphicFrame>
        <p:nvGraphicFramePr>
          <p:cNvPr id="7" name="Table 6"/>
          <p:cNvGraphicFramePr>
            <a:graphicFrameLocks noGrp="1"/>
          </p:cNvGraphicFramePr>
          <p:nvPr/>
        </p:nvGraphicFramePr>
        <p:xfrm>
          <a:off x="274320" y="1243584"/>
          <a:ext cx="11643055" cy="5212080"/>
        </p:xfrm>
        <a:graphic>
          <a:graphicData uri="http://schemas.openxmlformats.org/drawingml/2006/table">
            <a:tbl>
              <a:tblPr firstRow="1" bandRow="1">
                <a:tableStyleId>{5C22544A-7EE6-4342-B048-85BDC9FD1C3A}</a:tableStyleId>
              </a:tblPr>
              <a:tblGrid>
                <a:gridCol w="868680"/>
                <a:gridCol w="2057400"/>
                <a:gridCol w="2057400"/>
                <a:gridCol w="2423160"/>
                <a:gridCol w="1417320"/>
                <a:gridCol w="1417320"/>
                <a:gridCol w="1401775"/>
              </a:tblGrid>
              <a:tr h="473825">
                <a:tc>
                  <a:txBody>
                    <a:bodyPr/>
                    <a:lstStyle/>
                    <a:p>
                      <a:pPr algn="ctr">
                        <a:defRPr sz="740" b="1">
                          <a:solidFill>
                            <a:srgbClr val="FFFFFF"/>
                          </a:solidFill>
                          <a:latin typeface="Arial"/>
                        </a:defRPr>
                      </a:pPr>
                      <a:r>
                        <a:t>Mã Đề án</a:t>
                      </a:r>
                      <a:br/>
                      <a:r>
                        <a:t>(Trạm)</a:t>
                      </a:r>
                    </a:p>
                  </a:txBody>
                  <a:tcPr anchor="ctr" marL="36576" marR="36576" marT="9144" marB="9144">
                    <a:solidFill>
                      <a:srgbClr val="1B365D"/>
                    </a:solidFill>
                  </a:tcPr>
                </a:tc>
                <a:tc>
                  <a:txBody>
                    <a:bodyPr/>
                    <a:lstStyle/>
                    <a:p>
                      <a:pPr algn="ctr">
                        <a:defRPr sz="740" b="1">
                          <a:solidFill>
                            <a:srgbClr val="FFFFFF"/>
                          </a:solidFill>
                          <a:latin typeface="Arial"/>
                        </a:defRPr>
                      </a:pPr>
                      <a:r>
                        <a:t>Tên đề án bổ sung</a:t>
                      </a:r>
                      <a:br/>
                      <a:r>
                        <a:t>(IrisEXP VN改善案LIST)</a:t>
                      </a:r>
                    </a:p>
                  </a:txBody>
                  <a:tcPr anchor="ctr" marL="36576" marR="36576" marT="9144" marB="9144">
                    <a:solidFill>
                      <a:srgbClr val="1B365D"/>
                    </a:solidFill>
                  </a:tcPr>
                </a:tc>
                <a:tc>
                  <a:txBody>
                    <a:bodyPr/>
                    <a:lstStyle/>
                    <a:p>
                      <a:pPr algn="ctr">
                        <a:defRPr sz="740" b="1">
                          <a:solidFill>
                            <a:srgbClr val="FFFFFF"/>
                          </a:solidFill>
                          <a:latin typeface="Arial"/>
                        </a:defRPr>
                      </a:pPr>
                      <a:r>
                        <a:t>Hiện trạng thao tác</a:t>
                      </a:r>
                      <a:br/>
                      <a:r>
                        <a:t>(Iris2024 tại VN)</a:t>
                      </a:r>
                    </a:p>
                  </a:txBody>
                  <a:tcPr anchor="ctr" marL="36576" marR="36576" marT="9144" marB="9144">
                    <a:solidFill>
                      <a:srgbClr val="1B365D"/>
                    </a:solidFill>
                  </a:tcPr>
                </a:tc>
                <a:tc>
                  <a:txBody>
                    <a:bodyPr/>
                    <a:lstStyle/>
                    <a:p>
                      <a:pPr algn="ctr">
                        <a:defRPr sz="740" b="1">
                          <a:solidFill>
                            <a:srgbClr val="FFFFFF"/>
                          </a:solidFill>
                          <a:latin typeface="Arial"/>
                        </a:defRPr>
                      </a:pPr>
                      <a:r>
                        <a:t>Nội dung giải pháp &amp; Phối hợp kỹ thuật</a:t>
                      </a:r>
                    </a:p>
                  </a:txBody>
                  <a:tcPr anchor="ctr" marL="36576" marR="36576" marT="9144" marB="9144">
                    <a:solidFill>
                      <a:srgbClr val="1B365D"/>
                    </a:solidFill>
                  </a:tcPr>
                </a:tc>
                <a:tc>
                  <a:txBody>
                    <a:bodyPr/>
                    <a:lstStyle/>
                    <a:p>
                      <a:pPr algn="ctr">
                        <a:defRPr sz="740" b="1">
                          <a:solidFill>
                            <a:srgbClr val="FFFFFF"/>
                          </a:solidFill>
                          <a:latin typeface="Arial"/>
                        </a:defRPr>
                      </a:pPr>
                      <a:r>
                        <a:t>Hiệu quả</a:t>
                      </a:r>
                      <a:br/>
                      <a:r>
                        <a:t>(TG / Nhân lực / NS)</a:t>
                      </a:r>
                    </a:p>
                  </a:txBody>
                  <a:tcPr anchor="ctr" marL="36576" marR="36576" marT="9144" marB="9144">
                    <a:solidFill>
                      <a:srgbClr val="1B365D"/>
                    </a:solidFill>
                  </a:tcPr>
                </a:tc>
                <a:tc>
                  <a:txBody>
                    <a:bodyPr/>
                    <a:lstStyle/>
                    <a:p>
                      <a:pPr algn="ctr">
                        <a:defRPr sz="740" b="1">
                          <a:solidFill>
                            <a:srgbClr val="FFFFFF"/>
                          </a:solidFill>
                          <a:latin typeface="Arial"/>
                        </a:defRPr>
                      </a:pPr>
                      <a:r>
                        <a:t>Kinh phí &amp;</a:t>
                      </a:r>
                      <a:br/>
                      <a:r>
                        <a:t>Trạng thái giá</a:t>
                      </a:r>
                    </a:p>
                  </a:txBody>
                  <a:tcPr anchor="ctr" marL="36576" marR="36576" marT="9144" marB="9144">
                    <a:solidFill>
                      <a:srgbClr val="1B365D"/>
                    </a:solidFill>
                  </a:tcPr>
                </a:tc>
                <a:tc>
                  <a:txBody>
                    <a:bodyPr/>
                    <a:lstStyle/>
                    <a:p>
                      <a:pPr algn="ctr">
                        <a:defRPr sz="740" b="1">
                          <a:solidFill>
                            <a:srgbClr val="FFFFFF"/>
                          </a:solidFill>
                          <a:latin typeface="Arial"/>
                        </a:defRPr>
                      </a:pPr>
                      <a:r>
                        <a:t>Trạng thái triển khai /</a:t>
                      </a:r>
                      <a:br/>
                      <a:r>
                        <a:t>Nguồn đối chiếu</a:t>
                      </a:r>
                    </a:p>
                  </a:txBody>
                  <a:tcPr anchor="ctr" marL="36576" marR="36576" marT="9144" marB="9144">
                    <a:solidFill>
                      <a:srgbClr val="1B365D"/>
                    </a:solidFill>
                  </a:tcPr>
                </a:tc>
              </a:tr>
              <a:tr h="473825">
                <a:tc>
                  <a:txBody>
                    <a:bodyPr/>
                    <a:lstStyle/>
                    <a:p>
                      <a:pPr algn="ctr">
                        <a:defRPr sz="650" b="1">
                          <a:solidFill>
                            <a:srgbClr val="1E242B"/>
                          </a:solidFill>
                          <a:latin typeface="Arial"/>
                        </a:defRPr>
                      </a:pPr>
                      <a:r>
                        <a:t>No.29</a:t>
                      </a:r>
                      <a:br/>
                      <a:r>
                        <a:t>(K1 -&gt; A-1)</a:t>
                      </a:r>
                    </a:p>
                  </a:txBody>
                  <a:tcPr anchor="ctr" marL="36576" marR="36576" marT="9144" marB="9144">
                    <a:solidFill>
                      <a:srgbClr val="FFFFFF"/>
                    </a:solidFill>
                  </a:tcPr>
                </a:tc>
                <a:tc>
                  <a:txBody>
                    <a:bodyPr/>
                    <a:lstStyle/>
                    <a:p>
                      <a:pPr algn="l">
                        <a:defRPr sz="650">
                          <a:solidFill>
                            <a:srgbClr val="1E242B"/>
                          </a:solidFill>
                          <a:latin typeface="Arial"/>
                        </a:defRPr>
                      </a:pPr>
                      <a:r>
                        <a:t>A1: Cải tiến FW/bản mạch để tự động kiểm tra hộp mực (Toner Container)</a:t>
                      </a:r>
                    </a:p>
                  </a:txBody>
                  <a:tcPr anchor="ctr" marL="36576" marR="36576" marT="9144" marB="9144">
                    <a:solidFill>
                      <a:srgbClr val="FFFFFF"/>
                    </a:solidFill>
                  </a:tcPr>
                </a:tc>
                <a:tc>
                  <a:txBody>
                    <a:bodyPr/>
                    <a:lstStyle/>
                    <a:p>
                      <a:pPr algn="l">
                        <a:defRPr sz="650">
                          <a:solidFill>
                            <a:srgbClr val="1E242B"/>
                          </a:solidFill>
                          <a:latin typeface="Arial"/>
                        </a:defRPr>
                      </a:pPr>
                      <a:r>
                        <a:t>Phải lắp và tháo đồ gá hộp mực thủ công để kiểm tra cảm biến hộp mực (nằm trong cụm 55s tại K1).</a:t>
                      </a:r>
                    </a:p>
                  </a:txBody>
                  <a:tcPr anchor="ctr" marL="36576" marR="36576" marT="9144" marB="9144">
                    <a:solidFill>
                      <a:srgbClr val="FFFFFF"/>
                    </a:solidFill>
                  </a:tcPr>
                </a:tc>
                <a:tc>
                  <a:txBody>
                    <a:bodyPr/>
                    <a:lstStyle/>
                    <a:p>
                      <a:pPr algn="l">
                        <a:defRPr sz="650">
                          <a:solidFill>
                            <a:srgbClr val="1E242B"/>
                          </a:solidFill>
                          <a:latin typeface="Arial"/>
                        </a:defRPr>
                      </a:pPr>
                      <a:r>
                        <a:t>Kiến nghị Thiết kế JP cải tiến mạch/phần mềm tự chẩn đoán trạng thái tiếp xúc hộp mực mà không cần gắn/tháo đồ gá.</a:t>
                      </a:r>
                    </a:p>
                  </a:txBody>
                  <a:tcPr anchor="ctr" marL="36576" marR="36576" marT="9144" marB="9144">
                    <a:solidFill>
                      <a:srgbClr val="FFFFFF"/>
                    </a:solidFill>
                  </a:tcPr>
                </a:tc>
                <a:tc>
                  <a:txBody>
                    <a:bodyPr/>
                    <a:lstStyle/>
                    <a:p>
                      <a:pPr algn="l">
                        <a:defRPr sz="650">
                          <a:solidFill>
                            <a:srgbClr val="1E242B"/>
                          </a:solidFill>
                          <a:latin typeface="Arial"/>
                        </a:defRPr>
                      </a:pPr>
                      <a:r>
                        <a:t>Giảm thao tác gắn/tháo đồ gá nặng tay tại A-1 (gộp trong 55s No.19)</a:t>
                      </a:r>
                    </a:p>
                  </a:txBody>
                  <a:tcPr anchor="ctr" marL="36576" marR="36576" marT="9144" marB="9144">
                    <a:solidFill>
                      <a:srgbClr val="FFFFFF"/>
                    </a:solidFill>
                  </a:tcPr>
                </a:tc>
                <a:tc>
                  <a:txBody>
                    <a:bodyPr/>
                    <a:lstStyle/>
                    <a:p>
                      <a:pPr algn="ctr">
                        <a:defRPr sz="650">
                          <a:solidFill>
                            <a:srgbClr val="1E242B"/>
                          </a:solidFill>
                          <a:latin typeface="Arial"/>
                        </a:defRPr>
                      </a:pPr>
                      <a:r>
                        <a:t>0 VNĐ TB tại xưởng</a:t>
                      </a:r>
                      <a:br/>
                      <a:r>
                        <a:t>(Cải tiến TK/FW)</a:t>
                      </a:r>
                    </a:p>
                  </a:txBody>
                  <a:tcPr anchor="ctr" marL="36576" marR="36576" marT="9144" marB="9144">
                    <a:solidFill>
                      <a:srgbClr val="FFFFFF"/>
                    </a:solidFill>
                  </a:tcPr>
                </a:tc>
                <a:tc>
                  <a:txBody>
                    <a:bodyPr/>
                    <a:lstStyle/>
                    <a:p>
                      <a:pPr algn="l">
                        <a:defRPr sz="650">
                          <a:solidFill>
                            <a:srgbClr val="1E242B"/>
                          </a:solidFill>
                          <a:latin typeface="Arial"/>
                        </a:defRPr>
                      </a:pPr>
                      <a:r>
                        <a:t>Chờ TK JP xác nhận</a:t>
                      </a:r>
                      <a:br/>
                      <a:r>
                        <a:t>(VN改善案LIST R14;</a:t>
                      </a:r>
                      <a:br/>
                      <a:r>
                        <a:t>まとめ Row 43)</a:t>
                      </a:r>
                    </a:p>
                  </a:txBody>
                  <a:tcPr anchor="ctr" marL="36576" marR="36576" marT="9144" marB="9144">
                    <a:solidFill>
                      <a:srgbClr val="FFFFFF"/>
                    </a:solidFill>
                  </a:tcPr>
                </a:tc>
              </a:tr>
              <a:tr h="473825">
                <a:tc>
                  <a:txBody>
                    <a:bodyPr/>
                    <a:lstStyle/>
                    <a:p>
                      <a:pPr algn="ctr">
                        <a:defRPr sz="650" b="1">
                          <a:solidFill>
                            <a:srgbClr val="1E242B"/>
                          </a:solidFill>
                          <a:latin typeface="Arial"/>
                        </a:defRPr>
                      </a:pPr>
                      <a:r>
                        <a:t>No.30</a:t>
                      </a:r>
                      <a:br/>
                      <a:r>
                        <a:t>(K1 -&gt; A-1)</a:t>
                      </a:r>
                    </a:p>
                  </a:txBody>
                  <a:tcPr anchor="ctr" marL="36576" marR="36576" marT="9144" marB="9144">
                    <a:solidFill>
                      <a:srgbClr val="EAF7EE"/>
                    </a:solidFill>
                  </a:tcPr>
                </a:tc>
                <a:tc>
                  <a:txBody>
                    <a:bodyPr/>
                    <a:lstStyle/>
                    <a:p>
                      <a:pPr algn="l">
                        <a:defRPr sz="650">
                          <a:solidFill>
                            <a:srgbClr val="1E242B"/>
                          </a:solidFill>
                          <a:latin typeface="Arial"/>
                        </a:defRPr>
                      </a:pPr>
                      <a:r>
                        <a:t>A1: Cải tiến FW/bản mạch để tự động kiểm tra hộp mực thải (WTB / U155)</a:t>
                      </a:r>
                    </a:p>
                  </a:txBody>
                  <a:tcPr anchor="ctr" marL="36576" marR="36576" marT="9144" marB="9144">
                    <a:solidFill>
                      <a:srgbClr val="EAF7EE"/>
                    </a:solidFill>
                  </a:tcPr>
                </a:tc>
                <a:tc>
                  <a:txBody>
                    <a:bodyPr/>
                    <a:lstStyle/>
                    <a:p>
                      <a:pPr algn="l">
                        <a:defRPr sz="650">
                          <a:solidFill>
                            <a:srgbClr val="1E242B"/>
                          </a:solidFill>
                          <a:latin typeface="Arial"/>
                        </a:defRPr>
                      </a:pPr>
                      <a:r>
                        <a:t>Cài đặt ngưỡng U155 (60s) + kiểm tra nhận biết WTB (10s) = 70s tại K1 (29,16s U155 + 6,20s WTB trên 工程表).</a:t>
                      </a:r>
                    </a:p>
                  </a:txBody>
                  <a:tcPr anchor="ctr" marL="36576" marR="36576" marT="9144" marB="9144">
                    <a:solidFill>
                      <a:srgbClr val="EAF7EE"/>
                    </a:solidFill>
                  </a:tcPr>
                </a:tc>
                <a:tc>
                  <a:txBody>
                    <a:bodyPr/>
                    <a:lstStyle/>
                    <a:p>
                      <a:pPr algn="l">
                        <a:defRPr sz="650">
                          <a:solidFill>
                            <a:srgbClr val="1E242B"/>
                          </a:solidFill>
                          <a:latin typeface="Arial"/>
                        </a:defRPr>
                      </a:pPr>
                      <a:r>
                        <a:t>Đồng bộ với Đề án JP No.2: Đo điện trở tại Sub-Assy + thêm Push Switch trên thân máy -&gt; Xóa bước cài đặt U155 tại điều chỉnh.</a:t>
                      </a:r>
                    </a:p>
                  </a:txBody>
                  <a:tcPr anchor="ctr" marL="36576" marR="36576" marT="9144" marB="9144">
                    <a:solidFill>
                      <a:srgbClr val="EAF7EE"/>
                    </a:solidFill>
                  </a:tcPr>
                </a:tc>
                <a:tc>
                  <a:txBody>
                    <a:bodyPr/>
                    <a:lstStyle/>
                    <a:p>
                      <a:pPr algn="l">
                        <a:defRPr sz="650">
                          <a:solidFill>
                            <a:srgbClr val="1E242B"/>
                          </a:solidFill>
                          <a:latin typeface="Arial"/>
                        </a:defRPr>
                      </a:pPr>
                      <a:r>
                        <a:t>• Giảm 29,16s (theo 工程表) / ~60s (tại K1)</a:t>
                      </a:r>
                      <a:br/>
                      <a:r>
                        <a:t>• Xóa 21 bước thao tác</a:t>
                      </a:r>
                    </a:p>
                  </a:txBody>
                  <a:tcPr anchor="ctr" marL="36576" marR="36576" marT="9144" marB="9144">
                    <a:solidFill>
                      <a:srgbClr val="EAF7EE"/>
                    </a:solidFill>
                  </a:tcPr>
                </a:tc>
                <a:tc>
                  <a:txBody>
                    <a:bodyPr/>
                    <a:lstStyle/>
                    <a:p>
                      <a:pPr algn="ctr">
                        <a:defRPr sz="650">
                          <a:solidFill>
                            <a:srgbClr val="1E242B"/>
                          </a:solidFill>
                          <a:latin typeface="Arial"/>
                        </a:defRPr>
                      </a:pPr>
                      <a:r>
                        <a:t>0 VNĐ TB tại xưởng</a:t>
                      </a:r>
                      <a:br/>
                      <a:r>
                        <a:t>(Đã thêm Push SW trong thiết kế)</a:t>
                      </a:r>
                    </a:p>
                  </a:txBody>
                  <a:tcPr anchor="ctr" marL="36576" marR="36576" marT="9144" marB="9144">
                    <a:solidFill>
                      <a:srgbClr val="EAF7EE"/>
                    </a:solidFill>
                  </a:tcPr>
                </a:tc>
                <a:tc>
                  <a:txBody>
                    <a:bodyPr/>
                    <a:lstStyle/>
                    <a:p>
                      <a:pPr algn="l">
                        <a:defRPr sz="650">
                          <a:solidFill>
                            <a:srgbClr val="1E242B"/>
                          </a:solidFill>
                          <a:latin typeface="Arial"/>
                        </a:defRPr>
                      </a:pPr>
                      <a:r>
                        <a:t>ĐÃ DUYỆT XÓA U155</a:t>
                      </a:r>
                      <a:br/>
                      <a:r>
                        <a:t>(Triển khai ngay / 先行実施, Row 16, 44)</a:t>
                      </a:r>
                    </a:p>
                  </a:txBody>
                  <a:tcPr anchor="ctr" marL="36576" marR="36576" marT="9144" marB="9144">
                    <a:solidFill>
                      <a:srgbClr val="EAF7EE"/>
                    </a:solidFill>
                  </a:tcPr>
                </a:tc>
              </a:tr>
              <a:tr h="473825">
                <a:tc>
                  <a:txBody>
                    <a:bodyPr/>
                    <a:lstStyle/>
                    <a:p>
                      <a:pPr algn="ctr">
                        <a:defRPr sz="650" b="1">
                          <a:solidFill>
                            <a:srgbClr val="1E242B"/>
                          </a:solidFill>
                          <a:latin typeface="Arial"/>
                        </a:defRPr>
                      </a:pPr>
                      <a:r>
                        <a:t>No.31</a:t>
                      </a:r>
                      <a:br/>
                      <a:r>
                        <a:t>(K2 -&gt; A-2)</a:t>
                      </a:r>
                    </a:p>
                  </a:txBody>
                  <a:tcPr anchor="ctr" marL="36576" marR="36576" marT="9144" marB="9144">
                    <a:solidFill>
                      <a:srgbClr val="FFFFFF"/>
                    </a:solidFill>
                  </a:tcPr>
                </a:tc>
                <a:tc>
                  <a:txBody>
                    <a:bodyPr/>
                    <a:lstStyle/>
                    <a:p>
                      <a:pPr algn="l">
                        <a:defRPr sz="650">
                          <a:solidFill>
                            <a:srgbClr val="1E242B"/>
                          </a:solidFill>
                          <a:latin typeface="Arial"/>
                        </a:defRPr>
                      </a:pPr>
                      <a:r>
                        <a:t>A2: Tự động hóa kiểm tra đóng/mở Cassette bằng vật nặng (2ND-6005/6006)</a:t>
                      </a:r>
                    </a:p>
                  </a:txBody>
                  <a:tcPr anchor="ctr" marL="36576" marR="36576" marT="9144" marB="9144">
                    <a:solidFill>
                      <a:srgbClr val="FFFFFF"/>
                    </a:solidFill>
                  </a:tcPr>
                </a:tc>
                <a:tc>
                  <a:txBody>
                    <a:bodyPr/>
                    <a:lstStyle/>
                    <a:p>
                      <a:pPr algn="l">
                        <a:defRPr sz="650">
                          <a:solidFill>
                            <a:srgbClr val="1E242B"/>
                          </a:solidFill>
                          <a:latin typeface="Arial"/>
                        </a:defRPr>
                      </a:pPr>
                      <a:r>
                        <a:t>Công nhân phải bê đặt quả nặng đồ gá vào khay giấy để thử độ đàn hồi đóng/mở Cassette 1, 2 (20s/máy), gây mỏi tay.</a:t>
                      </a:r>
                    </a:p>
                  </a:txBody>
                  <a:tcPr anchor="ctr" marL="36576" marR="36576" marT="9144" marB="9144">
                    <a:solidFill>
                      <a:srgbClr val="FFFFFF"/>
                    </a:solidFill>
                  </a:tcPr>
                </a:tc>
                <a:tc>
                  <a:txBody>
                    <a:bodyPr/>
                    <a:lstStyle/>
                    <a:p>
                      <a:pPr algn="l">
                        <a:defRPr sz="650">
                          <a:solidFill>
                            <a:srgbClr val="1E242B"/>
                          </a:solidFill>
                          <a:latin typeface="Arial"/>
                        </a:defRPr>
                      </a:pPr>
                      <a:r>
                        <a:t>Chế tạo cơ cấu tự động đóng/mở có tải kiểm tra Cassette hoặc xóa bước kiểm tra bằng quả nặng trên chuyền điều chỉnh.</a:t>
                      </a:r>
                    </a:p>
                  </a:txBody>
                  <a:tcPr anchor="ctr" marL="36576" marR="36576" marT="9144" marB="9144">
                    <a:solidFill>
                      <a:srgbClr val="FFFFFF"/>
                    </a:solidFill>
                  </a:tcPr>
                </a:tc>
                <a:tc>
                  <a:txBody>
                    <a:bodyPr/>
                    <a:lstStyle/>
                    <a:p>
                      <a:pPr algn="l">
                        <a:defRPr sz="650">
                          <a:solidFill>
                            <a:srgbClr val="1E242B"/>
                          </a:solidFill>
                          <a:latin typeface="Arial"/>
                        </a:defRPr>
                      </a:pPr>
                      <a:r>
                        <a:t>• Giảm 20,00 s/máy</a:t>
                      </a:r>
                      <a:br/>
                      <a:r>
                        <a:t>• Xóa thao tác bê quả nặng</a:t>
                      </a:r>
                    </a:p>
                  </a:txBody>
                  <a:tcPr anchor="ctr" marL="36576" marR="36576" marT="9144" marB="9144">
                    <a:solidFill>
                      <a:srgbClr val="FFFFFF"/>
                    </a:solidFill>
                  </a:tcPr>
                </a:tc>
                <a:tc>
                  <a:txBody>
                    <a:bodyPr/>
                    <a:lstStyle/>
                    <a:p>
                      <a:pPr algn="ctr">
                        <a:defRPr sz="650">
                          <a:solidFill>
                            <a:srgbClr val="1E242B"/>
                          </a:solidFill>
                          <a:latin typeface="Arial"/>
                        </a:defRPr>
                      </a:pPr>
                      <a:r>
                        <a:t>Đang báo giá</a:t>
                      </a:r>
                      <a:br/>
                      <a:r>
                        <a:t>(見積中)</a:t>
                      </a:r>
                    </a:p>
                  </a:txBody>
                  <a:tcPr anchor="ctr" marL="36576" marR="36576" marT="9144" marB="9144">
                    <a:solidFill>
                      <a:srgbClr val="FFFFFF"/>
                    </a:solidFill>
                  </a:tcPr>
                </a:tc>
                <a:tc>
                  <a:txBody>
                    <a:bodyPr/>
                    <a:lstStyle/>
                    <a:p>
                      <a:pPr algn="l">
                        <a:defRPr sz="650">
                          <a:solidFill>
                            <a:srgbClr val="1E242B"/>
                          </a:solidFill>
                          <a:latin typeface="Arial"/>
                        </a:defRPr>
                      </a:pPr>
                      <a:r>
                        <a:t>Chờ báo giá / xác nhận</a:t>
                      </a:r>
                      <a:br/>
                      <a:r>
                        <a:t>(VN改善案LIST R16;</a:t>
                      </a:r>
                      <a:br/>
                      <a:r>
                        <a:t>まとめ Row 45)</a:t>
                      </a:r>
                    </a:p>
                  </a:txBody>
                  <a:tcPr anchor="ctr" marL="36576" marR="36576" marT="9144" marB="9144">
                    <a:solidFill>
                      <a:srgbClr val="FFFFFF"/>
                    </a:solidFill>
                  </a:tcPr>
                </a:tc>
              </a:tr>
              <a:tr h="473825">
                <a:tc>
                  <a:txBody>
                    <a:bodyPr/>
                    <a:lstStyle/>
                    <a:p>
                      <a:pPr algn="ctr">
                        <a:defRPr sz="650" b="1">
                          <a:solidFill>
                            <a:srgbClr val="1E242B"/>
                          </a:solidFill>
                          <a:latin typeface="Arial"/>
                        </a:defRPr>
                      </a:pPr>
                      <a:r>
                        <a:t>No.32</a:t>
                      </a:r>
                      <a:br/>
                      <a:r>
                        <a:t>(K2 -&gt; A-2)</a:t>
                      </a:r>
                    </a:p>
                  </a:txBody>
                  <a:tcPr anchor="ctr" marL="36576" marR="36576" marT="9144" marB="9144">
                    <a:solidFill>
                      <a:srgbClr val="F7F9FC"/>
                    </a:solidFill>
                  </a:tcPr>
                </a:tc>
                <a:tc>
                  <a:txBody>
                    <a:bodyPr/>
                    <a:lstStyle/>
                    <a:p>
                      <a:pPr algn="l">
                        <a:defRPr sz="650">
                          <a:solidFill>
                            <a:srgbClr val="1E242B"/>
                          </a:solidFill>
                          <a:latin typeface="Arial"/>
                        </a:defRPr>
                      </a:pPr>
                      <a:r>
                        <a:t>A2: Cải tiến FW/bản mạch để kiểm tra Option không cần kết nối dây cáp</a:t>
                      </a:r>
                    </a:p>
                  </a:txBody>
                  <a:tcPr anchor="ctr" marL="36576" marR="36576" marT="9144" marB="9144">
                    <a:solidFill>
                      <a:srgbClr val="F7F9FC"/>
                    </a:solidFill>
                  </a:tcPr>
                </a:tc>
                <a:tc>
                  <a:txBody>
                    <a:bodyPr/>
                    <a:lstStyle/>
                    <a:p>
                      <a:pPr algn="l">
                        <a:defRPr sz="650">
                          <a:solidFill>
                            <a:srgbClr val="1E242B"/>
                          </a:solidFill>
                          <a:latin typeface="Arial"/>
                        </a:defRPr>
                      </a:pPr>
                      <a:r>
                        <a:t>Phải cắm dây kết nối đồ gá vào từng cổng Option DP, DF, PF, IS/ZF trên máy (90s/máy tại K2).</a:t>
                      </a:r>
                    </a:p>
                  </a:txBody>
                  <a:tcPr anchor="ctr" marL="36576" marR="36576" marT="9144" marB="9144">
                    <a:solidFill>
                      <a:srgbClr val="F7F9FC"/>
                    </a:solidFill>
                  </a:tcPr>
                </a:tc>
                <a:tc>
                  <a:txBody>
                    <a:bodyPr/>
                    <a:lstStyle/>
                    <a:p>
                      <a:pPr algn="l">
                        <a:defRPr sz="650">
                          <a:solidFill>
                            <a:srgbClr val="1E242B"/>
                          </a:solidFill>
                          <a:latin typeface="Arial"/>
                        </a:defRPr>
                      </a:pPr>
                      <a:r>
                        <a:t>Kiến nghị Thiết kế JP bổ sung mạch tự chẩn đoán trên bo mạch (hoặc bảo chứng tại Sub-Assy) để bỏ thao tác cắm dây Option.</a:t>
                      </a:r>
                    </a:p>
                  </a:txBody>
                  <a:tcPr anchor="ctr" marL="36576" marR="36576" marT="9144" marB="9144">
                    <a:solidFill>
                      <a:srgbClr val="F7F9FC"/>
                    </a:solidFill>
                  </a:tcPr>
                </a:tc>
                <a:tc>
                  <a:txBody>
                    <a:bodyPr/>
                    <a:lstStyle/>
                    <a:p>
                      <a:pPr algn="l">
                        <a:defRPr sz="650">
                          <a:solidFill>
                            <a:srgbClr val="1E242B"/>
                          </a:solidFill>
                          <a:latin typeface="Arial"/>
                        </a:defRPr>
                      </a:pPr>
                      <a:r>
                        <a:t>Giảm 45s ~ 90s/máy (Kết hợp hoặc thay thế gá nam châm No.21)</a:t>
                      </a:r>
                    </a:p>
                  </a:txBody>
                  <a:tcPr anchor="ctr" marL="36576" marR="36576" marT="9144" marB="9144">
                    <a:solidFill>
                      <a:srgbClr val="F7F9FC"/>
                    </a:solidFill>
                  </a:tcPr>
                </a:tc>
                <a:tc>
                  <a:txBody>
                    <a:bodyPr/>
                    <a:lstStyle/>
                    <a:p>
                      <a:pPr algn="ctr">
                        <a:defRPr sz="650">
                          <a:solidFill>
                            <a:srgbClr val="1E242B"/>
                          </a:solidFill>
                          <a:latin typeface="Arial"/>
                        </a:defRPr>
                      </a:pPr>
                      <a:r>
                        <a:t>0 VNĐ TB tại xưởng</a:t>
                      </a:r>
                      <a:br/>
                      <a:r>
                        <a:t>(Nếu cải tiến TK;</a:t>
                      </a:r>
                      <a:br/>
                      <a:r>
                        <a:t>hoặc theo No.21)</a:t>
                      </a:r>
                    </a:p>
                  </a:txBody>
                  <a:tcPr anchor="ctr" marL="36576" marR="36576" marT="9144" marB="9144">
                    <a:solidFill>
                      <a:srgbClr val="F7F9FC"/>
                    </a:solidFill>
                  </a:tcPr>
                </a:tc>
                <a:tc>
                  <a:txBody>
                    <a:bodyPr/>
                    <a:lstStyle/>
                    <a:p>
                      <a:pPr algn="l">
                        <a:defRPr sz="650">
                          <a:solidFill>
                            <a:srgbClr val="1E242B"/>
                          </a:solidFill>
                          <a:latin typeface="Arial"/>
                        </a:defRPr>
                      </a:pPr>
                      <a:r>
                        <a:t>Chờ TK JP xác nhận</a:t>
                      </a:r>
                      <a:br/>
                      <a:r>
                        <a:t>(VN改善案LIST R17;</a:t>
                      </a:r>
                      <a:br/>
                      <a:r>
                        <a:t>まとめ Row 46)</a:t>
                      </a:r>
                    </a:p>
                  </a:txBody>
                  <a:tcPr anchor="ctr" marL="36576" marR="36576" marT="9144" marB="9144">
                    <a:solidFill>
                      <a:srgbClr val="F7F9FC"/>
                    </a:solidFill>
                  </a:tcPr>
                </a:tc>
              </a:tr>
              <a:tr h="473825">
                <a:tc>
                  <a:txBody>
                    <a:bodyPr/>
                    <a:lstStyle/>
                    <a:p>
                      <a:pPr algn="ctr">
                        <a:defRPr sz="650" b="1">
                          <a:solidFill>
                            <a:srgbClr val="1E242B"/>
                          </a:solidFill>
                          <a:latin typeface="Arial"/>
                        </a:defRPr>
                      </a:pPr>
                      <a:r>
                        <a:t>No.33</a:t>
                      </a:r>
                      <a:br/>
                      <a:r>
                        <a:t>(K3 -&gt; A-3)</a:t>
                      </a:r>
                    </a:p>
                  </a:txBody>
                  <a:tcPr anchor="ctr" marL="36576" marR="36576" marT="9144" marB="9144">
                    <a:solidFill>
                      <a:srgbClr val="FFFFFF"/>
                    </a:solidFill>
                  </a:tcPr>
                </a:tc>
                <a:tc>
                  <a:txBody>
                    <a:bodyPr/>
                    <a:lstStyle/>
                    <a:p>
                      <a:pPr algn="l">
                        <a:defRPr sz="650">
                          <a:solidFill>
                            <a:srgbClr val="1E242B"/>
                          </a:solidFill>
                          <a:latin typeface="Arial"/>
                        </a:defRPr>
                      </a:pPr>
                      <a:r>
                        <a:t>A3: Tự động hóa hoặc chuyển công đoạn lắp 6 tấm vỏ máy (Cover / Plate Option)</a:t>
                      </a:r>
                    </a:p>
                  </a:txBody>
                  <a:tcPr anchor="ctr" marL="36576" marR="36576" marT="9144" marB="9144">
                    <a:solidFill>
                      <a:srgbClr val="FFFFFF"/>
                    </a:solidFill>
                  </a:tcPr>
                </a:tc>
                <a:tc>
                  <a:txBody>
                    <a:bodyPr/>
                    <a:lstStyle/>
                    <a:p>
                      <a:pPr algn="l">
                        <a:defRPr sz="650">
                          <a:solidFill>
                            <a:srgbClr val="1E242B"/>
                          </a:solidFill>
                          <a:latin typeface="Arial"/>
                        </a:defRPr>
                      </a:pPr>
                      <a:r>
                        <a:t>Công nhân điều chỉnh tại K3 phải lắp &amp; siết vít 6 tấm vỏ: TRAY INNER, COVER DP, REAR LOW/UP, FILTER, PLATE OPTION (90s; 48,32s trên 工程表).</a:t>
                      </a:r>
                    </a:p>
                  </a:txBody>
                  <a:tcPr anchor="ctr" marL="36576" marR="36576" marT="9144" marB="9144">
                    <a:solidFill>
                      <a:srgbClr val="FFFFFF"/>
                    </a:solidFill>
                  </a:tcPr>
                </a:tc>
                <a:tc>
                  <a:txBody>
                    <a:bodyPr/>
                    <a:lstStyle/>
                    <a:p>
                      <a:pPr algn="l">
                        <a:defRPr sz="650">
                          <a:solidFill>
                            <a:srgbClr val="1E242B"/>
                          </a:solidFill>
                          <a:latin typeface="Arial"/>
                        </a:defRPr>
                      </a:pPr>
                      <a:r>
                        <a:t>Phương án 1: Chuyển toàn bộ bước lắp vỏ về công đoạn Lắp ráp (本体組立); Phương án 2: Trang bị cơ cấu lắp/siết vít tự động.</a:t>
                      </a:r>
                    </a:p>
                  </a:txBody>
                  <a:tcPr anchor="ctr" marL="36576" marR="36576" marT="9144" marB="9144">
                    <a:solidFill>
                      <a:srgbClr val="FFFFFF"/>
                    </a:solidFill>
                  </a:tcPr>
                </a:tc>
                <a:tc>
                  <a:txBody>
                    <a:bodyPr/>
                    <a:lstStyle/>
                    <a:p>
                      <a:pPr algn="l">
                        <a:defRPr sz="650">
                          <a:solidFill>
                            <a:srgbClr val="1E242B"/>
                          </a:solidFill>
                          <a:latin typeface="Arial"/>
                        </a:defRPr>
                      </a:pPr>
                      <a:r>
                        <a:t>• Giảm 48,32s ~ 90,00s dừng máy tại A-3</a:t>
                      </a:r>
                      <a:br/>
                      <a:r>
                        <a:t>• Tránh ngắt quãng chu trình tự động</a:t>
                      </a:r>
                    </a:p>
                  </a:txBody>
                  <a:tcPr anchor="ctr" marL="36576" marR="36576" marT="9144" marB="9144">
                    <a:solidFill>
                      <a:srgbClr val="FFFFFF"/>
                    </a:solidFill>
                  </a:tcPr>
                </a:tc>
                <a:tc>
                  <a:txBody>
                    <a:bodyPr/>
                    <a:lstStyle/>
                    <a:p>
                      <a:pPr algn="ctr">
                        <a:defRPr sz="650">
                          <a:solidFill>
                            <a:srgbClr val="1E242B"/>
                          </a:solidFill>
                          <a:latin typeface="Arial"/>
                        </a:defRPr>
                      </a:pPr>
                      <a:r>
                        <a:t>Đang báo giá</a:t>
                      </a:r>
                      <a:br/>
                      <a:r>
                        <a:t>(見積中, nếu dùng TB) / Chuyển CĐ</a:t>
                      </a:r>
                    </a:p>
                  </a:txBody>
                  <a:tcPr anchor="ctr" marL="36576" marR="36576" marT="9144" marB="9144">
                    <a:solidFill>
                      <a:srgbClr val="FFFFFF"/>
                    </a:solidFill>
                  </a:tcPr>
                </a:tc>
                <a:tc>
                  <a:txBody>
                    <a:bodyPr/>
                    <a:lstStyle/>
                    <a:p>
                      <a:pPr algn="l">
                        <a:defRPr sz="650">
                          <a:solidFill>
                            <a:srgbClr val="1E242B"/>
                          </a:solidFill>
                          <a:latin typeface="Arial"/>
                        </a:defRPr>
                      </a:pPr>
                      <a:r>
                        <a:t>Đang thảo luận tại DR công đoạn</a:t>
                      </a:r>
                      <a:br/>
                      <a:r>
                        <a:t>(まとめ Row 47;</a:t>
                      </a:r>
                      <a:br/>
                      <a:r>
                        <a:t>DR議事録 R15-16)</a:t>
                      </a:r>
                    </a:p>
                  </a:txBody>
                  <a:tcPr anchor="ctr" marL="36576" marR="36576" marT="9144" marB="9144">
                    <a:solidFill>
                      <a:srgbClr val="FFFFFF"/>
                    </a:solidFill>
                  </a:tcPr>
                </a:tc>
              </a:tr>
              <a:tr h="473825">
                <a:tc>
                  <a:txBody>
                    <a:bodyPr/>
                    <a:lstStyle/>
                    <a:p>
                      <a:pPr algn="ctr">
                        <a:defRPr sz="650" b="1">
                          <a:solidFill>
                            <a:srgbClr val="1E242B"/>
                          </a:solidFill>
                          <a:latin typeface="Arial"/>
                        </a:defRPr>
                      </a:pPr>
                      <a:r>
                        <a:t>No.34</a:t>
                      </a:r>
                      <a:br/>
                      <a:r>
                        <a:t>(K3 -&gt; A-3)</a:t>
                      </a:r>
                    </a:p>
                  </a:txBody>
                  <a:tcPr anchor="ctr" marL="36576" marR="36576" marT="9144" marB="9144">
                    <a:solidFill>
                      <a:srgbClr val="EAF7EE"/>
                    </a:solidFill>
                  </a:tcPr>
                </a:tc>
                <a:tc>
                  <a:txBody>
                    <a:bodyPr/>
                    <a:lstStyle/>
                    <a:p>
                      <a:pPr algn="l">
                        <a:defRPr sz="650">
                          <a:solidFill>
                            <a:srgbClr val="1E242B"/>
                          </a:solidFill>
                          <a:latin typeface="Arial"/>
                        </a:defRPr>
                      </a:pPr>
                      <a:r>
                        <a:t>A3: Cải tiến FW/bản mạch để tự động kiểm tra khổ giấy &amp; lượng giấy Cassette 1/2</a:t>
                      </a:r>
                    </a:p>
                  </a:txBody>
                  <a:tcPr anchor="ctr" marL="36576" marR="36576" marT="9144" marB="9144">
                    <a:solidFill>
                      <a:srgbClr val="EAF7EE"/>
                    </a:solidFill>
                  </a:tcPr>
                </a:tc>
                <a:tc>
                  <a:txBody>
                    <a:bodyPr/>
                    <a:lstStyle/>
                    <a:p>
                      <a:pPr algn="l">
                        <a:defRPr sz="650">
                          <a:solidFill>
                            <a:srgbClr val="1E242B"/>
                          </a:solidFill>
                          <a:latin typeface="Arial"/>
                        </a:defRPr>
                      </a:pPr>
                      <a:r>
                        <a:t>Kéo khay, đổi cữ A5R/A6R/Folio/B4R/A3 và đặt đồ gá kiểm tra lượng giấy 70%/30% nhiều lần (65s tại K3; 66,68s trên 工程表).</a:t>
                      </a:r>
                    </a:p>
                  </a:txBody>
                  <a:tcPr anchor="ctr" marL="36576" marR="36576" marT="9144" marB="9144">
                    <a:solidFill>
                      <a:srgbClr val="EAF7EE"/>
                    </a:solidFill>
                  </a:tcPr>
                </a:tc>
                <a:tc>
                  <a:txBody>
                    <a:bodyPr/>
                    <a:lstStyle/>
                    <a:p>
                      <a:pPr algn="l">
                        <a:defRPr sz="650">
                          <a:solidFill>
                            <a:srgbClr val="1E242B"/>
                          </a:solidFill>
                          <a:latin typeface="Arial"/>
                        </a:defRPr>
                      </a:pPr>
                      <a:r>
                        <a:t>Xóa 35 bước đổi cữ trung gian và đồ gá lượng giấy; chỉ đặt giấy chuẩn A4R/A3 một lần và đọc cảm biến tự động.</a:t>
                      </a:r>
                    </a:p>
                  </a:txBody>
                  <a:tcPr anchor="ctr" marL="36576" marR="36576" marT="9144" marB="9144">
                    <a:solidFill>
                      <a:srgbClr val="EAF7EE"/>
                    </a:solidFill>
                  </a:tcPr>
                </a:tc>
                <a:tc>
                  <a:txBody>
                    <a:bodyPr/>
                    <a:lstStyle/>
                    <a:p>
                      <a:pPr algn="l">
                        <a:defRPr sz="650">
                          <a:solidFill>
                            <a:srgbClr val="1E242B"/>
                          </a:solidFill>
                          <a:latin typeface="Arial"/>
                        </a:defRPr>
                      </a:pPr>
                      <a:r>
                        <a:t>• Giảm 66,68 s/máy (theo 工程表) / 65s (K3)</a:t>
                      </a:r>
                      <a:br/>
                      <a:r>
                        <a:t>• Xóa 35 bước thao tác</a:t>
                      </a:r>
                    </a:p>
                  </a:txBody>
                  <a:tcPr anchor="ctr" marL="36576" marR="36576" marT="9144" marB="9144">
                    <a:solidFill>
                      <a:srgbClr val="EAF7EE"/>
                    </a:solidFill>
                  </a:tcPr>
                </a:tc>
                <a:tc>
                  <a:txBody>
                    <a:bodyPr/>
                    <a:lstStyle/>
                    <a:p>
                      <a:pPr algn="ctr">
                        <a:defRPr sz="650">
                          <a:solidFill>
                            <a:srgbClr val="1E242B"/>
                          </a:solidFill>
                          <a:latin typeface="Arial"/>
                        </a:defRPr>
                      </a:pPr>
                      <a:r>
                        <a:t>0 VNĐ TB tại xưởng</a:t>
                      </a:r>
                      <a:br/>
                      <a:r>
                        <a:t>(Cải tiến quy trình / phần mềm)</a:t>
                      </a:r>
                    </a:p>
                  </a:txBody>
                  <a:tcPr anchor="ctr" marL="36576" marR="36576" marT="9144" marB="9144">
                    <a:solidFill>
                      <a:srgbClr val="EAF7EE"/>
                    </a:solidFill>
                  </a:tcPr>
                </a:tc>
                <a:tc>
                  <a:txBody>
                    <a:bodyPr/>
                    <a:lstStyle/>
                    <a:p>
                      <a:pPr algn="l">
                        <a:defRPr sz="650">
                          <a:solidFill>
                            <a:srgbClr val="1E242B"/>
                          </a:solidFill>
                          <a:latin typeface="Arial"/>
                        </a:defRPr>
                      </a:pPr>
                      <a:r>
                        <a:t>ĐÃ ĐÁNH DẤU XÓA (削) trên 工程表 (R187-231;</a:t>
                      </a:r>
                      <a:br/>
                      <a:r>
                        <a:t>まとめ Row 48)</a:t>
                      </a:r>
                    </a:p>
                  </a:txBody>
                  <a:tcPr anchor="ctr" marL="36576" marR="36576" marT="9144" marB="9144">
                    <a:solidFill>
                      <a:srgbClr val="EAF7EE"/>
                    </a:solidFill>
                  </a:tcPr>
                </a:tc>
              </a:tr>
              <a:tr h="473825">
                <a:tc>
                  <a:txBody>
                    <a:bodyPr/>
                    <a:lstStyle/>
                    <a:p>
                      <a:pPr algn="ctr">
                        <a:defRPr sz="650" b="1">
                          <a:solidFill>
                            <a:srgbClr val="1E242B"/>
                          </a:solidFill>
                          <a:latin typeface="Arial"/>
                        </a:defRPr>
                      </a:pPr>
                      <a:r>
                        <a:t>No.35</a:t>
                      </a:r>
                      <a:br/>
                      <a:r>
                        <a:t>(K3 -&gt; A-3)</a:t>
                      </a:r>
                    </a:p>
                  </a:txBody>
                  <a:tcPr anchor="ctr" marL="36576" marR="36576" marT="9144" marB="9144">
                    <a:solidFill>
                      <a:srgbClr val="FFFFFF"/>
                    </a:solidFill>
                  </a:tcPr>
                </a:tc>
                <a:tc>
                  <a:txBody>
                    <a:bodyPr/>
                    <a:lstStyle/>
                    <a:p>
                      <a:pPr algn="l">
                        <a:defRPr sz="650">
                          <a:solidFill>
                            <a:srgbClr val="1E242B"/>
                          </a:solidFill>
                          <a:latin typeface="Arial"/>
                        </a:defRPr>
                      </a:pPr>
                      <a:r>
                        <a:t>A3: Thiết bị tự động đặt giấy vào Cassette 1/2 theo hướng xuất (Centi / Inch)</a:t>
                      </a:r>
                    </a:p>
                  </a:txBody>
                  <a:tcPr anchor="ctr" marL="36576" marR="36576" marT="9144" marB="9144">
                    <a:solidFill>
                      <a:srgbClr val="FFFFFF"/>
                    </a:solidFill>
                  </a:tcPr>
                </a:tc>
                <a:tc>
                  <a:txBody>
                    <a:bodyPr/>
                    <a:lstStyle/>
                    <a:p>
                      <a:pPr algn="l">
                        <a:defRPr sz="650">
                          <a:solidFill>
                            <a:srgbClr val="1E242B"/>
                          </a:solidFill>
                          <a:latin typeface="Arial"/>
                        </a:defRPr>
                      </a:pPr>
                      <a:r>
                        <a:t>Công nhân phải lấy giấy và đặt thủ công vào Cassette 1/2 theo từng hướng xuất Centi/Inch (15s/máy tại K3).</a:t>
                      </a:r>
                    </a:p>
                  </a:txBody>
                  <a:tcPr anchor="ctr" marL="36576" marR="36576" marT="9144" marB="9144">
                    <a:solidFill>
                      <a:srgbClr val="FFFFFF"/>
                    </a:solidFill>
                  </a:tcPr>
                </a:tc>
                <a:tc>
                  <a:txBody>
                    <a:bodyPr/>
                    <a:lstStyle/>
                    <a:p>
                      <a:pPr algn="l">
                        <a:defRPr sz="650">
                          <a:solidFill>
                            <a:srgbClr val="1E242B"/>
                          </a:solidFill>
                          <a:latin typeface="Arial"/>
                        </a:defRPr>
                      </a:pPr>
                      <a:r>
                        <a:t>Nghiên cứu cơ cấu cấp giấy tự động vào khay hoặc đồng nhất loại giấy kiểm tra cho các mã hàng trên chuyền.</a:t>
                      </a:r>
                    </a:p>
                  </a:txBody>
                  <a:tcPr anchor="ctr" marL="36576" marR="36576" marT="9144" marB="9144">
                    <a:solidFill>
                      <a:srgbClr val="FFFFFF"/>
                    </a:solidFill>
                  </a:tcPr>
                </a:tc>
                <a:tc>
                  <a:txBody>
                    <a:bodyPr/>
                    <a:lstStyle/>
                    <a:p>
                      <a:pPr algn="l">
                        <a:defRPr sz="650">
                          <a:solidFill>
                            <a:srgbClr val="1E242B"/>
                          </a:solidFill>
                          <a:latin typeface="Arial"/>
                        </a:defRPr>
                      </a:pPr>
                      <a:r>
                        <a:t>• Giảm 15,00 s/máy</a:t>
                      </a:r>
                      <a:br/>
                      <a:r>
                        <a:t>• Chống nhầm lẫn giấy Centi / Inch</a:t>
                      </a:r>
                    </a:p>
                  </a:txBody>
                  <a:tcPr anchor="ctr" marL="36576" marR="36576" marT="9144" marB="9144">
                    <a:solidFill>
                      <a:srgbClr val="FFFFFF"/>
                    </a:solidFill>
                  </a:tcPr>
                </a:tc>
                <a:tc>
                  <a:txBody>
                    <a:bodyPr/>
                    <a:lstStyle/>
                    <a:p>
                      <a:pPr algn="ctr">
                        <a:defRPr sz="650">
                          <a:solidFill>
                            <a:srgbClr val="1E242B"/>
                          </a:solidFill>
                          <a:latin typeface="Arial"/>
                        </a:defRPr>
                      </a:pPr>
                      <a:r>
                        <a:t>Đang báo giá</a:t>
                      </a:r>
                      <a:br/>
                      <a:r>
                        <a:t>(見積中)</a:t>
                      </a:r>
                    </a:p>
                  </a:txBody>
                  <a:tcPr anchor="ctr" marL="36576" marR="36576" marT="9144" marB="9144">
                    <a:solidFill>
                      <a:srgbClr val="FFFFFF"/>
                    </a:solidFill>
                  </a:tcPr>
                </a:tc>
                <a:tc>
                  <a:txBody>
                    <a:bodyPr/>
                    <a:lstStyle/>
                    <a:p>
                      <a:pPr algn="l">
                        <a:defRPr sz="650">
                          <a:solidFill>
                            <a:srgbClr val="1E242B"/>
                          </a:solidFill>
                          <a:latin typeface="Arial"/>
                        </a:defRPr>
                      </a:pPr>
                      <a:r>
                        <a:t>Chờ báo giá / xác nhận</a:t>
                      </a:r>
                      <a:br/>
                      <a:r>
                        <a:t>(VN改善案LIST R20;</a:t>
                      </a:r>
                      <a:br/>
                      <a:r>
                        <a:t>まとめ Row 49)</a:t>
                      </a:r>
                    </a:p>
                  </a:txBody>
                  <a:tcPr anchor="ctr" marL="36576" marR="36576" marT="9144" marB="9144">
                    <a:solidFill>
                      <a:srgbClr val="FFFFFF"/>
                    </a:solidFill>
                  </a:tcPr>
                </a:tc>
              </a:tr>
              <a:tr h="473825">
                <a:tc>
                  <a:txBody>
                    <a:bodyPr/>
                    <a:lstStyle/>
                    <a:p>
                      <a:pPr algn="ctr">
                        <a:defRPr sz="650" b="1">
                          <a:solidFill>
                            <a:srgbClr val="1E242B"/>
                          </a:solidFill>
                          <a:latin typeface="Arial"/>
                        </a:defRPr>
                      </a:pPr>
                      <a:r>
                        <a:t>No.36</a:t>
                      </a:r>
                      <a:br/>
                      <a:r>
                        <a:t>(K4 -&gt; A-2)</a:t>
                      </a:r>
                    </a:p>
                  </a:txBody>
                  <a:tcPr anchor="ctr" marL="36576" marR="36576" marT="9144" marB="9144">
                    <a:solidFill>
                      <a:srgbClr val="EAF7EE"/>
                    </a:solidFill>
                  </a:tcPr>
                </a:tc>
                <a:tc>
                  <a:txBody>
                    <a:bodyPr/>
                    <a:lstStyle/>
                    <a:p>
                      <a:pPr algn="l">
                        <a:defRPr sz="650">
                          <a:solidFill>
                            <a:srgbClr val="1E242B"/>
                          </a:solidFill>
                          <a:latin typeface="Arial"/>
                        </a:defRPr>
                      </a:pPr>
                      <a:r>
                        <a:t>A4: Cải tiến FW/bản mạch để tự động kiểm tra đóng/mở nắp phải (COVER RIGHT)</a:t>
                      </a:r>
                    </a:p>
                  </a:txBody>
                  <a:tcPr anchor="ctr" marL="36576" marR="36576" marT="9144" marB="9144">
                    <a:solidFill>
                      <a:srgbClr val="EAF7EE"/>
                    </a:solidFill>
                  </a:tcPr>
                </a:tc>
                <a:tc>
                  <a:txBody>
                    <a:bodyPr/>
                    <a:lstStyle/>
                    <a:p>
                      <a:pPr algn="l">
                        <a:defRPr sz="650">
                          <a:solidFill>
                            <a:srgbClr val="1E242B"/>
                          </a:solidFill>
                          <a:latin typeface="Arial"/>
                        </a:defRPr>
                      </a:pPr>
                      <a:r>
                        <a:t>Công nhân bật máy, mở và đóng nắp phải (COVER RIGHT) để kiểm tra công tắc nhận diện (25s/máy tại K4).</a:t>
                      </a:r>
                    </a:p>
                  </a:txBody>
                  <a:tcPr anchor="ctr" marL="36576" marR="36576" marT="9144" marB="9144">
                    <a:solidFill>
                      <a:srgbClr val="EAF7EE"/>
                    </a:solidFill>
                  </a:tcPr>
                </a:tc>
                <a:tc>
                  <a:txBody>
                    <a:bodyPr/>
                    <a:lstStyle/>
                    <a:p>
                      <a:pPr algn="l">
                        <a:defRPr sz="650">
                          <a:solidFill>
                            <a:srgbClr val="1E242B"/>
                          </a:solidFill>
                          <a:latin typeface="Arial"/>
                        </a:defRPr>
                      </a:pPr>
                      <a:r>
                        <a:t>Tích hợp kiểm tra tín hiệu công tắc cửa tự động trong chu trình semifinal (Đồng bộ với Đề án JP No.4 xóa 8,88s kiểm tra nắp).</a:t>
                      </a:r>
                    </a:p>
                  </a:txBody>
                  <a:tcPr anchor="ctr" marL="36576" marR="36576" marT="9144" marB="9144">
                    <a:solidFill>
                      <a:srgbClr val="EAF7EE"/>
                    </a:solidFill>
                  </a:tcPr>
                </a:tc>
                <a:tc>
                  <a:txBody>
                    <a:bodyPr/>
                    <a:lstStyle/>
                    <a:p>
                      <a:pPr algn="l">
                        <a:defRPr sz="650">
                          <a:solidFill>
                            <a:srgbClr val="1E242B"/>
                          </a:solidFill>
                          <a:latin typeface="Arial"/>
                        </a:defRPr>
                      </a:pPr>
                      <a:r>
                        <a:t>• Giảm 8,88s (theo 工程表) ~ 25,00s (tại K4)</a:t>
                      </a:r>
                      <a:br/>
                      <a:r>
                        <a:t>• Xóa bước mở/đóng thử</a:t>
                      </a:r>
                    </a:p>
                  </a:txBody>
                  <a:tcPr anchor="ctr" marL="36576" marR="36576" marT="9144" marB="9144">
                    <a:solidFill>
                      <a:srgbClr val="EAF7EE"/>
                    </a:solidFill>
                  </a:tcPr>
                </a:tc>
                <a:tc>
                  <a:txBody>
                    <a:bodyPr/>
                    <a:lstStyle/>
                    <a:p>
                      <a:pPr algn="ctr">
                        <a:defRPr sz="650">
                          <a:solidFill>
                            <a:srgbClr val="1E242B"/>
                          </a:solidFill>
                          <a:latin typeface="Arial"/>
                        </a:defRPr>
                      </a:pPr>
                      <a:r>
                        <a:t>0 VNĐ TB tại xưởng</a:t>
                      </a:r>
                      <a:br/>
                      <a:r>
                        <a:t>(Đồng bộ JP No.4)</a:t>
                      </a:r>
                    </a:p>
                  </a:txBody>
                  <a:tcPr anchor="ctr" marL="36576" marR="36576" marT="9144" marB="9144">
                    <a:solidFill>
                      <a:srgbClr val="EAF7EE"/>
                    </a:solidFill>
                  </a:tcPr>
                </a:tc>
                <a:tc>
                  <a:txBody>
                    <a:bodyPr/>
                    <a:lstStyle/>
                    <a:p>
                      <a:pPr algn="l">
                        <a:defRPr sz="650">
                          <a:solidFill>
                            <a:srgbClr val="1E242B"/>
                          </a:solidFill>
                          <a:latin typeface="Arial"/>
                        </a:defRPr>
                      </a:pPr>
                      <a:r>
                        <a:t>Triển khai ngay cùng JP No.4 (先行実施)</a:t>
                      </a:r>
                      <a:br/>
                      <a:r>
                        <a:t>(まとめ Row 18, 50)</a:t>
                      </a:r>
                    </a:p>
                  </a:txBody>
                  <a:tcPr anchor="ctr" marL="36576" marR="36576" marT="9144" marB="9144">
                    <a:solidFill>
                      <a:srgbClr val="EAF7EE"/>
                    </a:solidFill>
                  </a:tcPr>
                </a:tc>
              </a:tr>
              <a:tr h="473825">
                <a:tc>
                  <a:txBody>
                    <a:bodyPr/>
                    <a:lstStyle/>
                    <a:p>
                      <a:pPr algn="ctr">
                        <a:defRPr sz="650" b="1">
                          <a:solidFill>
                            <a:srgbClr val="1E242B"/>
                          </a:solidFill>
                          <a:latin typeface="Arial"/>
                        </a:defRPr>
                      </a:pPr>
                      <a:r>
                        <a:t>No.37</a:t>
                      </a:r>
                      <a:br/>
                      <a:r>
                        <a:t>(K4 -&gt; A-4)</a:t>
                      </a:r>
                    </a:p>
                  </a:txBody>
                  <a:tcPr anchor="ctr" marL="36576" marR="36576" marT="9144" marB="9144">
                    <a:solidFill>
                      <a:srgbClr val="FFFFFF"/>
                    </a:solidFill>
                  </a:tcPr>
                </a:tc>
                <a:tc>
                  <a:txBody>
                    <a:bodyPr/>
                    <a:lstStyle/>
                    <a:p>
                      <a:pPr algn="l">
                        <a:defRPr sz="650">
                          <a:solidFill>
                            <a:srgbClr val="1E242B"/>
                          </a:solidFill>
                          <a:latin typeface="Arial"/>
                        </a:defRPr>
                      </a:pPr>
                      <a:r>
                        <a:t>A4: Cải tiến linh kiện/thiết kế để bỏ bước đo độ lệch Belt truyền ảnh (Transfer Belt)</a:t>
                      </a:r>
                    </a:p>
                  </a:txBody>
                  <a:tcPr anchor="ctr" marL="36576" marR="36576" marT="9144" marB="9144">
                    <a:solidFill>
                      <a:srgbClr val="FFFFFF"/>
                    </a:solidFill>
                  </a:tcPr>
                </a:tc>
                <a:tc>
                  <a:txBody>
                    <a:bodyPr/>
                    <a:lstStyle/>
                    <a:p>
                      <a:pPr algn="l">
                        <a:defRPr sz="650">
                          <a:solidFill>
                            <a:srgbClr val="1E242B"/>
                          </a:solidFill>
                          <a:latin typeface="Arial"/>
                        </a:defRPr>
                      </a:pPr>
                      <a:r>
                        <a:t>Sau Aging U950, công nhân phải cúi sát vào máy đo độ lệch Transfer Belt (5s tại K4; 10,76s tại DSLK; 15,36s trên 工程表).</a:t>
                      </a:r>
                    </a:p>
                  </a:txBody>
                  <a:tcPr anchor="ctr" marL="36576" marR="36576" marT="9144" marB="9144">
                    <a:solidFill>
                      <a:srgbClr val="FFFFFF"/>
                    </a:solidFill>
                  </a:tcPr>
                </a:tc>
                <a:tc>
                  <a:txBody>
                    <a:bodyPr/>
                    <a:lstStyle/>
                    <a:p>
                      <a:pPr algn="l">
                        <a:defRPr sz="650">
                          <a:solidFill>
                            <a:srgbClr val="1E242B"/>
                          </a:solidFill>
                          <a:latin typeface="Arial"/>
                        </a:defRPr>
                      </a:pPr>
                      <a:r>
                        <a:t>Thiết kế JP đổi góc vát Puli từ 5° -&gt; 35° và đổi sang Belt đàn hồi (弾性ベルト). Tại VN còn 1-2 máy NG/tháng nên chỉ xóa sau khi linh kiện mới ổn định.</a:t>
                      </a:r>
                    </a:p>
                  </a:txBody>
                  <a:tcPr anchor="ctr" marL="36576" marR="36576" marT="9144" marB="9144">
                    <a:solidFill>
                      <a:srgbClr val="FFFFFF"/>
                    </a:solidFill>
                  </a:tcPr>
                </a:tc>
                <a:tc>
                  <a:txBody>
                    <a:bodyPr/>
                    <a:lstStyle/>
                    <a:p>
                      <a:pPr algn="l">
                        <a:defRPr sz="650">
                          <a:solidFill>
                            <a:srgbClr val="1E242B"/>
                          </a:solidFill>
                          <a:latin typeface="Arial"/>
                        </a:defRPr>
                      </a:pPr>
                      <a:r>
                        <a:t>• Giảm 5,00s ~ 15,36s/máy sau khi linh kiện mới đạt Cpk &gt;= 1,33</a:t>
                      </a:r>
                    </a:p>
                  </a:txBody>
                  <a:tcPr anchor="ctr" marL="36576" marR="36576" marT="9144" marB="9144">
                    <a:solidFill>
                      <a:srgbClr val="FFFFFF"/>
                    </a:solidFill>
                  </a:tcPr>
                </a:tc>
                <a:tc>
                  <a:txBody>
                    <a:bodyPr/>
                    <a:lstStyle/>
                    <a:p>
                      <a:pPr algn="ctr">
                        <a:defRPr sz="650">
                          <a:solidFill>
                            <a:srgbClr val="1E242B"/>
                          </a:solidFill>
                          <a:latin typeface="Arial"/>
                        </a:defRPr>
                      </a:pPr>
                      <a:r>
                        <a:t>0 VNĐ TB tại xưởng</a:t>
                      </a:r>
                      <a:br/>
                      <a:r>
                        <a:t>(Cải tiến linh kiện Puli 35° + Belt)</a:t>
                      </a:r>
                    </a:p>
                  </a:txBody>
                  <a:tcPr anchor="ctr" marL="36576" marR="36576" marT="9144" marB="9144">
                    <a:solidFill>
                      <a:srgbClr val="FFFFFF"/>
                    </a:solidFill>
                  </a:tcPr>
                </a:tc>
                <a:tc>
                  <a:txBody>
                    <a:bodyPr/>
                    <a:lstStyle/>
                    <a:p>
                      <a:pPr algn="l">
                        <a:defRPr sz="650">
                          <a:solidFill>
                            <a:srgbClr val="1E242B"/>
                          </a:solidFill>
                          <a:latin typeface="Arial"/>
                        </a:defRPr>
                      </a:pPr>
                      <a:r>
                        <a:t>Chờ QA phê duyệt sau khi nghiệm thu Belt mới</a:t>
                      </a:r>
                      <a:br/>
                      <a:r>
                        <a:t>(まとめ Row 22, 51)</a:t>
                      </a:r>
                    </a:p>
                  </a:txBody>
                  <a:tcPr anchor="ctr" marL="36576" marR="36576" marT="9144" marB="9144">
                    <a:solidFill>
                      <a:srgbClr val="FFFFFF"/>
                    </a:solidFill>
                  </a:tcPr>
                </a:tc>
              </a:tr>
              <a:tr h="473830">
                <a:tc>
                  <a:txBody>
                    <a:bodyPr/>
                    <a:lstStyle/>
                    <a:p>
                      <a:pPr algn="ctr">
                        <a:defRPr sz="650" b="1">
                          <a:solidFill>
                            <a:srgbClr val="1E242B"/>
                          </a:solidFill>
                          <a:latin typeface="Arial"/>
                        </a:defRPr>
                      </a:pPr>
                      <a:r>
                        <a:t>Thực tích</a:t>
                      </a:r>
                      <a:br/>
                      <a:r>
                        <a:t>PDCA T10</a:t>
                      </a:r>
                      <a:br/>
                      <a:r>
                        <a:t>(作業確実)</a:t>
                      </a:r>
                    </a:p>
                  </a:txBody>
                  <a:tcPr anchor="ctr" marL="36576" marR="36576" marT="9144" marB="9144">
                    <a:solidFill>
                      <a:srgbClr val="EAF7EE"/>
                    </a:solidFill>
                  </a:tcPr>
                </a:tc>
                <a:tc>
                  <a:txBody>
                    <a:bodyPr/>
                    <a:lstStyle/>
                    <a:p>
                      <a:pPr algn="l">
                        <a:defRPr sz="650">
                          <a:solidFill>
                            <a:srgbClr val="1E242B"/>
                          </a:solidFill>
                          <a:latin typeface="Arial"/>
                        </a:defRPr>
                      </a:pPr>
                      <a:r>
                        <a:t>[ĐÃ THỰC HIỆN THÁNG 10/2026]</a:t>
                      </a:r>
                      <a:br/>
                      <a:r>
                        <a:t>Xóa 2 bước đổi ngôn ngữ English &amp; 2 bước kiểm tra cảnh báo TONER</a:t>
                      </a:r>
                    </a:p>
                  </a:txBody>
                  <a:tcPr anchor="ctr" marL="36576" marR="36576" marT="9144" marB="9144">
                    <a:solidFill>
                      <a:srgbClr val="EAF7EE"/>
                    </a:solidFill>
                  </a:tcPr>
                </a:tc>
                <a:tc>
                  <a:txBody>
                    <a:bodyPr/>
                    <a:lstStyle/>
                    <a:p>
                      <a:pPr algn="l">
                        <a:defRPr sz="650">
                          <a:solidFill>
                            <a:srgbClr val="1E242B"/>
                          </a:solidFill>
                          <a:latin typeface="Arial"/>
                        </a:defRPr>
                      </a:pPr>
                      <a:r>
                        <a:t>Bấm nút đổi ngôn ngữ sang English (0,72s x 2 = 1,44s) và nhìn xác nhận cảnh báo Toner xuất hiện rồi tắt (1,44s x 2 = 2,88s).</a:t>
                      </a:r>
                    </a:p>
                  </a:txBody>
                  <a:tcPr anchor="ctr" marL="36576" marR="36576" marT="9144" marB="9144">
                    <a:solidFill>
                      <a:srgbClr val="EAF7EE"/>
                    </a:solidFill>
                  </a:tcPr>
                </a:tc>
                <a:tc>
                  <a:txBody>
                    <a:bodyPr/>
                    <a:lstStyle/>
                    <a:p>
                      <a:pPr algn="l">
                        <a:defRPr sz="650">
                          <a:solidFill>
                            <a:srgbClr val="1E242B"/>
                          </a:solidFill>
                          <a:latin typeface="Arial"/>
                        </a:defRPr>
                      </a:pPr>
                      <a:r>
                        <a:t>Đã xác nhận không cần thao tác tay, xóa 4 bước này trong file T10/IrisEXP 工程 (更新中).xlsx (Sheet 作業確実).</a:t>
                      </a:r>
                    </a:p>
                  </a:txBody>
                  <a:tcPr anchor="ctr" marL="36576" marR="36576" marT="9144" marB="9144">
                    <a:solidFill>
                      <a:srgbClr val="EAF7EE"/>
                    </a:solidFill>
                  </a:tcPr>
                </a:tc>
                <a:tc>
                  <a:txBody>
                    <a:bodyPr/>
                    <a:lstStyle/>
                    <a:p>
                      <a:pPr algn="l">
                        <a:defRPr sz="650">
                          <a:solidFill>
                            <a:srgbClr val="1E242B"/>
                          </a:solidFill>
                          <a:latin typeface="Arial"/>
                        </a:defRPr>
                      </a:pPr>
                      <a:r>
                        <a:t>• ĐÃ GIẢM THỰC TẾ:</a:t>
                      </a:r>
                      <a:br/>
                      <a:r>
                        <a:t>  4,32 s/máy (0,18% mục tiêu 2.350s)</a:t>
                      </a:r>
                    </a:p>
                  </a:txBody>
                  <a:tcPr anchor="ctr" marL="36576" marR="36576" marT="9144" marB="9144">
                    <a:solidFill>
                      <a:srgbClr val="EAF7EE"/>
                    </a:solidFill>
                  </a:tcPr>
                </a:tc>
                <a:tc>
                  <a:txBody>
                    <a:bodyPr/>
                    <a:lstStyle/>
                    <a:p>
                      <a:pPr algn="ctr">
                        <a:defRPr sz="650">
                          <a:solidFill>
                            <a:srgbClr val="1E242B"/>
                          </a:solidFill>
                          <a:latin typeface="Arial"/>
                        </a:defRPr>
                      </a:pPr>
                      <a:r>
                        <a:t>0 VNĐ</a:t>
                      </a:r>
                      <a:br/>
                      <a:r>
                        <a:t>(Đã hoàn thành)</a:t>
                      </a:r>
                    </a:p>
                  </a:txBody>
                  <a:tcPr anchor="ctr" marL="36576" marR="36576" marT="9144" marB="9144">
                    <a:solidFill>
                      <a:srgbClr val="EAF7EE"/>
                    </a:solidFill>
                  </a:tcPr>
                </a:tc>
                <a:tc>
                  <a:txBody>
                    <a:bodyPr/>
                    <a:lstStyle/>
                    <a:p>
                      <a:pPr algn="l">
                        <a:defRPr sz="650">
                          <a:solidFill>
                            <a:srgbClr val="1E242B"/>
                          </a:solidFill>
                          <a:latin typeface="Arial"/>
                        </a:defRPr>
                      </a:pPr>
                      <a:r>
                        <a:t>ĐÃ HOÀN THÀNH</a:t>
                      </a:r>
                      <a:br/>
                      <a:r>
                        <a:t>(BM-003-F 10月 R18, R32; 作業確実)</a:t>
                      </a:r>
                    </a:p>
                  </a:txBody>
                  <a:tcPr anchor="ctr" marL="36576" marR="36576" marT="9144" marB="9144">
                    <a:solidFill>
                      <a:srgbClr val="EAF7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6.1: TỔNG HỢP 3 CỨ ĐIỂM</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Tổng hợp đề án cả 3 cứ điểm JP - CN - VN (Thời gian, Nhân lực, Kinh phí &amp; Trạng thái báo giá)</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9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Tổng 38 đề án (JP: 7 | CN: 11 | VN: 20); tách riêng hạng mục đã có báo giá (No.22: 101,69 triệu VNĐ), phần đang chờ báo giá (見積中) và phương án đã hủy.</a:t>
            </a:r>
          </a:p>
        </p:txBody>
      </p:sp>
      <p:graphicFrame>
        <p:nvGraphicFramePr>
          <p:cNvPr id="7" name="Table 6"/>
          <p:cNvGraphicFramePr>
            <a:graphicFrameLocks noGrp="1"/>
          </p:cNvGraphicFramePr>
          <p:nvPr/>
        </p:nvGraphicFramePr>
        <p:xfrm>
          <a:off x="274320" y="1225296"/>
          <a:ext cx="11643055" cy="3474720"/>
        </p:xfrm>
        <a:graphic>
          <a:graphicData uri="http://schemas.openxmlformats.org/drawingml/2006/table">
            <a:tbl>
              <a:tblPr firstRow="1" bandRow="1">
                <a:tableStyleId>{5C22544A-7EE6-4342-B048-85BDC9FD1C3A}</a:tableStyleId>
              </a:tblPr>
              <a:tblGrid>
                <a:gridCol w="1463040"/>
                <a:gridCol w="2194560"/>
                <a:gridCol w="2194560"/>
                <a:gridCol w="2560320"/>
                <a:gridCol w="1965960"/>
                <a:gridCol w="1264615"/>
              </a:tblGrid>
              <a:tr h="386080">
                <a:tc>
                  <a:txBody>
                    <a:bodyPr/>
                    <a:lstStyle/>
                    <a:p>
                      <a:pPr algn="ctr">
                        <a:defRPr sz="680" b="1">
                          <a:solidFill>
                            <a:srgbClr val="FFFFFF"/>
                          </a:solidFill>
                          <a:latin typeface="Arial"/>
                        </a:defRPr>
                      </a:pPr>
                      <a:r>
                        <a:t>Chỉ tiêu đối chiếu</a:t>
                      </a:r>
                    </a:p>
                  </a:txBody>
                  <a:tcPr anchor="ctr" marL="36576" marR="36576" marT="9144" marB="9144">
                    <a:solidFill>
                      <a:srgbClr val="1B365D"/>
                    </a:solidFill>
                  </a:tcPr>
                </a:tc>
                <a:tc>
                  <a:txBody>
                    <a:bodyPr/>
                    <a:lstStyle/>
                    <a:p>
                      <a:pPr algn="ctr">
                        <a:defRPr sz="680" b="1">
                          <a:solidFill>
                            <a:srgbClr val="FFFFFF"/>
                          </a:solidFill>
                          <a:latin typeface="Arial"/>
                        </a:defRPr>
                      </a:pPr>
                      <a:r>
                        <a:t>Cứ điểm Nhật Bản</a:t>
                      </a:r>
                      <a:br/>
                      <a:r>
                        <a:t>(JP: Thiết kế &amp; PE)</a:t>
                      </a:r>
                    </a:p>
                  </a:txBody>
                  <a:tcPr anchor="ctr" marL="36576" marR="36576" marT="9144" marB="9144">
                    <a:solidFill>
                      <a:srgbClr val="1B365D"/>
                    </a:solidFill>
                  </a:tcPr>
                </a:tc>
                <a:tc>
                  <a:txBody>
                    <a:bodyPr/>
                    <a:lstStyle/>
                    <a:p>
                      <a:pPr algn="ctr">
                        <a:defRPr sz="680" b="1">
                          <a:solidFill>
                            <a:srgbClr val="FFFFFF"/>
                          </a:solidFill>
                          <a:latin typeface="Arial"/>
                        </a:defRPr>
                      </a:pPr>
                      <a:r>
                        <a:t>Cứ điểm Trung Quốc</a:t>
                      </a:r>
                      <a:br/>
                      <a:r>
                        <a:t>(CN: Nhà máy CN)</a:t>
                      </a:r>
                    </a:p>
                  </a:txBody>
                  <a:tcPr anchor="ctr" marL="36576" marR="36576" marT="9144" marB="9144">
                    <a:solidFill>
                      <a:srgbClr val="1B365D"/>
                    </a:solidFill>
                  </a:tcPr>
                </a:tc>
                <a:tc>
                  <a:txBody>
                    <a:bodyPr/>
                    <a:lstStyle/>
                    <a:p>
                      <a:pPr algn="ctr">
                        <a:defRPr sz="680" b="1">
                          <a:solidFill>
                            <a:srgbClr val="FFFFFF"/>
                          </a:solidFill>
                          <a:latin typeface="Arial"/>
                        </a:defRPr>
                      </a:pPr>
                      <a:r>
                        <a:t>Cứ điểm Việt Nam (VN)</a:t>
                      </a:r>
                      <a:br/>
                      <a:r>
                        <a:t>[Theo số liệu Phần 5]</a:t>
                      </a:r>
                    </a:p>
                  </a:txBody>
                  <a:tcPr anchor="ctr" marL="36576" marR="36576" marT="9144" marB="9144">
                    <a:solidFill>
                      <a:srgbClr val="1B365D"/>
                    </a:solidFill>
                  </a:tcPr>
                </a:tc>
                <a:tc>
                  <a:txBody>
                    <a:bodyPr/>
                    <a:lstStyle/>
                    <a:p>
                      <a:pPr algn="ctr">
                        <a:defRPr sz="680" b="1">
                          <a:solidFill>
                            <a:srgbClr val="FFFFFF"/>
                          </a:solidFill>
                          <a:latin typeface="Arial"/>
                        </a:defRPr>
                      </a:pPr>
                      <a:r>
                        <a:t>Tổng hợp cả 3 cứ điểm</a:t>
                      </a:r>
                      <a:br/>
                      <a:r>
                        <a:t>(JP + CN + VN)</a:t>
                      </a:r>
                    </a:p>
                  </a:txBody>
                  <a:tcPr anchor="ctr" marL="36576" marR="36576" marT="9144" marB="9144">
                    <a:solidFill>
                      <a:srgbClr val="1B365D"/>
                    </a:solidFill>
                  </a:tcPr>
                </a:tc>
                <a:tc>
                  <a:txBody>
                    <a:bodyPr/>
                    <a:lstStyle/>
                    <a:p>
                      <a:pPr algn="ctr">
                        <a:defRPr sz="680" b="1">
                          <a:solidFill>
                            <a:srgbClr val="FFFFFF"/>
                          </a:solidFill>
                          <a:latin typeface="Arial"/>
                        </a:defRPr>
                      </a:pPr>
                      <a:r>
                        <a:t>Nguồn đối chiếu</a:t>
                      </a:r>
                      <a:br/>
                      <a:r>
                        <a:t>(File + Sheet/Slide)</a:t>
                      </a:r>
                    </a:p>
                  </a:txBody>
                  <a:tcPr anchor="ctr" marL="36576" marR="36576" marT="9144" marB="9144">
                    <a:solidFill>
                      <a:srgbClr val="1B365D"/>
                    </a:solidFill>
                  </a:tcPr>
                </a:tc>
              </a:tr>
              <a:tr h="386080">
                <a:tc>
                  <a:txBody>
                    <a:bodyPr/>
                    <a:lstStyle/>
                    <a:p>
                      <a:pPr algn="l">
                        <a:defRPr sz="590" b="1">
                          <a:solidFill>
                            <a:srgbClr val="1E242B"/>
                          </a:solidFill>
                          <a:latin typeface="Arial"/>
                        </a:defRPr>
                      </a:pPr>
                      <a:r>
                        <a:t>1. Số lượng đề án</a:t>
                      </a:r>
                      <a:br/>
                      <a:r>
                        <a:t>(Đối chiếu 3 mốc)</a:t>
                      </a:r>
                    </a:p>
                  </a:txBody>
                  <a:tcPr anchor="ctr" marL="36576" marR="36576" marT="9144" marB="9144">
                    <a:solidFill>
                      <a:srgbClr val="FFFFFF"/>
                    </a:solidFill>
                  </a:tcPr>
                </a:tc>
                <a:tc>
                  <a:txBody>
                    <a:bodyPr/>
                    <a:lstStyle/>
                    <a:p>
                      <a:pPr algn="l">
                        <a:defRPr sz="590">
                          <a:solidFill>
                            <a:srgbClr val="1E242B"/>
                          </a:solidFill>
                          <a:latin typeface="Arial"/>
                        </a:defRPr>
                      </a:pPr>
                      <a:r>
                        <a:t>• 7 đề án (No.1 ~ No.7), giữ nguyên từ T8 -&gt; T10/2026</a:t>
                      </a:r>
                    </a:p>
                  </a:txBody>
                  <a:tcPr anchor="ctr" marL="36576" marR="36576" marT="9144" marB="9144">
                    <a:solidFill>
                      <a:srgbClr val="FFFFFF"/>
                    </a:solidFill>
                  </a:tcPr>
                </a:tc>
                <a:tc>
                  <a:txBody>
                    <a:bodyPr/>
                    <a:lstStyle/>
                    <a:p>
                      <a:pPr algn="l">
                        <a:defRPr sz="590">
                          <a:solidFill>
                            <a:srgbClr val="1E242B"/>
                          </a:solidFill>
                          <a:latin typeface="Arial"/>
                        </a:defRPr>
                      </a:pPr>
                      <a:r>
                        <a:t>• T8~T9: 10 đề án (No.8~17)</a:t>
                      </a:r>
                      <a:br/>
                      <a:r>
                        <a:t>• Bản mới nhất: 11 đề án (+No.38 AI WeChat) [List CN 11 dòng do tính U155]</a:t>
                      </a:r>
                    </a:p>
                  </a:txBody>
                  <a:tcPr anchor="ctr" marL="36576" marR="36576" marT="9144" marB="9144">
                    <a:solidFill>
                      <a:srgbClr val="FFFFFF"/>
                    </a:solidFill>
                  </a:tcPr>
                </a:tc>
                <a:tc>
                  <a:txBody>
                    <a:bodyPr/>
                    <a:lstStyle/>
                    <a:p>
                      <a:pPr algn="l">
                        <a:defRPr sz="590">
                          <a:solidFill>
                            <a:srgbClr val="1E242B"/>
                          </a:solidFill>
                          <a:latin typeface="Arial"/>
                        </a:defRPr>
                      </a:pPr>
                      <a:r>
                        <a:t>• T8: 11 đề án (No.18~28) + T9: 9 đề án (No.29~37) = 20 đề án VN (17 triển khai + 2 đã hủy + 1 R&amp;D dài hạn)</a:t>
                      </a:r>
                    </a:p>
                  </a:txBody>
                  <a:tcPr anchor="ctr" marL="36576" marR="36576" marT="9144" marB="9144">
                    <a:solidFill>
                      <a:srgbClr val="FFFFFF"/>
                    </a:solidFill>
                  </a:tcPr>
                </a:tc>
                <a:tc>
                  <a:txBody>
                    <a:bodyPr/>
                    <a:lstStyle/>
                    <a:p>
                      <a:pPr algn="l">
                        <a:defRPr sz="590">
                          <a:solidFill>
                            <a:srgbClr val="1E242B"/>
                          </a:solidFill>
                          <a:latin typeface="Arial"/>
                        </a:defRPr>
                      </a:pPr>
                      <a:r>
                        <a:t>• T8 (IrisEXP報告): 28 đề án</a:t>
                      </a:r>
                      <a:br/>
                      <a:r>
                        <a:t>• T9~T10 (BM-003-F): 37 đề án</a:t>
                      </a:r>
                      <a:br/>
                      <a:r>
                        <a:t>• Bản Master: 38 đề án (7+11+20)</a:t>
                      </a:r>
                    </a:p>
                  </a:txBody>
                  <a:tcPr anchor="ctr" marL="36576" marR="36576" marT="9144" marB="9144">
                    <a:solidFill>
                      <a:srgbClr val="FFFFFF"/>
                    </a:solidFill>
                  </a:tcPr>
                </a:tc>
                <a:tc>
                  <a:txBody>
                    <a:bodyPr/>
                    <a:lstStyle/>
                    <a:p>
                      <a:pPr algn="l">
                        <a:defRPr sz="590">
                          <a:solidFill>
                            <a:srgbClr val="1E242B"/>
                          </a:solidFill>
                          <a:latin typeface="Arial"/>
                        </a:defRPr>
                      </a:pPr>
                      <a:r>
                        <a:t>IrisEXP改善提案まとめ (R15~52);</a:t>
                      </a:r>
                      <a:br/>
                      <a:r>
                        <a:t>IrisEXP報告 S1</a:t>
                      </a:r>
                    </a:p>
                  </a:txBody>
                  <a:tcPr anchor="ctr" marL="36576" marR="36576" marT="9144" marB="9144">
                    <a:solidFill>
                      <a:srgbClr val="FFFFFF"/>
                    </a:solidFill>
                  </a:tcPr>
                </a:tc>
              </a:tr>
              <a:tr h="386080">
                <a:tc>
                  <a:txBody>
                    <a:bodyPr/>
                    <a:lstStyle/>
                    <a:p>
                      <a:pPr algn="l">
                        <a:defRPr sz="590" b="1">
                          <a:solidFill>
                            <a:srgbClr val="1E242B"/>
                          </a:solidFill>
                          <a:latin typeface="Arial"/>
                        </a:defRPr>
                      </a:pPr>
                      <a:r>
                        <a:t>2. Hiện trạng TG</a:t>
                      </a:r>
                      <a:br/>
                      <a:r>
                        <a:t>(Baseline Iris2024)</a:t>
                      </a:r>
                    </a:p>
                  </a:txBody>
                  <a:tcPr anchor="ctr" marL="36576" marR="36576" marT="9144" marB="9144">
                    <a:solidFill>
                      <a:srgbClr val="F7F9FC"/>
                    </a:solidFill>
                  </a:tcPr>
                </a:tc>
                <a:tc>
                  <a:txBody>
                    <a:bodyPr/>
                    <a:lstStyle/>
                    <a:p>
                      <a:pPr algn="l">
                        <a:defRPr sz="590">
                          <a:solidFill>
                            <a:srgbClr val="1E242B"/>
                          </a:solidFill>
                          <a:latin typeface="Arial"/>
                        </a:defRPr>
                      </a:pPr>
                      <a:r>
                        <a:t>• Thao tác thuần: 1.171,70s (Color) / 1.120,90s (Mono)</a:t>
                      </a:r>
                      <a:br/>
                      <a:r>
                        <a:t>• IrisEXP 改善無 (+89s U413): 1.260,70s Color / 1.172,62s Mono</a:t>
                      </a:r>
                    </a:p>
                  </a:txBody>
                  <a:tcPr anchor="ctr" marL="36576" marR="36576" marT="9144" marB="9144">
                    <a:solidFill>
                      <a:srgbClr val="F7F9FC"/>
                    </a:solidFill>
                  </a:tcPr>
                </a:tc>
                <a:tc>
                  <a:txBody>
                    <a:bodyPr/>
                    <a:lstStyle/>
                    <a:p>
                      <a:pPr algn="l">
                        <a:defRPr sz="590">
                          <a:solidFill>
                            <a:srgbClr val="1E242B"/>
                          </a:solidFill>
                          <a:latin typeface="Arial"/>
                        </a:defRPr>
                      </a:pPr>
                      <a:r>
                        <a:t>• 575 bước trên 工程表; tổng TG các mục CN đề xuất giảm: 178,56s + chờ in 230s</a:t>
                      </a:r>
                    </a:p>
                  </a:txBody>
                  <a:tcPr anchor="ctr" marL="36576" marR="36576" marT="9144" marB="9144">
                    <a:solidFill>
                      <a:srgbClr val="F7F9FC"/>
                    </a:solidFill>
                  </a:tcPr>
                </a:tc>
                <a:tc>
                  <a:txBody>
                    <a:bodyPr/>
                    <a:lstStyle/>
                    <a:p>
                      <a:pPr algn="l">
                        <a:defRPr sz="590">
                          <a:solidFill>
                            <a:srgbClr val="1E242B"/>
                          </a:solidFill>
                          <a:latin typeface="Arial"/>
                        </a:defRPr>
                      </a:pPr>
                      <a:r>
                        <a:t>• Tổng TG công đoạn K1~K8 (gồm chờ máy/Aging U950 285s): 2.350,00 s/máy (39 bước); Takt Time: 114 s/máy</a:t>
                      </a:r>
                    </a:p>
                  </a:txBody>
                  <a:tcPr anchor="ctr" marL="36576" marR="36576" marT="9144" marB="9144">
                    <a:solidFill>
                      <a:srgbClr val="F7F9FC"/>
                    </a:solidFill>
                  </a:tcPr>
                </a:tc>
                <a:tc>
                  <a:txBody>
                    <a:bodyPr/>
                    <a:lstStyle/>
                    <a:p>
                      <a:pPr algn="l">
                        <a:defRPr sz="590">
                          <a:solidFill>
                            <a:srgbClr val="1E242B"/>
                          </a:solidFill>
                          <a:latin typeface="Arial"/>
                        </a:defRPr>
                      </a:pPr>
                      <a:r>
                        <a:t>• Chuẩn JP (thao tác thuần): 1.171,70s Color</a:t>
                      </a:r>
                      <a:br/>
                      <a:r>
                        <a:t>• Chuẩn VN (K1~K8): 2.350,00s/máy</a:t>
                      </a:r>
                    </a:p>
                  </a:txBody>
                  <a:tcPr anchor="ctr" marL="36576" marR="36576" marT="9144" marB="9144">
                    <a:solidFill>
                      <a:srgbClr val="F7F9FC"/>
                    </a:solidFill>
                  </a:tcPr>
                </a:tc>
                <a:tc>
                  <a:txBody>
                    <a:bodyPr/>
                    <a:lstStyle/>
                    <a:p>
                      <a:pPr algn="l">
                        <a:defRPr sz="590">
                          <a:solidFill>
                            <a:srgbClr val="1E242B"/>
                          </a:solidFill>
                          <a:latin typeface="Arial"/>
                        </a:defRPr>
                      </a:pPr>
                      <a:r>
                        <a:t>IrisEXP 工程 3 (既存機との工数比較);</a:t>
                      </a:r>
                      <a:br/>
                      <a:r>
                        <a:t>DSLK Sheet 4, 5</a:t>
                      </a:r>
                    </a:p>
                  </a:txBody>
                  <a:tcPr anchor="ctr" marL="36576" marR="36576" marT="9144" marB="9144">
                    <a:solidFill>
                      <a:srgbClr val="F7F9FC"/>
                    </a:solidFill>
                  </a:tcPr>
                </a:tc>
              </a:tr>
              <a:tr h="386080">
                <a:tc>
                  <a:txBody>
                    <a:bodyPr/>
                    <a:lstStyle/>
                    <a:p>
                      <a:pPr algn="l">
                        <a:defRPr sz="590" b="1">
                          <a:solidFill>
                            <a:srgbClr val="1E242B"/>
                          </a:solidFill>
                          <a:latin typeface="Arial"/>
                        </a:defRPr>
                      </a:pPr>
                      <a:r>
                        <a:t>3. Hiệu quả giảm</a:t>
                      </a:r>
                      <a:br/>
                      <a:r>
                        <a:t>Thời gian (s/máy)</a:t>
                      </a:r>
                    </a:p>
                  </a:txBody>
                  <a:tcPr anchor="ctr" marL="36576" marR="36576" marT="9144" marB="9144">
                    <a:solidFill>
                      <a:srgbClr val="FFFFFF"/>
                    </a:solidFill>
                  </a:tcPr>
                </a:tc>
                <a:tc>
                  <a:txBody>
                    <a:bodyPr/>
                    <a:lstStyle/>
                    <a:p>
                      <a:pPr algn="l">
                        <a:defRPr sz="590">
                          <a:solidFill>
                            <a:srgbClr val="1E242B"/>
                          </a:solidFill>
                          <a:latin typeface="Arial"/>
                        </a:defRPr>
                      </a:pPr>
                      <a:r>
                        <a:t>• Công thức 7 ĐA: -87,84s vs Iris2024 (-176,84s vs 改善無 -&gt; còn 1.083,86s Color)</a:t>
                      </a:r>
                      <a:br/>
                      <a:r>
                        <a:t>• Tổng bước 削 (147) + 削除確定 (6): -267,74s Color / -263,06s Mono</a:t>
                      </a:r>
                    </a:p>
                  </a:txBody>
                  <a:tcPr anchor="ctr" marL="36576" marR="36576" marT="9144" marB="9144">
                    <a:solidFill>
                      <a:srgbClr val="FFFFFF"/>
                    </a:solidFill>
                  </a:tcPr>
                </a:tc>
                <a:tc>
                  <a:txBody>
                    <a:bodyPr/>
                    <a:lstStyle/>
                    <a:p>
                      <a:pPr algn="l">
                        <a:defRPr sz="590">
                          <a:solidFill>
                            <a:srgbClr val="1E242B"/>
                          </a:solidFill>
                          <a:latin typeface="Arial"/>
                        </a:defRPr>
                      </a:pPr>
                      <a:r>
                        <a:t>• Tổng 10 dòng có số giây trong list CN: -178,56 s/máy thao tác</a:t>
                      </a:r>
                      <a:br/>
                      <a:r>
                        <a:t>• No.13: Rút ngắn chờ in -110s (230s-&gt;120s); No.38: AI WeChat</a:t>
                      </a:r>
                    </a:p>
                  </a:txBody>
                  <a:tcPr anchor="ctr" marL="36576" marR="36576" marT="9144" marB="9144">
                    <a:solidFill>
                      <a:srgbClr val="FFFFFF"/>
                    </a:solidFill>
                  </a:tcPr>
                </a:tc>
                <a:tc>
                  <a:txBody>
                    <a:bodyPr/>
                    <a:lstStyle/>
                    <a:p>
                      <a:pPr algn="l">
                        <a:defRPr sz="590">
                          <a:solidFill>
                            <a:srgbClr val="1E242B"/>
                          </a:solidFill>
                          <a:latin typeface="Arial"/>
                        </a:defRPr>
                      </a:pPr>
                      <a:r>
                        <a:t>• Thực tích PDCA T10/2026: -4,32s (0,18%)</a:t>
                      </a:r>
                      <a:br/>
                      <a:r>
                        <a:t>• Tiềm năng các đề án VN khả thi: ~599,32s ~ 611,32s thao tác</a:t>
                      </a:r>
                      <a:br/>
                      <a:r>
                        <a:t>• Mục tiêu T3/2027: Giảm &gt;= 1.175,00s (&gt;=50%, còn &lt;=1.175s)</a:t>
                      </a:r>
                    </a:p>
                  </a:txBody>
                  <a:tcPr anchor="ctr" marL="36576" marR="36576" marT="9144" marB="9144">
                    <a:solidFill>
                      <a:srgbClr val="FFFFFF"/>
                    </a:solidFill>
                  </a:tcPr>
                </a:tc>
                <a:tc>
                  <a:txBody>
                    <a:bodyPr/>
                    <a:lstStyle/>
                    <a:p>
                      <a:pPr algn="l">
                        <a:defRPr sz="590">
                          <a:solidFill>
                            <a:srgbClr val="1E242B"/>
                          </a:solidFill>
                          <a:latin typeface="Arial"/>
                        </a:defRPr>
                      </a:pPr>
                      <a:r>
                        <a:t>• JP: -176,84s ~ -267,74s thao tác</a:t>
                      </a:r>
                      <a:br/>
                      <a:r>
                        <a:t>• CN: -178,56s thao tác + -110s in</a:t>
                      </a:r>
                      <a:br/>
                      <a:r>
                        <a:t>• VN: Mục tiêu -1.175,00s (&gt;=50%)</a:t>
                      </a:r>
                    </a:p>
                  </a:txBody>
                  <a:tcPr anchor="ctr" marL="36576" marR="36576" marT="9144" marB="9144">
                    <a:solidFill>
                      <a:srgbClr val="FFFFFF"/>
                    </a:solidFill>
                  </a:tcPr>
                </a:tc>
                <a:tc>
                  <a:txBody>
                    <a:bodyPr/>
                    <a:lstStyle/>
                    <a:p>
                      <a:pPr algn="l">
                        <a:defRPr sz="590">
                          <a:solidFill>
                            <a:srgbClr val="1E242B"/>
                          </a:solidFill>
                          <a:latin typeface="Arial"/>
                        </a:defRPr>
                      </a:pPr>
                      <a:r>
                        <a:t>IrisEXP 工程 3;</a:t>
                      </a:r>
                      <a:br/>
                      <a:r>
                        <a:t>cn改善案list;</a:t>
                      </a:r>
                      <a:br/>
                      <a:r>
                        <a:t>BM-003-F 10月</a:t>
                      </a:r>
                    </a:p>
                  </a:txBody>
                  <a:tcPr anchor="ctr" marL="36576" marR="36576" marT="9144" marB="9144">
                    <a:solidFill>
                      <a:srgbClr val="FFFFFF"/>
                    </a:solidFill>
                  </a:tcPr>
                </a:tc>
              </a:tr>
              <a:tr h="386080">
                <a:tc>
                  <a:txBody>
                    <a:bodyPr/>
                    <a:lstStyle/>
                    <a:p>
                      <a:pPr algn="l">
                        <a:defRPr sz="590" b="1">
                          <a:solidFill>
                            <a:srgbClr val="1E242B"/>
                          </a:solidFill>
                          <a:latin typeface="Arial"/>
                        </a:defRPr>
                      </a:pPr>
                      <a:r>
                        <a:t>4. Nhân lực &amp;</a:t>
                      </a:r>
                      <a:br/>
                      <a:r>
                        <a:t>Năng suất lao động</a:t>
                      </a:r>
                    </a:p>
                  </a:txBody>
                  <a:tcPr anchor="ctr" marL="36576" marR="36576" marT="9144" marB="9144">
                    <a:solidFill>
                      <a:srgbClr val="F7F9FC"/>
                    </a:solidFill>
                  </a:tcPr>
                </a:tc>
                <a:tc>
                  <a:txBody>
                    <a:bodyPr/>
                    <a:lstStyle/>
                    <a:p>
                      <a:pPr algn="l">
                        <a:defRPr sz="590">
                          <a:solidFill>
                            <a:srgbClr val="1E242B"/>
                          </a:solidFill>
                          <a:latin typeface="Arial"/>
                        </a:defRPr>
                      </a:pPr>
                      <a:r>
                        <a:t>• Tham chiếu Athena: 16 -&gt; 8 người (-50%); thiết kế JIG &amp; phần mềm Semifinal dùng chung</a:t>
                      </a:r>
                    </a:p>
                  </a:txBody>
                  <a:tcPr anchor="ctr" marL="36576" marR="36576" marT="9144" marB="9144">
                    <a:solidFill>
                      <a:srgbClr val="F7F9FC"/>
                    </a:solidFill>
                  </a:tcPr>
                </a:tc>
                <a:tc>
                  <a:txBody>
                    <a:bodyPr/>
                    <a:lstStyle/>
                    <a:p>
                      <a:pPr algn="l">
                        <a:defRPr sz="590">
                          <a:solidFill>
                            <a:srgbClr val="1E242B"/>
                          </a:solidFill>
                          <a:latin typeface="Arial"/>
                        </a:defRPr>
                      </a:pPr>
                      <a:r>
                        <a:t>• Tiết kiệm nhân công có số liệu: 11.160 RMB/tháng (No.8: 4.500 + No.11: 3.060 + No.15: 3.600) + 5.000 RMB/5.000 máy (No.14)</a:t>
                      </a:r>
                    </a:p>
                  </a:txBody>
                  <a:tcPr anchor="ctr" marL="36576" marR="36576" marT="9144" marB="9144">
                    <a:solidFill>
                      <a:srgbClr val="F7F9FC"/>
                    </a:solidFill>
                  </a:tcPr>
                </a:tc>
                <a:tc>
                  <a:txBody>
                    <a:bodyPr/>
                    <a:lstStyle/>
                    <a:p>
                      <a:pPr algn="l">
                        <a:defRPr sz="590">
                          <a:solidFill>
                            <a:srgbClr val="1E242B"/>
                          </a:solidFill>
                          <a:latin typeface="Arial"/>
                        </a:defRPr>
                      </a:pPr>
                      <a:r>
                        <a:t>• Hiện trạng Iris2024: 14 người (15 người ở Takt 114s DR4)</a:t>
                      </a:r>
                      <a:br/>
                      <a:r>
                        <a:t>• Sản lượng 16.000 máy/tháng (Takt 97s): Không cải tiến cần 18 người (17,62) -&gt; Mục tiêu (仮決定): 9 người (A-1: 4-&gt;3 người)</a:t>
                      </a:r>
                    </a:p>
                  </a:txBody>
                  <a:tcPr anchor="ctr" marL="36576" marR="36576" marT="9144" marB="9144">
                    <a:solidFill>
                      <a:srgbClr val="F7F9FC"/>
                    </a:solidFill>
                  </a:tcPr>
                </a:tc>
                <a:tc>
                  <a:txBody>
                    <a:bodyPr/>
                    <a:lstStyle/>
                    <a:p>
                      <a:pPr algn="l">
                        <a:defRPr sz="590">
                          <a:solidFill>
                            <a:srgbClr val="1E242B"/>
                          </a:solidFill>
                          <a:latin typeface="Arial"/>
                        </a:defRPr>
                      </a:pPr>
                      <a:r>
                        <a:t>• Năng suất mục tiêu: Tăng gấp 2 lần (2倍 - 仮決定)</a:t>
                      </a:r>
                      <a:br/>
                      <a:r>
                        <a:t>• VN: 18 -&gt; 9 người; CN: -11.160 RMB/tháng</a:t>
                      </a:r>
                    </a:p>
                  </a:txBody>
                  <a:tcPr anchor="ctr" marL="36576" marR="36576" marT="9144" marB="9144">
                    <a:solidFill>
                      <a:srgbClr val="F7F9FC"/>
                    </a:solidFill>
                  </a:tcPr>
                </a:tc>
                <a:tc>
                  <a:txBody>
                    <a:bodyPr/>
                    <a:lstStyle/>
                    <a:p>
                      <a:pPr algn="l">
                        <a:defRPr sz="590">
                          <a:solidFill>
                            <a:srgbClr val="1E242B"/>
                          </a:solidFill>
                          <a:latin typeface="Arial"/>
                        </a:defRPr>
                      </a:pPr>
                      <a:r>
                        <a:t>調整工程計画.xlsx;</a:t>
                      </a:r>
                      <a:br/>
                      <a:r>
                        <a:t>DR 4.pdf S2;</a:t>
                      </a:r>
                      <a:br/>
                      <a:r>
                        <a:t>cn改善案list</a:t>
                      </a:r>
                    </a:p>
                  </a:txBody>
                  <a:tcPr anchor="ctr" marL="36576" marR="36576" marT="9144" marB="9144">
                    <a:solidFill>
                      <a:srgbClr val="F7F9FC"/>
                    </a:solidFill>
                  </a:tcPr>
                </a:tc>
              </a:tr>
              <a:tr h="386080">
                <a:tc>
                  <a:txBody>
                    <a:bodyPr/>
                    <a:lstStyle/>
                    <a:p>
                      <a:pPr algn="l">
                        <a:defRPr sz="590" b="1">
                          <a:solidFill>
                            <a:srgbClr val="1E242B"/>
                          </a:solidFill>
                          <a:latin typeface="Arial"/>
                        </a:defRPr>
                      </a:pPr>
                      <a:r>
                        <a:t>5. Kinh phí ĐÃ CÓ</a:t>
                      </a:r>
                      <a:br/>
                      <a:r>
                        <a:t>BÁO GIÁ (Xin duyệt)</a:t>
                      </a:r>
                    </a:p>
                  </a:txBody>
                  <a:tcPr anchor="ctr" marL="36576" marR="36576" marT="9144" marB="9144">
                    <a:solidFill>
                      <a:srgbClr val="EAF7EE"/>
                    </a:solidFill>
                  </a:tcPr>
                </a:tc>
                <a:tc>
                  <a:txBody>
                    <a:bodyPr/>
                    <a:lstStyle/>
                    <a:p>
                      <a:pPr algn="l">
                        <a:defRPr sz="590">
                          <a:solidFill>
                            <a:srgbClr val="1E242B"/>
                          </a:solidFill>
                          <a:latin typeface="Arial"/>
                        </a:defRPr>
                      </a:pPr>
                      <a:r>
                        <a:t>• Mini PC (Spica - 仮決定): ~40.000 JPY/bộ (1 bộ/4 máy) [vs RasPi 8~12k + Pin 9,6k + Sạc 190k JPY]</a:t>
                      </a:r>
                      <a:br/>
                      <a:r>
                        <a:t>• Xóa U413 bằng PM (nếu làm): 225~250 vạn JPY</a:t>
                      </a:r>
                    </a:p>
                  </a:txBody>
                  <a:tcPr anchor="ctr" marL="36576" marR="36576" marT="9144" marB="9144">
                    <a:solidFill>
                      <a:srgbClr val="EAF7EE"/>
                    </a:solidFill>
                  </a:tcPr>
                </a:tc>
                <a:tc>
                  <a:txBody>
                    <a:bodyPr/>
                    <a:lstStyle/>
                    <a:p>
                      <a:pPr algn="l">
                        <a:defRPr sz="590">
                          <a:solidFill>
                            <a:srgbClr val="1E242B"/>
                          </a:solidFill>
                          <a:latin typeface="Arial"/>
                        </a:defRPr>
                      </a:pPr>
                      <a:r>
                        <a:t>• Chưa ghi đơn giá thiết bị bằng tiền trong file CN (Các mục xóa bước U155, giảm tờ in, xóa PPT/JAM tốn 0 RMB TB)</a:t>
                      </a:r>
                    </a:p>
                  </a:txBody>
                  <a:tcPr anchor="ctr" marL="36576" marR="36576" marT="9144" marB="9144">
                    <a:solidFill>
                      <a:srgbClr val="EAF7EE"/>
                    </a:solidFill>
                  </a:tcPr>
                </a:tc>
                <a:tc>
                  <a:txBody>
                    <a:bodyPr/>
                    <a:lstStyle/>
                    <a:p>
                      <a:pPr algn="l">
                        <a:defRPr sz="590">
                          <a:solidFill>
                            <a:srgbClr val="1E242B"/>
                          </a:solidFill>
                          <a:latin typeface="Arial"/>
                        </a:defRPr>
                      </a:pPr>
                      <a:r>
                        <a:t>• XIN PHÊ DUYỆT ĐỢT NÀY (No.22: Tự động đo thông mạch/chịu áp): 101.690.000 VNĐ (3.911,15 USD theo BOM 25 mục) [96.690.000 VNĐ / 3.718,85 USD nếu tách Mục 17 Tủ điện 5tr]; 7 đề án TK/FW: 0 VNĐ TB</a:t>
                      </a:r>
                    </a:p>
                  </a:txBody>
                  <a:tcPr anchor="ctr" marL="36576" marR="36576" marT="9144" marB="9144">
                    <a:solidFill>
                      <a:srgbClr val="EAF7EE"/>
                    </a:solidFill>
                  </a:tcPr>
                </a:tc>
                <a:tc>
                  <a:txBody>
                    <a:bodyPr/>
                    <a:lstStyle/>
                    <a:p>
                      <a:pPr algn="l">
                        <a:defRPr sz="590">
                          <a:solidFill>
                            <a:srgbClr val="1E242B"/>
                          </a:solidFill>
                          <a:latin typeface="Arial"/>
                        </a:defRPr>
                      </a:pPr>
                      <a:r>
                        <a:t>• VN xin duyệt ngay (No.22): 101.690.000 VNĐ (3.911,15 USD)</a:t>
                      </a:r>
                      <a:br/>
                      <a:r>
                        <a:t>• Tham khảo JP: Mini PC ~40k JPY/bộ; PM U413: 225~250 vạn JPY</a:t>
                      </a:r>
                    </a:p>
                  </a:txBody>
                  <a:tcPr anchor="ctr" marL="36576" marR="36576" marT="9144" marB="9144">
                    <a:solidFill>
                      <a:srgbClr val="EAF7EE"/>
                    </a:solidFill>
                  </a:tcPr>
                </a:tc>
                <a:tc>
                  <a:txBody>
                    <a:bodyPr/>
                    <a:lstStyle/>
                    <a:p>
                      <a:pPr algn="l">
                        <a:defRPr sz="590">
                          <a:solidFill>
                            <a:srgbClr val="1E242B"/>
                          </a:solidFill>
                          <a:latin typeface="Arial"/>
                        </a:defRPr>
                      </a:pPr>
                      <a:r>
                        <a:t>Iris EXPのVN提案</a:t>
                      </a:r>
                      <a:br/>
                      <a:r>
                        <a:t>(BOM 25 mục);</a:t>
                      </a:r>
                      <a:br/>
                      <a:r>
                        <a:t>AthenaとSpica比較</a:t>
                      </a:r>
                    </a:p>
                  </a:txBody>
                  <a:tcPr anchor="ctr" marL="36576" marR="36576" marT="9144" marB="9144">
                    <a:solidFill>
                      <a:srgbClr val="EAF7EE"/>
                    </a:solidFill>
                  </a:tcPr>
                </a:tc>
              </a:tr>
              <a:tr h="386080">
                <a:tc>
                  <a:txBody>
                    <a:bodyPr/>
                    <a:lstStyle/>
                    <a:p>
                      <a:pPr algn="l">
                        <a:defRPr sz="590" b="1">
                          <a:solidFill>
                            <a:srgbClr val="1E242B"/>
                          </a:solidFill>
                          <a:latin typeface="Arial"/>
                        </a:defRPr>
                      </a:pPr>
                      <a:r>
                        <a:t>6. Hạng mục ĐANG</a:t>
                      </a:r>
                      <a:br/>
                      <a:r>
                        <a:t>BÁO GIÁ (見積中)</a:t>
                      </a:r>
                      <a:br/>
                      <a:r>
                        <a:t>[Không cộng gộp]</a:t>
                      </a:r>
                    </a:p>
                  </a:txBody>
                  <a:tcPr anchor="ctr" marL="36576" marR="36576" marT="9144" marB="9144">
                    <a:solidFill>
                      <a:srgbClr val="FEF7E6"/>
                    </a:solidFill>
                  </a:tcPr>
                </a:tc>
                <a:tc>
                  <a:txBody>
                    <a:bodyPr/>
                    <a:lstStyle/>
                    <a:p>
                      <a:pPr algn="l">
                        <a:defRPr sz="590">
                          <a:solidFill>
                            <a:srgbClr val="1E242B"/>
                          </a:solidFill>
                          <a:latin typeface="Arial"/>
                        </a:defRPr>
                      </a:pPr>
                      <a:r>
                        <a:t>• Chi phí nâng cấp phần mềm 7900/7910 sang hệ thống bảo chứng &amp; cải tiến mạch tự chẩn đoán</a:t>
                      </a:r>
                    </a:p>
                  </a:txBody>
                  <a:tcPr anchor="ctr" marL="36576" marR="36576" marT="9144" marB="9144">
                    <a:solidFill>
                      <a:srgbClr val="FEF7E6"/>
                    </a:solidFill>
                  </a:tcPr>
                </a:tc>
                <a:tc>
                  <a:txBody>
                    <a:bodyPr/>
                    <a:lstStyle/>
                    <a:p>
                      <a:pPr algn="l">
                        <a:defRPr sz="590">
                          <a:solidFill>
                            <a:srgbClr val="1E242B"/>
                          </a:solidFill>
                          <a:latin typeface="Arial"/>
                        </a:defRPr>
                      </a:pPr>
                      <a:r>
                        <a:t>• 4 mục đang báo giá (見積中): No.11 (Băng tải tiếp điện), No.12 (Tự động cắm cáp), No.16 (Gá tích hợp), No.17 (Gá nam châm)</a:t>
                      </a:r>
                    </a:p>
                  </a:txBody>
                  <a:tcPr anchor="ctr" marL="36576" marR="36576" marT="9144" marB="9144">
                    <a:solidFill>
                      <a:srgbClr val="FEF7E6"/>
                    </a:solidFill>
                  </a:tcPr>
                </a:tc>
                <a:tc>
                  <a:txBody>
                    <a:bodyPr/>
                    <a:lstStyle/>
                    <a:p>
                      <a:pPr algn="l">
                        <a:defRPr sz="590">
                          <a:solidFill>
                            <a:srgbClr val="1E242B"/>
                          </a:solidFill>
                          <a:latin typeface="Arial"/>
                        </a:defRPr>
                      </a:pPr>
                      <a:r>
                        <a:t>• 10 đề án TB đang ghi "Đang báo giá / 見積中": No.18, No.19, No.20, No.21, No.25 (Quét DP liên tục), No.27 (Camera nồng độ/lề), No.28 (Xuất hàng mạng), No.31, No.33 (nếu làm TB), No.35 (+ Mục 17 Tủ điện 5tr của No.22)</a:t>
                      </a:r>
                    </a:p>
                  </a:txBody>
                  <a:tcPr anchor="ctr" marL="36576" marR="36576" marT="9144" marB="9144">
                    <a:solidFill>
                      <a:srgbClr val="FEF7E6"/>
                    </a:solidFill>
                  </a:tcPr>
                </a:tc>
                <a:tc>
                  <a:txBody>
                    <a:bodyPr/>
                    <a:lstStyle/>
                    <a:p>
                      <a:pPr algn="l">
                        <a:defRPr sz="590">
                          <a:solidFill>
                            <a:srgbClr val="1E242B"/>
                          </a:solidFill>
                          <a:latin typeface="Arial"/>
                        </a:defRPr>
                      </a:pPr>
                      <a:r>
                        <a:t>• Giữ nguyên "Đang báo giá (見積中)" theo nguồn; không tự điền giá hoặc cộng vào tổng xin duyệt.</a:t>
                      </a:r>
                    </a:p>
                  </a:txBody>
                  <a:tcPr anchor="ctr" marL="36576" marR="36576" marT="9144" marB="9144">
                    <a:solidFill>
                      <a:srgbClr val="FEF7E6"/>
                    </a:solidFill>
                  </a:tcPr>
                </a:tc>
                <a:tc>
                  <a:txBody>
                    <a:bodyPr/>
                    <a:lstStyle/>
                    <a:p>
                      <a:pPr algn="l">
                        <a:defRPr sz="590">
                          <a:solidFill>
                            <a:srgbClr val="1E242B"/>
                          </a:solidFill>
                          <a:latin typeface="Arial"/>
                        </a:defRPr>
                      </a:pPr>
                      <a:r>
                        <a:t>IrisEXP改善提案まとめ (Cột O);</a:t>
                      </a:r>
                      <a:br/>
                      <a:r>
                        <a:t>Iris EXPのVN提案</a:t>
                      </a:r>
                    </a:p>
                  </a:txBody>
                  <a:tcPr anchor="ctr" marL="36576" marR="36576" marT="9144" marB="9144">
                    <a:solidFill>
                      <a:srgbClr val="FEF7E6"/>
                    </a:solidFill>
                  </a:tcPr>
                </a:tc>
              </a:tr>
              <a:tr h="386080">
                <a:tc>
                  <a:txBody>
                    <a:bodyPr/>
                    <a:lstStyle/>
                    <a:p>
                      <a:pPr algn="l">
                        <a:defRPr sz="590" b="1">
                          <a:solidFill>
                            <a:srgbClr val="B8292F"/>
                          </a:solidFill>
                          <a:latin typeface="Arial"/>
                        </a:defRPr>
                      </a:pPr>
                      <a:r>
                        <a:t>7. ĐÃ HỦY (廃止) /</a:t>
                      </a:r>
                      <a:br/>
                      <a:r>
                        <a:t>R&amp;D Dài hạn</a:t>
                      </a:r>
                    </a:p>
                  </a:txBody>
                  <a:tcPr anchor="ctr" marL="36576" marR="36576" marT="9144" marB="9144">
                    <a:solidFill>
                      <a:srgbClr val="FDEDEC"/>
                    </a:solidFill>
                  </a:tcPr>
                </a:tc>
                <a:tc>
                  <a:txBody>
                    <a:bodyPr/>
                    <a:lstStyle/>
                    <a:p>
                      <a:pPr algn="l">
                        <a:defRPr sz="590">
                          <a:solidFill>
                            <a:srgbClr val="1E242B"/>
                          </a:solidFill>
                          <a:latin typeface="Arial"/>
                        </a:defRPr>
                      </a:pPr>
                      <a:r>
                        <a:t>• Bỏ phương án dùng lại Raspberry Pi + Pin Mobile của Athena do chai pin &amp; rớt Wi-Fi</a:t>
                      </a:r>
                    </a:p>
                  </a:txBody>
                  <a:tcPr anchor="ctr" marL="36576" marR="36576" marT="9144" marB="9144">
                    <a:solidFill>
                      <a:srgbClr val="FDEDEC"/>
                    </a:solidFill>
                  </a:tcPr>
                </a:tc>
                <a:tc>
                  <a:txBody>
                    <a:bodyPr/>
                    <a:lstStyle/>
                    <a:p>
                      <a:pPr algn="l">
                        <a:defRPr sz="590">
                          <a:solidFill>
                            <a:srgbClr val="1E242B"/>
                          </a:solidFill>
                          <a:latin typeface="Arial"/>
                        </a:defRPr>
                      </a:pPr>
                      <a:r>
                        <a:t>• Không có mục hủy có giá tiền riêng trong bảng CN</a:t>
                      </a:r>
                    </a:p>
                  </a:txBody>
                  <a:tcPr anchor="ctr" marL="36576" marR="36576" marT="9144" marB="9144">
                    <a:solidFill>
                      <a:srgbClr val="FDEDEC"/>
                    </a:solidFill>
                  </a:tcPr>
                </a:tc>
                <a:tc>
                  <a:txBody>
                    <a:bodyPr/>
                    <a:lstStyle/>
                    <a:p>
                      <a:pPr algn="l">
                        <a:defRPr sz="590" b="1">
                          <a:solidFill>
                            <a:srgbClr val="B8292F"/>
                          </a:solidFill>
                          <a:latin typeface="Arial"/>
                        </a:defRPr>
                      </a:pPr>
                      <a:r>
                        <a:t>• ĐÃ HỦY SAU DR4 (KHÔNG DÙNG): No.23 Robot đặt bản thảo ISU (650.000.000 VNĐ = 25.000 USD) &amp; No.24 Robot USB/U201 (4.000 USD)</a:t>
                      </a:r>
                      <a:br/>
                      <a:r>
                        <a:t>• R&amp;D dài hạn 2026-2030: No.26 AI âm thanh lạ &amp; nhiệt độ (600 vạn JPY ~ 40.000 USD)</a:t>
                      </a:r>
                    </a:p>
                  </a:txBody>
                  <a:tcPr anchor="ctr" marL="36576" marR="36576" marT="9144" marB="9144">
                    <a:solidFill>
                      <a:srgbClr val="FDEDEC"/>
                    </a:solidFill>
                  </a:tcPr>
                </a:tc>
                <a:tc>
                  <a:txBody>
                    <a:bodyPr/>
                    <a:lstStyle/>
                    <a:p>
                      <a:pPr algn="l">
                        <a:defRPr sz="590">
                          <a:solidFill>
                            <a:srgbClr val="1E242B"/>
                          </a:solidFill>
                          <a:latin typeface="Arial"/>
                        </a:defRPr>
                      </a:pPr>
                      <a:r>
                        <a:t>• Đã hủy: 29.000 USD (No.23: 25k$ / 650tr VNĐ + No.24: 4k$)</a:t>
                      </a:r>
                      <a:br/>
                      <a:r>
                        <a:t>• R&amp;D 2026-2030: 600 vạn JPY</a:t>
                      </a:r>
                    </a:p>
                  </a:txBody>
                  <a:tcPr anchor="ctr" marL="36576" marR="36576" marT="9144" marB="9144">
                    <a:solidFill>
                      <a:srgbClr val="FDEDEC"/>
                    </a:solidFill>
                  </a:tcPr>
                </a:tc>
                <a:tc>
                  <a:txBody>
                    <a:bodyPr/>
                    <a:lstStyle/>
                    <a:p>
                      <a:pPr algn="l">
                        <a:defRPr sz="590">
                          <a:solidFill>
                            <a:srgbClr val="1E242B"/>
                          </a:solidFill>
                          <a:latin typeface="Arial"/>
                        </a:defRPr>
                      </a:pPr>
                      <a:r>
                        <a:t>連携会 第7回.txt;</a:t>
                      </a:r>
                      <a:br/>
                      <a:r>
                        <a:t>検討資料(8月3日) S8</a:t>
                      </a:r>
                    </a:p>
                  </a:txBody>
                  <a:tcPr anchor="ctr" marL="36576" marR="36576" marT="9144" marB="9144">
                    <a:solidFill>
                      <a:srgbClr val="FDEDEC"/>
                    </a:solidFill>
                  </a:tcPr>
                </a:tc>
              </a:tr>
              <a:tr h="386080">
                <a:tc>
                  <a:txBody>
                    <a:bodyPr/>
                    <a:lstStyle/>
                    <a:p>
                      <a:pPr algn="l">
                        <a:defRPr sz="590" b="1">
                          <a:solidFill>
                            <a:srgbClr val="1E242B"/>
                          </a:solidFill>
                          <a:latin typeface="Arial"/>
                        </a:defRPr>
                      </a:pPr>
                      <a:r>
                        <a:t>8. Tiến độ nghiệm thu</a:t>
                      </a:r>
                      <a:br/>
                      <a:r>
                        <a:t>tới T10/2026</a:t>
                      </a:r>
                    </a:p>
                  </a:txBody>
                  <a:tcPr anchor="ctr" marL="36576" marR="36576" marT="9144" marB="9144">
                    <a:solidFill>
                      <a:srgbClr val="F7F9FC"/>
                    </a:solidFill>
                  </a:tcPr>
                </a:tc>
                <a:tc>
                  <a:txBody>
                    <a:bodyPr/>
                    <a:lstStyle/>
                    <a:p>
                      <a:pPr algn="l">
                        <a:defRPr sz="590">
                          <a:solidFill>
                            <a:srgbClr val="1E242B"/>
                          </a:solidFill>
                          <a:latin typeface="Arial"/>
                        </a:defRPr>
                      </a:pPr>
                      <a:r>
                        <a:t>• Đã tạm chốt hệ Spica Mini PC; đã duyệt xóa U201 (-15,12s) &amp; triển khai trước xóa U155 (-29,16s), công tắc nắp (-8,88s)</a:t>
                      </a:r>
                    </a:p>
                  </a:txBody>
                  <a:tcPr anchor="ctr" marL="36576" marR="36576" marT="9144" marB="9144">
                    <a:solidFill>
                      <a:srgbClr val="F7F9FC"/>
                    </a:solidFill>
                  </a:tcPr>
                </a:tc>
                <a:tc>
                  <a:txBody>
                    <a:bodyPr/>
                    <a:lstStyle/>
                    <a:p>
                      <a:pPr algn="l">
                        <a:defRPr sz="590">
                          <a:solidFill>
                            <a:srgbClr val="1E242B"/>
                          </a:solidFill>
                          <a:latin typeface="Arial"/>
                        </a:defRPr>
                      </a:pPr>
                      <a:r>
                        <a:t>• Đã duyệt xóa kiểm tra mắt thường PPT (No.10) &amp; U155; đang thử nghiệm AI WeChat (No.38)</a:t>
                      </a:r>
                    </a:p>
                  </a:txBody>
                  <a:tcPr anchor="ctr" marL="36576" marR="36576" marT="9144" marB="9144">
                    <a:solidFill>
                      <a:srgbClr val="F7F9FC"/>
                    </a:solidFill>
                  </a:tcPr>
                </a:tc>
                <a:tc>
                  <a:txBody>
                    <a:bodyPr/>
                    <a:lstStyle/>
                    <a:p>
                      <a:pPr algn="l">
                        <a:defRPr sz="590">
                          <a:solidFill>
                            <a:srgbClr val="1E242B"/>
                          </a:solidFill>
                          <a:latin typeface="Arial"/>
                        </a:defRPr>
                      </a:pPr>
                      <a:r>
                        <a:t>• Đã xóa 4 bước trên bảng công đoạn T10 (-4,32s/máy); hoàn tất BOM 25 mục No.22 (101,69tr VNĐ); chuẩn bị PMT1 (T12/2026)</a:t>
                      </a:r>
                    </a:p>
                  </a:txBody>
                  <a:tcPr anchor="ctr" marL="36576" marR="36576" marT="9144" marB="9144">
                    <a:solidFill>
                      <a:srgbClr val="F7F9FC"/>
                    </a:solidFill>
                  </a:tcPr>
                </a:tc>
                <a:tc>
                  <a:txBody>
                    <a:bodyPr/>
                    <a:lstStyle/>
                    <a:p>
                      <a:pPr algn="l">
                        <a:defRPr sz="590">
                          <a:solidFill>
                            <a:srgbClr val="1E242B"/>
                          </a:solidFill>
                          <a:latin typeface="Arial"/>
                        </a:defRPr>
                      </a:pPr>
                      <a:r>
                        <a:t>• Lộ trình: DMT (T8~T11/2026) -&gt; PMT1 (T12/2026) -&gt; PMT2 (T2/2027) -&gt; MP (T3/2027)</a:t>
                      </a:r>
                    </a:p>
                  </a:txBody>
                  <a:tcPr anchor="ctr" marL="36576" marR="36576" marT="9144" marB="9144">
                    <a:solidFill>
                      <a:srgbClr val="F7F9FC"/>
                    </a:solidFill>
                  </a:tcPr>
                </a:tc>
                <a:tc>
                  <a:txBody>
                    <a:bodyPr/>
                    <a:lstStyle/>
                    <a:p>
                      <a:pPr algn="l">
                        <a:defRPr sz="590">
                          <a:solidFill>
                            <a:srgbClr val="1E242B"/>
                          </a:solidFill>
                          <a:latin typeface="Arial"/>
                        </a:defRPr>
                      </a:pPr>
                      <a:r>
                        <a:t>連携会 第13~17回;</a:t>
                      </a:r>
                      <a:br/>
                      <a:r>
                        <a:t>BM-003-F 10月</a:t>
                      </a:r>
                    </a:p>
                  </a:txBody>
                  <a:tcPr anchor="ctr" marL="36576" marR="36576" marT="9144" marB="9144">
                    <a:solidFill>
                      <a:srgbClr val="F7F9FC"/>
                    </a:solidFill>
                  </a:tcPr>
                </a:tc>
              </a:tr>
            </a:tbl>
          </a:graphicData>
        </a:graphic>
      </p:graphicFrame>
      <p:sp>
        <p:nvSpPr>
          <p:cNvPr id="8" name="Rectangle 7"/>
          <p:cNvSpPr/>
          <p:nvPr/>
        </p:nvSpPr>
        <p:spPr>
          <a:xfrm>
            <a:off x="274320" y="5596128"/>
            <a:ext cx="11643055" cy="896112"/>
          </a:xfrm>
          <a:prstGeom prst="rect">
            <a:avLst/>
          </a:prstGeom>
          <a:solidFill>
            <a:srgbClr val="F4F6F9"/>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5596128"/>
            <a:ext cx="11643055" cy="310896"/>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00" b="1">
                <a:solidFill>
                  <a:srgbClr val="FFFFFF"/>
                </a:solidFill>
                <a:latin typeface="Arial"/>
              </a:defRPr>
            </a:pPr>
            <a:r>
              <a:t>GHI CHÚ ĐỐI CHIẾU SỐ LƯỢNG ĐỀ ÁN GIỮA CÁC FILE NGUỒN (28 vs 37 vs 38 ĐỀ ÁN) VÀ CÁCH TÍNH THỜI GIAN</a:t>
            </a:r>
          </a:p>
        </p:txBody>
      </p:sp>
      <p:sp>
        <p:nvSpPr>
          <p:cNvPr id="10" name="TextBox 9"/>
          <p:cNvSpPr txBox="1"/>
          <p:nvPr/>
        </p:nvSpPr>
        <p:spPr>
          <a:xfrm>
            <a:off x="347472" y="5925312"/>
            <a:ext cx="11496751" cy="530352"/>
          </a:xfrm>
          <a:prstGeom prst="rect">
            <a:avLst/>
          </a:prstGeom>
          <a:noFill/>
        </p:spPr>
        <p:txBody>
          <a:bodyPr wrap="square" lIns="36576" rIns="36576" tIns="18288" bIns="18288">
            <a:spAutoFit/>
          </a:bodyPr>
          <a:lstStyle/>
          <a:p>
            <a:pPr>
              <a:spcAft>
                <a:spcPts val="200"/>
              </a:spcAft>
              <a:defRPr sz="740">
                <a:solidFill>
                  <a:srgbClr val="1E242B"/>
                </a:solidFill>
                <a:latin typeface="Arial"/>
              </a:defRPr>
            </a:pPr>
            <a:r>
              <a:t>• Về số lượng đề án: (1) Báo cáo tháng 8 (IrisEXP報告.pptx &amp; BM-003-F 8月.xlsx) ghi 28 đề án (JP: 7, CN: 10, VN: 11); (2) Tháng 9 VN bổ sung 9 đề án (No.29~37) nâng lên 37 đề án (T9/IrisEXP改善提案まとめ.xlsx &amp; BM-003-F 9~10月); (3) Bản tổng hợp mới nhất (đề án cải tiến Điều chỉnh\IrisEXP改善提案まとめ.xlsx) thêm No.38 của CN (WeChat AI kiểm tra hình ảnh) thành 38 đề án (JP: 7, CN: 11, VN: 20). Riêng file IrisEXP cn改善案list.xlsx có 11 dòng vì tính cả mục xóa U155 (-28,2s) mà bản tổng hợp gộp vào JP No.2.</a:t>
            </a:r>
          </a:p>
          <a:p>
            <a:pPr>
              <a:spcAft>
                <a:spcPts val="200"/>
              </a:spcAft>
              <a:defRPr sz="740">
                <a:solidFill>
                  <a:srgbClr val="1E242B"/>
                </a:solidFill>
                <a:latin typeface="Arial"/>
              </a:defRPr>
            </a:pPr>
            <a:r>
              <a:t>• Về thời gian chuẩn: JP tính "Thao tác tay thuần không tính chờ máy" (Iris2024: 1.171,70s Color / 1.120,90s Mono; IrisEXP 改善無: 1.260,70s Color do cộng 89s U413). VN tính "Tổng thời gian toàn công đoạn K1~K8 gồm cả chờ máy, in và Aging U950 285s" (Iris2024: 2.350,00s/máy, 14 người).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6.2: ĐỀ ÁN JP &amp; CN</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Bảng đối chiếu 7 đề án Nhật Bản (No.1~7) và 11 đề án Trung Quốc (No.8~17, No.38)</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10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Tách riêng đề án của JP và CN với đề án của VN; các hạng mục phần mềm và xóa bước kiểm tra của JP &amp; CN được áp dụng chung sang chuyền VN.</a:t>
            </a:r>
          </a:p>
        </p:txBody>
      </p:sp>
      <p:sp>
        <p:nvSpPr>
          <p:cNvPr id="7" name="TextBox 6"/>
          <p:cNvSpPr txBox="1"/>
          <p:nvPr/>
        </p:nvSpPr>
        <p:spPr>
          <a:xfrm>
            <a:off x="274320" y="1216152"/>
            <a:ext cx="5440680" cy="201168"/>
          </a:xfrm>
          <a:prstGeom prst="rect">
            <a:avLst/>
          </a:prstGeom>
          <a:noFill/>
        </p:spPr>
        <p:txBody>
          <a:bodyPr wrap="square" lIns="18288" rIns="18288" tIns="9144" bIns="9144">
            <a:spAutoFit/>
          </a:bodyPr>
          <a:lstStyle/>
          <a:p>
            <a:pPr>
              <a:defRPr sz="780" b="1">
                <a:solidFill>
                  <a:srgbClr val="1B365D"/>
                </a:solidFill>
                <a:latin typeface="Arial"/>
              </a:defRPr>
            </a:pPr>
            <a:r>
              <a:t>■ 7 ĐỀ ÁN NHẬT BẢN (JP: No.1 ~ No.7) | Nguồn: IrisEXP改善提案まとめ &amp; 既存機との工数比較</a:t>
            </a:r>
          </a:p>
        </p:txBody>
      </p:sp>
      <p:graphicFrame>
        <p:nvGraphicFramePr>
          <p:cNvPr id="8" name="Table 7"/>
          <p:cNvGraphicFramePr>
            <a:graphicFrameLocks noGrp="1"/>
          </p:cNvGraphicFramePr>
          <p:nvPr/>
        </p:nvGraphicFramePr>
        <p:xfrm>
          <a:off x="274320" y="1426464"/>
          <a:ext cx="5440680" cy="4846320"/>
        </p:xfrm>
        <a:graphic>
          <a:graphicData uri="http://schemas.openxmlformats.org/drawingml/2006/table">
            <a:tbl>
              <a:tblPr firstRow="1" bandRow="1">
                <a:tableStyleId>{5C22544A-7EE6-4342-B048-85BDC9FD1C3A}</a:tableStyleId>
              </a:tblPr>
              <a:tblGrid>
                <a:gridCol w="594360"/>
                <a:gridCol w="1691640"/>
                <a:gridCol w="1417320"/>
                <a:gridCol w="822960"/>
                <a:gridCol w="914400"/>
              </a:tblGrid>
              <a:tr h="538480">
                <a:tc>
                  <a:txBody>
                    <a:bodyPr/>
                    <a:lstStyle/>
                    <a:p>
                      <a:pPr algn="ctr">
                        <a:defRPr sz="720" b="1">
                          <a:solidFill>
                            <a:srgbClr val="FFFFFF"/>
                          </a:solidFill>
                          <a:latin typeface="Arial"/>
                        </a:defRPr>
                      </a:pPr>
                      <a:r>
                        <a:t>Mã số</a:t>
                      </a:r>
                    </a:p>
                  </a:txBody>
                  <a:tcPr anchor="ctr" marL="36576" marR="36576" marT="9144" marB="9144">
                    <a:solidFill>
                      <a:srgbClr val="1B365D"/>
                    </a:solidFill>
                  </a:tcPr>
                </a:tc>
                <a:tc>
                  <a:txBody>
                    <a:bodyPr/>
                    <a:lstStyle/>
                    <a:p>
                      <a:pPr algn="ctr">
                        <a:defRPr sz="720" b="1">
                          <a:solidFill>
                            <a:srgbClr val="FFFFFF"/>
                          </a:solidFill>
                          <a:latin typeface="Arial"/>
                        </a:defRPr>
                      </a:pPr>
                      <a:r>
                        <a:t>Tên đề án JP (Thuật ngữ gốc)</a:t>
                      </a:r>
                    </a:p>
                  </a:txBody>
                  <a:tcPr anchor="ctr" marL="36576" marR="36576" marT="9144" marB="9144">
                    <a:solidFill>
                      <a:srgbClr val="1B365D"/>
                    </a:solidFill>
                  </a:tcPr>
                </a:tc>
                <a:tc>
                  <a:txBody>
                    <a:bodyPr/>
                    <a:lstStyle/>
                    <a:p>
                      <a:pPr algn="ctr">
                        <a:defRPr sz="720" b="1">
                          <a:solidFill>
                            <a:srgbClr val="FFFFFF"/>
                          </a:solidFill>
                          <a:latin typeface="Arial"/>
                        </a:defRPr>
                      </a:pPr>
                      <a:r>
                        <a:t>Giải pháp &amp; Quyết định連携会</a:t>
                      </a:r>
                    </a:p>
                  </a:txBody>
                  <a:tcPr anchor="ctr" marL="36576" marR="36576" marT="9144" marB="9144">
                    <a:solidFill>
                      <a:srgbClr val="1B365D"/>
                    </a:solidFill>
                  </a:tcPr>
                </a:tc>
                <a:tc>
                  <a:txBody>
                    <a:bodyPr/>
                    <a:lstStyle/>
                    <a:p>
                      <a:pPr algn="ctr">
                        <a:defRPr sz="720" b="1">
                          <a:solidFill>
                            <a:srgbClr val="FFFFFF"/>
                          </a:solidFill>
                          <a:latin typeface="Arial"/>
                        </a:defRPr>
                      </a:pPr>
                      <a:r>
                        <a:t>Giảm TG (s)</a:t>
                      </a:r>
                    </a:p>
                  </a:txBody>
                  <a:tcPr anchor="ctr" marL="36576" marR="36576" marT="9144" marB="9144">
                    <a:solidFill>
                      <a:srgbClr val="1B365D"/>
                    </a:solidFill>
                  </a:tcPr>
                </a:tc>
                <a:tc>
                  <a:txBody>
                    <a:bodyPr/>
                    <a:lstStyle/>
                    <a:p>
                      <a:pPr algn="ctr">
                        <a:defRPr sz="720" b="1">
                          <a:solidFill>
                            <a:srgbClr val="FFFFFF"/>
                          </a:solidFill>
                          <a:latin typeface="Arial"/>
                        </a:defRPr>
                      </a:pPr>
                      <a:r>
                        <a:t>Trạng thái / Giá</a:t>
                      </a:r>
                    </a:p>
                  </a:txBody>
                  <a:tcPr anchor="ctr" marL="36576" marR="36576" marT="9144" marB="9144">
                    <a:solidFill>
                      <a:srgbClr val="1B365D"/>
                    </a:solidFill>
                  </a:tcPr>
                </a:tc>
              </a:tr>
              <a:tr h="538480">
                <a:tc>
                  <a:txBody>
                    <a:bodyPr/>
                    <a:lstStyle/>
                    <a:p>
                      <a:pPr algn="ctr">
                        <a:defRPr sz="640" b="1">
                          <a:solidFill>
                            <a:srgbClr val="1E242B"/>
                          </a:solidFill>
                          <a:latin typeface="Arial"/>
                        </a:defRPr>
                      </a:pPr>
                      <a:r>
                        <a:t>No.1</a:t>
                      </a:r>
                      <a:br/>
                      <a:r>
                        <a:t>(JP)</a:t>
                      </a:r>
                    </a:p>
                  </a:txBody>
                  <a:tcPr anchor="ctr" marL="36576" marR="36576" marT="9144" marB="9144">
                    <a:solidFill>
                      <a:srgbClr val="FFFFFF"/>
                    </a:solidFill>
                  </a:tcPr>
                </a:tc>
                <a:tc>
                  <a:txBody>
                    <a:bodyPr/>
                    <a:lstStyle/>
                    <a:p>
                      <a:pPr algn="l">
                        <a:defRPr sz="640">
                          <a:solidFill>
                            <a:srgbClr val="1E242B"/>
                          </a:solidFill>
                          <a:latin typeface="Arial"/>
                        </a:defRPr>
                      </a:pPr>
                      <a:r>
                        <a:t>Lắp Canister mực ở cuối công đoạn</a:t>
                      </a:r>
                      <a:br/>
                      <a:r>
                        <a:t>(トナーキャニスター後入れ)</a:t>
                      </a:r>
                    </a:p>
                  </a:txBody>
                  <a:tcPr anchor="ctr" marL="36576" marR="36576" marT="9144" marB="9144">
                    <a:solidFill>
                      <a:srgbClr val="FFFFFF"/>
                    </a:solidFill>
                  </a:tcPr>
                </a:tc>
                <a:tc>
                  <a:txBody>
                    <a:bodyPr/>
                    <a:lstStyle/>
                    <a:p>
                      <a:pPr algn="l">
                        <a:defRPr sz="640">
                          <a:solidFill>
                            <a:srgbClr val="1E242B"/>
                          </a:solidFill>
                          <a:latin typeface="Arial"/>
                        </a:defRPr>
                      </a:pPr>
                      <a:r>
                        <a:t>Chuyển lắp hộp mực xuống cuối chuyền để tránh bẩn mực trong máy khi kiểm tra.</a:t>
                      </a:r>
                    </a:p>
                  </a:txBody>
                  <a:tcPr anchor="ctr" marL="36576" marR="36576" marT="9144" marB="9144">
                    <a:solidFill>
                      <a:srgbClr val="FFFFFF"/>
                    </a:solidFill>
                  </a:tcPr>
                </a:tc>
                <a:tc>
                  <a:txBody>
                    <a:bodyPr/>
                    <a:lstStyle/>
                    <a:p>
                      <a:pPr algn="ctr">
                        <a:defRPr sz="640">
                          <a:solidFill>
                            <a:srgbClr val="1E242B"/>
                          </a:solidFill>
                          <a:latin typeface="Arial"/>
                        </a:defRPr>
                      </a:pPr>
                      <a:r>
                        <a:t>-13,00 s</a:t>
                      </a:r>
                      <a:br/>
                      <a:r>
                        <a:t>(4 bước)</a:t>
                      </a:r>
                    </a:p>
                  </a:txBody>
                  <a:tcPr anchor="ctr" marL="36576" marR="36576" marT="9144" marB="9144">
                    <a:solidFill>
                      <a:srgbClr val="FFFFFF"/>
                    </a:solidFill>
                  </a:tcPr>
                </a:tc>
                <a:tc>
                  <a:txBody>
                    <a:bodyPr/>
                    <a:lstStyle/>
                    <a:p>
                      <a:pPr algn="l">
                        <a:defRPr sz="640">
                          <a:solidFill>
                            <a:srgbClr val="1E242B"/>
                          </a:solidFill>
                          <a:latin typeface="Arial"/>
                        </a:defRPr>
                      </a:pPr>
                      <a:r>
                        <a:t>Chờ xác nhận chất lượng ảnh</a:t>
                      </a:r>
                      <a:br/>
                      <a:r>
                        <a:t>(Row 15)</a:t>
                      </a:r>
                    </a:p>
                  </a:txBody>
                  <a:tcPr anchor="ctr" marL="36576" marR="36576" marT="9144" marB="9144">
                    <a:solidFill>
                      <a:srgbClr val="FFFFFF"/>
                    </a:solidFill>
                  </a:tcPr>
                </a:tc>
              </a:tr>
              <a:tr h="538480">
                <a:tc>
                  <a:txBody>
                    <a:bodyPr/>
                    <a:lstStyle/>
                    <a:p>
                      <a:pPr algn="ctr">
                        <a:defRPr sz="640" b="1">
                          <a:solidFill>
                            <a:srgbClr val="1E242B"/>
                          </a:solidFill>
                          <a:latin typeface="Arial"/>
                        </a:defRPr>
                      </a:pPr>
                      <a:r>
                        <a:t>No.2</a:t>
                      </a:r>
                      <a:br/>
                      <a:r>
                        <a:t>(JP/CN/VN)</a:t>
                      </a:r>
                    </a:p>
                  </a:txBody>
                  <a:tcPr anchor="ctr" marL="36576" marR="36576" marT="9144" marB="9144">
                    <a:solidFill>
                      <a:srgbClr val="EAF7EE"/>
                    </a:solidFill>
                  </a:tcPr>
                </a:tc>
                <a:tc>
                  <a:txBody>
                    <a:bodyPr/>
                    <a:lstStyle/>
                    <a:p>
                      <a:pPr algn="l">
                        <a:defRPr sz="640">
                          <a:solidFill>
                            <a:srgbClr val="1E242B"/>
                          </a:solidFill>
                          <a:latin typeface="Arial"/>
                        </a:defRPr>
                      </a:pPr>
                      <a:r>
                        <a:t>Xóa cài đặt U155 (cảm biến mực thải)</a:t>
                      </a:r>
                      <a:br/>
                      <a:r>
                        <a:t>(U155設定の廃止)</a:t>
                      </a:r>
                    </a:p>
                  </a:txBody>
                  <a:tcPr anchor="ctr" marL="36576" marR="36576" marT="9144" marB="9144">
                    <a:solidFill>
                      <a:srgbClr val="EAF7EE"/>
                    </a:solidFill>
                  </a:tcPr>
                </a:tc>
                <a:tc>
                  <a:txBody>
                    <a:bodyPr/>
                    <a:lstStyle/>
                    <a:p>
                      <a:pPr algn="l">
                        <a:defRPr sz="640">
                          <a:solidFill>
                            <a:srgbClr val="1E242B"/>
                          </a:solidFill>
                          <a:latin typeface="Arial"/>
                        </a:defRPr>
                      </a:pPr>
                      <a:r>
                        <a:t>Đo điện trở tại Sub-Assy + thêm Push SW trên thân máy -&gt; Xóa bước U155.</a:t>
                      </a:r>
                    </a:p>
                  </a:txBody>
                  <a:tcPr anchor="ctr" marL="36576" marR="36576" marT="9144" marB="9144">
                    <a:solidFill>
                      <a:srgbClr val="EAF7EE"/>
                    </a:solidFill>
                  </a:tcPr>
                </a:tc>
                <a:tc>
                  <a:txBody>
                    <a:bodyPr/>
                    <a:lstStyle/>
                    <a:p>
                      <a:pPr algn="ctr">
                        <a:defRPr sz="640">
                          <a:solidFill>
                            <a:srgbClr val="1E242B"/>
                          </a:solidFill>
                          <a:latin typeface="Arial"/>
                        </a:defRPr>
                      </a:pPr>
                      <a:r>
                        <a:t>-29,16 s</a:t>
                      </a:r>
                      <a:br/>
                      <a:r>
                        <a:t>(-29,1s công thức)</a:t>
                      </a:r>
                      <a:br/>
                      <a:r>
                        <a:t>[CN: -28,2s]</a:t>
                      </a:r>
                    </a:p>
                  </a:txBody>
                  <a:tcPr anchor="ctr" marL="36576" marR="36576" marT="9144" marB="9144">
                    <a:solidFill>
                      <a:srgbClr val="EAF7EE"/>
                    </a:solidFill>
                  </a:tcPr>
                </a:tc>
                <a:tc>
                  <a:txBody>
                    <a:bodyPr/>
                    <a:lstStyle/>
                    <a:p>
                      <a:pPr algn="l">
                        <a:defRPr sz="640">
                          <a:solidFill>
                            <a:srgbClr val="1E242B"/>
                          </a:solidFill>
                          <a:latin typeface="Arial"/>
                        </a:defRPr>
                      </a:pPr>
                      <a:r>
                        <a:t>Triển khai ngay</a:t>
                      </a:r>
                      <a:br/>
                      <a:r>
                        <a:t>(先行実施)</a:t>
                      </a:r>
                      <a:br/>
                      <a:r>
                        <a:t>0 đồng TB xưởng</a:t>
                      </a:r>
                    </a:p>
                  </a:txBody>
                  <a:tcPr anchor="ctr" marL="36576" marR="36576" marT="9144" marB="9144">
                    <a:solidFill>
                      <a:srgbClr val="EAF7EE"/>
                    </a:solidFill>
                  </a:tcPr>
                </a:tc>
              </a:tr>
              <a:tr h="538480">
                <a:tc>
                  <a:txBody>
                    <a:bodyPr/>
                    <a:lstStyle/>
                    <a:p>
                      <a:pPr algn="ctr">
                        <a:defRPr sz="640" b="1">
                          <a:solidFill>
                            <a:srgbClr val="1E242B"/>
                          </a:solidFill>
                          <a:latin typeface="Arial"/>
                        </a:defRPr>
                      </a:pPr>
                      <a:r>
                        <a:t>No.3</a:t>
                      </a:r>
                      <a:br/>
                      <a:r>
                        <a:t>(JP/VN)</a:t>
                      </a:r>
                    </a:p>
                  </a:txBody>
                  <a:tcPr anchor="ctr" marL="36576" marR="36576" marT="9144" marB="9144">
                    <a:solidFill>
                      <a:srgbClr val="EAF7EE"/>
                    </a:solidFill>
                  </a:tcPr>
                </a:tc>
                <a:tc>
                  <a:txBody>
                    <a:bodyPr/>
                    <a:lstStyle/>
                    <a:p>
                      <a:pPr algn="l">
                        <a:defRPr sz="640">
                          <a:solidFill>
                            <a:srgbClr val="1E242B"/>
                          </a:solidFill>
                          <a:latin typeface="Arial"/>
                        </a:defRPr>
                      </a:pPr>
                      <a:r>
                        <a:t>Xóa kiểm tra Panel cảm ứng U201</a:t>
                      </a:r>
                      <a:br/>
                      <a:r>
                        <a:t>(U201タッチパネル検査廃止)</a:t>
                      </a:r>
                    </a:p>
                  </a:txBody>
                  <a:tcPr anchor="ctr" marL="36576" marR="36576" marT="9144" marB="9144">
                    <a:solidFill>
                      <a:srgbClr val="EAF7EE"/>
                    </a:solidFill>
                  </a:tcPr>
                </a:tc>
                <a:tc>
                  <a:txBody>
                    <a:bodyPr/>
                    <a:lstStyle/>
                    <a:p>
                      <a:pPr algn="l">
                        <a:defRPr sz="640">
                          <a:solidFill>
                            <a:srgbClr val="1E242B"/>
                          </a:solidFill>
                          <a:latin typeface="Arial"/>
                        </a:defRPr>
                      </a:pPr>
                      <a:r>
                        <a:t>Đọc dữ liệu kiểm tra từ nhà máy Panel Assy qua mạng/Host PC thay vì chạm 3 điểm.</a:t>
                      </a:r>
                    </a:p>
                  </a:txBody>
                  <a:tcPr anchor="ctr" marL="36576" marR="36576" marT="9144" marB="9144">
                    <a:solidFill>
                      <a:srgbClr val="EAF7EE"/>
                    </a:solidFill>
                  </a:tcPr>
                </a:tc>
                <a:tc>
                  <a:txBody>
                    <a:bodyPr/>
                    <a:lstStyle/>
                    <a:p>
                      <a:pPr algn="ctr">
                        <a:defRPr sz="640">
                          <a:solidFill>
                            <a:srgbClr val="1E242B"/>
                          </a:solidFill>
                          <a:latin typeface="Arial"/>
                        </a:defRPr>
                      </a:pPr>
                      <a:r>
                        <a:t>-15,12 s</a:t>
                      </a:r>
                      <a:br/>
                      <a:r>
                        <a:t>(-15,0s công thức)</a:t>
                      </a:r>
                      <a:br/>
                      <a:r>
                        <a:t>(6 bước 削除確定)</a:t>
                      </a:r>
                    </a:p>
                  </a:txBody>
                  <a:tcPr anchor="ctr" marL="36576" marR="36576" marT="9144" marB="9144">
                    <a:solidFill>
                      <a:srgbClr val="EAF7EE"/>
                    </a:solidFill>
                  </a:tcPr>
                </a:tc>
                <a:tc>
                  <a:txBody>
                    <a:bodyPr/>
                    <a:lstStyle/>
                    <a:p>
                      <a:pPr algn="l">
                        <a:defRPr sz="640">
                          <a:solidFill>
                            <a:srgbClr val="1E242B"/>
                          </a:solidFill>
                          <a:latin typeface="Arial"/>
                        </a:defRPr>
                      </a:pPr>
                      <a:r>
                        <a:t>ĐÃ DUYỆT XÓA</a:t>
                      </a:r>
                      <a:br/>
                      <a:r>
                        <a:t>(第11・12回)</a:t>
                      </a:r>
                      <a:br/>
                      <a:r>
                        <a:t>0 đồng TB xưởng</a:t>
                      </a:r>
                    </a:p>
                  </a:txBody>
                  <a:tcPr anchor="ctr" marL="36576" marR="36576" marT="9144" marB="9144">
                    <a:solidFill>
                      <a:srgbClr val="EAF7EE"/>
                    </a:solidFill>
                  </a:tcPr>
                </a:tc>
              </a:tr>
              <a:tr h="538480">
                <a:tc>
                  <a:txBody>
                    <a:bodyPr/>
                    <a:lstStyle/>
                    <a:p>
                      <a:pPr algn="ctr">
                        <a:defRPr sz="640" b="1">
                          <a:solidFill>
                            <a:srgbClr val="1E242B"/>
                          </a:solidFill>
                          <a:latin typeface="Arial"/>
                        </a:defRPr>
                      </a:pPr>
                      <a:r>
                        <a:t>No.4</a:t>
                      </a:r>
                      <a:br/>
                      <a:r>
                        <a:t>(JP/VN)</a:t>
                      </a:r>
                    </a:p>
                  </a:txBody>
                  <a:tcPr anchor="ctr" marL="36576" marR="36576" marT="9144" marB="9144">
                    <a:solidFill>
                      <a:srgbClr val="EAF7EE"/>
                    </a:solidFill>
                  </a:tcPr>
                </a:tc>
                <a:tc>
                  <a:txBody>
                    <a:bodyPr/>
                    <a:lstStyle/>
                    <a:p>
                      <a:pPr algn="l">
                        <a:defRPr sz="640">
                          <a:solidFill>
                            <a:srgbClr val="1E242B"/>
                          </a:solidFill>
                          <a:latin typeface="Arial"/>
                        </a:defRPr>
                      </a:pPr>
                      <a:r>
                        <a:t>Xóa kiểm tra công tắc đóng/mở nắp</a:t>
                      </a:r>
                      <a:br/>
                      <a:r>
                        <a:t>(カバー開閉スイッチ検査廃止)</a:t>
                      </a:r>
                    </a:p>
                  </a:txBody>
                  <a:tcPr anchor="ctr" marL="36576" marR="36576" marT="9144" marB="9144">
                    <a:solidFill>
                      <a:srgbClr val="EAF7EE"/>
                    </a:solidFill>
                  </a:tcPr>
                </a:tc>
                <a:tc>
                  <a:txBody>
                    <a:bodyPr/>
                    <a:lstStyle/>
                    <a:p>
                      <a:pPr algn="l">
                        <a:defRPr sz="640">
                          <a:solidFill>
                            <a:srgbClr val="1E242B"/>
                          </a:solidFill>
                          <a:latin typeface="Arial"/>
                        </a:defRPr>
                      </a:pPr>
                      <a:r>
                        <a:t>Tích hợp kiểm tra tín hiệu công tắc cửa tự động trong chu trình semifinal.</a:t>
                      </a:r>
                    </a:p>
                  </a:txBody>
                  <a:tcPr anchor="ctr" marL="36576" marR="36576" marT="9144" marB="9144">
                    <a:solidFill>
                      <a:srgbClr val="EAF7EE"/>
                    </a:solidFill>
                  </a:tcPr>
                </a:tc>
                <a:tc>
                  <a:txBody>
                    <a:bodyPr/>
                    <a:lstStyle/>
                    <a:p>
                      <a:pPr algn="ctr">
                        <a:defRPr sz="640">
                          <a:solidFill>
                            <a:srgbClr val="1E242B"/>
                          </a:solidFill>
                          <a:latin typeface="Arial"/>
                        </a:defRPr>
                      </a:pPr>
                      <a:r>
                        <a:t>-8,88 s</a:t>
                      </a:r>
                      <a:br/>
                      <a:r>
                        <a:t>(-8,0s công thức)</a:t>
                      </a:r>
                      <a:br/>
                      <a:r>
                        <a:t>(12 bước)</a:t>
                      </a:r>
                    </a:p>
                  </a:txBody>
                  <a:tcPr anchor="ctr" marL="36576" marR="36576" marT="9144" marB="9144">
                    <a:solidFill>
                      <a:srgbClr val="EAF7EE"/>
                    </a:solidFill>
                  </a:tcPr>
                </a:tc>
                <a:tc>
                  <a:txBody>
                    <a:bodyPr/>
                    <a:lstStyle/>
                    <a:p>
                      <a:pPr algn="l">
                        <a:defRPr sz="640">
                          <a:solidFill>
                            <a:srgbClr val="1E242B"/>
                          </a:solidFill>
                          <a:latin typeface="Arial"/>
                        </a:defRPr>
                      </a:pPr>
                      <a:r>
                        <a:t>Triển khai ngay</a:t>
                      </a:r>
                      <a:br/>
                      <a:r>
                        <a:t>(先行実施)</a:t>
                      </a:r>
                      <a:br/>
                      <a:r>
                        <a:t>Đồng bộ VN No.36</a:t>
                      </a:r>
                    </a:p>
                  </a:txBody>
                  <a:tcPr anchor="ctr" marL="36576" marR="36576" marT="9144" marB="9144">
                    <a:solidFill>
                      <a:srgbClr val="EAF7EE"/>
                    </a:solidFill>
                  </a:tcPr>
                </a:tc>
              </a:tr>
              <a:tr h="538480">
                <a:tc>
                  <a:txBody>
                    <a:bodyPr/>
                    <a:lstStyle/>
                    <a:p>
                      <a:pPr algn="ctr">
                        <a:defRPr sz="640" b="1">
                          <a:solidFill>
                            <a:srgbClr val="1E242B"/>
                          </a:solidFill>
                          <a:latin typeface="Arial"/>
                        </a:defRPr>
                      </a:pPr>
                      <a:r>
                        <a:t>No.5</a:t>
                      </a:r>
                      <a:br/>
                      <a:r>
                        <a:t>(JP)</a:t>
                      </a:r>
                    </a:p>
                  </a:txBody>
                  <a:tcPr anchor="ctr" marL="36576" marR="36576" marT="9144" marB="9144">
                    <a:solidFill>
                      <a:srgbClr val="EAF7EE"/>
                    </a:solidFill>
                  </a:tcPr>
                </a:tc>
                <a:tc>
                  <a:txBody>
                    <a:bodyPr/>
                    <a:lstStyle/>
                    <a:p>
                      <a:pPr algn="l">
                        <a:defRPr sz="640">
                          <a:solidFill>
                            <a:srgbClr val="1E242B"/>
                          </a:solidFill>
                          <a:latin typeface="Arial"/>
                        </a:defRPr>
                      </a:pPr>
                      <a:r>
                        <a:t>Xóa xác nhận kẹt giấy JAM có chủ đích</a:t>
                      </a:r>
                      <a:br/>
                      <a:r>
                        <a:t>(意図的JAM発生確認の廃止)</a:t>
                      </a:r>
                    </a:p>
                  </a:txBody>
                  <a:tcPr anchor="ctr" marL="36576" marR="36576" marT="9144" marB="9144">
                    <a:solidFill>
                      <a:srgbClr val="EAF7EE"/>
                    </a:solidFill>
                  </a:tcPr>
                </a:tc>
                <a:tc>
                  <a:txBody>
                    <a:bodyPr/>
                    <a:lstStyle/>
                    <a:p>
                      <a:pPr algn="l">
                        <a:defRPr sz="640">
                          <a:solidFill>
                            <a:srgbClr val="1E242B"/>
                          </a:solidFill>
                          <a:latin typeface="Arial"/>
                        </a:defRPr>
                      </a:pPr>
                      <a:r>
                        <a:t>Xóa bước cố tình tạo JAM để thử cảm biến giấy trên chuyền điều chỉnh.</a:t>
                      </a:r>
                    </a:p>
                  </a:txBody>
                  <a:tcPr anchor="ctr" marL="36576" marR="36576" marT="9144" marB="9144">
                    <a:solidFill>
                      <a:srgbClr val="EAF7EE"/>
                    </a:solidFill>
                  </a:tcPr>
                </a:tc>
                <a:tc>
                  <a:txBody>
                    <a:bodyPr/>
                    <a:lstStyle/>
                    <a:p>
                      <a:pPr algn="ctr">
                        <a:defRPr sz="640">
                          <a:solidFill>
                            <a:srgbClr val="1E242B"/>
                          </a:solidFill>
                          <a:latin typeface="Arial"/>
                        </a:defRPr>
                      </a:pPr>
                      <a:r>
                        <a:t>-11,16 s</a:t>
                      </a:r>
                      <a:br/>
                      <a:r>
                        <a:t>(-11,0s công thức)</a:t>
                      </a:r>
                      <a:br/>
                      <a:r>
                        <a:t>(6 bước)</a:t>
                      </a:r>
                    </a:p>
                  </a:txBody>
                  <a:tcPr anchor="ctr" marL="36576" marR="36576" marT="9144" marB="9144">
                    <a:solidFill>
                      <a:srgbClr val="EAF7EE"/>
                    </a:solidFill>
                  </a:tcPr>
                </a:tc>
                <a:tc>
                  <a:txBody>
                    <a:bodyPr/>
                    <a:lstStyle/>
                    <a:p>
                      <a:pPr algn="l">
                        <a:defRPr sz="640">
                          <a:solidFill>
                            <a:srgbClr val="1E242B"/>
                          </a:solidFill>
                          <a:latin typeface="Arial"/>
                        </a:defRPr>
                      </a:pPr>
                      <a:r>
                        <a:t>Triển khai ngay</a:t>
                      </a:r>
                      <a:br/>
                      <a:r>
                        <a:t>(先行実施)</a:t>
                      </a:r>
                      <a:br/>
                      <a:r>
                        <a:t>Đồng bộ CN No.14</a:t>
                      </a:r>
                    </a:p>
                  </a:txBody>
                  <a:tcPr anchor="ctr" marL="36576" marR="36576" marT="9144" marB="9144">
                    <a:solidFill>
                      <a:srgbClr val="EAF7EE"/>
                    </a:solidFill>
                  </a:tcPr>
                </a:tc>
              </a:tr>
              <a:tr h="538480">
                <a:tc>
                  <a:txBody>
                    <a:bodyPr/>
                    <a:lstStyle/>
                    <a:p>
                      <a:pPr algn="ctr">
                        <a:defRPr sz="640" b="1">
                          <a:solidFill>
                            <a:srgbClr val="1E242B"/>
                          </a:solidFill>
                          <a:latin typeface="Arial"/>
                        </a:defRPr>
                      </a:pPr>
                      <a:r>
                        <a:t>No.6</a:t>
                      </a:r>
                      <a:br/>
                      <a:r>
                        <a:t>(JP/VN)</a:t>
                      </a:r>
                    </a:p>
                  </a:txBody>
                  <a:tcPr anchor="ctr" marL="36576" marR="36576" marT="9144" marB="9144">
                    <a:solidFill>
                      <a:srgbClr val="EAF7EE"/>
                    </a:solidFill>
                  </a:tcPr>
                </a:tc>
                <a:tc>
                  <a:txBody>
                    <a:bodyPr/>
                    <a:lstStyle/>
                    <a:p>
                      <a:pPr algn="l">
                        <a:defRPr sz="640">
                          <a:solidFill>
                            <a:srgbClr val="1E242B"/>
                          </a:solidFill>
                          <a:latin typeface="Arial"/>
                        </a:defRPr>
                      </a:pPr>
                      <a:r>
                        <a:t>Xóa kiểm tra cổng USB Host (U208)</a:t>
                      </a:r>
                      <a:br/>
                      <a:r>
                        <a:t>(USBホスト検査の廃止)</a:t>
                      </a:r>
                    </a:p>
                  </a:txBody>
                  <a:tcPr anchor="ctr" marL="36576" marR="36576" marT="9144" marB="9144">
                    <a:solidFill>
                      <a:srgbClr val="EAF7EE"/>
                    </a:solidFill>
                  </a:tcPr>
                </a:tc>
                <a:tc>
                  <a:txBody>
                    <a:bodyPr/>
                    <a:lstStyle/>
                    <a:p>
                      <a:pPr algn="l">
                        <a:defRPr sz="640">
                          <a:solidFill>
                            <a:srgbClr val="1E242B"/>
                          </a:solidFill>
                          <a:latin typeface="Arial"/>
                        </a:defRPr>
                      </a:pPr>
                      <a:r>
                        <a:t>Bảo chứng cổng USB ngay trong bước cắm USB nạp Firmware đầu chuyền.</a:t>
                      </a:r>
                    </a:p>
                  </a:txBody>
                  <a:tcPr anchor="ctr" marL="36576" marR="36576" marT="9144" marB="9144">
                    <a:solidFill>
                      <a:srgbClr val="EAF7EE"/>
                    </a:solidFill>
                  </a:tcPr>
                </a:tc>
                <a:tc>
                  <a:txBody>
                    <a:bodyPr/>
                    <a:lstStyle/>
                    <a:p>
                      <a:pPr algn="ctr">
                        <a:defRPr sz="640">
                          <a:solidFill>
                            <a:srgbClr val="1E242B"/>
                          </a:solidFill>
                          <a:latin typeface="Arial"/>
                        </a:defRPr>
                      </a:pPr>
                      <a:r>
                        <a:t>-3,96 s</a:t>
                      </a:r>
                      <a:br/>
                      <a:r>
                        <a:t>(-2,24s công thức)</a:t>
                      </a:r>
                      <a:br/>
                      <a:r>
                        <a:t>(3 bước)</a:t>
                      </a:r>
                    </a:p>
                  </a:txBody>
                  <a:tcPr anchor="ctr" marL="36576" marR="36576" marT="9144" marB="9144">
                    <a:solidFill>
                      <a:srgbClr val="EAF7EE"/>
                    </a:solidFill>
                  </a:tcPr>
                </a:tc>
                <a:tc>
                  <a:txBody>
                    <a:bodyPr/>
                    <a:lstStyle/>
                    <a:p>
                      <a:pPr algn="l">
                        <a:defRPr sz="640">
                          <a:solidFill>
                            <a:srgbClr val="1E242B"/>
                          </a:solidFill>
                          <a:latin typeface="Arial"/>
                        </a:defRPr>
                      </a:pPr>
                      <a:r>
                        <a:t>Triển khai ngay</a:t>
                      </a:r>
                      <a:br/>
                      <a:r>
                        <a:t>(先行実施)</a:t>
                      </a:r>
                      <a:br/>
                      <a:r>
                        <a:t>Thay Robot No.24</a:t>
                      </a:r>
                    </a:p>
                  </a:txBody>
                  <a:tcPr anchor="ctr" marL="36576" marR="36576" marT="9144" marB="9144">
                    <a:solidFill>
                      <a:srgbClr val="EAF7EE"/>
                    </a:solidFill>
                  </a:tcPr>
                </a:tc>
              </a:tr>
              <a:tr h="538480">
                <a:tc>
                  <a:txBody>
                    <a:bodyPr/>
                    <a:lstStyle/>
                    <a:p>
                      <a:pPr algn="ctr">
                        <a:defRPr sz="640" b="1">
                          <a:solidFill>
                            <a:srgbClr val="1E242B"/>
                          </a:solidFill>
                          <a:latin typeface="Arial"/>
                        </a:defRPr>
                      </a:pPr>
                      <a:r>
                        <a:t>No.7</a:t>
                      </a:r>
                      <a:br/>
                      <a:r>
                        <a:t>(JP)</a:t>
                      </a:r>
                    </a:p>
                  </a:txBody>
                  <a:tcPr anchor="ctr" marL="36576" marR="36576" marT="9144" marB="9144">
                    <a:solidFill>
                      <a:srgbClr val="EAF7EE"/>
                    </a:solidFill>
                  </a:tcPr>
                </a:tc>
                <a:tc>
                  <a:txBody>
                    <a:bodyPr/>
                    <a:lstStyle/>
                    <a:p>
                      <a:pPr algn="l">
                        <a:defRPr sz="640">
                          <a:solidFill>
                            <a:srgbClr val="1E242B"/>
                          </a:solidFill>
                          <a:latin typeface="Arial"/>
                        </a:defRPr>
                      </a:pPr>
                      <a:r>
                        <a:t>Xóa điều chỉnh độ lệch khay bằng U051</a:t>
                      </a:r>
                      <a:br/>
                      <a:r>
                        <a:t>(U051トレイ寄り調整の廃止)</a:t>
                      </a:r>
                    </a:p>
                  </a:txBody>
                  <a:tcPr anchor="ctr" marL="36576" marR="36576" marT="9144" marB="9144">
                    <a:solidFill>
                      <a:srgbClr val="EAF7EE"/>
                    </a:solidFill>
                  </a:tcPr>
                </a:tc>
                <a:tc>
                  <a:txBody>
                    <a:bodyPr/>
                    <a:lstStyle/>
                    <a:p>
                      <a:pPr algn="l">
                        <a:defRPr sz="640">
                          <a:solidFill>
                            <a:srgbClr val="1E242B"/>
                          </a:solidFill>
                          <a:latin typeface="Arial"/>
                        </a:defRPr>
                      </a:pPr>
                      <a:r>
                        <a:t>Cố định cơ khí chính xác để giảm tần suất phải chỉnh U051 trên chuyền.</a:t>
                      </a:r>
                    </a:p>
                  </a:txBody>
                  <a:tcPr anchor="ctr" marL="36576" marR="36576" marT="9144" marB="9144">
                    <a:solidFill>
                      <a:srgbClr val="EAF7EE"/>
                    </a:solidFill>
                  </a:tcPr>
                </a:tc>
                <a:tc>
                  <a:txBody>
                    <a:bodyPr/>
                    <a:lstStyle/>
                    <a:p>
                      <a:pPr algn="ctr">
                        <a:defRPr sz="640">
                          <a:solidFill>
                            <a:srgbClr val="1E242B"/>
                          </a:solidFill>
                          <a:latin typeface="Arial"/>
                        </a:defRPr>
                      </a:pPr>
                      <a:r>
                        <a:t>-9,50 s</a:t>
                      </a:r>
                      <a:br/>
                      <a:r>
                        <a:t>(trong công thức)</a:t>
                      </a:r>
                    </a:p>
                  </a:txBody>
                  <a:tcPr anchor="ctr" marL="36576" marR="36576" marT="9144" marB="9144">
                    <a:solidFill>
                      <a:srgbClr val="EAF7EE"/>
                    </a:solidFill>
                  </a:tcPr>
                </a:tc>
                <a:tc>
                  <a:txBody>
                    <a:bodyPr/>
                    <a:lstStyle/>
                    <a:p>
                      <a:pPr algn="l">
                        <a:defRPr sz="640">
                          <a:solidFill>
                            <a:srgbClr val="1E242B"/>
                          </a:solidFill>
                          <a:latin typeface="Arial"/>
                        </a:defRPr>
                      </a:pPr>
                      <a:r>
                        <a:t>Triển khai ngay</a:t>
                      </a:r>
                      <a:br/>
                      <a:r>
                        <a:t>(先行実施)</a:t>
                      </a:r>
                      <a:br/>
                      <a:r>
                        <a:t>(Row 21)</a:t>
                      </a:r>
                    </a:p>
                  </a:txBody>
                  <a:tcPr anchor="ctr" marL="36576" marR="36576" marT="9144" marB="9144">
                    <a:solidFill>
                      <a:srgbClr val="EAF7EE"/>
                    </a:solidFill>
                  </a:tcPr>
                </a:tc>
              </a:tr>
              <a:tr h="538480">
                <a:tc>
                  <a:txBody>
                    <a:bodyPr/>
                    <a:lstStyle/>
                    <a:p>
                      <a:pPr algn="ctr">
                        <a:defRPr sz="640" b="1">
                          <a:solidFill>
                            <a:srgbClr val="1E242B"/>
                          </a:solidFill>
                          <a:latin typeface="Arial"/>
                        </a:defRPr>
                      </a:pPr>
                      <a:r>
                        <a:t>Tổng JP</a:t>
                      </a:r>
                      <a:br/>
                      <a:r>
                        <a:t>&amp; Tham chiếu</a:t>
                      </a:r>
                    </a:p>
                  </a:txBody>
                  <a:tcPr anchor="ctr" marL="36576" marR="36576" marT="9144" marB="9144">
                    <a:solidFill>
                      <a:srgbClr val="E8EEF5"/>
                    </a:solidFill>
                  </a:tcPr>
                </a:tc>
                <a:tc>
                  <a:txBody>
                    <a:bodyPr/>
                    <a:lstStyle/>
                    <a:p>
                      <a:pPr algn="l">
                        <a:defRPr sz="640">
                          <a:solidFill>
                            <a:srgbClr val="1E242B"/>
                          </a:solidFill>
                          <a:latin typeface="Arial"/>
                        </a:defRPr>
                      </a:pPr>
                      <a:r>
                        <a:t>• Công thức 既存機との工数比較: -87,84s vs Iris2024 (-176,84s vs 改善無)</a:t>
                      </a:r>
                      <a:br/>
                      <a:r>
                        <a:t>• Tổng bước 削 (147) + 削除確定 (6) trên 工程表: -267,74s Color / -263,06s Mono</a:t>
                      </a:r>
                    </a:p>
                  </a:txBody>
                  <a:tcPr anchor="ctr" marL="36576" marR="36576" marT="9144" marB="9144">
                    <a:solidFill>
                      <a:srgbClr val="E8EEF5"/>
                    </a:solidFill>
                  </a:tcPr>
                </a:tc>
                <a:tc>
                  <a:txBody>
                    <a:bodyPr/>
                    <a:lstStyle/>
                    <a:p>
                      <a:pPr algn="l">
                        <a:defRPr sz="640">
                          <a:solidFill>
                            <a:srgbClr val="1E242B"/>
                          </a:solidFill>
                          <a:latin typeface="Arial"/>
                        </a:defRPr>
                      </a:pPr>
                      <a:r>
                        <a:t>• Phần cứng tự động: Hệ Spica Mini PC (~40.000 JPY/bộ nối 4 máy)</a:t>
                      </a:r>
                      <a:br/>
                      <a:r>
                        <a:t>• Xóa U413 bằng PM: 225~250 vạn JPY</a:t>
                      </a:r>
                    </a:p>
                  </a:txBody>
                  <a:tcPr anchor="ctr" marL="36576" marR="36576" marT="9144" marB="9144">
                    <a:solidFill>
                      <a:srgbClr val="E8EEF5"/>
                    </a:solidFill>
                  </a:tcPr>
                </a:tc>
                <a:tc>
                  <a:txBody>
                    <a:bodyPr/>
                    <a:lstStyle/>
                    <a:p>
                      <a:pPr algn="ctr">
                        <a:defRPr sz="640">
                          <a:solidFill>
                            <a:srgbClr val="1E242B"/>
                          </a:solidFill>
                          <a:latin typeface="Arial"/>
                        </a:defRPr>
                      </a:pPr>
                      <a:r>
                        <a:t>-87,84 s</a:t>
                      </a:r>
                      <a:br/>
                      <a:r>
                        <a:t>~ -267,74 s</a:t>
                      </a:r>
                    </a:p>
                  </a:txBody>
                  <a:tcPr anchor="ctr" marL="36576" marR="36576" marT="9144" marB="9144">
                    <a:solidFill>
                      <a:srgbClr val="E8EEF5"/>
                    </a:solidFill>
                  </a:tcPr>
                </a:tc>
                <a:tc>
                  <a:txBody>
                    <a:bodyPr/>
                    <a:lstStyle/>
                    <a:p>
                      <a:pPr algn="l">
                        <a:defRPr sz="640">
                          <a:solidFill>
                            <a:srgbClr val="1E242B"/>
                          </a:solidFill>
                          <a:latin typeface="Arial"/>
                        </a:defRPr>
                      </a:pPr>
                      <a:r>
                        <a:t>Mini PC: ~40k JPY</a:t>
                      </a:r>
                      <a:br/>
                      <a:r>
                        <a:t>U413: 225~250 vạn JPY</a:t>
                      </a:r>
                    </a:p>
                  </a:txBody>
                  <a:tcPr anchor="ctr" marL="36576" marR="36576" marT="9144" marB="9144">
                    <a:solidFill>
                      <a:srgbClr val="E8EEF5"/>
                    </a:solidFill>
                  </a:tcPr>
                </a:tc>
              </a:tr>
            </a:tbl>
          </a:graphicData>
        </a:graphic>
      </p:graphicFrame>
      <p:sp>
        <p:nvSpPr>
          <p:cNvPr id="9" name="TextBox 8"/>
          <p:cNvSpPr txBox="1"/>
          <p:nvPr/>
        </p:nvSpPr>
        <p:spPr>
          <a:xfrm>
            <a:off x="5852160" y="1216152"/>
            <a:ext cx="6065215" cy="201168"/>
          </a:xfrm>
          <a:prstGeom prst="rect">
            <a:avLst/>
          </a:prstGeom>
          <a:noFill/>
        </p:spPr>
        <p:txBody>
          <a:bodyPr wrap="square" lIns="18288" rIns="18288" tIns="9144" bIns="9144">
            <a:spAutoFit/>
          </a:bodyPr>
          <a:lstStyle/>
          <a:p>
            <a:pPr>
              <a:defRPr sz="780" b="1">
                <a:solidFill>
                  <a:srgbClr val="1B365D"/>
                </a:solidFill>
                <a:latin typeface="Arial"/>
              </a:defRPr>
            </a:pPr>
            <a:r>
              <a:t>■ 11 ĐỀ ÁN TRUNG QUỐC (CN: No.8 ~ No.17, No.38) | Nguồn: IrisEXP cn改善案list.xlsx &amp; まとめ</a:t>
            </a:r>
          </a:p>
        </p:txBody>
      </p:sp>
      <p:graphicFrame>
        <p:nvGraphicFramePr>
          <p:cNvPr id="10" name="Table 9"/>
          <p:cNvGraphicFramePr>
            <a:graphicFrameLocks noGrp="1"/>
          </p:cNvGraphicFramePr>
          <p:nvPr/>
        </p:nvGraphicFramePr>
        <p:xfrm>
          <a:off x="5852160" y="1426464"/>
          <a:ext cx="6065215" cy="4846320"/>
        </p:xfrm>
        <a:graphic>
          <a:graphicData uri="http://schemas.openxmlformats.org/drawingml/2006/table">
            <a:tbl>
              <a:tblPr firstRow="1" bandRow="1">
                <a:tableStyleId>{5C22544A-7EE6-4342-B048-85BDC9FD1C3A}</a:tableStyleId>
              </a:tblPr>
              <a:tblGrid>
                <a:gridCol w="594360"/>
                <a:gridCol w="1783080"/>
                <a:gridCol w="1676095"/>
                <a:gridCol w="960120"/>
                <a:gridCol w="1051560"/>
              </a:tblGrid>
              <a:tr h="403860">
                <a:tc>
                  <a:txBody>
                    <a:bodyPr/>
                    <a:lstStyle/>
                    <a:p>
                      <a:pPr algn="ctr">
                        <a:defRPr sz="680" b="1">
                          <a:solidFill>
                            <a:srgbClr val="FFFFFF"/>
                          </a:solidFill>
                          <a:latin typeface="Arial"/>
                        </a:defRPr>
                      </a:pPr>
                      <a:r>
                        <a:t>Mã số</a:t>
                      </a:r>
                    </a:p>
                  </a:txBody>
                  <a:tcPr anchor="ctr" marL="36576" marR="36576" marT="9144" marB="9144">
                    <a:solidFill>
                      <a:srgbClr val="1B365D"/>
                    </a:solidFill>
                  </a:tcPr>
                </a:tc>
                <a:tc>
                  <a:txBody>
                    <a:bodyPr/>
                    <a:lstStyle/>
                    <a:p>
                      <a:pPr algn="ctr">
                        <a:defRPr sz="680" b="1">
                          <a:solidFill>
                            <a:srgbClr val="FFFFFF"/>
                          </a:solidFill>
                          <a:latin typeface="Arial"/>
                        </a:defRPr>
                      </a:pPr>
                      <a:r>
                        <a:t>Tên đề án CN (IrisEXP cn改善案list)</a:t>
                      </a:r>
                    </a:p>
                  </a:txBody>
                  <a:tcPr anchor="ctr" marL="36576" marR="36576" marT="9144" marB="9144">
                    <a:solidFill>
                      <a:srgbClr val="1B365D"/>
                    </a:solidFill>
                  </a:tcPr>
                </a:tc>
                <a:tc>
                  <a:txBody>
                    <a:bodyPr/>
                    <a:lstStyle/>
                    <a:p>
                      <a:pPr algn="ctr">
                        <a:defRPr sz="680" b="1">
                          <a:solidFill>
                            <a:srgbClr val="FFFFFF"/>
                          </a:solidFill>
                          <a:latin typeface="Arial"/>
                        </a:defRPr>
                      </a:pPr>
                      <a:r>
                        <a:t>Nội dung giải pháp đề xuất</a:t>
                      </a:r>
                    </a:p>
                  </a:txBody>
                  <a:tcPr anchor="ctr" marL="36576" marR="36576" marT="9144" marB="9144">
                    <a:solidFill>
                      <a:srgbClr val="1B365D"/>
                    </a:solidFill>
                  </a:tcPr>
                </a:tc>
                <a:tc>
                  <a:txBody>
                    <a:bodyPr/>
                    <a:lstStyle/>
                    <a:p>
                      <a:pPr algn="ctr">
                        <a:defRPr sz="680" b="1">
                          <a:solidFill>
                            <a:srgbClr val="FFFFFF"/>
                          </a:solidFill>
                          <a:latin typeface="Arial"/>
                        </a:defRPr>
                      </a:pPr>
                      <a:r>
                        <a:t>Giảm TG (s)</a:t>
                      </a:r>
                    </a:p>
                  </a:txBody>
                  <a:tcPr anchor="ctr" marL="36576" marR="36576" marT="9144" marB="9144">
                    <a:solidFill>
                      <a:srgbClr val="1B365D"/>
                    </a:solidFill>
                  </a:tcPr>
                </a:tc>
                <a:tc>
                  <a:txBody>
                    <a:bodyPr/>
                    <a:lstStyle/>
                    <a:p>
                      <a:pPr algn="ctr">
                        <a:defRPr sz="680" b="1">
                          <a:solidFill>
                            <a:srgbClr val="FFFFFF"/>
                          </a:solidFill>
                          <a:latin typeface="Arial"/>
                        </a:defRPr>
                      </a:pPr>
                      <a:r>
                        <a:t>Tiết kiệm / Báo giá</a:t>
                      </a:r>
                    </a:p>
                  </a:txBody>
                  <a:tcPr anchor="ctr" marL="36576" marR="36576" marT="9144" marB="9144">
                    <a:solidFill>
                      <a:srgbClr val="1B365D"/>
                    </a:solidFill>
                  </a:tcPr>
                </a:tc>
              </a:tr>
              <a:tr h="403860">
                <a:tc>
                  <a:txBody>
                    <a:bodyPr/>
                    <a:lstStyle/>
                    <a:p>
                      <a:pPr algn="ctr">
                        <a:defRPr sz="590" b="1">
                          <a:solidFill>
                            <a:srgbClr val="1E242B"/>
                          </a:solidFill>
                          <a:latin typeface="Arial"/>
                        </a:defRPr>
                      </a:pPr>
                      <a:r>
                        <a:t>No.8 (R2)</a:t>
                      </a:r>
                    </a:p>
                  </a:txBody>
                  <a:tcPr anchor="ctr" marL="36576" marR="36576" marT="9144" marB="9144">
                    <a:solidFill>
                      <a:srgbClr val="EAF7EE"/>
                    </a:solidFill>
                  </a:tcPr>
                </a:tc>
                <a:tc>
                  <a:txBody>
                    <a:bodyPr/>
                    <a:lstStyle/>
                    <a:p>
                      <a:pPr algn="l">
                        <a:defRPr sz="590">
                          <a:solidFill>
                            <a:srgbClr val="1E242B"/>
                          </a:solidFill>
                          <a:latin typeface="Arial"/>
                        </a:defRPr>
                      </a:pPr>
                      <a:r>
                        <a:t>Giảm số tờ in kiểm tra hình ảnh (画像検査サンプル枚数の削減)</a:t>
                      </a:r>
                    </a:p>
                  </a:txBody>
                  <a:tcPr anchor="ctr" marL="36576" marR="36576" marT="9144" marB="9144">
                    <a:solidFill>
                      <a:srgbClr val="EAF7EE"/>
                    </a:solidFill>
                  </a:tcPr>
                </a:tc>
                <a:tc>
                  <a:txBody>
                    <a:bodyPr/>
                    <a:lstStyle/>
                    <a:p>
                      <a:pPr algn="l">
                        <a:defRPr sz="590">
                          <a:solidFill>
                            <a:srgbClr val="1E242B"/>
                          </a:solidFill>
                          <a:latin typeface="Arial"/>
                        </a:defRPr>
                      </a:pPr>
                      <a:r>
                        <a:t>Tích hợp và giảm số mẫu in kiểm tra (từ 17 tờ xuống 9 tờ theo chuẩn Athena).</a:t>
                      </a:r>
                    </a:p>
                  </a:txBody>
                  <a:tcPr anchor="ctr" marL="36576" marR="36576" marT="9144" marB="9144">
                    <a:solidFill>
                      <a:srgbClr val="EAF7EE"/>
                    </a:solidFill>
                  </a:tcPr>
                </a:tc>
                <a:tc>
                  <a:txBody>
                    <a:bodyPr/>
                    <a:lstStyle/>
                    <a:p>
                      <a:pPr algn="ctr">
                        <a:defRPr sz="590">
                          <a:solidFill>
                            <a:srgbClr val="1E242B"/>
                          </a:solidFill>
                          <a:latin typeface="Arial"/>
                        </a:defRPr>
                      </a:pPr>
                      <a:r>
                        <a:t>-63,36 s</a:t>
                      </a:r>
                      <a:br/>
                      <a:r>
                        <a:t>(52 bước)</a:t>
                      </a:r>
                    </a:p>
                  </a:txBody>
                  <a:tcPr anchor="ctr" marL="36576" marR="36576" marT="9144" marB="9144">
                    <a:solidFill>
                      <a:srgbClr val="EAF7EE"/>
                    </a:solidFill>
                  </a:tcPr>
                </a:tc>
                <a:tc>
                  <a:txBody>
                    <a:bodyPr/>
                    <a:lstStyle/>
                    <a:p>
                      <a:pPr algn="l">
                        <a:defRPr sz="590">
                          <a:solidFill>
                            <a:srgbClr val="1E242B"/>
                          </a:solidFill>
                          <a:latin typeface="Arial"/>
                        </a:defRPr>
                      </a:pPr>
                      <a:r>
                        <a:t>Tiết kiệm: 4.500 RMB/th</a:t>
                      </a:r>
                      <a:br/>
                      <a:r>
                        <a:t>(0 đồng TB)</a:t>
                      </a:r>
                    </a:p>
                  </a:txBody>
                  <a:tcPr anchor="ctr" marL="36576" marR="36576" marT="9144" marB="9144">
                    <a:solidFill>
                      <a:srgbClr val="EAF7EE"/>
                    </a:solidFill>
                  </a:tcPr>
                </a:tc>
              </a:tr>
              <a:tr h="403860">
                <a:tc>
                  <a:txBody>
                    <a:bodyPr/>
                    <a:lstStyle/>
                    <a:p>
                      <a:pPr algn="ctr">
                        <a:defRPr sz="590" b="1">
                          <a:solidFill>
                            <a:srgbClr val="1E242B"/>
                          </a:solidFill>
                          <a:latin typeface="Arial"/>
                        </a:defRPr>
                      </a:pPr>
                      <a:r>
                        <a:t>No.9 (R4)</a:t>
                      </a:r>
                    </a:p>
                  </a:txBody>
                  <a:tcPr anchor="ctr" marL="36576" marR="36576" marT="9144" marB="9144">
                    <a:solidFill>
                      <a:srgbClr val="F7F9FC"/>
                    </a:solidFill>
                  </a:tcPr>
                </a:tc>
                <a:tc>
                  <a:txBody>
                    <a:bodyPr/>
                    <a:lstStyle/>
                    <a:p>
                      <a:pPr algn="l">
                        <a:defRPr sz="590">
                          <a:solidFill>
                            <a:srgbClr val="1E242B"/>
                          </a:solidFill>
                          <a:latin typeface="Arial"/>
                        </a:defRPr>
                      </a:pPr>
                      <a:r>
                        <a:t>Thay đổi phương pháp kiểm tra khay tay MPF (手差しトレイ検査方法変更)</a:t>
                      </a:r>
                    </a:p>
                  </a:txBody>
                  <a:tcPr anchor="ctr" marL="36576" marR="36576" marT="9144" marB="9144">
                    <a:solidFill>
                      <a:srgbClr val="F7F9FC"/>
                    </a:solidFill>
                  </a:tcPr>
                </a:tc>
                <a:tc>
                  <a:txBody>
                    <a:bodyPr/>
                    <a:lstStyle/>
                    <a:p>
                      <a:pPr algn="l">
                        <a:defRPr sz="590">
                          <a:solidFill>
                            <a:srgbClr val="1E242B"/>
                          </a:solidFill>
                          <a:latin typeface="Arial"/>
                        </a:defRPr>
                      </a:pPr>
                      <a:r>
                        <a:t>Kiểm tra cảm biến MPF bằng tín hiệu tự động thay vì đặt giấy thử nhiều khổ.</a:t>
                      </a:r>
                    </a:p>
                  </a:txBody>
                  <a:tcPr anchor="ctr" marL="36576" marR="36576" marT="9144" marB="9144">
                    <a:solidFill>
                      <a:srgbClr val="F7F9FC"/>
                    </a:solidFill>
                  </a:tcPr>
                </a:tc>
                <a:tc>
                  <a:txBody>
                    <a:bodyPr/>
                    <a:lstStyle/>
                    <a:p>
                      <a:pPr algn="ctr">
                        <a:defRPr sz="590">
                          <a:solidFill>
                            <a:srgbClr val="1E242B"/>
                          </a:solidFill>
                          <a:latin typeface="Arial"/>
                        </a:defRPr>
                      </a:pPr>
                      <a:r>
                        <a:t>-1,40 s</a:t>
                      </a:r>
                      <a:br/>
                      <a:r>
                        <a:t>(6 bước)</a:t>
                      </a:r>
                    </a:p>
                  </a:txBody>
                  <a:tcPr anchor="ctr" marL="36576" marR="36576" marT="9144" marB="9144">
                    <a:solidFill>
                      <a:srgbClr val="F7F9FC"/>
                    </a:solidFill>
                  </a:tcPr>
                </a:tc>
                <a:tc>
                  <a:txBody>
                    <a:bodyPr/>
                    <a:lstStyle/>
                    <a:p>
                      <a:pPr algn="l">
                        <a:defRPr sz="590">
                          <a:solidFill>
                            <a:srgbClr val="1E242B"/>
                          </a:solidFill>
                          <a:latin typeface="Arial"/>
                        </a:defRPr>
                      </a:pPr>
                      <a:r>
                        <a:t>Chờ TK JP xác nhận</a:t>
                      </a:r>
                      <a:br/>
                      <a:r>
                        <a:t>(Row 23)</a:t>
                      </a:r>
                    </a:p>
                  </a:txBody>
                  <a:tcPr anchor="ctr" marL="36576" marR="36576" marT="9144" marB="9144">
                    <a:solidFill>
                      <a:srgbClr val="F7F9FC"/>
                    </a:solidFill>
                  </a:tcPr>
                </a:tc>
              </a:tr>
              <a:tr h="403860">
                <a:tc>
                  <a:txBody>
                    <a:bodyPr/>
                    <a:lstStyle/>
                    <a:p>
                      <a:pPr algn="ctr">
                        <a:defRPr sz="590" b="1">
                          <a:solidFill>
                            <a:srgbClr val="1E242B"/>
                          </a:solidFill>
                          <a:latin typeface="Arial"/>
                        </a:defRPr>
                      </a:pPr>
                      <a:r>
                        <a:t>No.10 (R5)</a:t>
                      </a:r>
                    </a:p>
                  </a:txBody>
                  <a:tcPr anchor="ctr" marL="36576" marR="36576" marT="9144" marB="9144">
                    <a:solidFill>
                      <a:srgbClr val="EAF7EE"/>
                    </a:solidFill>
                  </a:tcPr>
                </a:tc>
                <a:tc>
                  <a:txBody>
                    <a:bodyPr/>
                    <a:lstStyle/>
                    <a:p>
                      <a:pPr algn="l">
                        <a:defRPr sz="590">
                          <a:solidFill>
                            <a:srgbClr val="1E242B"/>
                          </a:solidFill>
                          <a:latin typeface="Arial"/>
                        </a:defRPr>
                      </a:pPr>
                      <a:r>
                        <a:t>Xóa kiểm tra mắt thường PPT (PPT目視検査の廃止)</a:t>
                      </a:r>
                    </a:p>
                  </a:txBody>
                  <a:tcPr anchor="ctr" marL="36576" marR="36576" marT="9144" marB="9144">
                    <a:solidFill>
                      <a:srgbClr val="EAF7EE"/>
                    </a:solidFill>
                  </a:tcPr>
                </a:tc>
                <a:tc>
                  <a:txBody>
                    <a:bodyPr/>
                    <a:lstStyle/>
                    <a:p>
                      <a:pPr algn="l">
                        <a:defRPr sz="590">
                          <a:solidFill>
                            <a:srgbClr val="1E242B"/>
                          </a:solidFill>
                          <a:latin typeface="Arial"/>
                        </a:defRPr>
                      </a:pPr>
                      <a:r>
                        <a:t>Xóa bước dùng kính lúp soi chấm mực PPT trên tờ in GY (đồng bộ VN No.27).</a:t>
                      </a:r>
                    </a:p>
                  </a:txBody>
                  <a:tcPr anchor="ctr" marL="36576" marR="36576" marT="9144" marB="9144">
                    <a:solidFill>
                      <a:srgbClr val="EAF7EE"/>
                    </a:solidFill>
                  </a:tcPr>
                </a:tc>
                <a:tc>
                  <a:txBody>
                    <a:bodyPr/>
                    <a:lstStyle/>
                    <a:p>
                      <a:pPr algn="ctr">
                        <a:defRPr sz="590">
                          <a:solidFill>
                            <a:srgbClr val="1E242B"/>
                          </a:solidFill>
                          <a:latin typeface="Arial"/>
                        </a:defRPr>
                      </a:pPr>
                      <a:r>
                        <a:t>-22,50 s (CN)</a:t>
                      </a:r>
                      <a:br/>
                      <a:r>
                        <a:t>[-10,0s VN]</a:t>
                      </a:r>
                    </a:p>
                  </a:txBody>
                  <a:tcPr anchor="ctr" marL="36576" marR="36576" marT="9144" marB="9144">
                    <a:solidFill>
                      <a:srgbClr val="EAF7EE"/>
                    </a:solidFill>
                  </a:tcPr>
                </a:tc>
                <a:tc>
                  <a:txBody>
                    <a:bodyPr/>
                    <a:lstStyle/>
                    <a:p>
                      <a:pPr algn="l">
                        <a:defRPr sz="590">
                          <a:solidFill>
                            <a:srgbClr val="1E242B"/>
                          </a:solidFill>
                          <a:latin typeface="Arial"/>
                        </a:defRPr>
                      </a:pPr>
                      <a:r>
                        <a:t>ĐÃ DUYỆT XÓA</a:t>
                      </a:r>
                      <a:br/>
                      <a:r>
                        <a:t>(Row 24)</a:t>
                      </a:r>
                    </a:p>
                  </a:txBody>
                  <a:tcPr anchor="ctr" marL="36576" marR="36576" marT="9144" marB="9144">
                    <a:solidFill>
                      <a:srgbClr val="EAF7EE"/>
                    </a:solidFill>
                  </a:tcPr>
                </a:tc>
              </a:tr>
              <a:tr h="403860">
                <a:tc>
                  <a:txBody>
                    <a:bodyPr/>
                    <a:lstStyle/>
                    <a:p>
                      <a:pPr algn="ctr">
                        <a:defRPr sz="590" b="1">
                          <a:solidFill>
                            <a:srgbClr val="1E242B"/>
                          </a:solidFill>
                          <a:latin typeface="Arial"/>
                        </a:defRPr>
                      </a:pPr>
                      <a:r>
                        <a:t>No.11 (R6)</a:t>
                      </a:r>
                    </a:p>
                  </a:txBody>
                  <a:tcPr anchor="ctr" marL="36576" marR="36576" marT="9144" marB="9144">
                    <a:solidFill>
                      <a:srgbClr val="F7F9FC"/>
                    </a:solidFill>
                  </a:tcPr>
                </a:tc>
                <a:tc>
                  <a:txBody>
                    <a:bodyPr/>
                    <a:lstStyle/>
                    <a:p>
                      <a:pPr algn="l">
                        <a:defRPr sz="590">
                          <a:solidFill>
                            <a:srgbClr val="1E242B"/>
                          </a:solidFill>
                          <a:latin typeface="Arial"/>
                        </a:defRPr>
                      </a:pPr>
                      <a:r>
                        <a:t>Đổi sang băng tải có thanh dẫn điện tiếp xúc (導電バー付きコンベア)</a:t>
                      </a:r>
                    </a:p>
                  </a:txBody>
                  <a:tcPr anchor="ctr" marL="36576" marR="36576" marT="9144" marB="9144">
                    <a:solidFill>
                      <a:srgbClr val="F7F9FC"/>
                    </a:solidFill>
                  </a:tcPr>
                </a:tc>
                <a:tc>
                  <a:txBody>
                    <a:bodyPr/>
                    <a:lstStyle/>
                    <a:p>
                      <a:pPr algn="l">
                        <a:defRPr sz="590">
                          <a:solidFill>
                            <a:srgbClr val="1E242B"/>
                          </a:solidFill>
                          <a:latin typeface="Arial"/>
                        </a:defRPr>
                      </a:pPr>
                      <a:r>
                        <a:t>Cấp nguồn tự động cho máy di chuyển trên chuyền không cần cắm/rút phích nguồn.</a:t>
                      </a:r>
                    </a:p>
                  </a:txBody>
                  <a:tcPr anchor="ctr" marL="36576" marR="36576" marT="9144" marB="9144">
                    <a:solidFill>
                      <a:srgbClr val="F7F9FC"/>
                    </a:solidFill>
                  </a:tcPr>
                </a:tc>
                <a:tc>
                  <a:txBody>
                    <a:bodyPr/>
                    <a:lstStyle/>
                    <a:p>
                      <a:pPr algn="ctr">
                        <a:defRPr sz="590">
                          <a:solidFill>
                            <a:srgbClr val="1E242B"/>
                          </a:solidFill>
                          <a:latin typeface="Arial"/>
                        </a:defRPr>
                      </a:pPr>
                      <a:r>
                        <a:t>-31,40 s</a:t>
                      </a:r>
                      <a:br/>
                      <a:r>
                        <a:t>(14 bước)</a:t>
                      </a:r>
                    </a:p>
                  </a:txBody>
                  <a:tcPr anchor="ctr" marL="36576" marR="36576" marT="9144" marB="9144">
                    <a:solidFill>
                      <a:srgbClr val="F7F9FC"/>
                    </a:solidFill>
                  </a:tcPr>
                </a:tc>
                <a:tc>
                  <a:txBody>
                    <a:bodyPr/>
                    <a:lstStyle/>
                    <a:p>
                      <a:pPr algn="l">
                        <a:defRPr sz="590">
                          <a:solidFill>
                            <a:srgbClr val="1E242B"/>
                          </a:solidFill>
                          <a:latin typeface="Arial"/>
                        </a:defRPr>
                      </a:pPr>
                      <a:r>
                        <a:t>TK: 3.060 RMB/tháng</a:t>
                      </a:r>
                      <a:br/>
                      <a:r>
                        <a:t>Giá TB: Đang báo giá</a:t>
                      </a:r>
                    </a:p>
                  </a:txBody>
                  <a:tcPr anchor="ctr" marL="36576" marR="36576" marT="9144" marB="9144">
                    <a:solidFill>
                      <a:srgbClr val="F7F9FC"/>
                    </a:solidFill>
                  </a:tcPr>
                </a:tc>
              </a:tr>
              <a:tr h="403860">
                <a:tc>
                  <a:txBody>
                    <a:bodyPr/>
                    <a:lstStyle/>
                    <a:p>
                      <a:pPr algn="ctr">
                        <a:defRPr sz="590" b="1">
                          <a:solidFill>
                            <a:srgbClr val="1E242B"/>
                          </a:solidFill>
                          <a:latin typeface="Arial"/>
                        </a:defRPr>
                      </a:pPr>
                      <a:r>
                        <a:t>No.12 (R7)</a:t>
                      </a:r>
                    </a:p>
                  </a:txBody>
                  <a:tcPr anchor="ctr" marL="36576" marR="36576" marT="9144" marB="9144">
                    <a:solidFill>
                      <a:srgbClr val="FFFFFF"/>
                    </a:solidFill>
                  </a:tcPr>
                </a:tc>
                <a:tc>
                  <a:txBody>
                    <a:bodyPr/>
                    <a:lstStyle/>
                    <a:p>
                      <a:pPr algn="l">
                        <a:defRPr sz="590">
                          <a:solidFill>
                            <a:srgbClr val="1E242B"/>
                          </a:solidFill>
                          <a:latin typeface="Arial"/>
                        </a:defRPr>
                      </a:pPr>
                      <a:r>
                        <a:t>Thiết bị/Robot tự động cắm và rút dây cáp (ケーブル自動挿抜装置)</a:t>
                      </a:r>
                    </a:p>
                  </a:txBody>
                  <a:tcPr anchor="ctr" marL="36576" marR="36576" marT="9144" marB="9144">
                    <a:solidFill>
                      <a:srgbClr val="FFFFFF"/>
                    </a:solidFill>
                  </a:tcPr>
                </a:tc>
                <a:tc>
                  <a:txBody>
                    <a:bodyPr/>
                    <a:lstStyle/>
                    <a:p>
                      <a:pPr algn="l">
                        <a:defRPr sz="590">
                          <a:solidFill>
                            <a:srgbClr val="1E242B"/>
                          </a:solidFill>
                          <a:latin typeface="Arial"/>
                        </a:defRPr>
                      </a:pPr>
                      <a:r>
                        <a:t>Tự động hóa thao tác cắm/rút cáp nguồn và cáp tín hiệu bằng cơ cấu cơ khí.</a:t>
                      </a:r>
                    </a:p>
                  </a:txBody>
                  <a:tcPr anchor="ctr" marL="36576" marR="36576" marT="9144" marB="9144">
                    <a:solidFill>
                      <a:srgbClr val="FFFFFF"/>
                    </a:solidFill>
                  </a:tcPr>
                </a:tc>
                <a:tc>
                  <a:txBody>
                    <a:bodyPr/>
                    <a:lstStyle/>
                    <a:p>
                      <a:pPr algn="ctr">
                        <a:defRPr sz="590">
                          <a:solidFill>
                            <a:srgbClr val="1E242B"/>
                          </a:solidFill>
                          <a:latin typeface="Arial"/>
                        </a:defRPr>
                      </a:pPr>
                      <a:r>
                        <a:t>-15,40 s</a:t>
                      </a:r>
                      <a:br/>
                      <a:r>
                        <a:t>(10 bước)</a:t>
                      </a:r>
                    </a:p>
                  </a:txBody>
                  <a:tcPr anchor="ctr" marL="36576" marR="36576" marT="9144" marB="9144">
                    <a:solidFill>
                      <a:srgbClr val="FFFFFF"/>
                    </a:solidFill>
                  </a:tcPr>
                </a:tc>
                <a:tc>
                  <a:txBody>
                    <a:bodyPr/>
                    <a:lstStyle/>
                    <a:p>
                      <a:pPr algn="l">
                        <a:defRPr sz="590">
                          <a:solidFill>
                            <a:srgbClr val="1E242B"/>
                          </a:solidFill>
                          <a:latin typeface="Arial"/>
                        </a:defRPr>
                      </a:pPr>
                      <a:r>
                        <a:t>Đang báo giá</a:t>
                      </a:r>
                      <a:br/>
                      <a:r>
                        <a:t>(見積中, Row 26)</a:t>
                      </a:r>
                    </a:p>
                  </a:txBody>
                  <a:tcPr anchor="ctr" marL="36576" marR="36576" marT="9144" marB="9144">
                    <a:solidFill>
                      <a:srgbClr val="FFFFFF"/>
                    </a:solidFill>
                  </a:tcPr>
                </a:tc>
              </a:tr>
              <a:tr h="403860">
                <a:tc>
                  <a:txBody>
                    <a:bodyPr/>
                    <a:lstStyle/>
                    <a:p>
                      <a:pPr algn="ctr">
                        <a:defRPr sz="590" b="1">
                          <a:solidFill>
                            <a:srgbClr val="1E242B"/>
                          </a:solidFill>
                          <a:latin typeface="Arial"/>
                        </a:defRPr>
                      </a:pPr>
                      <a:r>
                        <a:t>No.13 (R8)</a:t>
                      </a:r>
                    </a:p>
                  </a:txBody>
                  <a:tcPr anchor="ctr" marL="36576" marR="36576" marT="9144" marB="9144">
                    <a:solidFill>
                      <a:srgbClr val="F7F9FC"/>
                    </a:solidFill>
                  </a:tcPr>
                </a:tc>
                <a:tc>
                  <a:txBody>
                    <a:bodyPr/>
                    <a:lstStyle/>
                    <a:p>
                      <a:pPr algn="l">
                        <a:defRPr sz="590">
                          <a:solidFill>
                            <a:srgbClr val="1E242B"/>
                          </a:solidFill>
                          <a:latin typeface="Arial"/>
                        </a:defRPr>
                      </a:pPr>
                      <a:r>
                        <a:t>Rút ngắn thời gian chờ in mẫu kiểm tra (画像印刷待ち時間の短縮)</a:t>
                      </a:r>
                    </a:p>
                  </a:txBody>
                  <a:tcPr anchor="ctr" marL="36576" marR="36576" marT="9144" marB="9144">
                    <a:solidFill>
                      <a:srgbClr val="F7F9FC"/>
                    </a:solidFill>
                  </a:tcPr>
                </a:tc>
                <a:tc>
                  <a:txBody>
                    <a:bodyPr/>
                    <a:lstStyle/>
                    <a:p>
                      <a:pPr algn="l">
                        <a:defRPr sz="590">
                          <a:solidFill>
                            <a:srgbClr val="1E242B"/>
                          </a:solidFill>
                          <a:latin typeface="Arial"/>
                        </a:defRPr>
                      </a:pPr>
                      <a:r>
                        <a:t>Sắp xếp lại trình tự khởi động và in liên tục để giảm thời gian chờ in từ 230s -&gt; 120s.</a:t>
                      </a:r>
                    </a:p>
                  </a:txBody>
                  <a:tcPr anchor="ctr" marL="36576" marR="36576" marT="9144" marB="9144">
                    <a:solidFill>
                      <a:srgbClr val="F7F9FC"/>
                    </a:solidFill>
                  </a:tcPr>
                </a:tc>
                <a:tc>
                  <a:txBody>
                    <a:bodyPr/>
                    <a:lstStyle/>
                    <a:p>
                      <a:pPr algn="ctr">
                        <a:defRPr sz="590">
                          <a:solidFill>
                            <a:srgbClr val="1E242B"/>
                          </a:solidFill>
                          <a:latin typeface="Arial"/>
                        </a:defRPr>
                      </a:pPr>
                      <a:r>
                        <a:t>230s -&gt; 120s</a:t>
                      </a:r>
                      <a:br/>
                      <a:r>
                        <a:t>(-110,0s chờ in)</a:t>
                      </a:r>
                    </a:p>
                  </a:txBody>
                  <a:tcPr anchor="ctr" marL="36576" marR="36576" marT="9144" marB="9144">
                    <a:solidFill>
                      <a:srgbClr val="F7F9FC"/>
                    </a:solidFill>
                  </a:tcPr>
                </a:tc>
                <a:tc>
                  <a:txBody>
                    <a:bodyPr/>
                    <a:lstStyle/>
                    <a:p>
                      <a:pPr algn="l">
                        <a:defRPr sz="590">
                          <a:solidFill>
                            <a:srgbClr val="1E242B"/>
                          </a:solidFill>
                          <a:latin typeface="Arial"/>
                        </a:defRPr>
                      </a:pPr>
                      <a:r>
                        <a:t>Cải tiến FW / trình tự</a:t>
                      </a:r>
                      <a:br/>
                      <a:r>
                        <a:t>(Row 27)</a:t>
                      </a:r>
                    </a:p>
                  </a:txBody>
                  <a:tcPr anchor="ctr" marL="36576" marR="36576" marT="9144" marB="9144">
                    <a:solidFill>
                      <a:srgbClr val="F7F9FC"/>
                    </a:solidFill>
                  </a:tcPr>
                </a:tc>
              </a:tr>
              <a:tr h="403860">
                <a:tc>
                  <a:txBody>
                    <a:bodyPr/>
                    <a:lstStyle/>
                    <a:p>
                      <a:pPr algn="ctr">
                        <a:defRPr sz="590" b="1">
                          <a:solidFill>
                            <a:srgbClr val="1E242B"/>
                          </a:solidFill>
                          <a:latin typeface="Arial"/>
                        </a:defRPr>
                      </a:pPr>
                      <a:r>
                        <a:t>No.14 (R9)</a:t>
                      </a:r>
                    </a:p>
                  </a:txBody>
                  <a:tcPr anchor="ctr" marL="36576" marR="36576" marT="9144" marB="9144">
                    <a:solidFill>
                      <a:srgbClr val="EAF7EE"/>
                    </a:solidFill>
                  </a:tcPr>
                </a:tc>
                <a:tc>
                  <a:txBody>
                    <a:bodyPr/>
                    <a:lstStyle/>
                    <a:p>
                      <a:pPr algn="l">
                        <a:defRPr sz="590">
                          <a:solidFill>
                            <a:srgbClr val="1E242B"/>
                          </a:solidFill>
                          <a:latin typeface="Arial"/>
                        </a:defRPr>
                      </a:pPr>
                      <a:r>
                        <a:t>Xóa kiểm tra lấy giấy kẹt JAM thủ công (JAM処理検査の廃止)</a:t>
                      </a:r>
                    </a:p>
                  </a:txBody>
                  <a:tcPr anchor="ctr" marL="36576" marR="36576" marT="9144" marB="9144">
                    <a:solidFill>
                      <a:srgbClr val="EAF7EE"/>
                    </a:solidFill>
                  </a:tcPr>
                </a:tc>
                <a:tc>
                  <a:txBody>
                    <a:bodyPr/>
                    <a:lstStyle/>
                    <a:p>
                      <a:pPr algn="l">
                        <a:defRPr sz="590">
                          <a:solidFill>
                            <a:srgbClr val="1E242B"/>
                          </a:solidFill>
                          <a:latin typeface="Arial"/>
                        </a:defRPr>
                      </a:pPr>
                      <a:r>
                        <a:t>Đồng bộ với JP No.5 xóa bước tạo JAM và mở cửa lấy giấy kẹt trên chuyền.</a:t>
                      </a:r>
                    </a:p>
                  </a:txBody>
                  <a:tcPr anchor="ctr" marL="36576" marR="36576" marT="9144" marB="9144">
                    <a:solidFill>
                      <a:srgbClr val="EAF7EE"/>
                    </a:solidFill>
                  </a:tcPr>
                </a:tc>
                <a:tc>
                  <a:txBody>
                    <a:bodyPr/>
                    <a:lstStyle/>
                    <a:p>
                      <a:pPr algn="ctr">
                        <a:defRPr sz="590">
                          <a:solidFill>
                            <a:srgbClr val="1E242B"/>
                          </a:solidFill>
                          <a:latin typeface="Arial"/>
                        </a:defRPr>
                      </a:pPr>
                      <a:r>
                        <a:t>-3,60 s</a:t>
                      </a:r>
                      <a:br/>
                      <a:r>
                        <a:t>(3 bước)</a:t>
                      </a:r>
                    </a:p>
                  </a:txBody>
                  <a:tcPr anchor="ctr" marL="36576" marR="36576" marT="9144" marB="9144">
                    <a:solidFill>
                      <a:srgbClr val="EAF7EE"/>
                    </a:solidFill>
                  </a:tcPr>
                </a:tc>
                <a:tc>
                  <a:txBody>
                    <a:bodyPr/>
                    <a:lstStyle/>
                    <a:p>
                      <a:pPr algn="l">
                        <a:defRPr sz="590">
                          <a:solidFill>
                            <a:srgbClr val="1E242B"/>
                          </a:solidFill>
                          <a:latin typeface="Arial"/>
                        </a:defRPr>
                      </a:pPr>
                      <a:r>
                        <a:t>Tiết kiệm:</a:t>
                      </a:r>
                      <a:br/>
                      <a:r>
                        <a:t>5.000 RMB / 5.000 máy</a:t>
                      </a:r>
                    </a:p>
                  </a:txBody>
                  <a:tcPr anchor="ctr" marL="36576" marR="36576" marT="9144" marB="9144">
                    <a:solidFill>
                      <a:srgbClr val="EAF7EE"/>
                    </a:solidFill>
                  </a:tcPr>
                </a:tc>
              </a:tr>
              <a:tr h="403860">
                <a:tc>
                  <a:txBody>
                    <a:bodyPr/>
                    <a:lstStyle/>
                    <a:p>
                      <a:pPr algn="ctr">
                        <a:defRPr sz="590" b="1">
                          <a:solidFill>
                            <a:srgbClr val="1E242B"/>
                          </a:solidFill>
                          <a:latin typeface="Arial"/>
                        </a:defRPr>
                      </a:pPr>
                      <a:r>
                        <a:t>No.15 (R10)</a:t>
                      </a:r>
                    </a:p>
                  </a:txBody>
                  <a:tcPr anchor="ctr" marL="36576" marR="36576" marT="9144" marB="9144">
                    <a:solidFill>
                      <a:srgbClr val="F7F9FC"/>
                    </a:solidFill>
                  </a:tcPr>
                </a:tc>
                <a:tc>
                  <a:txBody>
                    <a:bodyPr/>
                    <a:lstStyle/>
                    <a:p>
                      <a:pPr algn="l">
                        <a:defRPr sz="590">
                          <a:solidFill>
                            <a:srgbClr val="1E242B"/>
                          </a:solidFill>
                          <a:latin typeface="Arial"/>
                        </a:defRPr>
                      </a:pPr>
                      <a:r>
                        <a:t>Cải tiến thiết lập xuất hàng không nhìn màn hình (出荷設定画面確認廃止)</a:t>
                      </a:r>
                    </a:p>
                  </a:txBody>
                  <a:tcPr anchor="ctr" marL="36576" marR="36576" marT="9144" marB="9144">
                    <a:solidFill>
                      <a:srgbClr val="F7F9FC"/>
                    </a:solidFill>
                  </a:tcPr>
                </a:tc>
                <a:tc>
                  <a:txBody>
                    <a:bodyPr/>
                    <a:lstStyle/>
                    <a:p>
                      <a:pPr algn="l">
                        <a:defRPr sz="590">
                          <a:solidFill>
                            <a:srgbClr val="1E242B"/>
                          </a:solidFill>
                          <a:latin typeface="Arial"/>
                        </a:defRPr>
                      </a:pPr>
                      <a:r>
                        <a:t>Tự động đối chiếu thông số xuất hàng trên hệ thống, bỏ bước nhìn màn hình.</a:t>
                      </a:r>
                    </a:p>
                  </a:txBody>
                  <a:tcPr anchor="ctr" marL="36576" marR="36576" marT="9144" marB="9144">
                    <a:solidFill>
                      <a:srgbClr val="F7F9FC"/>
                    </a:solidFill>
                  </a:tcPr>
                </a:tc>
                <a:tc>
                  <a:txBody>
                    <a:bodyPr/>
                    <a:lstStyle/>
                    <a:p>
                      <a:pPr algn="ctr">
                        <a:defRPr sz="590">
                          <a:solidFill>
                            <a:srgbClr val="1E242B"/>
                          </a:solidFill>
                          <a:latin typeface="Arial"/>
                        </a:defRPr>
                      </a:pPr>
                      <a:r>
                        <a:t>-1,50 s</a:t>
                      </a:r>
                      <a:br/>
                      <a:r>
                        <a:t>(5 bước)</a:t>
                      </a:r>
                    </a:p>
                  </a:txBody>
                  <a:tcPr anchor="ctr" marL="36576" marR="36576" marT="9144" marB="9144">
                    <a:solidFill>
                      <a:srgbClr val="F7F9FC"/>
                    </a:solidFill>
                  </a:tcPr>
                </a:tc>
                <a:tc>
                  <a:txBody>
                    <a:bodyPr/>
                    <a:lstStyle/>
                    <a:p>
                      <a:pPr algn="l">
                        <a:defRPr sz="590">
                          <a:solidFill>
                            <a:srgbClr val="1E242B"/>
                          </a:solidFill>
                          <a:latin typeface="Arial"/>
                        </a:defRPr>
                      </a:pPr>
                      <a:r>
                        <a:t>Tiết kiệm:</a:t>
                      </a:r>
                      <a:br/>
                      <a:r>
                        <a:t>3.600 RMB/tháng</a:t>
                      </a:r>
                    </a:p>
                  </a:txBody>
                  <a:tcPr anchor="ctr" marL="36576" marR="36576" marT="9144" marB="9144">
                    <a:solidFill>
                      <a:srgbClr val="F7F9FC"/>
                    </a:solidFill>
                  </a:tcPr>
                </a:tc>
              </a:tr>
              <a:tr h="403860">
                <a:tc>
                  <a:txBody>
                    <a:bodyPr/>
                    <a:lstStyle/>
                    <a:p>
                      <a:pPr algn="ctr">
                        <a:defRPr sz="590" b="1">
                          <a:solidFill>
                            <a:srgbClr val="1E242B"/>
                          </a:solidFill>
                          <a:latin typeface="Arial"/>
                        </a:defRPr>
                      </a:pPr>
                      <a:r>
                        <a:t>No.16 (R11)</a:t>
                      </a:r>
                    </a:p>
                  </a:txBody>
                  <a:tcPr anchor="ctr" marL="36576" marR="36576" marT="9144" marB="9144">
                    <a:solidFill>
                      <a:srgbClr val="FFFFFF"/>
                    </a:solidFill>
                  </a:tcPr>
                </a:tc>
                <a:tc>
                  <a:txBody>
                    <a:bodyPr/>
                    <a:lstStyle/>
                    <a:p>
                      <a:pPr algn="l">
                        <a:defRPr sz="590">
                          <a:solidFill>
                            <a:srgbClr val="1E242B"/>
                          </a:solidFill>
                          <a:latin typeface="Arial"/>
                        </a:defRPr>
                      </a:pPr>
                      <a:r>
                        <a:t>Đồ gá tích hợp các đầu nối kiểm tra (コネクタ一体型治具)</a:t>
                      </a:r>
                    </a:p>
                  </a:txBody>
                  <a:tcPr anchor="ctr" marL="36576" marR="36576" marT="9144" marB="9144">
                    <a:solidFill>
                      <a:srgbClr val="FFFFFF"/>
                    </a:solidFill>
                  </a:tcPr>
                </a:tc>
                <a:tc>
                  <a:txBody>
                    <a:bodyPr/>
                    <a:lstStyle/>
                    <a:p>
                      <a:pPr algn="l">
                        <a:defRPr sz="590">
                          <a:solidFill>
                            <a:srgbClr val="1E242B"/>
                          </a:solidFill>
                          <a:latin typeface="Arial"/>
                        </a:defRPr>
                      </a:pPr>
                      <a:r>
                        <a:t>Gộp nhiều đầu giắc kiểm tra rời thành 1 cụm đồ gá cắm đồng thời.</a:t>
                      </a:r>
                    </a:p>
                  </a:txBody>
                  <a:tcPr anchor="ctr" marL="36576" marR="36576" marT="9144" marB="9144">
                    <a:solidFill>
                      <a:srgbClr val="FFFFFF"/>
                    </a:solidFill>
                  </a:tcPr>
                </a:tc>
                <a:tc>
                  <a:txBody>
                    <a:bodyPr/>
                    <a:lstStyle/>
                    <a:p>
                      <a:pPr algn="ctr">
                        <a:defRPr sz="590">
                          <a:solidFill>
                            <a:srgbClr val="1E242B"/>
                          </a:solidFill>
                          <a:latin typeface="Arial"/>
                        </a:defRPr>
                      </a:pPr>
                      <a:r>
                        <a:t>-9,70 s</a:t>
                      </a:r>
                      <a:br/>
                      <a:r>
                        <a:t>(9 bước)</a:t>
                      </a:r>
                    </a:p>
                  </a:txBody>
                  <a:tcPr anchor="ctr" marL="36576" marR="36576" marT="9144" marB="9144">
                    <a:solidFill>
                      <a:srgbClr val="FFFFFF"/>
                    </a:solidFill>
                  </a:tcPr>
                </a:tc>
                <a:tc>
                  <a:txBody>
                    <a:bodyPr/>
                    <a:lstStyle/>
                    <a:p>
                      <a:pPr algn="l">
                        <a:defRPr sz="590">
                          <a:solidFill>
                            <a:srgbClr val="1E242B"/>
                          </a:solidFill>
                          <a:latin typeface="Arial"/>
                        </a:defRPr>
                      </a:pPr>
                      <a:r>
                        <a:t>Đang báo giá</a:t>
                      </a:r>
                      <a:br/>
                      <a:r>
                        <a:t>(見積中, Row 30)</a:t>
                      </a:r>
                    </a:p>
                  </a:txBody>
                  <a:tcPr anchor="ctr" marL="36576" marR="36576" marT="9144" marB="9144">
                    <a:solidFill>
                      <a:srgbClr val="FFFFFF"/>
                    </a:solidFill>
                  </a:tcPr>
                </a:tc>
              </a:tr>
              <a:tr h="403860">
                <a:tc>
                  <a:txBody>
                    <a:bodyPr/>
                    <a:lstStyle/>
                    <a:p>
                      <a:pPr algn="ctr">
                        <a:defRPr sz="590" b="1">
                          <a:solidFill>
                            <a:srgbClr val="1E242B"/>
                          </a:solidFill>
                          <a:latin typeface="Arial"/>
                        </a:defRPr>
                      </a:pPr>
                      <a:r>
                        <a:t>No.17 (R12)</a:t>
                      </a:r>
                    </a:p>
                  </a:txBody>
                  <a:tcPr anchor="ctr" marL="36576" marR="36576" marT="9144" marB="9144">
                    <a:solidFill>
                      <a:srgbClr val="F7F9FC"/>
                    </a:solidFill>
                  </a:tcPr>
                </a:tc>
                <a:tc>
                  <a:txBody>
                    <a:bodyPr/>
                    <a:lstStyle/>
                    <a:p>
                      <a:pPr algn="l">
                        <a:defRPr sz="590">
                          <a:solidFill>
                            <a:srgbClr val="1E242B"/>
                          </a:solidFill>
                          <a:latin typeface="Arial"/>
                        </a:defRPr>
                      </a:pPr>
                      <a:r>
                        <a:t>Đổi đầu nối kiểm tra sang kiểu hút từ tính (マグネット式コネクタ)</a:t>
                      </a:r>
                    </a:p>
                  </a:txBody>
                  <a:tcPr anchor="ctr" marL="36576" marR="36576" marT="9144" marB="9144">
                    <a:solidFill>
                      <a:srgbClr val="F7F9FC"/>
                    </a:solidFill>
                  </a:tcPr>
                </a:tc>
                <a:tc>
                  <a:txBody>
                    <a:bodyPr/>
                    <a:lstStyle/>
                    <a:p>
                      <a:pPr algn="l">
                        <a:defRPr sz="590">
                          <a:solidFill>
                            <a:srgbClr val="1E242B"/>
                          </a:solidFill>
                          <a:latin typeface="Arial"/>
                        </a:defRPr>
                      </a:pPr>
                      <a:r>
                        <a:t>Dùng đầu nối nam châm tự định vị (Đồng bộ với đề án VN No.21).</a:t>
                      </a:r>
                    </a:p>
                  </a:txBody>
                  <a:tcPr anchor="ctr" marL="36576" marR="36576" marT="9144" marB="9144">
                    <a:solidFill>
                      <a:srgbClr val="F7F9FC"/>
                    </a:solidFill>
                  </a:tcPr>
                </a:tc>
                <a:tc>
                  <a:txBody>
                    <a:bodyPr/>
                    <a:lstStyle/>
                    <a:p>
                      <a:pPr algn="ctr">
                        <a:defRPr sz="590">
                          <a:solidFill>
                            <a:srgbClr val="1E242B"/>
                          </a:solidFill>
                          <a:latin typeface="Arial"/>
                        </a:defRPr>
                      </a:pPr>
                      <a:r>
                        <a:t>-1,50 s (CN)</a:t>
                      </a:r>
                      <a:br/>
                      <a:r>
                        <a:t>[-45,0s VN]</a:t>
                      </a:r>
                    </a:p>
                  </a:txBody>
                  <a:tcPr anchor="ctr" marL="36576" marR="36576" marT="9144" marB="9144">
                    <a:solidFill>
                      <a:srgbClr val="F7F9FC"/>
                    </a:solidFill>
                  </a:tcPr>
                </a:tc>
                <a:tc>
                  <a:txBody>
                    <a:bodyPr/>
                    <a:lstStyle/>
                    <a:p>
                      <a:pPr algn="l">
                        <a:defRPr sz="590">
                          <a:solidFill>
                            <a:srgbClr val="1E242B"/>
                          </a:solidFill>
                          <a:latin typeface="Arial"/>
                        </a:defRPr>
                      </a:pPr>
                      <a:r>
                        <a:t>Đang báo giá</a:t>
                      </a:r>
                      <a:br/>
                      <a:r>
                        <a:t>(見積中, Row 31)</a:t>
                      </a:r>
                    </a:p>
                  </a:txBody>
                  <a:tcPr anchor="ctr" marL="36576" marR="36576" marT="9144" marB="9144">
                    <a:solidFill>
                      <a:srgbClr val="F7F9FC"/>
                    </a:solidFill>
                  </a:tcPr>
                </a:tc>
              </a:tr>
              <a:tr h="403860">
                <a:tc>
                  <a:txBody>
                    <a:bodyPr/>
                    <a:lstStyle/>
                    <a:p>
                      <a:pPr algn="ctr">
                        <a:defRPr sz="590" b="1">
                          <a:solidFill>
                            <a:srgbClr val="1E242B"/>
                          </a:solidFill>
                          <a:latin typeface="Arial"/>
                        </a:defRPr>
                      </a:pPr>
                      <a:r>
                        <a:t>No.38</a:t>
                      </a:r>
                      <a:br/>
                      <a:r>
                        <a:t>&amp; Tổng CN</a:t>
                      </a:r>
                    </a:p>
                  </a:txBody>
                  <a:tcPr anchor="ctr" marL="36576" marR="36576" marT="9144" marB="9144">
                    <a:solidFill>
                      <a:srgbClr val="E8EEF5"/>
                    </a:solidFill>
                  </a:tcPr>
                </a:tc>
                <a:tc>
                  <a:txBody>
                    <a:bodyPr/>
                    <a:lstStyle/>
                    <a:p>
                      <a:pPr algn="l">
                        <a:defRPr sz="590">
                          <a:solidFill>
                            <a:srgbClr val="1E242B"/>
                          </a:solidFill>
                          <a:latin typeface="Arial"/>
                        </a:defRPr>
                      </a:pPr>
                      <a:r>
                        <a:t>• No.38: Ứng dụng WeChat + AI phán định ảnh in (Chen Zhi Feng, 連携会 13~17)</a:t>
                      </a:r>
                      <a:br/>
                      <a:r>
                        <a:t>• Tổng 10 dòng có số giây list CN (gồm U155 -28,2s): -178,56s + chờ in -110s</a:t>
                      </a:r>
                    </a:p>
                  </a:txBody>
                  <a:tcPr anchor="ctr" marL="36576" marR="36576" marT="9144" marB="9144">
                    <a:solidFill>
                      <a:srgbClr val="E8EEF5"/>
                    </a:solidFill>
                  </a:tcPr>
                </a:tc>
                <a:tc>
                  <a:txBody>
                    <a:bodyPr/>
                    <a:lstStyle/>
                    <a:p>
                      <a:pPr algn="l">
                        <a:defRPr sz="590">
                          <a:solidFill>
                            <a:srgbClr val="1E242B"/>
                          </a:solidFill>
                          <a:latin typeface="Arial"/>
                        </a:defRPr>
                      </a:pPr>
                      <a:r>
                        <a:t>• Tổng tiết kiệm nhân công có số liệu trong list CN: 11.160 RMB/tháng + 5.000 RMB/5.000 máy</a:t>
                      </a:r>
                    </a:p>
                  </a:txBody>
                  <a:tcPr anchor="ctr" marL="36576" marR="36576" marT="9144" marB="9144">
                    <a:solidFill>
                      <a:srgbClr val="E8EEF5"/>
                    </a:solidFill>
                  </a:tcPr>
                </a:tc>
                <a:tc>
                  <a:txBody>
                    <a:bodyPr/>
                    <a:lstStyle/>
                    <a:p>
                      <a:pPr algn="ctr">
                        <a:defRPr sz="590">
                          <a:solidFill>
                            <a:srgbClr val="1E242B"/>
                          </a:solidFill>
                          <a:latin typeface="Arial"/>
                        </a:defRPr>
                      </a:pPr>
                      <a:r>
                        <a:t>-178,56 s</a:t>
                      </a:r>
                      <a:br/>
                      <a:r>
                        <a:t>(-110s chờ in)</a:t>
                      </a:r>
                    </a:p>
                  </a:txBody>
                  <a:tcPr anchor="ctr" marL="36576" marR="36576" marT="9144" marB="9144">
                    <a:solidFill>
                      <a:srgbClr val="E8EEF5"/>
                    </a:solidFill>
                  </a:tcPr>
                </a:tc>
                <a:tc>
                  <a:txBody>
                    <a:bodyPr/>
                    <a:lstStyle/>
                    <a:p>
                      <a:pPr algn="l">
                        <a:defRPr sz="590">
                          <a:solidFill>
                            <a:srgbClr val="1E242B"/>
                          </a:solidFill>
                          <a:latin typeface="Arial"/>
                        </a:defRPr>
                      </a:pPr>
                      <a:r>
                        <a:t>11.160 RMB/tháng</a:t>
                      </a:r>
                      <a:br/>
                      <a:r>
                        <a:t>+ 5.000 RMB/5k máy</a:t>
                      </a:r>
                    </a:p>
                  </a:txBody>
                  <a:tcPr anchor="ctr" marL="36576" marR="36576" marT="9144" marB="9144">
                    <a:solidFill>
                      <a:srgbClr val="E8EE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7: HIỆU QUẢ TỔNG THỂ</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So sánh Trước / Sau (Before / After): Thực tích đã đo bằng PDCA và Mục tiêu khi triển khai đủ</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11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Thực tích PDCA tại VN tới T10/2026 đã giảm 4,32s/máy (0,18%); trên bảng công đoạn JP đã giảm 176,84s ~ 267,74s; mục tiêu khi triển khai đủ là giảm &gt;=1.175s (&gt;=50%) và giảm từ 18 xuống 9 người.</a:t>
            </a:r>
          </a:p>
        </p:txBody>
      </p:sp>
      <p:graphicFrame>
        <p:nvGraphicFramePr>
          <p:cNvPr id="7" name="Table 6"/>
          <p:cNvGraphicFramePr>
            <a:graphicFrameLocks noGrp="1"/>
          </p:cNvGraphicFramePr>
          <p:nvPr/>
        </p:nvGraphicFramePr>
        <p:xfrm>
          <a:off x="274320" y="1243584"/>
          <a:ext cx="6263640" cy="5230368"/>
        </p:xfrm>
        <a:graphic>
          <a:graphicData uri="http://schemas.openxmlformats.org/drawingml/2006/table">
            <a:tbl>
              <a:tblPr firstRow="1" bandRow="1">
                <a:tableStyleId>{5C22544A-7EE6-4342-B048-85BDC9FD1C3A}</a:tableStyleId>
              </a:tblPr>
              <a:tblGrid>
                <a:gridCol w="1508760"/>
                <a:gridCol w="1143000"/>
                <a:gridCol w="1234440"/>
                <a:gridCol w="1234440"/>
                <a:gridCol w="1143000"/>
              </a:tblGrid>
              <a:tr h="523036">
                <a:tc>
                  <a:txBody>
                    <a:bodyPr/>
                    <a:lstStyle/>
                    <a:p>
                      <a:pPr algn="ctr">
                        <a:defRPr sz="740" b="1">
                          <a:solidFill>
                            <a:srgbClr val="FFFFFF"/>
                          </a:solidFill>
                          <a:latin typeface="Arial"/>
                        </a:defRPr>
                      </a:pPr>
                      <a:r>
                        <a:t>Chỉ tiêu đánh giá</a:t>
                      </a:r>
                      <a:br/>
                      <a:r>
                        <a:t>(Nguồn đối chiếu)</a:t>
                      </a:r>
                    </a:p>
                  </a:txBody>
                  <a:tcPr anchor="ctr" marL="36576" marR="36576" marT="9144" marB="9144">
                    <a:solidFill>
                      <a:srgbClr val="1B365D"/>
                    </a:solidFill>
                  </a:tcPr>
                </a:tc>
                <a:tc>
                  <a:txBody>
                    <a:bodyPr/>
                    <a:lstStyle/>
                    <a:p>
                      <a:pPr algn="ctr">
                        <a:defRPr sz="740" b="1">
                          <a:solidFill>
                            <a:srgbClr val="FFFFFF"/>
                          </a:solidFill>
                          <a:latin typeface="Arial"/>
                        </a:defRPr>
                      </a:pPr>
                      <a:r>
                        <a:t>TRƯỚC CẢI TIẾN</a:t>
                      </a:r>
                      <a:br/>
                      <a:r>
                        <a:t>(Baseline Iris2024)</a:t>
                      </a:r>
                    </a:p>
                  </a:txBody>
                  <a:tcPr anchor="ctr" marL="36576" marR="36576" marT="9144" marB="9144">
                    <a:solidFill>
                      <a:srgbClr val="1B365D"/>
                    </a:solidFill>
                  </a:tcPr>
                </a:tc>
                <a:tc>
                  <a:txBody>
                    <a:bodyPr/>
                    <a:lstStyle/>
                    <a:p>
                      <a:pPr algn="ctr">
                        <a:defRPr sz="740" b="1">
                          <a:solidFill>
                            <a:srgbClr val="FFFFFF"/>
                          </a:solidFill>
                          <a:latin typeface="Arial"/>
                        </a:defRPr>
                      </a:pPr>
                      <a:r>
                        <a:t>ĐÃ ĐO / XÁC LẬP</a:t>
                      </a:r>
                      <a:br/>
                      <a:r>
                        <a:t>TỚI T10/2026 (PDCA)</a:t>
                      </a:r>
                    </a:p>
                  </a:txBody>
                  <a:tcPr anchor="ctr" marL="36576" marR="36576" marT="9144" marB="9144">
                    <a:solidFill>
                      <a:srgbClr val="1B365D"/>
                    </a:solidFill>
                  </a:tcPr>
                </a:tc>
                <a:tc>
                  <a:txBody>
                    <a:bodyPr/>
                    <a:lstStyle/>
                    <a:p>
                      <a:pPr algn="ctr">
                        <a:defRPr sz="740" b="1">
                          <a:solidFill>
                            <a:srgbClr val="FFFFFF"/>
                          </a:solidFill>
                          <a:latin typeface="Arial"/>
                        </a:defRPr>
                      </a:pPr>
                      <a:r>
                        <a:t>SAU CẢI TIẾN ĐỦ</a:t>
                      </a:r>
                      <a:br/>
                      <a:r>
                        <a:t>(Kỳ vọng T3/2027)</a:t>
                      </a:r>
                    </a:p>
                  </a:txBody>
                  <a:tcPr anchor="ctr" marL="36576" marR="36576" marT="9144" marB="9144">
                    <a:solidFill>
                      <a:srgbClr val="1B365D"/>
                    </a:solidFill>
                  </a:tcPr>
                </a:tc>
                <a:tc>
                  <a:txBody>
                    <a:bodyPr/>
                    <a:lstStyle/>
                    <a:p>
                      <a:pPr algn="ctr">
                        <a:defRPr sz="740" b="1">
                          <a:solidFill>
                            <a:srgbClr val="FFFFFF"/>
                          </a:solidFill>
                          <a:latin typeface="Arial"/>
                        </a:defRPr>
                      </a:pPr>
                      <a:r>
                        <a:t>Mức thay đổi</a:t>
                      </a:r>
                      <a:br/>
                      <a:r>
                        <a:t>(Before -&gt; After)</a:t>
                      </a:r>
                    </a:p>
                  </a:txBody>
                  <a:tcPr anchor="ctr" marL="36576" marR="36576" marT="9144" marB="9144">
                    <a:solidFill>
                      <a:srgbClr val="1B365D"/>
                    </a:solidFill>
                  </a:tcPr>
                </a:tc>
              </a:tr>
              <a:tr h="523036">
                <a:tc>
                  <a:txBody>
                    <a:bodyPr/>
                    <a:lstStyle/>
                    <a:p>
                      <a:pPr algn="l">
                        <a:defRPr sz="670" b="1">
                          <a:solidFill>
                            <a:srgbClr val="1E242B"/>
                          </a:solidFill>
                          <a:latin typeface="Arial"/>
                        </a:defRPr>
                      </a:pPr>
                      <a:r>
                        <a:t>1. Tổng thời gian CĐ tại VN</a:t>
                      </a:r>
                      <a:br/>
                      <a:r>
                        <a:t>(Gồm chờ máy/Aging/in)</a:t>
                      </a:r>
                      <a:br/>
                      <a:r>
                        <a:t>[BM-003-F 10月; DSLK]</a:t>
                      </a:r>
                    </a:p>
                  </a:txBody>
                  <a:tcPr anchor="ctr" marL="36576" marR="36576" marT="9144" marB="9144">
                    <a:solidFill>
                      <a:srgbClr val="EAF7EE"/>
                    </a:solidFill>
                  </a:tcPr>
                </a:tc>
                <a:tc>
                  <a:txBody>
                    <a:bodyPr/>
                    <a:lstStyle/>
                    <a:p>
                      <a:pPr algn="ctr">
                        <a:defRPr sz="670">
                          <a:solidFill>
                            <a:srgbClr val="1E242B"/>
                          </a:solidFill>
                          <a:latin typeface="Arial"/>
                        </a:defRPr>
                      </a:pPr>
                      <a:r>
                        <a:t>2.350,00 s/máy</a:t>
                      </a:r>
                      <a:br/>
                      <a:r>
                        <a:t>(8 trạm K1~K8,</a:t>
                      </a:r>
                      <a:br/>
                      <a:r>
                        <a:t>39 bước chính)</a:t>
                      </a:r>
                    </a:p>
                  </a:txBody>
                  <a:tcPr anchor="ctr" marL="36576" marR="36576" marT="9144" marB="9144">
                    <a:solidFill>
                      <a:srgbClr val="EAF7EE"/>
                    </a:solidFill>
                  </a:tcPr>
                </a:tc>
                <a:tc>
                  <a:txBody>
                    <a:bodyPr/>
                    <a:lstStyle/>
                    <a:p>
                      <a:pPr algn="ctr">
                        <a:defRPr sz="670">
                          <a:solidFill>
                            <a:srgbClr val="1E242B"/>
                          </a:solidFill>
                          <a:latin typeface="Arial"/>
                        </a:defRPr>
                      </a:pPr>
                      <a:r>
                        <a:t>2.345,68 s/máy</a:t>
                      </a:r>
                      <a:br/>
                      <a:r>
                        <a:t>(Đã xóa 4 bước =</a:t>
                      </a:r>
                      <a:br/>
                      <a:r>
                        <a:t>-4,32 s/máy | 0,18%)</a:t>
                      </a:r>
                    </a:p>
                  </a:txBody>
                  <a:tcPr anchor="ctr" marL="36576" marR="36576" marT="9144" marB="9144">
                    <a:solidFill>
                      <a:srgbClr val="EAF7EE"/>
                    </a:solidFill>
                  </a:tcPr>
                </a:tc>
                <a:tc>
                  <a:txBody>
                    <a:bodyPr/>
                    <a:lstStyle/>
                    <a:p>
                      <a:pPr algn="ctr">
                        <a:defRPr sz="670">
                          <a:solidFill>
                            <a:srgbClr val="1E242B"/>
                          </a:solidFill>
                          <a:latin typeface="Arial"/>
                        </a:defRPr>
                      </a:pPr>
                      <a:r>
                        <a:t>&lt;= 1.175,00 s/máy</a:t>
                      </a:r>
                      <a:br/>
                      <a:r>
                        <a:t>(4 cụm trạm A-1 ~ A-4</a:t>
                      </a:r>
                      <a:br/>
                      <a:r>
                        <a:t>mẫu Athena)</a:t>
                      </a:r>
                    </a:p>
                  </a:txBody>
                  <a:tcPr anchor="ctr" marL="36576" marR="36576" marT="9144" marB="9144">
                    <a:solidFill>
                      <a:srgbClr val="EAF7EE"/>
                    </a:solidFill>
                  </a:tcPr>
                </a:tc>
                <a:tc>
                  <a:txBody>
                    <a:bodyPr/>
                    <a:lstStyle/>
                    <a:p>
                      <a:pPr algn="l">
                        <a:defRPr sz="670">
                          <a:solidFill>
                            <a:srgbClr val="1E242B"/>
                          </a:solidFill>
                          <a:latin typeface="Arial"/>
                        </a:defRPr>
                      </a:pPr>
                      <a:r>
                        <a:t>Giảm &gt;= 1.175,00 s</a:t>
                      </a:r>
                      <a:br/>
                      <a:r>
                        <a:t>(Giảm &gt;= 50,0%)</a:t>
                      </a:r>
                      <a:br/>
                      <a:r>
                        <a:t>[Mục tiêu 6/2026~3/2027]</a:t>
                      </a:r>
                    </a:p>
                  </a:txBody>
                  <a:tcPr anchor="ctr" marL="36576" marR="36576" marT="9144" marB="9144">
                    <a:solidFill>
                      <a:srgbClr val="EAF7EE"/>
                    </a:solidFill>
                  </a:tcPr>
                </a:tc>
              </a:tr>
              <a:tr h="523036">
                <a:tc>
                  <a:txBody>
                    <a:bodyPr/>
                    <a:lstStyle/>
                    <a:p>
                      <a:pPr algn="l">
                        <a:defRPr sz="670" b="1">
                          <a:solidFill>
                            <a:srgbClr val="1E242B"/>
                          </a:solidFill>
                          <a:latin typeface="Arial"/>
                        </a:defRPr>
                      </a:pPr>
                      <a:r>
                        <a:t>2. Thời gian thao tác thuần JP</a:t>
                      </a:r>
                      <a:br/>
                      <a:r>
                        <a:t>(Hệ Color, không chờ máy)</a:t>
                      </a:r>
                      <a:br/>
                      <a:r>
                        <a:t>[IrisEXP 工程 3.xlsx]</a:t>
                      </a:r>
                    </a:p>
                  </a:txBody>
                  <a:tcPr anchor="ctr" marL="36576" marR="36576" marT="9144" marB="9144">
                    <a:solidFill>
                      <a:srgbClr val="F7F9FC"/>
                    </a:solidFill>
                  </a:tcPr>
                </a:tc>
                <a:tc>
                  <a:txBody>
                    <a:bodyPr/>
                    <a:lstStyle/>
                    <a:p>
                      <a:pPr algn="ctr">
                        <a:defRPr sz="670">
                          <a:solidFill>
                            <a:srgbClr val="1E242B"/>
                          </a:solidFill>
                          <a:latin typeface="Arial"/>
                        </a:defRPr>
                      </a:pPr>
                      <a:r>
                        <a:t>1.171,70 s (Iris2024)</a:t>
                      </a:r>
                      <a:br/>
                      <a:r>
                        <a:t>1.260,70 s (IrisEXP</a:t>
                      </a:r>
                      <a:br/>
                      <a:r>
                        <a:t>改善無, +89s U413)</a:t>
                      </a:r>
                    </a:p>
                  </a:txBody>
                  <a:tcPr anchor="ctr" marL="36576" marR="36576" marT="9144" marB="9144">
                    <a:solidFill>
                      <a:srgbClr val="F7F9FC"/>
                    </a:solidFill>
                  </a:tcPr>
                </a:tc>
                <a:tc>
                  <a:txBody>
                    <a:bodyPr/>
                    <a:lstStyle/>
                    <a:p>
                      <a:pPr algn="ctr">
                        <a:defRPr sz="670">
                          <a:solidFill>
                            <a:srgbClr val="1E242B"/>
                          </a:solidFill>
                          <a:latin typeface="Arial"/>
                        </a:defRPr>
                      </a:pPr>
                      <a:r>
                        <a:t>1.083,86 s (Công thức</a:t>
                      </a:r>
                      <a:br/>
                      <a:r>
                        <a:t>7 đề án: -176,84s vs</a:t>
                      </a:r>
                      <a:br/>
                      <a:r>
                        <a:t>改善無 | -87,84s vs cũ)</a:t>
                      </a:r>
                    </a:p>
                  </a:txBody>
                  <a:tcPr anchor="ctr" marL="36576" marR="36576" marT="9144" marB="9144">
                    <a:solidFill>
                      <a:srgbClr val="F7F9FC"/>
                    </a:solidFill>
                  </a:tcPr>
                </a:tc>
                <a:tc>
                  <a:txBody>
                    <a:bodyPr/>
                    <a:lstStyle/>
                    <a:p>
                      <a:pPr algn="ctr">
                        <a:defRPr sz="670">
                          <a:solidFill>
                            <a:srgbClr val="1E242B"/>
                          </a:solidFill>
                          <a:latin typeface="Arial"/>
                        </a:defRPr>
                      </a:pPr>
                      <a:r>
                        <a:t>1.034,04 s (Sau khi xóa</a:t>
                      </a:r>
                      <a:br/>
                      <a:r>
                        <a:t>147 bước 削 + 6 bước</a:t>
                      </a:r>
                      <a:br/>
                      <a:r>
                        <a:t>U201 = -267,74s)</a:t>
                      </a:r>
                    </a:p>
                  </a:txBody>
                  <a:tcPr anchor="ctr" marL="36576" marR="36576" marT="9144" marB="9144">
                    <a:solidFill>
                      <a:srgbClr val="F7F9FC"/>
                    </a:solidFill>
                  </a:tcPr>
                </a:tc>
                <a:tc>
                  <a:txBody>
                    <a:bodyPr/>
                    <a:lstStyle/>
                    <a:p>
                      <a:pPr algn="l">
                        <a:defRPr sz="670">
                          <a:solidFill>
                            <a:srgbClr val="1E242B"/>
                          </a:solidFill>
                          <a:latin typeface="Arial"/>
                        </a:defRPr>
                      </a:pPr>
                      <a:r>
                        <a:t>Giảm 176,84 s ~ 267,74 s</a:t>
                      </a:r>
                      <a:br/>
                      <a:r>
                        <a:t>thao tác tay thuần</a:t>
                      </a:r>
                      <a:br/>
                      <a:r>
                        <a:t>(Còn 85,97% ~ 82,0%)</a:t>
                      </a:r>
                    </a:p>
                  </a:txBody>
                  <a:tcPr anchor="ctr" marL="36576" marR="36576" marT="9144" marB="9144">
                    <a:solidFill>
                      <a:srgbClr val="F7F9FC"/>
                    </a:solidFill>
                  </a:tcPr>
                </a:tc>
              </a:tr>
              <a:tr h="523036">
                <a:tc>
                  <a:txBody>
                    <a:bodyPr/>
                    <a:lstStyle/>
                    <a:p>
                      <a:pPr algn="l">
                        <a:defRPr sz="670" b="1">
                          <a:solidFill>
                            <a:srgbClr val="1E242B"/>
                          </a:solidFill>
                          <a:latin typeface="Arial"/>
                        </a:defRPr>
                      </a:pPr>
                      <a:r>
                        <a:t>3. Thời gian thao tác thuần JP</a:t>
                      </a:r>
                      <a:br/>
                      <a:r>
                        <a:t>(Hệ Mono, không chờ máy)</a:t>
                      </a:r>
                      <a:br/>
                      <a:r>
                        <a:t>[IrisEXP 工程 3.xlsx]</a:t>
                      </a:r>
                    </a:p>
                  </a:txBody>
                  <a:tcPr anchor="ctr" marL="36576" marR="36576" marT="9144" marB="9144">
                    <a:solidFill>
                      <a:srgbClr val="FFFFFF"/>
                    </a:solidFill>
                  </a:tcPr>
                </a:tc>
                <a:tc>
                  <a:txBody>
                    <a:bodyPr/>
                    <a:lstStyle/>
                    <a:p>
                      <a:pPr algn="ctr">
                        <a:defRPr sz="670">
                          <a:solidFill>
                            <a:srgbClr val="1E242B"/>
                          </a:solidFill>
                          <a:latin typeface="Arial"/>
                        </a:defRPr>
                      </a:pPr>
                      <a:r>
                        <a:t>1.120,90 s (Iris2024)</a:t>
                      </a:r>
                      <a:br/>
                      <a:r>
                        <a:t>1.172,62 s (IrisEXP</a:t>
                      </a:r>
                      <a:br/>
                      <a:r>
                        <a:t>改善無, +51,72s U413)</a:t>
                      </a:r>
                    </a:p>
                  </a:txBody>
                  <a:tcPr anchor="ctr" marL="36576" marR="36576" marT="9144" marB="9144">
                    <a:solidFill>
                      <a:srgbClr val="FFFFFF"/>
                    </a:solidFill>
                  </a:tcPr>
                </a:tc>
                <a:tc>
                  <a:txBody>
                    <a:bodyPr/>
                    <a:lstStyle/>
                    <a:p>
                      <a:pPr algn="ctr">
                        <a:defRPr sz="670">
                          <a:solidFill>
                            <a:srgbClr val="1E242B"/>
                          </a:solidFill>
                          <a:latin typeface="Arial"/>
                        </a:defRPr>
                      </a:pPr>
                      <a:r>
                        <a:t>1.033,06 s (Công thức</a:t>
                      </a:r>
                      <a:br/>
                      <a:r>
                        <a:t>7 đề án: -139,56s vs</a:t>
                      </a:r>
                      <a:br/>
                      <a:r>
                        <a:t>改善無 | -87,84s vs cũ)</a:t>
                      </a:r>
                    </a:p>
                  </a:txBody>
                  <a:tcPr anchor="ctr" marL="36576" marR="36576" marT="9144" marB="9144">
                    <a:solidFill>
                      <a:srgbClr val="FFFFFF"/>
                    </a:solidFill>
                  </a:tcPr>
                </a:tc>
                <a:tc>
                  <a:txBody>
                    <a:bodyPr/>
                    <a:lstStyle/>
                    <a:p>
                      <a:pPr algn="ctr">
                        <a:defRPr sz="670">
                          <a:solidFill>
                            <a:srgbClr val="1E242B"/>
                          </a:solidFill>
                          <a:latin typeface="Arial"/>
                        </a:defRPr>
                      </a:pPr>
                      <a:r>
                        <a:t>884,10 s (Sau khi xóa</a:t>
                      </a:r>
                      <a:br/>
                      <a:r>
                        <a:t>147 bước 削 + 6 bước</a:t>
                      </a:r>
                      <a:br/>
                      <a:r>
                        <a:t>U201 = -263,06s)</a:t>
                      </a:r>
                    </a:p>
                  </a:txBody>
                  <a:tcPr anchor="ctr" marL="36576" marR="36576" marT="9144" marB="9144">
                    <a:solidFill>
                      <a:srgbClr val="FFFFFF"/>
                    </a:solidFill>
                  </a:tcPr>
                </a:tc>
                <a:tc>
                  <a:txBody>
                    <a:bodyPr/>
                    <a:lstStyle/>
                    <a:p>
                      <a:pPr algn="l">
                        <a:defRPr sz="670">
                          <a:solidFill>
                            <a:srgbClr val="1E242B"/>
                          </a:solidFill>
                          <a:latin typeface="Arial"/>
                        </a:defRPr>
                      </a:pPr>
                      <a:r>
                        <a:t>Giảm 139,56 s ~ 263,06 s</a:t>
                      </a:r>
                      <a:br/>
                      <a:r>
                        <a:t>thao tác tay thuần</a:t>
                      </a:r>
                      <a:br/>
                      <a:r>
                        <a:t>(Còn 88,10% ~ 75,4%)</a:t>
                      </a:r>
                    </a:p>
                  </a:txBody>
                  <a:tcPr anchor="ctr" marL="36576" marR="36576" marT="9144" marB="9144">
                    <a:solidFill>
                      <a:srgbClr val="FFFFFF"/>
                    </a:solidFill>
                  </a:tcPr>
                </a:tc>
              </a:tr>
              <a:tr h="523036">
                <a:tc>
                  <a:txBody>
                    <a:bodyPr/>
                    <a:lstStyle/>
                    <a:p>
                      <a:pPr algn="l">
                        <a:defRPr sz="670" b="1">
                          <a:solidFill>
                            <a:srgbClr val="1E242B"/>
                          </a:solidFill>
                          <a:latin typeface="Arial"/>
                        </a:defRPr>
                      </a:pPr>
                      <a:r>
                        <a:t>4. Nhân lực chuyền VN</a:t>
                      </a:r>
                      <a:br/>
                      <a:r>
                        <a:t>(Sản lượng 16.000 máy/tháng,</a:t>
                      </a:r>
                      <a:br/>
                      <a:r>
                        <a:t>Takt Time 97 giây)</a:t>
                      </a:r>
                    </a:p>
                  </a:txBody>
                  <a:tcPr anchor="ctr" marL="36576" marR="36576" marT="9144" marB="9144">
                    <a:solidFill>
                      <a:srgbClr val="EAF7EE"/>
                    </a:solidFill>
                  </a:tcPr>
                </a:tc>
                <a:tc>
                  <a:txBody>
                    <a:bodyPr/>
                    <a:lstStyle/>
                    <a:p>
                      <a:pPr algn="ctr">
                        <a:defRPr sz="670">
                          <a:solidFill>
                            <a:srgbClr val="1E242B"/>
                          </a:solidFill>
                          <a:latin typeface="Arial"/>
                        </a:defRPr>
                      </a:pPr>
                      <a:r>
                        <a:t>14 người (Iris2024 114s)</a:t>
                      </a:r>
                      <a:br/>
                      <a:r>
                        <a:t>18 người (17,62 người</a:t>
                      </a:r>
                      <a:br/>
                      <a:r>
                        <a:t>nếu giữ cách cũ ở 97s)</a:t>
                      </a:r>
                    </a:p>
                  </a:txBody>
                  <a:tcPr anchor="ctr" marL="36576" marR="36576" marT="9144" marB="9144">
                    <a:solidFill>
                      <a:srgbClr val="EAF7EE"/>
                    </a:solidFill>
                  </a:tcPr>
                </a:tc>
                <a:tc>
                  <a:txBody>
                    <a:bodyPr/>
                    <a:lstStyle/>
                    <a:p>
                      <a:pPr algn="ctr">
                        <a:defRPr sz="670">
                          <a:solidFill>
                            <a:srgbClr val="1E242B"/>
                          </a:solidFill>
                          <a:latin typeface="Arial"/>
                        </a:defRPr>
                      </a:pPr>
                      <a:r>
                        <a:t>14 người</a:t>
                      </a:r>
                      <a:br/>
                      <a:r>
                        <a:t>(Đang chạy song song</a:t>
                      </a:r>
                      <a:br/>
                      <a:r>
                        <a:t>thử nghiệm PDCA)</a:t>
                      </a:r>
                    </a:p>
                  </a:txBody>
                  <a:tcPr anchor="ctr" marL="36576" marR="36576" marT="9144" marB="9144">
                    <a:solidFill>
                      <a:srgbClr val="EAF7EE"/>
                    </a:solidFill>
                  </a:tcPr>
                </a:tc>
                <a:tc>
                  <a:txBody>
                    <a:bodyPr/>
                    <a:lstStyle/>
                    <a:p>
                      <a:pPr algn="ctr">
                        <a:defRPr sz="670">
                          <a:solidFill>
                            <a:srgbClr val="1E242B"/>
                          </a:solidFill>
                          <a:latin typeface="Arial"/>
                        </a:defRPr>
                      </a:pPr>
                      <a:r>
                        <a:t>9 người</a:t>
                      </a:r>
                      <a:br/>
                      <a:r>
                        <a:t>(Bố trí theo 4 cụm</a:t>
                      </a:r>
                      <a:br/>
                      <a:r>
                        <a:t>A-1 ~ A-4 mẫu Athena)</a:t>
                      </a:r>
                    </a:p>
                  </a:txBody>
                  <a:tcPr anchor="ctr" marL="36576" marR="36576" marT="9144" marB="9144">
                    <a:solidFill>
                      <a:srgbClr val="EAF7EE"/>
                    </a:solidFill>
                  </a:tcPr>
                </a:tc>
                <a:tc>
                  <a:txBody>
                    <a:bodyPr/>
                    <a:lstStyle/>
                    <a:p>
                      <a:pPr algn="l">
                        <a:defRPr sz="670">
                          <a:solidFill>
                            <a:srgbClr val="1E242B"/>
                          </a:solidFill>
                          <a:latin typeface="Arial"/>
                        </a:defRPr>
                      </a:pPr>
                      <a:r>
                        <a:t>Giảm 9 người vs phương án</a:t>
                      </a:r>
                      <a:br/>
                      <a:r>
                        <a:t>cũ ở Takt 97s (-50%)</a:t>
                      </a:r>
                      <a:br/>
                      <a:r>
                        <a:t>(Giảm 5 người vs hiện tại)</a:t>
                      </a:r>
                    </a:p>
                  </a:txBody>
                  <a:tcPr anchor="ctr" marL="36576" marR="36576" marT="9144" marB="9144">
                    <a:solidFill>
                      <a:srgbClr val="EAF7EE"/>
                    </a:solidFill>
                  </a:tcPr>
                </a:tc>
              </a:tr>
              <a:tr h="523036">
                <a:tc>
                  <a:txBody>
                    <a:bodyPr/>
                    <a:lstStyle/>
                    <a:p>
                      <a:pPr algn="l">
                        <a:defRPr sz="670" b="1">
                          <a:solidFill>
                            <a:srgbClr val="1E242B"/>
                          </a:solidFill>
                          <a:latin typeface="Arial"/>
                        </a:defRPr>
                      </a:pPr>
                      <a:r>
                        <a:t>5. Năng suất lao động</a:t>
                      </a:r>
                      <a:br/>
                      <a:r>
                        <a:t>(Productivity / 生産性)</a:t>
                      </a:r>
                      <a:br/>
                      <a:r>
                        <a:t>[開発目標決定 S1]</a:t>
                      </a:r>
                    </a:p>
                  </a:txBody>
                  <a:tcPr anchor="ctr" marL="36576" marR="36576" marT="9144" marB="9144">
                    <a:solidFill>
                      <a:srgbClr val="E8EEF5"/>
                    </a:solidFill>
                  </a:tcPr>
                </a:tc>
                <a:tc>
                  <a:txBody>
                    <a:bodyPr/>
                    <a:lstStyle/>
                    <a:p>
                      <a:pPr algn="ctr">
                        <a:defRPr sz="670">
                          <a:solidFill>
                            <a:srgbClr val="1E242B"/>
                          </a:solidFill>
                          <a:latin typeface="Arial"/>
                        </a:defRPr>
                      </a:pPr>
                      <a:r>
                        <a:t>1,0x (Chuẩn Iris2024:</a:t>
                      </a:r>
                      <a:br/>
                      <a:r>
                        <a:t>~167,86 s/người tại VN)</a:t>
                      </a:r>
                    </a:p>
                  </a:txBody>
                  <a:tcPr anchor="ctr" marL="36576" marR="36576" marT="9144" marB="9144">
                    <a:solidFill>
                      <a:srgbClr val="E8EEF5"/>
                    </a:solidFill>
                  </a:tcPr>
                </a:tc>
                <a:tc>
                  <a:txBody>
                    <a:bodyPr/>
                    <a:lstStyle/>
                    <a:p>
                      <a:pPr algn="ctr">
                        <a:defRPr sz="670">
                          <a:solidFill>
                            <a:srgbClr val="1E242B"/>
                          </a:solidFill>
                          <a:latin typeface="Arial"/>
                        </a:defRPr>
                      </a:pPr>
                      <a:r>
                        <a:t>Đang hoàn thiện JIG</a:t>
                      </a:r>
                      <a:br/>
                      <a:r>
                        <a:t>&amp; phần mềm Semifinal</a:t>
                      </a:r>
                    </a:p>
                  </a:txBody>
                  <a:tcPr anchor="ctr" marL="36576" marR="36576" marT="9144" marB="9144">
                    <a:solidFill>
                      <a:srgbClr val="E8EEF5"/>
                    </a:solidFill>
                  </a:tcPr>
                </a:tc>
                <a:tc>
                  <a:txBody>
                    <a:bodyPr/>
                    <a:lstStyle/>
                    <a:p>
                      <a:pPr algn="ctr">
                        <a:defRPr sz="670">
                          <a:solidFill>
                            <a:srgbClr val="1E242B"/>
                          </a:solidFill>
                          <a:latin typeface="Arial"/>
                        </a:defRPr>
                      </a:pPr>
                      <a:r>
                        <a:t>2,0x (Tăng gấp đôi</a:t>
                      </a:r>
                      <a:br/>
                      <a:r>
                        <a:t>theo mục tiêu 2倍 -</a:t>
                      </a:r>
                      <a:br/>
                      <a:r>
                        <a:t>仮決定)</a:t>
                      </a:r>
                    </a:p>
                  </a:txBody>
                  <a:tcPr anchor="ctr" marL="36576" marR="36576" marT="9144" marB="9144">
                    <a:solidFill>
                      <a:srgbClr val="E8EEF5"/>
                    </a:solidFill>
                  </a:tcPr>
                </a:tc>
                <a:tc>
                  <a:txBody>
                    <a:bodyPr/>
                    <a:lstStyle/>
                    <a:p>
                      <a:pPr algn="l">
                        <a:defRPr sz="670">
                          <a:solidFill>
                            <a:srgbClr val="1E242B"/>
                          </a:solidFill>
                          <a:latin typeface="Arial"/>
                        </a:defRPr>
                      </a:pPr>
                      <a:r>
                        <a:t>Tăng +100% (x2 lần)</a:t>
                      </a:r>
                      <a:br/>
                      <a:r>
                        <a:t>(Tiết kiệm &gt;50% nhân công)</a:t>
                      </a:r>
                    </a:p>
                  </a:txBody>
                  <a:tcPr anchor="ctr" marL="36576" marR="36576" marT="9144" marB="9144">
                    <a:solidFill>
                      <a:srgbClr val="E8EEF5"/>
                    </a:solidFill>
                  </a:tcPr>
                </a:tc>
              </a:tr>
              <a:tr h="523036">
                <a:tc>
                  <a:txBody>
                    <a:bodyPr/>
                    <a:lstStyle/>
                    <a:p>
                      <a:pPr algn="l">
                        <a:defRPr sz="670" b="1">
                          <a:solidFill>
                            <a:srgbClr val="1E242B"/>
                          </a:solidFill>
                          <a:latin typeface="Arial"/>
                        </a:defRPr>
                      </a:pPr>
                      <a:r>
                        <a:t>6. Số tờ in kiểm tra / máy</a:t>
                      </a:r>
                      <a:br/>
                      <a:r>
                        <a:t>(Print Samples)</a:t>
                      </a:r>
                      <a:br/>
                      <a:r>
                        <a:t>[開発目標決定 S2]</a:t>
                      </a:r>
                    </a:p>
                  </a:txBody>
                  <a:tcPr anchor="ctr" marL="36576" marR="36576" marT="9144" marB="9144">
                    <a:solidFill>
                      <a:srgbClr val="F7F9FC"/>
                    </a:solidFill>
                  </a:tcPr>
                </a:tc>
                <a:tc>
                  <a:txBody>
                    <a:bodyPr/>
                    <a:lstStyle/>
                    <a:p>
                      <a:pPr algn="ctr">
                        <a:defRPr sz="670">
                          <a:solidFill>
                            <a:srgbClr val="1E242B"/>
                          </a:solidFill>
                          <a:latin typeface="Arial"/>
                        </a:defRPr>
                      </a:pPr>
                      <a:r>
                        <a:t>17 tờ / máy</a:t>
                      </a:r>
                      <a:br/>
                      <a:r>
                        <a:t>(Thời gian chờ in</a:t>
                      </a:r>
                      <a:br/>
                      <a:r>
                        <a:t>~230s tại CN)</a:t>
                      </a:r>
                    </a:p>
                  </a:txBody>
                  <a:tcPr anchor="ctr" marL="36576" marR="36576" marT="9144" marB="9144">
                    <a:solidFill>
                      <a:srgbClr val="F7F9FC"/>
                    </a:solidFill>
                  </a:tcPr>
                </a:tc>
                <a:tc>
                  <a:txBody>
                    <a:bodyPr/>
                    <a:lstStyle/>
                    <a:p>
                      <a:pPr algn="ctr">
                        <a:defRPr sz="670">
                          <a:solidFill>
                            <a:srgbClr val="1E242B"/>
                          </a:solidFill>
                          <a:latin typeface="Arial"/>
                        </a:defRPr>
                      </a:pPr>
                      <a:r>
                        <a:t>Đã thống nhất mẫu in</a:t>
                      </a:r>
                      <a:br/>
                      <a:r>
                        <a:t>tích hợp giữa JP-CN-VN</a:t>
                      </a:r>
                    </a:p>
                  </a:txBody>
                  <a:tcPr anchor="ctr" marL="36576" marR="36576" marT="9144" marB="9144">
                    <a:solidFill>
                      <a:srgbClr val="F7F9FC"/>
                    </a:solidFill>
                  </a:tcPr>
                </a:tc>
                <a:tc>
                  <a:txBody>
                    <a:bodyPr/>
                    <a:lstStyle/>
                    <a:p>
                      <a:pPr algn="ctr">
                        <a:defRPr sz="670">
                          <a:solidFill>
                            <a:srgbClr val="1E242B"/>
                          </a:solidFill>
                          <a:latin typeface="Arial"/>
                        </a:defRPr>
                      </a:pPr>
                      <a:r>
                        <a:t>9 tờ / máy</a:t>
                      </a:r>
                      <a:br/>
                      <a:r>
                        <a:t>(Thời gian chờ in rút</a:t>
                      </a:r>
                      <a:br/>
                      <a:r>
                        <a:t>xuống ~120s)</a:t>
                      </a:r>
                    </a:p>
                  </a:txBody>
                  <a:tcPr anchor="ctr" marL="36576" marR="36576" marT="9144" marB="9144">
                    <a:solidFill>
                      <a:srgbClr val="F7F9FC"/>
                    </a:solidFill>
                  </a:tcPr>
                </a:tc>
                <a:tc>
                  <a:txBody>
                    <a:bodyPr/>
                    <a:lstStyle/>
                    <a:p>
                      <a:pPr algn="l">
                        <a:defRPr sz="670">
                          <a:solidFill>
                            <a:srgbClr val="1E242B"/>
                          </a:solidFill>
                          <a:latin typeface="Arial"/>
                        </a:defRPr>
                      </a:pPr>
                      <a:r>
                        <a:t>Giảm 8 tờ in / máy</a:t>
                      </a:r>
                      <a:br/>
                      <a:r>
                        <a:t>(-47,1% giấy &amp; mực;</a:t>
                      </a:r>
                      <a:br/>
                      <a:r>
                        <a:t>-110s chờ in)</a:t>
                      </a:r>
                    </a:p>
                  </a:txBody>
                  <a:tcPr anchor="ctr" marL="36576" marR="36576" marT="9144" marB="9144">
                    <a:solidFill>
                      <a:srgbClr val="F7F9FC"/>
                    </a:solidFill>
                  </a:tcPr>
                </a:tc>
              </a:tr>
              <a:tr h="523036">
                <a:tc>
                  <a:txBody>
                    <a:bodyPr/>
                    <a:lstStyle/>
                    <a:p>
                      <a:pPr algn="l">
                        <a:defRPr sz="670" b="1">
                          <a:solidFill>
                            <a:srgbClr val="1E242B"/>
                          </a:solidFill>
                          <a:latin typeface="Arial"/>
                        </a:defRPr>
                      </a:pPr>
                      <a:r>
                        <a:t>7. Số tờ copy kiểm tra / máy</a:t>
                      </a:r>
                      <a:br/>
                      <a:r>
                        <a:t>(Copy Samples)</a:t>
                      </a:r>
                      <a:br/>
                      <a:r>
                        <a:t>[開発目標決定 S2]</a:t>
                      </a:r>
                    </a:p>
                  </a:txBody>
                  <a:tcPr anchor="ctr" marL="36576" marR="36576" marT="9144" marB="9144">
                    <a:solidFill>
                      <a:srgbClr val="FFFFFF"/>
                    </a:solidFill>
                  </a:tcPr>
                </a:tc>
                <a:tc>
                  <a:txBody>
                    <a:bodyPr/>
                    <a:lstStyle/>
                    <a:p>
                      <a:pPr algn="ctr">
                        <a:defRPr sz="670">
                          <a:solidFill>
                            <a:srgbClr val="1E242B"/>
                          </a:solidFill>
                          <a:latin typeface="Arial"/>
                        </a:defRPr>
                      </a:pPr>
                      <a:r>
                        <a:t>2 tờ / máy</a:t>
                      </a:r>
                      <a:br/>
                      <a:r>
                        <a:t>(Đặt từng tờ lên kính</a:t>
                      </a:r>
                      <a:br/>
                      <a:r>
                        <a:t>ISU tốn 110s)</a:t>
                      </a:r>
                    </a:p>
                  </a:txBody>
                  <a:tcPr anchor="ctr" marL="36576" marR="36576" marT="9144" marB="9144">
                    <a:solidFill>
                      <a:srgbClr val="FFFFFF"/>
                    </a:solidFill>
                  </a:tcPr>
                </a:tc>
                <a:tc>
                  <a:txBody>
                    <a:bodyPr/>
                    <a:lstStyle/>
                    <a:p>
                      <a:pPr algn="ctr">
                        <a:defRPr sz="670">
                          <a:solidFill>
                            <a:srgbClr val="1E242B"/>
                          </a:solidFill>
                          <a:latin typeface="Arial"/>
                        </a:defRPr>
                      </a:pPr>
                      <a:r>
                        <a:t>Đang kiểm chứng độ</a:t>
                      </a:r>
                      <a:br/>
                      <a:r>
                        <a:t>chính xác quét DP liên tục</a:t>
                      </a:r>
                    </a:p>
                  </a:txBody>
                  <a:tcPr anchor="ctr" marL="36576" marR="36576" marT="9144" marB="9144">
                    <a:solidFill>
                      <a:srgbClr val="FFFFFF"/>
                    </a:solidFill>
                  </a:tcPr>
                </a:tc>
                <a:tc>
                  <a:txBody>
                    <a:bodyPr/>
                    <a:lstStyle/>
                    <a:p>
                      <a:pPr algn="ctr">
                        <a:defRPr sz="670">
                          <a:solidFill>
                            <a:srgbClr val="1E242B"/>
                          </a:solidFill>
                          <a:latin typeface="Arial"/>
                        </a:defRPr>
                      </a:pPr>
                      <a:r>
                        <a:t>1 tờ / máy</a:t>
                      </a:r>
                      <a:br/>
                      <a:r>
                        <a:t>(Quét liên tục qua khay</a:t>
                      </a:r>
                      <a:br/>
                      <a:r>
                        <a:t>DP + PC tự phán định)</a:t>
                      </a:r>
                    </a:p>
                  </a:txBody>
                  <a:tcPr anchor="ctr" marL="36576" marR="36576" marT="9144" marB="9144">
                    <a:solidFill>
                      <a:srgbClr val="FFFFFF"/>
                    </a:solidFill>
                  </a:tcPr>
                </a:tc>
                <a:tc>
                  <a:txBody>
                    <a:bodyPr/>
                    <a:lstStyle/>
                    <a:p>
                      <a:pPr algn="l">
                        <a:defRPr sz="670">
                          <a:solidFill>
                            <a:srgbClr val="1E242B"/>
                          </a:solidFill>
                          <a:latin typeface="Arial"/>
                        </a:defRPr>
                      </a:pPr>
                      <a:r>
                        <a:t>Giảm 1 tờ copy / máy</a:t>
                      </a:r>
                      <a:br/>
                      <a:r>
                        <a:t>(-50,0%; giảm 110s</a:t>
                      </a:r>
                      <a:br/>
                      <a:r>
                        <a:t>thao tác đặt bản thảo)</a:t>
                      </a:r>
                    </a:p>
                  </a:txBody>
                  <a:tcPr anchor="ctr" marL="36576" marR="36576" marT="9144" marB="9144">
                    <a:solidFill>
                      <a:srgbClr val="FFFFFF"/>
                    </a:solidFill>
                  </a:tcPr>
                </a:tc>
              </a:tr>
              <a:tr h="523036">
                <a:tc>
                  <a:txBody>
                    <a:bodyPr/>
                    <a:lstStyle/>
                    <a:p>
                      <a:pPr algn="l">
                        <a:defRPr sz="670" b="1">
                          <a:solidFill>
                            <a:srgbClr val="1E242B"/>
                          </a:solidFill>
                          <a:latin typeface="Arial"/>
                        </a:defRPr>
                      </a:pPr>
                      <a:r>
                        <a:t>8. Số lần cắm/rút cáp &amp; USB</a:t>
                      </a:r>
                      <a:br/>
                      <a:r>
                        <a:t>(Cable / USB Plug-Unplug)</a:t>
                      </a:r>
                      <a:br/>
                      <a:r>
                        <a:t>[IrisEXP報告 S3]</a:t>
                      </a:r>
                    </a:p>
                  </a:txBody>
                  <a:tcPr anchor="ctr" marL="36576" marR="36576" marT="9144" marB="9144">
                    <a:solidFill>
                      <a:srgbClr val="F7F9FC"/>
                    </a:solidFill>
                  </a:tcPr>
                </a:tc>
                <a:tc>
                  <a:txBody>
                    <a:bodyPr/>
                    <a:lstStyle/>
                    <a:p>
                      <a:pPr algn="ctr">
                        <a:defRPr sz="670">
                          <a:solidFill>
                            <a:srgbClr val="1E242B"/>
                          </a:solidFill>
                          <a:latin typeface="Arial"/>
                        </a:defRPr>
                      </a:pPr>
                      <a:r>
                        <a:t>11 lần cắm/rút cáp</a:t>
                      </a:r>
                      <a:br/>
                      <a:r>
                        <a:t>+ 3 lần cắm/rút USB</a:t>
                      </a:r>
                      <a:br/>
                      <a:r>
                        <a:t>trên mỗi máy</a:t>
                      </a:r>
                    </a:p>
                  </a:txBody>
                  <a:tcPr anchor="ctr" marL="36576" marR="36576" marT="9144" marB="9144">
                    <a:solidFill>
                      <a:srgbClr val="F7F9FC"/>
                    </a:solidFill>
                  </a:tcPr>
                </a:tc>
                <a:tc>
                  <a:txBody>
                    <a:bodyPr/>
                    <a:lstStyle/>
                    <a:p>
                      <a:pPr algn="ctr">
                        <a:defRPr sz="670">
                          <a:solidFill>
                            <a:srgbClr val="1E242B"/>
                          </a:solidFill>
                          <a:latin typeface="Arial"/>
                        </a:defRPr>
                      </a:pPr>
                      <a:r>
                        <a:t>Đã duyệt bỏ kiểm tra</a:t>
                      </a:r>
                      <a:br/>
                      <a:r>
                        <a:t>USB U208 (-3,96s) &amp;</a:t>
                      </a:r>
                      <a:br/>
                      <a:r>
                        <a:t>chốt hệ Spica Mini PC</a:t>
                      </a:r>
                    </a:p>
                  </a:txBody>
                  <a:tcPr anchor="ctr" marL="36576" marR="36576" marT="9144" marB="9144">
                    <a:solidFill>
                      <a:srgbClr val="F7F9FC"/>
                    </a:solidFill>
                  </a:tcPr>
                </a:tc>
                <a:tc>
                  <a:txBody>
                    <a:bodyPr/>
                    <a:lstStyle/>
                    <a:p>
                      <a:pPr algn="ctr">
                        <a:defRPr sz="670">
                          <a:solidFill>
                            <a:srgbClr val="1E242B"/>
                          </a:solidFill>
                          <a:latin typeface="Arial"/>
                        </a:defRPr>
                      </a:pPr>
                      <a:r>
                        <a:t>Cắm 1 lần đầu chuyền</a:t>
                      </a:r>
                      <a:br/>
                      <a:r>
                        <a:t>hoặc tiếp điện tự động</a:t>
                      </a:r>
                      <a:br/>
                      <a:r>
                        <a:t>+ truyền log qua LAN</a:t>
                      </a:r>
                    </a:p>
                  </a:txBody>
                  <a:tcPr anchor="ctr" marL="36576" marR="36576" marT="9144" marB="9144">
                    <a:solidFill>
                      <a:srgbClr val="F7F9FC"/>
                    </a:solidFill>
                  </a:tcPr>
                </a:tc>
                <a:tc>
                  <a:txBody>
                    <a:bodyPr/>
                    <a:lstStyle/>
                    <a:p>
                      <a:pPr algn="l">
                        <a:defRPr sz="670">
                          <a:solidFill>
                            <a:srgbClr val="1E242B"/>
                          </a:solidFill>
                          <a:latin typeface="Arial"/>
                        </a:defRPr>
                      </a:pPr>
                      <a:r>
                        <a:t>Xóa ~11 lần cắm/rút cáp</a:t>
                      </a:r>
                      <a:br/>
                      <a:r>
                        <a:t>&amp; xóa cắm USB lấy log/</a:t>
                      </a:r>
                      <a:br/>
                      <a:r>
                        <a:t>xuất hàng thủ công</a:t>
                      </a:r>
                    </a:p>
                  </a:txBody>
                  <a:tcPr anchor="ctr" marL="36576" marR="36576" marT="9144" marB="9144">
                    <a:solidFill>
                      <a:srgbClr val="F7F9FC"/>
                    </a:solidFill>
                  </a:tcPr>
                </a:tc>
              </a:tr>
              <a:tr h="523044">
                <a:tc>
                  <a:txBody>
                    <a:bodyPr/>
                    <a:lstStyle/>
                    <a:p>
                      <a:pPr algn="l">
                        <a:defRPr sz="670" b="1">
                          <a:solidFill>
                            <a:srgbClr val="1E242B"/>
                          </a:solidFill>
                          <a:latin typeface="Arial"/>
                        </a:defRPr>
                      </a:pPr>
                      <a:r>
                        <a:t>9. Lộ trình PDCA hàng tháng</a:t>
                      </a:r>
                      <a:br/>
                      <a:r>
                        <a:t>tại VN (BM-003-F 8~10月)</a:t>
                      </a:r>
                      <a:br/>
                      <a:r>
                        <a:t>[KDTVN-PE-3]</a:t>
                      </a:r>
                    </a:p>
                  </a:txBody>
                  <a:tcPr anchor="ctr" marL="36576" marR="36576" marT="9144" marB="9144">
                    <a:solidFill>
                      <a:srgbClr val="FEF7E6"/>
                    </a:solidFill>
                  </a:tcPr>
                </a:tc>
                <a:tc>
                  <a:txBody>
                    <a:bodyPr/>
                    <a:lstStyle/>
                    <a:p>
                      <a:pPr algn="ctr">
                        <a:defRPr sz="670">
                          <a:solidFill>
                            <a:srgbClr val="1E242B"/>
                          </a:solidFill>
                          <a:latin typeface="Arial"/>
                        </a:defRPr>
                      </a:pPr>
                      <a:r>
                        <a:t>T8/2026: 0% (Lập KH)</a:t>
                      </a:r>
                      <a:br/>
                      <a:r>
                        <a:t>T9/2026: Mục tiêu 1%</a:t>
                      </a:r>
                      <a:br/>
                      <a:r>
                        <a:t>(-23,5s) -&gt; Thực tế 0%</a:t>
                      </a:r>
                    </a:p>
                  </a:txBody>
                  <a:tcPr anchor="ctr" marL="36576" marR="36576" marT="9144" marB="9144">
                    <a:solidFill>
                      <a:srgbClr val="FEF7E6"/>
                    </a:solidFill>
                  </a:tcPr>
                </a:tc>
                <a:tc>
                  <a:txBody>
                    <a:bodyPr/>
                    <a:lstStyle/>
                    <a:p>
                      <a:pPr algn="ctr">
                        <a:defRPr sz="670">
                          <a:solidFill>
                            <a:srgbClr val="1E242B"/>
                          </a:solidFill>
                          <a:latin typeface="Arial"/>
                        </a:defRPr>
                      </a:pPr>
                      <a:r>
                        <a:t>T10/2026: Mục tiêu 3%</a:t>
                      </a:r>
                      <a:br/>
                      <a:r>
                        <a:t>(-47,0s) -&gt; Thực tế:</a:t>
                      </a:r>
                      <a:br/>
                      <a:r>
                        <a:t>-4,32s (0,18%, đánh giá ×)</a:t>
                      </a:r>
                    </a:p>
                  </a:txBody>
                  <a:tcPr anchor="ctr" marL="36576" marR="36576" marT="9144" marB="9144">
                    <a:solidFill>
                      <a:srgbClr val="FEF7E6"/>
                    </a:solidFill>
                  </a:tcPr>
                </a:tc>
                <a:tc>
                  <a:txBody>
                    <a:bodyPr/>
                    <a:lstStyle/>
                    <a:p>
                      <a:pPr algn="ctr">
                        <a:defRPr sz="670">
                          <a:solidFill>
                            <a:srgbClr val="1E242B"/>
                          </a:solidFill>
                          <a:latin typeface="Arial"/>
                        </a:defRPr>
                      </a:pPr>
                      <a:r>
                        <a:t>T11: 15% (-282s) | T12: 30%</a:t>
                      </a:r>
                      <a:br/>
                      <a:r>
                        <a:t>(-705s) | T1: 50% (-1.175s)</a:t>
                      </a:r>
                      <a:br/>
                      <a:r>
                        <a:t>T2: 80% | T3/2027: 100%</a:t>
                      </a:r>
                    </a:p>
                  </a:txBody>
                  <a:tcPr anchor="ctr" marL="36576" marR="36576" marT="9144" marB="9144">
                    <a:solidFill>
                      <a:srgbClr val="FEF7E6"/>
                    </a:solidFill>
                  </a:tcPr>
                </a:tc>
                <a:tc>
                  <a:txBody>
                    <a:bodyPr/>
                    <a:lstStyle/>
                    <a:p>
                      <a:pPr algn="l">
                        <a:defRPr sz="670">
                          <a:solidFill>
                            <a:srgbClr val="1E242B"/>
                          </a:solidFill>
                          <a:latin typeface="Arial"/>
                        </a:defRPr>
                      </a:pPr>
                      <a:r>
                        <a:t>Cần duyệt No.22 &amp;</a:t>
                      </a:r>
                      <a:br/>
                      <a:r>
                        <a:t>chốt DR công đoạn với JP</a:t>
                      </a:r>
                      <a:br/>
                      <a:r>
                        <a:t>để bù tiến độ T11~T12</a:t>
                      </a:r>
                    </a:p>
                  </a:txBody>
                  <a:tcPr anchor="ctr" marL="36576" marR="36576" marT="9144" marB="9144">
                    <a:solidFill>
                      <a:srgbClr val="FEF7E6"/>
                    </a:solidFill>
                  </a:tcPr>
                </a:tc>
              </a:tr>
            </a:tbl>
          </a:graphicData>
        </a:graphic>
      </p:graphicFrame>
      <p:pic>
        <p:nvPicPr>
          <p:cNvPr id="8" name="Picture 7" descr="chart_s11_before_after_pdca.png"/>
          <p:cNvPicPr>
            <a:picLocks noChangeAspect="1"/>
          </p:cNvPicPr>
          <p:nvPr/>
        </p:nvPicPr>
        <p:blipFill>
          <a:blip r:embed="rId2"/>
          <a:stretch>
            <a:fillRect/>
          </a:stretch>
        </p:blipFill>
        <p:spPr>
          <a:xfrm>
            <a:off x="6629400" y="1243584"/>
            <a:ext cx="5285232" cy="36655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8: KẾ HOẠCH &amp; LỊCH TRÌNH</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Kế hoạch triển khai tổng thể (T5/2026 ~ T3/2027) và Các công việc tiếp theo (連携会 13~17)</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12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Lộ trình theo các mốc DMT (T8~T11/2026) -&gt; PMT1 (T12/2026) -&gt; PMT2 (T2/2027) -&gt; MP (T3/2027); trọng tâm tháng 11 là duyệt kinh phí No.22, chốt báo giá Đợt 2 và hoàn tất DR công đoạn với PE JP.</a:t>
            </a:r>
          </a:p>
        </p:txBody>
      </p:sp>
      <p:sp>
        <p:nvSpPr>
          <p:cNvPr id="7" name="TextBox 6"/>
          <p:cNvSpPr txBox="1"/>
          <p:nvPr/>
        </p:nvSpPr>
        <p:spPr>
          <a:xfrm>
            <a:off x="274320" y="1197864"/>
            <a:ext cx="11643055" cy="201168"/>
          </a:xfrm>
          <a:prstGeom prst="rect">
            <a:avLst/>
          </a:prstGeom>
          <a:noFill/>
        </p:spPr>
        <p:txBody>
          <a:bodyPr wrap="square" lIns="18288" rIns="18288" tIns="9144" bIns="9144">
            <a:spAutoFit/>
          </a:bodyPr>
          <a:lstStyle/>
          <a:p>
            <a:pPr>
              <a:defRPr sz="819" b="1">
                <a:solidFill>
                  <a:srgbClr val="1B365D"/>
                </a:solidFill>
                <a:latin typeface="Arial"/>
              </a:defRPr>
            </a:pPr>
            <a:r>
              <a:t>■ 1. LỊCH TRÌNH TỔNG THỂ CẢI TIẾN CÔNG ĐOẠN ĐIỀU CHỈNH IRISEXP (Nguồn: KDTVN-A-QA-QA-BM-003-F 5月~10月.xlsx &amp; 調整工程計画.xlsx)</a:t>
            </a:r>
          </a:p>
        </p:txBody>
      </p:sp>
      <p:graphicFrame>
        <p:nvGraphicFramePr>
          <p:cNvPr id="8" name="Table 7"/>
          <p:cNvGraphicFramePr>
            <a:graphicFrameLocks noGrp="1"/>
          </p:cNvGraphicFramePr>
          <p:nvPr/>
        </p:nvGraphicFramePr>
        <p:xfrm>
          <a:off x="274320" y="1399032"/>
          <a:ext cx="11643055" cy="2057400"/>
        </p:xfrm>
        <a:graphic>
          <a:graphicData uri="http://schemas.openxmlformats.org/drawingml/2006/table">
            <a:tbl>
              <a:tblPr firstRow="1" bandRow="1">
                <a:tableStyleId>{5C22544A-7EE6-4342-B048-85BDC9FD1C3A}</a:tableStyleId>
              </a:tblPr>
              <a:tblGrid>
                <a:gridCol w="1691640"/>
                <a:gridCol w="1234440"/>
                <a:gridCol w="1234440"/>
                <a:gridCol w="1325880"/>
                <a:gridCol w="1417320"/>
                <a:gridCol w="1508760"/>
                <a:gridCol w="1600200"/>
                <a:gridCol w="1630375"/>
              </a:tblGrid>
              <a:tr h="293914">
                <a:tc>
                  <a:txBody>
                    <a:bodyPr/>
                    <a:lstStyle/>
                    <a:p>
                      <a:pPr algn="ctr">
                        <a:defRPr sz="700" b="1">
                          <a:solidFill>
                            <a:srgbClr val="FFFFFF"/>
                          </a:solidFill>
                          <a:latin typeface="Arial"/>
                        </a:defRPr>
                      </a:pPr>
                      <a:r>
                        <a:t>Hạng mục công việc</a:t>
                      </a:r>
                      <a:br/>
                      <a:r>
                        <a:t>(Theo BM-003-F)</a:t>
                      </a:r>
                    </a:p>
                  </a:txBody>
                  <a:tcPr anchor="ctr" marL="36576" marR="36576" marT="9144" marB="9144">
                    <a:solidFill>
                      <a:srgbClr val="1B365D"/>
                    </a:solidFill>
                  </a:tcPr>
                </a:tc>
                <a:tc>
                  <a:txBody>
                    <a:bodyPr/>
                    <a:lstStyle/>
                    <a:p>
                      <a:pPr algn="ctr">
                        <a:defRPr sz="700" b="1">
                          <a:solidFill>
                            <a:srgbClr val="FFFFFF"/>
                          </a:solidFill>
                          <a:latin typeface="Arial"/>
                        </a:defRPr>
                      </a:pPr>
                      <a:r>
                        <a:t>T5 ~ T7/2026</a:t>
                      </a:r>
                      <a:br/>
                      <a:r>
                        <a:t>(Khởi động)</a:t>
                      </a:r>
                    </a:p>
                  </a:txBody>
                  <a:tcPr anchor="ctr" marL="36576" marR="36576" marT="9144" marB="9144">
                    <a:solidFill>
                      <a:srgbClr val="1B365D"/>
                    </a:solidFill>
                  </a:tcPr>
                </a:tc>
                <a:tc>
                  <a:txBody>
                    <a:bodyPr/>
                    <a:lstStyle/>
                    <a:p>
                      <a:pPr algn="ctr">
                        <a:defRPr sz="700" b="1">
                          <a:solidFill>
                            <a:srgbClr val="FFFFFF"/>
                          </a:solidFill>
                          <a:latin typeface="Arial"/>
                        </a:defRPr>
                      </a:pPr>
                      <a:r>
                        <a:t>T8 ~ T9/2026</a:t>
                      </a:r>
                      <a:br/>
                      <a:r>
                        <a:t>(DMT1 / Đề án)</a:t>
                      </a:r>
                    </a:p>
                  </a:txBody>
                  <a:tcPr anchor="ctr" marL="36576" marR="36576" marT="9144" marB="9144">
                    <a:solidFill>
                      <a:srgbClr val="1B365D"/>
                    </a:solidFill>
                  </a:tcPr>
                </a:tc>
                <a:tc>
                  <a:txBody>
                    <a:bodyPr/>
                    <a:lstStyle/>
                    <a:p>
                      <a:pPr algn="ctr">
                        <a:defRPr sz="700" b="1">
                          <a:solidFill>
                            <a:srgbClr val="FFFFFF"/>
                          </a:solidFill>
                          <a:latin typeface="Arial"/>
                        </a:defRPr>
                      </a:pPr>
                      <a:r>
                        <a:t>T10/2026</a:t>
                      </a:r>
                      <a:br/>
                      <a:r>
                        <a:t>(DMT2 / Báo giá)</a:t>
                      </a:r>
                    </a:p>
                  </a:txBody>
                  <a:tcPr anchor="ctr" marL="36576" marR="36576" marT="9144" marB="9144">
                    <a:solidFill>
                      <a:srgbClr val="1B365D"/>
                    </a:solidFill>
                  </a:tcPr>
                </a:tc>
                <a:tc>
                  <a:txBody>
                    <a:bodyPr/>
                    <a:lstStyle/>
                    <a:p>
                      <a:pPr algn="ctr">
                        <a:defRPr sz="700" b="1">
                          <a:solidFill>
                            <a:srgbClr val="FFFFFF"/>
                          </a:solidFill>
                          <a:latin typeface="Arial"/>
                        </a:defRPr>
                      </a:pPr>
                      <a:r>
                        <a:t>T11/2026</a:t>
                      </a:r>
                      <a:br/>
                      <a:r>
                        <a:t>(Chốt DR &amp; Chế tạo)</a:t>
                      </a:r>
                    </a:p>
                  </a:txBody>
                  <a:tcPr anchor="ctr" marL="36576" marR="36576" marT="9144" marB="9144">
                    <a:solidFill>
                      <a:srgbClr val="1B365D"/>
                    </a:solidFill>
                  </a:tcPr>
                </a:tc>
                <a:tc>
                  <a:txBody>
                    <a:bodyPr/>
                    <a:lstStyle/>
                    <a:p>
                      <a:pPr algn="ctr">
                        <a:defRPr sz="700" b="1">
                          <a:solidFill>
                            <a:srgbClr val="FFFFFF"/>
                          </a:solidFill>
                          <a:latin typeface="Arial"/>
                        </a:defRPr>
                      </a:pPr>
                      <a:r>
                        <a:t>T12/2026</a:t>
                      </a:r>
                      <a:br/>
                      <a:r>
                        <a:t>(PMT1 / Lắp thử)</a:t>
                      </a:r>
                    </a:p>
                  </a:txBody>
                  <a:tcPr anchor="ctr" marL="36576" marR="36576" marT="9144" marB="9144">
                    <a:solidFill>
                      <a:srgbClr val="1B365D"/>
                    </a:solidFill>
                  </a:tcPr>
                </a:tc>
                <a:tc>
                  <a:txBody>
                    <a:bodyPr/>
                    <a:lstStyle/>
                    <a:p>
                      <a:pPr algn="ctr">
                        <a:defRPr sz="700" b="1">
                          <a:solidFill>
                            <a:srgbClr val="FFFFFF"/>
                          </a:solidFill>
                          <a:latin typeface="Arial"/>
                        </a:defRPr>
                      </a:pPr>
                      <a:r>
                        <a:t>T1 ~ T2/2027</a:t>
                      </a:r>
                      <a:br/>
                      <a:r>
                        <a:t>(PMT2 / Đồng bộ)</a:t>
                      </a:r>
                    </a:p>
                  </a:txBody>
                  <a:tcPr anchor="ctr" marL="36576" marR="36576" marT="9144" marB="9144">
                    <a:solidFill>
                      <a:srgbClr val="1B365D"/>
                    </a:solidFill>
                  </a:tcPr>
                </a:tc>
                <a:tc>
                  <a:txBody>
                    <a:bodyPr/>
                    <a:lstStyle/>
                    <a:p>
                      <a:pPr algn="ctr">
                        <a:defRPr sz="700" b="1">
                          <a:solidFill>
                            <a:srgbClr val="FFFFFF"/>
                          </a:solidFill>
                          <a:latin typeface="Arial"/>
                        </a:defRPr>
                      </a:pPr>
                      <a:r>
                        <a:t>T3/2027</a:t>
                      </a:r>
                      <a:br/>
                      <a:r>
                        <a:t>(MP / Hàng loạt)</a:t>
                      </a:r>
                    </a:p>
                  </a:txBody>
                  <a:tcPr anchor="ctr" marL="36576" marR="36576" marT="9144" marB="9144">
                    <a:solidFill>
                      <a:srgbClr val="1B365D"/>
                    </a:solidFill>
                  </a:tcPr>
                </a:tc>
              </a:tr>
              <a:tr h="293914">
                <a:tc>
                  <a:txBody>
                    <a:bodyPr/>
                    <a:lstStyle/>
                    <a:p>
                      <a:pPr algn="l">
                        <a:defRPr sz="630" b="1">
                          <a:solidFill>
                            <a:srgbClr val="1E242B"/>
                          </a:solidFill>
                          <a:latin typeface="Arial"/>
                        </a:defRPr>
                      </a:pPr>
                      <a:r>
                        <a:t>Mốc phát triển dòng máy</a:t>
                      </a:r>
                      <a:br/>
                      <a:r>
                        <a:t>(Development Milestones)</a:t>
                      </a:r>
                    </a:p>
                  </a:txBody>
                  <a:tcPr anchor="ctr" marL="36576" marR="36576" marT="9144" marB="9144">
                    <a:solidFill>
                      <a:srgbClr val="E8EEF5"/>
                    </a:solidFill>
                  </a:tcPr>
                </a:tc>
                <a:tc>
                  <a:txBody>
                    <a:bodyPr/>
                    <a:lstStyle/>
                    <a:p>
                      <a:pPr algn="ctr">
                        <a:defRPr sz="630">
                          <a:solidFill>
                            <a:srgbClr val="1E242B"/>
                          </a:solidFill>
                          <a:latin typeface="Arial"/>
                        </a:defRPr>
                      </a:pPr>
                      <a:r>
                        <a:t>Khảo sát hiện trạng</a:t>
                      </a:r>
                      <a:br/>
                      <a:r>
                        <a:t>Iris2024 &amp; Athena</a:t>
                      </a:r>
                    </a:p>
                  </a:txBody>
                  <a:tcPr anchor="ctr" marL="36576" marR="36576" marT="9144" marB="9144">
                    <a:solidFill>
                      <a:srgbClr val="E8EEF5"/>
                    </a:solidFill>
                  </a:tcPr>
                </a:tc>
                <a:tc>
                  <a:txBody>
                    <a:bodyPr/>
                    <a:lstStyle/>
                    <a:p>
                      <a:pPr algn="ctr">
                        <a:defRPr sz="630">
                          <a:solidFill>
                            <a:srgbClr val="1E242B"/>
                          </a:solidFill>
                          <a:latin typeface="Arial"/>
                        </a:defRPr>
                      </a:pPr>
                      <a:r>
                        <a:t>DMT1 (T8/2026)</a:t>
                      </a:r>
                      <a:br/>
                      <a:r>
                        <a:t>Họp 連携会 2~12</a:t>
                      </a:r>
                    </a:p>
                  </a:txBody>
                  <a:tcPr anchor="ctr" marL="36576" marR="36576" marT="9144" marB="9144">
                    <a:solidFill>
                      <a:srgbClr val="E8EEF5"/>
                    </a:solidFill>
                  </a:tcPr>
                </a:tc>
                <a:tc>
                  <a:txBody>
                    <a:bodyPr/>
                    <a:lstStyle/>
                    <a:p>
                      <a:pPr algn="ctr">
                        <a:defRPr sz="630">
                          <a:solidFill>
                            <a:srgbClr val="1E242B"/>
                          </a:solidFill>
                          <a:latin typeface="Arial"/>
                        </a:defRPr>
                      </a:pPr>
                      <a:r>
                        <a:t>DMT2 (T10/2026)</a:t>
                      </a:r>
                      <a:br/>
                      <a:r>
                        <a:t>Họp 連携会 13~17</a:t>
                      </a:r>
                    </a:p>
                  </a:txBody>
                  <a:tcPr anchor="ctr" marL="36576" marR="36576" marT="9144" marB="9144">
                    <a:solidFill>
                      <a:srgbClr val="E8EEF5"/>
                    </a:solidFill>
                  </a:tcPr>
                </a:tc>
                <a:tc>
                  <a:txBody>
                    <a:bodyPr/>
                    <a:lstStyle/>
                    <a:p>
                      <a:pPr algn="ctr">
                        <a:defRPr sz="630">
                          <a:solidFill>
                            <a:srgbClr val="1E242B"/>
                          </a:solidFill>
                          <a:latin typeface="Arial"/>
                        </a:defRPr>
                      </a:pPr>
                      <a:r>
                        <a:t>Hoàn tất DR công đoạn</a:t>
                      </a:r>
                      <a:br/>
                      <a:r>
                        <a:t>Chế tạo JIG/Thiết bị</a:t>
                      </a:r>
                    </a:p>
                  </a:txBody>
                  <a:tcPr anchor="ctr" marL="36576" marR="36576" marT="9144" marB="9144">
                    <a:solidFill>
                      <a:srgbClr val="E8EEF5"/>
                    </a:solidFill>
                  </a:tcPr>
                </a:tc>
                <a:tc>
                  <a:txBody>
                    <a:bodyPr/>
                    <a:lstStyle/>
                    <a:p>
                      <a:pPr algn="ctr">
                        <a:defRPr sz="630">
                          <a:solidFill>
                            <a:srgbClr val="1E242B"/>
                          </a:solidFill>
                          <a:latin typeface="Arial"/>
                        </a:defRPr>
                      </a:pPr>
                      <a:r>
                        <a:t>PMT1 (T12/2026)</a:t>
                      </a:r>
                      <a:br/>
                      <a:r>
                        <a:t>Chạy thử dây chuyền</a:t>
                      </a:r>
                    </a:p>
                  </a:txBody>
                  <a:tcPr anchor="ctr" marL="36576" marR="36576" marT="9144" marB="9144">
                    <a:solidFill>
                      <a:srgbClr val="E8EEF5"/>
                    </a:solidFill>
                  </a:tcPr>
                </a:tc>
                <a:tc>
                  <a:txBody>
                    <a:bodyPr/>
                    <a:lstStyle/>
                    <a:p>
                      <a:pPr algn="ctr">
                        <a:defRPr sz="630">
                          <a:solidFill>
                            <a:srgbClr val="1E242B"/>
                          </a:solidFill>
                          <a:latin typeface="Arial"/>
                        </a:defRPr>
                      </a:pPr>
                      <a:r>
                        <a:t>PMT2 (T2/2027)</a:t>
                      </a:r>
                      <a:br/>
                      <a:r>
                        <a:t>Nghiệm thu Cpk &amp; QA</a:t>
                      </a:r>
                    </a:p>
                  </a:txBody>
                  <a:tcPr anchor="ctr" marL="36576" marR="36576" marT="9144" marB="9144">
                    <a:solidFill>
                      <a:srgbClr val="E8EEF5"/>
                    </a:solidFill>
                  </a:tcPr>
                </a:tc>
                <a:tc>
                  <a:txBody>
                    <a:bodyPr/>
                    <a:lstStyle/>
                    <a:p>
                      <a:pPr algn="ctr">
                        <a:defRPr sz="630">
                          <a:solidFill>
                            <a:srgbClr val="1E242B"/>
                          </a:solidFill>
                          <a:latin typeface="Arial"/>
                        </a:defRPr>
                      </a:pPr>
                      <a:r>
                        <a:t>MP (T3/2027)</a:t>
                      </a:r>
                      <a:br/>
                      <a:r>
                        <a:t>Sản xuất hàng loạt (16k/th)</a:t>
                      </a:r>
                    </a:p>
                  </a:txBody>
                  <a:tcPr anchor="ctr" marL="36576" marR="36576" marT="9144" marB="9144">
                    <a:solidFill>
                      <a:srgbClr val="E8EEF5"/>
                    </a:solidFill>
                  </a:tcPr>
                </a:tc>
              </a:tr>
              <a:tr h="293914">
                <a:tc>
                  <a:txBody>
                    <a:bodyPr/>
                    <a:lstStyle/>
                    <a:p>
                      <a:pPr algn="l">
                        <a:defRPr sz="630" b="1">
                          <a:solidFill>
                            <a:srgbClr val="1E242B"/>
                          </a:solidFill>
                          <a:latin typeface="Arial"/>
                        </a:defRPr>
                      </a:pPr>
                      <a:r>
                        <a:t>Bước 1: Đưa ra đề án cải tiến</a:t>
                      </a:r>
                      <a:br/>
                      <a:r>
                        <a:t>(改善案の策定)</a:t>
                      </a:r>
                    </a:p>
                  </a:txBody>
                  <a:tcPr anchor="ctr" marL="36576" marR="36576" marT="9144" marB="9144">
                    <a:solidFill>
                      <a:srgbClr val="F7F9FC"/>
                    </a:solidFill>
                  </a:tcPr>
                </a:tc>
                <a:tc>
                  <a:txBody>
                    <a:bodyPr/>
                    <a:lstStyle/>
                    <a:p>
                      <a:pPr algn="ctr">
                        <a:defRPr sz="630">
                          <a:solidFill>
                            <a:srgbClr val="1E242B"/>
                          </a:solidFill>
                          <a:latin typeface="Arial"/>
                        </a:defRPr>
                      </a:pPr>
                      <a:r>
                        <a:t>Phân tích 39 bước</a:t>
                      </a:r>
                      <a:br/>
                      <a:r>
                        <a:t>K1~K8 (2.350s)</a:t>
                      </a:r>
                    </a:p>
                  </a:txBody>
                  <a:tcPr anchor="ctr" marL="36576" marR="36576" marT="9144" marB="9144">
                    <a:solidFill>
                      <a:srgbClr val="F7F9FC"/>
                    </a:solidFill>
                  </a:tcPr>
                </a:tc>
                <a:tc>
                  <a:txBody>
                    <a:bodyPr/>
                    <a:lstStyle/>
                    <a:p>
                      <a:pPr algn="ctr">
                        <a:defRPr sz="630">
                          <a:solidFill>
                            <a:srgbClr val="1E242B"/>
                          </a:solidFill>
                          <a:latin typeface="Arial"/>
                        </a:defRPr>
                      </a:pPr>
                      <a:r>
                        <a:t>Đã lập 28 -&gt; 37 đề án</a:t>
                      </a:r>
                      <a:br/>
                      <a:r>
                        <a:t>(VN: 20 đề án)</a:t>
                      </a:r>
                    </a:p>
                  </a:txBody>
                  <a:tcPr anchor="ctr" marL="36576" marR="36576" marT="9144" marB="9144">
                    <a:solidFill>
                      <a:srgbClr val="F7F9FC"/>
                    </a:solidFill>
                  </a:tcPr>
                </a:tc>
                <a:tc>
                  <a:txBody>
                    <a:bodyPr/>
                    <a:lstStyle/>
                    <a:p>
                      <a:pPr algn="ctr">
                        <a:defRPr sz="630">
                          <a:solidFill>
                            <a:srgbClr val="1E242B"/>
                          </a:solidFill>
                          <a:latin typeface="Arial"/>
                        </a:defRPr>
                      </a:pPr>
                      <a:r>
                        <a:t>Cập nhật 38 đề án</a:t>
                      </a:r>
                      <a:br/>
                      <a:r>
                        <a:t>(Thêm CN No.38)</a:t>
                      </a:r>
                    </a:p>
                  </a:txBody>
                  <a:tcPr anchor="ctr" marL="36576" marR="36576" marT="9144" marB="9144">
                    <a:solidFill>
                      <a:srgbClr val="F7F9FC"/>
                    </a:solidFill>
                  </a:tcPr>
                </a:tc>
                <a:tc>
                  <a:txBody>
                    <a:bodyPr/>
                    <a:lstStyle/>
                    <a:p>
                      <a:pPr algn="ctr">
                        <a:defRPr sz="630">
                          <a:solidFill>
                            <a:srgbClr val="1E242B"/>
                          </a:solidFill>
                          <a:latin typeface="Arial"/>
                        </a:defRPr>
                      </a:pPr>
                      <a:r>
                        <a:t>Khóa danh mục đề án</a:t>
                      </a:r>
                      <a:br/>
                      <a:r>
                        <a:t>áp dụng chính thức</a:t>
                      </a:r>
                    </a:p>
                  </a:txBody>
                  <a:tcPr anchor="ctr" marL="36576" marR="36576" marT="9144" marB="9144">
                    <a:solidFill>
                      <a:srgbClr val="F7F9FC"/>
                    </a:solidFill>
                  </a:tcPr>
                </a:tc>
                <a:tc>
                  <a:txBody>
                    <a:bodyPr/>
                    <a:lstStyle/>
                    <a:p>
                      <a:pPr algn="ctr">
                        <a:defRPr sz="630">
                          <a:solidFill>
                            <a:srgbClr val="1E242B"/>
                          </a:solidFill>
                          <a:latin typeface="Arial"/>
                        </a:defRPr>
                      </a:pPr>
                      <a:r>
                        <a:t>Đánh giá hiệu quả</a:t>
                      </a:r>
                      <a:br/>
                      <a:r>
                        <a:t>trên máy PMT1</a:t>
                      </a:r>
                    </a:p>
                  </a:txBody>
                  <a:tcPr anchor="ctr" marL="36576" marR="36576" marT="9144" marB="9144">
                    <a:solidFill>
                      <a:srgbClr val="F7F9FC"/>
                    </a:solidFill>
                  </a:tcPr>
                </a:tc>
                <a:tc>
                  <a:txBody>
                    <a:bodyPr/>
                    <a:lstStyle/>
                    <a:p>
                      <a:pPr algn="ctr">
                        <a:defRPr sz="630">
                          <a:solidFill>
                            <a:srgbClr val="1E242B"/>
                          </a:solidFill>
                          <a:latin typeface="Arial"/>
                        </a:defRPr>
                      </a:pPr>
                      <a:r>
                        <a:t>Tinh chỉnh sau PMT1</a:t>
                      </a:r>
                    </a:p>
                  </a:txBody>
                  <a:tcPr anchor="ctr" marL="36576" marR="36576" marT="9144" marB="9144">
                    <a:solidFill>
                      <a:srgbClr val="F7F9FC"/>
                    </a:solidFill>
                  </a:tcPr>
                </a:tc>
                <a:tc>
                  <a:txBody>
                    <a:bodyPr/>
                    <a:lstStyle/>
                    <a:p>
                      <a:pPr algn="ctr">
                        <a:defRPr sz="630">
                          <a:solidFill>
                            <a:srgbClr val="1E242B"/>
                          </a:solidFill>
                          <a:latin typeface="Arial"/>
                        </a:defRPr>
                      </a:pPr>
                      <a:r>
                        <a:t>Hoàn tất</a:t>
                      </a:r>
                    </a:p>
                  </a:txBody>
                  <a:tcPr anchor="ctr" marL="36576" marR="36576" marT="9144" marB="9144">
                    <a:solidFill>
                      <a:srgbClr val="F7F9FC"/>
                    </a:solidFill>
                  </a:tcPr>
                </a:tc>
              </a:tr>
              <a:tr h="293914">
                <a:tc>
                  <a:txBody>
                    <a:bodyPr/>
                    <a:lstStyle/>
                    <a:p>
                      <a:pPr algn="l">
                        <a:defRPr sz="630" b="1">
                          <a:solidFill>
                            <a:srgbClr val="1E242B"/>
                          </a:solidFill>
                          <a:latin typeface="Arial"/>
                        </a:defRPr>
                      </a:pPr>
                      <a:r>
                        <a:t>Bước 2: Thảo luận khả năng</a:t>
                      </a:r>
                      <a:br/>
                      <a:r>
                        <a:t>thực thi với JP &amp; CN</a:t>
                      </a:r>
                    </a:p>
                  </a:txBody>
                  <a:tcPr anchor="ctr" marL="36576" marR="36576" marT="9144" marB="9144">
                    <a:solidFill>
                      <a:srgbClr val="FFFFFF"/>
                    </a:solidFill>
                  </a:tcPr>
                </a:tc>
                <a:tc>
                  <a:txBody>
                    <a:bodyPr/>
                    <a:lstStyle/>
                    <a:p>
                      <a:pPr algn="ctr">
                        <a:defRPr sz="630">
                          <a:solidFill>
                            <a:srgbClr val="1E242B"/>
                          </a:solidFill>
                          <a:latin typeface="Arial"/>
                        </a:defRPr>
                      </a:pPr>
                      <a:r>
                        <a:t>Bắt đầu họp định kỳ</a:t>
                      </a:r>
                      <a:br/>
                      <a:r>
                        <a:t>保証工程連携会</a:t>
                      </a:r>
                    </a:p>
                  </a:txBody>
                  <a:tcPr anchor="ctr" marL="36576" marR="36576" marT="9144" marB="9144">
                    <a:solidFill>
                      <a:srgbClr val="FFFFFF"/>
                    </a:solidFill>
                  </a:tcPr>
                </a:tc>
                <a:tc>
                  <a:txBody>
                    <a:bodyPr/>
                    <a:lstStyle/>
                    <a:p>
                      <a:pPr algn="ctr">
                        <a:defRPr sz="630">
                          <a:solidFill>
                            <a:srgbClr val="1E242B"/>
                          </a:solidFill>
                          <a:latin typeface="Arial"/>
                        </a:defRPr>
                      </a:pPr>
                      <a:r>
                        <a:t>Chốt mục tiêu 2x NS;</a:t>
                      </a:r>
                      <a:br/>
                      <a:r>
                        <a:t>Hủy Robot No.23, 24</a:t>
                      </a:r>
                    </a:p>
                  </a:txBody>
                  <a:tcPr anchor="ctr" marL="36576" marR="36576" marT="9144" marB="9144">
                    <a:solidFill>
                      <a:srgbClr val="FFFFFF"/>
                    </a:solidFill>
                  </a:tcPr>
                </a:tc>
                <a:tc>
                  <a:txBody>
                    <a:bodyPr/>
                    <a:lstStyle/>
                    <a:p>
                      <a:pPr algn="ctr">
                        <a:defRPr sz="630">
                          <a:solidFill>
                            <a:srgbClr val="1E242B"/>
                          </a:solidFill>
                          <a:latin typeface="Arial"/>
                        </a:defRPr>
                      </a:pPr>
                      <a:r>
                        <a:t>Chốt hệ Spica Mini PC;</a:t>
                      </a:r>
                      <a:br/>
                      <a:r>
                        <a:t>Xóa 4 bước (-4,32s)</a:t>
                      </a:r>
                    </a:p>
                  </a:txBody>
                  <a:tcPr anchor="ctr" marL="36576" marR="36576" marT="9144" marB="9144">
                    <a:solidFill>
                      <a:srgbClr val="FFFFFF"/>
                    </a:solidFill>
                  </a:tcPr>
                </a:tc>
                <a:tc>
                  <a:txBody>
                    <a:bodyPr/>
                    <a:lstStyle/>
                    <a:p>
                      <a:pPr algn="ctr">
                        <a:defRPr sz="630">
                          <a:solidFill>
                            <a:srgbClr val="1E242B"/>
                          </a:solidFill>
                          <a:latin typeface="Arial"/>
                        </a:defRPr>
                      </a:pPr>
                      <a:r>
                        <a:t>Tổ chức DR công đoạn</a:t>
                      </a:r>
                      <a:br/>
                      <a:r>
                        <a:t>chính thức với PE JP</a:t>
                      </a:r>
                    </a:p>
                  </a:txBody>
                  <a:tcPr anchor="ctr" marL="36576" marR="36576" marT="9144" marB="9144">
                    <a:solidFill>
                      <a:srgbClr val="FFFFFF"/>
                    </a:solidFill>
                  </a:tcPr>
                </a:tc>
                <a:tc>
                  <a:txBody>
                    <a:bodyPr/>
                    <a:lstStyle/>
                    <a:p>
                      <a:pPr algn="ctr">
                        <a:defRPr sz="630">
                          <a:solidFill>
                            <a:srgbClr val="1E242B"/>
                          </a:solidFill>
                          <a:latin typeface="Arial"/>
                        </a:defRPr>
                      </a:pPr>
                      <a:r>
                        <a:t>Xác nhận kết quả</a:t>
                      </a:r>
                      <a:br/>
                      <a:r>
                        <a:t>quét DP &amp; Camera</a:t>
                      </a:r>
                    </a:p>
                  </a:txBody>
                  <a:tcPr anchor="ctr" marL="36576" marR="36576" marT="9144" marB="9144">
                    <a:solidFill>
                      <a:srgbClr val="FFFFFF"/>
                    </a:solidFill>
                  </a:tcPr>
                </a:tc>
                <a:tc>
                  <a:txBody>
                    <a:bodyPr/>
                    <a:lstStyle/>
                    <a:p>
                      <a:pPr algn="ctr">
                        <a:defRPr sz="630">
                          <a:solidFill>
                            <a:srgbClr val="1E242B"/>
                          </a:solidFill>
                          <a:latin typeface="Arial"/>
                        </a:defRPr>
                      </a:pPr>
                      <a:r>
                        <a:t>QA phê duyệt bỏ bước</a:t>
                      </a:r>
                      <a:br/>
                      <a:r>
                        <a:t>Transfer Belt &amp; U155</a:t>
                      </a:r>
                    </a:p>
                  </a:txBody>
                  <a:tcPr anchor="ctr" marL="36576" marR="36576" marT="9144" marB="9144">
                    <a:solidFill>
                      <a:srgbClr val="FFFFFF"/>
                    </a:solidFill>
                  </a:tcPr>
                </a:tc>
                <a:tc>
                  <a:txBody>
                    <a:bodyPr/>
                    <a:lstStyle/>
                    <a:p>
                      <a:pPr algn="ctr">
                        <a:defRPr sz="630">
                          <a:solidFill>
                            <a:srgbClr val="1E242B"/>
                          </a:solidFill>
                          <a:latin typeface="Arial"/>
                        </a:defRPr>
                      </a:pPr>
                      <a:r>
                        <a:t>Áp dụng đồng bộ</a:t>
                      </a:r>
                      <a:br/>
                      <a:r>
                        <a:t>JP - CN - VN</a:t>
                      </a:r>
                    </a:p>
                  </a:txBody>
                  <a:tcPr anchor="ctr" marL="36576" marR="36576" marT="9144" marB="9144">
                    <a:solidFill>
                      <a:srgbClr val="FFFFFF"/>
                    </a:solidFill>
                  </a:tcPr>
                </a:tc>
              </a:tr>
              <a:tr h="293914">
                <a:tc>
                  <a:txBody>
                    <a:bodyPr/>
                    <a:lstStyle/>
                    <a:p>
                      <a:pPr algn="l">
                        <a:defRPr sz="630" b="1">
                          <a:solidFill>
                            <a:srgbClr val="1E242B"/>
                          </a:solidFill>
                          <a:latin typeface="Arial"/>
                        </a:defRPr>
                      </a:pPr>
                      <a:r>
                        <a:t>Bước 3: Xin phê duyệt &amp; Chế tạo</a:t>
                      </a:r>
                      <a:br/>
                      <a:r>
                        <a:t>đồ gá / thiết bị tự động</a:t>
                      </a:r>
                    </a:p>
                  </a:txBody>
                  <a:tcPr anchor="ctr" marL="36576" marR="36576" marT="9144" marB="9144">
                    <a:solidFill>
                      <a:srgbClr val="F7F9FC"/>
                    </a:solidFill>
                  </a:tcPr>
                </a:tc>
                <a:tc>
                  <a:txBody>
                    <a:bodyPr/>
                    <a:lstStyle/>
                    <a:p>
                      <a:pPr algn="ctr">
                        <a:defRPr sz="630">
                          <a:solidFill>
                            <a:srgbClr val="1E242B"/>
                          </a:solidFill>
                          <a:latin typeface="Arial"/>
                        </a:defRPr>
                      </a:pPr>
                      <a:r>
                        <a:t>Khảo sát nhà cung cấp</a:t>
                      </a:r>
                      <a:br/>
                      <a:r>
                        <a:t>nội địa VN</a:t>
                      </a:r>
                    </a:p>
                  </a:txBody>
                  <a:tcPr anchor="ctr" marL="36576" marR="36576" marT="9144" marB="9144">
                    <a:solidFill>
                      <a:srgbClr val="F7F9FC"/>
                    </a:solidFill>
                  </a:tcPr>
                </a:tc>
                <a:tc>
                  <a:txBody>
                    <a:bodyPr/>
                    <a:lstStyle/>
                    <a:p>
                      <a:pPr algn="ctr">
                        <a:defRPr sz="630">
                          <a:solidFill>
                            <a:srgbClr val="1E242B"/>
                          </a:solidFill>
                          <a:latin typeface="Arial"/>
                        </a:defRPr>
                      </a:pPr>
                      <a:r>
                        <a:t>Lập dự toán sơ bộ</a:t>
                      </a:r>
                      <a:br/>
                      <a:r>
                        <a:t>(Iris EXPのVN提案)</a:t>
                      </a:r>
                    </a:p>
                  </a:txBody>
                  <a:tcPr anchor="ctr" marL="36576" marR="36576" marT="9144" marB="9144">
                    <a:solidFill>
                      <a:srgbClr val="F7F9FC"/>
                    </a:solidFill>
                  </a:tcPr>
                </a:tc>
                <a:tc>
                  <a:txBody>
                    <a:bodyPr/>
                    <a:lstStyle/>
                    <a:p>
                      <a:pPr algn="ctr">
                        <a:defRPr sz="630">
                          <a:solidFill>
                            <a:srgbClr val="1E242B"/>
                          </a:solidFill>
                          <a:latin typeface="Arial"/>
                        </a:defRPr>
                      </a:pPr>
                      <a:r>
                        <a:t>Hoàn tất BOM 25 mục</a:t>
                      </a:r>
                      <a:br/>
                      <a:r>
                        <a:t>No.22 (101,69tr VNĐ)</a:t>
                      </a:r>
                    </a:p>
                  </a:txBody>
                  <a:tcPr anchor="ctr" marL="36576" marR="36576" marT="9144" marB="9144">
                    <a:solidFill>
                      <a:srgbClr val="F7F9FC"/>
                    </a:solidFill>
                  </a:tcPr>
                </a:tc>
                <a:tc>
                  <a:txBody>
                    <a:bodyPr/>
                    <a:lstStyle/>
                    <a:p>
                      <a:pPr algn="ctr">
                        <a:defRPr sz="630">
                          <a:solidFill>
                            <a:srgbClr val="1E242B"/>
                          </a:solidFill>
                          <a:latin typeface="Arial"/>
                        </a:defRPr>
                      </a:pPr>
                      <a:r>
                        <a:t>Trình duyệt kinh phí No.22</a:t>
                      </a:r>
                      <a:br/>
                      <a:r>
                        <a:t>&amp; chốt giá các mục 見積中</a:t>
                      </a:r>
                    </a:p>
                  </a:txBody>
                  <a:tcPr anchor="ctr" marL="36576" marR="36576" marT="9144" marB="9144">
                    <a:solidFill>
                      <a:srgbClr val="F7F9FC"/>
                    </a:solidFill>
                  </a:tcPr>
                </a:tc>
                <a:tc>
                  <a:txBody>
                    <a:bodyPr/>
                    <a:lstStyle/>
                    <a:p>
                      <a:pPr algn="ctr">
                        <a:defRPr sz="630">
                          <a:solidFill>
                            <a:srgbClr val="1E242B"/>
                          </a:solidFill>
                          <a:latin typeface="Arial"/>
                        </a:defRPr>
                      </a:pPr>
                      <a:r>
                        <a:t>Lắp đặt thiết bị tự động</a:t>
                      </a:r>
                      <a:br/>
                      <a:r>
                        <a:t>tại cụm A-1 ~ A-4</a:t>
                      </a:r>
                    </a:p>
                  </a:txBody>
                  <a:tcPr anchor="ctr" marL="36576" marR="36576" marT="9144" marB="9144">
                    <a:solidFill>
                      <a:srgbClr val="F7F9FC"/>
                    </a:solidFill>
                  </a:tcPr>
                </a:tc>
                <a:tc>
                  <a:txBody>
                    <a:bodyPr/>
                    <a:lstStyle/>
                    <a:p>
                      <a:pPr algn="ctr">
                        <a:defRPr sz="630">
                          <a:solidFill>
                            <a:srgbClr val="1E242B"/>
                          </a:solidFill>
                          <a:latin typeface="Arial"/>
                        </a:defRPr>
                      </a:pPr>
                      <a:r>
                        <a:t>Chạy rà thiết bị &amp;</a:t>
                      </a:r>
                      <a:br/>
                      <a:r>
                        <a:t>hiệu chuẩn an toàn</a:t>
                      </a:r>
                    </a:p>
                  </a:txBody>
                  <a:tcPr anchor="ctr" marL="36576" marR="36576" marT="9144" marB="9144">
                    <a:solidFill>
                      <a:srgbClr val="F7F9FC"/>
                    </a:solidFill>
                  </a:tcPr>
                </a:tc>
                <a:tc>
                  <a:txBody>
                    <a:bodyPr/>
                    <a:lstStyle/>
                    <a:p>
                      <a:pPr algn="ctr">
                        <a:defRPr sz="630">
                          <a:solidFill>
                            <a:srgbClr val="1E242B"/>
                          </a:solidFill>
                          <a:latin typeface="Arial"/>
                        </a:defRPr>
                      </a:pPr>
                      <a:r>
                        <a:t>Bàn giao cho Sản xuất</a:t>
                      </a:r>
                      <a:br/>
                      <a:r>
                        <a:t>(MFG vận hành)</a:t>
                      </a:r>
                    </a:p>
                  </a:txBody>
                  <a:tcPr anchor="ctr" marL="36576" marR="36576" marT="9144" marB="9144">
                    <a:solidFill>
                      <a:srgbClr val="F7F9FC"/>
                    </a:solidFill>
                  </a:tcPr>
                </a:tc>
              </a:tr>
              <a:tr h="293914">
                <a:tc>
                  <a:txBody>
                    <a:bodyPr/>
                    <a:lstStyle/>
                    <a:p>
                      <a:pPr algn="l">
                        <a:defRPr sz="630" b="1">
                          <a:solidFill>
                            <a:srgbClr val="1E242B"/>
                          </a:solidFill>
                          <a:latin typeface="Arial"/>
                        </a:defRPr>
                      </a:pPr>
                      <a:r>
                        <a:t>Bước 4: Đánh giá nghiệm thu &amp;</a:t>
                      </a:r>
                      <a:br/>
                      <a:r>
                        <a:t>Áp dụng vào sản xuất</a:t>
                      </a:r>
                    </a:p>
                  </a:txBody>
                  <a:tcPr anchor="ctr" marL="36576" marR="36576" marT="9144" marB="9144">
                    <a:solidFill>
                      <a:srgbClr val="EAF7EE"/>
                    </a:solidFill>
                  </a:tcPr>
                </a:tc>
                <a:tc>
                  <a:txBody>
                    <a:bodyPr/>
                    <a:lstStyle/>
                    <a:p>
                      <a:pPr algn="ctr">
                        <a:defRPr sz="630">
                          <a:solidFill>
                            <a:srgbClr val="1E242B"/>
                          </a:solidFill>
                          <a:latin typeface="Arial"/>
                        </a:defRPr>
                      </a:pPr>
                      <a:r>
                        <a:t>-</a:t>
                      </a:r>
                    </a:p>
                  </a:txBody>
                  <a:tcPr anchor="ctr" marL="36576" marR="36576" marT="9144" marB="9144">
                    <a:solidFill>
                      <a:srgbClr val="EAF7EE"/>
                    </a:solidFill>
                  </a:tcPr>
                </a:tc>
                <a:tc>
                  <a:txBody>
                    <a:bodyPr/>
                    <a:lstStyle/>
                    <a:p>
                      <a:pPr algn="ctr">
                        <a:defRPr sz="630">
                          <a:solidFill>
                            <a:srgbClr val="1E242B"/>
                          </a:solidFill>
                          <a:latin typeface="Arial"/>
                        </a:defRPr>
                      </a:pPr>
                      <a:r>
                        <a:t>-</a:t>
                      </a:r>
                    </a:p>
                  </a:txBody>
                  <a:tcPr anchor="ctr" marL="36576" marR="36576" marT="9144" marB="9144">
                    <a:solidFill>
                      <a:srgbClr val="EAF7EE"/>
                    </a:solidFill>
                  </a:tcPr>
                </a:tc>
                <a:tc>
                  <a:txBody>
                    <a:bodyPr/>
                    <a:lstStyle/>
                    <a:p>
                      <a:pPr algn="ctr">
                        <a:defRPr sz="630">
                          <a:solidFill>
                            <a:srgbClr val="1E242B"/>
                          </a:solidFill>
                          <a:latin typeface="Arial"/>
                        </a:defRPr>
                      </a:pPr>
                      <a:r>
                        <a:t>Áp dụng trước xóa 4 bước</a:t>
                      </a:r>
                      <a:br/>
                      <a:r>
                        <a:t>ngôn ngữ &amp; Toner (-4,32s)</a:t>
                      </a:r>
                    </a:p>
                  </a:txBody>
                  <a:tcPr anchor="ctr" marL="36576" marR="36576" marT="9144" marB="9144">
                    <a:solidFill>
                      <a:srgbClr val="EAF7EE"/>
                    </a:solidFill>
                  </a:tcPr>
                </a:tc>
                <a:tc>
                  <a:txBody>
                    <a:bodyPr/>
                    <a:lstStyle/>
                    <a:p>
                      <a:pPr algn="ctr">
                        <a:defRPr sz="630">
                          <a:solidFill>
                            <a:srgbClr val="1E242B"/>
                          </a:solidFill>
                          <a:latin typeface="Arial"/>
                        </a:defRPr>
                      </a:pPr>
                      <a:r>
                        <a:t>Mục tiêu lũy kế: 15%</a:t>
                      </a:r>
                      <a:br/>
                      <a:r>
                        <a:t>(Giảm 282s/máy)</a:t>
                      </a:r>
                    </a:p>
                  </a:txBody>
                  <a:tcPr anchor="ctr" marL="36576" marR="36576" marT="9144" marB="9144">
                    <a:solidFill>
                      <a:srgbClr val="EAF7EE"/>
                    </a:solidFill>
                  </a:tcPr>
                </a:tc>
                <a:tc>
                  <a:txBody>
                    <a:bodyPr/>
                    <a:lstStyle/>
                    <a:p>
                      <a:pPr algn="ctr">
                        <a:defRPr sz="630">
                          <a:solidFill>
                            <a:srgbClr val="1E242B"/>
                          </a:solidFill>
                          <a:latin typeface="Arial"/>
                        </a:defRPr>
                      </a:pPr>
                      <a:r>
                        <a:t>Mục tiêu lũy kế: 30%</a:t>
                      </a:r>
                      <a:br/>
                      <a:r>
                        <a:t>(Giảm 705s/máy)</a:t>
                      </a:r>
                    </a:p>
                  </a:txBody>
                  <a:tcPr anchor="ctr" marL="36576" marR="36576" marT="9144" marB="9144">
                    <a:solidFill>
                      <a:srgbClr val="EAF7EE"/>
                    </a:solidFill>
                  </a:tcPr>
                </a:tc>
                <a:tc>
                  <a:txBody>
                    <a:bodyPr/>
                    <a:lstStyle/>
                    <a:p>
                      <a:pPr algn="ctr">
                        <a:defRPr sz="630">
                          <a:solidFill>
                            <a:srgbClr val="1E242B"/>
                          </a:solidFill>
                          <a:latin typeface="Arial"/>
                        </a:defRPr>
                      </a:pPr>
                      <a:r>
                        <a:t>T1: 50% (-1.175s)</a:t>
                      </a:r>
                      <a:br/>
                      <a:r>
                        <a:t>T2: 80% (-1.880s)</a:t>
                      </a:r>
                    </a:p>
                  </a:txBody>
                  <a:tcPr anchor="ctr" marL="36576" marR="36576" marT="9144" marB="9144">
                    <a:solidFill>
                      <a:srgbClr val="EAF7EE"/>
                    </a:solidFill>
                  </a:tcPr>
                </a:tc>
                <a:tc>
                  <a:txBody>
                    <a:bodyPr/>
                    <a:lstStyle/>
                    <a:p>
                      <a:pPr algn="ctr">
                        <a:defRPr sz="630">
                          <a:solidFill>
                            <a:srgbClr val="1E242B"/>
                          </a:solidFill>
                          <a:latin typeface="Arial"/>
                        </a:defRPr>
                      </a:pPr>
                      <a:r>
                        <a:t>Đạt &gt;= 50% thời gian</a:t>
                      </a:r>
                      <a:br/>
                      <a:r>
                        <a:t>(&lt;=1.175s, 9 người, NS x2)</a:t>
                      </a:r>
                    </a:p>
                  </a:txBody>
                  <a:tcPr anchor="ctr" marL="36576" marR="36576" marT="9144" marB="9144">
                    <a:solidFill>
                      <a:srgbClr val="EAF7EE"/>
                    </a:solidFill>
                  </a:tcPr>
                </a:tc>
              </a:tr>
              <a:tr h="293916">
                <a:tc>
                  <a:txBody>
                    <a:bodyPr/>
                    <a:lstStyle/>
                    <a:p>
                      <a:pPr algn="l">
                        <a:defRPr sz="630" b="1">
                          <a:solidFill>
                            <a:srgbClr val="1E242B"/>
                          </a:solidFill>
                          <a:latin typeface="Arial"/>
                        </a:defRPr>
                      </a:pPr>
                      <a:r>
                        <a:t>Tỷ lệ hoàn thành mục tiêu</a:t>
                      </a:r>
                      <a:br/>
                      <a:r>
                        <a:t>PDCA (KDTVN-PE-3)</a:t>
                      </a:r>
                    </a:p>
                  </a:txBody>
                  <a:tcPr anchor="ctr" marL="36576" marR="36576" marT="9144" marB="9144">
                    <a:solidFill>
                      <a:srgbClr val="FEF7E6"/>
                    </a:solidFill>
                  </a:tcPr>
                </a:tc>
                <a:tc>
                  <a:txBody>
                    <a:bodyPr/>
                    <a:lstStyle/>
                    <a:p>
                      <a:pPr algn="ctr">
                        <a:defRPr sz="630">
                          <a:solidFill>
                            <a:srgbClr val="1E242B"/>
                          </a:solidFill>
                          <a:latin typeface="Arial"/>
                        </a:defRPr>
                      </a:pPr>
                      <a:r>
                        <a:t>Chuẩn bị cơ sở</a:t>
                      </a:r>
                      <a:br/>
                      <a:r>
                        <a:t>dữ liệu</a:t>
                      </a:r>
                    </a:p>
                  </a:txBody>
                  <a:tcPr anchor="ctr" marL="36576" marR="36576" marT="9144" marB="9144">
                    <a:solidFill>
                      <a:srgbClr val="FEF7E6"/>
                    </a:solidFill>
                  </a:tcPr>
                </a:tc>
                <a:tc>
                  <a:txBody>
                    <a:bodyPr/>
                    <a:lstStyle/>
                    <a:p>
                      <a:pPr algn="ctr">
                        <a:defRPr sz="630">
                          <a:solidFill>
                            <a:srgbClr val="1E242B"/>
                          </a:solidFill>
                          <a:latin typeface="Arial"/>
                        </a:defRPr>
                      </a:pPr>
                      <a:r>
                        <a:t>KH: 1% (-23,5s)</a:t>
                      </a:r>
                      <a:br/>
                      <a:r>
                        <a:t>Thực tế: 0%</a:t>
                      </a:r>
                    </a:p>
                  </a:txBody>
                  <a:tcPr anchor="ctr" marL="36576" marR="36576" marT="9144" marB="9144">
                    <a:solidFill>
                      <a:srgbClr val="FEF7E6"/>
                    </a:solidFill>
                  </a:tcPr>
                </a:tc>
                <a:tc>
                  <a:txBody>
                    <a:bodyPr/>
                    <a:lstStyle/>
                    <a:p>
                      <a:pPr algn="ctr">
                        <a:defRPr sz="630">
                          <a:solidFill>
                            <a:srgbClr val="1E242B"/>
                          </a:solidFill>
                          <a:latin typeface="Arial"/>
                        </a:defRPr>
                      </a:pPr>
                      <a:r>
                        <a:t>KH: 3% (-47,0s)</a:t>
                      </a:r>
                      <a:br/>
                      <a:r>
                        <a:t>Thực tế: 0,18% (-4,32s)</a:t>
                      </a:r>
                    </a:p>
                  </a:txBody>
                  <a:tcPr anchor="ctr" marL="36576" marR="36576" marT="9144" marB="9144">
                    <a:solidFill>
                      <a:srgbClr val="FEF7E6"/>
                    </a:solidFill>
                  </a:tcPr>
                </a:tc>
                <a:tc>
                  <a:txBody>
                    <a:bodyPr/>
                    <a:lstStyle/>
                    <a:p>
                      <a:pPr algn="ctr">
                        <a:defRPr sz="630">
                          <a:solidFill>
                            <a:srgbClr val="1E242B"/>
                          </a:solidFill>
                          <a:latin typeface="Arial"/>
                        </a:defRPr>
                      </a:pPr>
                      <a:r>
                        <a:t>KH T11: 15%</a:t>
                      </a:r>
                      <a:br/>
                      <a:r>
                        <a:t>(Cần bù 66,18s của T10)</a:t>
                      </a:r>
                    </a:p>
                  </a:txBody>
                  <a:tcPr anchor="ctr" marL="36576" marR="36576" marT="9144" marB="9144">
                    <a:solidFill>
                      <a:srgbClr val="FEF7E6"/>
                    </a:solidFill>
                  </a:tcPr>
                </a:tc>
                <a:tc>
                  <a:txBody>
                    <a:bodyPr/>
                    <a:lstStyle/>
                    <a:p>
                      <a:pPr algn="ctr">
                        <a:defRPr sz="630">
                          <a:solidFill>
                            <a:srgbClr val="1E242B"/>
                          </a:solidFill>
                          <a:latin typeface="Arial"/>
                        </a:defRPr>
                      </a:pPr>
                      <a:r>
                        <a:t>KH T12: 30%</a:t>
                      </a:r>
                    </a:p>
                  </a:txBody>
                  <a:tcPr anchor="ctr" marL="36576" marR="36576" marT="9144" marB="9144">
                    <a:solidFill>
                      <a:srgbClr val="FEF7E6"/>
                    </a:solidFill>
                  </a:tcPr>
                </a:tc>
                <a:tc>
                  <a:txBody>
                    <a:bodyPr/>
                    <a:lstStyle/>
                    <a:p>
                      <a:pPr algn="ctr">
                        <a:defRPr sz="630">
                          <a:solidFill>
                            <a:srgbClr val="1E242B"/>
                          </a:solidFill>
                          <a:latin typeface="Arial"/>
                        </a:defRPr>
                      </a:pPr>
                      <a:r>
                        <a:t>KH T1/2027: 50%</a:t>
                      </a:r>
                      <a:br/>
                      <a:r>
                        <a:t>KH T2/2027: 80%</a:t>
                      </a:r>
                    </a:p>
                  </a:txBody>
                  <a:tcPr anchor="ctr" marL="36576" marR="36576" marT="9144" marB="9144">
                    <a:solidFill>
                      <a:srgbClr val="FEF7E6"/>
                    </a:solidFill>
                  </a:tcPr>
                </a:tc>
                <a:tc>
                  <a:txBody>
                    <a:bodyPr/>
                    <a:lstStyle/>
                    <a:p>
                      <a:pPr algn="ctr">
                        <a:defRPr sz="630">
                          <a:solidFill>
                            <a:srgbClr val="1E242B"/>
                          </a:solidFill>
                          <a:latin typeface="Arial"/>
                        </a:defRPr>
                      </a:pPr>
                      <a:r>
                        <a:t>KH T3/2027: 100%</a:t>
                      </a:r>
                      <a:br/>
                      <a:r>
                        <a:t>hạng mục đề án</a:t>
                      </a:r>
                    </a:p>
                  </a:txBody>
                  <a:tcPr anchor="ctr" marL="36576" marR="36576" marT="9144" marB="9144">
                    <a:solidFill>
                      <a:srgbClr val="FEF7E6"/>
                    </a:solidFill>
                  </a:tcPr>
                </a:tc>
              </a:tr>
            </a:tbl>
          </a:graphicData>
        </a:graphic>
      </p:graphicFrame>
      <p:sp>
        <p:nvSpPr>
          <p:cNvPr id="9" name="TextBox 8"/>
          <p:cNvSpPr txBox="1"/>
          <p:nvPr/>
        </p:nvSpPr>
        <p:spPr>
          <a:xfrm>
            <a:off x="274320" y="3639312"/>
            <a:ext cx="11643055" cy="201168"/>
          </a:xfrm>
          <a:prstGeom prst="rect">
            <a:avLst/>
          </a:prstGeom>
          <a:noFill/>
        </p:spPr>
        <p:txBody>
          <a:bodyPr wrap="square" lIns="18288" rIns="18288" tIns="9144" bIns="9144">
            <a:spAutoFit/>
          </a:bodyPr>
          <a:lstStyle/>
          <a:p>
            <a:pPr>
              <a:defRPr sz="819" b="1">
                <a:solidFill>
                  <a:srgbClr val="1B365D"/>
                </a:solidFill>
                <a:latin typeface="Arial"/>
              </a:defRPr>
            </a:pPr>
            <a:r>
              <a:t>■ 2. CÁC HẠNG MỤC CÔNG VIỆC TIẾP THEO &amp; PHÂN CÔNG PHỤ TRÁCH (Nguồn: 連携会 第13~17回 &amp; BM-003-F)</a:t>
            </a:r>
          </a:p>
        </p:txBody>
      </p:sp>
      <p:graphicFrame>
        <p:nvGraphicFramePr>
          <p:cNvPr id="10" name="Table 9"/>
          <p:cNvGraphicFramePr>
            <a:graphicFrameLocks noGrp="1"/>
          </p:cNvGraphicFramePr>
          <p:nvPr/>
        </p:nvGraphicFramePr>
        <p:xfrm>
          <a:off x="274320" y="3840480"/>
          <a:ext cx="11643055" cy="2377440"/>
        </p:xfrm>
        <a:graphic>
          <a:graphicData uri="http://schemas.openxmlformats.org/drawingml/2006/table">
            <a:tbl>
              <a:tblPr firstRow="1" bandRow="1">
                <a:tableStyleId>{5C22544A-7EE6-4342-B048-85BDC9FD1C3A}</a:tableStyleId>
              </a:tblPr>
              <a:tblGrid>
                <a:gridCol w="502920"/>
                <a:gridCol w="3337560"/>
                <a:gridCol w="2606040"/>
                <a:gridCol w="2880360"/>
                <a:gridCol w="2316175"/>
              </a:tblGrid>
              <a:tr h="339634">
                <a:tc>
                  <a:txBody>
                    <a:bodyPr/>
                    <a:lstStyle/>
                    <a:p>
                      <a:pPr algn="ctr">
                        <a:defRPr sz="700" b="1">
                          <a:solidFill>
                            <a:srgbClr val="FFFFFF"/>
                          </a:solidFill>
                          <a:latin typeface="Arial"/>
                        </a:defRPr>
                      </a:pPr>
                      <a:r>
                        <a:t>TT</a:t>
                      </a:r>
                    </a:p>
                  </a:txBody>
                  <a:tcPr anchor="ctr" marL="36576" marR="36576" marT="9144" marB="9144">
                    <a:solidFill>
                      <a:srgbClr val="1B365D"/>
                    </a:solidFill>
                  </a:tcPr>
                </a:tc>
                <a:tc>
                  <a:txBody>
                    <a:bodyPr/>
                    <a:lstStyle/>
                    <a:p>
                      <a:pPr algn="ctr">
                        <a:defRPr sz="700" b="1">
                          <a:solidFill>
                            <a:srgbClr val="FFFFFF"/>
                          </a:solidFill>
                          <a:latin typeface="Arial"/>
                        </a:defRPr>
                      </a:pPr>
                      <a:r>
                        <a:t>Hạng mục công việc tiếp theo (Action Items)</a:t>
                      </a:r>
                    </a:p>
                  </a:txBody>
                  <a:tcPr anchor="ctr" marL="36576" marR="36576" marT="9144" marB="9144">
                    <a:solidFill>
                      <a:srgbClr val="1B365D"/>
                    </a:solidFill>
                  </a:tcPr>
                </a:tc>
                <a:tc>
                  <a:txBody>
                    <a:bodyPr/>
                    <a:lstStyle/>
                    <a:p>
                      <a:pPr algn="ctr">
                        <a:defRPr sz="700" b="1">
                          <a:solidFill>
                            <a:srgbClr val="FFFFFF"/>
                          </a:solidFill>
                          <a:latin typeface="Arial"/>
                        </a:defRPr>
                      </a:pPr>
                      <a:r>
                        <a:t>Mốc thời gian</a:t>
                      </a:r>
                    </a:p>
                  </a:txBody>
                  <a:tcPr anchor="ctr" marL="36576" marR="36576" marT="9144" marB="9144">
                    <a:solidFill>
                      <a:srgbClr val="1B365D"/>
                    </a:solidFill>
                  </a:tcPr>
                </a:tc>
                <a:tc>
                  <a:txBody>
                    <a:bodyPr/>
                    <a:lstStyle/>
                    <a:p>
                      <a:pPr algn="ctr">
                        <a:defRPr sz="700" b="1">
                          <a:solidFill>
                            <a:srgbClr val="FFFFFF"/>
                          </a:solidFill>
                          <a:latin typeface="Arial"/>
                        </a:defRPr>
                      </a:pPr>
                      <a:r>
                        <a:t>Bộ phận / Cá nhân phụ trách (Theo biên bản)</a:t>
                      </a:r>
                    </a:p>
                  </a:txBody>
                  <a:tcPr anchor="ctr" marL="36576" marR="36576" marT="9144" marB="9144">
                    <a:solidFill>
                      <a:srgbClr val="1B365D"/>
                    </a:solidFill>
                  </a:tcPr>
                </a:tc>
                <a:tc>
                  <a:txBody>
                    <a:bodyPr/>
                    <a:lstStyle/>
                    <a:p>
                      <a:pPr algn="ctr">
                        <a:defRPr sz="700" b="1">
                          <a:solidFill>
                            <a:srgbClr val="FFFFFF"/>
                          </a:solidFill>
                          <a:latin typeface="Arial"/>
                        </a:defRPr>
                      </a:pPr>
                      <a:r>
                        <a:t>Nguồn trích xuất</a:t>
                      </a:r>
                    </a:p>
                  </a:txBody>
                  <a:tcPr anchor="ctr" marL="36576" marR="36576" marT="9144" marB="9144">
                    <a:solidFill>
                      <a:srgbClr val="1B365D"/>
                    </a:solidFill>
                  </a:tcPr>
                </a:tc>
              </a:tr>
              <a:tr h="339634">
                <a:tc>
                  <a:txBody>
                    <a:bodyPr/>
                    <a:lstStyle/>
                    <a:p>
                      <a:pPr algn="ctr">
                        <a:defRPr sz="620" b="1">
                          <a:solidFill>
                            <a:srgbClr val="1E242B"/>
                          </a:solidFill>
                          <a:latin typeface="Arial"/>
                        </a:defRPr>
                      </a:pPr>
                      <a:r>
                        <a:t>1</a:t>
                      </a:r>
                    </a:p>
                  </a:txBody>
                  <a:tcPr anchor="ctr" marL="36576" marR="36576" marT="9144" marB="9144">
                    <a:solidFill>
                      <a:srgbClr val="EAF7EE"/>
                    </a:solidFill>
                  </a:tcPr>
                </a:tc>
                <a:tc>
                  <a:txBody>
                    <a:bodyPr/>
                    <a:lstStyle/>
                    <a:p>
                      <a:pPr algn="l">
                        <a:defRPr sz="620">
                          <a:solidFill>
                            <a:srgbClr val="1E242B"/>
                          </a:solidFill>
                          <a:latin typeface="Arial"/>
                        </a:defRPr>
                      </a:pPr>
                      <a:r>
                        <a:t>Phê duyệt kinh phí và đặt mua linh kiện chế tạo Thiết bị tự động kiểm tra thông mạch &amp; chịu áp (Đề án No.22: 101.690.000 VNĐ / 3.911,15 USD); chốt báo giá Mục 17 Tủ điện (5 triệu VNĐ).</a:t>
                      </a:r>
                    </a:p>
                  </a:txBody>
                  <a:tcPr anchor="ctr" marL="36576" marR="36576" marT="9144" marB="9144">
                    <a:solidFill>
                      <a:srgbClr val="EAF7EE"/>
                    </a:solidFill>
                  </a:tcPr>
                </a:tc>
                <a:tc>
                  <a:txBody>
                    <a:bodyPr/>
                    <a:lstStyle/>
                    <a:p>
                      <a:pPr algn="ctr">
                        <a:defRPr sz="620">
                          <a:solidFill>
                            <a:srgbClr val="1E242B"/>
                          </a:solidFill>
                          <a:latin typeface="Arial"/>
                        </a:defRPr>
                      </a:pPr>
                      <a:r>
                        <a:t>Tháng 10 ~ Tháng 11/2026</a:t>
                      </a:r>
                      <a:br/>
                      <a:r>
                        <a:t>(Kịp lắp đặt trước PMT1 T12/2026)</a:t>
                      </a:r>
                    </a:p>
                  </a:txBody>
                  <a:tcPr anchor="ctr" marL="36576" marR="36576" marT="9144" marB="9144">
                    <a:solidFill>
                      <a:srgbClr val="EAF7EE"/>
                    </a:solidFill>
                  </a:tcPr>
                </a:tc>
                <a:tc>
                  <a:txBody>
                    <a:bodyPr/>
                    <a:lstStyle/>
                    <a:p>
                      <a:pPr algn="l">
                        <a:defRPr sz="620">
                          <a:solidFill>
                            <a:srgbClr val="1E242B"/>
                          </a:solidFill>
                          <a:latin typeface="Arial"/>
                        </a:defRPr>
                      </a:pPr>
                      <a:r>
                        <a:t>Bộ phận PE Việt Nam: KDTVN-PE-3</a:t>
                      </a:r>
                      <a:br/>
                      <a:r>
                        <a:t>(Trình Trưởng bộ phận phê duyệt)</a:t>
                      </a:r>
                    </a:p>
                  </a:txBody>
                  <a:tcPr anchor="ctr" marL="36576" marR="36576" marT="9144" marB="9144">
                    <a:solidFill>
                      <a:srgbClr val="EAF7EE"/>
                    </a:solidFill>
                  </a:tcPr>
                </a:tc>
                <a:tc>
                  <a:txBody>
                    <a:bodyPr/>
                    <a:lstStyle/>
                    <a:p>
                      <a:pPr algn="l">
                        <a:defRPr sz="620">
                          <a:solidFill>
                            <a:srgbClr val="1E242B"/>
                          </a:solidFill>
                          <a:latin typeface="Arial"/>
                        </a:defRPr>
                      </a:pPr>
                      <a:r>
                        <a:t>Iris EXPのVN提案.xlsx;</a:t>
                      </a:r>
                      <a:br/>
                      <a:r>
                        <a:t>KDTVN-A-QA-QA-BM-003-F 10月</a:t>
                      </a:r>
                    </a:p>
                  </a:txBody>
                  <a:tcPr anchor="ctr" marL="36576" marR="36576" marT="9144" marB="9144">
                    <a:solidFill>
                      <a:srgbClr val="EAF7EE"/>
                    </a:solidFill>
                  </a:tcPr>
                </a:tc>
              </a:tr>
              <a:tr h="339634">
                <a:tc>
                  <a:txBody>
                    <a:bodyPr/>
                    <a:lstStyle/>
                    <a:p>
                      <a:pPr algn="ctr">
                        <a:defRPr sz="620" b="1">
                          <a:solidFill>
                            <a:srgbClr val="1E242B"/>
                          </a:solidFill>
                          <a:latin typeface="Arial"/>
                        </a:defRPr>
                      </a:pPr>
                      <a:r>
                        <a:t>2</a:t>
                      </a:r>
                    </a:p>
                  </a:txBody>
                  <a:tcPr anchor="ctr" marL="36576" marR="36576" marT="9144" marB="9144">
                    <a:solidFill>
                      <a:srgbClr val="FEF7E6"/>
                    </a:solidFill>
                  </a:tcPr>
                </a:tc>
                <a:tc>
                  <a:txBody>
                    <a:bodyPr/>
                    <a:lstStyle/>
                    <a:p>
                      <a:pPr algn="l">
                        <a:defRPr sz="620">
                          <a:solidFill>
                            <a:srgbClr val="1E242B"/>
                          </a:solidFill>
                          <a:latin typeface="Arial"/>
                        </a:defRPr>
                      </a:pPr>
                      <a:r>
                        <a:t>Hoàn tất báo giá (見積中) cho các đề án thiết bị VN còn lại (trọng tâm: No.25 Quét DP liên tục + PC, No.27 Camera đo nồng độ/lề, No.28 Xuất hàng qua mạng, No.21 Gá Option nam châm).</a:t>
                      </a:r>
                    </a:p>
                  </a:txBody>
                  <a:tcPr anchor="ctr" marL="36576" marR="36576" marT="9144" marB="9144">
                    <a:solidFill>
                      <a:srgbClr val="FEF7E6"/>
                    </a:solidFill>
                  </a:tcPr>
                </a:tc>
                <a:tc>
                  <a:txBody>
                    <a:bodyPr/>
                    <a:lstStyle/>
                    <a:p>
                      <a:pPr algn="ctr">
                        <a:defRPr sz="620">
                          <a:solidFill>
                            <a:srgbClr val="1E242B"/>
                          </a:solidFill>
                          <a:latin typeface="Arial"/>
                        </a:defRPr>
                      </a:pPr>
                      <a:r>
                        <a:t>Tháng 11/2026</a:t>
                      </a:r>
                      <a:br/>
                      <a:r>
                        <a:t>(Sau khi chốt cấu hình phần cứng)</a:t>
                      </a:r>
                    </a:p>
                  </a:txBody>
                  <a:tcPr anchor="ctr" marL="36576" marR="36576" marT="9144" marB="9144">
                    <a:solidFill>
                      <a:srgbClr val="FEF7E6"/>
                    </a:solidFill>
                  </a:tcPr>
                </a:tc>
                <a:tc>
                  <a:txBody>
                    <a:bodyPr/>
                    <a:lstStyle/>
                    <a:p>
                      <a:pPr algn="l">
                        <a:defRPr sz="620">
                          <a:solidFill>
                            <a:srgbClr val="1E242B"/>
                          </a:solidFill>
                          <a:latin typeface="Arial"/>
                        </a:defRPr>
                      </a:pPr>
                      <a:r>
                        <a:t>Bộ phận PE Việt Nam (KDTVN-PE-3) phối hợp nhà cung cấp nội địa &amp; PE JP</a:t>
                      </a:r>
                    </a:p>
                  </a:txBody>
                  <a:tcPr anchor="ctr" marL="36576" marR="36576" marT="9144" marB="9144">
                    <a:solidFill>
                      <a:srgbClr val="FEF7E6"/>
                    </a:solidFill>
                  </a:tcPr>
                </a:tc>
                <a:tc>
                  <a:txBody>
                    <a:bodyPr/>
                    <a:lstStyle/>
                    <a:p>
                      <a:pPr algn="l">
                        <a:defRPr sz="620">
                          <a:solidFill>
                            <a:srgbClr val="1E242B"/>
                          </a:solidFill>
                          <a:latin typeface="Arial"/>
                        </a:defRPr>
                      </a:pPr>
                      <a:r>
                        <a:t>IrisEXP改善提案まとめ.xlsx</a:t>
                      </a:r>
                      <a:br/>
                      <a:r>
                        <a:t>(Row 32~42, 45~49)</a:t>
                      </a:r>
                    </a:p>
                  </a:txBody>
                  <a:tcPr anchor="ctr" marL="36576" marR="36576" marT="9144" marB="9144">
                    <a:solidFill>
                      <a:srgbClr val="FEF7E6"/>
                    </a:solidFill>
                  </a:tcPr>
                </a:tc>
              </a:tr>
              <a:tr h="339634">
                <a:tc>
                  <a:txBody>
                    <a:bodyPr/>
                    <a:lstStyle/>
                    <a:p>
                      <a:pPr algn="ctr">
                        <a:defRPr sz="620" b="1">
                          <a:solidFill>
                            <a:srgbClr val="1E242B"/>
                          </a:solidFill>
                          <a:latin typeface="Arial"/>
                        </a:defRPr>
                      </a:pPr>
                      <a:r>
                        <a:t>3</a:t>
                      </a:r>
                    </a:p>
                  </a:txBody>
                  <a:tcPr anchor="ctr" marL="36576" marR="36576" marT="9144" marB="9144">
                    <a:solidFill>
                      <a:srgbClr val="FFFFFF"/>
                    </a:solidFill>
                  </a:tcPr>
                </a:tc>
                <a:tc>
                  <a:txBody>
                    <a:bodyPr/>
                    <a:lstStyle/>
                    <a:p>
                      <a:pPr algn="l">
                        <a:defRPr sz="620">
                          <a:solidFill>
                            <a:srgbClr val="1E242B"/>
                          </a:solidFill>
                          <a:latin typeface="Arial"/>
                        </a:defRPr>
                      </a:pPr>
                      <a:r>
                        <a:t>Kiểm chứng độ chính xác quét liên tục qua khay DP (No.25) so với đặt trên mặt kính ISU (độ lệch căn lề, độ đồng đều ảnh) và hoàn thiện phần mềm tự động phán định ảnh.</a:t>
                      </a:r>
                    </a:p>
                  </a:txBody>
                  <a:tcPr anchor="ctr" marL="36576" marR="36576" marT="9144" marB="9144">
                    <a:solidFill>
                      <a:srgbClr val="FFFFFF"/>
                    </a:solidFill>
                  </a:tcPr>
                </a:tc>
                <a:tc>
                  <a:txBody>
                    <a:bodyPr/>
                    <a:lstStyle/>
                    <a:p>
                      <a:pPr algn="ctr">
                        <a:defRPr sz="620">
                          <a:solidFill>
                            <a:srgbClr val="1E242B"/>
                          </a:solidFill>
                          <a:latin typeface="Arial"/>
                        </a:defRPr>
                      </a:pPr>
                      <a:r>
                        <a:t>Họp 連携会 13~17 (T9~T10/2026)</a:t>
                      </a:r>
                      <a:br/>
                      <a:r>
                        <a:t>-&gt; Nghiệm thu tại PMT1 (T12/2026)</a:t>
                      </a:r>
                    </a:p>
                  </a:txBody>
                  <a:tcPr anchor="ctr" marL="36576" marR="36576" marT="9144" marB="9144">
                    <a:solidFill>
                      <a:srgbClr val="FFFFFF"/>
                    </a:solidFill>
                  </a:tcPr>
                </a:tc>
                <a:tc>
                  <a:txBody>
                    <a:bodyPr/>
                    <a:lstStyle/>
                    <a:p>
                      <a:pPr algn="l">
                        <a:defRPr sz="620">
                          <a:solidFill>
                            <a:srgbClr val="1E242B"/>
                          </a:solidFill>
                          <a:latin typeface="Arial"/>
                        </a:defRPr>
                      </a:pPr>
                      <a:r>
                        <a:t>Nhóm kỹ thuật trong biên bản 連携会:</a:t>
                      </a:r>
                      <a:br/>
                      <a:r>
                        <a:t>• Phía JP: 植村 (Uemura), 岡本 (Okamoto), 井ノ口 (Inokuchi), 三輪 (Miwa)</a:t>
                      </a:r>
                      <a:br/>
                      <a:r>
                        <a:t>• Phía CN/VN: 鄧 (Deng), 陳志峰 (Chen Zhi Feng), KDTVN-PE-3</a:t>
                      </a:r>
                    </a:p>
                  </a:txBody>
                  <a:tcPr anchor="ctr" marL="36576" marR="36576" marT="9144" marB="9144">
                    <a:solidFill>
                      <a:srgbClr val="FFFFFF"/>
                    </a:solidFill>
                  </a:tcPr>
                </a:tc>
                <a:tc>
                  <a:txBody>
                    <a:bodyPr/>
                    <a:lstStyle/>
                    <a:p>
                      <a:pPr algn="l">
                        <a:defRPr sz="620">
                          <a:solidFill>
                            <a:srgbClr val="1E242B"/>
                          </a:solidFill>
                          <a:latin typeface="Arial"/>
                        </a:defRPr>
                      </a:pPr>
                      <a:r>
                        <a:t>IrisEXP 保証工程連携会</a:t>
                      </a:r>
                      <a:br/>
                      <a:r>
                        <a:t>第13回 (18/9) ~ 第17回 (15/10/2026)</a:t>
                      </a:r>
                    </a:p>
                  </a:txBody>
                  <a:tcPr anchor="ctr" marL="36576" marR="36576" marT="9144" marB="9144">
                    <a:solidFill>
                      <a:srgbClr val="FFFFFF"/>
                    </a:solidFill>
                  </a:tcPr>
                </a:tc>
              </a:tr>
              <a:tr h="339634">
                <a:tc>
                  <a:txBody>
                    <a:bodyPr/>
                    <a:lstStyle/>
                    <a:p>
                      <a:pPr algn="ctr">
                        <a:defRPr sz="620" b="1">
                          <a:solidFill>
                            <a:srgbClr val="1E242B"/>
                          </a:solidFill>
                          <a:latin typeface="Arial"/>
                        </a:defRPr>
                      </a:pPr>
                      <a:r>
                        <a:t>4</a:t>
                      </a:r>
                    </a:p>
                  </a:txBody>
                  <a:tcPr anchor="ctr" marL="36576" marR="36576" marT="9144" marB="9144">
                    <a:solidFill>
                      <a:srgbClr val="F7F9FC"/>
                    </a:solidFill>
                  </a:tcPr>
                </a:tc>
                <a:tc>
                  <a:txBody>
                    <a:bodyPr/>
                    <a:lstStyle/>
                    <a:p>
                      <a:pPr algn="l">
                        <a:defRPr sz="620">
                          <a:solidFill>
                            <a:srgbClr val="1E242B"/>
                          </a:solidFill>
                          <a:latin typeface="Arial"/>
                        </a:defRPr>
                      </a:pPr>
                      <a:r>
                        <a:t>Tổ chức DR công đoạn (工程DR) để chốt bảng công đoạn IrisEXP, thống nhất chuyển bước lắp 6 tấm vỏ máy (No.33) về Lắp ráp và phê duyệt bỏ các bước kiểm tra trung gian.</a:t>
                      </a:r>
                    </a:p>
                  </a:txBody>
                  <a:tcPr anchor="ctr" marL="36576" marR="36576" marT="9144" marB="9144">
                    <a:solidFill>
                      <a:srgbClr val="F7F9FC"/>
                    </a:solidFill>
                  </a:tcPr>
                </a:tc>
                <a:tc>
                  <a:txBody>
                    <a:bodyPr/>
                    <a:lstStyle/>
                    <a:p>
                      <a:pPr algn="ctr">
                        <a:defRPr sz="620">
                          <a:solidFill>
                            <a:srgbClr val="1E242B"/>
                          </a:solidFill>
                          <a:latin typeface="Arial"/>
                        </a:defRPr>
                      </a:pPr>
                      <a:r>
                        <a:t>Tháng 11/2026</a:t>
                      </a:r>
                      <a:br/>
                      <a:r>
                        <a:t>(Đang trễ so với dự kiến T9~T10)</a:t>
                      </a:r>
                    </a:p>
                  </a:txBody>
                  <a:tcPr anchor="ctr" marL="36576" marR="36576" marT="9144" marB="9144">
                    <a:solidFill>
                      <a:srgbClr val="F7F9FC"/>
                    </a:solidFill>
                  </a:tcPr>
                </a:tc>
                <a:tc>
                  <a:txBody>
                    <a:bodyPr/>
                    <a:lstStyle/>
                    <a:p>
                      <a:pPr algn="l">
                        <a:defRPr sz="620">
                          <a:solidFill>
                            <a:srgbClr val="1E242B"/>
                          </a:solidFill>
                          <a:latin typeface="Arial"/>
                        </a:defRPr>
                      </a:pPr>
                      <a:r>
                        <a:t>Bộ phận Kỹ thuật Sản xuất JP (生産技術 / PE JP) chủ trì cùng QA JP, KDTVN-PE-3 và Nhà máy CN</a:t>
                      </a:r>
                    </a:p>
                  </a:txBody>
                  <a:tcPr anchor="ctr" marL="36576" marR="36576" marT="9144" marB="9144">
                    <a:solidFill>
                      <a:srgbClr val="F7F9FC"/>
                    </a:solidFill>
                  </a:tcPr>
                </a:tc>
                <a:tc>
                  <a:txBody>
                    <a:bodyPr/>
                    <a:lstStyle/>
                    <a:p>
                      <a:pPr algn="l">
                        <a:defRPr sz="620">
                          <a:solidFill>
                            <a:srgbClr val="1E242B"/>
                          </a:solidFill>
                          <a:latin typeface="Arial"/>
                        </a:defRPr>
                      </a:pPr>
                      <a:r>
                        <a:t>BM-003-F 9月・10月 (Ghi chú lý do trễ);</a:t>
                      </a:r>
                      <a:br/>
                      <a:r>
                        <a:t>調整工程DR議事録.xlsx</a:t>
                      </a:r>
                    </a:p>
                  </a:txBody>
                  <a:tcPr anchor="ctr" marL="36576" marR="36576" marT="9144" marB="9144">
                    <a:solidFill>
                      <a:srgbClr val="F7F9FC"/>
                    </a:solidFill>
                  </a:tcPr>
                </a:tc>
              </a:tr>
              <a:tr h="339634">
                <a:tc>
                  <a:txBody>
                    <a:bodyPr/>
                    <a:lstStyle/>
                    <a:p>
                      <a:pPr algn="ctr">
                        <a:defRPr sz="620" b="1">
                          <a:solidFill>
                            <a:srgbClr val="1E242B"/>
                          </a:solidFill>
                          <a:latin typeface="Arial"/>
                        </a:defRPr>
                      </a:pPr>
                      <a:r>
                        <a:t>5</a:t>
                      </a:r>
                    </a:p>
                  </a:txBody>
                  <a:tcPr anchor="ctr" marL="36576" marR="36576" marT="9144" marB="9144">
                    <a:solidFill>
                      <a:srgbClr val="FFFFFF"/>
                    </a:solidFill>
                  </a:tcPr>
                </a:tc>
                <a:tc>
                  <a:txBody>
                    <a:bodyPr/>
                    <a:lstStyle/>
                    <a:p>
                      <a:pPr algn="l">
                        <a:defRPr sz="620">
                          <a:solidFill>
                            <a:srgbClr val="1E242B"/>
                          </a:solidFill>
                          <a:latin typeface="Arial"/>
                        </a:defRPr>
                      </a:pPr>
                      <a:r>
                        <a:t>Theo dõi độ ổn định của Puli góc vát 35° &amp; Belt truyền ảnh đàn hồi mới (No.37) + phương án chống lật lưỡi gạt mực thải (ブレードめくれ) khi đẩy mực tồn về bình mực thải.</a:t>
                      </a:r>
                    </a:p>
                  </a:txBody>
                  <a:tcPr anchor="ctr" marL="36576" marR="36576" marT="9144" marB="9144">
                    <a:solidFill>
                      <a:srgbClr val="FFFFFF"/>
                    </a:solidFill>
                  </a:tcPr>
                </a:tc>
                <a:tc>
                  <a:txBody>
                    <a:bodyPr/>
                    <a:lstStyle/>
                    <a:p>
                      <a:pPr algn="ctr">
                        <a:defRPr sz="620">
                          <a:solidFill>
                            <a:srgbClr val="1E242B"/>
                          </a:solidFill>
                          <a:latin typeface="Arial"/>
                        </a:defRPr>
                      </a:pPr>
                      <a:r>
                        <a:t>Đánh giá trên máy DMT2 / PMT1</a:t>
                      </a:r>
                      <a:br/>
                      <a:r>
                        <a:t>(T10 ~ T12/2026)</a:t>
                      </a:r>
                    </a:p>
                  </a:txBody>
                  <a:tcPr anchor="ctr" marL="36576" marR="36576" marT="9144" marB="9144">
                    <a:solidFill>
                      <a:srgbClr val="FFFFFF"/>
                    </a:solidFill>
                  </a:tcPr>
                </a:tc>
                <a:tc>
                  <a:txBody>
                    <a:bodyPr/>
                    <a:lstStyle/>
                    <a:p>
                      <a:pPr algn="l">
                        <a:defRPr sz="620">
                          <a:solidFill>
                            <a:srgbClr val="1E242B"/>
                          </a:solidFill>
                          <a:latin typeface="Arial"/>
                        </a:defRPr>
                      </a:pPr>
                      <a:r>
                        <a:t>Bộ phận Thiết kế JP (設計) &amp; Bảo chứng Chất lượng (品質保証 / QA) cùng KDTVN-PE-3</a:t>
                      </a:r>
                    </a:p>
                  </a:txBody>
                  <a:tcPr anchor="ctr" marL="36576" marR="36576" marT="9144" marB="9144">
                    <a:solidFill>
                      <a:srgbClr val="FFFFFF"/>
                    </a:solidFill>
                  </a:tcPr>
                </a:tc>
                <a:tc>
                  <a:txBody>
                    <a:bodyPr/>
                    <a:lstStyle/>
                    <a:p>
                      <a:pPr algn="l">
                        <a:defRPr sz="620">
                          <a:solidFill>
                            <a:srgbClr val="1E242B"/>
                          </a:solidFill>
                          <a:latin typeface="Arial"/>
                        </a:defRPr>
                      </a:pPr>
                      <a:r>
                        <a:t>調整工程DR議事録.xlsx (Row 9~13);</a:t>
                      </a:r>
                      <a:br/>
                      <a:r>
                        <a:t>第17回 (15/10/2026)</a:t>
                      </a:r>
                    </a:p>
                  </a:txBody>
                  <a:tcPr anchor="ctr" marL="36576" marR="36576" marT="9144" marB="9144">
                    <a:solidFill>
                      <a:srgbClr val="FFFFFF"/>
                    </a:solidFill>
                  </a:tcPr>
                </a:tc>
              </a:tr>
              <a:tr h="339636">
                <a:tc>
                  <a:txBody>
                    <a:bodyPr/>
                    <a:lstStyle/>
                    <a:p>
                      <a:pPr algn="ctr">
                        <a:defRPr sz="620" b="1">
                          <a:solidFill>
                            <a:srgbClr val="1E242B"/>
                          </a:solidFill>
                          <a:latin typeface="Arial"/>
                        </a:defRPr>
                      </a:pPr>
                      <a:r>
                        <a:t>6</a:t>
                      </a:r>
                    </a:p>
                  </a:txBody>
                  <a:tcPr anchor="ctr" marL="36576" marR="36576" marT="9144" marB="9144">
                    <a:solidFill>
                      <a:srgbClr val="F7F9FC"/>
                    </a:solidFill>
                  </a:tcPr>
                </a:tc>
                <a:tc>
                  <a:txBody>
                    <a:bodyPr/>
                    <a:lstStyle/>
                    <a:p>
                      <a:pPr algn="l">
                        <a:defRPr sz="620">
                          <a:solidFill>
                            <a:srgbClr val="1E242B"/>
                          </a:solidFill>
                          <a:latin typeface="Arial"/>
                        </a:defRPr>
                      </a:pPr>
                      <a:r>
                        <a:t>Chốt phương án cho bước Điều chỉnh bước tia quét chính U413 (phát sinh +89s Color / +51,72s Mono): tự động hóa trên chuyền hay chi 225~250 vạn JPY viết phần mềm bỏ trên chuyền.</a:t>
                      </a:r>
                    </a:p>
                  </a:txBody>
                  <a:tcPr anchor="ctr" marL="36576" marR="36576" marT="9144" marB="9144">
                    <a:solidFill>
                      <a:srgbClr val="F7F9FC"/>
                    </a:solidFill>
                  </a:tcPr>
                </a:tc>
                <a:tc>
                  <a:txBody>
                    <a:bodyPr/>
                    <a:lstStyle/>
                    <a:p>
                      <a:pPr algn="ctr">
                        <a:defRPr sz="620">
                          <a:solidFill>
                            <a:srgbClr val="1E242B"/>
                          </a:solidFill>
                          <a:latin typeface="Arial"/>
                        </a:defRPr>
                      </a:pPr>
                      <a:r>
                        <a:t>Trước mốc PMT1</a:t>
                      </a:r>
                      <a:br/>
                      <a:r>
                        <a:t>(T11 ~ T12/2026)</a:t>
                      </a:r>
                    </a:p>
                  </a:txBody>
                  <a:tcPr anchor="ctr" marL="36576" marR="36576" marT="9144" marB="9144">
                    <a:solidFill>
                      <a:srgbClr val="F7F9FC"/>
                    </a:solidFill>
                  </a:tcPr>
                </a:tc>
                <a:tc>
                  <a:txBody>
                    <a:bodyPr/>
                    <a:lstStyle/>
                    <a:p>
                      <a:pPr algn="l">
                        <a:defRPr sz="620">
                          <a:solidFill>
                            <a:srgbClr val="1E242B"/>
                          </a:solidFill>
                          <a:latin typeface="Arial"/>
                        </a:defRPr>
                      </a:pPr>
                      <a:r>
                        <a:t>Bộ phận Thiết kế LSU / Phần mềm JP &amp; PE JP</a:t>
                      </a:r>
                      <a:br/>
                      <a:r>
                        <a:t>(Báo cáo xin ý kiến cấp quản lý)</a:t>
                      </a:r>
                    </a:p>
                  </a:txBody>
                  <a:tcPr anchor="ctr" marL="36576" marR="36576" marT="9144" marB="9144">
                    <a:solidFill>
                      <a:srgbClr val="F7F9FC"/>
                    </a:solidFill>
                  </a:tcPr>
                </a:tc>
                <a:tc>
                  <a:txBody>
                    <a:bodyPr/>
                    <a:lstStyle/>
                    <a:p>
                      <a:pPr algn="l">
                        <a:defRPr sz="620">
                          <a:solidFill>
                            <a:srgbClr val="1E242B"/>
                          </a:solidFill>
                          <a:latin typeface="Arial"/>
                        </a:defRPr>
                      </a:pPr>
                      <a:r>
                        <a:t>主走査ビームピッチ補正について.pptx;</a:t>
                      </a:r>
                      <a:br/>
                      <a:r>
                        <a:t>IrisEXP 工程 (更新中) 3.xlsx</a:t>
                      </a:r>
                    </a:p>
                  </a:txBody>
                  <a:tcPr anchor="ctr" marL="36576" marR="36576" marT="9144" marB="9144">
                    <a:solidFill>
                      <a:srgbClr val="F7F9F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9: RỦI RO &amp; ĐỐI SÁCH</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Các rủi ro kỹ thuật và kinh phí ghi nhận trong hồ sơ cùng Đối sách tương ứng</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13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6 rủi ro chính từ biên bản DR4, 連携会 2~17 và bảng đánh giá kỹ thuật (bao gồm 2 phương án Robot đã hủy và lỗi mất nguồn/mạng của hệ thống Athena).</a:t>
            </a:r>
          </a:p>
        </p:txBody>
      </p:sp>
      <p:graphicFrame>
        <p:nvGraphicFramePr>
          <p:cNvPr id="7" name="Table 6"/>
          <p:cNvGraphicFramePr>
            <a:graphicFrameLocks noGrp="1"/>
          </p:cNvGraphicFramePr>
          <p:nvPr/>
        </p:nvGraphicFramePr>
        <p:xfrm>
          <a:off x="274320" y="1243584"/>
          <a:ext cx="11643055" cy="5230368"/>
        </p:xfrm>
        <a:graphic>
          <a:graphicData uri="http://schemas.openxmlformats.org/drawingml/2006/table">
            <a:tbl>
              <a:tblPr firstRow="1" bandRow="1">
                <a:tableStyleId>{5C22544A-7EE6-4342-B048-85BDC9FD1C3A}</a:tableStyleId>
              </a:tblPr>
              <a:tblGrid>
                <a:gridCol w="502920"/>
                <a:gridCol w="2148840"/>
                <a:gridCol w="3520440"/>
                <a:gridCol w="3794760"/>
                <a:gridCol w="1676095"/>
              </a:tblGrid>
              <a:tr h="747195">
                <a:tc>
                  <a:txBody>
                    <a:bodyPr/>
                    <a:lstStyle/>
                    <a:p>
                      <a:pPr algn="ctr">
                        <a:defRPr sz="750" b="1">
                          <a:solidFill>
                            <a:srgbClr val="FFFFFF"/>
                          </a:solidFill>
                          <a:latin typeface="Arial"/>
                        </a:defRPr>
                      </a:pPr>
                      <a:r>
                        <a:t>TT</a:t>
                      </a:r>
                    </a:p>
                  </a:txBody>
                  <a:tcPr anchor="ctr" marL="36576" marR="36576" marT="9144" marB="9144">
                    <a:solidFill>
                      <a:srgbClr val="1B365D"/>
                    </a:solidFill>
                  </a:tcPr>
                </a:tc>
                <a:tc>
                  <a:txBody>
                    <a:bodyPr/>
                    <a:lstStyle/>
                    <a:p>
                      <a:pPr algn="ctr">
                        <a:defRPr sz="750" b="1">
                          <a:solidFill>
                            <a:srgbClr val="FFFFFF"/>
                          </a:solidFill>
                          <a:latin typeface="Arial"/>
                        </a:defRPr>
                      </a:pPr>
                      <a:r>
                        <a:t>Nhóm rủi ro / Vấn đề ghi nhận</a:t>
                      </a:r>
                    </a:p>
                  </a:txBody>
                  <a:tcPr anchor="ctr" marL="36576" marR="36576" marT="9144" marB="9144">
                    <a:solidFill>
                      <a:srgbClr val="1B365D"/>
                    </a:solidFill>
                  </a:tcPr>
                </a:tc>
                <a:tc>
                  <a:txBody>
                    <a:bodyPr/>
                    <a:lstStyle/>
                    <a:p>
                      <a:pPr algn="ctr">
                        <a:defRPr sz="750" b="1">
                          <a:solidFill>
                            <a:srgbClr val="FFFFFF"/>
                          </a:solidFill>
                          <a:latin typeface="Arial"/>
                        </a:defRPr>
                      </a:pPr>
                      <a:r>
                        <a:t>Chi tiết rủi ro &amp; Nguyên nhân</a:t>
                      </a:r>
                    </a:p>
                  </a:txBody>
                  <a:tcPr anchor="ctr" marL="36576" marR="36576" marT="9144" marB="9144">
                    <a:solidFill>
                      <a:srgbClr val="1B365D"/>
                    </a:solidFill>
                  </a:tcPr>
                </a:tc>
                <a:tc>
                  <a:txBody>
                    <a:bodyPr/>
                    <a:lstStyle/>
                    <a:p>
                      <a:pPr algn="ctr">
                        <a:defRPr sz="750" b="1">
                          <a:solidFill>
                            <a:srgbClr val="FFFFFF"/>
                          </a:solidFill>
                          <a:latin typeface="Arial"/>
                        </a:defRPr>
                      </a:pPr>
                      <a:r>
                        <a:t>Đối sách &amp; Quyết định trong biên bản</a:t>
                      </a:r>
                    </a:p>
                  </a:txBody>
                  <a:tcPr anchor="ctr" marL="36576" marR="36576" marT="9144" marB="9144">
                    <a:solidFill>
                      <a:srgbClr val="1B365D"/>
                    </a:solidFill>
                  </a:tcPr>
                </a:tc>
                <a:tc>
                  <a:txBody>
                    <a:bodyPr/>
                    <a:lstStyle/>
                    <a:p>
                      <a:pPr algn="ctr">
                        <a:defRPr sz="750" b="1">
                          <a:solidFill>
                            <a:srgbClr val="FFFFFF"/>
                          </a:solidFill>
                          <a:latin typeface="Arial"/>
                        </a:defRPr>
                      </a:pPr>
                      <a:r>
                        <a:t>Nguồn đối chiếu</a:t>
                      </a:r>
                    </a:p>
                  </a:txBody>
                  <a:tcPr anchor="ctr" marL="36576" marR="36576" marT="9144" marB="9144">
                    <a:solidFill>
                      <a:srgbClr val="1B365D"/>
                    </a:solidFill>
                  </a:tcPr>
                </a:tc>
              </a:tr>
              <a:tr h="747195">
                <a:tc>
                  <a:txBody>
                    <a:bodyPr/>
                    <a:lstStyle/>
                    <a:p>
                      <a:pPr algn="ctr">
                        <a:defRPr sz="680" b="1">
                          <a:solidFill>
                            <a:srgbClr val="1E242B"/>
                          </a:solidFill>
                          <a:latin typeface="Arial"/>
                        </a:defRPr>
                      </a:pPr>
                      <a:r>
                        <a:t>1</a:t>
                      </a:r>
                    </a:p>
                  </a:txBody>
                  <a:tcPr anchor="ctr" marL="36576" marR="36576" marT="9144" marB="9144">
                    <a:solidFill>
                      <a:srgbClr val="FDEDEC"/>
                    </a:solidFill>
                  </a:tcPr>
                </a:tc>
                <a:tc>
                  <a:txBody>
                    <a:bodyPr/>
                    <a:lstStyle/>
                    <a:p>
                      <a:pPr algn="l">
                        <a:defRPr sz="680">
                          <a:solidFill>
                            <a:srgbClr val="1E242B"/>
                          </a:solidFill>
                          <a:latin typeface="Arial"/>
                        </a:defRPr>
                      </a:pPr>
                      <a:r>
                        <a:t>Hiệu quả đầu tư thấp:</a:t>
                      </a:r>
                      <a:br/>
                      <a:r>
                        <a:t>Phương án Robot đặt bản thảo (No.23) &amp; Robot USB/U201 (No.24) quá đắt</a:t>
                      </a:r>
                    </a:p>
                  </a:txBody>
                  <a:tcPr anchor="ctr" marL="36576" marR="36576" marT="9144" marB="9144">
                    <a:solidFill>
                      <a:srgbClr val="FDEDEC"/>
                    </a:solidFill>
                  </a:tcPr>
                </a:tc>
                <a:tc>
                  <a:txBody>
                    <a:bodyPr/>
                    <a:lstStyle/>
                    <a:p>
                      <a:pPr algn="l">
                        <a:defRPr sz="680">
                          <a:solidFill>
                            <a:srgbClr val="1E242B"/>
                          </a:solidFill>
                          <a:latin typeface="Arial"/>
                        </a:defRPr>
                      </a:pPr>
                      <a:r>
                        <a:t>• Đề án No.23 (Robot đặt bản thảo lên kính ISU) tốn 650.000.000 VNĐ (25.000 USD), mở rộng 2 cell băng tải tốn diện tích, nhưng chỉ tiết kiệm 108,53 triệu VNĐ/năm (hoàn vốn &gt; 6 năm).</a:t>
                      </a:r>
                      <a:br/>
                      <a:r>
                        <a:t>• Đề án No.24 (Robot cắm USB &amp; chạm Panel U201) tốn 4.000 USD cho thao tác 30s.</a:t>
                      </a:r>
                    </a:p>
                  </a:txBody>
                  <a:tcPr anchor="ctr" marL="36576" marR="36576" marT="9144" marB="9144">
                    <a:solidFill>
                      <a:srgbClr val="FDEDEC"/>
                    </a:solidFill>
                  </a:tcPr>
                </a:tc>
                <a:tc>
                  <a:txBody>
                    <a:bodyPr/>
                    <a:lstStyle/>
                    <a:p>
                      <a:pPr algn="l">
                        <a:defRPr sz="680">
                          <a:solidFill>
                            <a:srgbClr val="1E242B"/>
                          </a:solidFill>
                          <a:latin typeface="Arial"/>
                        </a:defRPr>
                      </a:pPr>
                      <a:r>
                        <a:t>• Hủy bỏ (廃止 / 見送り) cả 2 phương án Robot sau DR4 / 連携会 7.</a:t>
                      </a:r>
                      <a:br/>
                      <a:r>
                        <a:t>• Thay No.23 bằng Đề án No.25: Quét bản thảo liên tục bằng bộ nạp DP của máy + PC tự động phán định.</a:t>
                      </a:r>
                      <a:br/>
                      <a:r>
                        <a:t>• Thay No.24 bằng Đề án JP No.3 (đọc log Panel Assy qua mạng) &amp; JP No.6 (bảo chứng USB khi nạp FW).</a:t>
                      </a:r>
                    </a:p>
                  </a:txBody>
                  <a:tcPr anchor="ctr" marL="36576" marR="36576" marT="9144" marB="9144">
                    <a:solidFill>
                      <a:srgbClr val="FDEDEC"/>
                    </a:solidFill>
                  </a:tcPr>
                </a:tc>
                <a:tc>
                  <a:txBody>
                    <a:bodyPr/>
                    <a:lstStyle/>
                    <a:p>
                      <a:pPr algn="l">
                        <a:defRPr sz="680">
                          <a:solidFill>
                            <a:srgbClr val="1E242B"/>
                          </a:solidFill>
                          <a:latin typeface="Arial"/>
                        </a:defRPr>
                      </a:pPr>
                      <a:r>
                        <a:t>Iris EXPのVN提案.xlsx;</a:t>
                      </a:r>
                      <a:br/>
                      <a:r>
                        <a:t>第7回.txt;</a:t>
                      </a:r>
                      <a:br/>
                      <a:r>
                        <a:t>まとめ Row 37, 38, 39</a:t>
                      </a:r>
                    </a:p>
                  </a:txBody>
                  <a:tcPr anchor="ctr" marL="36576" marR="36576" marT="9144" marB="9144">
                    <a:solidFill>
                      <a:srgbClr val="FDEDEC"/>
                    </a:solidFill>
                  </a:tcPr>
                </a:tc>
              </a:tr>
              <a:tr h="747195">
                <a:tc>
                  <a:txBody>
                    <a:bodyPr/>
                    <a:lstStyle/>
                    <a:p>
                      <a:pPr algn="ctr">
                        <a:defRPr sz="680" b="1">
                          <a:solidFill>
                            <a:srgbClr val="1E242B"/>
                          </a:solidFill>
                          <a:latin typeface="Arial"/>
                        </a:defRPr>
                      </a:pPr>
                      <a:r>
                        <a:t>2</a:t>
                      </a:r>
                    </a:p>
                  </a:txBody>
                  <a:tcPr anchor="ctr" marL="36576" marR="36576" marT="9144" marB="9144">
                    <a:solidFill>
                      <a:srgbClr val="FEF7E6"/>
                    </a:solidFill>
                  </a:tcPr>
                </a:tc>
                <a:tc>
                  <a:txBody>
                    <a:bodyPr/>
                    <a:lstStyle/>
                    <a:p>
                      <a:pPr algn="l">
                        <a:defRPr sz="680">
                          <a:solidFill>
                            <a:srgbClr val="1E242B"/>
                          </a:solidFill>
                          <a:latin typeface="Arial"/>
                        </a:defRPr>
                      </a:pPr>
                      <a:r>
                        <a:t>Lỗi hệ thống Athena:</a:t>
                      </a:r>
                      <a:br/>
                      <a:r>
                        <a:t>Chai Pin Mobile &amp; rớt mạng Wi-Fi trên Raspberry Pi</a:t>
                      </a:r>
                    </a:p>
                  </a:txBody>
                  <a:tcPr anchor="ctr" marL="36576" marR="36576" marT="9144" marB="9144">
                    <a:solidFill>
                      <a:srgbClr val="FEF7E6"/>
                    </a:solidFill>
                  </a:tcPr>
                </a:tc>
                <a:tc>
                  <a:txBody>
                    <a:bodyPr/>
                    <a:lstStyle/>
                    <a:p>
                      <a:pPr algn="l">
                        <a:defRPr sz="680">
                          <a:solidFill>
                            <a:srgbClr val="1E242B"/>
                          </a:solidFill>
                          <a:latin typeface="Arial"/>
                        </a:defRPr>
                      </a:pPr>
                      <a:r>
                        <a:t>• Hệ thống Athena đặt Raspberry Pi + Pin Mobile chạy theo pallet máy: Pin nhanh bị chai (劣化), cần bộ sạc 10 cổng đắt tiền (190.000 JPY), cồng kềnh.</a:t>
                      </a:r>
                      <a:br/>
                      <a:r>
                        <a:t>• Truyền dữ liệu qua Wi-Fi trong xưởng bị nhiễu làm gián đoạn quá trình thiết lập semifinal.</a:t>
                      </a:r>
                    </a:p>
                  </a:txBody>
                  <a:tcPr anchor="ctr" marL="36576" marR="36576" marT="9144" marB="9144">
                    <a:solidFill>
                      <a:srgbClr val="FEF7E6"/>
                    </a:solidFill>
                  </a:tcPr>
                </a:tc>
                <a:tc>
                  <a:txBody>
                    <a:bodyPr/>
                    <a:lstStyle/>
                    <a:p>
                      <a:pPr algn="l">
                        <a:defRPr sz="680">
                          <a:solidFill>
                            <a:srgbClr val="1E242B"/>
                          </a:solidFill>
                          <a:latin typeface="Arial"/>
                        </a:defRPr>
                      </a:pPr>
                      <a:r>
                        <a:t>• Quyết định tạm thời (仮決定 tại 連携会 15): Chuyển sang hệ thống Spica dùng Mini PC cố định trên bàn kiểm tra (~40.000 JPY/bộ, cấp nguồn AC trực tiếp, 1 Mini PC điều khiển 4 máy MFP).</a:t>
                      </a:r>
                      <a:br/>
                      <a:r>
                        <a:t>• Dùng kết nối mạng có dây (VLAN/LAN) và truyền dữ liệu qua cổng USB/Network.</a:t>
                      </a:r>
                    </a:p>
                  </a:txBody>
                  <a:tcPr anchor="ctr" marL="36576" marR="36576" marT="9144" marB="9144">
                    <a:solidFill>
                      <a:srgbClr val="FEF7E6"/>
                    </a:solidFill>
                  </a:tcPr>
                </a:tc>
                <a:tc>
                  <a:txBody>
                    <a:bodyPr/>
                    <a:lstStyle/>
                    <a:p>
                      <a:pPr algn="l">
                        <a:defRPr sz="680">
                          <a:solidFill>
                            <a:srgbClr val="1E242B"/>
                          </a:solidFill>
                          <a:latin typeface="Arial"/>
                        </a:defRPr>
                      </a:pPr>
                      <a:r>
                        <a:t>AthenaとSpicaの比較.xlsx;</a:t>
                      </a:r>
                      <a:br/>
                      <a:r>
                        <a:t>第8回, 第9回, 第15回.txt</a:t>
                      </a:r>
                    </a:p>
                  </a:txBody>
                  <a:tcPr anchor="ctr" marL="36576" marR="36576" marT="9144" marB="9144">
                    <a:solidFill>
                      <a:srgbClr val="FEF7E6"/>
                    </a:solidFill>
                  </a:tcPr>
                </a:tc>
              </a:tr>
              <a:tr h="747195">
                <a:tc>
                  <a:txBody>
                    <a:bodyPr/>
                    <a:lstStyle/>
                    <a:p>
                      <a:pPr algn="ctr">
                        <a:defRPr sz="680" b="1">
                          <a:solidFill>
                            <a:srgbClr val="1E242B"/>
                          </a:solidFill>
                          <a:latin typeface="Arial"/>
                        </a:defRPr>
                      </a:pPr>
                      <a:r>
                        <a:t>3</a:t>
                      </a:r>
                    </a:p>
                  </a:txBody>
                  <a:tcPr anchor="ctr" marL="36576" marR="36576" marT="9144" marB="9144">
                    <a:solidFill>
                      <a:srgbClr val="FFFFFF"/>
                    </a:solidFill>
                  </a:tcPr>
                </a:tc>
                <a:tc>
                  <a:txBody>
                    <a:bodyPr/>
                    <a:lstStyle/>
                    <a:p>
                      <a:pPr algn="l">
                        <a:defRPr sz="680">
                          <a:solidFill>
                            <a:srgbClr val="1E242B"/>
                          </a:solidFill>
                          <a:latin typeface="Arial"/>
                        </a:defRPr>
                      </a:pPr>
                      <a:r>
                        <a:t>Chất lượng quét DP:</a:t>
                      </a:r>
                      <a:br/>
                      <a:r>
                        <a:t>Độ chính xác khi quét qua DP (No.25) so với mặt kính ISU</a:t>
                      </a:r>
                    </a:p>
                  </a:txBody>
                  <a:tcPr anchor="ctr" marL="36576" marR="36576" marT="9144" marB="9144">
                    <a:solidFill>
                      <a:srgbClr val="FFFFFF"/>
                    </a:solidFill>
                  </a:tcPr>
                </a:tc>
                <a:tc>
                  <a:txBody>
                    <a:bodyPr/>
                    <a:lstStyle/>
                    <a:p>
                      <a:pPr algn="l">
                        <a:defRPr sz="680">
                          <a:solidFill>
                            <a:srgbClr val="1E242B"/>
                          </a:solidFill>
                          <a:latin typeface="Arial"/>
                        </a:defRPr>
                      </a:pPr>
                      <a:r>
                        <a:t>• Khi thay đặt bản thảo trên mặt kính ISU bằng quét kéo giấy liên tục qua DP (No.25), có rủi ro lệch vị trí lề hoặc tốc độ kéo giấy của DP làm ảnh hưởng kết quả chỉnh U411 / SITC-2 / Halftone.</a:t>
                      </a:r>
                    </a:p>
                  </a:txBody>
                  <a:tcPr anchor="ctr" marL="36576" marR="36576" marT="9144" marB="9144">
                    <a:solidFill>
                      <a:srgbClr val="FFFFFF"/>
                    </a:solidFill>
                  </a:tcPr>
                </a:tc>
                <a:tc>
                  <a:txBody>
                    <a:bodyPr/>
                    <a:lstStyle/>
                    <a:p>
                      <a:pPr algn="l">
                        <a:defRPr sz="680">
                          <a:solidFill>
                            <a:srgbClr val="1E242B"/>
                          </a:solidFill>
                          <a:latin typeface="Arial"/>
                        </a:defRPr>
                      </a:pPr>
                      <a:r>
                        <a:t>• Nhóm kỹ thuật JP - CN - VN (Uemura, Okamoto, Deng, Chen Zhi Feng) đang kiểm chứng so sánh dữ liệu quét DP vs ISU và hiệu chỉnh thuật toán phần mềm tự động đánh giá trên PC (連携会 13~17).</a:t>
                      </a:r>
                      <a:br/>
                      <a:r>
                        <a:t>• Chỉ áp dụng chính thức khi năng lực công đoạn đạt Cpk &gt;= 1,33.</a:t>
                      </a:r>
                    </a:p>
                  </a:txBody>
                  <a:tcPr anchor="ctr" marL="36576" marR="36576" marT="9144" marB="9144">
                    <a:solidFill>
                      <a:srgbClr val="FFFFFF"/>
                    </a:solidFill>
                  </a:tcPr>
                </a:tc>
                <a:tc>
                  <a:txBody>
                    <a:bodyPr/>
                    <a:lstStyle/>
                    <a:p>
                      <a:pPr algn="l">
                        <a:defRPr sz="680">
                          <a:solidFill>
                            <a:srgbClr val="1E242B"/>
                          </a:solidFill>
                          <a:latin typeface="Arial"/>
                        </a:defRPr>
                      </a:pPr>
                      <a:r>
                        <a:t>連携会 第13回 (18/9) ~</a:t>
                      </a:r>
                      <a:br/>
                      <a:r>
                        <a:t>第17回 (15/10/2026)</a:t>
                      </a:r>
                    </a:p>
                  </a:txBody>
                  <a:tcPr anchor="ctr" marL="36576" marR="36576" marT="9144" marB="9144">
                    <a:solidFill>
                      <a:srgbClr val="FFFFFF"/>
                    </a:solidFill>
                  </a:tcPr>
                </a:tc>
              </a:tr>
              <a:tr h="747195">
                <a:tc>
                  <a:txBody>
                    <a:bodyPr/>
                    <a:lstStyle/>
                    <a:p>
                      <a:pPr algn="ctr">
                        <a:defRPr sz="680" b="1">
                          <a:solidFill>
                            <a:srgbClr val="1E242B"/>
                          </a:solidFill>
                          <a:latin typeface="Arial"/>
                        </a:defRPr>
                      </a:pPr>
                      <a:r>
                        <a:t>4</a:t>
                      </a:r>
                    </a:p>
                  </a:txBody>
                  <a:tcPr anchor="ctr" marL="36576" marR="36576" marT="9144" marB="9144">
                    <a:solidFill>
                      <a:srgbClr val="EAF7EE"/>
                    </a:solidFill>
                  </a:tcPr>
                </a:tc>
                <a:tc>
                  <a:txBody>
                    <a:bodyPr/>
                    <a:lstStyle/>
                    <a:p>
                      <a:pPr algn="l">
                        <a:defRPr sz="680">
                          <a:solidFill>
                            <a:srgbClr val="1E242B"/>
                          </a:solidFill>
                          <a:latin typeface="Arial"/>
                        </a:defRPr>
                      </a:pPr>
                      <a:r>
                        <a:t>An toàn điện &amp; thao tác tại A-3:</a:t>
                      </a:r>
                      <a:br/>
                      <a:r>
                        <a:t>Đo chịu áp (No.22) khi chưa đóng vỏ máy vs. Kiểm tra FAN</a:t>
                      </a:r>
                    </a:p>
                  </a:txBody>
                  <a:tcPr anchor="ctr" marL="36576" marR="36576" marT="9144" marB="9144">
                    <a:solidFill>
                      <a:srgbClr val="EAF7EE"/>
                    </a:solidFill>
                  </a:tcPr>
                </a:tc>
                <a:tc>
                  <a:txBody>
                    <a:bodyPr/>
                    <a:lstStyle/>
                    <a:p>
                      <a:pPr algn="l">
                        <a:defRPr sz="680">
                          <a:solidFill>
                            <a:srgbClr val="1E242B"/>
                          </a:solidFill>
                          <a:latin typeface="Arial"/>
                        </a:defRPr>
                      </a:pPr>
                      <a:r>
                        <a:t>• Tại DR4, thiết kế yêu cầu kiểm tra chịu áp/cách điện (耐圧・絶縁検査) phải thực hiện khi ĐÃ LẮP ĐỦ VỎ NGOÀI (外装カバー付き) để phát hiện lỗi kẹt dây điện vào sườn máy.</a:t>
                      </a:r>
                      <a:br/>
                      <a:r>
                        <a:t>• Tuy nhiên tại A-3 còn phải kiểm tra quạt FAN khi mở vỏ và tốn 48,32s~90s lắp 6 tấm vỏ.</a:t>
                      </a:r>
                    </a:p>
                  </a:txBody>
                  <a:tcPr anchor="ctr" marL="36576" marR="36576" marT="9144" marB="9144">
                    <a:solidFill>
                      <a:srgbClr val="EAF7EE"/>
                    </a:solidFill>
                  </a:tcPr>
                </a:tc>
                <a:tc>
                  <a:txBody>
                    <a:bodyPr/>
                    <a:lstStyle/>
                    <a:p>
                      <a:pPr algn="l">
                        <a:defRPr sz="680">
                          <a:solidFill>
                            <a:srgbClr val="1E242B"/>
                          </a:solidFill>
                          <a:latin typeface="Arial"/>
                        </a:defRPr>
                      </a:pPr>
                      <a:r>
                        <a:t>• Bố trí hệ thống tự động No.22 tại cuối trạm A-3 (sau khi máy đã đóng kín vỏ).</a:t>
                      </a:r>
                      <a:br/>
                      <a:r>
                        <a:t>• Thực hiện Đề án No.33: Chuyển nguyên công lắp 6 tấm vỏ máy về công đoạn Lắp ráp (本体組立) và kiểm tra tín hiệu FAN bằng phần mềm để không phải mở vỏ tại A-3.</a:t>
                      </a:r>
                    </a:p>
                  </a:txBody>
                  <a:tcPr anchor="ctr" marL="36576" marR="36576" marT="9144" marB="9144">
                    <a:solidFill>
                      <a:srgbClr val="EAF7EE"/>
                    </a:solidFill>
                  </a:tcPr>
                </a:tc>
                <a:tc>
                  <a:txBody>
                    <a:bodyPr/>
                    <a:lstStyle/>
                    <a:p>
                      <a:pPr algn="l">
                        <a:defRPr sz="680">
                          <a:solidFill>
                            <a:srgbClr val="1E242B"/>
                          </a:solidFill>
                          <a:latin typeface="Arial"/>
                        </a:defRPr>
                      </a:pPr>
                      <a:r>
                        <a:t>DR 4.pdf (Slide 6);</a:t>
                      </a:r>
                      <a:br/>
                      <a:r>
                        <a:t>調整工程DR議事録.xlsx</a:t>
                      </a:r>
                      <a:br/>
                      <a:r>
                        <a:t>(Row 15~16)</a:t>
                      </a:r>
                    </a:p>
                  </a:txBody>
                  <a:tcPr anchor="ctr" marL="36576" marR="36576" marT="9144" marB="9144">
                    <a:solidFill>
                      <a:srgbClr val="EAF7EE"/>
                    </a:solidFill>
                  </a:tcPr>
                </a:tc>
              </a:tr>
              <a:tr h="747195">
                <a:tc>
                  <a:txBody>
                    <a:bodyPr/>
                    <a:lstStyle/>
                    <a:p>
                      <a:pPr algn="ctr">
                        <a:defRPr sz="680" b="1">
                          <a:solidFill>
                            <a:srgbClr val="1E242B"/>
                          </a:solidFill>
                          <a:latin typeface="Arial"/>
                        </a:defRPr>
                      </a:pPr>
                      <a:r>
                        <a:t>5</a:t>
                      </a:r>
                    </a:p>
                  </a:txBody>
                  <a:tcPr anchor="ctr" marL="36576" marR="36576" marT="9144" marB="9144">
                    <a:solidFill>
                      <a:srgbClr val="FEF7E6"/>
                    </a:solidFill>
                  </a:tcPr>
                </a:tc>
                <a:tc>
                  <a:txBody>
                    <a:bodyPr/>
                    <a:lstStyle/>
                    <a:p>
                      <a:pPr algn="l">
                        <a:defRPr sz="680">
                          <a:solidFill>
                            <a:srgbClr val="1E242B"/>
                          </a:solidFill>
                          <a:latin typeface="Arial"/>
                        </a:defRPr>
                      </a:pPr>
                      <a:r>
                        <a:t>Lỗi chất lượng tại nhà máy VN:</a:t>
                      </a:r>
                      <a:br/>
                      <a:r>
                        <a:t>Lệch Belt truyền ảnh (1~2 vụ/tháng) &amp; Lật lưỡi gạt mực (ブレードめくれ)</a:t>
                      </a:r>
                    </a:p>
                  </a:txBody>
                  <a:tcPr anchor="ctr" marL="36576" marR="36576" marT="9144" marB="9144">
                    <a:solidFill>
                      <a:srgbClr val="FEF7E6"/>
                    </a:solidFill>
                  </a:tcPr>
                </a:tc>
                <a:tc>
                  <a:txBody>
                    <a:bodyPr/>
                    <a:lstStyle/>
                    <a:p>
                      <a:pPr algn="l">
                        <a:defRPr sz="680">
                          <a:solidFill>
                            <a:srgbClr val="1E242B"/>
                          </a:solidFill>
                          <a:latin typeface="Arial"/>
                        </a:defRPr>
                      </a:pPr>
                      <a:r>
                        <a:t>• Nhà máy VN vẫn phát sinh 1~2 máy/tháng bị lệch Transfer Belt tại công đoạn điều chỉnh (nên chưa thể xóa ngay bước kiểm tra như JP đề xuất).</a:t>
                      </a:r>
                      <a:br/>
                      <a:r>
                        <a:t>• Khi thu hồi mực tồn trên trống/belt về bình mực thải lúc kiểm tra, thiếu mực bôi trơn gây lật lưỡi gạt làm sạch (Cleaning Blade turn-up).</a:t>
                      </a:r>
                    </a:p>
                  </a:txBody>
                  <a:tcPr anchor="ctr" marL="36576" marR="36576" marT="9144" marB="9144">
                    <a:solidFill>
                      <a:srgbClr val="FEF7E6"/>
                    </a:solidFill>
                  </a:tcPr>
                </a:tc>
                <a:tc>
                  <a:txBody>
                    <a:bodyPr/>
                    <a:lstStyle/>
                    <a:p>
                      <a:pPr algn="l">
                        <a:defRPr sz="680">
                          <a:solidFill>
                            <a:srgbClr val="1E242B"/>
                          </a:solidFill>
                          <a:latin typeface="Arial"/>
                        </a:defRPr>
                      </a:pPr>
                      <a:r>
                        <a:t>• Về Transfer Belt (No.37): Thiết kế JP đổi góc vát Puli từ 5° -&gt; 35° và dùng Belt đàn hồi mới; VN chỉ bỏ bước kiểm tra sau khi nghiệm thu linh kiện mới hết lỗi.</a:t>
                      </a:r>
                      <a:br/>
                      <a:r>
                        <a:t>• Về lật lưỡi gạt: Điều chỉnh chu trình đẩy mực tồn (Toner Purge) tại 連携会 17 để giữ lớp mực bôi trơn bảo vệ lưỡi gạt.</a:t>
                      </a:r>
                    </a:p>
                  </a:txBody>
                  <a:tcPr anchor="ctr" marL="36576" marR="36576" marT="9144" marB="9144">
                    <a:solidFill>
                      <a:srgbClr val="FEF7E6"/>
                    </a:solidFill>
                  </a:tcPr>
                </a:tc>
                <a:tc>
                  <a:txBody>
                    <a:bodyPr/>
                    <a:lstStyle/>
                    <a:p>
                      <a:pPr algn="l">
                        <a:defRPr sz="680">
                          <a:solidFill>
                            <a:srgbClr val="1E242B"/>
                          </a:solidFill>
                          <a:latin typeface="Arial"/>
                        </a:defRPr>
                      </a:pPr>
                      <a:r>
                        <a:t>調整工程DR議事録.xlsx</a:t>
                      </a:r>
                      <a:br/>
                      <a:r>
                        <a:t>(Row 9~13);</a:t>
                      </a:r>
                      <a:br/>
                      <a:r>
                        <a:t>第17回 (15/10/2026)</a:t>
                      </a:r>
                    </a:p>
                  </a:txBody>
                  <a:tcPr anchor="ctr" marL="36576" marR="36576" marT="9144" marB="9144">
                    <a:solidFill>
                      <a:srgbClr val="FEF7E6"/>
                    </a:solidFill>
                  </a:tcPr>
                </a:tc>
              </a:tr>
              <a:tr h="747198">
                <a:tc>
                  <a:txBody>
                    <a:bodyPr/>
                    <a:lstStyle/>
                    <a:p>
                      <a:pPr algn="ctr">
                        <a:defRPr sz="680" b="1">
                          <a:solidFill>
                            <a:srgbClr val="1E242B"/>
                          </a:solidFill>
                          <a:latin typeface="Arial"/>
                        </a:defRPr>
                      </a:pPr>
                      <a:r>
                        <a:t>6</a:t>
                      </a:r>
                    </a:p>
                  </a:txBody>
                  <a:tcPr anchor="ctr" marL="36576" marR="36576" marT="9144" marB="9144">
                    <a:solidFill>
                      <a:srgbClr val="F7F9FC"/>
                    </a:solidFill>
                  </a:tcPr>
                </a:tc>
                <a:tc>
                  <a:txBody>
                    <a:bodyPr/>
                    <a:lstStyle/>
                    <a:p>
                      <a:pPr algn="l">
                        <a:defRPr sz="680">
                          <a:solidFill>
                            <a:srgbClr val="1E242B"/>
                          </a:solidFill>
                          <a:latin typeface="Arial"/>
                        </a:defRPr>
                      </a:pPr>
                      <a:r>
                        <a:t>Phát sinh thêm thời gian:</a:t>
                      </a:r>
                      <a:br/>
                      <a:r>
                        <a:t>Hạng mục U413 (+89s Color) &amp; Nạp FW tại nhà máy Partner</a:t>
                      </a:r>
                    </a:p>
                  </a:txBody>
                  <a:tcPr anchor="ctr" marL="36576" marR="36576" marT="9144" marB="9144">
                    <a:solidFill>
                      <a:srgbClr val="F7F9FC"/>
                    </a:solidFill>
                  </a:tcPr>
                </a:tc>
                <a:tc>
                  <a:txBody>
                    <a:bodyPr/>
                    <a:lstStyle/>
                    <a:p>
                      <a:pPr algn="l">
                        <a:defRPr sz="680">
                          <a:solidFill>
                            <a:srgbClr val="1E242B"/>
                          </a:solidFill>
                          <a:latin typeface="Arial"/>
                        </a:defRPr>
                      </a:pPr>
                      <a:r>
                        <a:t>• IrisEXP phát sinh mới hạng mục Điều chỉnh bước tia quét chính U413 làm tăng thêm +89,00s (Color) / +51,72s (Mono) trên bảng công đoạn.</a:t>
                      </a:r>
                      <a:br/>
                      <a:r>
                        <a:t>• Nếu nạp FW trước tại nhà máy Partner (No.18) thì cần đảm bảo cổng USB Host (U208) vẫn được kiểm tra.</a:t>
                      </a:r>
                    </a:p>
                  </a:txBody>
                  <a:tcPr anchor="ctr" marL="36576" marR="36576" marT="9144" marB="9144">
                    <a:solidFill>
                      <a:srgbClr val="F7F9FC"/>
                    </a:solidFill>
                  </a:tcPr>
                </a:tc>
                <a:tc>
                  <a:txBody>
                    <a:bodyPr/>
                    <a:lstStyle/>
                    <a:p>
                      <a:pPr algn="l">
                        <a:defRPr sz="680">
                          <a:solidFill>
                            <a:srgbClr val="1E242B"/>
                          </a:solidFill>
                          <a:latin typeface="Arial"/>
                        </a:defRPr>
                      </a:pPr>
                      <a:r>
                        <a:t>• Về U413: Đang xem xét đầu tư 225~250 vạn JPY viết phần mềm nạp dữ liệu LSU tự động để xóa thao tác U413 trên chuyền (tiết kiệm 42 vạn JPY/năm).</a:t>
                      </a:r>
                      <a:br/>
                      <a:r>
                        <a:t>• Về No.18: Nếu nạp FW ở Partner thì ghép bước kiểm tra USB vào bước lấy log hoặc nạp FinalSetup đầu chuyền.</a:t>
                      </a:r>
                    </a:p>
                  </a:txBody>
                  <a:tcPr anchor="ctr" marL="36576" marR="36576" marT="9144" marB="9144">
                    <a:solidFill>
                      <a:srgbClr val="F7F9FC"/>
                    </a:solidFill>
                  </a:tcPr>
                </a:tc>
                <a:tc>
                  <a:txBody>
                    <a:bodyPr/>
                    <a:lstStyle/>
                    <a:p>
                      <a:pPr algn="l">
                        <a:defRPr sz="680">
                          <a:solidFill>
                            <a:srgbClr val="1E242B"/>
                          </a:solidFill>
                          <a:latin typeface="Arial"/>
                        </a:defRPr>
                      </a:pPr>
                      <a:r>
                        <a:t>主走査ビームピッチ補正.pptx;</a:t>
                      </a:r>
                      <a:br/>
                      <a:r>
                        <a:t>IrisEXP 工程 3.xlsx;</a:t>
                      </a:r>
                      <a:br/>
                      <a:r>
                        <a:t>開発目標 Sheet 4</a:t>
                      </a:r>
                    </a:p>
                  </a:txBody>
                  <a:tcPr anchor="ctr" marL="36576" marR="36576" marT="9144" marB="9144">
                    <a:solidFill>
                      <a:srgbClr val="F7F9FC"/>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10.1: ĐỀ NGHỊ XIN TƯ VẤN</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Đề nghị Trưởng bộ phận (Mục đích 1/2): Xin tư vấn phương án kỹ thuật và phối hợp liên bộ phận</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14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5 nội dung xin ý kiến chỉ đạo của Trưởng bộ phận để đẩy nhanh tiến độ PDCA (mới đạt 0,18% tại T10) và chốt thiết kế công đoạn trước mốc PMT1 (T12/2026).</a:t>
            </a:r>
          </a:p>
        </p:txBody>
      </p:sp>
      <p:graphicFrame>
        <p:nvGraphicFramePr>
          <p:cNvPr id="7" name="Table 6"/>
          <p:cNvGraphicFramePr>
            <a:graphicFrameLocks noGrp="1"/>
          </p:cNvGraphicFramePr>
          <p:nvPr/>
        </p:nvGraphicFramePr>
        <p:xfrm>
          <a:off x="274320" y="1243584"/>
          <a:ext cx="11643055" cy="5230368"/>
        </p:xfrm>
        <a:graphic>
          <a:graphicData uri="http://schemas.openxmlformats.org/drawingml/2006/table">
            <a:tbl>
              <a:tblPr firstRow="1" bandRow="1">
                <a:tableStyleId>{5C22544A-7EE6-4342-B048-85BDC9FD1C3A}</a:tableStyleId>
              </a:tblPr>
              <a:tblGrid>
                <a:gridCol w="548640"/>
                <a:gridCol w="2331720"/>
                <a:gridCol w="3520440"/>
                <a:gridCol w="3520440"/>
                <a:gridCol w="1721815"/>
              </a:tblGrid>
              <a:tr h="871728">
                <a:tc>
                  <a:txBody>
                    <a:bodyPr/>
                    <a:lstStyle/>
                    <a:p>
                      <a:pPr algn="ctr">
                        <a:defRPr sz="760" b="1">
                          <a:solidFill>
                            <a:srgbClr val="FFFFFF"/>
                          </a:solidFill>
                          <a:latin typeface="Arial"/>
                        </a:defRPr>
                      </a:pPr>
                      <a:r>
                        <a:t>TT</a:t>
                      </a:r>
                    </a:p>
                  </a:txBody>
                  <a:tcPr anchor="ctr" marL="45720" marR="45720" marT="18288" marB="18288">
                    <a:solidFill>
                      <a:srgbClr val="1B365D"/>
                    </a:solidFill>
                  </a:tcPr>
                </a:tc>
                <a:tc>
                  <a:txBody>
                    <a:bodyPr/>
                    <a:lstStyle/>
                    <a:p>
                      <a:pPr algn="ctr">
                        <a:defRPr sz="760" b="1">
                          <a:solidFill>
                            <a:srgbClr val="FFFFFF"/>
                          </a:solidFill>
                          <a:latin typeface="Arial"/>
                        </a:defRPr>
                      </a:pPr>
                      <a:r>
                        <a:t>Nội dung xin tư vấn Trưởng bộ phận</a:t>
                      </a:r>
                    </a:p>
                  </a:txBody>
                  <a:tcPr anchor="ctr" marL="45720" marR="45720" marT="18288" marB="18288">
                    <a:solidFill>
                      <a:srgbClr val="1B365D"/>
                    </a:solidFill>
                  </a:tcPr>
                </a:tc>
                <a:tc>
                  <a:txBody>
                    <a:bodyPr/>
                    <a:lstStyle/>
                    <a:p>
                      <a:pPr algn="ctr">
                        <a:defRPr sz="760" b="1">
                          <a:solidFill>
                            <a:srgbClr val="FFFFFF"/>
                          </a:solidFill>
                          <a:latin typeface="Arial"/>
                        </a:defRPr>
                      </a:pPr>
                      <a:r>
                        <a:t>Hiện trạng &amp; Vướng mắc thực tế</a:t>
                      </a:r>
                    </a:p>
                  </a:txBody>
                  <a:tcPr anchor="ctr" marL="45720" marR="45720" marT="18288" marB="18288">
                    <a:solidFill>
                      <a:srgbClr val="1B365D"/>
                    </a:solidFill>
                  </a:tcPr>
                </a:tc>
                <a:tc>
                  <a:txBody>
                    <a:bodyPr/>
                    <a:lstStyle/>
                    <a:p>
                      <a:pPr algn="ctr">
                        <a:defRPr sz="760" b="1">
                          <a:solidFill>
                            <a:srgbClr val="FFFFFF"/>
                          </a:solidFill>
                          <a:latin typeface="Arial"/>
                        </a:defRPr>
                      </a:pPr>
                      <a:r>
                        <a:t>Phương án đề xuất của nhóm dự án (KDTVN-PE-3)</a:t>
                      </a:r>
                    </a:p>
                  </a:txBody>
                  <a:tcPr anchor="ctr" marL="45720" marR="45720" marT="18288" marB="18288">
                    <a:solidFill>
                      <a:srgbClr val="1B365D"/>
                    </a:solidFill>
                  </a:tcPr>
                </a:tc>
                <a:tc>
                  <a:txBody>
                    <a:bodyPr/>
                    <a:lstStyle/>
                    <a:p>
                      <a:pPr algn="ctr">
                        <a:defRPr sz="760" b="1">
                          <a:solidFill>
                            <a:srgbClr val="FFFFFF"/>
                          </a:solidFill>
                          <a:latin typeface="Arial"/>
                        </a:defRPr>
                      </a:pPr>
                      <a:r>
                        <a:t>Ý kiến chỉ đạo cần xin</a:t>
                      </a:r>
                      <a:br/>
                      <a:r>
                        <a:t>&amp; Mốc thời gian</a:t>
                      </a:r>
                    </a:p>
                  </a:txBody>
                  <a:tcPr anchor="ctr" marL="45720" marR="45720" marT="18288" marB="18288">
                    <a:solidFill>
                      <a:srgbClr val="1B365D"/>
                    </a:solidFill>
                  </a:tcPr>
                </a:tc>
              </a:tr>
              <a:tr h="871728">
                <a:tc>
                  <a:txBody>
                    <a:bodyPr/>
                    <a:lstStyle/>
                    <a:p>
                      <a:pPr algn="ctr">
                        <a:defRPr sz="700" b="1">
                          <a:solidFill>
                            <a:srgbClr val="1E242B"/>
                          </a:solidFill>
                          <a:latin typeface="Arial"/>
                        </a:defRPr>
                      </a:pPr>
                      <a:r>
                        <a:t>Tư vấn</a:t>
                      </a:r>
                      <a:br/>
                      <a:r>
                        <a:t>01</a:t>
                      </a:r>
                    </a:p>
                  </a:txBody>
                  <a:tcPr anchor="ctr" marL="45720" marR="45720" marT="18288" marB="18288">
                    <a:solidFill>
                      <a:srgbClr val="E8EEF5"/>
                    </a:solidFill>
                  </a:tcPr>
                </a:tc>
                <a:tc>
                  <a:txBody>
                    <a:bodyPr/>
                    <a:lstStyle/>
                    <a:p>
                      <a:pPr algn="l">
                        <a:defRPr sz="700">
                          <a:solidFill>
                            <a:srgbClr val="1E242B"/>
                          </a:solidFill>
                          <a:latin typeface="Arial"/>
                        </a:defRPr>
                      </a:pPr>
                      <a:r>
                        <a:t>Thứ tự ưu tiên đầu tư cho các đề án thiết bị VN đang chờ báo giá (見積中)</a:t>
                      </a:r>
                    </a:p>
                  </a:txBody>
                  <a:tcPr anchor="ctr" marL="45720" marR="45720" marT="18288" marB="18288">
                    <a:solidFill>
                      <a:srgbClr val="E8EEF5"/>
                    </a:solidFill>
                  </a:tcPr>
                </a:tc>
                <a:tc>
                  <a:txBody>
                    <a:bodyPr/>
                    <a:lstStyle/>
                    <a:p>
                      <a:pPr algn="l">
                        <a:defRPr sz="700">
                          <a:solidFill>
                            <a:srgbClr val="1E242B"/>
                          </a:solidFill>
                          <a:latin typeface="Arial"/>
                        </a:defRPr>
                      </a:pPr>
                      <a:r>
                        <a:t>Hiện mới có Đề án No.22 hoàn tất BOM báo giá chi tiết (101,69 triệu VNĐ). Còn 10 đề án thiết bị của VN đang ghi "Đang báo giá (見積中)", trong khi mục tiêu PDCA tháng 11 là 15% (-282s) và tháng 12 là 30% (-705s).</a:t>
                      </a:r>
                    </a:p>
                  </a:txBody>
                  <a:tcPr anchor="ctr" marL="45720" marR="45720" marT="18288" marB="18288">
                    <a:solidFill>
                      <a:srgbClr val="E8EEF5"/>
                    </a:solidFill>
                  </a:tcPr>
                </a:tc>
                <a:tc>
                  <a:txBody>
                    <a:bodyPr/>
                    <a:lstStyle/>
                    <a:p>
                      <a:pPr algn="l">
                        <a:defRPr sz="700">
                          <a:solidFill>
                            <a:srgbClr val="1E242B"/>
                          </a:solidFill>
                          <a:latin typeface="Arial"/>
                        </a:defRPr>
                      </a:pPr>
                      <a:r>
                        <a:t>Đề xuất chia nhóm ưu tiên lấy báo giá trong tháng 11/2026:</a:t>
                      </a:r>
                      <a:br/>
                      <a:r>
                        <a:t>• Nhóm Ưu tiên 1 (Giảm nhiều thời gian &amp; nhân lực nhất): No.27 (Camera đo nồng độ/lề: -177s~-215s), No.25 (Quét DP liên tục + PC: -110s), No.28 (Thiết lập xuất hàng qua mạng: -50s).</a:t>
                      </a:r>
                      <a:br/>
                      <a:r>
                        <a:t>• Nhóm Ưu tiên 2 (Chống lỗi &amp; giảm thao tác nặng): No.21 (Gá Option nam châm: -45s), No.18 (Gá nạp FW 4 máy), No.31 &amp; No.35.</a:t>
                      </a:r>
                    </a:p>
                  </a:txBody>
                  <a:tcPr anchor="ctr" marL="45720" marR="45720" marT="18288" marB="18288">
                    <a:solidFill>
                      <a:srgbClr val="E8EEF5"/>
                    </a:solidFill>
                  </a:tcPr>
                </a:tc>
                <a:tc>
                  <a:txBody>
                    <a:bodyPr/>
                    <a:lstStyle/>
                    <a:p>
                      <a:pPr algn="l">
                        <a:defRPr sz="700">
                          <a:solidFill>
                            <a:srgbClr val="1E242B"/>
                          </a:solidFill>
                          <a:latin typeface="Arial"/>
                        </a:defRPr>
                      </a:pPr>
                      <a:r>
                        <a:t>Xin Trưởng bộ phận cho ý kiến về thứ tự ưu tiên và hạn mức ngân sách dự kiến cho Nhóm Ưu tiên 1 trước 15/11/2026.</a:t>
                      </a:r>
                    </a:p>
                  </a:txBody>
                  <a:tcPr anchor="ctr" marL="45720" marR="45720" marT="18288" marB="18288">
                    <a:solidFill>
                      <a:srgbClr val="E8EEF5"/>
                    </a:solidFill>
                  </a:tcPr>
                </a:tc>
              </a:tr>
              <a:tr h="871728">
                <a:tc>
                  <a:txBody>
                    <a:bodyPr/>
                    <a:lstStyle/>
                    <a:p>
                      <a:pPr algn="ctr">
                        <a:defRPr sz="700" b="1">
                          <a:solidFill>
                            <a:srgbClr val="1E242B"/>
                          </a:solidFill>
                          <a:latin typeface="Arial"/>
                        </a:defRPr>
                      </a:pPr>
                      <a:r>
                        <a:t>Tư vấn</a:t>
                      </a:r>
                      <a:br/>
                      <a:r>
                        <a:t>02</a:t>
                      </a:r>
                    </a:p>
                  </a:txBody>
                  <a:tcPr anchor="ctr" marL="45720" marR="45720" marT="18288" marB="18288">
                    <a:solidFill>
                      <a:srgbClr val="F7F9FC"/>
                    </a:solidFill>
                  </a:tcPr>
                </a:tc>
                <a:tc>
                  <a:txBody>
                    <a:bodyPr/>
                    <a:lstStyle/>
                    <a:p>
                      <a:pPr algn="l">
                        <a:defRPr sz="700">
                          <a:solidFill>
                            <a:srgbClr val="1E242B"/>
                          </a:solidFill>
                          <a:latin typeface="Arial"/>
                        </a:defRPr>
                      </a:pPr>
                      <a:r>
                        <a:t>Phương án xử lý bước lắp 6 tấm vỏ máy tại trạm A-3 (Đề án No.33: 48,32s ~ 90s/máy)</a:t>
                      </a:r>
                    </a:p>
                  </a:txBody>
                  <a:tcPr anchor="ctr" marL="45720" marR="45720" marT="18288" marB="18288">
                    <a:solidFill>
                      <a:srgbClr val="F7F9FC"/>
                    </a:solidFill>
                  </a:tcPr>
                </a:tc>
                <a:tc>
                  <a:txBody>
                    <a:bodyPr/>
                    <a:lstStyle/>
                    <a:p>
                      <a:pPr algn="l">
                        <a:defRPr sz="700">
                          <a:solidFill>
                            <a:srgbClr val="1E242B"/>
                          </a:solidFill>
                          <a:latin typeface="Arial"/>
                        </a:defRPr>
                      </a:pPr>
                      <a:r>
                        <a:t>Tại trạm K3 (A-3), công nhân điều chỉnh đang phải lắp và siết vít 6 tấm vỏ ngoài (TRAY INNER, COVER DP, REAR LOW/UP, FILTER, PLATE OPTION) mất 48,32s~90s/máy, làm ngắt quãng chu trình tự động trước khi vào máy đo chịu áp No.22.</a:t>
                      </a:r>
                    </a:p>
                  </a:txBody>
                  <a:tcPr anchor="ctr" marL="45720" marR="45720" marT="18288" marB="18288">
                    <a:solidFill>
                      <a:srgbClr val="F7F9FC"/>
                    </a:solidFill>
                  </a:tcPr>
                </a:tc>
                <a:tc>
                  <a:txBody>
                    <a:bodyPr/>
                    <a:lstStyle/>
                    <a:p>
                      <a:pPr algn="l">
                        <a:defRPr sz="700">
                          <a:solidFill>
                            <a:srgbClr val="1E242B"/>
                          </a:solidFill>
                          <a:latin typeface="Arial"/>
                        </a:defRPr>
                      </a:pPr>
                      <a:r>
                        <a:t>• Phương án A (Ưu tiên, 0 đồng thiết bị): Chuyển nguyên công lắp 6 tấm vỏ này về cuối công đoạn Lắp ráp thân máy (本体組立) trước khi máy sang chuyền Điều chỉnh.</a:t>
                      </a:r>
                      <a:br/>
                      <a:r>
                        <a:t>• Phương án B: Làm cơ cấu gá lắp/siết vít tự động tại trạm A-3 (phát sinh chi phí thiết bị).</a:t>
                      </a:r>
                    </a:p>
                  </a:txBody>
                  <a:tcPr anchor="ctr" marL="45720" marR="45720" marT="18288" marB="18288">
                    <a:solidFill>
                      <a:srgbClr val="F7F9FC"/>
                    </a:solidFill>
                  </a:tcPr>
                </a:tc>
                <a:tc>
                  <a:txBody>
                    <a:bodyPr/>
                    <a:lstStyle/>
                    <a:p>
                      <a:pPr algn="l">
                        <a:defRPr sz="700">
                          <a:solidFill>
                            <a:srgbClr val="1E242B"/>
                          </a:solidFill>
                          <a:latin typeface="Arial"/>
                        </a:defRPr>
                      </a:pPr>
                      <a:r>
                        <a:t>Xin ý kiến chỉ đạo để làm việc với bộ phận Lắp ráp (Assy) và PE JP, chốt Phương án A tại kỳ DR công đoạn T11/2026.</a:t>
                      </a:r>
                    </a:p>
                  </a:txBody>
                  <a:tcPr anchor="ctr" marL="45720" marR="45720" marT="18288" marB="18288">
                    <a:solidFill>
                      <a:srgbClr val="F7F9FC"/>
                    </a:solidFill>
                  </a:tcPr>
                </a:tc>
              </a:tr>
              <a:tr h="871728">
                <a:tc>
                  <a:txBody>
                    <a:bodyPr/>
                    <a:lstStyle/>
                    <a:p>
                      <a:pPr algn="ctr">
                        <a:defRPr sz="700" b="1">
                          <a:solidFill>
                            <a:srgbClr val="1E242B"/>
                          </a:solidFill>
                          <a:latin typeface="Arial"/>
                        </a:defRPr>
                      </a:pPr>
                      <a:r>
                        <a:t>Tư vấn</a:t>
                      </a:r>
                      <a:br/>
                      <a:r>
                        <a:t>03</a:t>
                      </a:r>
                    </a:p>
                  </a:txBody>
                  <a:tcPr anchor="ctr" marL="45720" marR="45720" marT="18288" marB="18288">
                    <a:solidFill>
                      <a:srgbClr val="FEF7E6"/>
                    </a:solidFill>
                  </a:tcPr>
                </a:tc>
                <a:tc>
                  <a:txBody>
                    <a:bodyPr/>
                    <a:lstStyle/>
                    <a:p>
                      <a:pPr algn="l">
                        <a:defRPr sz="700">
                          <a:solidFill>
                            <a:srgbClr val="1E242B"/>
                          </a:solidFill>
                          <a:latin typeface="Arial"/>
                        </a:defRPr>
                      </a:pPr>
                      <a:r>
                        <a:t>Làm việc với Thiết kế JP &amp; PE JP để chốt DR công đoạn và phản hồi 6 kiến nghị sửa mạch/FW của VN</a:t>
                      </a:r>
                    </a:p>
                  </a:txBody>
                  <a:tcPr anchor="ctr" marL="45720" marR="45720" marT="18288" marB="18288">
                    <a:solidFill>
                      <a:srgbClr val="FEF7E6"/>
                    </a:solidFill>
                  </a:tcPr>
                </a:tc>
                <a:tc>
                  <a:txBody>
                    <a:bodyPr/>
                    <a:lstStyle/>
                    <a:p>
                      <a:pPr algn="l">
                        <a:defRPr sz="700">
                          <a:solidFill>
                            <a:srgbClr val="1E242B"/>
                          </a:solidFill>
                          <a:latin typeface="Arial"/>
                        </a:defRPr>
                      </a:pPr>
                      <a:r>
                        <a:t>Báo cáo PDCA tháng 9 &amp; tháng 10/2026 (BM-003-F) bị đánh giá "×" (mới đạt 4,32s / 47s mục tiêu) do phía PE JP chưa hoàn thành DR thiết kế công đoạn. Ngoài ra, 6 kiến nghị sửa FW/mạch của VN (No.19, 29, 30, 32, 34, 36) đang chờ JP xác nhận.</a:t>
                      </a:r>
                    </a:p>
                  </a:txBody>
                  <a:tcPr anchor="ctr" marL="45720" marR="45720" marT="18288" marB="18288">
                    <a:solidFill>
                      <a:srgbClr val="FEF7E6"/>
                    </a:solidFill>
                  </a:tcPr>
                </a:tc>
                <a:tc>
                  <a:txBody>
                    <a:bodyPr/>
                    <a:lstStyle/>
                    <a:p>
                      <a:pPr algn="l">
                        <a:defRPr sz="700">
                          <a:solidFill>
                            <a:srgbClr val="1E242B"/>
                          </a:solidFill>
                          <a:latin typeface="Arial"/>
                        </a:defRPr>
                      </a:pPr>
                      <a:r>
                        <a:t>Đề xuất đưa nội dung này vào cuộc họp cấp Quản lý giữa KDTVN và bộ phận Thiết kế / PE JP để chốt lịch DR công đoạn trong tháng 11/2026, kịp tiến độ chạy thử PMT1 (tháng 12/2026).</a:t>
                      </a:r>
                    </a:p>
                  </a:txBody>
                  <a:tcPr anchor="ctr" marL="45720" marR="45720" marT="18288" marB="18288">
                    <a:solidFill>
                      <a:srgbClr val="FEF7E6"/>
                    </a:solidFill>
                  </a:tcPr>
                </a:tc>
                <a:tc>
                  <a:txBody>
                    <a:bodyPr/>
                    <a:lstStyle/>
                    <a:p>
                      <a:pPr algn="l">
                        <a:defRPr sz="700">
                          <a:solidFill>
                            <a:srgbClr val="1E242B"/>
                          </a:solidFill>
                          <a:latin typeface="Arial"/>
                        </a:defRPr>
                      </a:pPr>
                      <a:r>
                        <a:t>Xin Trưởng bộ phận hỗ trợ trao đổi với Quản lý PE/Thiết kế phía JP trong tuần đầu tháng 11/2026.</a:t>
                      </a:r>
                    </a:p>
                  </a:txBody>
                  <a:tcPr anchor="ctr" marL="45720" marR="45720" marT="18288" marB="18288">
                    <a:solidFill>
                      <a:srgbClr val="FEF7E6"/>
                    </a:solidFill>
                  </a:tcPr>
                </a:tc>
              </a:tr>
              <a:tr h="871728">
                <a:tc>
                  <a:txBody>
                    <a:bodyPr/>
                    <a:lstStyle/>
                    <a:p>
                      <a:pPr algn="ctr">
                        <a:defRPr sz="700" b="1">
                          <a:solidFill>
                            <a:srgbClr val="1E242B"/>
                          </a:solidFill>
                          <a:latin typeface="Arial"/>
                        </a:defRPr>
                      </a:pPr>
                      <a:r>
                        <a:t>Tư vấn</a:t>
                      </a:r>
                      <a:br/>
                      <a:r>
                        <a:t>04</a:t>
                      </a:r>
                    </a:p>
                  </a:txBody>
                  <a:tcPr anchor="ctr" marL="45720" marR="45720" marT="18288" marB="18288">
                    <a:solidFill>
                      <a:srgbClr val="F7F9FC"/>
                    </a:solidFill>
                  </a:tcPr>
                </a:tc>
                <a:tc>
                  <a:txBody>
                    <a:bodyPr/>
                    <a:lstStyle/>
                    <a:p>
                      <a:pPr algn="l">
                        <a:defRPr sz="700">
                          <a:solidFill>
                            <a:srgbClr val="1E242B"/>
                          </a:solidFill>
                          <a:latin typeface="Arial"/>
                        </a:defRPr>
                      </a:pPr>
                      <a:r>
                        <a:t>Điều kiện nghiệm thu trước khi xóa bước đo độ lệch Belt truyền ảnh tại VN (Đề án No.37)</a:t>
                      </a:r>
                    </a:p>
                  </a:txBody>
                  <a:tcPr anchor="ctr" marL="45720" marR="45720" marT="18288" marB="18288">
                    <a:solidFill>
                      <a:srgbClr val="F7F9FC"/>
                    </a:solidFill>
                  </a:tcPr>
                </a:tc>
                <a:tc>
                  <a:txBody>
                    <a:bodyPr/>
                    <a:lstStyle/>
                    <a:p>
                      <a:pPr algn="l">
                        <a:defRPr sz="700">
                          <a:solidFill>
                            <a:srgbClr val="1E242B"/>
                          </a:solidFill>
                          <a:latin typeface="Arial"/>
                        </a:defRPr>
                      </a:pPr>
                      <a:r>
                        <a:t>Phía JP đề xuất xóa bước đo độ lệch Transfer Belt (-15,36s trên 工程表), nhưng tại nhà máy VN vẫn phát sinh 1~2 máy NG/tháng nên QA VN chưa đồng ý bỏ ngay khi chưa kiểm chứng xong Puli góc vát 35° và Belt đàn hồi mới.</a:t>
                      </a:r>
                    </a:p>
                  </a:txBody>
                  <a:tcPr anchor="ctr" marL="45720" marR="45720" marT="18288" marB="18288">
                    <a:solidFill>
                      <a:srgbClr val="F7F9FC"/>
                    </a:solidFill>
                  </a:tcPr>
                </a:tc>
                <a:tc>
                  <a:txBody>
                    <a:bodyPr/>
                    <a:lstStyle/>
                    <a:p>
                      <a:pPr algn="l">
                        <a:defRPr sz="700">
                          <a:solidFill>
                            <a:srgbClr val="1E242B"/>
                          </a:solidFill>
                          <a:latin typeface="Arial"/>
                        </a:defRPr>
                      </a:pPr>
                      <a:r>
                        <a:t>Đề xuất giữ bước kiểm tra Transfer Belt trong giai đoạn PMT1 (T12/2026); chỉ xóa bước này tại VN sau khi lô máy dùng Puli 35° + Belt đàn hồi mới đạt Cpk &gt;= 1,33 và không phát sinh lỗi trong 2 tháng liên tiếp.</a:t>
                      </a:r>
                    </a:p>
                  </a:txBody>
                  <a:tcPr anchor="ctr" marL="45720" marR="45720" marT="18288" marB="18288">
                    <a:solidFill>
                      <a:srgbClr val="F7F9FC"/>
                    </a:solidFill>
                  </a:tcPr>
                </a:tc>
                <a:tc>
                  <a:txBody>
                    <a:bodyPr/>
                    <a:lstStyle/>
                    <a:p>
                      <a:pPr algn="l">
                        <a:defRPr sz="700">
                          <a:solidFill>
                            <a:srgbClr val="1E242B"/>
                          </a:solidFill>
                          <a:latin typeface="Arial"/>
                        </a:defRPr>
                      </a:pPr>
                      <a:r>
                        <a:t>Xin Trưởng bộ phận cho ý kiến chỉ đạo để thống nhất với QA và PE JP.</a:t>
                      </a:r>
                    </a:p>
                  </a:txBody>
                  <a:tcPr anchor="ctr" marL="45720" marR="45720" marT="18288" marB="18288">
                    <a:solidFill>
                      <a:srgbClr val="F7F9FC"/>
                    </a:solidFill>
                  </a:tcPr>
                </a:tc>
              </a:tr>
              <a:tr h="871728">
                <a:tc>
                  <a:txBody>
                    <a:bodyPr/>
                    <a:lstStyle/>
                    <a:p>
                      <a:pPr algn="ctr">
                        <a:defRPr sz="700" b="1">
                          <a:solidFill>
                            <a:srgbClr val="1E242B"/>
                          </a:solidFill>
                          <a:latin typeface="Arial"/>
                        </a:defRPr>
                      </a:pPr>
                      <a:r>
                        <a:t>Tư vấn</a:t>
                      </a:r>
                      <a:br/>
                      <a:r>
                        <a:t>05</a:t>
                      </a:r>
                    </a:p>
                  </a:txBody>
                  <a:tcPr anchor="ctr" marL="45720" marR="45720" marT="18288" marB="18288">
                    <a:solidFill>
                      <a:srgbClr val="EAF7EE"/>
                    </a:solidFill>
                  </a:tcPr>
                </a:tc>
                <a:tc>
                  <a:txBody>
                    <a:bodyPr/>
                    <a:lstStyle/>
                    <a:p>
                      <a:pPr algn="l">
                        <a:defRPr sz="700">
                          <a:solidFill>
                            <a:srgbClr val="1E242B"/>
                          </a:solidFill>
                          <a:latin typeface="Arial"/>
                        </a:defRPr>
                      </a:pPr>
                      <a:r>
                        <a:t>Chuẩn bị hạ tầng phần cứng điều khiển tự động tại VN theo cấu hình Spica (Mini PC)</a:t>
                      </a:r>
                    </a:p>
                  </a:txBody>
                  <a:tcPr anchor="ctr" marL="45720" marR="45720" marT="18288" marB="18288">
                    <a:solidFill>
                      <a:srgbClr val="EAF7EE"/>
                    </a:solidFill>
                  </a:tcPr>
                </a:tc>
                <a:tc>
                  <a:txBody>
                    <a:bodyPr/>
                    <a:lstStyle/>
                    <a:p>
                      <a:pPr algn="l">
                        <a:defRPr sz="700">
                          <a:solidFill>
                            <a:srgbClr val="1E242B"/>
                          </a:solidFill>
                          <a:latin typeface="Arial"/>
                        </a:defRPr>
                      </a:pPr>
                      <a:r>
                        <a:t>Tại 連携会 15 (02/10/2026), phía JP đã tạm chốt (仮決定) chọn hệ thống Spica dùng Mini PC (~40.000 JPY/bộ điều khiển 4 máy, nguồn AC) thay cho Raspberry Pi chạy pin của Athena để phục vụ các đề án No.20, No.25, No.28.</a:t>
                      </a:r>
                    </a:p>
                  </a:txBody>
                  <a:tcPr anchor="ctr" marL="45720" marR="45720" marT="18288" marB="18288">
                    <a:solidFill>
                      <a:srgbClr val="EAF7EE"/>
                    </a:solidFill>
                  </a:tcPr>
                </a:tc>
                <a:tc>
                  <a:txBody>
                    <a:bodyPr/>
                    <a:lstStyle/>
                    <a:p>
                      <a:pPr algn="l">
                        <a:defRPr sz="700">
                          <a:solidFill>
                            <a:srgbClr val="1E242B"/>
                          </a:solidFill>
                          <a:latin typeface="Arial"/>
                        </a:defRPr>
                      </a:pPr>
                      <a:r>
                        <a:t>Đề xuất KDTVN-PE-3 chuẩn bị phương án mạng nội bộ (LAN/VLAN) và vị trí lắp Mini PC theo cấu hình Spica (1 Mini PC / 4 máy MFP) đồng bộ với chuẩn JP để dùng chung phần mềm.</a:t>
                      </a:r>
                    </a:p>
                  </a:txBody>
                  <a:tcPr anchor="ctr" marL="45720" marR="45720" marT="18288" marB="18288">
                    <a:solidFill>
                      <a:srgbClr val="EAF7EE"/>
                    </a:solidFill>
                  </a:tcPr>
                </a:tc>
                <a:tc>
                  <a:txBody>
                    <a:bodyPr/>
                    <a:lstStyle/>
                    <a:p>
                      <a:pPr algn="l">
                        <a:defRPr sz="700">
                          <a:solidFill>
                            <a:srgbClr val="1E242B"/>
                          </a:solidFill>
                          <a:latin typeface="Arial"/>
                        </a:defRPr>
                      </a:pPr>
                      <a:r>
                        <a:t>Xin Trưởng bộ phận duyệt chủ trương đồng bộ phần cứng theo hệ Spica để đưa vào dự toán mạng hóa.</a:t>
                      </a:r>
                    </a:p>
                  </a:txBody>
                  <a:tcPr anchor="ctr" marL="45720" marR="45720" marT="18288" marB="18288">
                    <a:solidFill>
                      <a:srgbClr val="EAF7EE"/>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00584"/>
            <a:ext cx="2011680" cy="365760"/>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defRPr sz="1000" b="1">
                <a:solidFill>
                  <a:srgbClr val="FFFFFF"/>
                </a:solidFill>
                <a:latin typeface="Arial"/>
              </a:defRPr>
            </a:pPr>
            <a:r>
              <a:t>PHẦN 10.2: XIN PHÊ DUYỆT KINH PHÍ</a:t>
            </a:r>
          </a:p>
        </p:txBody>
      </p:sp>
      <p:sp>
        <p:nvSpPr>
          <p:cNvPr id="4" name="TextBox 3"/>
          <p:cNvSpPr txBox="1"/>
          <p:nvPr/>
        </p:nvSpPr>
        <p:spPr>
          <a:xfrm>
            <a:off x="2395728" y="54864"/>
            <a:ext cx="8869680" cy="457200"/>
          </a:xfrm>
          <a:prstGeom prst="rect">
            <a:avLst/>
          </a:prstGeom>
          <a:noFill/>
        </p:spPr>
        <p:txBody>
          <a:bodyPr wrap="square" lIns="18288" tIns="18288" bIns="18288">
            <a:spAutoFit/>
          </a:bodyPr>
          <a:lstStyle/>
          <a:p>
            <a:pPr>
              <a:defRPr sz="1550" b="1">
                <a:solidFill>
                  <a:srgbClr val="FFFFFF"/>
                </a:solidFill>
                <a:latin typeface="Arial"/>
              </a:defRPr>
            </a:pPr>
            <a:r>
              <a:t>Đề nghị Trưởng bộ phận (Mục đích 2/2): Xin phê duyệt kinh phí đầu tư &amp; Danh mục chờ báo giá riêng</a:t>
            </a:r>
          </a:p>
        </p:txBody>
      </p:sp>
      <p:sp>
        <p:nvSpPr>
          <p:cNvPr id="5" name="TextBox 4"/>
          <p:cNvSpPr txBox="1"/>
          <p:nvPr/>
        </p:nvSpPr>
        <p:spPr>
          <a:xfrm>
            <a:off x="11292840" y="109728"/>
            <a:ext cx="685800" cy="347472"/>
          </a:xfrm>
          <a:prstGeom prst="rect">
            <a:avLst/>
          </a:prstGeom>
          <a:noFill/>
        </p:spPr>
        <p:txBody>
          <a:bodyPr wrap="none">
            <a:spAutoFit/>
          </a:bodyPr>
          <a:lstStyle/>
          <a:p>
            <a:pPr algn="r">
              <a:defRPr sz="1050" b="1">
                <a:solidFill>
                  <a:srgbClr val="D0DCEB"/>
                </a:solidFill>
                <a:latin typeface="Arial"/>
              </a:defRPr>
            </a:pPr>
            <a:r>
              <a:t>15 / 15</a:t>
            </a:r>
          </a:p>
        </p:txBody>
      </p:sp>
      <p:sp>
        <p:nvSpPr>
          <p:cNvPr id="6" name="Rectangle 5"/>
          <p:cNvSpPr/>
          <p:nvPr/>
        </p:nvSpPr>
        <p:spPr>
          <a:xfrm>
            <a:off x="274320" y="640080"/>
            <a:ext cx="11643055" cy="512064"/>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28016" rIns="109728" tIns="36576" bIns="36576"/>
          <a:lstStyle/>
          <a:p>
            <a:pPr algn="ctr">
              <a:defRPr sz="1050" b="1">
                <a:solidFill>
                  <a:srgbClr val="0F203C"/>
                </a:solidFill>
                <a:latin typeface="Arial"/>
              </a:defRPr>
            </a:pPr>
            <a:r>
              <a:t>■ Kết luận chính: Trình phê duyệt Đề án No.22: 101.690.000 VNĐ (3.911,15 USD theo BOM 25 mục; hoặc 96.690.000 VNĐ nếu tách Mục 17 Tủ điện 5tr chờ báo giá). Các mục 見積中 tách riêng, không cộng gộp.</a:t>
            </a:r>
          </a:p>
        </p:txBody>
      </p:sp>
      <p:sp>
        <p:nvSpPr>
          <p:cNvPr id="7" name="TextBox 6"/>
          <p:cNvSpPr txBox="1"/>
          <p:nvPr/>
        </p:nvSpPr>
        <p:spPr>
          <a:xfrm>
            <a:off x="274320" y="1197864"/>
            <a:ext cx="6629400" cy="201168"/>
          </a:xfrm>
          <a:prstGeom prst="rect">
            <a:avLst/>
          </a:prstGeom>
          <a:noFill/>
        </p:spPr>
        <p:txBody>
          <a:bodyPr wrap="square" lIns="18288" rIns="18288" tIns="9144" bIns="9144">
            <a:spAutoFit/>
          </a:bodyPr>
          <a:lstStyle/>
          <a:p>
            <a:pPr>
              <a:defRPr sz="800" b="1">
                <a:solidFill>
                  <a:srgbClr val="1E6E3E"/>
                </a:solidFill>
                <a:latin typeface="Arial"/>
              </a:defRPr>
            </a:pPr>
            <a:r>
              <a:t>■ 1. TỔNG KINH PHÍ ĐỀ NGHỊ PHÊ DUYỆT ĐỢT NÀY (HẠNG MỤC ĐÃ CÓ BÁO GIÁ: ĐỀ ÁN NO.22)</a:t>
            </a:r>
          </a:p>
        </p:txBody>
      </p:sp>
      <p:graphicFrame>
        <p:nvGraphicFramePr>
          <p:cNvPr id="8" name="Table 7"/>
          <p:cNvGraphicFramePr>
            <a:graphicFrameLocks noGrp="1"/>
          </p:cNvGraphicFramePr>
          <p:nvPr/>
        </p:nvGraphicFramePr>
        <p:xfrm>
          <a:off x="274320" y="1399032"/>
          <a:ext cx="6629400" cy="2286000"/>
        </p:xfrm>
        <a:graphic>
          <a:graphicData uri="http://schemas.openxmlformats.org/drawingml/2006/table">
            <a:tbl>
              <a:tblPr firstRow="1" bandRow="1">
                <a:tableStyleId>{5C22544A-7EE6-4342-B048-85BDC9FD1C3A}</a:tableStyleId>
              </a:tblPr>
              <a:tblGrid>
                <a:gridCol w="457200"/>
                <a:gridCol w="2697480"/>
                <a:gridCol w="1234440"/>
                <a:gridCol w="1097280"/>
                <a:gridCol w="1143000"/>
              </a:tblGrid>
              <a:tr h="254000">
                <a:tc>
                  <a:txBody>
                    <a:bodyPr/>
                    <a:lstStyle/>
                    <a:p>
                      <a:pPr algn="ctr">
                        <a:defRPr sz="650" b="1">
                          <a:solidFill>
                            <a:srgbClr val="FFFFFF"/>
                          </a:solidFill>
                          <a:latin typeface="Arial"/>
                        </a:defRPr>
                      </a:pPr>
                      <a:r>
                        <a:t>Nhóm</a:t>
                      </a:r>
                    </a:p>
                  </a:txBody>
                  <a:tcPr anchor="ctr" marL="36576" marR="36576" marT="9144" marB="9144">
                    <a:solidFill>
                      <a:srgbClr val="1B365D"/>
                    </a:solidFill>
                  </a:tcPr>
                </a:tc>
                <a:tc>
                  <a:txBody>
                    <a:bodyPr/>
                    <a:lstStyle/>
                    <a:p>
                      <a:pPr algn="ctr">
                        <a:defRPr sz="650" b="1">
                          <a:solidFill>
                            <a:srgbClr val="FFFFFF"/>
                          </a:solidFill>
                          <a:latin typeface="Arial"/>
                        </a:defRPr>
                      </a:pPr>
                      <a:r>
                        <a:t>Phân bổ theo nhóm linh kiện thuộc Đề án No.22</a:t>
                      </a:r>
                      <a:br/>
                      <a:r>
                        <a:t>(Nguồn: Sheet 導通・耐圧検査設備リスト, 25 mục BOM)</a:t>
                      </a:r>
                    </a:p>
                  </a:txBody>
                  <a:tcPr anchor="ctr" marL="36576" marR="36576" marT="9144" marB="9144">
                    <a:solidFill>
                      <a:srgbClr val="1B365D"/>
                    </a:solidFill>
                  </a:tcPr>
                </a:tc>
                <a:tc>
                  <a:txBody>
                    <a:bodyPr/>
                    <a:lstStyle/>
                    <a:p>
                      <a:pPr algn="ctr">
                        <a:defRPr sz="650" b="1">
                          <a:solidFill>
                            <a:srgbClr val="FFFFFF"/>
                          </a:solidFill>
                          <a:latin typeface="Arial"/>
                        </a:defRPr>
                      </a:pPr>
                      <a:r>
                        <a:t>Thành tiền (VNĐ)</a:t>
                      </a:r>
                      <a:br/>
                      <a:r>
                        <a:t>[Tỷ giá 26.000]</a:t>
                      </a:r>
                    </a:p>
                  </a:txBody>
                  <a:tcPr anchor="ctr" marL="36576" marR="36576" marT="9144" marB="9144">
                    <a:solidFill>
                      <a:srgbClr val="1B365D"/>
                    </a:solidFill>
                  </a:tcPr>
                </a:tc>
                <a:tc>
                  <a:txBody>
                    <a:bodyPr/>
                    <a:lstStyle/>
                    <a:p>
                      <a:pPr algn="ctr">
                        <a:defRPr sz="650" b="1">
                          <a:solidFill>
                            <a:srgbClr val="FFFFFF"/>
                          </a:solidFill>
                          <a:latin typeface="Arial"/>
                        </a:defRPr>
                      </a:pPr>
                      <a:r>
                        <a:t>Quy đổi (USD)</a:t>
                      </a:r>
                      <a:br/>
                      <a:r>
                        <a:t>[Chính xác]</a:t>
                      </a:r>
                    </a:p>
                  </a:txBody>
                  <a:tcPr anchor="ctr" marL="36576" marR="36576" marT="9144" marB="9144">
                    <a:solidFill>
                      <a:srgbClr val="1B365D"/>
                    </a:solidFill>
                  </a:tcPr>
                </a:tc>
                <a:tc>
                  <a:txBody>
                    <a:bodyPr/>
                    <a:lstStyle/>
                    <a:p>
                      <a:pPr algn="ctr">
                        <a:defRPr sz="650" b="1">
                          <a:solidFill>
                            <a:srgbClr val="FFFFFF"/>
                          </a:solidFill>
                          <a:latin typeface="Arial"/>
                        </a:defRPr>
                      </a:pPr>
                      <a:r>
                        <a:t>Ghi chú trong</a:t>
                      </a:r>
                      <a:br/>
                      <a:r>
                        <a:t>file nguồn</a:t>
                      </a:r>
                    </a:p>
                  </a:txBody>
                  <a:tcPr anchor="ctr" marL="36576" marR="36576" marT="9144" marB="9144">
                    <a:solidFill>
                      <a:srgbClr val="1B365D"/>
                    </a:solidFill>
                  </a:tcPr>
                </a:tc>
              </a:tr>
              <a:tr h="254000">
                <a:tc>
                  <a:txBody>
                    <a:bodyPr/>
                    <a:lstStyle/>
                    <a:p>
                      <a:pPr algn="ctr">
                        <a:defRPr sz="580" b="1">
                          <a:solidFill>
                            <a:srgbClr val="1E242B"/>
                          </a:solidFill>
                          <a:latin typeface="Arial"/>
                        </a:defRPr>
                      </a:pPr>
                      <a:r>
                        <a:t>1</a:t>
                      </a:r>
                    </a:p>
                  </a:txBody>
                  <a:tcPr anchor="ctr" marL="36576" marR="36576" marT="9144" marB="9144">
                    <a:solidFill>
                      <a:srgbClr val="FFFFFF"/>
                    </a:solidFill>
                  </a:tcPr>
                </a:tc>
                <a:tc>
                  <a:txBody>
                    <a:bodyPr/>
                    <a:lstStyle/>
                    <a:p>
                      <a:pPr algn="l">
                        <a:defRPr sz="580">
                          <a:solidFill>
                            <a:srgbClr val="1E242B"/>
                          </a:solidFill>
                          <a:latin typeface="Arial"/>
                        </a:defRPr>
                      </a:pPr>
                      <a:r>
                        <a:t>Nhóm 1 (Mục 18~24): PLC FX5U-32MT/ES (13tr) + Màn hình HMI GOT2000 (12tr) + Nguồn, Rơ-le, Đèn tháp, Vật tư điện (5,6tr)</a:t>
                      </a:r>
                    </a:p>
                  </a:txBody>
                  <a:tcPr anchor="ctr" marL="36576" marR="36576" marT="9144" marB="9144">
                    <a:solidFill>
                      <a:srgbClr val="FFFFFF"/>
                    </a:solidFill>
                  </a:tcPr>
                </a:tc>
                <a:tc>
                  <a:txBody>
                    <a:bodyPr/>
                    <a:lstStyle/>
                    <a:p>
                      <a:pPr algn="r">
                        <a:defRPr sz="580">
                          <a:solidFill>
                            <a:srgbClr val="1E242B"/>
                          </a:solidFill>
                          <a:latin typeface="Arial"/>
                        </a:defRPr>
                      </a:pPr>
                      <a:r>
                        <a:t>30.600.000 VNĐ</a:t>
                      </a:r>
                    </a:p>
                  </a:txBody>
                  <a:tcPr anchor="ctr" marL="36576" marR="36576" marT="9144" marB="9144">
                    <a:solidFill>
                      <a:srgbClr val="FFFFFF"/>
                    </a:solidFill>
                  </a:tcPr>
                </a:tc>
                <a:tc>
                  <a:txBody>
                    <a:bodyPr/>
                    <a:lstStyle/>
                    <a:p>
                      <a:pPr algn="r">
                        <a:defRPr sz="580">
                          <a:solidFill>
                            <a:srgbClr val="1E242B"/>
                          </a:solidFill>
                          <a:latin typeface="Arial"/>
                        </a:defRPr>
                      </a:pPr>
                      <a:r>
                        <a:t>1.176,92 USD</a:t>
                      </a:r>
                    </a:p>
                  </a:txBody>
                  <a:tcPr anchor="ctr" marL="36576" marR="36576" marT="9144" marB="9144">
                    <a:solidFill>
                      <a:srgbClr val="FFFFFF"/>
                    </a:solidFill>
                  </a:tcPr>
                </a:tc>
                <a:tc>
                  <a:txBody>
                    <a:bodyPr/>
                    <a:lstStyle/>
                    <a:p>
                      <a:pPr algn="l">
                        <a:defRPr sz="580">
                          <a:solidFill>
                            <a:srgbClr val="1E242B"/>
                          </a:solidFill>
                          <a:latin typeface="Arial"/>
                        </a:defRPr>
                      </a:pPr>
                      <a:r>
                        <a:t>Đã có giá chuẩn (30,1%)</a:t>
                      </a:r>
                    </a:p>
                  </a:txBody>
                  <a:tcPr anchor="ctr" marL="36576" marR="36576" marT="9144" marB="9144">
                    <a:solidFill>
                      <a:srgbClr val="FFFFFF"/>
                    </a:solidFill>
                  </a:tcPr>
                </a:tc>
              </a:tr>
              <a:tr h="254000">
                <a:tc>
                  <a:txBody>
                    <a:bodyPr/>
                    <a:lstStyle/>
                    <a:p>
                      <a:pPr algn="ctr">
                        <a:defRPr sz="580" b="1">
                          <a:solidFill>
                            <a:srgbClr val="1E242B"/>
                          </a:solidFill>
                          <a:latin typeface="Arial"/>
                        </a:defRPr>
                      </a:pPr>
                      <a:r>
                        <a:t>2</a:t>
                      </a:r>
                    </a:p>
                  </a:txBody>
                  <a:tcPr anchor="ctr" marL="36576" marR="36576" marT="9144" marB="9144">
                    <a:solidFill>
                      <a:srgbClr val="F7F9FC"/>
                    </a:solidFill>
                  </a:tcPr>
                </a:tc>
                <a:tc>
                  <a:txBody>
                    <a:bodyPr/>
                    <a:lstStyle/>
                    <a:p>
                      <a:pPr algn="l">
                        <a:defRPr sz="580">
                          <a:solidFill>
                            <a:srgbClr val="1E242B"/>
                          </a:solidFill>
                          <a:latin typeface="Arial"/>
                        </a:defRPr>
                      </a:pPr>
                      <a:r>
                        <a:t>Nhóm 2 (Mục 8, 9, 25): Gia công cơ khí chính xác CNC (20tr) + Tấm Bakelit đồ gá (5tr) + Tấm Mica chắn an toàn (2,8tr)</a:t>
                      </a:r>
                    </a:p>
                  </a:txBody>
                  <a:tcPr anchor="ctr" marL="36576" marR="36576" marT="9144" marB="9144">
                    <a:solidFill>
                      <a:srgbClr val="F7F9FC"/>
                    </a:solidFill>
                  </a:tcPr>
                </a:tc>
                <a:tc>
                  <a:txBody>
                    <a:bodyPr/>
                    <a:lstStyle/>
                    <a:p>
                      <a:pPr algn="r">
                        <a:defRPr sz="580">
                          <a:solidFill>
                            <a:srgbClr val="1E242B"/>
                          </a:solidFill>
                          <a:latin typeface="Arial"/>
                        </a:defRPr>
                      </a:pPr>
                      <a:r>
                        <a:t>27.800.000 VNĐ</a:t>
                      </a:r>
                    </a:p>
                  </a:txBody>
                  <a:tcPr anchor="ctr" marL="36576" marR="36576" marT="9144" marB="9144">
                    <a:solidFill>
                      <a:srgbClr val="F7F9FC"/>
                    </a:solidFill>
                  </a:tcPr>
                </a:tc>
                <a:tc>
                  <a:txBody>
                    <a:bodyPr/>
                    <a:lstStyle/>
                    <a:p>
                      <a:pPr algn="r">
                        <a:defRPr sz="580">
                          <a:solidFill>
                            <a:srgbClr val="1E242B"/>
                          </a:solidFill>
                          <a:latin typeface="Arial"/>
                        </a:defRPr>
                      </a:pPr>
                      <a:r>
                        <a:t>1.069,23 USD</a:t>
                      </a:r>
                    </a:p>
                  </a:txBody>
                  <a:tcPr anchor="ctr" marL="36576" marR="36576" marT="9144" marB="9144">
                    <a:solidFill>
                      <a:srgbClr val="F7F9FC"/>
                    </a:solidFill>
                  </a:tcPr>
                </a:tc>
                <a:tc>
                  <a:txBody>
                    <a:bodyPr/>
                    <a:lstStyle/>
                    <a:p>
                      <a:pPr algn="l">
                        <a:defRPr sz="580">
                          <a:solidFill>
                            <a:srgbClr val="1E242B"/>
                          </a:solidFill>
                          <a:latin typeface="Arial"/>
                        </a:defRPr>
                      </a:pPr>
                      <a:r>
                        <a:t>Đã có giá chuẩn (27,3%)</a:t>
                      </a:r>
                    </a:p>
                  </a:txBody>
                  <a:tcPr anchor="ctr" marL="36576" marR="36576" marT="9144" marB="9144">
                    <a:solidFill>
                      <a:srgbClr val="F7F9FC"/>
                    </a:solidFill>
                  </a:tcPr>
                </a:tc>
              </a:tr>
              <a:tr h="254000">
                <a:tc>
                  <a:txBody>
                    <a:bodyPr/>
                    <a:lstStyle/>
                    <a:p>
                      <a:pPr algn="ctr">
                        <a:defRPr sz="580" b="1">
                          <a:solidFill>
                            <a:srgbClr val="1E242B"/>
                          </a:solidFill>
                          <a:latin typeface="Arial"/>
                        </a:defRPr>
                      </a:pPr>
                      <a:r>
                        <a:t>3</a:t>
                      </a:r>
                    </a:p>
                  </a:txBody>
                  <a:tcPr anchor="ctr" marL="36576" marR="36576" marT="9144" marB="9144">
                    <a:solidFill>
                      <a:srgbClr val="FFFFFF"/>
                    </a:solidFill>
                  </a:tcPr>
                </a:tc>
                <a:tc>
                  <a:txBody>
                    <a:bodyPr/>
                    <a:lstStyle/>
                    <a:p>
                      <a:pPr algn="l">
                        <a:defRPr sz="580">
                          <a:solidFill>
                            <a:srgbClr val="1E242B"/>
                          </a:solidFill>
                          <a:latin typeface="Arial"/>
                        </a:defRPr>
                      </a:pPr>
                      <a:r>
                        <a:t>Nhóm 3 (Mục 10): Đầu đọc Barcode cố định tự động (Fixed Barcode Reader, đọc S/N máy tự động)</a:t>
                      </a:r>
                    </a:p>
                  </a:txBody>
                  <a:tcPr anchor="ctr" marL="36576" marR="36576" marT="9144" marB="9144">
                    <a:solidFill>
                      <a:srgbClr val="FFFFFF"/>
                    </a:solidFill>
                  </a:tcPr>
                </a:tc>
                <a:tc>
                  <a:txBody>
                    <a:bodyPr/>
                    <a:lstStyle/>
                    <a:p>
                      <a:pPr algn="r">
                        <a:defRPr sz="580">
                          <a:solidFill>
                            <a:srgbClr val="1E242B"/>
                          </a:solidFill>
                          <a:latin typeface="Arial"/>
                        </a:defRPr>
                      </a:pPr>
                      <a:r>
                        <a:t>19.000.000 VNĐ</a:t>
                      </a:r>
                    </a:p>
                  </a:txBody>
                  <a:tcPr anchor="ctr" marL="36576" marR="36576" marT="9144" marB="9144">
                    <a:solidFill>
                      <a:srgbClr val="FFFFFF"/>
                    </a:solidFill>
                  </a:tcPr>
                </a:tc>
                <a:tc>
                  <a:txBody>
                    <a:bodyPr/>
                    <a:lstStyle/>
                    <a:p>
                      <a:pPr algn="r">
                        <a:defRPr sz="580">
                          <a:solidFill>
                            <a:srgbClr val="1E242B"/>
                          </a:solidFill>
                          <a:latin typeface="Arial"/>
                        </a:defRPr>
                      </a:pPr>
                      <a:r>
                        <a:t>730,77 USD</a:t>
                      </a:r>
                    </a:p>
                  </a:txBody>
                  <a:tcPr anchor="ctr" marL="36576" marR="36576" marT="9144" marB="9144">
                    <a:solidFill>
                      <a:srgbClr val="FFFFFF"/>
                    </a:solidFill>
                  </a:tcPr>
                </a:tc>
                <a:tc>
                  <a:txBody>
                    <a:bodyPr/>
                    <a:lstStyle/>
                    <a:p>
                      <a:pPr algn="l">
                        <a:defRPr sz="580">
                          <a:solidFill>
                            <a:srgbClr val="1E242B"/>
                          </a:solidFill>
                          <a:latin typeface="Arial"/>
                        </a:defRPr>
                      </a:pPr>
                      <a:r>
                        <a:t>Đã có giá chuẩn (18,7%)</a:t>
                      </a:r>
                    </a:p>
                  </a:txBody>
                  <a:tcPr anchor="ctr" marL="36576" marR="36576" marT="9144" marB="9144">
                    <a:solidFill>
                      <a:srgbClr val="FFFFFF"/>
                    </a:solidFill>
                  </a:tcPr>
                </a:tc>
              </a:tr>
              <a:tr h="254000">
                <a:tc>
                  <a:txBody>
                    <a:bodyPr/>
                    <a:lstStyle/>
                    <a:p>
                      <a:pPr algn="ctr">
                        <a:defRPr sz="580" b="1">
                          <a:solidFill>
                            <a:srgbClr val="1E242B"/>
                          </a:solidFill>
                          <a:latin typeface="Arial"/>
                        </a:defRPr>
                      </a:pPr>
                      <a:r>
                        <a:t>4</a:t>
                      </a:r>
                    </a:p>
                  </a:txBody>
                  <a:tcPr anchor="ctr" marL="36576" marR="36576" marT="9144" marB="9144">
                    <a:solidFill>
                      <a:srgbClr val="F7F9FC"/>
                    </a:solidFill>
                  </a:tcPr>
                </a:tc>
                <a:tc>
                  <a:txBody>
                    <a:bodyPr/>
                    <a:lstStyle/>
                    <a:p>
                      <a:pPr algn="l">
                        <a:defRPr sz="580">
                          <a:solidFill>
                            <a:srgbClr val="1E242B"/>
                          </a:solidFill>
                          <a:latin typeface="Arial"/>
                        </a:defRPr>
                      </a:pPr>
                      <a:r>
                        <a:t>Nhóm 4 (Mục 11~16): 4 Xylanh khí nén SMC tự động cắm nguồn/đo (9,5tr) + 4 Van điện từ + 8 Cảm biến + Giảm chấn, Ống khí (4tr)</a:t>
                      </a:r>
                    </a:p>
                  </a:txBody>
                  <a:tcPr anchor="ctr" marL="36576" marR="36576" marT="9144" marB="9144">
                    <a:solidFill>
                      <a:srgbClr val="F7F9FC"/>
                    </a:solidFill>
                  </a:tcPr>
                </a:tc>
                <a:tc>
                  <a:txBody>
                    <a:bodyPr/>
                    <a:lstStyle/>
                    <a:p>
                      <a:pPr algn="r">
                        <a:defRPr sz="580">
                          <a:solidFill>
                            <a:srgbClr val="1E242B"/>
                          </a:solidFill>
                          <a:latin typeface="Arial"/>
                        </a:defRPr>
                      </a:pPr>
                      <a:r>
                        <a:t>13.500.000 VNĐ</a:t>
                      </a:r>
                    </a:p>
                  </a:txBody>
                  <a:tcPr anchor="ctr" marL="36576" marR="36576" marT="9144" marB="9144">
                    <a:solidFill>
                      <a:srgbClr val="F7F9FC"/>
                    </a:solidFill>
                  </a:tcPr>
                </a:tc>
                <a:tc>
                  <a:txBody>
                    <a:bodyPr/>
                    <a:lstStyle/>
                    <a:p>
                      <a:pPr algn="r">
                        <a:defRPr sz="580">
                          <a:solidFill>
                            <a:srgbClr val="1E242B"/>
                          </a:solidFill>
                          <a:latin typeface="Arial"/>
                        </a:defRPr>
                      </a:pPr>
                      <a:r>
                        <a:t>519,23 USD</a:t>
                      </a:r>
                    </a:p>
                  </a:txBody>
                  <a:tcPr anchor="ctr" marL="36576" marR="36576" marT="9144" marB="9144">
                    <a:solidFill>
                      <a:srgbClr val="F7F9FC"/>
                    </a:solidFill>
                  </a:tcPr>
                </a:tc>
                <a:tc>
                  <a:txBody>
                    <a:bodyPr/>
                    <a:lstStyle/>
                    <a:p>
                      <a:pPr algn="l">
                        <a:defRPr sz="580">
                          <a:solidFill>
                            <a:srgbClr val="1E242B"/>
                          </a:solidFill>
                          <a:latin typeface="Arial"/>
                        </a:defRPr>
                      </a:pPr>
                      <a:r>
                        <a:t>Đã có giá chuẩn (13,3%)</a:t>
                      </a:r>
                    </a:p>
                  </a:txBody>
                  <a:tcPr anchor="ctr" marL="36576" marR="36576" marT="9144" marB="9144">
                    <a:solidFill>
                      <a:srgbClr val="F7F9FC"/>
                    </a:solidFill>
                  </a:tcPr>
                </a:tc>
              </a:tr>
              <a:tr h="254000">
                <a:tc>
                  <a:txBody>
                    <a:bodyPr/>
                    <a:lstStyle/>
                    <a:p>
                      <a:pPr algn="ctr">
                        <a:defRPr sz="580" b="1">
                          <a:solidFill>
                            <a:srgbClr val="1E242B"/>
                          </a:solidFill>
                          <a:latin typeface="Arial"/>
                        </a:defRPr>
                      </a:pPr>
                      <a:r>
                        <a:t>5</a:t>
                      </a:r>
                    </a:p>
                  </a:txBody>
                  <a:tcPr anchor="ctr" marL="36576" marR="36576" marT="9144" marB="9144">
                    <a:solidFill>
                      <a:srgbClr val="FFFFFF"/>
                    </a:solidFill>
                  </a:tcPr>
                </a:tc>
                <a:tc>
                  <a:txBody>
                    <a:bodyPr/>
                    <a:lstStyle/>
                    <a:p>
                      <a:pPr algn="l">
                        <a:defRPr sz="580">
                          <a:solidFill>
                            <a:srgbClr val="1E242B"/>
                          </a:solidFill>
                          <a:latin typeface="Arial"/>
                        </a:defRPr>
                      </a:pPr>
                      <a:r>
                        <a:t>Nhóm 5 (Mục 1~7): Khung nhôm định hình 30x30/30x60/40x40 (3,94tr) + Ke góc (0,75tr) + Chân đế M12 &amp; Bánh xe (1,1tr)</a:t>
                      </a:r>
                    </a:p>
                  </a:txBody>
                  <a:tcPr anchor="ctr" marL="36576" marR="36576" marT="9144" marB="9144">
                    <a:solidFill>
                      <a:srgbClr val="FFFFFF"/>
                    </a:solidFill>
                  </a:tcPr>
                </a:tc>
                <a:tc>
                  <a:txBody>
                    <a:bodyPr/>
                    <a:lstStyle/>
                    <a:p>
                      <a:pPr algn="r">
                        <a:defRPr sz="580">
                          <a:solidFill>
                            <a:srgbClr val="1E242B"/>
                          </a:solidFill>
                          <a:latin typeface="Arial"/>
                        </a:defRPr>
                      </a:pPr>
                      <a:r>
                        <a:t>5.790.000 VNĐ</a:t>
                      </a:r>
                    </a:p>
                  </a:txBody>
                  <a:tcPr anchor="ctr" marL="36576" marR="36576" marT="9144" marB="9144">
                    <a:solidFill>
                      <a:srgbClr val="FFFFFF"/>
                    </a:solidFill>
                  </a:tcPr>
                </a:tc>
                <a:tc>
                  <a:txBody>
                    <a:bodyPr/>
                    <a:lstStyle/>
                    <a:p>
                      <a:pPr algn="r">
                        <a:defRPr sz="580">
                          <a:solidFill>
                            <a:srgbClr val="1E242B"/>
                          </a:solidFill>
                          <a:latin typeface="Arial"/>
                        </a:defRPr>
                      </a:pPr>
                      <a:r>
                        <a:t>222,69 USD</a:t>
                      </a:r>
                    </a:p>
                  </a:txBody>
                  <a:tcPr anchor="ctr" marL="36576" marR="36576" marT="9144" marB="9144">
                    <a:solidFill>
                      <a:srgbClr val="FFFFFF"/>
                    </a:solidFill>
                  </a:tcPr>
                </a:tc>
                <a:tc>
                  <a:txBody>
                    <a:bodyPr/>
                    <a:lstStyle/>
                    <a:p>
                      <a:pPr algn="l">
                        <a:defRPr sz="580">
                          <a:solidFill>
                            <a:srgbClr val="1E242B"/>
                          </a:solidFill>
                          <a:latin typeface="Arial"/>
                        </a:defRPr>
                      </a:pPr>
                      <a:r>
                        <a:t>Đã có giá chuẩn (5,7%)</a:t>
                      </a:r>
                    </a:p>
                  </a:txBody>
                  <a:tcPr anchor="ctr" marL="36576" marR="36576" marT="9144" marB="9144">
                    <a:solidFill>
                      <a:srgbClr val="FFFFFF"/>
                    </a:solidFill>
                  </a:tcPr>
                </a:tc>
              </a:tr>
              <a:tr h="254000">
                <a:tc>
                  <a:txBody>
                    <a:bodyPr/>
                    <a:lstStyle/>
                    <a:p>
                      <a:pPr algn="ctr">
                        <a:defRPr sz="580" b="1">
                          <a:solidFill>
                            <a:srgbClr val="1E242B"/>
                          </a:solidFill>
                          <a:latin typeface="Arial"/>
                        </a:defRPr>
                      </a:pPr>
                      <a:r>
                        <a:t>-</a:t>
                      </a:r>
                    </a:p>
                  </a:txBody>
                  <a:tcPr anchor="ctr" marL="36576" marR="36576" marT="9144" marB="9144">
                    <a:solidFill>
                      <a:srgbClr val="E8EEF5"/>
                    </a:solidFill>
                  </a:tcPr>
                </a:tc>
                <a:tc>
                  <a:txBody>
                    <a:bodyPr/>
                    <a:lstStyle/>
                    <a:p>
                      <a:pPr algn="l">
                        <a:defRPr sz="580">
                          <a:solidFill>
                            <a:srgbClr val="1E242B"/>
                          </a:solidFill>
                          <a:latin typeface="Arial"/>
                        </a:defRPr>
                      </a:pPr>
                      <a:r>
                        <a:t>CỘNG 24 MỤC ĐÃ CÓ GIÁ CỐ ĐỊNH (Mục 1~16 &amp; 18~25)</a:t>
                      </a:r>
                    </a:p>
                  </a:txBody>
                  <a:tcPr anchor="ctr" marL="36576" marR="36576" marT="9144" marB="9144">
                    <a:solidFill>
                      <a:srgbClr val="E8EEF5"/>
                    </a:solidFill>
                  </a:tcPr>
                </a:tc>
                <a:tc>
                  <a:txBody>
                    <a:bodyPr/>
                    <a:lstStyle/>
                    <a:p>
                      <a:pPr algn="r">
                        <a:defRPr sz="580">
                          <a:solidFill>
                            <a:srgbClr val="1E242B"/>
                          </a:solidFill>
                          <a:latin typeface="Arial"/>
                        </a:defRPr>
                      </a:pPr>
                      <a:r>
                        <a:t>96.690.000 VNĐ</a:t>
                      </a:r>
                    </a:p>
                  </a:txBody>
                  <a:tcPr anchor="ctr" marL="36576" marR="36576" marT="9144" marB="9144">
                    <a:solidFill>
                      <a:srgbClr val="E8EEF5"/>
                    </a:solidFill>
                  </a:tcPr>
                </a:tc>
                <a:tc>
                  <a:txBody>
                    <a:bodyPr/>
                    <a:lstStyle/>
                    <a:p>
                      <a:pPr algn="r">
                        <a:defRPr sz="580">
                          <a:solidFill>
                            <a:srgbClr val="1E242B"/>
                          </a:solidFill>
                          <a:latin typeface="Arial"/>
                        </a:defRPr>
                      </a:pPr>
                      <a:r>
                        <a:t>3.718,85 USD</a:t>
                      </a:r>
                    </a:p>
                  </a:txBody>
                  <a:tcPr anchor="ctr" marL="36576" marR="36576" marT="9144" marB="9144">
                    <a:solidFill>
                      <a:srgbClr val="E8EEF5"/>
                    </a:solidFill>
                  </a:tcPr>
                </a:tc>
                <a:tc>
                  <a:txBody>
                    <a:bodyPr/>
                    <a:lstStyle/>
                    <a:p>
                      <a:pPr algn="l">
                        <a:defRPr sz="580">
                          <a:solidFill>
                            <a:srgbClr val="1E242B"/>
                          </a:solidFill>
                          <a:latin typeface="Arial"/>
                        </a:defRPr>
                      </a:pPr>
                      <a:r>
                        <a:t>Đã có báo giá (95,1%)</a:t>
                      </a:r>
                    </a:p>
                  </a:txBody>
                  <a:tcPr anchor="ctr" marL="36576" marR="36576" marT="9144" marB="9144">
                    <a:solidFill>
                      <a:srgbClr val="E8EEF5"/>
                    </a:solidFill>
                  </a:tcPr>
                </a:tc>
              </a:tr>
              <a:tr h="254000">
                <a:tc>
                  <a:txBody>
                    <a:bodyPr/>
                    <a:lstStyle/>
                    <a:p>
                      <a:pPr algn="ctr">
                        <a:defRPr sz="580" b="1">
                          <a:solidFill>
                            <a:srgbClr val="1E242B"/>
                          </a:solidFill>
                          <a:latin typeface="Arial"/>
                        </a:defRPr>
                      </a:pPr>
                      <a:r>
                        <a:t>6</a:t>
                      </a:r>
                    </a:p>
                  </a:txBody>
                  <a:tcPr anchor="ctr" marL="36576" marR="36576" marT="9144" marB="9144">
                    <a:solidFill>
                      <a:srgbClr val="FEF7E6"/>
                    </a:solidFill>
                  </a:tcPr>
                </a:tc>
                <a:tc>
                  <a:txBody>
                    <a:bodyPr/>
                    <a:lstStyle/>
                    <a:p>
                      <a:pPr algn="l">
                        <a:defRPr sz="580">
                          <a:solidFill>
                            <a:srgbClr val="1E242B"/>
                          </a:solidFill>
                          <a:latin typeface="Arial"/>
                        </a:defRPr>
                      </a:pPr>
                      <a:r>
                        <a:t>Nhóm 6 (Mục 17): Tủ điện điều khiển 500x400x200 (1 cái x 5.000.000 VNĐ, cột Ghi chú ghi "Xin báo giá")</a:t>
                      </a:r>
                    </a:p>
                  </a:txBody>
                  <a:tcPr anchor="ctr" marL="36576" marR="36576" marT="9144" marB="9144">
                    <a:solidFill>
                      <a:srgbClr val="FEF7E6"/>
                    </a:solidFill>
                  </a:tcPr>
                </a:tc>
                <a:tc>
                  <a:txBody>
                    <a:bodyPr/>
                    <a:lstStyle/>
                    <a:p>
                      <a:pPr algn="r">
                        <a:defRPr sz="580">
                          <a:solidFill>
                            <a:srgbClr val="1E242B"/>
                          </a:solidFill>
                          <a:latin typeface="Arial"/>
                        </a:defRPr>
                      </a:pPr>
                      <a:r>
                        <a:t>5.000.000 VNĐ</a:t>
                      </a:r>
                    </a:p>
                  </a:txBody>
                  <a:tcPr anchor="ctr" marL="36576" marR="36576" marT="9144" marB="9144">
                    <a:solidFill>
                      <a:srgbClr val="FEF7E6"/>
                    </a:solidFill>
                  </a:tcPr>
                </a:tc>
                <a:tc>
                  <a:txBody>
                    <a:bodyPr/>
                    <a:lstStyle/>
                    <a:p>
                      <a:pPr algn="r">
                        <a:defRPr sz="580">
                          <a:solidFill>
                            <a:srgbClr val="1E242B"/>
                          </a:solidFill>
                          <a:latin typeface="Arial"/>
                        </a:defRPr>
                      </a:pPr>
                      <a:r>
                        <a:t>192,31 USD</a:t>
                      </a:r>
                    </a:p>
                  </a:txBody>
                  <a:tcPr anchor="ctr" marL="36576" marR="36576" marT="9144" marB="9144">
                    <a:solidFill>
                      <a:srgbClr val="FEF7E6"/>
                    </a:solidFill>
                  </a:tcPr>
                </a:tc>
                <a:tc>
                  <a:txBody>
                    <a:bodyPr/>
                    <a:lstStyle/>
                    <a:p>
                      <a:pPr algn="l">
                        <a:defRPr sz="580">
                          <a:solidFill>
                            <a:srgbClr val="1E242B"/>
                          </a:solidFill>
                          <a:latin typeface="Arial"/>
                        </a:defRPr>
                      </a:pPr>
                      <a:r>
                        <a:t>Ghi chú: "Xin báo giá"</a:t>
                      </a:r>
                    </a:p>
                  </a:txBody>
                  <a:tcPr anchor="ctr" marL="36576" marR="36576" marT="9144" marB="9144">
                    <a:solidFill>
                      <a:srgbClr val="FEF7E6"/>
                    </a:solidFill>
                  </a:tcPr>
                </a:tc>
              </a:tr>
              <a:tr h="254000">
                <a:tc>
                  <a:txBody>
                    <a:bodyPr/>
                    <a:lstStyle/>
                    <a:p>
                      <a:pPr algn="ctr">
                        <a:defRPr sz="580" b="1">
                          <a:solidFill>
                            <a:srgbClr val="1E242B"/>
                          </a:solidFill>
                          <a:latin typeface="Arial"/>
                        </a:defRPr>
                      </a:pPr>
                      <a:r>
                        <a:t>TỔNG</a:t>
                      </a:r>
                    </a:p>
                  </a:txBody>
                  <a:tcPr anchor="ctr" marL="36576" marR="36576" marT="9144" marB="9144">
                    <a:solidFill>
                      <a:srgbClr val="EAF7EE"/>
                    </a:solidFill>
                  </a:tcPr>
                </a:tc>
                <a:tc>
                  <a:txBody>
                    <a:bodyPr/>
                    <a:lstStyle/>
                    <a:p>
                      <a:pPr algn="l">
                        <a:defRPr sz="580" b="1">
                          <a:solidFill>
                            <a:srgbClr val="1E242B"/>
                          </a:solidFill>
                          <a:latin typeface="Arial"/>
                        </a:defRPr>
                      </a:pPr>
                      <a:r>
                        <a:t>TỔNG CỘNG ĐỀ ÁN NO.22 XIN PHÊ DUYỆT (25 MỤC BOM)</a:t>
                      </a:r>
                      <a:br/>
                      <a:r>
                        <a:t>[Thuyết minh làm tròn: 101.700.000 VNĐ / 3.911,54 USD | Sheet 纏め: 4.000 USD]</a:t>
                      </a:r>
                    </a:p>
                  </a:txBody>
                  <a:tcPr anchor="ctr" marL="36576" marR="36576" marT="9144" marB="9144">
                    <a:solidFill>
                      <a:srgbClr val="EAF7EE"/>
                    </a:solidFill>
                  </a:tcPr>
                </a:tc>
                <a:tc>
                  <a:txBody>
                    <a:bodyPr/>
                    <a:lstStyle/>
                    <a:p>
                      <a:pPr algn="r">
                        <a:defRPr sz="580">
                          <a:solidFill>
                            <a:srgbClr val="1E242B"/>
                          </a:solidFill>
                          <a:latin typeface="Arial"/>
                        </a:defRPr>
                      </a:pPr>
                      <a:r>
                        <a:t>101.690.000 VNĐ</a:t>
                      </a:r>
                    </a:p>
                  </a:txBody>
                  <a:tcPr anchor="ctr" marL="36576" marR="36576" marT="9144" marB="9144">
                    <a:solidFill>
                      <a:srgbClr val="EAF7EE"/>
                    </a:solidFill>
                  </a:tcPr>
                </a:tc>
                <a:tc>
                  <a:txBody>
                    <a:bodyPr/>
                    <a:lstStyle/>
                    <a:p>
                      <a:pPr algn="r">
                        <a:defRPr sz="580">
                          <a:solidFill>
                            <a:srgbClr val="1E242B"/>
                          </a:solidFill>
                          <a:latin typeface="Arial"/>
                        </a:defRPr>
                      </a:pPr>
                      <a:r>
                        <a:t>3.911,15 USD</a:t>
                      </a:r>
                    </a:p>
                  </a:txBody>
                  <a:tcPr anchor="ctr" marL="36576" marR="36576" marT="9144" marB="9144">
                    <a:solidFill>
                      <a:srgbClr val="EAF7EE"/>
                    </a:solidFill>
                  </a:tcPr>
                </a:tc>
                <a:tc>
                  <a:txBody>
                    <a:bodyPr/>
                    <a:lstStyle/>
                    <a:p>
                      <a:pPr algn="l">
                        <a:defRPr sz="580">
                          <a:solidFill>
                            <a:srgbClr val="1E242B"/>
                          </a:solidFill>
                          <a:latin typeface="Arial"/>
                        </a:defRPr>
                      </a:pPr>
                      <a:r>
                        <a:t>Tiết kiệm: 30s/máy</a:t>
                      </a:r>
                      <a:br/>
                      <a:r>
                        <a:t>(29,6tr VNĐ/năm)</a:t>
                      </a:r>
                    </a:p>
                  </a:txBody>
                  <a:tcPr anchor="ctr" marL="36576" marR="36576" marT="9144" marB="9144">
                    <a:solidFill>
                      <a:srgbClr val="EAF7EE"/>
                    </a:solidFill>
                  </a:tcPr>
                </a:tc>
              </a:tr>
            </a:tbl>
          </a:graphicData>
        </a:graphic>
      </p:graphicFrame>
      <p:sp>
        <p:nvSpPr>
          <p:cNvPr id="9" name="TextBox 8"/>
          <p:cNvSpPr txBox="1"/>
          <p:nvPr/>
        </p:nvSpPr>
        <p:spPr>
          <a:xfrm>
            <a:off x="274320" y="3950208"/>
            <a:ext cx="6629400" cy="201168"/>
          </a:xfrm>
          <a:prstGeom prst="rect">
            <a:avLst/>
          </a:prstGeom>
          <a:noFill/>
        </p:spPr>
        <p:txBody>
          <a:bodyPr wrap="square" lIns="18288" rIns="18288" tIns="9144" bIns="9144">
            <a:spAutoFit/>
          </a:bodyPr>
          <a:lstStyle/>
          <a:p>
            <a:pPr>
              <a:defRPr sz="800" b="1">
                <a:solidFill>
                  <a:srgbClr val="B96800"/>
                </a:solidFill>
                <a:latin typeface="Arial"/>
              </a:defRPr>
            </a:pPr>
            <a:r>
              <a:t>■ 2. DANH MỤC ĐANG CHỜ BÁO GIÁ (見積中) &amp; CÁC MỤC KHÔNG CỘNG VÀO TỔNG XIN PHÊ DUYỆT</a:t>
            </a:r>
          </a:p>
        </p:txBody>
      </p:sp>
      <p:graphicFrame>
        <p:nvGraphicFramePr>
          <p:cNvPr id="10" name="Table 9"/>
          <p:cNvGraphicFramePr>
            <a:graphicFrameLocks noGrp="1"/>
          </p:cNvGraphicFramePr>
          <p:nvPr/>
        </p:nvGraphicFramePr>
        <p:xfrm>
          <a:off x="274320" y="4151376"/>
          <a:ext cx="6629400" cy="2057400"/>
        </p:xfrm>
        <a:graphic>
          <a:graphicData uri="http://schemas.openxmlformats.org/drawingml/2006/table">
            <a:tbl>
              <a:tblPr firstRow="1" bandRow="1">
                <a:tableStyleId>{5C22544A-7EE6-4342-B048-85BDC9FD1C3A}</a:tableStyleId>
              </a:tblPr>
              <a:tblGrid>
                <a:gridCol w="1234440"/>
                <a:gridCol w="3108960"/>
                <a:gridCol w="1097280"/>
                <a:gridCol w="1188720"/>
              </a:tblGrid>
              <a:tr h="342900">
                <a:tc>
                  <a:txBody>
                    <a:bodyPr/>
                    <a:lstStyle/>
                    <a:p>
                      <a:pPr algn="ctr">
                        <a:defRPr sz="650" b="1">
                          <a:solidFill>
                            <a:srgbClr val="FFFFFF"/>
                          </a:solidFill>
                          <a:latin typeface="Arial"/>
                        </a:defRPr>
                      </a:pPr>
                      <a:r>
                        <a:t>Phân loại trạng thái</a:t>
                      </a:r>
                    </a:p>
                  </a:txBody>
                  <a:tcPr anchor="ctr" marL="36576" marR="36576" marT="9144" marB="9144">
                    <a:solidFill>
                      <a:srgbClr val="1B365D"/>
                    </a:solidFill>
                  </a:tcPr>
                </a:tc>
                <a:tc>
                  <a:txBody>
                    <a:bodyPr/>
                    <a:lstStyle/>
                    <a:p>
                      <a:pPr algn="ctr">
                        <a:defRPr sz="650" b="1">
                          <a:solidFill>
                            <a:srgbClr val="FFFFFF"/>
                          </a:solidFill>
                          <a:latin typeface="Arial"/>
                        </a:defRPr>
                      </a:pPr>
                      <a:r>
                        <a:t>Danh sách các đề án cụ thể</a:t>
                      </a:r>
                    </a:p>
                  </a:txBody>
                  <a:tcPr anchor="ctr" marL="36576" marR="36576" marT="9144" marB="9144">
                    <a:solidFill>
                      <a:srgbClr val="1B365D"/>
                    </a:solidFill>
                  </a:tcPr>
                </a:tc>
                <a:tc>
                  <a:txBody>
                    <a:bodyPr/>
                    <a:lstStyle/>
                    <a:p>
                      <a:pPr algn="ctr">
                        <a:defRPr sz="650" b="1">
                          <a:solidFill>
                            <a:srgbClr val="FFFFFF"/>
                          </a:solidFill>
                          <a:latin typeface="Arial"/>
                        </a:defRPr>
                      </a:pPr>
                      <a:r>
                        <a:t>Hiệu quả kỳ vọng</a:t>
                      </a:r>
                    </a:p>
                  </a:txBody>
                  <a:tcPr anchor="ctr" marL="36576" marR="36576" marT="9144" marB="9144">
                    <a:solidFill>
                      <a:srgbClr val="1B365D"/>
                    </a:solidFill>
                  </a:tcPr>
                </a:tc>
                <a:tc>
                  <a:txBody>
                    <a:bodyPr/>
                    <a:lstStyle/>
                    <a:p>
                      <a:pPr algn="ctr">
                        <a:defRPr sz="650" b="1">
                          <a:solidFill>
                            <a:srgbClr val="FFFFFF"/>
                          </a:solidFill>
                          <a:latin typeface="Arial"/>
                        </a:defRPr>
                      </a:pPr>
                      <a:r>
                        <a:t>Xử lý ngân sách</a:t>
                      </a:r>
                    </a:p>
                  </a:txBody>
                  <a:tcPr anchor="ctr" marL="36576" marR="36576" marT="9144" marB="9144">
                    <a:solidFill>
                      <a:srgbClr val="1B365D"/>
                    </a:solidFill>
                  </a:tcPr>
                </a:tc>
              </a:tr>
              <a:tr h="342900">
                <a:tc>
                  <a:txBody>
                    <a:bodyPr/>
                    <a:lstStyle/>
                    <a:p>
                      <a:pPr algn="l">
                        <a:defRPr sz="580" b="1">
                          <a:solidFill>
                            <a:srgbClr val="1E242B"/>
                          </a:solidFill>
                          <a:latin typeface="Arial"/>
                        </a:defRPr>
                      </a:pPr>
                      <a:r>
                        <a:t>A. Đang chờ báo giá</a:t>
                      </a:r>
                      <a:br/>
                      <a:r>
                        <a:t>(Đang báo giá / 見積中)</a:t>
                      </a:r>
                      <a:br/>
                      <a:r>
                        <a:t>[10 đề án TB VN]</a:t>
                      </a:r>
                    </a:p>
                  </a:txBody>
                  <a:tcPr anchor="ctr" marL="36576" marR="36576" marT="9144" marB="9144">
                    <a:solidFill>
                      <a:srgbClr val="FEF7E6"/>
                    </a:solidFill>
                  </a:tcPr>
                </a:tc>
                <a:tc>
                  <a:txBody>
                    <a:bodyPr/>
                    <a:lstStyle/>
                    <a:p>
                      <a:pPr algn="l">
                        <a:defRPr sz="580">
                          <a:solidFill>
                            <a:srgbClr val="1E242B"/>
                          </a:solidFill>
                          <a:latin typeface="Arial"/>
                        </a:defRPr>
                      </a:pPr>
                      <a:r>
                        <a:t>• Cụm A-1: No.18 (Gá nạp FW 4 máy), No.19 (Bỏ tháo nắp/cáp FW, tận dụng 12 gá hiện có), No.20 (Mạng hóa log USB)</a:t>
                      </a:r>
                      <a:br/>
                      <a:r>
                        <a:t>• Cụm A-2 &amp; A-3: No.21 (Gá Option nam châm), No.31 (Đóng mở Cassette tải nặng), No.35 (Tự động đặt giấy), No.33 (Nếu làm TB lắp vỏ)</a:t>
                      </a:r>
                      <a:br/>
                      <a:r>
                        <a:t>• Cụm A-4: No.25 (Quét DP liên tục + PC), No.27 (Camera đo nồng độ/lề), No.28 (Xuất hàng qua mạng)</a:t>
                      </a:r>
                    </a:p>
                  </a:txBody>
                  <a:tcPr anchor="ctr" marL="36576" marR="36576" marT="9144" marB="9144">
                    <a:solidFill>
                      <a:srgbClr val="FEF7E6"/>
                    </a:solidFill>
                  </a:tcPr>
                </a:tc>
                <a:tc>
                  <a:txBody>
                    <a:bodyPr/>
                    <a:lstStyle/>
                    <a:p>
                      <a:pPr algn="ctr">
                        <a:defRPr sz="580">
                          <a:solidFill>
                            <a:srgbClr val="1E242B"/>
                          </a:solidFill>
                          <a:latin typeface="Arial"/>
                        </a:defRPr>
                      </a:pPr>
                      <a:r>
                        <a:t>Tiềm năng:</a:t>
                      </a:r>
                      <a:br/>
                      <a:r>
                        <a:t>~500s ~ 540s</a:t>
                      </a:r>
                      <a:br/>
                      <a:r>
                        <a:t>thao tác tay</a:t>
                      </a:r>
                    </a:p>
                  </a:txBody>
                  <a:tcPr anchor="ctr" marL="36576" marR="36576" marT="9144" marB="9144">
                    <a:solidFill>
                      <a:srgbClr val="FEF7E6"/>
                    </a:solidFill>
                  </a:tcPr>
                </a:tc>
                <a:tc>
                  <a:txBody>
                    <a:bodyPr/>
                    <a:lstStyle/>
                    <a:p>
                      <a:pPr algn="l">
                        <a:defRPr sz="580">
                          <a:solidFill>
                            <a:srgbClr val="1E242B"/>
                          </a:solidFill>
                          <a:latin typeface="Arial"/>
                        </a:defRPr>
                      </a:pPr>
                      <a:r>
                        <a:t>ĐANG BÁO GIÁ (見積中)</a:t>
                      </a:r>
                      <a:br/>
                      <a:r>
                        <a:t>-&gt; Không cộng vào tổng duyệt đợt này (Trình Đợt 2)</a:t>
                      </a:r>
                    </a:p>
                  </a:txBody>
                  <a:tcPr anchor="ctr" marL="36576" marR="36576" marT="9144" marB="9144">
                    <a:solidFill>
                      <a:srgbClr val="FEF7E6"/>
                    </a:solidFill>
                  </a:tcPr>
                </a:tc>
              </a:tr>
              <a:tr h="342900">
                <a:tc>
                  <a:txBody>
                    <a:bodyPr/>
                    <a:lstStyle/>
                    <a:p>
                      <a:pPr algn="l">
                        <a:defRPr sz="580" b="1">
                          <a:solidFill>
                            <a:srgbClr val="1E242B"/>
                          </a:solidFill>
                          <a:latin typeface="Arial"/>
                        </a:defRPr>
                      </a:pPr>
                      <a:r>
                        <a:t>B. Cải tiến Phần mềm /</a:t>
                      </a:r>
                      <a:br/>
                      <a:r>
                        <a:t>Mạch / Quy trình</a:t>
                      </a:r>
                      <a:br/>
                      <a:r>
                        <a:t>[7 đề án VN + T10]</a:t>
                      </a:r>
                    </a:p>
                  </a:txBody>
                  <a:tcPr anchor="ctr" marL="36576" marR="36576" marT="9144" marB="9144">
                    <a:solidFill>
                      <a:srgbClr val="EAF7EE"/>
                    </a:solidFill>
                  </a:tcPr>
                </a:tc>
                <a:tc>
                  <a:txBody>
                    <a:bodyPr/>
                    <a:lstStyle/>
                    <a:p>
                      <a:pPr algn="l">
                        <a:defRPr sz="580">
                          <a:solidFill>
                            <a:srgbClr val="1E242B"/>
                          </a:solidFill>
                          <a:latin typeface="Arial"/>
                        </a:defRPr>
                      </a:pPr>
                      <a:r>
                        <a:t>• Đã duyệt / triển khai ngay: No.30 (Xóa U155), No.34 (Xóa đổi cữ giấy), No.36 (Xóa KT công tắc nắp phải), Thực tích T10 (Xóa 4 bước = -4,32s), Nạp FW tại Partner</a:t>
                      </a:r>
                      <a:br/>
                      <a:r>
                        <a:t>• Đang chờ TK/QA JP xác nhận: No.29 (Hộp mực), No.32 (Option không dây), No.37 (Đo lệch Transfer Belt sau khi đổi Puli 35°)</a:t>
                      </a:r>
                    </a:p>
                  </a:txBody>
                  <a:tcPr anchor="ctr" marL="36576" marR="36576" marT="9144" marB="9144">
                    <a:solidFill>
                      <a:srgbClr val="EAF7EE"/>
                    </a:solidFill>
                  </a:tcPr>
                </a:tc>
                <a:tc>
                  <a:txBody>
                    <a:bodyPr/>
                    <a:lstStyle/>
                    <a:p>
                      <a:pPr algn="ctr">
                        <a:defRPr sz="580">
                          <a:solidFill>
                            <a:srgbClr val="1E242B"/>
                          </a:solidFill>
                          <a:latin typeface="Arial"/>
                        </a:defRPr>
                      </a:pPr>
                      <a:r>
                        <a:t>Giảm ~125s ~ 180s</a:t>
                      </a:r>
                      <a:br/>
                      <a:r>
                        <a:t>(Đã đạt -4,32s;</a:t>
                      </a:r>
                      <a:br/>
                      <a:r>
                        <a:t>A-1 giảm 1 người)</a:t>
                      </a:r>
                    </a:p>
                  </a:txBody>
                  <a:tcPr anchor="ctr" marL="36576" marR="36576" marT="9144" marB="9144">
                    <a:solidFill>
                      <a:srgbClr val="EAF7EE"/>
                    </a:solidFill>
                  </a:tcPr>
                </a:tc>
                <a:tc>
                  <a:txBody>
                    <a:bodyPr/>
                    <a:lstStyle/>
                    <a:p>
                      <a:pPr algn="l">
                        <a:defRPr sz="580">
                          <a:solidFill>
                            <a:srgbClr val="1E242B"/>
                          </a:solidFill>
                          <a:latin typeface="Arial"/>
                        </a:defRPr>
                      </a:pPr>
                      <a:r>
                        <a:t>0 VNĐ chi phí thiết bị</a:t>
                      </a:r>
                      <a:br/>
                      <a:r>
                        <a:t>tại nhà máy VN</a:t>
                      </a:r>
                    </a:p>
                  </a:txBody>
                  <a:tcPr anchor="ctr" marL="36576" marR="36576" marT="9144" marB="9144">
                    <a:solidFill>
                      <a:srgbClr val="EAF7EE"/>
                    </a:solidFill>
                  </a:tcPr>
                </a:tc>
              </a:tr>
              <a:tr h="342900">
                <a:tc>
                  <a:txBody>
                    <a:bodyPr/>
                    <a:lstStyle/>
                    <a:p>
                      <a:pPr algn="l">
                        <a:defRPr sz="580" b="1">
                          <a:solidFill>
                            <a:srgbClr val="1E242B"/>
                          </a:solidFill>
                          <a:latin typeface="Arial"/>
                        </a:defRPr>
                      </a:pPr>
                      <a:r>
                        <a:t>C. Chi phí tham khảo</a:t>
                      </a:r>
                      <a:br/>
                      <a:r>
                        <a:t>phía JP (Nếu áp dụng)</a:t>
                      </a:r>
                    </a:p>
                  </a:txBody>
                  <a:tcPr anchor="ctr" marL="36576" marR="36576" marT="9144" marB="9144">
                    <a:solidFill>
                      <a:srgbClr val="FFFFFF"/>
                    </a:solidFill>
                  </a:tcPr>
                </a:tc>
                <a:tc>
                  <a:txBody>
                    <a:bodyPr/>
                    <a:lstStyle/>
                    <a:p>
                      <a:pPr algn="l">
                        <a:defRPr sz="580">
                          <a:solidFill>
                            <a:srgbClr val="1E242B"/>
                          </a:solidFill>
                          <a:latin typeface="Arial"/>
                        </a:defRPr>
                      </a:pPr>
                      <a:r>
                        <a:t>• Phần cứng Spica Mini PC: ~40.000 JPY/bộ (1 bộ điều khiển 4 máy MFP)</a:t>
                      </a:r>
                      <a:br/>
                      <a:r>
                        <a:t>• Phần mềm xóa bước chỉnh tia LSU U413 trên chuyền: 225 ~ 250 vạn JPY (nếu JP quyết định phát triển)</a:t>
                      </a:r>
                    </a:p>
                  </a:txBody>
                  <a:tcPr anchor="ctr" marL="36576" marR="36576" marT="9144" marB="9144">
                    <a:solidFill>
                      <a:srgbClr val="FFFFFF"/>
                    </a:solidFill>
                  </a:tcPr>
                </a:tc>
                <a:tc>
                  <a:txBody>
                    <a:bodyPr/>
                    <a:lstStyle/>
                    <a:p>
                      <a:pPr algn="ctr">
                        <a:defRPr sz="580">
                          <a:solidFill>
                            <a:srgbClr val="1E242B"/>
                          </a:solidFill>
                          <a:latin typeface="Arial"/>
                        </a:defRPr>
                      </a:pPr>
                      <a:r>
                        <a:t>Nền tảng mạng hóa</a:t>
                      </a:r>
                      <a:br/>
                      <a:r>
                        <a:t>&amp; tránh tăng +89s</a:t>
                      </a:r>
                    </a:p>
                  </a:txBody>
                  <a:tcPr anchor="ctr" marL="36576" marR="36576" marT="9144" marB="9144">
                    <a:solidFill>
                      <a:srgbClr val="FFFFFF"/>
                    </a:solidFill>
                  </a:tcPr>
                </a:tc>
                <a:tc>
                  <a:txBody>
                    <a:bodyPr/>
                    <a:lstStyle/>
                    <a:p>
                      <a:pPr algn="l">
                        <a:defRPr sz="580">
                          <a:solidFill>
                            <a:srgbClr val="1E242B"/>
                          </a:solidFill>
                          <a:latin typeface="Arial"/>
                        </a:defRPr>
                      </a:pPr>
                      <a:r>
                        <a:t>Ngân sách phía JP /</a:t>
                      </a:r>
                      <a:br/>
                      <a:r>
                        <a:t>Trình riêng sau khi chốt</a:t>
                      </a:r>
                    </a:p>
                  </a:txBody>
                  <a:tcPr anchor="ctr" marL="36576" marR="36576" marT="9144" marB="9144">
                    <a:solidFill>
                      <a:srgbClr val="FFFFFF"/>
                    </a:solidFill>
                  </a:tcPr>
                </a:tc>
              </a:tr>
              <a:tr h="342900">
                <a:tc>
                  <a:txBody>
                    <a:bodyPr/>
                    <a:lstStyle/>
                    <a:p>
                      <a:pPr algn="l">
                        <a:defRPr sz="580" b="1">
                          <a:solidFill>
                            <a:srgbClr val="B8292F"/>
                          </a:solidFill>
                          <a:latin typeface="Arial"/>
                        </a:defRPr>
                      </a:pPr>
                      <a:r>
                        <a:t>D. ĐÃ HỦY SAU DR4</a:t>
                      </a:r>
                      <a:br/>
                      <a:r>
                        <a:t>(廃止 - Không thực hiện)</a:t>
                      </a:r>
                    </a:p>
                  </a:txBody>
                  <a:tcPr anchor="ctr" marL="36576" marR="36576" marT="9144" marB="9144">
                    <a:solidFill>
                      <a:srgbClr val="FDEDEC"/>
                    </a:solidFill>
                  </a:tcPr>
                </a:tc>
                <a:tc>
                  <a:txBody>
                    <a:bodyPr/>
                    <a:lstStyle/>
                    <a:p>
                      <a:pPr algn="l">
                        <a:defRPr sz="580">
                          <a:solidFill>
                            <a:srgbClr val="1E242B"/>
                          </a:solidFill>
                          <a:latin typeface="Arial"/>
                        </a:defRPr>
                      </a:pPr>
                      <a:r>
                        <a:t>• No.23: Robot đặt bản thảo mặt kính ISU (650.000.000 VNĐ = 25.000 USD), đã hủy, thay bằng No.25</a:t>
                      </a:r>
                      <a:br/>
                      <a:r>
                        <a:t>• No.24: Robot cắm USB &amp; chạm Panel U201 (4.000 USD), đã hủy, thay bằng JP No.3 &amp; No.6</a:t>
                      </a:r>
                    </a:p>
                  </a:txBody>
                  <a:tcPr anchor="ctr" marL="36576" marR="36576" marT="9144" marB="9144">
                    <a:solidFill>
                      <a:srgbClr val="FDEDEC"/>
                    </a:solidFill>
                  </a:tcPr>
                </a:tc>
                <a:tc>
                  <a:txBody>
                    <a:bodyPr/>
                    <a:lstStyle/>
                    <a:p>
                      <a:pPr algn="ctr">
                        <a:defRPr sz="580">
                          <a:solidFill>
                            <a:srgbClr val="1E242B"/>
                          </a:solidFill>
                          <a:latin typeface="Arial"/>
                        </a:defRPr>
                      </a:pPr>
                      <a:r>
                        <a:t>Đã thay bằng phương</a:t>
                      </a:r>
                      <a:br/>
                      <a:r>
                        <a:t>án không dùng Robot</a:t>
                      </a:r>
                    </a:p>
                  </a:txBody>
                  <a:tcPr anchor="ctr" marL="36576" marR="36576" marT="9144" marB="9144">
                    <a:solidFill>
                      <a:srgbClr val="FDEDEC"/>
                    </a:solidFill>
                  </a:tcPr>
                </a:tc>
                <a:tc>
                  <a:txBody>
                    <a:bodyPr/>
                    <a:lstStyle/>
                    <a:p>
                      <a:pPr algn="l">
                        <a:defRPr sz="580" b="1">
                          <a:solidFill>
                            <a:srgbClr val="B8292F"/>
                          </a:solidFill>
                          <a:latin typeface="Arial"/>
                        </a:defRPr>
                      </a:pPr>
                      <a:r>
                        <a:t>ĐÃ HỦY BỎ (0 VNĐ)</a:t>
                      </a:r>
                      <a:br/>
                      <a:r>
                        <a:t>Không tính khoản 650tr</a:t>
                      </a:r>
                    </a:p>
                  </a:txBody>
                  <a:tcPr anchor="ctr" marL="36576" marR="36576" marT="9144" marB="9144">
                    <a:solidFill>
                      <a:srgbClr val="FDEDEC"/>
                    </a:solidFill>
                  </a:tcPr>
                </a:tc>
              </a:tr>
              <a:tr h="342900">
                <a:tc>
                  <a:txBody>
                    <a:bodyPr/>
                    <a:lstStyle/>
                    <a:p>
                      <a:pPr algn="l">
                        <a:defRPr sz="580" b="1">
                          <a:solidFill>
                            <a:srgbClr val="1E242B"/>
                          </a:solidFill>
                          <a:latin typeface="Arial"/>
                        </a:defRPr>
                      </a:pPr>
                      <a:r>
                        <a:t>E. Nghiên cứu dài hạn</a:t>
                      </a:r>
                      <a:br/>
                      <a:r>
                        <a:t>(R&amp;D 2026-2030)</a:t>
                      </a:r>
                    </a:p>
                  </a:txBody>
                  <a:tcPr anchor="ctr" marL="36576" marR="36576" marT="9144" marB="9144">
                    <a:solidFill>
                      <a:srgbClr val="FFFFFF"/>
                    </a:solidFill>
                  </a:tcPr>
                </a:tc>
                <a:tc>
                  <a:txBody>
                    <a:bodyPr/>
                    <a:lstStyle/>
                    <a:p>
                      <a:pPr algn="l">
                        <a:defRPr sz="580">
                          <a:solidFill>
                            <a:srgbClr val="1E242B"/>
                          </a:solidFill>
                          <a:latin typeface="Arial"/>
                        </a:defRPr>
                      </a:pPr>
                      <a:r>
                        <a:t>• No.26: Phần mềm AI phân tích âm thanh lạ &amp; kiểm tra nhiệt độ (600 vạn JPY ~ 40.000 USD: 100 vạn gá/mic + 500 vạn AI)</a:t>
                      </a:r>
                    </a:p>
                  </a:txBody>
                  <a:tcPr anchor="ctr" marL="36576" marR="36576" marT="9144" marB="9144">
                    <a:solidFill>
                      <a:srgbClr val="FFFFFF"/>
                    </a:solidFill>
                  </a:tcPr>
                </a:tc>
                <a:tc>
                  <a:txBody>
                    <a:bodyPr/>
                    <a:lstStyle/>
                    <a:p>
                      <a:pPr algn="ctr">
                        <a:defRPr sz="580">
                          <a:solidFill>
                            <a:srgbClr val="1E242B"/>
                          </a:solidFill>
                          <a:latin typeface="Arial"/>
                        </a:defRPr>
                      </a:pPr>
                      <a:r>
                        <a:t>Kỳ vọng dài hạn:</a:t>
                      </a:r>
                      <a:br/>
                      <a:r>
                        <a:t>-40s/máy</a:t>
                      </a:r>
                    </a:p>
                  </a:txBody>
                  <a:tcPr anchor="ctr" marL="36576" marR="36576" marT="9144" marB="9144">
                    <a:solidFill>
                      <a:srgbClr val="FFFFFF"/>
                    </a:solidFill>
                  </a:tcPr>
                </a:tc>
                <a:tc>
                  <a:txBody>
                    <a:bodyPr/>
                    <a:lstStyle/>
                    <a:p>
                      <a:pPr algn="l">
                        <a:defRPr sz="580">
                          <a:solidFill>
                            <a:srgbClr val="1E242B"/>
                          </a:solidFill>
                          <a:latin typeface="Arial"/>
                        </a:defRPr>
                      </a:pPr>
                      <a:r>
                        <a:t>Chuyển sang R&amp;D 2026-30</a:t>
                      </a:r>
                      <a:br/>
                      <a:r>
                        <a:t>Không xin duyệt đợt này</a:t>
                      </a:r>
                    </a:p>
                  </a:txBody>
                  <a:tcPr anchor="ctr" marL="36576" marR="36576" marT="9144" marB="9144">
                    <a:solidFill>
                      <a:srgbClr val="FFFFFF"/>
                    </a:solidFill>
                  </a:tcPr>
                </a:tc>
              </a:tr>
            </a:tbl>
          </a:graphicData>
        </a:graphic>
      </p:graphicFrame>
      <p:pic>
        <p:nvPicPr>
          <p:cNvPr id="11" name="Picture 10" descr="chart_s15_bom22.png"/>
          <p:cNvPicPr>
            <a:picLocks noChangeAspect="1"/>
          </p:cNvPicPr>
          <p:nvPr/>
        </p:nvPicPr>
        <p:blipFill>
          <a:blip r:embed="rId2"/>
          <a:stretch>
            <a:fillRect/>
          </a:stretch>
        </p:blipFill>
        <p:spPr>
          <a:xfrm>
            <a:off x="6995160" y="1225296"/>
            <a:ext cx="4919472" cy="2723279"/>
          </a:xfrm>
          <a:prstGeom prst="rect">
            <a:avLst/>
          </a:prstGeom>
        </p:spPr>
      </p:pic>
      <p:sp>
        <p:nvSpPr>
          <p:cNvPr id="12" name="Rectangle 11"/>
          <p:cNvSpPr/>
          <p:nvPr/>
        </p:nvSpPr>
        <p:spPr>
          <a:xfrm>
            <a:off x="6995160" y="4480560"/>
            <a:ext cx="4919472" cy="1965960"/>
          </a:xfrm>
          <a:prstGeom prst="rect">
            <a:avLst/>
          </a:prstGeom>
          <a:solidFill>
            <a:srgbClr val="EAF7EE"/>
          </a:solidFill>
          <a:ln w="1270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95160" y="4480560"/>
            <a:ext cx="4919472" cy="310896"/>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1000" b="1">
                <a:solidFill>
                  <a:srgbClr val="FFFFFF"/>
                </a:solidFill>
                <a:latin typeface="Arial"/>
              </a:defRPr>
            </a:pPr>
            <a:r>
              <a:t>TÓM TẮT ĐỀ NGHỊ PHÊ DUYỆT &amp; TÀI LIỆU KÈM THEO</a:t>
            </a:r>
          </a:p>
        </p:txBody>
      </p:sp>
      <p:sp>
        <p:nvSpPr>
          <p:cNvPr id="14" name="TextBox 13"/>
          <p:cNvSpPr txBox="1"/>
          <p:nvPr/>
        </p:nvSpPr>
        <p:spPr>
          <a:xfrm>
            <a:off x="7068312" y="4809744"/>
            <a:ext cx="4773168" cy="1600200"/>
          </a:xfrm>
          <a:prstGeom prst="rect">
            <a:avLst/>
          </a:prstGeom>
          <a:noFill/>
        </p:spPr>
        <p:txBody>
          <a:bodyPr wrap="square" lIns="36576" rIns="36576" tIns="18288" bIns="18288">
            <a:spAutoFit/>
          </a:bodyPr>
          <a:lstStyle/>
          <a:p>
            <a:pPr>
              <a:spcAft>
                <a:spcPts val="200"/>
              </a:spcAft>
              <a:defRPr sz="720" b="1">
                <a:solidFill>
                  <a:srgbClr val="1E242B"/>
                </a:solidFill>
                <a:latin typeface="Arial"/>
              </a:defRPr>
            </a:pPr>
            <a:r>
              <a:t>■ 1. Phê duyệt kinh phí Đợt 1 (Đề án No.22 - Trạm A-3):</a:t>
            </a:r>
          </a:p>
          <a:p>
            <a:pPr>
              <a:spcAft>
                <a:spcPts val="200"/>
              </a:spcAft>
              <a:defRPr sz="720">
                <a:solidFill>
                  <a:srgbClr val="1E242B"/>
                </a:solidFill>
                <a:latin typeface="Arial"/>
              </a:defRPr>
            </a:pPr>
            <a:r>
              <a:t>   • Tổng cộng (25 mục BOM): 101.690.000 VNĐ (3.911,15 USD)</a:t>
            </a:r>
          </a:p>
          <a:p>
            <a:pPr>
              <a:spcAft>
                <a:spcPts val="200"/>
              </a:spcAft>
              <a:defRPr sz="720">
                <a:solidFill>
                  <a:srgbClr val="1E242B"/>
                </a:solidFill>
                <a:latin typeface="Arial"/>
              </a:defRPr>
            </a:pPr>
            <a:r>
              <a:t>   • Phần đã có giá cố định (24 mục): 96.690.000 VNĐ (3.718,85 USD)</a:t>
            </a:r>
          </a:p>
          <a:p>
            <a:pPr>
              <a:spcAft>
                <a:spcPts val="200"/>
              </a:spcAft>
              <a:defRPr sz="720">
                <a:solidFill>
                  <a:srgbClr val="1E242B"/>
                </a:solidFill>
                <a:latin typeface="Arial"/>
              </a:defRPr>
            </a:pPr>
            <a:r>
              <a:t>   • Phần đang xin báo giá (Mục 17 - Tủ điện): 5.000.000 VNĐ (192,31 USD)</a:t>
            </a:r>
          </a:p>
          <a:p>
            <a:pPr>
              <a:spcAft>
                <a:spcPts val="200"/>
              </a:spcAft>
              <a:defRPr sz="720">
                <a:solidFill>
                  <a:srgbClr val="1E242B"/>
                </a:solidFill>
                <a:latin typeface="Arial"/>
              </a:defRPr>
            </a:pPr>
            <a:r>
              <a:t>   • Hiệu quả: Giảm 30,00s/máy (tiết kiệm 29,6 triệu VNĐ/năm = 1.138,46 USD/năm).</a:t>
            </a:r>
          </a:p>
          <a:p>
            <a:pPr>
              <a:spcAft>
                <a:spcPts val="200"/>
              </a:spcAft>
              <a:defRPr sz="720" b="1">
                <a:solidFill>
                  <a:srgbClr val="1E242B"/>
                </a:solidFill>
                <a:latin typeface="Arial"/>
              </a:defRPr>
            </a:pPr>
            <a:r>
              <a:t>■ 2. Cho phép tiến hành lấy báo giá Đợt 2 (T11/2026):</a:t>
            </a:r>
          </a:p>
          <a:p>
            <a:pPr>
              <a:spcAft>
                <a:spcPts val="200"/>
              </a:spcAft>
              <a:defRPr sz="720">
                <a:solidFill>
                  <a:srgbClr val="1E242B"/>
                </a:solidFill>
                <a:latin typeface="Arial"/>
              </a:defRPr>
            </a:pPr>
            <a:r>
              <a:t>   • Trọng tâm: No.25 (Quét DP liên tục), No.27 (Camera đo nồng độ/lề), No.28 (Thiết lập xuất hàng qua mạng), No.21 (Gá nam châm).</a:t>
            </a:r>
          </a:p>
          <a:p>
            <a:pPr>
              <a:spcAft>
                <a:spcPts val="200"/>
              </a:spcAft>
              <a:defRPr sz="720" b="1">
                <a:solidFill>
                  <a:srgbClr val="1E242B"/>
                </a:solidFill>
                <a:latin typeface="Arial"/>
              </a:defRPr>
            </a:pPr>
            <a:r>
              <a:t>■ 3. Bảng số liệu chi tiết đi kèm trong cùng Repo báo cáo:</a:t>
            </a:r>
          </a:p>
          <a:p>
            <a:pPr>
              <a:spcAft>
                <a:spcPts val="200"/>
              </a:spcAft>
              <a:defRPr sz="720">
                <a:solidFill>
                  <a:srgbClr val="1E242B"/>
                </a:solidFill>
                <a:latin typeface="Arial"/>
              </a:defRPr>
            </a:pPr>
            <a:r>
              <a:t>   • bang-so-lieu/Bang_so_lieu_chi_tiet_IrisEXP_VN.xlsx &amp;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