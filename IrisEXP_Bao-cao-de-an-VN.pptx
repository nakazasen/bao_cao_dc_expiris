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Chi tiết 20 đề án cải tiến tại nhà máy Việt Nam (KDTVN) trong tổng thể 38 đề án của 3 cứ điểm Nhật Bản (JP) - Trung Quốc (CN) - Việt Nam (VN)</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và phương án nạp FW tại Partner), chọn phương án đầu tư giữa Robot ISU/USB (No.23, 24) và Quét DP/Host PC (No.25), cùng lộ trình giảm 50% thời gian thao tác (2.350s -&gt; &lt;=1.175s).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950">
                <a:solidFill>
                  <a:srgbClr val="FFFFFF"/>
                </a:solidFill>
                <a:latin typeface="Arial"/>
              </a:defRPr>
            </a:pPr>
            <a:r>
              <a:t>• Dự toán 3 đề án tự động hóa tại Iris EXPのVN提案.xlsx: 855.690.000 VNĐ (32.911,15 USD; làm tròn 33.000 USD), gồm No.22 (101,69tr / 3.911,15$), No.23 (650tr / 25.000$) và No.24 (104tr / 4.000$).</a:t>
            </a:r>
            <a:br/>
            <a:r>
              <a:t>• Nếu thay Robot No.23, 24 bằng DP/Host PC sau DR4: duyệt trước No.22 là 101.690.000 VNĐ.</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Dự án: Iris EXP (カラー複合機・プリンタ 新規開発)  |  Công đoạn: Điều chỉnh / Bảo chứng thân máy (調整工程 -&gt; 本体保証工程)</a:t>
            </a:r>
          </a:p>
          <a:p>
            <a:pPr algn="l">
              <a:spcAft>
                <a:spcPts val="300"/>
              </a:spcAft>
              <a:defRPr sz="1000">
                <a:solidFill>
                  <a:srgbClr val="E5EBF2"/>
                </a:solidFill>
                <a:latin typeface="Arial"/>
              </a:defRPr>
            </a:pPr>
            <a:r>
              <a:t>• Bộ phận lập báo cáo: Kỹ thuật chế tạo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Bùi Đức Vinh</a:t>
            </a:r>
          </a:p>
          <a:p>
            <a:pPr algn="l">
              <a:spcAft>
                <a:spcPts val="300"/>
              </a:spcAft>
              <a:defRPr sz="1000">
                <a:solidFill>
                  <a:srgbClr val="E5EBF2"/>
                </a:solidFill>
                <a:latin typeface="Arial"/>
              </a:defRPr>
            </a:pPr>
            <a:r>
              <a:t>• Nguồn dữ liệu: Hồ sơ kỹ thuật công đoạn Điều chỉnh / Bảo chứng thân máy (Biên bản 保証工程連携会 lần 2-17 đến 15/10/2026, tài liệu DR4 &amp; bảng tính PE)</a:t>
            </a:r>
          </a:p>
          <a:p>
            <a:pPr algn="l">
              <a:spcAft>
                <a:spcPts val="300"/>
              </a:spcAft>
              <a:defRPr sz="1000">
                <a:solidFill>
                  <a:srgbClr val="E5EBF2"/>
                </a:solidFill>
                <a:latin typeface="Arial"/>
              </a:defRPr>
            </a:pPr>
            <a:r>
              <a:t>• File số liệu chi tiết đi kèm: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phương án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Trình Trưởng bộ phận: (a) Xin ý kiến chỉ đạo cho 20 đề án VN, và (b) Xin duyệt kinh phí theo bảng giá Iris EXPのVN提案.xlsx (Tổng 3 đề án có báo giá: 855,69 triệu VNĐ / 32.911,15 USD; duyệt riêng No.22: 101,69 triệu VNĐ).</a:t>
            </a:r>
          </a:p>
        </p:txBody>
      </p:sp>
      <p:sp>
        <p:nvSpPr>
          <p:cNvPr id="7" name="Rectangle 6"/>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9" name="TextBox 8"/>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10" b="1">
                <a:solidFill>
                  <a:srgbClr val="1E242B"/>
                </a:solidFill>
                <a:latin typeface="Arial"/>
              </a:defRPr>
            </a:pPr>
            <a:r>
              <a:t>■ 1. Lựa chọn giữa phương án Robot (No.23, 24) và phương án Quét DP / Host PC (No.25):</a:t>
            </a:r>
          </a:p>
          <a:p>
            <a:pPr>
              <a:spcAft>
                <a:spcPts val="300"/>
              </a:spcAft>
              <a:defRPr sz="910">
                <a:solidFill>
                  <a:srgbClr val="1E242B"/>
                </a:solidFill>
                <a:latin typeface="Arial"/>
              </a:defRPr>
            </a:pPr>
            <a:r>
              <a:t>   • Trong bảng tính Iris EXPのVN提案.xlsx, KTSX đã lập dự toán 3 đề án thiết bị: No.22 (Đo thông mạch/chịu áp: 101,69tr / 3.911,15 USD [纏め: 4.000 USD]), No.23 (Robot đặt bản thảo ISU: 650tr / 25.000 USD) và No.24 (Robot cắm USB &amp; chấm tọa độ U201: 104tr / 4.000 USD).</a:t>
            </a:r>
          </a:p>
          <a:p>
            <a:pPr>
              <a:spcAft>
                <a:spcPts val="300"/>
              </a:spcAft>
              <a:defRPr sz="910">
                <a:solidFill>
                  <a:srgbClr val="1E242B"/>
                </a:solidFill>
                <a:latin typeface="Arial"/>
              </a:defRPr>
            </a:pPr>
            <a:r>
              <a:t>   • Tại kỳ họp 連携会 lần 7 / DR4, nhóm dự án đề xuất hướng thay thế không dùng Robot để giảm chi phí đầu tư: Quét bản thảo liên tục bằng khay nạp DP của máy + PC tự phán định (No.25, -110s) và Đọc log tọa độ U201 qua Host PC (JP No.3, -15,12s).</a:t>
            </a:r>
          </a:p>
          <a:p>
            <a:pPr>
              <a:spcAft>
                <a:spcPts val="300"/>
              </a:spcAft>
              <a:defRPr sz="910" b="1">
                <a:solidFill>
                  <a:srgbClr val="1E242B"/>
                </a:solidFill>
                <a:latin typeface="Arial"/>
              </a:defRPr>
            </a:pPr>
            <a:r>
              <a:t>■ 2. Xử lý các điều kiện kỹ thuật phát sinh tại nhà máy Việt Nam (KDTVN):</a:t>
            </a:r>
          </a:p>
          <a:p>
            <a:pPr>
              <a:spcAft>
                <a:spcPts val="300"/>
              </a:spcAft>
              <a:defRPr sz="910">
                <a:solidFill>
                  <a:srgbClr val="1E242B"/>
                </a:solidFill>
                <a:latin typeface="Arial"/>
              </a:defRPr>
            </a:pPr>
            <a:r>
              <a:t>   • Điều chỉnh thiết kế gá tự động kiểm tra thông mạch/chịu áp (No.22) sang đo khi ĐÃ ĐÓNG VỎ MÁY tại A-3 theo yêu cầu DR4 (tránh sót lỗi kẹt dây điện).</a:t>
            </a:r>
          </a:p>
          <a:p>
            <a:pPr>
              <a:spcAft>
                <a:spcPts val="300"/>
              </a:spcAft>
              <a:defRPr sz="910">
                <a:solidFill>
                  <a:srgbClr val="1E242B"/>
                </a:solidFill>
                <a:latin typeface="Arial"/>
              </a:defRPr>
            </a:pPr>
            <a:r>
              <a:t>   • Lộ trình kiểm soát lỗi lệch Transfer Belt tại VN (hiện còn 1-2 máy NG/tháng, từng có đợt 11 máy lỗi) trước khi bỏ bước đo thủ công như nhà máy CN.</a:t>
            </a:r>
          </a:p>
          <a:p>
            <a:pPr>
              <a:spcAft>
                <a:spcPts val="300"/>
              </a:spcAft>
              <a:defRPr sz="910" b="1">
                <a:solidFill>
                  <a:srgbClr val="1E242B"/>
                </a:solidFill>
                <a:latin typeface="Arial"/>
              </a:defRPr>
            </a:pPr>
            <a:r>
              <a:t>■ 3. Phối hợp liên bộ phận (Partner, TK JP, PE JP) để đẩy nhanh tiến độ PDCA:</a:t>
            </a:r>
          </a:p>
          <a:p>
            <a:pPr>
              <a:spcAft>
                <a:spcPts val="300"/>
              </a:spcAft>
              <a:defRPr sz="910">
                <a:solidFill>
                  <a:srgbClr val="1E242B"/>
                </a:solidFill>
                <a:latin typeface="Arial"/>
              </a:defRPr>
            </a:pPr>
            <a:r>
              <a:t>   • Phương án nạp sẵn Firmware tại Partner giúp giảm 1 người tại A-1 (từ 4 -&gt; 3 người).</a:t>
            </a:r>
          </a:p>
          <a:p>
            <a:pPr>
              <a:spcAft>
                <a:spcPts val="300"/>
              </a:spcAft>
              <a:defRPr sz="910">
                <a:solidFill>
                  <a:srgbClr val="1E242B"/>
                </a:solidFill>
                <a:latin typeface="Arial"/>
              </a:defRPr>
            </a:pPr>
            <a:r>
              <a:t>   • Đẩy nhanh tiến độ PDCA (thực tích T10 mới đạt -4,32s / 0,18% do chờ phía JP chốt DR công đoạn).</a:t>
            </a:r>
          </a:p>
        </p:txBody>
      </p:sp>
      <p:sp>
        <p:nvSpPr>
          <p:cNvPr id="10" name="Rectangle 9"/>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(THEO IRIS EXPのVN提案.xlsx)</a:t>
            </a:r>
          </a:p>
        </p:txBody>
      </p:sp>
      <p:sp>
        <p:nvSpPr>
          <p:cNvPr id="12" name="TextBox 11"/>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890" b="1">
                <a:solidFill>
                  <a:srgbClr val="1E242B"/>
                </a:solidFill>
                <a:latin typeface="Arial"/>
              </a:defRPr>
            </a:pPr>
            <a:r>
              <a:t>■ 1. Bảng giá 3 đề án tự động hóa của VN trong Iris EXPのVN提案.xlsx:</a:t>
            </a:r>
          </a:p>
          <a:p>
            <a:pPr>
              <a:spcAft>
                <a:spcPts val="300"/>
              </a:spcAft>
              <a:defRPr sz="890">
                <a:solidFill>
                  <a:srgbClr val="1E242B"/>
                </a:solidFill>
                <a:latin typeface="Arial"/>
              </a:defRPr>
            </a:pPr>
            <a:r>
              <a:t>   • Đề án 1 (No.22 - Tự động kiểm tra thông mạch, tiếp đất, chịu áp cách điện): 101.690.000 VNĐ (3.911,15 USD theo BOM 25 mục; Sheet thuyết minh: 101,7 triệu VNĐ / 3.911,54 USD; Sheet 纏め: 4.000 USD). Giảm 30s/máy, tiết kiệm 29,6 triệu VNĐ/năm (1.138,46 USD/năm).</a:t>
            </a:r>
          </a:p>
          <a:p>
            <a:pPr>
              <a:spcAft>
                <a:spcPts val="300"/>
              </a:spcAft>
              <a:defRPr sz="890">
                <a:solidFill>
                  <a:srgbClr val="1E242B"/>
                </a:solidFill>
                <a:latin typeface="Arial"/>
              </a:defRPr>
            </a:pPr>
            <a:r>
              <a:t>   • Đề án 2 (No.23 - Robot đặt bản thảo lên ISU chỉnh U411, SITC-2, Halftone): 650.000.000 VNĐ (25.000 USD: Thêm 2 Cell băng tải 200tr + Cấp nguồn 50tr + Định vị cáp USB/LAN 50tr + Cánh tay Robot 350tr). Giảm 110s/máy, tiết kiệm 108,53 triệu VNĐ/năm (4.174,36 USD/năm).</a:t>
            </a:r>
          </a:p>
          <a:p>
            <a:pPr>
              <a:spcAft>
                <a:spcPts val="300"/>
              </a:spcAft>
              <a:defRPr sz="890">
                <a:solidFill>
                  <a:srgbClr val="1E242B"/>
                </a:solidFill>
                <a:latin typeface="Arial"/>
              </a:defRPr>
            </a:pPr>
            <a:r>
              <a:t>   • Đề án 3 (No.24 - Robot kết nối USB &amp; Camera AI / Robot chấm tọa độ U201): 104.000.000 VNĐ (4.000 USD). Giảm 30s/máy, tiết kiệm 29,6 triệu VNĐ/năm (1.138,46 USD/năm).</a:t>
            </a:r>
          </a:p>
          <a:p>
            <a:pPr>
              <a:spcAft>
                <a:spcPts val="300"/>
              </a:spcAft>
              <a:defRPr sz="890">
                <a:solidFill>
                  <a:srgbClr val="1E242B"/>
                </a:solidFill>
                <a:latin typeface="Arial"/>
              </a:defRPr>
            </a:pPr>
            <a:r>
              <a:t>   • Tổng cộng 3 đề án có báo giá trong VN提案.xlsx: 855.690.000 VNĐ (32.911,15 USD) theo BOM [hoặc 855.700.000 VNĐ / 32.911,54 USD theo thuyết minh; 858.000.000 VNĐ / 33.000 USD theo 纏め].</a:t>
            </a:r>
          </a:p>
          <a:p>
            <a:pPr>
              <a:spcAft>
                <a:spcPts val="300"/>
              </a:spcAft>
              <a:defRPr sz="890" b="1">
                <a:solidFill>
                  <a:srgbClr val="1E242B"/>
                </a:solidFill>
                <a:latin typeface="Arial"/>
              </a:defRPr>
            </a:pPr>
            <a:r>
              <a:t>■ 2. Hai phương án trình Trưởng bộ phận phê duyệt:</a:t>
            </a:r>
          </a:p>
          <a:p>
            <a:pPr>
              <a:spcAft>
                <a:spcPts val="300"/>
              </a:spcAft>
              <a:defRPr sz="890">
                <a:solidFill>
                  <a:srgbClr val="1E242B"/>
                </a:solidFill>
                <a:latin typeface="Arial"/>
              </a:defRPr>
            </a:pPr>
            <a:r>
              <a:t>   • Phương án A (Triển khai ngay sau DR4): Duyệt trước Đề án No.22 là 101.690.000 VNĐ (3.911,15 USD); còn No.23 &amp; No.24 chuyển sang dùng DP (No.25) và đọc log Host PC.</a:t>
            </a:r>
          </a:p>
          <a:p>
            <a:pPr>
              <a:spcAft>
                <a:spcPts val="300"/>
              </a:spcAft>
              <a:defRPr sz="890">
                <a:solidFill>
                  <a:srgbClr val="1E242B"/>
                </a:solidFill>
                <a:latin typeface="Arial"/>
              </a:defRPr>
            </a:pPr>
            <a:r>
              <a:t>   • Phương án B (Tổng dự toán theo VN提案.xlsx): 855.690.000 VNĐ (32.911,15 USD / làm tròn 33.000 USD) cho cả 3 đề án No.22, No.23, No.24. Các mục Đang báo giá (見積中) tách riêng.</a:t>
            </a:r>
          </a:p>
        </p:txBody>
      </p:sp>
      <p:graphicFrame>
        <p:nvGraphicFramePr>
          <p:cNvPr id="13" name="Table 12"/>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514600"/>
                <a:gridCol w="1691640"/>
                <a:gridCol w="2331720"/>
                <a:gridCol w="2606040"/>
                <a:gridCol w="2499055"/>
              </a:tblGrid>
              <a:tr h="324612">
                <a:tc>
                  <a:txBody>
                    <a:bodyPr/>
                    <a:lstStyle/>
                    <a:p>
                      <a:pPr algn="ctr">
                        <a:defRPr sz="880" b="1">
                          <a:solidFill>
                            <a:srgbClr val="FFFFFF"/>
                          </a:solidFill>
                          <a:latin typeface="Arial"/>
                        </a:defRPr>
                      </a:pPr>
                      <a:r>
                        <a:t>Phân nhóm đề án tại Việt Nam (Iris EXPのVN提案.xlsx)</a:t>
                      </a:r>
                    </a:p>
                  </a:txBody>
                  <a:tcPr anchor="ctr" marL="45720" marR="45720" marT="18288" marB="18288">
                    <a:solidFill>
                      <a:srgbClr val="1B365D"/>
                    </a:solidFill>
                  </a:tcPr>
                </a:tc>
                <a:tc>
                  <a:txBody>
                    <a:bodyPr/>
                    <a:lstStyle/>
                    <a:p>
                      <a:pPr algn="ctr">
                        <a:defRPr sz="88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880" b="1">
                          <a:solidFill>
                            <a:srgbClr val="FFFFFF"/>
                          </a:solidFill>
                          <a:latin typeface="Arial"/>
                        </a:defRPr>
                      </a:pPr>
                      <a:r>
                        <a:t>Thời gian giảm &amp; Tiết kiệm/năm</a:t>
                      </a:r>
                    </a:p>
                  </a:txBody>
                  <a:tcPr anchor="ctr" marL="45720" marR="45720" marT="18288" marB="18288">
                    <a:solidFill>
                      <a:srgbClr val="1B365D"/>
                    </a:solidFill>
                  </a:tcPr>
                </a:tc>
                <a:tc>
                  <a:txBody>
                    <a:bodyPr/>
                    <a:lstStyle/>
                    <a:p>
                      <a:pPr algn="ctr">
                        <a:defRPr sz="880" b="1">
                          <a:solidFill>
                            <a:srgbClr val="FFFFFF"/>
                          </a:solidFill>
                          <a:latin typeface="Arial"/>
                        </a:defRPr>
                      </a:pPr>
                      <a:r>
                        <a:t>Kinh phí thiết bị theo báo giá nguồn</a:t>
                      </a:r>
                    </a:p>
                  </a:txBody>
                  <a:tcPr anchor="ctr" marL="45720" marR="45720" marT="18288" marB="18288">
                    <a:solidFill>
                      <a:srgbClr val="1B365D"/>
                    </a:solidFill>
                  </a:tcPr>
                </a:tc>
                <a:tc>
                  <a:txBody>
                    <a:bodyPr/>
                    <a:lstStyle/>
                    <a:p>
                      <a:pPr algn="ctr">
                        <a:defRPr sz="880" b="1">
                          <a:solidFill>
                            <a:srgbClr val="FFFFFF"/>
                          </a:solidFill>
                          <a:latin typeface="Arial"/>
                        </a:defRPr>
                      </a:pPr>
                      <a:r>
                        <a:t>Đề xuất trình Trưởng bộ phận</a:t>
                      </a:r>
                    </a:p>
                  </a:txBody>
                  <a:tcPr anchor="ctr" marL="45720" marR="45720" marT="18288" marB="18288">
                    <a:solidFill>
                      <a:srgbClr val="1B365D"/>
                    </a:solidFill>
                  </a:tcPr>
                </a:tc>
              </a:tr>
              <a:tr h="324612">
                <a:tc>
                  <a:txBody>
                    <a:bodyPr/>
                    <a:lstStyle/>
                    <a:p>
                      <a:pPr algn="l">
                        <a:defRPr sz="819" b="1">
                          <a:solidFill>
                            <a:srgbClr val="1E242B"/>
                          </a:solidFill>
                          <a:latin typeface="Arial"/>
                        </a:defRPr>
                      </a:pPr>
                      <a:r>
                        <a:t>1. Đề án No.22 (Đo thông mạch, tiếp đất, chịu áp tự động)</a:t>
                      </a:r>
                    </a:p>
                  </a:txBody>
                  <a:tcPr anchor="ctr" marL="45720" marR="45720" marT="18288" marB="18288">
                    <a:solidFill>
                      <a:srgbClr val="EAF7EE"/>
                    </a:solidFill>
                  </a:tcPr>
                </a:tc>
                <a:tc>
                  <a:txBody>
                    <a:bodyPr/>
                    <a:lstStyle/>
                    <a:p>
                      <a:pPr algn="ctr">
                        <a:defRPr sz="819">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19">
                          <a:solidFill>
                            <a:srgbClr val="1E242B"/>
                          </a:solidFill>
                          <a:latin typeface="Arial"/>
                        </a:defRPr>
                      </a:pPr>
                      <a:r>
                        <a:t>-30,00 s/máy (29,60 tr VNĐ/năm)</a:t>
                      </a:r>
                    </a:p>
                  </a:txBody>
                  <a:tcPr anchor="ctr" marL="45720" marR="45720" marT="18288" marB="18288">
                    <a:solidFill>
                      <a:srgbClr val="EAF7EE"/>
                    </a:solidFill>
                  </a:tcPr>
                </a:tc>
                <a:tc>
                  <a:txBody>
                    <a:bodyPr/>
                    <a:lstStyle/>
                    <a:p>
                      <a:pPr algn="r">
                        <a:defRPr sz="819">
                          <a:solidFill>
                            <a:srgbClr val="1E242B"/>
                          </a:solidFill>
                          <a:latin typeface="Arial"/>
                        </a:defRPr>
                      </a:pPr>
                      <a:r>
                        <a:t>101.690.000 VNĐ (3.911,15 USD) [纏め: 4.000$]</a:t>
                      </a:r>
                    </a:p>
                  </a:txBody>
                  <a:tcPr anchor="ctr" marL="45720" marR="45720" marT="18288" marB="18288">
                    <a:solidFill>
                      <a:srgbClr val="EAF7EE"/>
                    </a:solidFill>
                  </a:tcPr>
                </a:tc>
                <a:tc>
                  <a:txBody>
                    <a:bodyPr/>
                    <a:lstStyle/>
                    <a:p>
                      <a:pPr algn="l">
                        <a:defRPr sz="819">
                          <a:solidFill>
                            <a:srgbClr val="1E242B"/>
                          </a:solidFill>
                          <a:latin typeface="Arial"/>
                        </a:defRPr>
                      </a:pPr>
                      <a:r>
                        <a:t>Phê duyệt triển khai ngay Đợt 1 (Phương án A)</a:t>
                      </a:r>
                    </a:p>
                  </a:txBody>
                  <a:tcPr anchor="ctr" marL="45720" marR="45720" marT="18288" marB="18288">
                    <a:solidFill>
                      <a:srgbClr val="EAF7EE"/>
                    </a:solidFill>
                  </a:tcPr>
                </a:tc>
              </a:tr>
              <a:tr h="324612">
                <a:tc>
                  <a:txBody>
                    <a:bodyPr/>
                    <a:lstStyle/>
                    <a:p>
                      <a:pPr algn="l">
                        <a:defRPr sz="819" b="1">
                          <a:solidFill>
                            <a:srgbClr val="1E242B"/>
                          </a:solidFill>
                          <a:latin typeface="Arial"/>
                        </a:defRPr>
                      </a:pPr>
                      <a:r>
                        <a:t>2. Đề án No.23 (Robot ISU 25k$) &amp; No.24 (Robot USB/U201 4k$)</a:t>
                      </a:r>
                    </a:p>
                  </a:txBody>
                  <a:tcPr anchor="ctr" marL="45720" marR="45720" marT="18288" marB="18288">
                    <a:solidFill>
                      <a:srgbClr val="E8EEF5"/>
                    </a:solidFill>
                  </a:tcPr>
                </a:tc>
                <a:tc>
                  <a:txBody>
                    <a:bodyPr/>
                    <a:lstStyle/>
                    <a:p>
                      <a:pPr algn="ctr">
                        <a:defRPr sz="819">
                          <a:solidFill>
                            <a:srgbClr val="1E242B"/>
                          </a:solidFill>
                          <a:latin typeface="Arial"/>
                        </a:defRPr>
                      </a:pPr>
                      <a:r>
                        <a:t>2 đề án (trong VN提案.xlsx)</a:t>
                      </a:r>
                    </a:p>
                  </a:txBody>
                  <a:tcPr anchor="ctr" marL="45720" marR="45720" marT="18288" marB="18288">
                    <a:solidFill>
                      <a:srgbClr val="E8EEF5"/>
                    </a:solidFill>
                  </a:tcPr>
                </a:tc>
                <a:tc>
                  <a:txBody>
                    <a:bodyPr/>
                    <a:lstStyle/>
                    <a:p>
                      <a:pPr algn="ctr">
                        <a:defRPr sz="819">
                          <a:solidFill>
                            <a:srgbClr val="1E242B"/>
                          </a:solidFill>
                          <a:latin typeface="Arial"/>
                        </a:defRPr>
                      </a:pPr>
                      <a:r>
                        <a:t>-140,00 s/máy (138,13 tr VNĐ/năm)</a:t>
                      </a:r>
                    </a:p>
                  </a:txBody>
                  <a:tcPr anchor="ctr" marL="45720" marR="45720" marT="18288" marB="18288">
                    <a:solidFill>
                      <a:srgbClr val="E8EEF5"/>
                    </a:solidFill>
                  </a:tcPr>
                </a:tc>
                <a:tc>
                  <a:txBody>
                    <a:bodyPr/>
                    <a:lstStyle/>
                    <a:p>
                      <a:pPr algn="r">
                        <a:defRPr sz="819">
                          <a:solidFill>
                            <a:srgbClr val="1E242B"/>
                          </a:solidFill>
                          <a:latin typeface="Arial"/>
                        </a:defRPr>
                      </a:pPr>
                      <a:r>
                        <a:t>754.000.000 VNĐ (29.000 USD: 650tr + 104tr)</a:t>
                      </a:r>
                    </a:p>
                  </a:txBody>
                  <a:tcPr anchor="ctr" marL="45720" marR="45720" marT="18288" marB="18288">
                    <a:solidFill>
                      <a:srgbClr val="E8EEF5"/>
                    </a:solidFill>
                  </a:tcPr>
                </a:tc>
                <a:tc>
                  <a:txBody>
                    <a:bodyPr/>
                    <a:lstStyle/>
                    <a:p>
                      <a:pPr algn="l">
                        <a:defRPr sz="819">
                          <a:solidFill>
                            <a:srgbClr val="1E242B"/>
                          </a:solidFill>
                          <a:latin typeface="Arial"/>
                        </a:defRPr>
                      </a:pPr>
                      <a:r>
                        <a:t>Tổng 3 ĐA (No.22+23+24): 855,69 tr (32.911,15$ / 33k$)</a:t>
                      </a:r>
                    </a:p>
                  </a:txBody>
                  <a:tcPr anchor="ctr" marL="45720" marR="45720" marT="18288" marB="18288">
                    <a:solidFill>
                      <a:srgbClr val="E8EEF5"/>
                    </a:solidFill>
                  </a:tcPr>
                </a:tc>
              </a:tr>
              <a:tr h="324612">
                <a:tc>
                  <a:txBody>
                    <a:bodyPr/>
                    <a:lstStyle/>
                    <a:p>
                      <a:pPr algn="l">
                        <a:defRPr sz="819" b="1">
                          <a:solidFill>
                            <a:srgbClr val="1E242B"/>
                          </a:solidFill>
                          <a:latin typeface="Arial"/>
                        </a:defRPr>
                      </a:pPr>
                      <a:r>
                        <a:t>3. Hạng mục Đang báo giá (見積中 / DP) &amp; Cải tiến TK/FW</a:t>
                      </a:r>
                    </a:p>
                  </a:txBody>
                  <a:tcPr anchor="ctr" marL="45720" marR="45720" marT="18288" marB="18288">
                    <a:solidFill>
                      <a:srgbClr val="FEF7E6"/>
                    </a:solidFill>
                  </a:tcPr>
                </a:tc>
                <a:tc>
                  <a:txBody>
                    <a:bodyPr/>
                    <a:lstStyle/>
                    <a:p>
                      <a:pPr algn="ctr">
                        <a:defRPr sz="819">
                          <a:solidFill>
                            <a:srgbClr val="1E242B"/>
                          </a:solidFill>
                          <a:latin typeface="Arial"/>
                        </a:defRPr>
                      </a:pPr>
                      <a:r>
                        <a:t>10 TB báo giá + 6 TK + 1 R&amp;D</a:t>
                      </a:r>
                    </a:p>
                  </a:txBody>
                  <a:tcPr anchor="ctr" marL="45720" marR="45720" marT="18288" marB="18288">
                    <a:solidFill>
                      <a:srgbClr val="FEF7E6"/>
                    </a:solidFill>
                  </a:tcPr>
                </a:tc>
                <a:tc>
                  <a:txBody>
                    <a:bodyPr/>
                    <a:lstStyle/>
                    <a:p>
                      <a:pPr algn="ctr">
                        <a:defRPr sz="819">
                          <a:solidFill>
                            <a:srgbClr val="1E242B"/>
                          </a:solidFill>
                          <a:latin typeface="Arial"/>
                        </a:defRPr>
                      </a:pPr>
                      <a:r>
                        <a:t>-569,32 s ~ -581,32 s/máy</a:t>
                      </a:r>
                    </a:p>
                  </a:txBody>
                  <a:tcPr anchor="ctr" marL="45720" marR="45720" marT="18288" marB="18288">
                    <a:solidFill>
                      <a:srgbClr val="FEF7E6"/>
                    </a:solidFill>
                  </a:tcPr>
                </a:tc>
                <a:tc>
                  <a:txBody>
                    <a:bodyPr/>
                    <a:lstStyle/>
                    <a:p>
                      <a:pPr algn="r">
                        <a:defRPr sz="819">
                          <a:solidFill>
                            <a:srgbClr val="1E242B"/>
                          </a:solidFill>
                          <a:latin typeface="Arial"/>
                        </a:defRPr>
                      </a:pPr>
                      <a:r>
                        <a:t>Đang báo giá (見積中) | No.26 AI: 600 vạn JPY</a:t>
                      </a:r>
                    </a:p>
                  </a:txBody>
                  <a:tcPr anchor="ctr" marL="45720" marR="45720" marT="18288" marB="18288">
                    <a:solidFill>
                      <a:srgbClr val="FEF7E6"/>
                    </a:solidFill>
                  </a:tcPr>
                </a:tc>
                <a:tc>
                  <a:txBody>
                    <a:bodyPr/>
                    <a:lstStyle/>
                    <a:p>
                      <a:pPr algn="l">
                        <a:defRPr sz="819">
                          <a:solidFill>
                            <a:srgbClr val="1E242B"/>
                          </a:solidFill>
                          <a:latin typeface="Arial"/>
                        </a:defRPr>
                      </a:pPr>
                      <a:r>
                        <a:t>Hoàn tất báo giá Đợt 2 (Tách riêng, chưa cộng gộp)</a:t>
                      </a:r>
                    </a:p>
                  </a:txBody>
                  <a:tcPr anchor="ctr" marL="45720" marR="45720" marT="18288" marB="18288">
                    <a:solidFill>
                      <a:srgbClr val="FEF7E6"/>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Sản lượng Iris EXP tăng lên 16.000 máy/tháng và phương án theo dòng máy Athena / 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Sản lượng Iris EXP tại VN là 16.000 máy/tháng (Takt time giảm từ 114s xuống 97s). Nếu giữ quy trình Iris2024 (2.350s/máy), nhân lực phải tăng từ 14-15 lên 18 người, nên cần thiết kế lại công đoạn theo dòng máy Athena và Spica.</a:t>
            </a:r>
          </a:p>
        </p:txBody>
      </p:sp>
      <p:graphicFrame>
        <p:nvGraphicFramePr>
          <p:cNvPr id="7" name="Table 6"/>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 (Nguồn đối chiếu)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Thiết kế chuẩn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 (第8回 S7)</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 (DR4 S2)</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 (調整工程計画)</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&gt;=50% (&lt;=1.175s)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 (工程表)</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 (DR4 &amp; DSLK)</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16 -&gt; 8 người (-50%)</a:t>
                      </a:r>
                      <a:br/>
                      <a:r>
                        <a:t>IrisEXP mục tiêu: 18 -&gt;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-&gt; Check -&gt; Chịu áp -&gt; Âm thanh -&gt;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người thao tác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8" name="Picture 7"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9" name="Rectangle 8"/>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CĂN CỨ THIẾT KẾ CÔNG ĐOẠN THEO DÒNG MÁY ATHENA &amp; SPICA (Nguồn: Athena保証工程取り組み説明2025 VN.pptx, 【Spica】保証工程構成.pptx, 第8回打ち合わせ資料.pptx)</a:t>
            </a:r>
          </a:p>
        </p:txBody>
      </p:sp>
      <p:sp>
        <p:nvSpPr>
          <p:cNvPr id="11" name="TextBox 10"/>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Chuyển từ "Công đoạn Điều chỉnh (調整工程)" sang "Công đoạn Bảo chứng thân máy (本体保証工程)":</a:t>
            </a:r>
          </a:p>
          <a:p>
            <a:pPr>
              <a:spcAft>
                <a:spcPts val="300"/>
              </a:spcAft>
              <a:defRPr sz="880">
                <a:solidFill>
                  <a:srgbClr val="1E242B"/>
                </a:solidFill>
                <a:latin typeface="Arial"/>
              </a:defRPr>
            </a:pPr>
            <a:r>
              <a:t>   • Quy trình Iris2024 hiện tại phải đo và chỉnh tay nhiều bước trên chuyền: đo belt, chỉnh góc vuông ISU/RCG, chỉnh lề RCC (tỷ lệ phải chỉnh lại tới 50%), chỉnh lề Gray US0 (30-40%), người thao tác tự nhìn màn hình PC để phán định.</a:t>
            </a:r>
          </a:p>
          <a:p>
            <a:pPr>
              <a:spcAft>
                <a:spcPts val="300"/>
              </a:spcAft>
              <a:defRPr sz="880">
                <a:solidFill>
                  <a:srgbClr val="1E242B"/>
                </a:solidFill>
                <a:latin typeface="Arial"/>
              </a:defRPr>
            </a:pPr>
            <a:r>
              <a:t>   • Dòng máy Athena gom thao tác vào khoảng 60 file kịch bản JSON/hướng xuất trên Host PC (2V9_7401), tự động gửi lệnh tuần tự và đọc kết quả phán định, giúp giảm nhân lực từ 16 người (Mercury4) xuống 8 người (Athena).</a:t>
            </a:r>
          </a:p>
          <a:p>
            <a:pPr>
              <a:spcAft>
                <a:spcPts val="300"/>
              </a:spcAft>
              <a:defRPr sz="880" b="1">
                <a:solidFill>
                  <a:srgbClr val="1E242B"/>
                </a:solidFill>
                <a:latin typeface="Arial"/>
              </a:defRPr>
            </a:pPr>
            <a:r>
              <a:t>■ 2. Khắc phục lỗi mất nguồn/mạng của Athena bằng cấu hình Mini PC của Spica cho sản lượng lớn tại Việt Nam (16.000 máy/tháng):</a:t>
            </a:r>
          </a:p>
          <a:p>
            <a:pPr>
              <a:spcAft>
                <a:spcPts val="300"/>
              </a:spcAft>
              <a:defRPr sz="880">
                <a:solidFill>
                  <a:srgbClr val="1E242B"/>
                </a:solidFill>
                <a:latin typeface="Arial"/>
              </a:defRPr>
            </a:pPr>
            <a:r>
              <a:t>   • Trên Athena (sản lượng 1.000 máy/tháng), mỗi máy gắn 1 Raspberry Pi (8.000-12.000 JPY) cấp nguồn bằng Pin sạc dự phòng (9.600 JPY + hộp sạc 190.000 JPY) để đi kèm AGV; thực tế bị lỗi tắt nguồn/rớt mạng Wi-Fi 2-3 lần/tuần.</a:t>
            </a:r>
          </a:p>
          <a:p>
            <a:pPr>
              <a:spcAft>
                <a:spcPts val="300"/>
              </a:spcAft>
              <a:defRPr sz="880">
                <a:solidFill>
                  <a:srgbClr val="1E242B"/>
                </a:solidFill>
                <a:latin typeface="Arial"/>
              </a:defRPr>
            </a:pPr>
            <a:r>
              <a:t>   • Với Iris EXP (VN: 16.000 máy/tháng, CN: 2.700 máy/tháng), kỳ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Đối chiếu thay đổi qua các kỳ họp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Theo biên bản Kỳ 8, DR4, Kỳ 11-12 và tài liệu 24/09/2026: Mục tiêu "Tăng gấp đôi năng suất / giảm 50% nhân lực" từng tạm rút tại Kỳ 11, hiện được ghi nhận ở mức "Quyết định tạm thời (仮決定)".</a:t>
            </a:r>
          </a:p>
        </p:txBody>
      </p:sp>
      <p:graphicFrame>
        <p:nvGraphicFramePr>
          <p:cNvPr id="7" name="Table 6"/>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nguồn đối chiếu</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&amp; Ghi chú</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hoặc tự động hóa &gt;=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(x2);</a:t>
                      </a:r>
                      <a:br/>
                      <a:r>
                        <a:t>Nhân lực VN: 18 người -&gt; 9 người (A-1: 4 người -&gt;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&gt;= 50% thời gian thao tác:</a:t>
                      </a:r>
                      <a:br/>
                      <a:r>
                        <a:t>• VN: giảm &gt;=1.175s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&gt;= 3 mục kiểm tra thủ công (WTB, Belt, Điện)</a:t>
                      </a:r>
                      <a:br/>
                      <a:r>
                        <a:t>② Giảm 1/2 số tờ in: Print 17 -&gt; 9 tờ; Copy 2 -&gt; 1 tờ</a:t>
                      </a:r>
                    </a:p>
                  </a:txBody>
                  <a:tcPr anchor="ctr" marL="45720" marR="45720" marT="18288" marB="18288">
                    <a:solidFill>
                      <a:srgbClr val="F7F9FC"/>
                    </a:solidFill>
                  </a:tcPr>
                </a:tc>
                <a:tc>
                  <a:txBody>
                    <a:bodyPr/>
                    <a:lstStyle/>
                    <a:p>
                      <a:pPr algn="l">
                        <a:defRPr sz="800">
                          <a:solidFill>
                            <a:srgbClr val="1E242B"/>
                          </a:solidFill>
                          <a:latin typeface="Arial"/>
                        </a:defRPr>
                      </a:pPr>
                      <a:r>
                        <a:t>Đưa ra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Ông Goto (後藤) tạm rút con số "Năng suất x2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Mới xác nhận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&gt;= 3 mục kiểm tra</a:t>
                      </a:r>
                      <a:br/>
                      <a:r>
                        <a:t>• Giảm 1/2 tờ in (Print 17-&gt;9, Copy 2-&gt;1)</a:t>
                      </a:r>
                    </a:p>
                  </a:txBody>
                  <a:tcPr anchor="ctr" marL="45720" marR="45720" marT="18288" marB="18288">
                    <a:solidFill>
                      <a:srgbClr val="FDEDEC"/>
                    </a:solidFill>
                  </a:tcPr>
                </a:tc>
                <a:tc>
                  <a:txBody>
                    <a:bodyPr/>
                    <a:lstStyle/>
                    <a:p>
                      <a:pPr algn="l">
                        <a:defRPr sz="800">
                          <a:solidFill>
                            <a:srgbClr val="1E242B"/>
                          </a:solidFill>
                          <a:latin typeface="Arial"/>
                        </a:defRPr>
                      </a:pPr>
                      <a:r>
                        <a:t>Tạm rút khỏi mục tiêu chính thức tại Kỳ 11 do chưa đủ đối sách cắt giảm đủ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tờ in Print (仮決定)</a:t>
                      </a:r>
                      <a:br/>
                      <a:r>
                        <a:t>• Năng lực công đoạn khi MP: Cpk &gt;= 1,33 (仮決定)</a:t>
                      </a:r>
                    </a:p>
                  </a:txBody>
                  <a:tcPr anchor="ctr" marL="45720" marR="45720" marT="18288" marB="18288">
                    <a:solidFill>
                      <a:srgbClr val="EAF7EE"/>
                    </a:solidFill>
                  </a:tcPr>
                </a:tc>
                <a:tc>
                  <a:txBody>
                    <a:bodyPr/>
                    <a:lstStyle/>
                    <a:p>
                      <a:pPr algn="l">
                        <a:defRPr sz="800">
                          <a:solidFill>
                            <a:srgbClr val="1E242B"/>
                          </a:solidFill>
                          <a:latin typeface="Arial"/>
                        </a:defRPr>
                      </a:pPr>
                      <a:r>
                        <a:t>Đang giữ ở mức "Quyết định tạm thời (仮決定)", chờ PE Leader xác nhận cuối cùng</a:t>
                      </a:r>
                    </a:p>
                  </a:txBody>
                  <a:tcPr anchor="ctr" marL="45720" marR="45720" marT="18288" marB="18288">
                    <a:solidFill>
                      <a:srgbClr val="EAF7EE"/>
                    </a:solidFill>
                  </a:tcPr>
                </a:tc>
              </a:tr>
            </a:tbl>
          </a:graphicData>
        </a:graphic>
      </p:graphicFrame>
      <p:sp>
        <p:nvSpPr>
          <p:cNvPr id="8" name="Rectangle 7"/>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THỐNG NHẤT 3 CỨ ĐIỂM)</a:t>
            </a:r>
          </a:p>
        </p:txBody>
      </p:sp>
      <p:sp>
        <p:nvSpPr>
          <p:cNvPr id="10" name="TextBox 9"/>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hoặc giảm &gt;=1/2 thời gian cho ít nhất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giảm 29,16s chuẩn / 60s tại K1 VN).</a:t>
            </a:r>
          </a:p>
          <a:p>
            <a:pPr>
              <a:spcAft>
                <a:spcPts val="200"/>
              </a:spcAft>
              <a:defRPr sz="800">
                <a:solidFill>
                  <a:srgbClr val="1E242B"/>
                </a:solidFill>
                <a:latin typeface="Arial"/>
              </a:defRPr>
            </a:pPr>
            <a:r>
              <a:t>   • Hạng mục 2: Xóa kiểm tra lại tọa độ Panel U201 bằng tay, chuyển sang đối chiếu log Host PC (JP No.3, 削除確定 giảm 15,12s).</a:t>
            </a:r>
          </a:p>
          <a:p>
            <a:pPr>
              <a:spcAft>
                <a:spcPts val="200"/>
              </a:spcAft>
              <a:defRPr sz="800">
                <a:solidFill>
                  <a:srgbClr val="1E242B"/>
                </a:solidFill>
                <a:latin typeface="Arial"/>
              </a:defRPr>
            </a:pPr>
            <a:r>
              <a:t>   • Hạng mục 3: Xóa kiểm tra nhận diện khổ giấy/lượng giấy Cassette 1/2 thủ công (VN No.34, giảm 66,68s) và kiểm tra cảm biến người/công tắc cửa.</a:t>
            </a:r>
          </a:p>
          <a:p>
            <a:pPr>
              <a:spcAft>
                <a:spcPts val="200"/>
              </a:spcAft>
              <a:defRPr sz="800" b="1">
                <a:solidFill>
                  <a:srgbClr val="1E242B"/>
                </a:solidFill>
                <a:latin typeface="Arial"/>
              </a:defRPr>
            </a:pPr>
            <a:r>
              <a:t>✔ 2. Giảm 1/2 số tờ in kiểm tra: Print giảm từ 17 tờ xuống 9 tờ (gộp RC9+RCG, bỏ Calibration Process...); Copy giảm từ 2 tờ xuống 1 tờ (gộp DC-1 + Gray).</a:t>
            </a:r>
          </a:p>
        </p:txBody>
      </p:sp>
      <p:sp>
        <p:nvSpPr>
          <p:cNvPr id="11" name="Rectangle 10"/>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LƯU Ý VỀ CHỈ TIÊU GIẢM 50% THỜI GIAN GIỮA CÔNG TY MẸ (JP) VÀ NHÀ MÁY VIỆT NAM</a:t>
            </a:r>
          </a:p>
        </p:txBody>
      </p:sp>
      <p:sp>
        <p:nvSpPr>
          <p:cNvPr id="13" name="TextBox 12"/>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Lý do Kỳ 11 tạm rút mục tiêu "Giảm 50% nhân lực / Năng suất x2"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toàn bộ các dòng đánh dấu xóa (削) là -267,74s (-21,2%), chưa đủ 50% nếu chỉ dựa vào việc xóa bước.</a:t>
            </a:r>
          </a:p>
          <a:p>
            <a:pPr>
              <a:spcAft>
                <a:spcPts val="200"/>
              </a:spcAft>
              <a:defRPr sz="800" b="1">
                <a:solidFill>
                  <a:srgbClr val="1E242B"/>
                </a:solidFill>
                <a:latin typeface="Arial"/>
              </a:defRPr>
            </a:pPr>
            <a:r>
              <a:t>⚠ 2. Kế hoạch thực hiện tại nhà máy Việt Nam (KDTVN):</a:t>
            </a:r>
          </a:p>
          <a:p>
            <a:pPr>
              <a:spcAft>
                <a:spcPts val="200"/>
              </a:spcAft>
              <a:defRPr sz="800">
                <a:solidFill>
                  <a:srgbClr val="1E242B"/>
                </a:solidFill>
                <a:latin typeface="Arial"/>
              </a:defRPr>
            </a:pPr>
            <a:r>
              <a:t>   • Trong biểu mục tiêu chất lượng nội bộ (KDTVN-A-QA-QA-BM-003-F), phòng KTCT VN vẫn đặt mục tiêu giảm &gt;=50% (1.175s / 2.350s) vào tháng 03/2027 nhờ kết hợp 20 đề án tự động hóa của VN với các đề án xóa bước của JP/CN.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20 đề án Việt Nam trong tổng số 38 đề án toàn chương trình (Tách riêng với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Nhà máy Việt Nam đề xuất 20 đề án (11 đề án tháng 8 + 9 đề án bổ sung tháng 9) cùng phương án nạp FW tại Partner; tổng dự toán 3 đề án có giá trong Iris EXPのVN提案.xlsx là 855,69 triệu VNĐ (32.911,15 USD / làm tròn 33.000 USD).</a:t>
            </a:r>
          </a:p>
        </p:txBody>
      </p:sp>
      <p:pic>
        <p:nvPicPr>
          <p:cNvPr id="7" name="Picture 6"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8" name="Table 7"/>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371600"/>
                <a:gridCol w="1097280"/>
                <a:gridCol w="1143000"/>
                <a:gridCol w="126461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Kinh phí theo VN提案.xlsx</a:t>
                      </a:r>
                    </a:p>
                  </a:txBody>
                  <a:tcPr anchor="ctr" marL="45720" marR="45720" marT="18288" marB="18288">
                    <a:solidFill>
                      <a:srgbClr val="1B365D"/>
                    </a:solidFill>
                  </a:tcPr>
                </a:tc>
              </a:tr>
              <a:tr h="359228">
                <a:tc>
                  <a:txBody>
                    <a:bodyPr/>
                    <a:lstStyle/>
                    <a:p>
                      <a:pPr algn="ctr">
                        <a:defRPr sz="74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4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4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4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4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4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40">
                          <a:solidFill>
                            <a:srgbClr val="1E242B"/>
                          </a:solidFill>
                          <a:latin typeface="Arial"/>
                        </a:defRPr>
                      </a:pPr>
                      <a:r>
                        <a:t>No.21, 31, 32</a:t>
                      </a:r>
                    </a:p>
                  </a:txBody>
                  <a:tcPr anchor="ctr" marL="45720" marR="45720" marT="18288" marB="18288">
                    <a:solidFill>
                      <a:srgbClr val="F7F9FC"/>
                    </a:solidFill>
                  </a:tcPr>
                </a:tc>
                <a:tc>
                  <a:txBody>
                    <a:bodyPr/>
                    <a:lstStyle/>
                    <a:p>
                      <a:pPr algn="ctr">
                        <a:defRPr sz="74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40">
                          <a:solidFill>
                            <a:srgbClr val="1E242B"/>
                          </a:solidFill>
                          <a:latin typeface="Arial"/>
                        </a:defRPr>
                      </a:pPr>
                      <a:r>
                        <a:t>-65,00s ~ -110,00s</a:t>
                      </a:r>
                    </a:p>
                  </a:txBody>
                  <a:tcPr anchor="ctr" marL="45720" marR="45720" marT="18288" marB="18288">
                    <a:solidFill>
                      <a:srgbClr val="F7F9FC"/>
                    </a:solidFill>
                  </a:tcPr>
                </a:tc>
                <a:tc>
                  <a:txBody>
                    <a:bodyPr/>
                    <a:lstStyle/>
                    <a:p>
                      <a:pPr algn="l">
                        <a:defRPr sz="74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4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40">
                          <a:solidFill>
                            <a:srgbClr val="1E242B"/>
                          </a:solidFill>
                          <a:latin typeface="Arial"/>
                        </a:defRPr>
                      </a:pPr>
                      <a:r>
                        <a:t>No.22, 33, 34, 35</a:t>
                      </a:r>
                    </a:p>
                  </a:txBody>
                  <a:tcPr anchor="ctr" marL="45720" marR="45720" marT="18288" marB="18288">
                    <a:solidFill>
                      <a:srgbClr val="EAF7EE"/>
                    </a:solidFill>
                  </a:tcPr>
                </a:tc>
                <a:tc>
                  <a:txBody>
                    <a:bodyPr/>
                    <a:lstStyle/>
                    <a:p>
                      <a:pPr algn="ctr">
                        <a:defRPr sz="74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40">
                          <a:solidFill>
                            <a:srgbClr val="1E242B"/>
                          </a:solidFill>
                          <a:latin typeface="Arial"/>
                        </a:defRPr>
                      </a:pPr>
                      <a:r>
                        <a:t>-158,32s ~ -200,00s</a:t>
                      </a:r>
                    </a:p>
                  </a:txBody>
                  <a:tcPr anchor="ctr" marL="45720" marR="45720" marT="18288" marB="18288">
                    <a:solidFill>
                      <a:srgbClr val="EAF7EE"/>
                    </a:solidFill>
                  </a:tcPr>
                </a:tc>
                <a:tc>
                  <a:txBody>
                    <a:bodyPr/>
                    <a:lstStyle/>
                    <a:p>
                      <a:pPr algn="l">
                        <a:defRPr sz="740">
                          <a:solidFill>
                            <a:srgbClr val="1E242B"/>
                          </a:solidFill>
                          <a:latin typeface="Arial"/>
                        </a:defRPr>
                      </a:pPr>
                      <a:r>
                        <a:t>No.22: 101,69 tr (3.911,15$)</a:t>
                      </a:r>
                      <a:br/>
                      <a:r>
                        <a:t>[纏め: 4.000 USD]</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K4 -&gt; A-4 đầu</a:t>
                      </a:r>
                      <a:br/>
                      <a:r>
                        <a:t>(Scan, USB, U201)</a:t>
                      </a:r>
                    </a:p>
                  </a:txBody>
                  <a:tcPr anchor="ctr" marL="45720" marR="45720" marT="18288" marB="18288">
                    <a:solidFill>
                      <a:srgbClr val="EAF7EE"/>
                    </a:solidFill>
                  </a:tcPr>
                </a:tc>
                <a:tc>
                  <a:txBody>
                    <a:bodyPr/>
                    <a:lstStyle/>
                    <a:p>
                      <a:pPr algn="l">
                        <a:defRPr sz="740">
                          <a:solidFill>
                            <a:srgbClr val="1E242B"/>
                          </a:solidFill>
                          <a:latin typeface="Arial"/>
                        </a:defRPr>
                      </a:pPr>
                      <a:r>
                        <a:t>No.23, 24, 25 (DP),</a:t>
                      </a:r>
                      <a:br/>
                      <a:r>
                        <a:t>No.36, 37</a:t>
                      </a:r>
                    </a:p>
                  </a:txBody>
                  <a:tcPr anchor="ctr" marL="45720" marR="45720" marT="18288" marB="18288">
                    <a:solidFill>
                      <a:srgbClr val="EAF7EE"/>
                    </a:solidFill>
                  </a:tcPr>
                </a:tc>
                <a:tc>
                  <a:txBody>
                    <a:bodyPr/>
                    <a:lstStyle/>
                    <a:p>
                      <a:pPr algn="ctr">
                        <a:defRPr sz="740">
                          <a:solidFill>
                            <a:srgbClr val="1E242B"/>
                          </a:solidFill>
                          <a:latin typeface="Arial"/>
                        </a:defRPr>
                      </a:pPr>
                      <a:r>
                        <a:t>480,00 s</a:t>
                      </a:r>
                      <a:br/>
                      <a:r>
                        <a:t>(gồm 285s U950)</a:t>
                      </a:r>
                    </a:p>
                  </a:txBody>
                  <a:tcPr anchor="ctr" marL="45720" marR="45720" marT="18288" marB="18288">
                    <a:solidFill>
                      <a:srgbClr val="EAF7EE"/>
                    </a:solidFill>
                  </a:tcPr>
                </a:tc>
                <a:tc>
                  <a:txBody>
                    <a:bodyPr/>
                    <a:lstStyle/>
                    <a:p>
                      <a:pPr algn="ctr">
                        <a:defRPr sz="740">
                          <a:solidFill>
                            <a:srgbClr val="1E242B"/>
                          </a:solidFill>
                          <a:latin typeface="Arial"/>
                        </a:defRPr>
                      </a:pPr>
                      <a:r>
                        <a:t>-153,88s ~ -170,00s</a:t>
                      </a:r>
                    </a:p>
                  </a:txBody>
                  <a:tcPr anchor="ctr" marL="45720" marR="45720" marT="18288" marB="18288">
                    <a:solidFill>
                      <a:srgbClr val="EAF7EE"/>
                    </a:solidFill>
                  </a:tcPr>
                </a:tc>
                <a:tc>
                  <a:txBody>
                    <a:bodyPr/>
                    <a:lstStyle/>
                    <a:p>
                      <a:pPr algn="l">
                        <a:defRPr sz="740">
                          <a:solidFill>
                            <a:srgbClr val="1E242B"/>
                          </a:solidFill>
                          <a:latin typeface="Arial"/>
                        </a:defRPr>
                      </a:pPr>
                      <a:r>
                        <a:t>No.23: 650tr (25.000$)</a:t>
                      </a:r>
                      <a:br/>
                      <a:r>
                        <a:t>No.24: 104tr (4.000$)</a:t>
                      </a:r>
                      <a:br/>
                      <a:r>
                        <a:t>No.25 (DP): Đang xem xét</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K6, K7, K8 -&gt; A-4</a:t>
                      </a:r>
                      <a:br/>
                      <a:r>
                        <a:t>(Ảnh, Âm, Xuất)</a:t>
                      </a:r>
                    </a:p>
                  </a:txBody>
                  <a:tcPr anchor="ctr" marL="45720" marR="45720" marT="18288" marB="18288">
                    <a:solidFill>
                      <a:srgbClr val="FFFFFF"/>
                    </a:solidFill>
                  </a:tcPr>
                </a:tc>
                <a:tc>
                  <a:txBody>
                    <a:bodyPr/>
                    <a:lstStyle/>
                    <a:p>
                      <a:pPr algn="l">
                        <a:defRPr sz="740">
                          <a:solidFill>
                            <a:srgbClr val="1E242B"/>
                          </a:solidFill>
                          <a:latin typeface="Arial"/>
                        </a:defRPr>
                      </a:pPr>
                      <a:r>
                        <a:t>No.26 (AI âm thanh),</a:t>
                      </a:r>
                      <a:br/>
                      <a:r>
                        <a:t>No.27, No.28</a:t>
                      </a:r>
                    </a:p>
                  </a:txBody>
                  <a:tcPr anchor="ctr" marL="45720" marR="45720" marT="18288" marB="18288">
                    <a:solidFill>
                      <a:srgbClr val="FFFFFF"/>
                    </a:solidFill>
                  </a:tcPr>
                </a:tc>
                <a:tc>
                  <a:txBody>
                    <a:bodyPr/>
                    <a:lstStyle/>
                    <a:p>
                      <a:pPr algn="ctr">
                        <a:defRPr sz="74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4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40">
                          <a:solidFill>
                            <a:srgbClr val="1E242B"/>
                          </a:solidFill>
                          <a:latin typeface="Arial"/>
                        </a:defRPr>
                      </a:pPr>
                      <a:r>
                        <a:t>No.27, 28: Báo giá</a:t>
                      </a:r>
                      <a:br/>
                      <a:r>
                        <a:t>No.26: 600 vạn JPY (~40k$)</a:t>
                      </a:r>
                    </a:p>
                  </a:txBody>
                  <a:tcPr anchor="ctr" marL="45720" marR="45720" marT="18288" marB="18288">
                    <a:solidFill>
                      <a:srgbClr val="FFFFFF"/>
                    </a:solidFill>
                  </a:tcPr>
                </a:tc>
              </a:tr>
              <a:tr h="359232">
                <a:tc>
                  <a:txBody>
                    <a:bodyPr/>
                    <a:lstStyle/>
                    <a:p>
                      <a:pPr algn="ctr">
                        <a:defRPr sz="74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40">
                          <a:solidFill>
                            <a:srgbClr val="1E242B"/>
                          </a:solidFill>
                          <a:latin typeface="Arial"/>
                        </a:defRPr>
                      </a:pPr>
                      <a:r>
                        <a:t>20 đề án (3 ĐA có giá)</a:t>
                      </a:r>
                    </a:p>
                  </a:txBody>
                  <a:tcPr anchor="ctr" marL="45720" marR="45720" marT="18288" marB="18288">
                    <a:solidFill>
                      <a:srgbClr val="E8EEF5"/>
                    </a:solidFill>
                  </a:tcPr>
                </a:tc>
                <a:tc>
                  <a:txBody>
                    <a:bodyPr/>
                    <a:lstStyle/>
                    <a:p>
                      <a:pPr algn="ctr">
                        <a:defRPr sz="74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40">
                          <a:solidFill>
                            <a:srgbClr val="1E242B"/>
                          </a:solidFill>
                          <a:latin typeface="Arial"/>
                        </a:defRPr>
                      </a:pPr>
                      <a:r>
                        <a:t>~599,32s - 611,32s*</a:t>
                      </a:r>
                    </a:p>
                  </a:txBody>
                  <a:tcPr anchor="ctr" marL="45720" marR="45720" marT="18288" marB="18288">
                    <a:solidFill>
                      <a:srgbClr val="E8EEF5"/>
                    </a:solidFill>
                  </a:tcPr>
                </a:tc>
                <a:tc>
                  <a:txBody>
                    <a:bodyPr/>
                    <a:lstStyle/>
                    <a:p>
                      <a:pPr algn="l">
                        <a:defRPr sz="740">
                          <a:solidFill>
                            <a:srgbClr val="1E242B"/>
                          </a:solidFill>
                          <a:latin typeface="Arial"/>
                        </a:defRPr>
                      </a:pPr>
                      <a:r>
                        <a:t>3 ĐA: 855,69 tr (32.911,15$)</a:t>
                      </a:r>
                      <a:br/>
                      <a:r>
                        <a:t>[Riêng No.22: 101,69 tr]</a:t>
                      </a:r>
                    </a:p>
                  </a:txBody>
                  <a:tcPr anchor="ctr" marL="45720" marR="45720" marT="18288" marB="18288">
                    <a:solidFill>
                      <a:srgbClr val="E8EEF5"/>
                    </a:solidFill>
                  </a:tcPr>
                </a:tc>
              </a:tr>
            </a:tbl>
          </a:graphicData>
        </a:graphic>
      </p:graphicFrame>
      <p:sp>
        <p:nvSpPr>
          <p:cNvPr id="9" name="Rectangle 8"/>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NHÓM 20 ĐỀ ÁN CỦA VIỆT NAM &amp; BẢNG GIÁ TRONG FILE IRIS EXPのVN提案.xlsx</a:t>
            </a:r>
          </a:p>
        </p:txBody>
      </p:sp>
      <p:sp>
        <p:nvSpPr>
          <p:cNvPr id="11" name="TextBox 10"/>
          <p:cNvSpPr txBox="1"/>
          <p:nvPr/>
        </p:nvSpPr>
        <p:spPr>
          <a:xfrm>
            <a:off x="347472" y="4187952"/>
            <a:ext cx="11496751" cy="2249424"/>
          </a:xfrm>
          <a:prstGeom prst="rect">
            <a:avLst/>
          </a:prstGeom>
          <a:noFill/>
        </p:spPr>
        <p:txBody>
          <a:bodyPr wrap="square" lIns="36576" rIns="36576" tIns="18288" bIns="18288">
            <a:spAutoFit/>
          </a:bodyPr>
          <a:lstStyle/>
          <a:p>
            <a:pPr>
              <a:spcAft>
                <a:spcPts val="200"/>
              </a:spcAft>
              <a:defRPr sz="810" b="1">
                <a:solidFill>
                  <a:srgbClr val="1E242B"/>
                </a:solidFill>
                <a:latin typeface="Arial"/>
              </a:defRPr>
            </a:pPr>
            <a:r>
              <a:t>■ 1. Bảng dự toán kinh phí 4 hạng mục trong file Iris EXPのVN提案.xlsx (Tỷ giá quy đổi trong file: 26.000 VNĐ/USD):</a:t>
            </a:r>
          </a:p>
          <a:p>
            <a:pPr>
              <a:spcAft>
                <a:spcPts val="200"/>
              </a:spcAft>
              <a:defRPr sz="810">
                <a:solidFill>
                  <a:srgbClr val="1E242B"/>
                </a:solidFill>
                <a:latin typeface="Arial"/>
              </a:defRPr>
            </a:pPr>
            <a:r>
              <a:t>   • Mục 1 (No.22 - Kiểm tra thông mạch tiếp đất &amp; chịu áp cách điện, 30s): JIG kết nối + kiểm tra tự động, giảm 30s/máy (tiết kiệm 29,6 triệu VNĐ/năm = 1.138,46 USD/năm). Kinh phí: 101.690.000 VNĐ (3.911,15 USD theo BOM 25 mục tại Sheet 導通・耐圧検査設備リスト; Sheet 自動導通・耐圧検査 ghi 101.700.000 VNĐ / 3.911,54 USD; Sheet 纏め ghi 4.000 USD).</a:t>
            </a:r>
          </a:p>
          <a:p>
            <a:pPr>
              <a:spcAft>
                <a:spcPts val="200"/>
              </a:spcAft>
              <a:defRPr sz="810">
                <a:solidFill>
                  <a:srgbClr val="1E242B"/>
                </a:solidFill>
                <a:latin typeface="Arial"/>
              </a:defRPr>
            </a:pPr>
            <a:r>
              <a:t>   • Mục 2 (No.23 - Điều chỉnh tự động ISU U411 [45s] + Scan SITC-2 [35s] + Scan Halftone [30s] = 110s): Chế tạo Robot đặt bản thảo lên ISU liên kết Program 7910, giảm 110s/máy (tiết kiệm 108,53 triệu VNĐ/năm = 4.174,36 USD/năm). Kinh phí tại Sheet 自動Scan tự động: 650.000.000 VNĐ (25.000 USD: 2 Cell băng tải 200tr + Cấp nguồn 50tr + Định vị cáp USB/LAN 50tr + Cánh tay Robot 350tr).</a:t>
            </a:r>
          </a:p>
          <a:p>
            <a:pPr>
              <a:spcAft>
                <a:spcPts val="200"/>
              </a:spcAft>
              <a:defRPr sz="810">
                <a:solidFill>
                  <a:srgbClr val="1E242B"/>
                </a:solidFill>
                <a:latin typeface="Arial"/>
              </a:defRPr>
            </a:pPr>
            <a:r>
              <a:t>   • Mục 3 (No.24 - Kiểm tra nhận biết USB [15s] + Kiểm tra tọa độ U201 trên Panel [15s] = 30s): Robot kết nối USB, Camera AI cảm biến tọa độ &amp; Robot chấm tọa độ, giảm 30s/máy (tiết kiệm 29,6 triệu VNĐ/năm = 1.138,46 USD/năm). Kinh phí tại Sheet 纏め: 4.000 USD (104.000.000 VNĐ).</a:t>
            </a:r>
          </a:p>
          <a:p>
            <a:pPr>
              <a:spcAft>
                <a:spcPts val="200"/>
              </a:spcAft>
              <a:defRPr sz="810">
                <a:solidFill>
                  <a:srgbClr val="1E242B"/>
                </a:solidFill>
                <a:latin typeface="Arial"/>
              </a:defRPr>
            </a:pPr>
            <a:r>
              <a:t>   • Mục 4 (No.25 - Bổ sung DP vào máy thực nghiệm để chuyển hình ảnh liên tục): Đang xem xét / đang báo giá (検討中). Tổng 3 mục đã có giá (No.22 + 23 + 24) = 855.690.000 VNĐ (32.911,15 USD; làm tròn trên Sheet 纏め là 33.000 USD / 858.000.000 VNĐ).</a:t>
            </a:r>
          </a:p>
          <a:p>
            <a:pPr>
              <a:spcAft>
                <a:spcPts val="200"/>
              </a:spcAft>
              <a:defRPr sz="810" b="1">
                <a:solidFill>
                  <a:srgbClr val="1E242B"/>
                </a:solidFill>
                <a:latin typeface="Arial"/>
              </a:defRPr>
            </a:pPr>
            <a:r>
              <a:t>■ 2. Nhóm đề án còn lại của VN (No.18~21, No.26~37): 10 đề án thiết bị đang báo giá (見積中), 6 đề án cải tiến mạch/FW (0đ TB), và No.26 AI âm thanh lạ (600 vạn JPY ~ 40.000 USD, R&amp;D 2026-2030).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đề án VN tại A-1 ~ A-3 và phương án nạp FW tại Partner giúp giảm ~173s-185s/máy, giảm 1 người thao tác tại A-1; trong đó Đề án No.22 có báo giá BOM 25 mục là 101.690.000 VNĐ (3.911,15 USD / 4.000 USD).</a:t>
            </a:r>
          </a:p>
        </p:txBody>
      </p:sp>
      <p:graphicFrame>
        <p:nvGraphicFramePr>
          <p:cNvPr id="7" name="Table 6"/>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 &amp;</a:t>
                      </a:r>
                      <a:br/>
                      <a:r>
                        <a:t>Trạng thái giá</a:t>
                      </a:r>
                    </a:p>
                  </a:txBody>
                  <a:tcPr anchor="ctr" marL="45720" marR="45720" marT="18288" marB="18288">
                    <a:solidFill>
                      <a:srgbClr val="1B365D"/>
                    </a:solidFill>
                  </a:tcPr>
                </a:tc>
                <a:tc>
                  <a:txBody>
                    <a:bodyPr/>
                    <a:lstStyle/>
                    <a:p>
                      <a:pPr algn="ctr">
                        <a:defRPr sz="819" b="1">
                          <a:solidFill>
                            <a:srgbClr val="FFFFFF"/>
                          </a:solidFill>
                          <a:latin typeface="Arial"/>
                        </a:defRPr>
                      </a:pPr>
                      <a:r>
                        <a:t>Tiến độ / Nguồn</a:t>
                      </a:r>
                      <a:br/>
                      <a:r>
                        <a:t>đối chiếu</a:t>
                      </a:r>
                    </a:p>
                  </a:txBody>
                  <a:tcPr anchor="ctr" marL="45720" marR="45720" marT="18288" marB="18288">
                    <a:solidFill>
                      <a:srgbClr val="1B365D"/>
                    </a:solidFill>
                  </a:tcPr>
                </a:tc>
              </a:tr>
              <a:tr h="741970">
                <a:tc>
                  <a:txBody>
                    <a:bodyPr/>
                    <a:lstStyle/>
                    <a:p>
                      <a:pPr algn="ctr">
                        <a:defRPr sz="75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50">
                          <a:solidFill>
                            <a:srgbClr val="1E242B"/>
                          </a:solidFill>
                          <a:latin typeface="Arial"/>
                        </a:defRPr>
                      </a:pPr>
                      <a:r>
                        <a:t>Nạp FW bằng USB từng máy (90s/máy). 1 người thao tác đứng chờ cắm/rút USB và bấm khởi động.</a:t>
                      </a:r>
                    </a:p>
                  </a:txBody>
                  <a:tcPr anchor="ctr" marL="45720" marR="45720" marT="18288" marB="18288">
                    <a:solidFill>
                      <a:srgbClr val="FFFFFF"/>
                    </a:solidFill>
                  </a:tcPr>
                </a:tc>
                <a:tc>
                  <a:txBody>
                    <a:bodyPr/>
                    <a:lstStyle/>
                    <a:p>
                      <a:pPr algn="l">
                        <a:defRPr sz="750">
                          <a:solidFill>
                            <a:srgbClr val="1E242B"/>
                          </a:solidFill>
                          <a:latin typeface="Arial"/>
                        </a:defRPr>
                      </a:pPr>
                      <a:r>
                        <a:t>Thiết kế trạm A-1 cho phép 1 người thao tác vận hành nạp FW đồng thời 4 máy qua hệ thống Mini PC / mạng LAN.</a:t>
                      </a:r>
                    </a:p>
                  </a:txBody>
                  <a:tcPr anchor="ctr" marL="45720" marR="45720" marT="18288" marB="18288">
                    <a:solidFill>
                      <a:srgbClr val="FFFFFF"/>
                    </a:solidFill>
                  </a:tcPr>
                </a:tc>
                <a:tc>
                  <a:txBody>
                    <a:bodyPr/>
                    <a:lstStyle/>
                    <a:p>
                      <a:pPr algn="l">
                        <a:defRPr sz="75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thiết kế chuẩn A-1</a:t>
                      </a:r>
                      <a:br/>
                      <a:r>
                        <a:t>(IrisEXP報告 S3;</a:t>
                      </a:r>
                      <a:br/>
                      <a:r>
                        <a:t>まとめ Row 32)</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5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5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5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50">
                          <a:solidFill>
                            <a:srgbClr val="1E242B"/>
                          </a:solidFill>
                          <a:latin typeface="Arial"/>
                        </a:defRPr>
                      </a:pPr>
                      <a:r>
                        <a:t>• Giảm 13s ~ 25s thao tác tay; chu kỳ A-1 giảm 379s -&gt; 279s (354s -&gt; 254s)</a:t>
                      </a:r>
                      <a:br/>
                      <a:r>
                        <a:t>• Giảm 1 người tại A-1 (từ 4 -&gt; 3 người)</a:t>
                      </a:r>
                    </a:p>
                  </a:txBody>
                  <a:tcPr anchor="ctr" marL="45720" marR="45720" marT="18288" marB="18288">
                    <a:solidFill>
                      <a:srgbClr val="E8EEF5"/>
                    </a:solidFill>
                  </a:tcPr>
                </a:tc>
                <a:tc>
                  <a:txBody>
                    <a:bodyPr/>
                    <a:lstStyle/>
                    <a:p>
                      <a:pPr algn="ctr">
                        <a:defRPr sz="75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50">
                          <a:solidFill>
                            <a:srgbClr val="1E242B"/>
                          </a:solidFill>
                          <a:latin typeface="Arial"/>
                        </a:defRPr>
                      </a:pPr>
                      <a:r>
                        <a:t>Đang xác nhận với TK JP &amp; Partner</a:t>
                      </a:r>
                      <a:br/>
                      <a:r>
                        <a:t>(開発目標 Sheet 4;</a:t>
                      </a:r>
                      <a:br/>
                      <a:r>
                        <a:t>第11回, 第13回)</a:t>
                      </a:r>
                    </a:p>
                  </a:txBody>
                  <a:tcPr anchor="ctr" marL="45720" marR="45720" marT="18288" marB="18288">
                    <a:solidFill>
                      <a:srgbClr val="E8EEF5"/>
                    </a:solidFill>
                  </a:tcPr>
                </a:tc>
              </a:tr>
              <a:tr h="741970">
                <a:tc>
                  <a:txBody>
                    <a:bodyPr/>
                    <a:lstStyle/>
                    <a:p>
                      <a:pPr algn="ctr">
                        <a:defRPr sz="75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5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5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5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50">
                          <a:solidFill>
                            <a:srgbClr val="1E242B"/>
                          </a:solidFill>
                          <a:latin typeface="Arial"/>
                        </a:defRPr>
                      </a:pPr>
                      <a:r>
                        <a:t>Đang xác nhận điều kiện với TK JP</a:t>
                      </a:r>
                      <a:br/>
                      <a:r>
                        <a:t>(IrisEXP報告 S3;</a:t>
                      </a:r>
                      <a:br/>
                      <a:r>
                        <a:t>まとめ Row 33)</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No.20</a:t>
                      </a:r>
                      <a:br/>
                      <a:r>
                        <a:t>(K1 -&gt; A-1)</a:t>
                      </a:r>
                    </a:p>
                  </a:txBody>
                  <a:tcPr anchor="ctr" marL="45720" marR="45720" marT="18288" marB="18288">
                    <a:solidFill>
                      <a:srgbClr val="F7F9FC"/>
                    </a:solidFill>
                  </a:tcPr>
                </a:tc>
                <a:tc>
                  <a:txBody>
                    <a:bodyPr/>
                    <a:lstStyle/>
                    <a:p>
                      <a:pPr algn="l">
                        <a:defRPr sz="75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50">
                          <a:solidFill>
                            <a:srgbClr val="1E242B"/>
                          </a:solidFill>
                          <a:latin typeface="Arial"/>
                        </a:defRPr>
                      </a:pPr>
                      <a:r>
                        <a:t>Người thao tác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50">
                          <a:solidFill>
                            <a:srgbClr val="1E242B"/>
                          </a:solidFill>
                          <a:latin typeface="Arial"/>
                        </a:defRPr>
                      </a:pPr>
                      <a:r>
                        <a:t>Truyền trực tiếp dữ liệu log kiểm tra từ máy về Host PC qua mạng nội bộ (LAN/VLAN qua Mini PC).</a:t>
                      </a:r>
                    </a:p>
                  </a:txBody>
                  <a:tcPr anchor="ctr" marL="45720" marR="45720" marT="18288" marB="18288">
                    <a:solidFill>
                      <a:srgbClr val="F7F9FC"/>
                    </a:solidFill>
                  </a:tcPr>
                </a:tc>
                <a:tc>
                  <a:txBody>
                    <a:bodyPr/>
                    <a:lstStyle/>
                    <a:p>
                      <a:pPr algn="l">
                        <a:defRPr sz="75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50">
                          <a:solidFill>
                            <a:srgbClr val="1E242B"/>
                          </a:solidFill>
                          <a:latin typeface="Arial"/>
                        </a:defRPr>
                      </a:pPr>
                      <a:r>
                        <a:t>Tích hợp vào hệ thống Host PC / Mini PC</a:t>
                      </a:r>
                      <a:br/>
                      <a:r>
                        <a:t>(IrisEXP報告 S3;</a:t>
                      </a:r>
                      <a:br/>
                      <a:r>
                        <a:t>まとめ Row 34)</a:t>
                      </a:r>
                    </a:p>
                  </a:txBody>
                  <a:tcPr anchor="ctr" marL="45720" marR="45720" marT="18288" marB="18288">
                    <a:solidFill>
                      <a:srgbClr val="F7F9FC"/>
                    </a:solidFill>
                  </a:tcPr>
                </a:tc>
              </a:tr>
              <a:tr h="741970">
                <a:tc>
                  <a:txBody>
                    <a:bodyPr/>
                    <a:lstStyle/>
                    <a:p>
                      <a:pPr algn="ctr">
                        <a:defRPr sz="75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5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5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5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5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báo giá chế tạo đồ gá (Đồng bộ CN No.17)</a:t>
                      </a:r>
                      <a:br/>
                      <a:r>
                        <a:t>(まとめ Row 35)</a:t>
                      </a:r>
                    </a:p>
                  </a:txBody>
                  <a:tcPr anchor="ctr" marL="45720" marR="45720" marT="18288" marB="18288">
                    <a:solidFill>
                      <a:srgbClr val="FFFFFF"/>
                    </a:solidFill>
                  </a:tcPr>
                </a:tc>
              </a:tr>
              <a:tr h="741972">
                <a:tc>
                  <a:txBody>
                    <a:bodyPr/>
                    <a:lstStyle/>
                    <a:p>
                      <a:pPr algn="ctr">
                        <a:defRPr sz="75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50">
                          <a:solidFill>
                            <a:srgbClr val="1E242B"/>
                          </a:solidFill>
                          <a:latin typeface="Arial"/>
                        </a:defRPr>
                      </a:pPr>
                      <a:r>
                        <a:t>Tự động hóa kiểm tra thông mạch, tiếp đất và chịu áp cách điện</a:t>
                      </a:r>
                      <a:br/>
                      <a:r>
                        <a:t>(導通・接地および絶縁耐圧の自動検査)</a:t>
                      </a:r>
                    </a:p>
                  </a:txBody>
                  <a:tcPr anchor="ctr" marL="45720" marR="45720" marT="18288" marB="18288">
                    <a:solidFill>
                      <a:srgbClr val="EAF7EE"/>
                    </a:solidFill>
                  </a:tcPr>
                </a:tc>
                <a:tc>
                  <a:txBody>
                    <a:bodyPr/>
                    <a:lstStyle/>
                    <a:p>
                      <a:pPr algn="l">
                        <a:defRPr sz="750">
                          <a:solidFill>
                            <a:srgbClr val="1E242B"/>
                          </a:solidFill>
                          <a:latin typeface="Arial"/>
                        </a:defRPr>
                      </a:pPr>
                      <a:r>
                        <a:t>Người thao tác cắm nguồn, kẹp que đo tiếp đất, bấm máy đo cao áp và xác nhận thủ công (20s thông mạch/tiếp đất + 10s cách điện chịu áp = 30s/máy).</a:t>
                      </a:r>
                    </a:p>
                  </a:txBody>
                  <a:tcPr anchor="ctr" marL="45720" marR="45720" marT="18288" marB="18288">
                    <a:solidFill>
                      <a:srgbClr val="EAF7EE"/>
                    </a:solidFill>
                  </a:tcPr>
                </a:tc>
                <a:tc>
                  <a:txBody>
                    <a:bodyPr/>
                    <a:lstStyle/>
                    <a:p>
                      <a:pPr algn="l">
                        <a:defRPr sz="750">
                          <a:solidFill>
                            <a:srgbClr val="1E242B"/>
                          </a:solidFill>
                          <a:latin typeface="Arial"/>
                        </a:defRPr>
                      </a:pPr>
                      <a:r>
                        <a:t>Chế tạo JIG kết nối + kiểm tra tự động (BOM 25 mục): PLC Mitsubishi FX5U-64MT/ES, Module FX5-16EYR/ES, HMI Wecon PI3070ig, 6 Xylanh SMC (MGCLB16/CXSL15), 5 Van SY5120, 2 Cảm biến quang E3Z-LS61, Khung nhôm Misumi LCF8-4040.</a:t>
                      </a:r>
                      <a:br/>
                      <a:r>
                        <a:t>※ Quyết định DR4: Đo khi ĐÃ ĐÓNG VỎ MÁY.</a:t>
                      </a:r>
                    </a:p>
                  </a:txBody>
                  <a:tcPr anchor="ctr" marL="45720" marR="45720" marT="18288" marB="18288">
                    <a:solidFill>
                      <a:srgbClr val="EAF7EE"/>
                    </a:solidFill>
                  </a:tcPr>
                </a:tc>
                <a:tc>
                  <a:txBody>
                    <a:bodyPr/>
                    <a:lstStyle/>
                    <a:p>
                      <a:pPr algn="l">
                        <a:defRPr sz="750">
                          <a:solidFill>
                            <a:srgbClr val="1E242B"/>
                          </a:solidFill>
                          <a:latin typeface="Arial"/>
                        </a:defRPr>
                      </a:pPr>
                      <a:r>
                        <a:t>• Giảm 30,00 s/máy (20s thông mạch + 10s chịu áp)</a:t>
                      </a:r>
                      <a:br/>
                      <a:r>
                        <a:t>• Tiết kiệm: 29.600.000 VNĐ/năm (1.138,46 USD/năm)</a:t>
                      </a:r>
                    </a:p>
                  </a:txBody>
                  <a:tcPr anchor="ctr" marL="45720" marR="45720" marT="18288" marB="18288">
                    <a:solidFill>
                      <a:srgbClr val="EAF7EE"/>
                    </a:solidFill>
                  </a:tcPr>
                </a:tc>
                <a:tc>
                  <a:txBody>
                    <a:bodyPr/>
                    <a:lstStyle/>
                    <a:p>
                      <a:pPr algn="ctr">
                        <a:defRPr sz="750" b="1">
                          <a:solidFill>
                            <a:srgbClr val="1E6E3E"/>
                          </a:solidFill>
                          <a:latin typeface="Arial"/>
                        </a:defRPr>
                      </a:pPr>
                      <a:r>
                        <a:t>ĐÃ CÓ BÁO GIÁ:</a:t>
                      </a:r>
                      <a:br/>
                      <a:r>
                        <a:t>101.690.000 VNĐ</a:t>
                      </a:r>
                      <a:br/>
                      <a:r>
                        <a:t>(3.911,15 USD theo BOM 25 mục)</a:t>
                      </a:r>
                      <a:br/>
                      <a:r>
                        <a:t>[Thuyết minh: 101,7tr / 3.911,54$;</a:t>
                      </a:r>
                      <a:br/>
                      <a:r>
                        <a:t>纏め: 4.000 USD]</a:t>
                      </a:r>
                    </a:p>
                  </a:txBody>
                  <a:tcPr anchor="ctr" marL="45720" marR="45720" marT="18288" marB="18288">
                    <a:solidFill>
                      <a:srgbClr val="EAF7EE"/>
                    </a:solidFill>
                  </a:tcPr>
                </a:tc>
                <a:tc>
                  <a:txBody>
                    <a:bodyPr/>
                    <a:lstStyle/>
                    <a:p>
                      <a:pPr algn="l">
                        <a:defRPr sz="750">
                          <a:solidFill>
                            <a:srgbClr val="1E242B"/>
                          </a:solidFill>
                          <a:latin typeface="Arial"/>
                        </a:defRPr>
                      </a:pPr>
                      <a:r>
                        <a:t>Đề nghị phê duyệt đầu tư</a:t>
                      </a:r>
                      <a:br/>
                      <a:r>
                        <a:t>(Iris EXPのVN提案.xlsx;</a:t>
                      </a:r>
                      <a:br/>
                      <a:r>
                        <a:t>まとめ Row 36;</a:t>
                      </a:r>
                      <a:br/>
                      <a:r>
                        <a:t>DR 4.pdf)</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A-4 (No.23 ~ No.28) &amp; Dự toán chi tiết trong Iris EXPのVN提案.xlsx</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Dự toán trong Iris EXPのVN提案.xlsx gồm No.23 Robot Scan ISU (650 triệu VNĐ / 25.000 USD, -110s) và No.24 Robot USB/U201 (104 triệu VNĐ / 4.000 USD, -30s), song song với phương án đối ứng bổ sung DP (No.25) và Camera (No.27).</a:t>
            </a:r>
          </a:p>
        </p:txBody>
      </p:sp>
      <p:graphicFrame>
        <p:nvGraphicFramePr>
          <p:cNvPr id="7" name="Table 6"/>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br/>
                      <a:r>
                        <a:t>(Thuật ngữ gốc Nhật)</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 đối ứng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Phương án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thiết bị</a:t>
                      </a:r>
                      <a:br/>
                      <a:r>
                        <a:t>(Iris EXPのVN提案.xlsx)</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 / Nguồn đối chiếu</a:t>
                      </a:r>
                    </a:p>
                  </a:txBody>
                  <a:tcPr anchor="ctr" marL="45720" marR="45720" marT="18288" marB="18288">
                    <a:solidFill>
                      <a:srgbClr val="1B365D"/>
                    </a:solidFill>
                  </a:tcPr>
                </a:tc>
              </a:tr>
              <a:tr h="568234">
                <a:tc>
                  <a:txBody>
                    <a:bodyPr/>
                    <a:lstStyle/>
                    <a:p>
                      <a:pPr algn="ctr">
                        <a:defRPr sz="730" b="1">
                          <a:solidFill>
                            <a:srgbClr val="1E242B"/>
                          </a:solidFill>
                          <a:latin typeface="Arial"/>
                        </a:defRPr>
                      </a:pPr>
                      <a:r>
                        <a:t>No.23</a:t>
                      </a:r>
                      <a:br/>
                      <a:r>
                        <a:t>(K4 -&gt; A-4)</a:t>
                      </a:r>
                      <a:br/>
                      <a:r>
                        <a:t>[VN提案 #2]</a:t>
                      </a:r>
                    </a:p>
                  </a:txBody>
                  <a:tcPr anchor="ctr" marL="45720" marR="45720" marT="18288" marB="18288">
                    <a:solidFill>
                      <a:srgbClr val="EAF7EE"/>
                    </a:solidFill>
                  </a:tcPr>
                </a:tc>
                <a:tc>
                  <a:txBody>
                    <a:bodyPr/>
                    <a:lstStyle/>
                    <a:p>
                      <a:pPr algn="l">
                        <a:defRPr sz="730">
                          <a:solidFill>
                            <a:srgbClr val="1E242B"/>
                          </a:solidFill>
                          <a:latin typeface="Arial"/>
                        </a:defRPr>
                      </a:pPr>
                      <a:r>
                        <a:t>Chế tạo Robot đặt bản thảo lên ISU, liên kết Program tự động chỉnh</a:t>
                      </a:r>
                      <a:br/>
                      <a:r>
                        <a:t>(ISU原稿セットロボット＋プログラム連携)</a:t>
                      </a:r>
                    </a:p>
                  </a:txBody>
                  <a:tcPr anchor="ctr" marL="45720" marR="45720" marT="18288" marB="18288">
                    <a:solidFill>
                      <a:srgbClr val="EAF7EE"/>
                    </a:solidFill>
                  </a:tcPr>
                </a:tc>
                <a:tc>
                  <a:txBody>
                    <a:bodyPr/>
                    <a:lstStyle/>
                    <a:p>
                      <a:pPr algn="l">
                        <a:defRPr sz="730">
                          <a:solidFill>
                            <a:srgbClr val="1E242B"/>
                          </a:solidFill>
                          <a:latin typeface="Arial"/>
                        </a:defRPr>
                      </a:pPr>
                      <a:r>
                        <a:t>Người thao tác mở nắp Platen, đặt/lấy 3 bản thảo lên mặt kính ISU: U411 Scan chart color (45s) + Scan SITC-2 (35s) + Scan Halftone máy màu (30s) = 110s/máy.</a:t>
                      </a:r>
                    </a:p>
                  </a:txBody>
                  <a:tcPr anchor="ctr" marL="45720" marR="45720" marT="18288" marB="18288">
                    <a:solidFill>
                      <a:srgbClr val="EAF7EE"/>
                    </a:solidFill>
                  </a:tcPr>
                </a:tc>
                <a:tc>
                  <a:txBody>
                    <a:bodyPr/>
                    <a:lstStyle/>
                    <a:p>
                      <a:pPr algn="l">
                        <a:defRPr sz="730">
                          <a:solidFill>
                            <a:srgbClr val="1E242B"/>
                          </a:solidFill>
                          <a:latin typeface="Arial"/>
                        </a:defRPr>
                      </a:pPr>
                      <a:r>
                        <a:t>Dự toán tại Sheet 自動Scan tự động (4 mục): (1) Bổ sung 2 Cell vào băng tải: 200tr ($7.692,31) + (2) Bộ cấp nguồn máy in: 50tr ($1.923,08) + (3) Bộ định vị dây USB/LAN: 50tr ($1.923,08) + (4) Cánh tay Robot: 350tr ($13.461,54). Cần cải tiến Program 7910 (sau DR4 đề xuất thêm phương án DP No.25).</a:t>
                      </a:r>
                    </a:p>
                  </a:txBody>
                  <a:tcPr anchor="ctr" marL="45720" marR="45720" marT="18288" marB="18288">
                    <a:solidFill>
                      <a:srgbClr val="EAF7EE"/>
                    </a:solidFill>
                  </a:tcPr>
                </a:tc>
                <a:tc>
                  <a:txBody>
                    <a:bodyPr/>
                    <a:lstStyle/>
                    <a:p>
                      <a:pPr algn="l">
                        <a:defRPr sz="730">
                          <a:solidFill>
                            <a:srgbClr val="1E242B"/>
                          </a:solidFill>
                          <a:latin typeface="Arial"/>
                        </a:defRPr>
                      </a:pPr>
                      <a:r>
                        <a:t>• Giảm 110,00 s/máy (U411: 45s, SITC-2: 35s, Halftone: 30s)</a:t>
                      </a:r>
                      <a:br/>
                      <a:r>
                        <a:t>• Tiết kiệm: 108.533.333 VNĐ/năm (4.174,36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650.000.000 VNĐ</a:t>
                      </a:r>
                      <a:br/>
                      <a:r>
                        <a:t>(25.000,00 USD)</a:t>
                      </a:r>
                      <a:br/>
                      <a:r>
                        <a:t>[Sheet 自動Scan tự động]</a:t>
                      </a:r>
                    </a:p>
                  </a:txBody>
                  <a:tcPr anchor="ctr" marL="45720" marR="45720" marT="18288" marB="18288">
                    <a:solidFill>
                      <a:srgbClr val="EAF7EE"/>
                    </a:solidFill>
                  </a:tcPr>
                </a:tc>
                <a:tc>
                  <a:txBody>
                    <a:bodyPr/>
                    <a:lstStyle/>
                    <a:p>
                      <a:pPr algn="l">
                        <a:defRPr sz="730">
                          <a:solidFill>
                            <a:srgbClr val="1E242B"/>
                          </a:solidFill>
                          <a:latin typeface="Arial"/>
                        </a:defRPr>
                      </a:pPr>
                      <a:r>
                        <a:t>KTSX đã xác nhận giá TB; đối chiếu phương án DP No.25</a:t>
                      </a:r>
                      <a:br/>
                      <a:r>
                        <a:t>(VN提案.xlsx S1-S2;</a:t>
                      </a:r>
                      <a:br/>
                      <a:r>
                        <a:t>まとめ Row 37)</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No.24</a:t>
                      </a:r>
                      <a:br/>
                      <a:r>
                        <a:t>(K4 -&gt; A-2)</a:t>
                      </a:r>
                      <a:br/>
                      <a:r>
                        <a:t>[VN提案 #3]</a:t>
                      </a:r>
                    </a:p>
                  </a:txBody>
                  <a:tcPr anchor="ctr" marL="45720" marR="45720" marT="18288" marB="18288">
                    <a:solidFill>
                      <a:srgbClr val="EAF7EE"/>
                    </a:solidFill>
                  </a:tcPr>
                </a:tc>
                <a:tc>
                  <a:txBody>
                    <a:bodyPr/>
                    <a:lstStyle/>
                    <a:p>
                      <a:pPr algn="l">
                        <a:defRPr sz="730">
                          <a:solidFill>
                            <a:srgbClr val="1E242B"/>
                          </a:solidFill>
                          <a:latin typeface="Arial"/>
                        </a:defRPr>
                      </a:pPr>
                      <a:r>
                        <a:t>Robot kết nối USB, Camera đánh giá Panel &amp; Camera AI + Robot chấm tọa độ U201</a:t>
                      </a:r>
                      <a:br/>
                      <a:r>
                        <a:t>(USB接続・U201座標タッチロボット)</a:t>
                      </a:r>
                    </a:p>
                  </a:txBody>
                  <a:tcPr anchor="ctr" marL="45720" marR="45720" marT="18288" marB="18288">
                    <a:solidFill>
                      <a:srgbClr val="EAF7EE"/>
                    </a:solidFill>
                  </a:tcPr>
                </a:tc>
                <a:tc>
                  <a:txBody>
                    <a:bodyPr/>
                    <a:lstStyle/>
                    <a:p>
                      <a:pPr algn="l">
                        <a:defRPr sz="730">
                          <a:solidFill>
                            <a:srgbClr val="1E242B"/>
                          </a:solidFill>
                          <a:latin typeface="Arial"/>
                        </a:defRPr>
                      </a:pPr>
                      <a:r>
                        <a:t>Người thao tác cắm/rút USB kiểm tra nhận biết (15s) và dùng bút chấm tọa độ U201 trên Panel (15s) = 30s/máy.</a:t>
                      </a:r>
                    </a:p>
                  </a:txBody>
                  <a:tcPr anchor="ctr" marL="45720" marR="45720" marT="18288" marB="18288">
                    <a:solidFill>
                      <a:srgbClr val="EAF7EE"/>
                    </a:solidFill>
                  </a:tcPr>
                </a:tc>
                <a:tc>
                  <a:txBody>
                    <a:bodyPr/>
                    <a:lstStyle/>
                    <a:p>
                      <a:pPr algn="l">
                        <a:defRPr sz="730">
                          <a:solidFill>
                            <a:srgbClr val="1E242B"/>
                          </a:solidFill>
                          <a:latin typeface="Arial"/>
                        </a:defRPr>
                      </a:pPr>
                      <a:r>
                        <a:t>Theo Sheet 纏め Row 6-7: Trang bị Robot kết nối USB + Camera đánh giá hiển thị Panel (15s) và Camera AI cảm biến tọa độ + Robot chấm tọa độ trên Panel (15s). (Phương án thay thế không dùng Robot tại 連携会: bảo chứng USB khi nạp FW [JP No.6] &amp; đọc log U201 qua Host PC [JP No.3]).</a:t>
                      </a:r>
                    </a:p>
                  </a:txBody>
                  <a:tcPr anchor="ctr" marL="45720" marR="45720" marT="18288" marB="18288">
                    <a:solidFill>
                      <a:srgbClr val="EAF7EE"/>
                    </a:solidFill>
                  </a:tcPr>
                </a:tc>
                <a:tc>
                  <a:txBody>
                    <a:bodyPr/>
                    <a:lstStyle/>
                    <a:p>
                      <a:pPr algn="l">
                        <a:defRPr sz="730">
                          <a:solidFill>
                            <a:srgbClr val="1E242B"/>
                          </a:solidFill>
                          <a:latin typeface="Arial"/>
                        </a:defRPr>
                      </a:pPr>
                      <a:r>
                        <a:t>• Giảm 30,00 s/máy (No.1と同等の効果)</a:t>
                      </a:r>
                      <a:br/>
                      <a:r>
                        <a:t>• Tiết kiệm: 29.600.000 VNĐ/năm (1.138,46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104.000.000 VNĐ</a:t>
                      </a:r>
                      <a:br/>
                      <a:r>
                        <a:t>(4.000,00 USD)</a:t>
                      </a:r>
                      <a:br/>
                      <a:r>
                        <a:t>[Sheet 纏め Row 6]</a:t>
                      </a:r>
                    </a:p>
                  </a:txBody>
                  <a:tcPr anchor="ctr" marL="45720" marR="45720" marT="18288" marB="18288">
                    <a:solidFill>
                      <a:srgbClr val="EAF7EE"/>
                    </a:solidFill>
                  </a:tcPr>
                </a:tc>
                <a:tc>
                  <a:txBody>
                    <a:bodyPr/>
                    <a:lstStyle/>
                    <a:p>
                      <a:pPr algn="l">
                        <a:defRPr sz="730">
                          <a:solidFill>
                            <a:srgbClr val="1E242B"/>
                          </a:solidFill>
                          <a:latin typeface="Arial"/>
                        </a:defRPr>
                      </a:pPr>
                      <a:r>
                        <a:t>Đã có giá trong VN提案; đối chiếu JP No.3 &amp; No.6</a:t>
                      </a:r>
                      <a:br/>
                      <a:r>
                        <a:t>(VN提案.xlsx S1;</a:t>
                      </a:r>
                      <a:br/>
                      <a:r>
                        <a:t>まとめ Row 38)</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No.25</a:t>
                      </a:r>
                      <a:br/>
                      <a:r>
                        <a:t>(K4/K5 -&gt; A-4)</a:t>
                      </a:r>
                      <a:br/>
                      <a:r>
                        <a:t>[VN提案 #4]</a:t>
                      </a:r>
                    </a:p>
                  </a:txBody>
                  <a:tcPr anchor="ctr" marL="45720" marR="45720" marT="18288" marB="18288">
                    <a:solidFill>
                      <a:srgbClr val="E8EEF5"/>
                    </a:solidFill>
                  </a:tcPr>
                </a:tc>
                <a:tc>
                  <a:txBody>
                    <a:bodyPr/>
                    <a:lstStyle/>
                    <a:p>
                      <a:pPr algn="l">
                        <a:defRPr sz="730">
                          <a:solidFill>
                            <a:srgbClr val="1E242B"/>
                          </a:solidFill>
                          <a:latin typeface="Arial"/>
                        </a:defRPr>
                      </a:pPr>
                      <a:r>
                        <a:t>Bổ sung DP vào máy thực nghiệm để quét liên tục &amp; PC tự động đánh giá</a:t>
                      </a:r>
                      <a:br/>
                      <a:r>
                        <a:t>(実機にDPを追加し連続スキャン＋PC自動判定)</a:t>
                      </a:r>
                    </a:p>
                  </a:txBody>
                  <a:tcPr anchor="ctr" marL="45720" marR="45720" marT="18288" marB="18288">
                    <a:solidFill>
                      <a:srgbClr val="E8EEF5"/>
                    </a:solidFill>
                  </a:tcPr>
                </a:tc>
                <a:tc>
                  <a:txBody>
                    <a:bodyPr/>
                    <a:lstStyle/>
                    <a:p>
                      <a:pPr algn="l">
                        <a:defRPr sz="730">
                          <a:solidFill>
                            <a:srgbClr val="1E242B"/>
                          </a:solidFill>
                          <a:latin typeface="Arial"/>
                        </a:defRPr>
                      </a:pPr>
                      <a:r>
                        <a:t>Đặt từng tờ bản thảo lên mặt kính ISU thủ công (110s) và đặt giấy kiểm tra hình ảnh qua 8 bước K5 (RCG Ledger 20s, Scan RCG 20s, LSU SKEW 130s, Color Regist 60s, RCC 100s, U410 110s, Process 190s, Giấy dày 45s = 675s).</a:t>
                      </a:r>
                    </a:p>
                  </a:txBody>
                  <a:tcPr anchor="ctr" marL="45720" marR="45720" marT="18288" marB="18288">
                    <a:solidFill>
                      <a:srgbClr val="E8EEF5"/>
                    </a:solidFill>
                  </a:tcPr>
                </a:tc>
                <a:tc>
                  <a:txBody>
                    <a:bodyPr/>
                    <a:lstStyle/>
                    <a:p>
                      <a:pPr algn="l">
                        <a:defRPr sz="730">
                          <a:solidFill>
                            <a:srgbClr val="1E242B"/>
                          </a:solidFill>
                          <a:latin typeface="Arial"/>
                        </a:defRPr>
                      </a:pPr>
                      <a:r>
                        <a:t>Theo Sheet 纏め Row 8-15 &amp; まとめ Row 39: Lắp bổ sung bộ nạp bản gốc tự động DP vào máy thực nghiệm để chuyển hình ảnh liên tục (giảm thời kết nối/đặt ảnh) và gửi ảnh về PC tự động phán định OK/NG thay cho Robot ISU.</a:t>
                      </a:r>
                    </a:p>
                  </a:txBody>
                  <a:tcPr anchor="ctr" marL="45720" marR="45720" marT="18288" marB="18288">
                    <a:solidFill>
                      <a:srgbClr val="E8EEF5"/>
                    </a:solidFill>
                  </a:tcPr>
                </a:tc>
                <a:tc>
                  <a:txBody>
                    <a:bodyPr/>
                    <a:lstStyle/>
                    <a:p>
                      <a:pPr algn="l">
                        <a:defRPr sz="730">
                          <a:solidFill>
                            <a:srgbClr val="1E242B"/>
                          </a:solidFill>
                          <a:latin typeface="Arial"/>
                        </a:defRPr>
                      </a:pPr>
                      <a:r>
                        <a:t>• Giảm 110,00 s/máy đặt bản thảo (và rút ngắn cụm 675s kiểm tra hình ảnh)</a:t>
                      </a:r>
                      <a:br/>
                      <a:r>
                        <a:t>• Không cần mở rộng 2 cell băng tải</a:t>
                      </a:r>
                    </a:p>
                  </a:txBody>
                  <a:tcPr anchor="ctr" marL="45720" marR="45720" marT="18288" marB="18288">
                    <a:solidFill>
                      <a:srgbClr val="E8EEF5"/>
                    </a:solidFill>
                  </a:tcPr>
                </a:tc>
                <a:tc>
                  <a:txBody>
                    <a:bodyPr/>
                    <a:lstStyle/>
                    <a:p>
                      <a:pPr algn="ctr">
                        <a:defRPr sz="730">
                          <a:solidFill>
                            <a:srgbClr val="1E242B"/>
                          </a:solidFill>
                          <a:latin typeface="Arial"/>
                        </a:defRPr>
                      </a:pPr>
                      <a:r>
                        <a:t>Đang xem xét /</a:t>
                      </a:r>
                      <a:br/>
                      <a:r>
                        <a:t>Đang báo giá</a:t>
                      </a:r>
                      <a:br/>
                      <a:r>
                        <a:t>(検討中 / 見積中)</a:t>
                      </a:r>
                      <a:br/>
                      <a:r>
                        <a:t>[Sheet 纏め Row 8]</a:t>
                      </a:r>
                    </a:p>
                  </a:txBody>
                  <a:tcPr anchor="ctr" marL="45720" marR="45720" marT="18288" marB="18288">
                    <a:solidFill>
                      <a:srgbClr val="E8EEF5"/>
                    </a:solidFill>
                  </a:tcPr>
                </a:tc>
                <a:tc>
                  <a:txBody>
                    <a:bodyPr/>
                    <a:lstStyle/>
                    <a:p>
                      <a:pPr algn="l">
                        <a:defRPr sz="730">
                          <a:solidFill>
                            <a:srgbClr val="1E242B"/>
                          </a:solidFill>
                          <a:latin typeface="Arial"/>
                        </a:defRPr>
                      </a:pPr>
                      <a:r>
                        <a:t>Đang kiểm chứng độ chính xác DP vs ISU</a:t>
                      </a:r>
                      <a:br/>
                      <a:r>
                        <a:t>(VN提案.xlsx S1;</a:t>
                      </a:r>
                      <a:br/>
                      <a:r>
                        <a:t>まとめ Row 39;</a:t>
                      </a:r>
                      <a:br/>
                      <a:r>
                        <a:t>第13回~17回)</a:t>
                      </a:r>
                    </a:p>
                  </a:txBody>
                  <a:tcPr anchor="ctr" marL="45720" marR="45720" marT="18288" marB="18288">
                    <a:solidFill>
                      <a:srgbClr val="E8EEF5"/>
                    </a:solidFill>
                  </a:tcPr>
                </a:tc>
              </a:tr>
              <a:tr h="568234">
                <a:tc>
                  <a:txBody>
                    <a:bodyPr/>
                    <a:lstStyle/>
                    <a:p>
                      <a:pPr algn="ctr">
                        <a:defRPr sz="730" b="1">
                          <a:solidFill>
                            <a:srgbClr val="1E242B"/>
                          </a:solidFill>
                          <a:latin typeface="Arial"/>
                        </a:defRPr>
                      </a:pPr>
                      <a:r>
                        <a:t>No.26</a:t>
                      </a:r>
                      <a:br/>
                      <a:r>
                        <a:t>(K6 -&gt; A-3)</a:t>
                      </a:r>
                      <a:br/>
                      <a:r>
                        <a:t>[DÀI HẠN]</a:t>
                      </a:r>
                    </a:p>
                  </a:txBody>
                  <a:tcPr anchor="ctr" marL="45720" marR="45720" marT="18288" marB="18288">
                    <a:solidFill>
                      <a:srgbClr val="FEF7E6"/>
                    </a:solidFill>
                  </a:tcPr>
                </a:tc>
                <a:tc>
                  <a:txBody>
                    <a:bodyPr/>
                    <a:lstStyle/>
                    <a:p>
                      <a:pPr algn="l">
                        <a:defRPr sz="73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30">
                          <a:solidFill>
                            <a:srgbClr val="1E242B"/>
                          </a:solidFill>
                          <a:latin typeface="Arial"/>
                        </a:defRPr>
                      </a:pPr>
                      <a:r>
                        <a:t>Người thao tác nghe âm thanh lạ bằng tai trong buồng cách âm (Fuser, FAN, Operation, MPF/DU = 40s tại K6).</a:t>
                      </a:r>
                    </a:p>
                  </a:txBody>
                  <a:tcPr anchor="ctr" marL="45720" marR="45720" marT="18288" marB="18288">
                    <a:solidFill>
                      <a:srgbClr val="FEF7E6"/>
                    </a:solidFill>
                  </a:tcPr>
                </a:tc>
                <a:tc>
                  <a:txBody>
                    <a:bodyPr/>
                    <a:lstStyle/>
                    <a:p>
                      <a:pPr algn="l">
                        <a:defRPr sz="73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3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30">
                          <a:solidFill>
                            <a:srgbClr val="1E242B"/>
                          </a:solidFill>
                          <a:latin typeface="Arial"/>
                        </a:defRPr>
                      </a:pPr>
                      <a:r>
                        <a:t>600 vạn JPY</a:t>
                      </a:r>
                      <a:br/>
                      <a:r>
                        <a:t>(~40.000 USD)</a:t>
                      </a:r>
                      <a:br/>
                      <a:r>
                        <a:t>[Nghiên cứu dài hạn 2026-2030]</a:t>
                      </a:r>
                    </a:p>
                  </a:txBody>
                  <a:tcPr anchor="ctr" marL="45720" marR="45720" marT="18288" marB="18288">
                    <a:solidFill>
                      <a:srgbClr val="FEF7E6"/>
                    </a:solidFill>
                  </a:tcPr>
                </a:tc>
                <a:tc>
                  <a:txBody>
                    <a:bodyPr/>
                    <a:lstStyle/>
                    <a:p>
                      <a:pPr algn="l">
                        <a:defRPr sz="730">
                          <a:solidFill>
                            <a:srgbClr val="1E242B"/>
                          </a:solidFill>
                          <a:latin typeface="Arial"/>
                        </a:defRPr>
                      </a:pPr>
                      <a:r>
                        <a:t>Chuyển đề tài R&amp;D 2026-2030</a:t>
                      </a:r>
                      <a:br/>
                      <a:r>
                        <a:t>(検討資料 S8;</a:t>
                      </a:r>
                      <a:br/>
                      <a:r>
                        <a:t>まとめ Row 40)</a:t>
                      </a:r>
                    </a:p>
                  </a:txBody>
                  <a:tcPr anchor="ctr" marL="45720" marR="45720" marT="18288" marB="18288">
                    <a:solidFill>
                      <a:srgbClr val="FEF7E6"/>
                    </a:solidFill>
                  </a:tcPr>
                </a:tc>
              </a:tr>
              <a:tr h="568234">
                <a:tc>
                  <a:txBody>
                    <a:bodyPr/>
                    <a:lstStyle/>
                    <a:p>
                      <a:pPr algn="ctr">
                        <a:defRPr sz="730" b="1">
                          <a:solidFill>
                            <a:srgbClr val="1E242B"/>
                          </a:solidFill>
                          <a:latin typeface="Arial"/>
                        </a:defRPr>
                      </a:pPr>
                      <a:r>
                        <a:t>No.27</a:t>
                      </a:r>
                      <a:br/>
                      <a:r>
                        <a:t>(K6, K7 -&gt; A-4)</a:t>
                      </a:r>
                      <a:br/>
                      <a:r>
                        <a:t>[TRỌNG TÂM]</a:t>
                      </a:r>
                    </a:p>
                  </a:txBody>
                  <a:tcPr anchor="ctr" marL="45720" marR="45720" marT="18288" marB="18288">
                    <a:solidFill>
                      <a:srgbClr val="EAF7EE"/>
                    </a:solidFill>
                  </a:tcPr>
                </a:tc>
                <a:tc>
                  <a:txBody>
                    <a:bodyPr/>
                    <a:lstStyle/>
                    <a:p>
                      <a:pPr algn="l">
                        <a:defRPr sz="730">
                          <a:solidFill>
                            <a:srgbClr val="1E242B"/>
                          </a:solidFill>
                          <a:latin typeface="Arial"/>
                        </a:defRPr>
                      </a:pPr>
                      <a:r>
                        <a:t>Sử dụng Camera HIKROBOT đo nồng độ, đo lề, kiểm tra PPT &amp; đánh giá ảnh</a:t>
                      </a:r>
                      <a:br/>
                      <a:r>
                        <a:t>(カメラによる濃度・マージン・PPT・画像総合検査)</a:t>
                      </a:r>
                    </a:p>
                  </a:txBody>
                  <a:tcPr anchor="ctr" marL="45720" marR="45720" marT="18288" marB="18288">
                    <a:solidFill>
                      <a:srgbClr val="EAF7EE"/>
                    </a:solidFill>
                  </a:tcPr>
                </a:tc>
                <a:tc>
                  <a:txBody>
                    <a:bodyPr/>
                    <a:lstStyle/>
                    <a:p>
                      <a:pPr algn="l">
                        <a:defRPr sz="73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30">
                          <a:solidFill>
                            <a:srgbClr val="1E242B"/>
                          </a:solidFill>
                          <a:latin typeface="Arial"/>
                        </a:defRPr>
                      </a:pPr>
                      <a:r>
                        <a:t>Dùng hệ thống Camera công nghiệp HIKROBOT phân tích ảnh tự động: Thời gian đo nồng độ 3 tờ giảm từ 192s xuống còn 15s (5s/tờ -&gt; giảm 177s/máy); tích hợp tự động đo lề (-28s) và kiểm tra PPT (-10s).</a:t>
                      </a:r>
                    </a:p>
                  </a:txBody>
                  <a:tcPr anchor="ctr" marL="45720" marR="45720" marT="18288" marB="18288">
                    <a:solidFill>
                      <a:srgbClr val="EAF7EE"/>
                    </a:solidFill>
                  </a:tcPr>
                </a:tc>
                <a:tc>
                  <a:txBody>
                    <a:bodyPr/>
                    <a:lstStyle/>
                    <a:p>
                      <a:pPr algn="l">
                        <a:defRPr sz="73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thiết kế / thử nghiệm Camera</a:t>
                      </a:r>
                      <a:br/>
                      <a:r>
                        <a:t>(DSLK Sheet 5;</a:t>
                      </a:r>
                      <a:br/>
                      <a:r>
                        <a:t>まとめ Row 41)</a:t>
                      </a:r>
                    </a:p>
                  </a:txBody>
                  <a:tcPr anchor="ctr" marL="45720" marR="45720" marT="18288" marB="18288">
                    <a:solidFill>
                      <a:srgbClr val="EAF7EE"/>
                    </a:solidFill>
                  </a:tcPr>
                </a:tc>
              </a:tr>
              <a:tr h="568235">
                <a:tc>
                  <a:txBody>
                    <a:bodyPr/>
                    <a:lstStyle/>
                    <a:p>
                      <a:pPr algn="ctr">
                        <a:defRPr sz="730" b="1">
                          <a:solidFill>
                            <a:srgbClr val="1E242B"/>
                          </a:solidFill>
                          <a:latin typeface="Arial"/>
                        </a:defRPr>
                      </a:pPr>
                      <a:r>
                        <a:t>No.28</a:t>
                      </a:r>
                      <a:br/>
                      <a:r>
                        <a:t>(K8 -&gt; A-4)</a:t>
                      </a:r>
                      <a:br/>
                      <a:r>
                        <a:t>[TRỌNG TÂM]</a:t>
                      </a:r>
                    </a:p>
                  </a:txBody>
                  <a:tcPr anchor="ctr" marL="45720" marR="45720" marT="18288" marB="18288">
                    <a:solidFill>
                      <a:srgbClr val="EAF7EE"/>
                    </a:solidFill>
                  </a:tcPr>
                </a:tc>
                <a:tc>
                  <a:txBody>
                    <a:bodyPr/>
                    <a:lstStyle/>
                    <a:p>
                      <a:pPr algn="l">
                        <a:defRPr sz="730">
                          <a:solidFill>
                            <a:srgbClr val="1E242B"/>
                          </a:solidFill>
                          <a:latin typeface="Arial"/>
                        </a:defRPr>
                      </a:pPr>
                      <a:r>
                        <a:t>Tự động hóa thiết lập xuất hàng qua mạng &amp; AI phân tích video thao tác</a:t>
                      </a:r>
                      <a:br/>
                      <a:r>
                        <a:t>(出荷設定自動化 / 作業動作AI動画解析)</a:t>
                      </a:r>
                    </a:p>
                  </a:txBody>
                  <a:tcPr anchor="ctr" marL="45720" marR="45720" marT="18288" marB="18288">
                    <a:solidFill>
                      <a:srgbClr val="EAF7EE"/>
                    </a:solidFill>
                  </a:tcPr>
                </a:tc>
                <a:tc>
                  <a:txBody>
                    <a:bodyPr/>
                    <a:lstStyle/>
                    <a:p>
                      <a:pPr algn="l">
                        <a:defRPr sz="730">
                          <a:solidFill>
                            <a:srgbClr val="1E242B"/>
                          </a:solidFill>
                          <a:latin typeface="Arial"/>
                        </a:defRPr>
                      </a:pPr>
                      <a:r>
                        <a:t>Người thao tác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30">
                          <a:solidFill>
                            <a:srgbClr val="1E242B"/>
                          </a:solidFill>
                          <a:latin typeface="Arial"/>
                        </a:defRPr>
                      </a:pPr>
                      <a:r>
                        <a:t>Tự động gửi lệnh thiết lập xuất hàng (FinalSetup) từ Host PC / Mini PC qua mạng nội bộ (-50s tại K8); kết hợp quay video phân tích quá trình làm việc của người thao tác bằng AI để bóc tách thời gian chờ.</a:t>
                      </a:r>
                    </a:p>
                  </a:txBody>
                  <a:tcPr anchor="ctr" marL="45720" marR="45720" marT="18288" marB="18288">
                    <a:solidFill>
                      <a:srgbClr val="EAF7EE"/>
                    </a:solidFill>
                  </a:tcPr>
                </a:tc>
                <a:tc>
                  <a:txBody>
                    <a:bodyPr/>
                    <a:lstStyle/>
                    <a:p>
                      <a:pPr algn="l">
                        <a:defRPr sz="73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tích hợp vào Host PC / Mini PC</a:t>
                      </a:r>
                      <a:br/>
                      <a:r>
                        <a:t>(IrisEXP報告 S3;</a:t>
                      </a:r>
                      <a:br/>
                      <a:r>
                        <a:t>まとめ Row 42)</a:t>
                      </a:r>
                    </a:p>
                  </a:txBody>
                  <a:tcPr anchor="ctr" marL="45720" marR="45720" marT="18288" marB="18288">
                    <a:solidFill>
                      <a:srgbClr val="EAF7EE"/>
                    </a:solidFill>
                  </a:tcPr>
                </a:tc>
              </a:tr>
            </a:tbl>
          </a:graphicData>
        </a:graphic>
      </p:graphicFrame>
      <p:sp>
        <p:nvSpPr>
          <p:cNvPr id="8" name="Rectangle 7"/>
          <p:cNvSpPr/>
          <p:nvPr/>
        </p:nvSpPr>
        <p:spPr>
          <a:xfrm>
            <a:off x="274320" y="5303520"/>
            <a:ext cx="11643055" cy="118872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303520"/>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TỔNG HỢP KINH PHÍ &amp; HIỆU QUẢ 3 ĐỀ ÁN CÓ BÁO GIÁ TRONG FILE IRIS EXPのVN提案.xlsx (TỶ GIÁ 26.000 VNĐ/USD)</a:t>
            </a:r>
          </a:p>
        </p:txBody>
      </p:sp>
      <p:sp>
        <p:nvSpPr>
          <p:cNvPr id="10" name="TextBox 9"/>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790">
                <a:solidFill>
                  <a:srgbClr val="1E242B"/>
                </a:solidFill>
                <a:latin typeface="Arial"/>
              </a:defRPr>
            </a:pPr>
            <a:r>
              <a:t>• Tổng hợp 3 đề án có báo giá trong Iris EXPのVN提案.xlsx: (1) Đề án 1 [No.22 - Đo thông mạch &amp; chịu áp tự động]: 101.690.000 VNĐ / 3.911,15 USD (BOM 25 mục; thuyết minh: 101.700.000 VNĐ / 3.911,54 USD; 纏め: 4.000 USD), giảm 30s, tiết kiệm 29.600.000 VNĐ/năm ($1.138,46/năm)  |  (2) Đề án 2 [No.23 - Robot đặt bản thảo ISU]: 650.000.000 VNĐ / 25.000 USD (U411 45s = 44,4tr/năm + SITC-2 35s = 34,53tr/năm + Halftone 30s = 29,6tr/năm), giảm 110s, tiết kiệm 108.533.333 VNĐ/năm ($4.174,36/năm)  |  (3) Đề án 3 [No.24 - Robot USB &amp; U201]: 104.000.000 VNĐ / 4.000 USD, giảm 30s, tiết kiệm 29.600.000 VNĐ/năm ($1.138,46/năm).</a:t>
            </a:r>
          </a:p>
          <a:p>
            <a:pPr>
              <a:spcAft>
                <a:spcPts val="200"/>
              </a:spcAft>
              <a:defRPr sz="790">
                <a:solidFill>
                  <a:srgbClr val="1E242B"/>
                </a:solidFill>
                <a:latin typeface="Arial"/>
              </a:defRPr>
            </a:pPr>
            <a:r>
              <a:t>• Tổng cộng cả 3 đề án (No.22 + No.23 + No.24): Kinh phí = 855.690.000 VNĐ (32.911,15 USD theo BOM) [hoặc 855.700.000 VNĐ / 32.911,54 USD theo thuyết minh; 858.000.000 VNĐ / 33.000 USD theo bảng 纏め]; Tổng thời gian giảm = 170s/máy; Tổng tiết kiệm nhân công = 167.733.333 VNĐ/năm (6.451,28 USD/năm). Nếu thay No.23 &amp; No.24 bằng Quét DP (No.25) và Host PC (JP No.3, 6) theo thảo luận tại DR4/連携会 thì chỉ cần duyệt trước No.22 là 101.690.000 VNĐ (3.911,15 USD).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thực hiện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9 đề án bổ sung (No.29~37) gồm 6 kiến nghị sửa mạch/FW (0 đồng TB tại xưởng) và 3 đề án thiết bị đang báo giá; tháng 10/2026 đã xóa 4 bước thao tác trên bảng công đoạn, giảm thực tế 4,32s/máy.</a:t>
            </a:r>
          </a:p>
        </p:txBody>
      </p:sp>
      <p:graphicFrame>
        <p:nvGraphicFramePr>
          <p:cNvPr id="7" name="Table 6"/>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br/>
                      <a:r>
                        <a:t>(IrisEXP VN改善案LIST)</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&amp;</a:t>
                      </a:r>
                      <a:br/>
                      <a:r>
                        <a:t>Trạng thái giá</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 /</a:t>
                      </a:r>
                      <a:br/>
                      <a:r>
                        <a:t>Nguồn đối chiếu</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(K1 -&gt;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br/>
                      <a:r>
                        <a:t>(VN改善案LIST R14;</a:t>
                      </a:r>
                      <a:br/>
                      <a:r>
                        <a:t>まとめ Row 43)</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(K1 -&gt;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-&gt;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 Row 16, 44)</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(K2 -&gt;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Người thao tác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R16;</a:t>
                      </a:r>
                      <a:br/>
                      <a:r>
                        <a:t>まとめ Row 45)</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(K2 -&gt;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br/>
                      <a:r>
                        <a:t>(VN改善案LIST R17;</a:t>
                      </a:r>
                      <a:br/>
                      <a:r>
                        <a:t>まとめ Row 46)</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Người thao tác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Tránh ngắt quãng chu trình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br/>
                      <a:r>
                        <a:t>(まとめ Row 47;</a:t>
                      </a:r>
                      <a:br/>
                      <a:r>
                        <a:t>DR議事録 R15-16)</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(K3 -&gt;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 (R187-231;</a:t>
                      </a:r>
                      <a:br/>
                      <a:r>
                        <a:t>まとめ Row 48)</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Người thao tác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các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br/>
                      <a:r>
                        <a:t>(VN改善案LIST R20;</a:t>
                      </a:r>
                      <a:br/>
                      <a:r>
                        <a:t>まとめ Row 49)</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(K4 -&gt;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Người thao tác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br/>
                      <a:r>
                        <a:t>(まとめ Row 18, 50)</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(K4 -&gt;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người thao tác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-&gt;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&gt;=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br/>
                      <a:r>
                        <a:t>(まとめ Row 22, 51)</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x 2 = 1,44s) và nhìn xác nhận cảnh báo Toner xuất hiện rồi tắt (1,44s x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xóa 4 bước này trong file T10/IrisEXP 工程 (更新中).xlsx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(BM-003-F 10月 R18, R32; 作業確実)</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38 đề án (JP: 7 | CN: 11 | VN: 20); cột VN khớp với Phần 5: Tổng 3 đề án có báo giá trong Iris EXPのVN提案.xlsx là 855.690.000 VNĐ (32.911,15 USD / làm tròn 33.000 USD); riêng No.22 là 101.690.000 VNĐ.</a:t>
            </a:r>
          </a:p>
        </p:txBody>
      </p:sp>
      <p:graphicFrame>
        <p:nvGraphicFramePr>
          <p:cNvPr id="7" name="Table 6"/>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 đối chiếu</a:t>
                      </a:r>
                    </a:p>
                  </a:txBody>
                  <a:tcPr anchor="ctr" marL="36576" marR="36576" marT="9144" marB="9144">
                    <a:solidFill>
                      <a:srgbClr val="1B365D"/>
                    </a:solidFill>
                  </a:tcPr>
                </a:tc>
                <a:tc>
                  <a:txBody>
                    <a:bodyPr/>
                    <a:lstStyle/>
                    <a:p>
                      <a:pPr algn="ctr">
                        <a:defRPr sz="680" b="1">
                          <a:solidFill>
                            <a:srgbClr val="FFFFFF"/>
                          </a:solidFill>
                          <a:latin typeface="Arial"/>
                        </a:defRPr>
                      </a:pPr>
                      <a:r>
                        <a:t>Cứ điểm Nhật Bản</a:t>
                      </a:r>
                      <a:br/>
                      <a:r>
                        <a:t>(JP: Thiết kế &amp; PE)</a:t>
                      </a:r>
                    </a:p>
                  </a:txBody>
                  <a:tcPr anchor="ctr" marL="36576" marR="36576" marT="9144" marB="9144">
                    <a:solidFill>
                      <a:srgbClr val="1B365D"/>
                    </a:solidFill>
                  </a:tcPr>
                </a:tc>
                <a:tc>
                  <a:txBody>
                    <a:bodyPr/>
                    <a:lstStyle/>
                    <a:p>
                      <a:pPr algn="ctr">
                        <a:defRPr sz="680" b="1">
                          <a:solidFill>
                            <a:srgbClr val="FFFFFF"/>
                          </a:solidFill>
                          <a:latin typeface="Arial"/>
                        </a:defRPr>
                      </a:pPr>
                      <a:r>
                        <a:t>Cứ điểm Trung Quốc</a:t>
                      </a:r>
                      <a:br/>
                      <a:r>
                        <a:t>(CN: Nhà máy CN)</a:t>
                      </a:r>
                    </a:p>
                  </a:txBody>
                  <a:tcPr anchor="ctr" marL="36576" marR="36576" marT="9144" marB="9144">
                    <a:solidFill>
                      <a:srgbClr val="1B365D"/>
                    </a:solidFill>
                  </a:tcPr>
                </a:tc>
                <a:tc>
                  <a:txBody>
                    <a:bodyPr/>
                    <a:lstStyle/>
                    <a:p>
                      <a:pPr algn="ctr">
                        <a:defRPr sz="680" b="1">
                          <a:solidFill>
                            <a:srgbClr val="FFFFFF"/>
                          </a:solidFill>
                          <a:latin typeface="Arial"/>
                        </a:defRPr>
                      </a:pPr>
                      <a:r>
                        <a:t>Cứ điểm Việt Nam (VN)</a:t>
                      </a:r>
                      <a:br/>
                      <a:r>
                        <a:t>[Theo số liệu Phần 5]</a:t>
                      </a:r>
                    </a:p>
                  </a:txBody>
                  <a:tcPr anchor="ctr" marL="36576" marR="36576" marT="9144" marB="9144">
                    <a:solidFill>
                      <a:srgbClr val="1B365D"/>
                    </a:solidFill>
                  </a:tcPr>
                </a:tc>
                <a:tc>
                  <a:txBody>
                    <a:bodyPr/>
                    <a:lstStyle/>
                    <a:p>
                      <a:pPr algn="ctr">
                        <a:defRPr sz="680" b="1">
                          <a:solidFill>
                            <a:srgbClr val="FFFFFF"/>
                          </a:solidFill>
                          <a:latin typeface="Arial"/>
                        </a:defRPr>
                      </a:pPr>
                      <a:r>
                        <a:t>Tổng hợp cả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Nguồn đối chiếu</a:t>
                      </a:r>
                      <a:br/>
                      <a:r>
                        <a:t>(File + Sheet/Slide)</a:t>
                      </a:r>
                    </a:p>
                  </a:txBody>
                  <a:tcPr anchor="ctr" marL="36576" marR="36576" marT="9144" marB="9144">
                    <a:solidFill>
                      <a:srgbClr val="1B365D"/>
                    </a:solidFill>
                  </a:tcPr>
                </a:tc>
              </a:tr>
              <a:tr h="386080">
                <a:tc>
                  <a:txBody>
                    <a:bodyPr/>
                    <a:lstStyle/>
                    <a:p>
                      <a:pPr algn="l">
                        <a:defRPr sz="580" b="1">
                          <a:solidFill>
                            <a:srgbClr val="1E242B"/>
                          </a:solidFill>
                          <a:latin typeface="Arial"/>
                        </a:defRPr>
                      </a:pPr>
                      <a:r>
                        <a:t>1. Số lượng đề án</a:t>
                      </a:r>
                      <a:br/>
                      <a:r>
                        <a:t>(Đối chiếu 3 mốc)</a:t>
                      </a:r>
                    </a:p>
                  </a:txBody>
                  <a:tcPr anchor="ctr" marL="36576" marR="36576" marT="9144" marB="9144">
                    <a:solidFill>
                      <a:srgbClr val="FFFFFF"/>
                    </a:solidFill>
                  </a:tcPr>
                </a:tc>
                <a:tc>
                  <a:txBody>
                    <a:bodyPr/>
                    <a:lstStyle/>
                    <a:p>
                      <a:pPr algn="l">
                        <a:defRPr sz="58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580">
                          <a:solidFill>
                            <a:srgbClr val="1E242B"/>
                          </a:solidFill>
                          <a:latin typeface="Arial"/>
                        </a:defRPr>
                      </a:pPr>
                      <a:r>
                        <a:t>• T8~T9: 10 đề án (No.8~17)</a:t>
                      </a:r>
                      <a:br/>
                      <a:r>
                        <a:t>• Bản mới nhất: 11 đề án (+No.38 AI WeChat) [List CN 11 dòng do tính U155]</a:t>
                      </a:r>
                    </a:p>
                  </a:txBody>
                  <a:tcPr anchor="ctr" marL="36576" marR="36576" marT="9144" marB="9144">
                    <a:solidFill>
                      <a:srgbClr val="FFFFFF"/>
                    </a:solidFill>
                  </a:tcPr>
                </a:tc>
                <a:tc>
                  <a:txBody>
                    <a:bodyPr/>
                    <a:lstStyle/>
                    <a:p>
                      <a:pPr algn="l">
                        <a:defRPr sz="580">
                          <a:solidFill>
                            <a:srgbClr val="1E242B"/>
                          </a:solidFill>
                          <a:latin typeface="Arial"/>
                        </a:defRPr>
                      </a:pPr>
                      <a:r>
                        <a:t>• T8: 11 đề án (No.18~28) + T9: 9 đề án (No.29~37) = 20 đề án VN (trong đó 3 đề án có giá tại VN提案.xlsx)</a:t>
                      </a:r>
                    </a:p>
                  </a:txBody>
                  <a:tcPr anchor="ctr" marL="36576" marR="36576" marT="9144" marB="9144">
                    <a:solidFill>
                      <a:srgbClr val="FFFFFF"/>
                    </a:solidFill>
                  </a:tcPr>
                </a:tc>
                <a:tc>
                  <a:txBody>
                    <a:bodyPr/>
                    <a:lstStyle/>
                    <a:p>
                      <a:pPr algn="l">
                        <a:defRPr sz="580">
                          <a:solidFill>
                            <a:srgbClr val="1E242B"/>
                          </a:solidFill>
                          <a:latin typeface="Arial"/>
                        </a:defRPr>
                      </a:pPr>
                      <a:r>
                        <a:t>• T8 (IrisEXP報告): 28 đề án</a:t>
                      </a:r>
                      <a:br/>
                      <a:r>
                        <a:t>• T9~T10 (BM-003-F): 37 đề án</a:t>
                      </a:r>
                      <a:br/>
                      <a:r>
                        <a:t>• Bản Master: 38 đề án (7+11+20)</a:t>
                      </a:r>
                    </a:p>
                  </a:txBody>
                  <a:tcPr anchor="ctr" marL="36576" marR="36576" marT="9144" marB="9144">
                    <a:solidFill>
                      <a:srgbClr val="FFFFFF"/>
                    </a:solidFill>
                  </a:tcPr>
                </a:tc>
                <a:tc>
                  <a:txBody>
                    <a:bodyPr/>
                    <a:lstStyle/>
                    <a:p>
                      <a:pPr algn="l">
                        <a:defRPr sz="580">
                          <a:solidFill>
                            <a:srgbClr val="1E242B"/>
                          </a:solidFill>
                          <a:latin typeface="Arial"/>
                        </a:defRPr>
                      </a:pPr>
                      <a:r>
                        <a:t>IrisEXP改善提案まとめ (R15~52);</a:t>
                      </a:r>
                      <a:br/>
                      <a:r>
                        <a:t>IrisEXP報告 S1</a:t>
                      </a:r>
                    </a:p>
                  </a:txBody>
                  <a:tcPr anchor="ctr" marL="36576" marR="36576" marT="9144" marB="9144">
                    <a:solidFill>
                      <a:srgbClr val="FFFFFF"/>
                    </a:solidFill>
                  </a:tcPr>
                </a:tc>
              </a:tr>
              <a:tr h="386080">
                <a:tc>
                  <a:txBody>
                    <a:bodyPr/>
                    <a:lstStyle/>
                    <a:p>
                      <a:pPr algn="l">
                        <a:defRPr sz="580" b="1">
                          <a:solidFill>
                            <a:srgbClr val="1E242B"/>
                          </a:solidFill>
                          <a:latin typeface="Arial"/>
                        </a:defRPr>
                      </a:pPr>
                      <a:r>
                        <a:t>2. Hiện trạng TG</a:t>
                      </a:r>
                      <a:br/>
                      <a:r>
                        <a:t>(Baseline Iris2024)</a:t>
                      </a:r>
                    </a:p>
                  </a:txBody>
                  <a:tcPr anchor="ctr" marL="36576" marR="36576" marT="9144" marB="9144">
                    <a:solidFill>
                      <a:srgbClr val="F7F9FC"/>
                    </a:solidFill>
                  </a:tcPr>
                </a:tc>
                <a:tc>
                  <a:txBody>
                    <a:bodyPr/>
                    <a:lstStyle/>
                    <a:p>
                      <a:pPr algn="l">
                        <a:defRPr sz="58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8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8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8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80">
                          <a:solidFill>
                            <a:srgbClr val="1E242B"/>
                          </a:solidFill>
                          <a:latin typeface="Arial"/>
                        </a:defRPr>
                      </a:pPr>
                      <a:r>
                        <a:t>IrisEXP 工程 3 (既存機との工数比較);</a:t>
                      </a:r>
                      <a:br/>
                      <a:r>
                        <a:t>DSLK Sheet 4, 5</a:t>
                      </a:r>
                    </a:p>
                  </a:txBody>
                  <a:tcPr anchor="ctr" marL="36576" marR="36576" marT="9144" marB="9144">
                    <a:solidFill>
                      <a:srgbClr val="F7F9FC"/>
                    </a:solidFill>
                  </a:tcPr>
                </a:tc>
              </a:tr>
              <a:tr h="386080">
                <a:tc>
                  <a:txBody>
                    <a:bodyPr/>
                    <a:lstStyle/>
                    <a:p>
                      <a:pPr algn="l">
                        <a:defRPr sz="58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80">
                          <a:solidFill>
                            <a:srgbClr val="1E242B"/>
                          </a:solidFill>
                          <a:latin typeface="Arial"/>
                        </a:defRPr>
                      </a:pPr>
                      <a:r>
                        <a:t>• Công thức 7 ĐA: -87,84s vs Iris2024 (-176,84s vs 改善無 -&gt; còn 1.083,86s Color)</a:t>
                      </a:r>
                      <a:br/>
                      <a:r>
                        <a:t>• Tổng bước 削 (147) + 削除確定 (6): -267,74s Color / -263,06s Mono</a:t>
                      </a:r>
                    </a:p>
                  </a:txBody>
                  <a:tcPr anchor="ctr" marL="36576" marR="36576" marT="9144" marB="9144">
                    <a:solidFill>
                      <a:srgbClr val="FFFFFF"/>
                    </a:solidFill>
                  </a:tcPr>
                </a:tc>
                <a:tc>
                  <a:txBody>
                    <a:bodyPr/>
                    <a:lstStyle/>
                    <a:p>
                      <a:pPr algn="l">
                        <a:defRPr sz="580">
                          <a:solidFill>
                            <a:srgbClr val="1E242B"/>
                          </a:solidFill>
                          <a:latin typeface="Arial"/>
                        </a:defRPr>
                      </a:pPr>
                      <a:r>
                        <a:t>• Tổng 10 dòng có số giây trong list CN: -178,56 s/máy thao tác</a:t>
                      </a:r>
                      <a:br/>
                      <a:r>
                        <a:t>• No.13: Rút ngắn chờ in -110s (230s-&gt;120s); No.38: AI WeChat</a:t>
                      </a:r>
                    </a:p>
                  </a:txBody>
                  <a:tcPr anchor="ctr" marL="36576" marR="36576" marT="9144" marB="9144">
                    <a:solidFill>
                      <a:srgbClr val="FFFFFF"/>
                    </a:solidFill>
                  </a:tcPr>
                </a:tc>
                <a:tc>
                  <a:txBody>
                    <a:bodyPr/>
                    <a:lstStyle/>
                    <a:p>
                      <a:pPr algn="l">
                        <a:defRPr sz="580">
                          <a:solidFill>
                            <a:srgbClr val="1E242B"/>
                          </a:solidFill>
                          <a:latin typeface="Arial"/>
                        </a:defRPr>
                      </a:pPr>
                      <a:r>
                        <a:t>• 3 ĐA trong VN提案.xlsx: -170s (No.22: -30s, No.23: -110s, No.24: -30s)</a:t>
                      </a:r>
                      <a:br/>
                      <a:r>
                        <a:t>• Thực tích PDCA T10: -4,32s (0,18%)</a:t>
                      </a:r>
                      <a:br/>
                      <a:r>
                        <a:t>• Mục tiêu T3/2027: Giảm &gt;= 1.175,00s (&gt;=50%)</a:t>
                      </a:r>
                    </a:p>
                  </a:txBody>
                  <a:tcPr anchor="ctr" marL="36576" marR="36576" marT="9144" marB="9144">
                    <a:solidFill>
                      <a:srgbClr val="FFFFFF"/>
                    </a:solidFill>
                  </a:tcPr>
                </a:tc>
                <a:tc>
                  <a:txBody>
                    <a:bodyPr/>
                    <a:lstStyle/>
                    <a:p>
                      <a:pPr algn="l">
                        <a:defRPr sz="580">
                          <a:solidFill>
                            <a:srgbClr val="1E242B"/>
                          </a:solidFill>
                          <a:latin typeface="Arial"/>
                        </a:defRPr>
                      </a:pPr>
                      <a:r>
                        <a:t>• JP: -176,84s ~ -267,74s thao tác</a:t>
                      </a:r>
                      <a:br/>
                      <a:r>
                        <a:t>• CN: -178,56s thao tác + -110s in</a:t>
                      </a:r>
                      <a:br/>
                      <a:r>
                        <a:t>• VN: Mục tiêu -1.175,00s (&gt;=50%)</a:t>
                      </a:r>
                    </a:p>
                  </a:txBody>
                  <a:tcPr anchor="ctr" marL="36576" marR="36576" marT="9144" marB="9144">
                    <a:solidFill>
                      <a:srgbClr val="FFFFFF"/>
                    </a:solidFill>
                  </a:tcPr>
                </a:tc>
                <a:tc>
                  <a:txBody>
                    <a:bodyPr/>
                    <a:lstStyle/>
                    <a:p>
                      <a:pPr algn="l">
                        <a:defRPr sz="580">
                          <a:solidFill>
                            <a:srgbClr val="1E242B"/>
                          </a:solidFill>
                          <a:latin typeface="Arial"/>
                        </a:defRPr>
                      </a:pPr>
                      <a:r>
                        <a:t>IrisEXP 工程 3;</a:t>
                      </a:r>
                      <a:br/>
                      <a:r>
                        <a:t>cn改善案list;</a:t>
                      </a:r>
                      <a:br/>
                      <a:r>
                        <a:t>BM-003-F 10月</a:t>
                      </a:r>
                    </a:p>
                  </a:txBody>
                  <a:tcPr anchor="ctr" marL="36576" marR="36576" marT="9144" marB="9144">
                    <a:solidFill>
                      <a:srgbClr val="FFFFFF"/>
                    </a:solidFill>
                  </a:tcPr>
                </a:tc>
              </a:tr>
              <a:tr h="386080">
                <a:tc>
                  <a:txBody>
                    <a:bodyPr/>
                    <a:lstStyle/>
                    <a:p>
                      <a:pPr algn="l">
                        <a:defRPr sz="58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80">
                          <a:solidFill>
                            <a:srgbClr val="1E242B"/>
                          </a:solidFill>
                          <a:latin typeface="Arial"/>
                        </a:defRPr>
                      </a:pPr>
                      <a:r>
                        <a:t>• Tham chiếu Athena: 16 -&gt; 8 người (-50%); thiết kế JIG &amp; phần mềm Semifinal dùng chung</a:t>
                      </a:r>
                    </a:p>
                  </a:txBody>
                  <a:tcPr anchor="ctr" marL="36576" marR="36576" marT="9144" marB="9144">
                    <a:solidFill>
                      <a:srgbClr val="F7F9FC"/>
                    </a:solidFill>
                  </a:tcPr>
                </a:tc>
                <a:tc>
                  <a:txBody>
                    <a:bodyPr/>
                    <a:lstStyle/>
                    <a:p>
                      <a:pPr algn="l">
                        <a:defRPr sz="58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80">
                          <a:solidFill>
                            <a:srgbClr val="1E242B"/>
                          </a:solidFill>
                          <a:latin typeface="Arial"/>
                        </a:defRPr>
                      </a:pPr>
                      <a:r>
                        <a:t>• Hiện trạng Iris2024: 14 người (15 người ở Takt 114s DR4)</a:t>
                      </a:r>
                      <a:br/>
                      <a:r>
                        <a:t>• Sản lượng 16.000 máy/tháng (Takt 97s): Không cải tiến cần 18 người -&gt; Mục tiêu: 9 người; 3 ĐA VN提案 tiết kiệm 167,73tr/năm ($6.451/năm)</a:t>
                      </a:r>
                    </a:p>
                  </a:txBody>
                  <a:tcPr anchor="ctr" marL="36576" marR="36576" marT="9144" marB="9144">
                    <a:solidFill>
                      <a:srgbClr val="F7F9FC"/>
                    </a:solidFill>
                  </a:tcPr>
                </a:tc>
                <a:tc>
                  <a:txBody>
                    <a:bodyPr/>
                    <a:lstStyle/>
                    <a:p>
                      <a:pPr algn="l">
                        <a:defRPr sz="580">
                          <a:solidFill>
                            <a:srgbClr val="1E242B"/>
                          </a:solidFill>
                          <a:latin typeface="Arial"/>
                        </a:defRPr>
                      </a:pPr>
                      <a:r>
                        <a:t>• Năng suất mục tiêu: Tăng gấp 2 lần (2倍 - 仮決定)</a:t>
                      </a:r>
                      <a:br/>
                      <a:r>
                        <a:t>• VN: 18 -&gt; 9 người; CN: -11.160 RMB/tháng</a:t>
                      </a:r>
                    </a:p>
                  </a:txBody>
                  <a:tcPr anchor="ctr" marL="36576" marR="36576" marT="9144" marB="9144">
                    <a:solidFill>
                      <a:srgbClr val="F7F9FC"/>
                    </a:solidFill>
                  </a:tcPr>
                </a:tc>
                <a:tc>
                  <a:txBody>
                    <a:bodyPr/>
                    <a:lstStyle/>
                    <a:p>
                      <a:pPr algn="l">
                        <a:defRPr sz="580">
                          <a:solidFill>
                            <a:srgbClr val="1E242B"/>
                          </a:solidFill>
                          <a:latin typeface="Arial"/>
                        </a:defRPr>
                      </a:pPr>
                      <a:r>
                        <a:t>調整工程計画.xlsx;</a:t>
                      </a:r>
                      <a:br/>
                      <a:r>
                        <a:t>DR 4.pdf S2;</a:t>
                      </a:r>
                      <a:br/>
                      <a:r>
                        <a:t>VN提案.xlsx</a:t>
                      </a:r>
                    </a:p>
                  </a:txBody>
                  <a:tcPr anchor="ctr" marL="36576" marR="36576" marT="9144" marB="9144">
                    <a:solidFill>
                      <a:srgbClr val="F7F9FC"/>
                    </a:solidFill>
                  </a:tcPr>
                </a:tc>
              </a:tr>
              <a:tr h="386080">
                <a:tc>
                  <a:txBody>
                    <a:bodyPr/>
                    <a:lstStyle/>
                    <a:p>
                      <a:pPr algn="l">
                        <a:defRPr sz="580" b="1">
                          <a:solidFill>
                            <a:srgbClr val="1E242B"/>
                          </a:solidFill>
                          <a:latin typeface="Arial"/>
                        </a:defRPr>
                      </a:pPr>
                      <a:r>
                        <a:t>5. Kinh phí ĐÃ CÓ</a:t>
                      </a:r>
                      <a:br/>
                      <a:r>
                        <a:t>BÁO GIÁ (Theo nguồn)</a:t>
                      </a:r>
                    </a:p>
                  </a:txBody>
                  <a:tcPr anchor="ctr" marL="36576" marR="36576" marT="9144" marB="9144">
                    <a:solidFill>
                      <a:srgbClr val="EAF7EE"/>
                    </a:solidFill>
                  </a:tcPr>
                </a:tc>
                <a:tc>
                  <a:txBody>
                    <a:bodyPr/>
                    <a:lstStyle/>
                    <a:p>
                      <a:pPr algn="l">
                        <a:defRPr sz="58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8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80">
                          <a:solidFill>
                            <a:srgbClr val="1E242B"/>
                          </a:solidFill>
                          <a:latin typeface="Arial"/>
                        </a:defRPr>
                      </a:pPr>
                      <a:r>
                        <a:t>• No.22 (Đo thông mạch/chịu áp): 101.690.000 VNĐ (3.911,15 USD; 纏め: 4.000 USD)</a:t>
                      </a:r>
                      <a:br/>
                      <a:r>
                        <a:t>• No.23 (Robot ISU): 650.000.000 VNĐ (25.000 USD)</a:t>
                      </a:r>
                      <a:br/>
                      <a:r>
                        <a:t>• No.24 (Robot USB/U201): 104.000.000 VNĐ (4.000 USD)</a:t>
                      </a:r>
                      <a:br/>
                      <a:r>
                        <a:t>=&gt; Tổng 3 ĐA: 855.690.000 VNĐ (32.911,15 USD / 33.000 USD)</a:t>
                      </a:r>
                    </a:p>
                  </a:txBody>
                  <a:tcPr anchor="ctr" marL="36576" marR="36576" marT="9144" marB="9144">
                    <a:solidFill>
                      <a:srgbClr val="EAF7EE"/>
                    </a:solidFill>
                  </a:tcPr>
                </a:tc>
                <a:tc>
                  <a:txBody>
                    <a:bodyPr/>
                    <a:lstStyle/>
                    <a:p>
                      <a:pPr algn="l">
                        <a:defRPr sz="580">
                          <a:solidFill>
                            <a:srgbClr val="1E242B"/>
                          </a:solidFill>
                          <a:latin typeface="Arial"/>
                        </a:defRPr>
                      </a:pPr>
                      <a:r>
                        <a:t>• VN (3 ĐA trong VN提案.xlsx): 855.690.000 VNĐ (32.911,15 USD; 纏め: 33.000 USD) [Duyệt riêng No.22: 101,69tr]</a:t>
                      </a:r>
                      <a:br/>
                      <a:r>
                        <a:t>• JP: Mini PC ~40k JPY/bộ; PM U413: 225~250 vạn JPY</a:t>
                      </a:r>
                    </a:p>
                  </a:txBody>
                  <a:tcPr anchor="ctr" marL="36576" marR="36576" marT="9144" marB="9144">
                    <a:solidFill>
                      <a:srgbClr val="EAF7EE"/>
                    </a:solidFill>
                  </a:tcPr>
                </a:tc>
                <a:tc>
                  <a:txBody>
                    <a:bodyPr/>
                    <a:lstStyle/>
                    <a:p>
                      <a:pPr algn="l">
                        <a:defRPr sz="580">
                          <a:solidFill>
                            <a:srgbClr val="1E242B"/>
                          </a:solidFill>
                          <a:latin typeface="Arial"/>
                        </a:defRPr>
                      </a:pPr>
                      <a:r>
                        <a:t>Iris EXPのVN提案</a:t>
                      </a:r>
                      <a:br/>
                      <a:r>
                        <a:t>(4 Sheets);</a:t>
                      </a:r>
                      <a:br/>
                      <a:r>
                        <a:t>AthenaとSpica比較</a:t>
                      </a:r>
                    </a:p>
                  </a:txBody>
                  <a:tcPr anchor="ctr" marL="36576" marR="36576" marT="9144" marB="9144">
                    <a:solidFill>
                      <a:srgbClr val="EAF7EE"/>
                    </a:solidFill>
                  </a:tcPr>
                </a:tc>
              </a:tr>
              <a:tr h="386080">
                <a:tc>
                  <a:txBody>
                    <a:bodyPr/>
                    <a:lstStyle/>
                    <a:p>
                      <a:pPr algn="l">
                        <a:defRPr sz="580" b="1">
                          <a:solidFill>
                            <a:srgbClr val="1E242B"/>
                          </a:solidFill>
                          <a:latin typeface="Arial"/>
                        </a:defRPr>
                      </a:pPr>
                      <a:r>
                        <a:t>6. Hạng mục ĐANG</a:t>
                      </a:r>
                      <a:br/>
                      <a:r>
                        <a:t>BÁO GIÁ (見積中)</a:t>
                      </a:r>
                      <a:br/>
                      <a:r>
                        <a:t>[Không cộng gộp]</a:t>
                      </a:r>
                    </a:p>
                  </a:txBody>
                  <a:tcPr anchor="ctr" marL="36576" marR="36576" marT="9144" marB="9144">
                    <a:solidFill>
                      <a:srgbClr val="FEF7E6"/>
                    </a:solidFill>
                  </a:tcPr>
                </a:tc>
                <a:tc>
                  <a:txBody>
                    <a:bodyPr/>
                    <a:lstStyle/>
                    <a:p>
                      <a:pPr algn="l">
                        <a:defRPr sz="58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8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80">
                          <a:solidFill>
                            <a:srgbClr val="1E242B"/>
                          </a:solidFill>
                          <a:latin typeface="Arial"/>
                        </a:defRPr>
                      </a:pPr>
                      <a:r>
                        <a:t>• 10 đề án TB/DP đang ghi "Đang báo giá / Đang xem xét (見積中 / 検討中)": No.18, No.19, No.20, No.21, No.25 (Bổ sung DP quét liên tục), No.27 (Camera HIKROBOT), No.28, No.31, No.33, No.35 (+ Mục 17 Tủ điện 5tr của No.22)</a:t>
                      </a:r>
                    </a:p>
                  </a:txBody>
                  <a:tcPr anchor="ctr" marL="36576" marR="36576" marT="9144" marB="9144">
                    <a:solidFill>
                      <a:srgbClr val="FEF7E6"/>
                    </a:solidFill>
                  </a:tcPr>
                </a:tc>
                <a:tc>
                  <a:txBody>
                    <a:bodyPr/>
                    <a:lstStyle/>
                    <a:p>
                      <a:pPr algn="l">
                        <a:defRPr sz="580">
                          <a:solidFill>
                            <a:srgbClr val="1E242B"/>
                          </a:solidFill>
                          <a:latin typeface="Arial"/>
                        </a:defRPr>
                      </a:pPr>
                      <a:r>
                        <a:t>• Giữ nguyên "Đang báo giá (見積中)" theo nguồn; tách riêng để trình duyệt Đợt 2 sau khi chốt giá.</a:t>
                      </a:r>
                    </a:p>
                  </a:txBody>
                  <a:tcPr anchor="ctr" marL="36576" marR="36576" marT="9144" marB="9144">
                    <a:solidFill>
                      <a:srgbClr val="FEF7E6"/>
                    </a:solidFill>
                  </a:tcPr>
                </a:tc>
                <a:tc>
                  <a:txBody>
                    <a:bodyPr/>
                    <a:lstStyle/>
                    <a:p>
                      <a:pPr algn="l">
                        <a:defRPr sz="580">
                          <a:solidFill>
                            <a:srgbClr val="1E242B"/>
                          </a:solidFill>
                          <a:latin typeface="Arial"/>
                        </a:defRPr>
                      </a:pPr>
                      <a:r>
                        <a:t>IrisEXP改善提案まとめ;</a:t>
                      </a:r>
                      <a:br/>
                      <a:r>
                        <a:t>Iris EXPのVN提案</a:t>
                      </a:r>
                    </a:p>
                  </a:txBody>
                  <a:tcPr anchor="ctr" marL="36576" marR="36576" marT="9144" marB="9144">
                    <a:solidFill>
                      <a:srgbClr val="FEF7E6"/>
                    </a:solidFill>
                  </a:tcPr>
                </a:tc>
              </a:tr>
              <a:tr h="386080">
                <a:tc>
                  <a:txBody>
                    <a:bodyPr/>
                    <a:lstStyle/>
                    <a:p>
                      <a:pPr algn="l">
                        <a:defRPr sz="580" b="1">
                          <a:solidFill>
                            <a:srgbClr val="1E242B"/>
                          </a:solidFill>
                          <a:latin typeface="Arial"/>
                        </a:defRPr>
                      </a:pPr>
                      <a:r>
                        <a:t>7. Đối chiếu DR4 /</a:t>
                      </a:r>
                      <a:br/>
                      <a:r>
                        <a:t>R&amp;D Dài hạn</a:t>
                      </a:r>
                    </a:p>
                  </a:txBody>
                  <a:tcPr anchor="ctr" marL="36576" marR="36576" marT="9144" marB="9144">
                    <a:solidFill>
                      <a:srgbClr val="E8EEF5"/>
                    </a:solidFill>
                  </a:tcPr>
                </a:tc>
                <a:tc>
                  <a:txBody>
                    <a:bodyPr/>
                    <a:lstStyle/>
                    <a:p>
                      <a:pPr algn="l">
                        <a:defRPr sz="580">
                          <a:solidFill>
                            <a:srgbClr val="1E242B"/>
                          </a:solidFill>
                          <a:latin typeface="Arial"/>
                        </a:defRPr>
                      </a:pPr>
                      <a:r>
                        <a:t>• Bỏ phương án dùng lại Raspberry Pi + Pin Mobile của Athena do chai pin &amp; rớt Wi-Fi</a:t>
                      </a:r>
                    </a:p>
                  </a:txBody>
                  <a:tcPr anchor="ctr" marL="36576" marR="36576" marT="9144" marB="9144">
                    <a:solidFill>
                      <a:srgbClr val="E8EEF5"/>
                    </a:solidFill>
                  </a:tcPr>
                </a:tc>
                <a:tc>
                  <a:txBody>
                    <a:bodyPr/>
                    <a:lstStyle/>
                    <a:p>
                      <a:pPr algn="l">
                        <a:defRPr sz="580">
                          <a:solidFill>
                            <a:srgbClr val="1E242B"/>
                          </a:solidFill>
                          <a:latin typeface="Arial"/>
                        </a:defRPr>
                      </a:pPr>
                      <a:r>
                        <a:t>• Không có mục hủy có giá tiền riêng trong bảng CN</a:t>
                      </a:r>
                    </a:p>
                  </a:txBody>
                  <a:tcPr anchor="ctr" marL="36576" marR="36576" marT="9144" marB="9144">
                    <a:solidFill>
                      <a:srgbClr val="E8EEF5"/>
                    </a:solidFill>
                  </a:tcPr>
                </a:tc>
                <a:tc>
                  <a:txBody>
                    <a:bodyPr/>
                    <a:lstStyle/>
                    <a:p>
                      <a:pPr algn="l">
                        <a:defRPr sz="580">
                          <a:solidFill>
                            <a:srgbClr val="1E242B"/>
                          </a:solidFill>
                          <a:latin typeface="Arial"/>
                        </a:defRPr>
                      </a:pPr>
                      <a:r>
                        <a:t>• Tại 連携会 7 / DR4: Đề xuất phương án thay thế không dùng Robot cho No.23 (650tr) &amp; No.24 (104tr) bằng Quét DP (No.25) &amp; Host PC (JP No.3, 6)</a:t>
                      </a:r>
                      <a:br/>
                      <a:r>
                        <a:t>• R&amp;D dài hạn 2026-2030: No.26 AI âm thanh lạ (600 vạn JPY ~ 40.000 USD)</a:t>
                      </a:r>
                    </a:p>
                  </a:txBody>
                  <a:tcPr anchor="ctr" marL="36576" marR="36576" marT="9144" marB="9144">
                    <a:solidFill>
                      <a:srgbClr val="E8EEF5"/>
                    </a:solidFill>
                  </a:tcPr>
                </a:tc>
                <a:tc>
                  <a:txBody>
                    <a:bodyPr/>
                    <a:lstStyle/>
                    <a:p>
                      <a:pPr algn="l">
                        <a:defRPr sz="580">
                          <a:solidFill>
                            <a:srgbClr val="1E242B"/>
                          </a:solidFill>
                          <a:latin typeface="Arial"/>
                        </a:defRPr>
                      </a:pPr>
                      <a:r>
                        <a:t>• Trình Trưởng bộ phận chọn giữa gói 3 ĐA (855,69tr / 32.911$) hoặc duyệt trước No.22 (101,69tr / 3.911$)</a:t>
                      </a:r>
                      <a:br/>
                      <a:r>
                        <a:t>• R&amp;D 2026-2030: 600 vạn JPY</a:t>
                      </a:r>
                    </a:p>
                  </a:txBody>
                  <a:tcPr anchor="ctr" marL="36576" marR="36576" marT="9144" marB="9144">
                    <a:solidFill>
                      <a:srgbClr val="E8EEF5"/>
                    </a:solidFill>
                  </a:tcPr>
                </a:tc>
                <a:tc>
                  <a:txBody>
                    <a:bodyPr/>
                    <a:lstStyle/>
                    <a:p>
                      <a:pPr algn="l">
                        <a:defRPr sz="580">
                          <a:solidFill>
                            <a:srgbClr val="1E242B"/>
                          </a:solidFill>
                          <a:latin typeface="Arial"/>
                        </a:defRPr>
                      </a:pPr>
                      <a:r>
                        <a:t>連携会 第7回.txt;</a:t>
                      </a:r>
                      <a:br/>
                      <a:r>
                        <a:t>検討資料(8月3日) S8</a:t>
                      </a:r>
                    </a:p>
                  </a:txBody>
                  <a:tcPr anchor="ctr" marL="36576" marR="36576" marT="9144" marB="9144">
                    <a:solidFill>
                      <a:srgbClr val="E8EEF5"/>
                    </a:solidFill>
                  </a:tcPr>
                </a:tc>
              </a:tr>
              <a:tr h="386080">
                <a:tc>
                  <a:txBody>
                    <a:bodyPr/>
                    <a:lstStyle/>
                    <a:p>
                      <a:pPr algn="l">
                        <a:defRPr sz="58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8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8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80">
                          <a:solidFill>
                            <a:srgbClr val="1E242B"/>
                          </a:solidFill>
                          <a:latin typeface="Arial"/>
                        </a:defRPr>
                      </a:pPr>
                      <a:r>
                        <a:t>• Đã xóa 4 bước trên bảng công đoạn T10 (-4,32s/máy); hoàn tất báo giá trong Iris EXPのVN提案.xlsx; chuẩn bị PMT1 (T12/2026)</a:t>
                      </a:r>
                    </a:p>
                  </a:txBody>
                  <a:tcPr anchor="ctr" marL="36576" marR="36576" marT="9144" marB="9144">
                    <a:solidFill>
                      <a:srgbClr val="F7F9FC"/>
                    </a:solidFill>
                  </a:tcPr>
                </a:tc>
                <a:tc>
                  <a:txBody>
                    <a:bodyPr/>
                    <a:lstStyle/>
                    <a:p>
                      <a:pPr algn="l">
                        <a:defRPr sz="580">
                          <a:solidFill>
                            <a:srgbClr val="1E242B"/>
                          </a:solidFill>
                          <a:latin typeface="Arial"/>
                        </a:defRPr>
                      </a:pPr>
                      <a:r>
                        <a:t>• Lộ trình: DMT (T8~T11/2026) -&gt; PMT1 (T12/2026) -&gt; PMT2 (T2/2027) -&gt; MP (T3/2027)</a:t>
                      </a:r>
                    </a:p>
                  </a:txBody>
                  <a:tcPr anchor="ctr" marL="36576" marR="36576" marT="9144" marB="9144">
                    <a:solidFill>
                      <a:srgbClr val="F7F9FC"/>
                    </a:solidFill>
                  </a:tcPr>
                </a:tc>
                <a:tc>
                  <a:txBody>
                    <a:bodyPr/>
                    <a:lstStyle/>
                    <a:p>
                      <a:pPr algn="l">
                        <a:defRPr sz="58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8" name="Rectangle 7"/>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ĐỐI CHIẾU SỐ LƯỢNG ĐỀ ÁN GIỮA CÁC FILE NGUỒN (28 vs 37 vs 38 ĐỀ ÁN) VÀ CÁCH TÍNH THỜI GIAN</a:t>
            </a:r>
          </a:p>
        </p:txBody>
      </p:sp>
      <p:sp>
        <p:nvSpPr>
          <p:cNvPr id="10" name="TextBox 9"/>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(IrisEXP報告.pptx &amp; BM-003-F 8月.xlsx) ghi 28 đề án (JP: 7, CN: 10, VN: 11); (2) Tháng 9 VN bổ sung 9 đề án (No.29~37) nâng lên 37 đề án (T9/IrisEXP改善提案まとめ.xlsx &amp; BM-003-F 9~10月); (3) Bản tổng hợp mới nhất (đề án cải tiến Điều chỉnh\IrisEXP改善提案まとめ.xlsx) thêm No.38 của CN (WeChat AI kiểm tra hình ảnh) thành 38 đề án (JP: 7, CN: 11, VN: 20). Riêng file IrisEXP cn改善案list.xlsx có 11 dòng vì tính cả mục xóa U155 (-28,2s) mà bản tổng hợp gộp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Bảng đối chiếu 7 đề án Nhật Bản (No.1~7) và 11 đề án Trung Quốc (No.8~17,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Tách riêng đề án của JP và CN với đề án của VN; các hạng mục phần mềm và xóa bước kiểm tra của JP &amp; CN được áp dụng chung sang chuyền VN.</a:t>
            </a:r>
          </a:p>
        </p:txBody>
      </p:sp>
      <p:sp>
        <p:nvSpPr>
          <p:cNvPr id="7" name="TextBox 6"/>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 | Nguồn: IrisEXP改善提案まとめ &amp; 既存機との工数比較</a:t>
            </a:r>
          </a:p>
        </p:txBody>
      </p:sp>
      <p:graphicFrame>
        <p:nvGraphicFramePr>
          <p:cNvPr id="8" name="Table 7"/>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 (Thuật ngữ gốc)</a:t>
                      </a:r>
                    </a:p>
                  </a:txBody>
                  <a:tcPr anchor="ctr" marL="36576" marR="36576" marT="9144" marB="9144">
                    <a:solidFill>
                      <a:srgbClr val="1B365D"/>
                    </a:solidFill>
                  </a:tcPr>
                </a:tc>
                <a:tc>
                  <a:txBody>
                    <a:bodyPr/>
                    <a:lstStyle/>
                    <a:p>
                      <a:pPr algn="ctr">
                        <a:defRPr sz="720" b="1">
                          <a:solidFill>
                            <a:srgbClr val="FFFFFF"/>
                          </a:solidFill>
                          <a:latin typeface="Arial"/>
                        </a:defRPr>
                      </a:pPr>
                      <a:r>
                        <a:t>Giải pháp &amp; Quyết định連携会</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br/>
                      <a:r>
                        <a:t>(Row 15)</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-&gt;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(Row 21)</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9" name="TextBox 8"/>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 | Nguồn: IrisEXP cn改善案list.xlsx &amp; まとめ</a:t>
            </a:r>
          </a:p>
        </p:txBody>
      </p:sp>
      <p:graphicFrame>
        <p:nvGraphicFramePr>
          <p:cNvPr id="10" name="Table 9"/>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 (IrisEXP cn改善案list)</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 (R2)</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tờ in kiểm tra (từ 17 tờ xuống 9 tờ theo dòng máy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 (R4)</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br/>
                      <a:r>
                        <a:t>(Row 23)</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 (R5)</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br/>
                      <a:r>
                        <a:t>(Row 24)</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 (R6)</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 (R7)</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26)</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 (R8)</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bản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Sắp xếp lại trình tự khởi động và in liên tục để giảm thời gian chờ in từ 230s -&gt; 120s.</a:t>
                      </a:r>
                    </a:p>
                  </a:txBody>
                  <a:tcPr anchor="ctr" marL="36576" marR="36576" marT="9144" marB="9144">
                    <a:solidFill>
                      <a:srgbClr val="F7F9FC"/>
                    </a:solidFill>
                  </a:tcPr>
                </a:tc>
                <a:tc>
                  <a:txBody>
                    <a:bodyPr/>
                    <a:lstStyle/>
                    <a:p>
                      <a:pPr algn="ctr">
                        <a:defRPr sz="590">
                          <a:solidFill>
                            <a:srgbClr val="1E242B"/>
                          </a:solidFill>
                          <a:latin typeface="Arial"/>
                        </a:defRPr>
                      </a:pPr>
                      <a:r>
                        <a:t>230s -&gt;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br/>
                      <a:r>
                        <a:t>(Row 27)</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 (R9)</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 (R10)</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 (R11)</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 Row 30)</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 (R12)</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 Row 31)</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Thực tích đã đo bằng PDCA và Mục tiêu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Thực tích PDCA tại VN tới T10/2026 đã giảm 4,32s/máy (0,18%); trên bảng công đoạn JP đã giảm 176,84s ~ 267,74s; mục tiêu khi triển khai đủ là giảm &gt;=1.175s (&gt;=50%) và giảm từ 18 xuống 9 người.</a:t>
            </a:r>
          </a:p>
        </p:txBody>
      </p:sp>
      <p:graphicFrame>
        <p:nvGraphicFramePr>
          <p:cNvPr id="7" name="Table 6"/>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br/>
                      <a:r>
                        <a:t>(Nguồn đối chiếu)</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(Baseline Iris2024)</a:t>
                      </a:r>
                    </a:p>
                  </a:txBody>
                  <a:tcPr anchor="ctr" marL="36576" marR="36576" marT="9144" marB="9144">
                    <a:solidFill>
                      <a:srgbClr val="1B365D"/>
                    </a:solidFill>
                  </a:tcPr>
                </a:tc>
                <a:tc>
                  <a:txBody>
                    <a:bodyPr/>
                    <a:lstStyle/>
                    <a:p>
                      <a:pPr algn="ctr">
                        <a:defRPr sz="740" b="1">
                          <a:solidFill>
                            <a:srgbClr val="FFFFFF"/>
                          </a:solidFill>
                          <a:latin typeface="Arial"/>
                        </a:defRPr>
                      </a:pPr>
                      <a:r>
                        <a:t>ĐÃ ĐO / XÁC LẬP</a:t>
                      </a:r>
                      <a:br/>
                      <a:r>
                        <a:t>TỚI T10/2026 (PDCA)</a:t>
                      </a:r>
                    </a:p>
                  </a:txBody>
                  <a:tcPr anchor="ctr" marL="36576" marR="36576" marT="9144" marB="9144">
                    <a:solidFill>
                      <a:srgbClr val="1B365D"/>
                    </a:solidFill>
                  </a:tcPr>
                </a:tc>
                <a:tc>
                  <a:txBody>
                    <a:bodyPr/>
                    <a:lstStyle/>
                    <a:p>
                      <a:pPr algn="ctr">
                        <a:defRPr sz="740" b="1">
                          <a:solidFill>
                            <a:srgbClr val="FFFFFF"/>
                          </a:solidFill>
                          <a:latin typeface="Arial"/>
                        </a:defRPr>
                      </a:pPr>
                      <a:r>
                        <a:t>SAU CẢI TIẾN ĐỦ</a:t>
                      </a:r>
                      <a:br/>
                      <a:r>
                        <a:t>(Kỳ vọng 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br/>
                      <a:r>
                        <a:t>(Before -&gt; After)</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br/>
                      <a:r>
                        <a:t>[BM-003-F 10月; DSLK]</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&lt;= 1.175,00 s/máy</a:t>
                      </a:r>
                      <a:br/>
                      <a:r>
                        <a:t>(4 cụm trạm A-1 ~ A-4</a:t>
                      </a:r>
                      <a:br/>
                      <a:r>
                        <a:t>theo dòng máy Athena)</a:t>
                      </a:r>
                    </a:p>
                  </a:txBody>
                  <a:tcPr anchor="ctr" marL="36576" marR="36576" marT="9144" marB="9144">
                    <a:solidFill>
                      <a:srgbClr val="EAF7EE"/>
                    </a:solidFill>
                  </a:tcPr>
                </a:tc>
                <a:tc>
                  <a:txBody>
                    <a:bodyPr/>
                    <a:lstStyle/>
                    <a:p>
                      <a:pPr algn="l">
                        <a:defRPr sz="670">
                          <a:solidFill>
                            <a:srgbClr val="1E242B"/>
                          </a:solidFill>
                          <a:latin typeface="Arial"/>
                        </a:defRPr>
                      </a:pPr>
                      <a:r>
                        <a:t>Giảm &gt;= 1.175,00 s</a:t>
                      </a:r>
                      <a:br/>
                      <a:r>
                        <a:t>(Giảm &gt;=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không chờ máy)</a:t>
                      </a:r>
                      <a:br/>
                      <a:r>
                        <a:t>[IrisEXP 工程 3.xlsx]</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không chờ máy)</a:t>
                      </a:r>
                      <a:br/>
                      <a:r>
                        <a:t>[IrisEXP 工程 3.xlsx]</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4 cụm A-1 ~ A-4</a:t>
                      </a:r>
                      <a:br/>
                      <a:r>
                        <a:t>theo dòng máy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(Productivity / 生産性)</a:t>
                      </a:r>
                      <a:br/>
                      <a:r>
                        <a:t>[開発目標決定 S1]</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2倍 -</a:t>
                      </a:r>
                      <a:br/>
                      <a:r>
                        <a:t>仮決定)</a:t>
                      </a:r>
                    </a:p>
                  </a:txBody>
                  <a:tcPr anchor="ctr" marL="36576" marR="36576" marT="9144" marB="9144">
                    <a:solidFill>
                      <a:srgbClr val="E8EEF5"/>
                    </a:solidFill>
                  </a:tcPr>
                </a:tc>
                <a:tc>
                  <a:txBody>
                    <a:bodyPr/>
                    <a:lstStyle/>
                    <a:p>
                      <a:pPr algn="l">
                        <a:defRPr sz="670">
                          <a:solidFill>
                            <a:srgbClr val="1E242B"/>
                          </a:solidFill>
                          <a:latin typeface="Arial"/>
                        </a:defRPr>
                      </a:pPr>
                      <a:r>
                        <a:t>Tăng +100% (x2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br/>
                      <a:r>
                        <a:t>(Print Samples)</a:t>
                      </a:r>
                      <a:br/>
                      <a:r>
                        <a:t>[開発目標決定 S2]</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bản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br/>
                      <a:r>
                        <a:t>(Copy Samples)</a:t>
                      </a:r>
                      <a:br/>
                      <a:r>
                        <a:t>[開発目標決定 S2]</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br/>
                      <a:r>
                        <a:t>(Cable / USB Plug-Unplug)</a:t>
                      </a:r>
                      <a:br/>
                      <a:r>
                        <a:t>[IrisEXP報告 S3]</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Lộ trình PDCA hàng tháng</a:t>
                      </a:r>
                      <a:br/>
                      <a:r>
                        <a:t>tại VN (BM-003-F 8~10月)</a:t>
                      </a:r>
                      <a:br/>
                      <a:r>
                        <a:t>[KDTVN-PE-3]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-&gt;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-&gt;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công việc tiếp theo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Lộ trình theo các mốc DMT (T8~T11/2026) -&gt; PMT1 (T12/2026) -&gt; PMT2 (T2/2027) -&gt; MP (T3/2027); trọng tâm tháng 11 là duyệt kinh phí No.22, chốt báo giá Đợt 2 và hoàn tất DR công đoạn với PE JP.</a:t>
            </a:r>
          </a:p>
        </p:txBody>
      </p:sp>
      <p:sp>
        <p:nvSpPr>
          <p:cNvPr id="7" name="TextBox 6"/>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CẢI TIẾN CÔNG ĐOẠN ĐIỀU CHỈNH IRISEXP (Nguồn: KDTVN-A-QA-QA-BM-003-F 5月~10月.xlsx &amp; 調整工程計画.xlsx)</a:t>
            </a:r>
          </a:p>
        </p:txBody>
      </p:sp>
      <p:graphicFrame>
        <p:nvGraphicFramePr>
          <p:cNvPr id="8" name="Table 7"/>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br/>
                      <a:r>
                        <a:t>(Theo BM-003-F)</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br/>
                      <a:r>
                        <a:t>(Development Milestones)</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28 -&gt;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&gt;= 50% thời gian</a:t>
                      </a:r>
                      <a:br/>
                      <a:r>
                        <a:t>(&lt;=1.175s, 9 người, NS x2)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9" name="TextBox 8"/>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HẠNG MỤC CÔNG VIỆC TIẾP THEO &amp; PHÂN CÔNG PHỤ TRÁCH (Nguồn: 連携会 第13~17回 &amp; BM-003-F)</a:t>
            </a:r>
          </a:p>
        </p:txBody>
      </p:sp>
      <p:graphicFrame>
        <p:nvGraphicFramePr>
          <p:cNvPr id="10" name="Table 9"/>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 (Action Items)</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a:t>
                      </a:r>
                    </a:p>
                  </a:txBody>
                  <a:tcPr anchor="ctr" marL="36576" marR="36576" marT="9144" marB="9144">
                    <a:solidFill>
                      <a:srgbClr val="1B365D"/>
                    </a:solidFill>
                  </a:tcPr>
                </a:tc>
                <a:tc>
                  <a:txBody>
                    <a:bodyPr/>
                    <a:lstStyle/>
                    <a:p>
                      <a:pPr algn="ctr">
                        <a:defRPr sz="700" b="1">
                          <a:solidFill>
                            <a:srgbClr val="FFFFFF"/>
                          </a:solidFill>
                          <a:latin typeface="Arial"/>
                        </a:defRPr>
                      </a:pPr>
                      <a:r>
                        <a:t>Bộ phận / Cá nhân phụ trách (Theo biên bản)</a:t>
                      </a:r>
                    </a:p>
                  </a:txBody>
                  <a:tcPr anchor="ctr" marL="36576" marR="36576" marT="9144" marB="9144">
                    <a:solidFill>
                      <a:srgbClr val="1B365D"/>
                    </a:solidFill>
                  </a:tcPr>
                </a:tc>
                <a:tc>
                  <a:txBody>
                    <a:bodyPr/>
                    <a:lstStyle/>
                    <a:p>
                      <a:pPr algn="ctr">
                        <a:defRPr sz="700" b="1">
                          <a:solidFill>
                            <a:srgbClr val="FFFFFF"/>
                          </a:solidFill>
                          <a:latin typeface="Arial"/>
                        </a:defRPr>
                      </a:pPr>
                      <a:r>
                        <a:t>Nguồn trích xuất</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mua linh kiện chế tạo Thiết bị tự động kiểm tra thông mạch &amp; chịu áp (Đề án No.22: 101.690.000 VNĐ / 3.911,15 USD); chốt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các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-&gt;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phương án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Chốt phương án cho bước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và kinh phí ghi nhận trong hồ sơ cùng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6 rủi ro chính từ biên bản DR4, 連携会 2~17 và bảng đánh giá kỹ thuật (bao gồm 2 phương án Robot đã hủy và lỗi mất nguồn/mạng của hệ thống Athena).</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Nhóm rủi ro / Vấn đề ghi nhận</a:t>
                      </a:r>
                    </a:p>
                  </a:txBody>
                  <a:tcPr anchor="ctr" marL="36576" marR="36576" marT="9144" marB="9144">
                    <a:solidFill>
                      <a:srgbClr val="1B365D"/>
                    </a:solidFill>
                  </a:tcPr>
                </a:tc>
                <a:tc>
                  <a:txBody>
                    <a:bodyPr/>
                    <a:lstStyle/>
                    <a:p>
                      <a:pPr algn="ctr">
                        <a:defRPr sz="750" b="1">
                          <a:solidFill>
                            <a:srgbClr val="FFFFFF"/>
                          </a:solidFill>
                          <a:latin typeface="Arial"/>
                        </a:defRPr>
                      </a:pPr>
                      <a:r>
                        <a:t>Chi tiết rủi ro &amp; Nguyên nhân</a:t>
                      </a:r>
                    </a:p>
                  </a:txBody>
                  <a:tcPr anchor="ctr" marL="36576" marR="36576" marT="9144" marB="9144">
                    <a:solidFill>
                      <a:srgbClr val="1B365D"/>
                    </a:solidFill>
                  </a:tcPr>
                </a:tc>
                <a:tc>
                  <a:txBody>
                    <a:bodyPr/>
                    <a:lstStyle/>
                    <a:p>
                      <a:pPr algn="ctr">
                        <a:defRPr sz="750" b="1">
                          <a:solidFill>
                            <a:srgbClr val="FFFFFF"/>
                          </a:solidFill>
                          <a:latin typeface="Arial"/>
                        </a:defRPr>
                      </a:pPr>
                      <a:r>
                        <a:t>Đối sách &amp; Quyết định trong biên bản</a:t>
                      </a:r>
                    </a:p>
                  </a:txBody>
                  <a:tcPr anchor="ctr" marL="36576" marR="36576" marT="9144" marB="9144">
                    <a:solidFill>
                      <a:srgbClr val="1B365D"/>
                    </a:solidFill>
                  </a:tcPr>
                </a:tc>
                <a:tc>
                  <a:txBody>
                    <a:bodyPr/>
                    <a:lstStyle/>
                    <a:p>
                      <a:pPr algn="ctr">
                        <a:defRPr sz="750" b="1">
                          <a:solidFill>
                            <a:srgbClr val="FFFFFF"/>
                          </a:solidFill>
                          <a:latin typeface="Arial"/>
                        </a:defRPr>
                      </a:pPr>
                      <a:r>
                        <a:t>Nguồn đối chiếu</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Hiệu quả đầu tư thấp:</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Hủy bỏ (廃止 / 見送り) cả 2 phương án Robot sau DR4 / 連携会 7.</a:t>
                      </a:r>
                      <a:br/>
                      <a:r>
                        <a:t>• Thay No.23 bằng Đề án No.25: Quét bản thảo liên tục bằng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hệ thống Athena:</a:t>
                      </a:r>
                      <a:br/>
                      <a:r>
                        <a:t>Chai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 (劣化), cần bộ sạc 10 cổng đắt tiền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đặt bản thảo trên mặt kính ISU bằng quét kéo giấy liên tục qua DP (No.25), có rủi ro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kiểm chứng so sánh dữ liệu quét DP vs ISU và hiệu chỉnh thuật toán phần mềm tự động đánh giá trên PC (連携会 13~17).</a:t>
                      </a:r>
                      <a:br/>
                      <a:r>
                        <a:t>• Chỉ áp dụng chính thức khi năng lực công đoạn đạt Cpk &gt;=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khi ĐÃ LẮP ĐỦ VỎ NGOÀI (外装カバー付き) để phát hiện lỗi kẹt dây điện vào sườn máy.</a:t>
                      </a:r>
                      <a:br/>
                      <a:r>
                        <a:t>• Tuy nhiên tại A-3 còn phải kiểm tra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Bố trí hệ thống tự động No.22 tại cuối trạm A-3 (sau khi máy đã đóng kín vỏ).</a:t>
                      </a:r>
                      <a:br/>
                      <a:r>
                        <a:t>• Thực hiện Đề án No.33: Chuyển nguyên công lắp 6 tấm vỏ máy về công đoạn Lắp ráp (本体組立) và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-&gt;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viết phần mềm nạp dữ liệu LSU tự động để xóa thao tác U413 trên chuyền (tiết kiệm 42 vạn JPY/năm).</a:t>
                      </a:r>
                      <a:br/>
                      <a:r>
                        <a:t>• Về No.18: Nếu nạp FW ở Partner thì ghép bước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phương án kỹ thuật và phối hợp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5 nội dung xin ý kiến chỉ đạo của Trưởng bộ phận để đẩy nhanh tiến độ PDCA (mới đạt 0,18% tại T10) và chốt thiết kế công đoạn trước mốc PMT1 (T12/2026).</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Hiện trạng &amp; Vướng mắc thực tế</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Lựa chọn phương án đầu tư giữa gói 3 đề án trong VN提案.xlsx (855,69tr) và phương án thay Robot bằng DP/Host PC</a:t>
                      </a:r>
                    </a:p>
                  </a:txBody>
                  <a:tcPr anchor="ctr" marL="45720" marR="45720" marT="18288" marB="18288">
                    <a:solidFill>
                      <a:srgbClr val="E8EEF5"/>
                    </a:solidFill>
                  </a:tcPr>
                </a:tc>
                <a:tc>
                  <a:txBody>
                    <a:bodyPr/>
                    <a:lstStyle/>
                    <a:p>
                      <a:pPr algn="l">
                        <a:defRPr sz="700">
                          <a:solidFill>
                            <a:srgbClr val="1E242B"/>
                          </a:solidFill>
                          <a:latin typeface="Arial"/>
                        </a:defRPr>
                      </a:pPr>
                      <a:r>
                        <a:t>Trong file Iris EXPのVN提案.xlsx, KTSX đã xác nhận giá 3 đề án: No.22 (Đo thông mạch/chịu áp: 101,69tr / 3.911,15$), No.23 (Robot đặt bản thảo ISU: 650tr / 25.000$) và No.24 (Robot USB/U201: 104tr / 4.000$), tổng cộng 855,69 triệu VNĐ (32.911,15 USD). Còn 10 đề án thiết bị khác đang ghi "Đang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 Phương án A (Khuyến nghị theo DR4/連携会): Duyệt triển khai ngay No.22 (101,69 triệu VNĐ); thay Robot No.23 &amp; No.24 bằng Quét DP liên tục (No.25) và đọc log Host PC; đồng thời ưu tiên hoàn tất báo giá cho No.27 (Camera HIKROBOT: -177s~-215s), No.25 (-110s) và No.28 (-50s).</a:t>
                      </a:r>
                      <a:br/>
                      <a:r>
                        <a:t>• Phương án B: Duyệt tổng dự toán cả 3 đề án trong VN提案.xlsx là 855,69 triệu VNĐ (32.911,15 USD / làm tròn 33.000 USD).</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cho ý kiến chọn Phương án A hay Phương án B và hạn mức ngân sách Đợt 2 trước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người thao tác điều chỉnh đang phải lắp và siết vít 6 tấm vỏ ngoài (TRAY INNER, COVER DP, REAR LOW/UP, FILTER, PLATE OPTION) mất 48,32s~90s/máy,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0 đồng thiết bị): Chuyển nguyên công lắp 6 tấm vỏ này về cuối công đoạn Lắp ráp thân máy (本体組立) trước khi máy sang chuyền Điều chỉnh.</a:t>
                      </a:r>
                      <a:br/>
                      <a:r>
                        <a:t>• Phương án B: Làm cơ cấu gá lắp/siết vít tự động tại trạm A-3 (phát sinh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ý kiến chỉ đạo để làm việc với bộ phận Lắp ráp (Assy) và PE JP, chốt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Làm việc với Thiết kế JP &amp; PE JP để chốt DR công đoạn và phản hồi 6 kiến nghị sửa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công đoạn. Ngoài ra, 6 kiến nghị sửa FW/mạch của VN (No.19, 29, 30, 32, 34, 36) đang chờ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đưa nội dung này vào cuộc họp cấp Quản lý giữa KDTVN và bộ phận Thiết kế / PE JP để chốt lịch DR công đoạn trong tháng 11/2026, kịp tiến độ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trao đổi với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Điều kiện nghiệm thu trước khi xóa bước đo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đo độ lệch Transfer Belt (-15,36s trên 工程表), nhưng tại nhà máy VN vẫn phát sinh 1~2 máy NG/tháng nên QA VN chưa đồng ý bỏ ngay khi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bước kiểm tra Transfer Belt trong giai đoạn PMT1 (T12/2026); chỉ xóa bước này tại VN sau khi lô máy dùng Puli 35° + Belt đàn hồi mới đạt Cpk &gt;= 1,33 và không phát sinh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để thống nhất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Chuẩn bị hạ tầng phần cứng điều khiển tự động tại VN theo cấu hình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phục vụ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mạng nội bộ (LAN/VLAN) và vị trí lắp Mini PC theo cấu hình Spica (1 Mini PC / 4 máy MFP) đồng bộ với chuẩn JP để dùng chung phần mềm.</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duyệt chủ trương đồng bộ phần cứng theo hệ Spica để đưa vào dự toán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theo bảng giá Iris EXPのVN提案.xlsx</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Kết luận chính: Tổng dự toán 3 đề án có báo giá trong Iris EXPのVN提案.xlsx là 855.690.000 VNĐ (32.911,15 USD; làm tròn trên 纏め là 33.000 USD / 858tr VNĐ); nếu thay Robot bằng DP/Host PC sau DR4 thì duyệt trước No.22 là 101.690.000 VNĐ (3.911,15 USD).</a:t>
            </a:r>
          </a:p>
        </p:txBody>
      </p:sp>
      <p:sp>
        <p:nvSpPr>
          <p:cNvPr id="7" name="TextBox 6"/>
          <p:cNvSpPr txBox="1"/>
          <p:nvPr/>
        </p:nvSpPr>
        <p:spPr>
          <a:xfrm>
            <a:off x="274320" y="1197864"/>
            <a:ext cx="6629400" cy="201168"/>
          </a:xfrm>
          <a:prstGeom prst="rect">
            <a:avLst/>
          </a:prstGeom>
          <a:noFill/>
        </p:spPr>
        <p:txBody>
          <a:bodyPr wrap="square" lIns="18288" rIns="18288" tIns="9144" bIns="9144">
            <a:spAutoFit/>
          </a:bodyPr>
          <a:lstStyle/>
          <a:p>
            <a:pPr>
              <a:defRPr sz="780" b="1">
                <a:solidFill>
                  <a:srgbClr val="1E6E3E"/>
                </a:solidFill>
                <a:latin typeface="Arial"/>
              </a:defRPr>
            </a:pPr>
            <a:r>
              <a:t>■ 1. BẢNG TỔNG HỢP KINH PHÍ TRÌNH DUYỆT THEO FILE IRIS EXPのVN提案.xlsx (TỶ GIÁ 26.000 VNĐ/USD)</a:t>
            </a:r>
          </a:p>
        </p:txBody>
      </p:sp>
      <p:graphicFrame>
        <p:nvGraphicFramePr>
          <p:cNvPr id="8" name="Table 7"/>
          <p:cNvGraphicFramePr>
            <a:graphicFrameLocks noGrp="1"/>
          </p:cNvGraphicFramePr>
          <p:nvPr/>
        </p:nvGraphicFramePr>
        <p:xfrm>
          <a:off x="274320" y="1389888"/>
          <a:ext cx="6629400" cy="260604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36912">
                <a:tc>
                  <a:txBody>
                    <a:bodyPr/>
                    <a:lstStyle/>
                    <a:p>
                      <a:pPr algn="ctr">
                        <a:defRPr sz="620" b="1">
                          <a:solidFill>
                            <a:srgbClr val="FFFFFF"/>
                          </a:solidFill>
                          <a:latin typeface="Arial"/>
                        </a:defRPr>
                      </a:pPr>
                      <a:r>
                        <a:t>Mục</a:t>
                      </a:r>
                    </a:p>
                  </a:txBody>
                  <a:tcPr anchor="ctr" marL="36576" marR="36576" marT="9144" marB="9144">
                    <a:solidFill>
                      <a:srgbClr val="1B365D"/>
                    </a:solidFill>
                  </a:tcPr>
                </a:tc>
                <a:tc>
                  <a:txBody>
                    <a:bodyPr/>
                    <a:lstStyle/>
                    <a:p>
                      <a:pPr algn="ctr">
                        <a:defRPr sz="620" b="1">
                          <a:solidFill>
                            <a:srgbClr val="FFFFFF"/>
                          </a:solidFill>
                          <a:latin typeface="Arial"/>
                        </a:defRPr>
                      </a:pPr>
                      <a:r>
                        <a:t>Hạng mục thiết bị trong Iris EXPのVN提案.xlsx</a:t>
                      </a:r>
                      <a:br/>
                      <a:r>
                        <a:t>(Sheets: 纏め, 自動Scan tự động, 自動導通・耐圧検査, 設備リスト)</a:t>
                      </a:r>
                    </a:p>
                  </a:txBody>
                  <a:tcPr anchor="ctr" marL="36576" marR="36576" marT="9144" marB="9144">
                    <a:solidFill>
                      <a:srgbClr val="1B365D"/>
                    </a:solidFill>
                  </a:tcPr>
                </a:tc>
                <a:tc>
                  <a:txBody>
                    <a:bodyPr/>
                    <a:lstStyle/>
                    <a:p>
                      <a:pPr algn="ctr">
                        <a:defRPr sz="62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20" b="1">
                          <a:solidFill>
                            <a:srgbClr val="FFFFFF"/>
                          </a:solidFill>
                          <a:latin typeface="Arial"/>
                        </a:defRPr>
                      </a:pPr>
                      <a:r>
                        <a:t>Quy đổi (USD)</a:t>
                      </a:r>
                      <a:br/>
                      <a:r>
                        <a:t>[Theo file nguồn]</a:t>
                      </a:r>
                    </a:p>
                  </a:txBody>
                  <a:tcPr anchor="ctr" marL="36576" marR="36576" marT="9144" marB="9144">
                    <a:solidFill>
                      <a:srgbClr val="1B365D"/>
                    </a:solidFill>
                  </a:tcPr>
                </a:tc>
                <a:tc>
                  <a:txBody>
                    <a:bodyPr/>
                    <a:lstStyle/>
                    <a:p>
                      <a:pPr algn="ctr">
                        <a:defRPr sz="620" b="1">
                          <a:solidFill>
                            <a:srgbClr val="FFFFFF"/>
                          </a:solidFill>
                          <a:latin typeface="Arial"/>
                        </a:defRPr>
                      </a:pPr>
                      <a:r>
                        <a:t>Hiệu quả giảm TG &amp;</a:t>
                      </a:r>
                      <a:br/>
                      <a:r>
                        <a:t>Tiết kiệm/năm</a:t>
                      </a:r>
                    </a:p>
                  </a:txBody>
                  <a:tcPr anchor="ctr" marL="36576" marR="36576" marT="9144" marB="9144">
                    <a:solidFill>
                      <a:srgbClr val="1B365D"/>
                    </a:solidFill>
                  </a:tcPr>
                </a:tc>
              </a:tr>
              <a:tr h="236912">
                <a:tc>
                  <a:txBody>
                    <a:bodyPr/>
                    <a:lstStyle/>
                    <a:p>
                      <a:pPr algn="ctr">
                        <a:defRPr sz="530" b="1">
                          <a:solidFill>
                            <a:srgbClr val="1E242B"/>
                          </a:solidFill>
                          <a:latin typeface="Arial"/>
                        </a:defRPr>
                      </a:pPr>
                      <a:r>
                        <a:t>No.22</a:t>
                      </a:r>
                      <a:br/>
                      <a:r>
                        <a:t>Nhóm 1</a:t>
                      </a:r>
                    </a:p>
                  </a:txBody>
                  <a:tcPr anchor="ctr" marL="36576" marR="36576" marT="9144" marB="9144">
                    <a:solidFill>
                      <a:srgbClr val="FFFFFF"/>
                    </a:solidFill>
                  </a:tcPr>
                </a:tc>
                <a:tc>
                  <a:txBody>
                    <a:bodyPr/>
                    <a:lstStyle/>
                    <a:p>
                      <a:pPr algn="l">
                        <a:defRPr sz="530">
                          <a:solidFill>
                            <a:srgbClr val="1E242B"/>
                          </a:solidFill>
                          <a:latin typeface="Arial"/>
                        </a:defRPr>
                      </a:pPr>
                      <a:r>
                        <a:t>Cụm khí nén SMC (Mục 18~19): 5 Van SY5120-5LZD-01 (5tr) + Xylanh MGCLB16-50 (4tr), CXSL15-50 (5,1tr), CXSL15-70 (5,6tr), 3x CXSL15-100 (18tr)</a:t>
                      </a:r>
                    </a:p>
                  </a:txBody>
                  <a:tcPr anchor="ctr" marL="36576" marR="36576" marT="9144" marB="9144">
                    <a:solidFill>
                      <a:srgbClr val="FFFFFF"/>
                    </a:solidFill>
                  </a:tcPr>
                </a:tc>
                <a:tc>
                  <a:txBody>
                    <a:bodyPr/>
                    <a:lstStyle/>
                    <a:p>
                      <a:pPr algn="r">
                        <a:defRPr sz="530">
                          <a:solidFill>
                            <a:srgbClr val="1E242B"/>
                          </a:solidFill>
                          <a:latin typeface="Arial"/>
                        </a:defRPr>
                      </a:pPr>
                      <a:r>
                        <a:t>37.700.000 VNĐ</a:t>
                      </a:r>
                    </a:p>
                  </a:txBody>
                  <a:tcPr anchor="ctr" marL="36576" marR="36576" marT="9144" marB="9144">
                    <a:solidFill>
                      <a:srgbClr val="FFFFFF"/>
                    </a:solidFill>
                  </a:tcPr>
                </a:tc>
                <a:tc>
                  <a:txBody>
                    <a:bodyPr/>
                    <a:lstStyle/>
                    <a:p>
                      <a:pPr algn="r">
                        <a:defRPr sz="530">
                          <a:solidFill>
                            <a:srgbClr val="1E242B"/>
                          </a:solidFill>
                          <a:latin typeface="Arial"/>
                        </a:defRPr>
                      </a:pPr>
                      <a:r>
                        <a:t>1.450,00 USD</a:t>
                      </a:r>
                    </a:p>
                  </a:txBody>
                  <a:tcPr anchor="ctr" marL="36576" marR="36576" marT="9144" marB="9144">
                    <a:solidFill>
                      <a:srgbClr val="FFFFFF"/>
                    </a:solidFill>
                  </a:tcPr>
                </a:tc>
                <a:tc>
                  <a:txBody>
                    <a:bodyPr/>
                    <a:lstStyle/>
                    <a:p>
                      <a:pPr algn="l">
                        <a:defRPr sz="530">
                          <a:solidFill>
                            <a:srgbClr val="1E242B"/>
                          </a:solidFill>
                          <a:latin typeface="Arial"/>
                        </a:defRPr>
                      </a:pPr>
                      <a:r>
                        <a:t>37,1%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2</a:t>
                      </a:r>
                    </a:p>
                  </a:txBody>
                  <a:tcPr anchor="ctr" marL="36576" marR="36576" marT="9144" marB="9144">
                    <a:solidFill>
                      <a:srgbClr val="F7F9FC"/>
                    </a:solidFill>
                  </a:tcPr>
                </a:tc>
                <a:tc>
                  <a:txBody>
                    <a:bodyPr/>
                    <a:lstStyle/>
                    <a:p>
                      <a:pPr algn="l">
                        <a:defRPr sz="530">
                          <a:solidFill>
                            <a:srgbClr val="1E242B"/>
                          </a:solidFill>
                          <a:latin typeface="Arial"/>
                        </a:defRPr>
                      </a:pPr>
                      <a:r>
                        <a:t>Chi phí gia công cơ khí &amp; thiết bị điện phát sinh (Mục 25: Chi tiết gia công đồ gá và vật tư phụ phát sinh)</a:t>
                      </a:r>
                    </a:p>
                  </a:txBody>
                  <a:tcPr anchor="ctr" marL="36576" marR="36576" marT="9144" marB="9144">
                    <a:solidFill>
                      <a:srgbClr val="F7F9FC"/>
                    </a:solidFill>
                  </a:tcPr>
                </a:tc>
                <a:tc>
                  <a:txBody>
                    <a:bodyPr/>
                    <a:lstStyle/>
                    <a:p>
                      <a:pPr algn="r">
                        <a:defRPr sz="530">
                          <a:solidFill>
                            <a:srgbClr val="1E242B"/>
                          </a:solidFill>
                          <a:latin typeface="Arial"/>
                        </a:defRPr>
                      </a:pPr>
                      <a:r>
                        <a:t>20.000.000 VNĐ</a:t>
                      </a:r>
                    </a:p>
                  </a:txBody>
                  <a:tcPr anchor="ctr" marL="36576" marR="36576" marT="9144" marB="9144">
                    <a:solidFill>
                      <a:srgbClr val="F7F9FC"/>
                    </a:solidFill>
                  </a:tcPr>
                </a:tc>
                <a:tc>
                  <a:txBody>
                    <a:bodyPr/>
                    <a:lstStyle/>
                    <a:p>
                      <a:pPr algn="r">
                        <a:defRPr sz="530">
                          <a:solidFill>
                            <a:srgbClr val="1E242B"/>
                          </a:solidFill>
                          <a:latin typeface="Arial"/>
                        </a:defRPr>
                      </a:pPr>
                      <a:r>
                        <a:t>769,23 USD</a:t>
                      </a:r>
                    </a:p>
                  </a:txBody>
                  <a:tcPr anchor="ctr" marL="36576" marR="36576" marT="9144" marB="9144">
                    <a:solidFill>
                      <a:srgbClr val="F7F9FC"/>
                    </a:solidFill>
                  </a:tcPr>
                </a:tc>
                <a:tc>
                  <a:txBody>
                    <a:bodyPr/>
                    <a:lstStyle/>
                    <a:p>
                      <a:pPr algn="l">
                        <a:defRPr sz="530">
                          <a:solidFill>
                            <a:srgbClr val="1E242B"/>
                          </a:solidFill>
                          <a:latin typeface="Arial"/>
                        </a:defRPr>
                      </a:pPr>
                      <a:r>
                        <a:t>19,7%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3</a:t>
                      </a:r>
                    </a:p>
                  </a:txBody>
                  <a:tcPr anchor="ctr" marL="36576" marR="36576" marT="9144" marB="9144">
                    <a:solidFill>
                      <a:srgbClr val="FFFFFF"/>
                    </a:solidFill>
                  </a:tcPr>
                </a:tc>
                <a:tc>
                  <a:txBody>
                    <a:bodyPr/>
                    <a:lstStyle/>
                    <a:p>
                      <a:pPr algn="l">
                        <a:defRPr sz="530">
                          <a:solidFill>
                            <a:srgbClr val="1E242B"/>
                          </a:solidFill>
                          <a:latin typeface="Arial"/>
                        </a:defRPr>
                      </a:pPr>
                      <a:r>
                        <a:t>Điều khiển &amp; Cảm biến (Mục 1, 3, 20, 21): PLC FX5U-64MT/ES (9,5tr) + Module FX5-16EYR/ES (2tr) + HMI Wecon PI3070ig (5tr) + 2 Cảm biến E3Z-LS61 (3tr)</a:t>
                      </a:r>
                    </a:p>
                  </a:txBody>
                  <a:tcPr anchor="ctr" marL="36576" marR="36576" marT="9144" marB="9144">
                    <a:solidFill>
                      <a:srgbClr val="FFFFFF"/>
                    </a:solidFill>
                  </a:tcPr>
                </a:tc>
                <a:tc>
                  <a:txBody>
                    <a:bodyPr/>
                    <a:lstStyle/>
                    <a:p>
                      <a:pPr algn="r">
                        <a:defRPr sz="530">
                          <a:solidFill>
                            <a:srgbClr val="1E242B"/>
                          </a:solidFill>
                          <a:latin typeface="Arial"/>
                        </a:defRPr>
                      </a:pPr>
                      <a:r>
                        <a:t>19.500.000 VNĐ</a:t>
                      </a:r>
                    </a:p>
                  </a:txBody>
                  <a:tcPr anchor="ctr" marL="36576" marR="36576" marT="9144" marB="9144">
                    <a:solidFill>
                      <a:srgbClr val="FFFFFF"/>
                    </a:solidFill>
                  </a:tcPr>
                </a:tc>
                <a:tc>
                  <a:txBody>
                    <a:bodyPr/>
                    <a:lstStyle/>
                    <a:p>
                      <a:pPr algn="r">
                        <a:defRPr sz="530">
                          <a:solidFill>
                            <a:srgbClr val="1E242B"/>
                          </a:solidFill>
                          <a:latin typeface="Arial"/>
                        </a:defRPr>
                      </a:pPr>
                      <a:r>
                        <a:t>750,00 USD</a:t>
                      </a:r>
                    </a:p>
                  </a:txBody>
                  <a:tcPr anchor="ctr" marL="36576" marR="36576" marT="9144" marB="9144">
                    <a:solidFill>
                      <a:srgbClr val="FFFFFF"/>
                    </a:solidFill>
                  </a:tcPr>
                </a:tc>
                <a:tc>
                  <a:txBody>
                    <a:bodyPr/>
                    <a:lstStyle/>
                    <a:p>
                      <a:pPr algn="l">
                        <a:defRPr sz="530">
                          <a:solidFill>
                            <a:srgbClr val="1E242B"/>
                          </a:solidFill>
                          <a:latin typeface="Arial"/>
                        </a:defRPr>
                      </a:pPr>
                      <a:r>
                        <a:t>19,2%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4</a:t>
                      </a:r>
                    </a:p>
                  </a:txBody>
                  <a:tcPr anchor="ctr" marL="36576" marR="36576" marT="9144" marB="9144">
                    <a:solidFill>
                      <a:srgbClr val="F7F9FC"/>
                    </a:solidFill>
                  </a:tcPr>
                </a:tc>
                <a:tc>
                  <a:txBody>
                    <a:bodyPr/>
                    <a:lstStyle/>
                    <a:p>
                      <a:pPr algn="l">
                        <a:defRPr sz="530">
                          <a:solidFill>
                            <a:srgbClr val="1E242B"/>
                          </a:solidFill>
                          <a:latin typeface="Arial"/>
                        </a:defRPr>
                      </a:pPr>
                      <a:r>
                        <a:t>Khung nhôm Misumi (Mục 22~24): 15 Thanh nhôm LCF8-4040-2000 (7,5tr) + 50 Ke góc HBLTS8-45 (3tr) + 100 Nut HNTP8-8 (2tr)</a:t>
                      </a:r>
                    </a:p>
                  </a:txBody>
                  <a:tcPr anchor="ctr" marL="36576" marR="36576" marT="9144" marB="9144">
                    <a:solidFill>
                      <a:srgbClr val="F7F9FC"/>
                    </a:solidFill>
                  </a:tcPr>
                </a:tc>
                <a:tc>
                  <a:txBody>
                    <a:bodyPr/>
                    <a:lstStyle/>
                    <a:p>
                      <a:pPr algn="r">
                        <a:defRPr sz="530">
                          <a:solidFill>
                            <a:srgbClr val="1E242B"/>
                          </a:solidFill>
                          <a:latin typeface="Arial"/>
                        </a:defRPr>
                      </a:pPr>
                      <a:r>
                        <a:t>12.500.000 VNĐ</a:t>
                      </a:r>
                    </a:p>
                  </a:txBody>
                  <a:tcPr anchor="ctr" marL="36576" marR="36576" marT="9144" marB="9144">
                    <a:solidFill>
                      <a:srgbClr val="F7F9FC"/>
                    </a:solidFill>
                  </a:tcPr>
                </a:tc>
                <a:tc>
                  <a:txBody>
                    <a:bodyPr/>
                    <a:lstStyle/>
                    <a:p>
                      <a:pPr algn="r">
                        <a:defRPr sz="530">
                          <a:solidFill>
                            <a:srgbClr val="1E242B"/>
                          </a:solidFill>
                          <a:latin typeface="Arial"/>
                        </a:defRPr>
                      </a:pPr>
                      <a:r>
                        <a:t>480,77 USD</a:t>
                      </a:r>
                    </a:p>
                  </a:txBody>
                  <a:tcPr anchor="ctr" marL="36576" marR="36576" marT="9144" marB="9144">
                    <a:solidFill>
                      <a:srgbClr val="F7F9FC"/>
                    </a:solidFill>
                  </a:tcPr>
                </a:tc>
                <a:tc>
                  <a:txBody>
                    <a:bodyPr/>
                    <a:lstStyle/>
                    <a:p>
                      <a:pPr algn="l">
                        <a:defRPr sz="530">
                          <a:solidFill>
                            <a:srgbClr val="1E242B"/>
                          </a:solidFill>
                          <a:latin typeface="Arial"/>
                        </a:defRPr>
                      </a:pPr>
                      <a:r>
                        <a:t>12,3%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5</a:t>
                      </a:r>
                    </a:p>
                  </a:txBody>
                  <a:tcPr anchor="ctr" marL="36576" marR="36576" marT="9144" marB="9144">
                    <a:solidFill>
                      <a:srgbClr val="FFFFFF"/>
                    </a:solidFill>
                  </a:tcPr>
                </a:tc>
                <a:tc>
                  <a:txBody>
                    <a:bodyPr/>
                    <a:lstStyle/>
                    <a:p>
                      <a:pPr algn="l">
                        <a:defRPr sz="530">
                          <a:solidFill>
                            <a:srgbClr val="1E242B"/>
                          </a:solidFill>
                          <a:latin typeface="Arial"/>
                        </a:defRPr>
                      </a:pPr>
                      <a:r>
                        <a:t>Linh kiện tủ điện (Mục 2, 4~16): CP30-BA (0,65tr), 3 Contactor S-T32 (1,5tr), Nguồn Omron S8VK (0,7tr), Cầu đấu/chặn/jump/công tắc/còi/đèn/máng/ray (4,14tr)</a:t>
                      </a:r>
                    </a:p>
                  </a:txBody>
                  <a:tcPr anchor="ctr" marL="36576" marR="36576" marT="9144" marB="9144">
                    <a:solidFill>
                      <a:srgbClr val="FFFFFF"/>
                    </a:solidFill>
                  </a:tcPr>
                </a:tc>
                <a:tc>
                  <a:txBody>
                    <a:bodyPr/>
                    <a:lstStyle/>
                    <a:p>
                      <a:pPr algn="r">
                        <a:defRPr sz="530">
                          <a:solidFill>
                            <a:srgbClr val="1E242B"/>
                          </a:solidFill>
                          <a:latin typeface="Arial"/>
                        </a:defRPr>
                      </a:pPr>
                      <a:r>
                        <a:t>6.990.000 VNĐ</a:t>
                      </a:r>
                    </a:p>
                  </a:txBody>
                  <a:tcPr anchor="ctr" marL="36576" marR="36576" marT="9144" marB="9144">
                    <a:solidFill>
                      <a:srgbClr val="FFFFFF"/>
                    </a:solidFill>
                  </a:tcPr>
                </a:tc>
                <a:tc>
                  <a:txBody>
                    <a:bodyPr/>
                    <a:lstStyle/>
                    <a:p>
                      <a:pPr algn="r">
                        <a:defRPr sz="530">
                          <a:solidFill>
                            <a:srgbClr val="1E242B"/>
                          </a:solidFill>
                          <a:latin typeface="Arial"/>
                        </a:defRPr>
                      </a:pPr>
                      <a:r>
                        <a:t>268,85 USD</a:t>
                      </a:r>
                    </a:p>
                  </a:txBody>
                  <a:tcPr anchor="ctr" marL="36576" marR="36576" marT="9144" marB="9144">
                    <a:solidFill>
                      <a:srgbClr val="FFFFFF"/>
                    </a:solidFill>
                  </a:tcPr>
                </a:tc>
                <a:tc>
                  <a:txBody>
                    <a:bodyPr/>
                    <a:lstStyle/>
                    <a:p>
                      <a:pPr algn="l">
                        <a:defRPr sz="530">
                          <a:solidFill>
                            <a:srgbClr val="1E242B"/>
                          </a:solidFill>
                          <a:latin typeface="Arial"/>
                        </a:defRPr>
                      </a:pPr>
                      <a:r>
                        <a:t>6,9%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6</a:t>
                      </a:r>
                    </a:p>
                  </a:txBody>
                  <a:tcPr anchor="ctr" marL="36576" marR="36576" marT="9144" marB="9144">
                    <a:solidFill>
                      <a:srgbClr val="F7F9FC"/>
                    </a:solidFill>
                  </a:tcPr>
                </a:tc>
                <a:tc>
                  <a:txBody>
                    <a:bodyPr/>
                    <a:lstStyle/>
                    <a:p>
                      <a:pPr algn="l">
                        <a:defRPr sz="530">
                          <a:solidFill>
                            <a:srgbClr val="1E242B"/>
                          </a:solidFill>
                          <a:latin typeface="Arial"/>
                        </a:defRPr>
                      </a:pPr>
                      <a:r>
                        <a:t>Vỏ tủ điện điều khiển (Mục 17: 1 Tủ điện x 5.000.000 VNĐ; cột tham khảo ghi "Xin báo giá")</a:t>
                      </a:r>
                    </a:p>
                  </a:txBody>
                  <a:tcPr anchor="ctr" marL="36576" marR="36576" marT="9144" marB="9144">
                    <a:solidFill>
                      <a:srgbClr val="F7F9FC"/>
                    </a:solidFill>
                  </a:tcPr>
                </a:tc>
                <a:tc>
                  <a:txBody>
                    <a:bodyPr/>
                    <a:lstStyle/>
                    <a:p>
                      <a:pPr algn="r">
                        <a:defRPr sz="530">
                          <a:solidFill>
                            <a:srgbClr val="1E242B"/>
                          </a:solidFill>
                          <a:latin typeface="Arial"/>
                        </a:defRPr>
                      </a:pPr>
                      <a:r>
                        <a:t>5.000.000 VNĐ</a:t>
                      </a:r>
                    </a:p>
                  </a:txBody>
                  <a:tcPr anchor="ctr" marL="36576" marR="36576" marT="9144" marB="9144">
                    <a:solidFill>
                      <a:srgbClr val="F7F9FC"/>
                    </a:solidFill>
                  </a:tcPr>
                </a:tc>
                <a:tc>
                  <a:txBody>
                    <a:bodyPr/>
                    <a:lstStyle/>
                    <a:p>
                      <a:pPr algn="r">
                        <a:defRPr sz="530">
                          <a:solidFill>
                            <a:srgbClr val="1E242B"/>
                          </a:solidFill>
                          <a:latin typeface="Arial"/>
                        </a:defRPr>
                      </a:pPr>
                      <a:r>
                        <a:t>192,31 USD</a:t>
                      </a:r>
                    </a:p>
                  </a:txBody>
                  <a:tcPr anchor="ctr" marL="36576" marR="36576" marT="9144" marB="9144">
                    <a:solidFill>
                      <a:srgbClr val="F7F9FC"/>
                    </a:solidFill>
                  </a:tcPr>
                </a:tc>
                <a:tc>
                  <a:txBody>
                    <a:bodyPr/>
                    <a:lstStyle/>
                    <a:p>
                      <a:pPr algn="l">
                        <a:defRPr sz="530">
                          <a:solidFill>
                            <a:srgbClr val="1E242B"/>
                          </a:solidFill>
                          <a:latin typeface="Arial"/>
                        </a:defRPr>
                      </a:pPr>
                      <a:r>
                        <a:t>4,9%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CỘNG</a:t>
                      </a:r>
                      <a:br/>
                      <a:r>
                        <a:t>No.22</a:t>
                      </a:r>
                    </a:p>
                  </a:txBody>
                  <a:tcPr anchor="ctr" marL="36576" marR="36576" marT="9144" marB="9144">
                    <a:solidFill>
                      <a:srgbClr val="EAF7EE"/>
                    </a:solidFill>
                  </a:tcPr>
                </a:tc>
                <a:tc>
                  <a:txBody>
                    <a:bodyPr/>
                    <a:lstStyle/>
                    <a:p>
                      <a:pPr algn="l">
                        <a:defRPr sz="530" b="1">
                          <a:solidFill>
                            <a:srgbClr val="1E242B"/>
                          </a:solidFill>
                          <a:latin typeface="Arial"/>
                        </a:defRPr>
                      </a:pPr>
                      <a:r>
                        <a:t>TỔNG ĐỀ ÁN 1 (No.22 - Tự động đo thông mạch, tiếp đất, chịu áp) [PHƯƠNG ÁN A]</a:t>
                      </a:r>
                      <a:br/>
                      <a:r>
                        <a:t>(Sheet 自動導通・耐圧検査: 101.700.000 VNĐ / 3.911,54 USD | Sheet 纏め: 4.000 USD)</a:t>
                      </a:r>
                    </a:p>
                  </a:txBody>
                  <a:tcPr anchor="ctr" marL="36576" marR="36576" marT="9144" marB="9144">
                    <a:solidFill>
                      <a:srgbClr val="EAF7EE"/>
                    </a:solidFill>
                  </a:tcPr>
                </a:tc>
                <a:tc>
                  <a:txBody>
                    <a:bodyPr/>
                    <a:lstStyle/>
                    <a:p>
                      <a:pPr algn="r">
                        <a:defRPr sz="530">
                          <a:solidFill>
                            <a:srgbClr val="1E242B"/>
                          </a:solidFill>
                          <a:latin typeface="Arial"/>
                        </a:defRPr>
                      </a:pPr>
                      <a:r>
                        <a:t>101.690.000 VNĐ</a:t>
                      </a:r>
                    </a:p>
                  </a:txBody>
                  <a:tcPr anchor="ctr" marL="36576" marR="36576" marT="9144" marB="9144">
                    <a:solidFill>
                      <a:srgbClr val="EAF7EE"/>
                    </a:solidFill>
                  </a:tcPr>
                </a:tc>
                <a:tc>
                  <a:txBody>
                    <a:bodyPr/>
                    <a:lstStyle/>
                    <a:p>
                      <a:pPr algn="r">
                        <a:defRPr sz="530">
                          <a:solidFill>
                            <a:srgbClr val="1E242B"/>
                          </a:solidFill>
                          <a:latin typeface="Arial"/>
                        </a:defRPr>
                      </a:pPr>
                      <a:r>
                        <a:t>3.911,15 USD</a:t>
                      </a:r>
                      <a:br/>
                      <a:r>
                        <a:t>(纏め: 4.000$)</a:t>
                      </a:r>
                    </a:p>
                  </a:txBody>
                  <a:tcPr anchor="ctr" marL="36576" marR="36576" marT="9144" marB="9144">
                    <a:solidFill>
                      <a:srgbClr val="EAF7EE"/>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AF7EE"/>
                    </a:solidFill>
                  </a:tcPr>
                </a:tc>
              </a:tr>
              <a:tr h="236912">
                <a:tc>
                  <a:txBody>
                    <a:bodyPr/>
                    <a:lstStyle/>
                    <a:p>
                      <a:pPr algn="ctr">
                        <a:defRPr sz="530" b="1">
                          <a:solidFill>
                            <a:srgbClr val="1E242B"/>
                          </a:solidFill>
                          <a:latin typeface="Arial"/>
                        </a:defRPr>
                      </a:pPr>
                      <a:r>
                        <a:t>No.23</a:t>
                      </a:r>
                      <a:br/>
                      <a:r>
                        <a:t>(Mục 2)</a:t>
                      </a:r>
                    </a:p>
                  </a:txBody>
                  <a:tcPr anchor="ctr" marL="36576" marR="36576" marT="9144" marB="9144">
                    <a:solidFill>
                      <a:srgbClr val="E8EEF5"/>
                    </a:solidFill>
                  </a:tcPr>
                </a:tc>
                <a:tc>
                  <a:txBody>
                    <a:bodyPr/>
                    <a:lstStyle/>
                    <a:p>
                      <a:pPr algn="l">
                        <a:defRPr sz="530">
                          <a:solidFill>
                            <a:srgbClr val="1E242B"/>
                          </a:solidFill>
                          <a:latin typeface="Arial"/>
                        </a:defRPr>
                      </a:pPr>
                      <a:r>
                        <a:t>Đề án 2 (No.23 - Robot đặt bản thảo ISU: U411 + SITC-2 + Halftone):</a:t>
                      </a:r>
                      <a:br/>
                      <a:r>
                        <a:t>2 Cell băng tải (200tr/$7.692) + Cấp nguồn (50tr/$1.923) + Định vị cáp (50tr/$1.923) + Robot (350tr/$13.462)</a:t>
                      </a:r>
                    </a:p>
                  </a:txBody>
                  <a:tcPr anchor="ctr" marL="36576" marR="36576" marT="9144" marB="9144">
                    <a:solidFill>
                      <a:srgbClr val="E8EEF5"/>
                    </a:solidFill>
                  </a:tcPr>
                </a:tc>
                <a:tc>
                  <a:txBody>
                    <a:bodyPr/>
                    <a:lstStyle/>
                    <a:p>
                      <a:pPr algn="r">
                        <a:defRPr sz="530">
                          <a:solidFill>
                            <a:srgbClr val="1E242B"/>
                          </a:solidFill>
                          <a:latin typeface="Arial"/>
                        </a:defRPr>
                      </a:pPr>
                      <a:r>
                        <a:t>650.000.000 VNĐ</a:t>
                      </a:r>
                    </a:p>
                  </a:txBody>
                  <a:tcPr anchor="ctr" marL="36576" marR="36576" marT="9144" marB="9144">
                    <a:solidFill>
                      <a:srgbClr val="E8EEF5"/>
                    </a:solidFill>
                  </a:tcPr>
                </a:tc>
                <a:tc>
                  <a:txBody>
                    <a:bodyPr/>
                    <a:lstStyle/>
                    <a:p>
                      <a:pPr algn="r">
                        <a:defRPr sz="530">
                          <a:solidFill>
                            <a:srgbClr val="1E242B"/>
                          </a:solidFill>
                          <a:latin typeface="Arial"/>
                        </a:defRPr>
                      </a:pPr>
                      <a:r>
                        <a:t>25.000,00 USD</a:t>
                      </a:r>
                    </a:p>
                  </a:txBody>
                  <a:tcPr anchor="ctr" marL="36576" marR="36576" marT="9144" marB="9144">
                    <a:solidFill>
                      <a:srgbClr val="E8EEF5"/>
                    </a:solidFill>
                  </a:tcPr>
                </a:tc>
                <a:tc>
                  <a:txBody>
                    <a:bodyPr/>
                    <a:lstStyle/>
                    <a:p>
                      <a:pPr algn="l">
                        <a:defRPr sz="530">
                          <a:solidFill>
                            <a:srgbClr val="1E242B"/>
                          </a:solidFill>
                          <a:latin typeface="Arial"/>
                        </a:defRPr>
                      </a:pPr>
                      <a:r>
                        <a:t>-110s/máy</a:t>
                      </a:r>
                      <a:br/>
                      <a:r>
                        <a:t>108,53 tr/năm ($4.174)</a:t>
                      </a:r>
                    </a:p>
                  </a:txBody>
                  <a:tcPr anchor="ctr" marL="36576" marR="36576" marT="9144" marB="9144">
                    <a:solidFill>
                      <a:srgbClr val="E8EEF5"/>
                    </a:solidFill>
                  </a:tcPr>
                </a:tc>
              </a:tr>
              <a:tr h="236912">
                <a:tc>
                  <a:txBody>
                    <a:bodyPr/>
                    <a:lstStyle/>
                    <a:p>
                      <a:pPr algn="ctr">
                        <a:defRPr sz="530" b="1">
                          <a:solidFill>
                            <a:srgbClr val="1E242B"/>
                          </a:solidFill>
                          <a:latin typeface="Arial"/>
                        </a:defRPr>
                      </a:pPr>
                      <a:r>
                        <a:t>No.24</a:t>
                      </a:r>
                      <a:br/>
                      <a:r>
                        <a:t>(Mục 3)</a:t>
                      </a:r>
                    </a:p>
                  </a:txBody>
                  <a:tcPr anchor="ctr" marL="36576" marR="36576" marT="9144" marB="9144">
                    <a:solidFill>
                      <a:srgbClr val="E8EEF5"/>
                    </a:solidFill>
                  </a:tcPr>
                </a:tc>
                <a:tc>
                  <a:txBody>
                    <a:bodyPr/>
                    <a:lstStyle/>
                    <a:p>
                      <a:pPr algn="l">
                        <a:defRPr sz="530">
                          <a:solidFill>
                            <a:srgbClr val="1E242B"/>
                          </a:solidFill>
                          <a:latin typeface="Arial"/>
                        </a:defRPr>
                      </a:pPr>
                      <a:r>
                        <a:t>Đề án 3 (No.24 - Robot kết nối USB, Camera đánh giá Panel &amp; Camera AI + Robot chấm tọa độ U201 trên Panel)</a:t>
                      </a:r>
                    </a:p>
                  </a:txBody>
                  <a:tcPr anchor="ctr" marL="36576" marR="36576" marT="9144" marB="9144">
                    <a:solidFill>
                      <a:srgbClr val="E8EEF5"/>
                    </a:solidFill>
                  </a:tcPr>
                </a:tc>
                <a:tc>
                  <a:txBody>
                    <a:bodyPr/>
                    <a:lstStyle/>
                    <a:p>
                      <a:pPr algn="r">
                        <a:defRPr sz="530">
                          <a:solidFill>
                            <a:srgbClr val="1E242B"/>
                          </a:solidFill>
                          <a:latin typeface="Arial"/>
                        </a:defRPr>
                      </a:pPr>
                      <a:r>
                        <a:t>104.000.000 VNĐ</a:t>
                      </a:r>
                    </a:p>
                  </a:txBody>
                  <a:tcPr anchor="ctr" marL="36576" marR="36576" marT="9144" marB="9144">
                    <a:solidFill>
                      <a:srgbClr val="E8EEF5"/>
                    </a:solidFill>
                  </a:tcPr>
                </a:tc>
                <a:tc>
                  <a:txBody>
                    <a:bodyPr/>
                    <a:lstStyle/>
                    <a:p>
                      <a:pPr algn="r">
                        <a:defRPr sz="530">
                          <a:solidFill>
                            <a:srgbClr val="1E242B"/>
                          </a:solidFill>
                          <a:latin typeface="Arial"/>
                        </a:defRPr>
                      </a:pPr>
                      <a:r>
                        <a:t>4.000,00 USD</a:t>
                      </a:r>
                    </a:p>
                  </a:txBody>
                  <a:tcPr anchor="ctr" marL="36576" marR="36576" marT="9144" marB="9144">
                    <a:solidFill>
                      <a:srgbClr val="E8EEF5"/>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8EEF5"/>
                    </a:solidFill>
                  </a:tcPr>
                </a:tc>
              </a:tr>
              <a:tr h="236920">
                <a:tc>
                  <a:txBody>
                    <a:bodyPr/>
                    <a:lstStyle/>
                    <a:p>
                      <a:pPr algn="ctr">
                        <a:defRPr sz="530" b="1">
                          <a:solidFill>
                            <a:srgbClr val="1E242B"/>
                          </a:solidFill>
                          <a:latin typeface="Arial"/>
                        </a:defRPr>
                      </a:pPr>
                      <a:r>
                        <a:t>TỔNG</a:t>
                      </a:r>
                      <a:br/>
                      <a:r>
                        <a:t>3 ĐA</a:t>
                      </a:r>
                    </a:p>
                  </a:txBody>
                  <a:tcPr anchor="ctr" marL="36576" marR="36576" marT="9144" marB="9144">
                    <a:solidFill>
                      <a:srgbClr val="EAF7EE"/>
                    </a:solidFill>
                  </a:tcPr>
                </a:tc>
                <a:tc>
                  <a:txBody>
                    <a:bodyPr/>
                    <a:lstStyle/>
                    <a:p>
                      <a:pPr algn="l">
                        <a:defRPr sz="530" b="1">
                          <a:solidFill>
                            <a:srgbClr val="1E242B"/>
                          </a:solidFill>
                          <a:latin typeface="Arial"/>
                        </a:defRPr>
                      </a:pPr>
                      <a:r>
                        <a:t>TỔNG CỘNG 3 ĐỀ ÁN TRONG IRIS EXPのVN提案.xlsx (No.22 + No.23 + No.24) [PHƯƠNG ÁN B]</a:t>
                      </a:r>
                      <a:br/>
                      <a:r>
                        <a:t>(Theo thuyết minh: 855.700.000 VNĐ / 32.911,54 USD | Theo bảng 纏め: 858.000.000 VNĐ / 33.000 USD)</a:t>
                      </a:r>
                    </a:p>
                  </a:txBody>
                  <a:tcPr anchor="ctr" marL="36576" marR="36576" marT="9144" marB="9144">
                    <a:solidFill>
                      <a:srgbClr val="EAF7EE"/>
                    </a:solidFill>
                  </a:tcPr>
                </a:tc>
                <a:tc>
                  <a:txBody>
                    <a:bodyPr/>
                    <a:lstStyle/>
                    <a:p>
                      <a:pPr algn="r">
                        <a:defRPr sz="530">
                          <a:solidFill>
                            <a:srgbClr val="1E242B"/>
                          </a:solidFill>
                          <a:latin typeface="Arial"/>
                        </a:defRPr>
                      </a:pPr>
                      <a:r>
                        <a:t>855.690.000 VNĐ</a:t>
                      </a:r>
                    </a:p>
                  </a:txBody>
                  <a:tcPr anchor="ctr" marL="36576" marR="36576" marT="9144" marB="9144">
                    <a:solidFill>
                      <a:srgbClr val="EAF7EE"/>
                    </a:solidFill>
                  </a:tcPr>
                </a:tc>
                <a:tc>
                  <a:txBody>
                    <a:bodyPr/>
                    <a:lstStyle/>
                    <a:p>
                      <a:pPr algn="r">
                        <a:defRPr sz="530">
                          <a:solidFill>
                            <a:srgbClr val="1E242B"/>
                          </a:solidFill>
                          <a:latin typeface="Arial"/>
                        </a:defRPr>
                      </a:pPr>
                      <a:r>
                        <a:t>32.911,15 USD</a:t>
                      </a:r>
                      <a:br/>
                      <a:r>
                        <a:t>(纏め: 33.000$)</a:t>
                      </a:r>
                    </a:p>
                  </a:txBody>
                  <a:tcPr anchor="ctr" marL="36576" marR="36576" marT="9144" marB="9144">
                    <a:solidFill>
                      <a:srgbClr val="EAF7EE"/>
                    </a:solidFill>
                  </a:tcPr>
                </a:tc>
                <a:tc>
                  <a:txBody>
                    <a:bodyPr/>
                    <a:lstStyle/>
                    <a:p>
                      <a:pPr algn="l">
                        <a:defRPr sz="530">
                          <a:solidFill>
                            <a:srgbClr val="1E242B"/>
                          </a:solidFill>
                          <a:latin typeface="Arial"/>
                        </a:defRPr>
                      </a:pPr>
                      <a:r>
                        <a:t>-170s/máy</a:t>
                      </a:r>
                      <a:br/>
                      <a:r>
                        <a:t>167,73 tr/năm ($6.451)</a:t>
                      </a:r>
                    </a:p>
                  </a:txBody>
                  <a:tcPr anchor="ctr" marL="36576" marR="36576" marT="9144" marB="9144">
                    <a:solidFill>
                      <a:srgbClr val="EAF7EE"/>
                    </a:solidFill>
                  </a:tcPr>
                </a:tc>
              </a:tr>
            </a:tbl>
          </a:graphicData>
        </a:graphic>
      </p:graphicFrame>
      <p:sp>
        <p:nvSpPr>
          <p:cNvPr id="9" name="TextBox 8"/>
          <p:cNvSpPr txBox="1"/>
          <p:nvPr/>
        </p:nvSpPr>
        <p:spPr>
          <a:xfrm>
            <a:off x="274320" y="4069080"/>
            <a:ext cx="6629400" cy="182880"/>
          </a:xfrm>
          <a:prstGeom prst="rect">
            <a:avLst/>
          </a:prstGeom>
          <a:noFill/>
        </p:spPr>
        <p:txBody>
          <a:bodyPr wrap="square" lIns="18288" rIns="18288" tIns="9144" bIns="9144">
            <a:spAutoFit/>
          </a:bodyPr>
          <a:lstStyle/>
          <a:p>
            <a:pPr>
              <a:defRPr sz="780" b="1">
                <a:solidFill>
                  <a:srgbClr val="B96800"/>
                </a:solidFill>
                <a:latin typeface="Arial"/>
              </a:defRPr>
            </a:pPr>
            <a:r>
              <a:t>■ 2. DANH MỤC ĐANG CHỜ BÁO GIÁ (見積中 / 検討中) TÁCH RIÊNG</a:t>
            </a:r>
          </a:p>
        </p:txBody>
      </p:sp>
      <p:graphicFrame>
        <p:nvGraphicFramePr>
          <p:cNvPr id="10" name="Table 9"/>
          <p:cNvGraphicFramePr>
            <a:graphicFrameLocks noGrp="1"/>
          </p:cNvGraphicFramePr>
          <p:nvPr/>
        </p:nvGraphicFramePr>
        <p:xfrm>
          <a:off x="274320" y="4261104"/>
          <a:ext cx="6629400" cy="1993392"/>
        </p:xfrm>
        <a:graphic>
          <a:graphicData uri="http://schemas.openxmlformats.org/drawingml/2006/table">
            <a:tbl>
              <a:tblPr firstRow="1" bandRow="1">
                <a:tableStyleId>{5C22544A-7EE6-4342-B048-85BDC9FD1C3A}</a:tableStyleId>
              </a:tblPr>
              <a:tblGrid>
                <a:gridCol w="1234440"/>
                <a:gridCol w="3108960"/>
                <a:gridCol w="1097280"/>
                <a:gridCol w="1188720"/>
              </a:tblGrid>
              <a:tr h="398678">
                <a:tc>
                  <a:txBody>
                    <a:bodyPr/>
                    <a:lstStyle/>
                    <a:p>
                      <a:pPr algn="ctr">
                        <a:defRPr sz="63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30" b="1">
                          <a:solidFill>
                            <a:srgbClr val="FFFFFF"/>
                          </a:solidFill>
                          <a:latin typeface="Arial"/>
                        </a:defRPr>
                      </a:pPr>
                      <a:r>
                        <a:t>Danh sách các đề án cụ thể</a:t>
                      </a:r>
                    </a:p>
                  </a:txBody>
                  <a:tcPr anchor="ctr" marL="36576" marR="36576" marT="9144" marB="9144">
                    <a:solidFill>
                      <a:srgbClr val="1B365D"/>
                    </a:solidFill>
                  </a:tcPr>
                </a:tc>
                <a:tc>
                  <a:txBody>
                    <a:bodyPr/>
                    <a:lstStyle/>
                    <a:p>
                      <a:pPr algn="ctr">
                        <a:defRPr sz="63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30" b="1">
                          <a:solidFill>
                            <a:srgbClr val="FFFFFF"/>
                          </a:solidFill>
                          <a:latin typeface="Arial"/>
                        </a:defRPr>
                      </a:pPr>
                      <a:r>
                        <a:t>Xử lý ngân sách</a:t>
                      </a:r>
                    </a:p>
                  </a:txBody>
                  <a:tcPr anchor="ctr" marL="36576" marR="36576" marT="9144" marB="9144">
                    <a:solidFill>
                      <a:srgbClr val="1B365D"/>
                    </a:solidFill>
                  </a:tcPr>
                </a:tc>
              </a:tr>
              <a:tr h="398678">
                <a:tc>
                  <a:txBody>
                    <a:bodyPr/>
                    <a:lstStyle/>
                    <a:p>
                      <a:pPr algn="l">
                        <a:defRPr sz="560" b="1">
                          <a:solidFill>
                            <a:srgbClr val="1E242B"/>
                          </a:solidFill>
                          <a:latin typeface="Arial"/>
                        </a:defRPr>
                      </a:pPr>
                      <a:r>
                        <a:t>A. Đang chờ báo giá</a:t>
                      </a:r>
                      <a:br/>
                      <a:r>
                        <a:t>(見積中 / 検討中)</a:t>
                      </a:r>
                      <a:br/>
                      <a:r>
                        <a:t>[10 đề án TB / DP]</a:t>
                      </a:r>
                    </a:p>
                  </a:txBody>
                  <a:tcPr anchor="ctr" marL="36576" marR="36576" marT="9144" marB="9144">
                    <a:solidFill>
                      <a:srgbClr val="FEF7E6"/>
                    </a:solidFill>
                  </a:tcPr>
                </a:tc>
                <a:tc>
                  <a:txBody>
                    <a:bodyPr/>
                    <a:lstStyle/>
                    <a:p>
                      <a:pPr algn="l">
                        <a:defRPr sz="560">
                          <a:solidFill>
                            <a:srgbClr val="1E242B"/>
                          </a:solidFill>
                          <a:latin typeface="Arial"/>
                        </a:defRPr>
                      </a:pPr>
                      <a:r>
                        <a:t>• Mục 4 trong VN提案.xlsx (No.25): Lắp bổ sung DP vào máy thực nghiệm để chuyển ảnh liên tục + PC tự phán định (検討中 / 見積中)</a:t>
                      </a:r>
                      <a:br/>
                      <a:r>
                        <a:t>• Cụm A-1 ~ A-4: No.18 (Gá nạp FW), No.19 (Không tháo nắp/cáp), No.20 (Mạng hóa log USB), No.21 (Gá Option), No.27 (Camera HIKROBOT), No.28, No.31, No.33, No.35</a:t>
                      </a:r>
                    </a:p>
                  </a:txBody>
                  <a:tcPr anchor="ctr" marL="36576" marR="36576" marT="9144" marB="9144">
                    <a:solidFill>
                      <a:srgbClr val="FEF7E6"/>
                    </a:solidFill>
                  </a:tcPr>
                </a:tc>
                <a:tc>
                  <a:txBody>
                    <a:bodyPr/>
                    <a:lstStyle/>
                    <a:p>
                      <a:pPr algn="ctr">
                        <a:defRPr sz="56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60">
                          <a:solidFill>
                            <a:srgbClr val="1E242B"/>
                          </a:solidFill>
                          <a:latin typeface="Arial"/>
                        </a:defRPr>
                      </a:pPr>
                      <a:r>
                        <a:t>ĐANG BÁO GIÁ (見積中)</a:t>
                      </a:r>
                      <a:br/>
                      <a:r>
                        <a:t>-&gt; Tách riêng trình Đợt 2 sau khi có báo giá</a:t>
                      </a:r>
                    </a:p>
                  </a:txBody>
                  <a:tcPr anchor="ctr" marL="36576" marR="36576" marT="9144" marB="9144">
                    <a:solidFill>
                      <a:srgbClr val="FEF7E6"/>
                    </a:solidFill>
                  </a:tcPr>
                </a:tc>
              </a:tr>
              <a:tr h="398678">
                <a:tc>
                  <a:txBody>
                    <a:bodyPr/>
                    <a:lstStyle/>
                    <a:p>
                      <a:pPr algn="l">
                        <a:defRPr sz="560" b="1">
                          <a:solidFill>
                            <a:srgbClr val="1E242B"/>
                          </a:solidFill>
                          <a:latin typeface="Arial"/>
                        </a:defRPr>
                      </a:pPr>
                      <a:r>
                        <a:t>B. Cải tiến Phần mềm /</a:t>
                      </a:r>
                      <a:br/>
                      <a:r>
                        <a:t>Mạch / Quy trình</a:t>
                      </a:r>
                      <a:br/>
                      <a:r>
                        <a:t>[6 đề án VN + T10]</a:t>
                      </a:r>
                    </a:p>
                  </a:txBody>
                  <a:tcPr anchor="ctr" marL="36576" marR="36576" marT="9144" marB="9144">
                    <a:solidFill>
                      <a:srgbClr val="EAF7EE"/>
                    </a:solidFill>
                  </a:tcPr>
                </a:tc>
                <a:tc>
                  <a:txBody>
                    <a:bodyPr/>
                    <a:lstStyle/>
                    <a:p>
                      <a:pPr algn="l">
                        <a:defRPr sz="560">
                          <a:solidFill>
                            <a:srgbClr val="1E242B"/>
                          </a:solidFill>
                          <a:latin typeface="Arial"/>
                        </a:defRPr>
                      </a:pPr>
                      <a:r>
                        <a:t>• Đã duyệt / triển khai ngay: No.30 (U155/Barcode), No.34 (Cassette/LSU Skew), No.36 (Cover Right/Halftone), Thực tích T10 (Xóa 4 bước = -4,32s), Nạp FW tại Partner</a:t>
                      </a:r>
                      <a:br/>
                      <a:r>
                        <a:t>• Đang chờ TK/QA JP xác nhận: No.29 (Hộp mực), No.32, No.37 (Đo lệch Transfer Belt / Copy check)</a:t>
                      </a:r>
                    </a:p>
                  </a:txBody>
                  <a:tcPr anchor="ctr" marL="36576" marR="36576" marT="9144" marB="9144">
                    <a:solidFill>
                      <a:srgbClr val="EAF7EE"/>
                    </a:solidFill>
                  </a:tcPr>
                </a:tc>
                <a:tc>
                  <a:txBody>
                    <a:bodyPr/>
                    <a:lstStyle/>
                    <a:p>
                      <a:pPr algn="ctr">
                        <a:defRPr sz="56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60">
                          <a:solidFill>
                            <a:srgbClr val="1E242B"/>
                          </a:solidFill>
                          <a:latin typeface="Arial"/>
                        </a:defRPr>
                      </a:pPr>
                      <a:r>
                        <a:t>0 VNĐ chi phí thiết bị</a:t>
                      </a:r>
                      <a:br/>
                      <a:r>
                        <a:t>tại nhà máy VN</a:t>
                      </a:r>
                    </a:p>
                  </a:txBody>
                  <a:tcPr anchor="ctr" marL="36576" marR="36576" marT="9144" marB="9144">
                    <a:solidFill>
                      <a:srgbClr val="EAF7EE"/>
                    </a:solidFill>
                  </a:tcPr>
                </a:tc>
              </a:tr>
              <a:tr h="398678">
                <a:tc>
                  <a:txBody>
                    <a:bodyPr/>
                    <a:lstStyle/>
                    <a:p>
                      <a:pPr algn="l">
                        <a:defRPr sz="56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6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6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60">
                          <a:solidFill>
                            <a:srgbClr val="1E242B"/>
                          </a:solidFill>
                          <a:latin typeface="Arial"/>
                        </a:defRPr>
                      </a:pPr>
                      <a:r>
                        <a:t>Ngân sách phía JP /</a:t>
                      </a:r>
                      <a:br/>
                      <a:r>
                        <a:t>Trình riêng sau khi chốt</a:t>
                      </a:r>
                    </a:p>
                  </a:txBody>
                  <a:tcPr anchor="ctr" marL="36576" marR="36576" marT="9144" marB="9144">
                    <a:solidFill>
                      <a:srgbClr val="FFFFFF"/>
                    </a:solidFill>
                  </a:tcPr>
                </a:tc>
              </a:tr>
              <a:tr h="398680">
                <a:tc>
                  <a:txBody>
                    <a:bodyPr/>
                    <a:lstStyle/>
                    <a:p>
                      <a:pPr algn="l">
                        <a:defRPr sz="560" b="1">
                          <a:solidFill>
                            <a:srgbClr val="1E242B"/>
                          </a:solidFill>
                          <a:latin typeface="Arial"/>
                        </a:defRPr>
                      </a:pPr>
                      <a:r>
                        <a:t>D. Nghiên cứu dài hạn</a:t>
                      </a:r>
                      <a:br/>
                      <a:r>
                        <a:t>(R&amp;D 2026-2030)</a:t>
                      </a:r>
                    </a:p>
                  </a:txBody>
                  <a:tcPr anchor="ctr" marL="36576" marR="36576" marT="9144" marB="9144">
                    <a:solidFill>
                      <a:srgbClr val="F7F9FC"/>
                    </a:solidFill>
                  </a:tcPr>
                </a:tc>
                <a:tc>
                  <a:txBody>
                    <a:bodyPr/>
                    <a:lstStyle/>
                    <a:p>
                      <a:pPr algn="l">
                        <a:defRPr sz="56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7F9FC"/>
                    </a:solidFill>
                  </a:tcPr>
                </a:tc>
                <a:tc>
                  <a:txBody>
                    <a:bodyPr/>
                    <a:lstStyle/>
                    <a:p>
                      <a:pPr algn="ctr">
                        <a:defRPr sz="560">
                          <a:solidFill>
                            <a:srgbClr val="1E242B"/>
                          </a:solidFill>
                          <a:latin typeface="Arial"/>
                        </a:defRPr>
                      </a:pPr>
                      <a:r>
                        <a:t>Kỳ vọng dài hạn:</a:t>
                      </a:r>
                      <a:br/>
                      <a:r>
                        <a:t>-40s/máy</a:t>
                      </a:r>
                    </a:p>
                  </a:txBody>
                  <a:tcPr anchor="ctr" marL="36576" marR="36576" marT="9144" marB="9144">
                    <a:solidFill>
                      <a:srgbClr val="F7F9FC"/>
                    </a:solidFill>
                  </a:tcPr>
                </a:tc>
                <a:tc>
                  <a:txBody>
                    <a:bodyPr/>
                    <a:lstStyle/>
                    <a:p>
                      <a:pPr algn="l">
                        <a:defRPr sz="560">
                          <a:solidFill>
                            <a:srgbClr val="1E242B"/>
                          </a:solidFill>
                          <a:latin typeface="Arial"/>
                        </a:defRPr>
                      </a:pPr>
                      <a:r>
                        <a:t>Chuyển sang R&amp;D 2026-30</a:t>
                      </a:r>
                      <a:br/>
                      <a:r>
                        <a:t>Không xin duyệt đợt này</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2" name="Rectangle 11"/>
          <p:cNvSpPr/>
          <p:nvPr/>
        </p:nvSpPr>
        <p:spPr>
          <a:xfrm>
            <a:off x="6995160" y="4261104"/>
            <a:ext cx="4919472" cy="2176272"/>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TÓM TẮT 2 PHƯƠNG ÁN KINH PHÍ TRÌNH TRƯỞNG BỘ PHẬN PHÊ DUYỆT</a:t>
            </a:r>
          </a:p>
        </p:txBody>
      </p:sp>
      <p:sp>
        <p:nvSpPr>
          <p:cNvPr id="14" name="TextBox 13"/>
          <p:cNvSpPr txBox="1"/>
          <p:nvPr/>
        </p:nvSpPr>
        <p:spPr>
          <a:xfrm>
            <a:off x="7068312" y="4590288"/>
            <a:ext cx="4773168" cy="1810512"/>
          </a:xfrm>
          <a:prstGeom prst="rect">
            <a:avLst/>
          </a:prstGeom>
          <a:noFill/>
        </p:spPr>
        <p:txBody>
          <a:bodyPr wrap="square" lIns="36576" rIns="36576" tIns="18288" bIns="18288">
            <a:spAutoFit/>
          </a:bodyPr>
          <a:lstStyle/>
          <a:p>
            <a:pPr>
              <a:spcAft>
                <a:spcPts val="200"/>
              </a:spcAft>
              <a:defRPr sz="700" b="1">
                <a:solidFill>
                  <a:srgbClr val="1E242B"/>
                </a:solidFill>
                <a:latin typeface="Arial"/>
              </a:defRPr>
            </a:pPr>
            <a:r>
              <a:t>■ Phương án A (Triển khai ngay Đề án No.22, thay Robot bằng DP/Host PC):</a:t>
            </a:r>
          </a:p>
          <a:p>
            <a:pPr>
              <a:spcAft>
                <a:spcPts val="200"/>
              </a:spcAft>
              <a:defRPr sz="700">
                <a:solidFill>
                  <a:srgbClr val="1E242B"/>
                </a:solidFill>
                <a:latin typeface="Arial"/>
              </a:defRPr>
            </a:pPr>
            <a:r>
              <a:t>   • Duyệt Đề án No.22 (BOM 25 mục): 101.690.000 VNĐ (3.911,15 USD)</a:t>
            </a:r>
          </a:p>
          <a:p>
            <a:pPr>
              <a:spcAft>
                <a:spcPts val="200"/>
              </a:spcAft>
              <a:defRPr sz="700">
                <a:solidFill>
                  <a:srgbClr val="1E242B"/>
                </a:solidFill>
                <a:latin typeface="Arial"/>
              </a:defRPr>
            </a:pPr>
            <a:r>
              <a:t>   • Sheet 自動導通・耐圧検査: 101.700.000 VNĐ (3.911,54 USD) | Sheet 纏め: 4.000 USD</a:t>
            </a:r>
          </a:p>
          <a:p>
            <a:pPr>
              <a:spcAft>
                <a:spcPts val="200"/>
              </a:spcAft>
              <a:defRPr sz="700">
                <a:solidFill>
                  <a:srgbClr val="1E242B"/>
                </a:solidFill>
                <a:latin typeface="Arial"/>
              </a:defRPr>
            </a:pPr>
            <a:r>
              <a:t>   • Hiệu quả: Giảm 30s/máy, tiết kiệm 29,60 triệu VNĐ/năm (1.138,46 USD/năm).</a:t>
            </a:r>
          </a:p>
          <a:p>
            <a:pPr>
              <a:spcAft>
                <a:spcPts val="200"/>
              </a:spcAft>
              <a:defRPr sz="700" b="1">
                <a:solidFill>
                  <a:srgbClr val="1E242B"/>
                </a:solidFill>
                <a:latin typeface="Arial"/>
              </a:defRPr>
            </a:pPr>
            <a:r>
              <a:t>■ Phương án B (Tổng dự toán cả 3 đề án có giá trong Iris EXPのVN提案.xlsx):</a:t>
            </a:r>
          </a:p>
          <a:p>
            <a:pPr>
              <a:spcAft>
                <a:spcPts val="200"/>
              </a:spcAft>
              <a:defRPr sz="700">
                <a:solidFill>
                  <a:srgbClr val="1E242B"/>
                </a:solidFill>
                <a:latin typeface="Arial"/>
              </a:defRPr>
            </a:pPr>
            <a:r>
              <a:t>   • No.22 (101,69tr / 3.911,15$) + No.23 Robot ISU (650tr / 25.000$) + No.24 Robot USB/U201 (104tr / 4.000$)</a:t>
            </a:r>
          </a:p>
          <a:p>
            <a:pPr>
              <a:spcAft>
                <a:spcPts val="200"/>
              </a:spcAft>
              <a:defRPr sz="700">
                <a:solidFill>
                  <a:srgbClr val="1E242B"/>
                </a:solidFill>
                <a:latin typeface="Arial"/>
              </a:defRPr>
            </a:pPr>
            <a:r>
              <a:t>   • Tổng cộng (BOM): 855.690.000 VNĐ (32.911,15 USD) [Bảng 纏め: 858tr / 33.000 USD]</a:t>
            </a:r>
          </a:p>
          <a:p>
            <a:pPr>
              <a:spcAft>
                <a:spcPts val="200"/>
              </a:spcAft>
              <a:defRPr sz="700">
                <a:solidFill>
                  <a:srgbClr val="1E242B"/>
                </a:solidFill>
                <a:latin typeface="Arial"/>
              </a:defRPr>
            </a:pPr>
            <a:r>
              <a:t>   • Hiệu quả: Giảm 170s/máy, tiết kiệm 167,73 triệu VNĐ/năm (6.451,28 USD/năm).</a:t>
            </a:r>
          </a:p>
          <a:p>
            <a:pPr>
              <a:spcAft>
                <a:spcPts val="200"/>
              </a:spcAft>
              <a:defRPr sz="700" b="1">
                <a:solidFill>
                  <a:srgbClr val="1E242B"/>
                </a:solidFill>
                <a:latin typeface="Arial"/>
              </a:defRPr>
            </a:pPr>
            <a:r>
              <a:t>■ File số liệu kèm theo: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