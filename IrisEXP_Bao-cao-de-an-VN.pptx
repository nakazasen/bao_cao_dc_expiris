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Trình bày chi tiết 20 đề án cải tiến tại cứ điểm Việt Nam (KDTVN) trong tổng thể 38 đề án liên kết 3 cứ điểm Nhật Bản (JP) – Trung Quốc (CN) – Việt Nam (VN) theo chuẩn thiết kế mẫu Athena &amp; Spica</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 Đề án nạp FW tại Partner), giải pháp thay thế 2 phương án Robot đã hủy sau DR4, và lộ trình đạt mục tiêu giảm 50% thời gian thao tác (2.350s → ≤1.175s).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1000">
                <a:solidFill>
                  <a:srgbClr val="FFFFFF"/>
                </a:solidFill>
                <a:latin typeface="Arial"/>
              </a:defRPr>
            </a:pPr>
            <a:r>
              <a:t>• Xin phê duyệt 101.690.000 VNĐ (3.911,15 USD) cho Đề án No.22 (Tự động kiểm tra thông mạch, tiếp địa, chịu áp — đã có BOM 25 mục).</a:t>
            </a:r>
            <a:br/>
            <a:r>
              <a:t>• Tách riêng 11 hạng mục đang chờ báo giá (見積中); không cộng phương án đã hủy.</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Dòng máy / Dự án: Iris EXP (カラー複合機・プリンタ 新規開発)  |  Công đoạn: Điều chỉnh / Bảo chứng thân máy (調整工程 → 本体保証工程)</a:t>
            </a:r>
          </a:p>
          <a:p>
            <a:pPr algn="l">
              <a:spcAft>
                <a:spcPts val="300"/>
              </a:spcAft>
              <a:defRPr sz="1000">
                <a:solidFill>
                  <a:srgbClr val="E5EBF2"/>
                </a:solidFill>
                <a:latin typeface="Arial"/>
              </a:defRPr>
            </a:pPr>
            <a:r>
              <a:t>• Bộ phận lập báo cáo: Kỹ thuật chế tạo —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 Để trống — Chưa ghi trong tài liệu nguồn ]  |  Người nhận báo cáo: Trưởng bộ phận</a:t>
            </a:r>
          </a:p>
          <a:p>
            <a:pPr algn="l">
              <a:spcAft>
                <a:spcPts val="300"/>
              </a:spcAft>
              <a:defRPr sz="1000">
                <a:solidFill>
                  <a:srgbClr val="E5EBF2"/>
                </a:solidFill>
                <a:latin typeface="Arial"/>
              </a:defRPr>
            </a:pPr>
            <a:r>
              <a:t>• Nguồn dữ liệu căn cứ: Hồ sơ kỹ thuật công đoạn Điều chỉnh / Bảo chứng thân máy (Biên bản 保証工程連携会 lần 2–17 đến ngày 15/10/2026, tài liệu DR4 &amp; bảng tính PE)</a:t>
            </a:r>
          </a:p>
          <a:p>
            <a:pPr algn="l">
              <a:spcAft>
                <a:spcPts val="300"/>
              </a:spcAft>
              <a:defRPr sz="1000">
                <a:solidFill>
                  <a:srgbClr val="E5EBF2"/>
                </a:solidFill>
                <a:latin typeface="Arial"/>
              </a:defRPr>
            </a:pPr>
            <a:r>
              <a:t>• Bảng số liệu chi tiết đính kèm trong cùng repo: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định hướng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Báo cáo trình Trưởng bộ phận nhằm 2 mục đích: (a) Xin tư vấn 5 nhóm vấn đề kỹ thuật của 20 đề án VN, và (b) Xin phê duyệt 101,69 triệu VNĐ (3.911,15 USD) cho hạng mục đã có báo giá.</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sp>
        <p:nvSpPr>
          <p:cNvPr id="8" name="Rectangle 7"/>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10" name="TextBox 9"/>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Định hướng phương án kỹ thuật thay thế các đề án Robot đã hủy sau DR4:</a:t>
            </a:r>
          </a:p>
          <a:p>
            <a:pPr>
              <a:spcAft>
                <a:spcPts val="300"/>
              </a:spcAft>
              <a:defRPr sz="930">
                <a:solidFill>
                  <a:srgbClr val="1E242B"/>
                </a:solidFill>
                <a:latin typeface="Arial"/>
              </a:defRPr>
            </a:pPr>
            <a:r>
              <a:t>   • Phương án Robot đặt bản thảo mặt kính ISU (No.23: 650 triệu VNĐ / 25.000 USD) và Robot cắm USB/U201 (No.24: 4.000 USD) đã hủy tại 連携会 lần 7 / DR4 do ROI thấp (&gt;6 năm) và cồng kềnh.</a:t>
            </a:r>
          </a:p>
          <a:p>
            <a:pPr>
              <a:spcAft>
                <a:spcPts val="300"/>
              </a:spcAft>
              <a:defRPr sz="930">
                <a:solidFill>
                  <a:srgbClr val="1E242B"/>
                </a:solidFill>
                <a:latin typeface="Arial"/>
              </a:defRPr>
            </a:pPr>
            <a:r>
              <a:t>   • Xin tư vấn triển khai phương án thay thế: Quét bản thảo liên tục bằng bộ nạp tự động DP của máy + PC tự động phán định (No.25, -110s) và Đọc log tọa độ U201 qua Host PC (JP No.3, -15,12s).</a:t>
            </a:r>
          </a:p>
          <a:p>
            <a:pPr>
              <a:spcAft>
                <a:spcPts val="300"/>
              </a:spcAft>
              <a:defRPr sz="930" b="1">
                <a:solidFill>
                  <a:srgbClr val="1E242B"/>
                </a:solidFill>
                <a:latin typeface="Arial"/>
              </a:defRPr>
            </a:pPr>
            <a:r>
              <a:t>■ 2. Giải quyết các điều kiện kỹ thuật đặc thù tại nhà máy Việt Nam (KDTVN):</a:t>
            </a:r>
          </a:p>
          <a:p>
            <a:pPr>
              <a:spcAft>
                <a:spcPts val="300"/>
              </a:spcAft>
              <a:defRPr sz="930">
                <a:solidFill>
                  <a:srgbClr val="1E242B"/>
                </a:solidFill>
                <a:latin typeface="Arial"/>
              </a:defRPr>
            </a:pPr>
            <a:r>
              <a:t>   • Chỉnh thiết kế gá tự động kiểm tra thông mạch/chịu áp (No.22) sang đo khi ĐÃ ĐÓNG VỎ MÁY tại A-3 theo quyết định DR4 (phòng ngừa kẹt dây điện).</a:t>
            </a:r>
          </a:p>
          <a:p>
            <a:pPr>
              <a:spcAft>
                <a:spcPts val="300"/>
              </a:spcAft>
              <a:defRPr sz="930">
                <a:solidFill>
                  <a:srgbClr val="1E242B"/>
                </a:solidFill>
                <a:latin typeface="Arial"/>
              </a:defRPr>
            </a:pPr>
            <a:r>
              <a:t>   • Lộ trình kiểm soát lỗi lệch Transfer Belt tại VN (hiện vẫn phát sinh 1–2 máy NG/tháng, từng có 11 máy lỗi) trước khi xóa bước đo thủ công như nhà máy CN.</a:t>
            </a:r>
          </a:p>
          <a:p>
            <a:pPr>
              <a:spcAft>
                <a:spcPts val="300"/>
              </a:spcAft>
              <a:defRPr sz="930" b="1">
                <a:solidFill>
                  <a:srgbClr val="1E242B"/>
                </a:solidFill>
                <a:latin typeface="Arial"/>
              </a:defRPr>
            </a:pPr>
            <a:r>
              <a:t>■ 3. Chủ trương phối hợp liên bộ phận (Partner, TK JP, KTSX JP) để bù tiến độ PDCA:</a:t>
            </a:r>
          </a:p>
          <a:p>
            <a:pPr>
              <a:spcAft>
                <a:spcPts val="300"/>
              </a:spcAft>
              <a:defRPr sz="930">
                <a:solidFill>
                  <a:srgbClr val="1E242B"/>
                </a:solidFill>
                <a:latin typeface="Arial"/>
              </a:defRPr>
            </a:pPr>
            <a:r>
              <a:t>   • Phương án nạp sẵn Firmware tại Partner giúp giảm 1 người tại A-1 (từ 4 → 3 người).</a:t>
            </a:r>
          </a:p>
          <a:p>
            <a:pPr>
              <a:spcAft>
                <a:spcPts val="300"/>
              </a:spcAft>
              <a:defRPr sz="930">
                <a:solidFill>
                  <a:srgbClr val="1E242B"/>
                </a:solidFill>
                <a:latin typeface="Arial"/>
              </a:defRPr>
            </a:pPr>
            <a:r>
              <a:t>   • Đối ứng tiến độ PDCA (thực tích T10 mới đạt -4,32s / 0,18% do chờ JP hoàn tất DR công đoạn).</a:t>
            </a:r>
          </a:p>
        </p:txBody>
      </p:sp>
      <p:sp>
        <p:nvSpPr>
          <p:cNvPr id="11" name="Rectangle 10"/>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CHO CÁC ĐỀ ÁN VIỆT NAM</a:t>
            </a:r>
          </a:p>
        </p:txBody>
      </p:sp>
      <p:sp>
        <p:nvSpPr>
          <p:cNvPr id="13" name="TextBox 12"/>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Kinh phí đề nghị phê duyệt ngay đợt này (Hạng mục đã có báo giá chi tiết):</a:t>
            </a:r>
          </a:p>
          <a:p>
            <a:pPr>
              <a:spcAft>
                <a:spcPts val="300"/>
              </a:spcAft>
              <a:defRPr sz="930">
                <a:solidFill>
                  <a:srgbClr val="1E242B"/>
                </a:solidFill>
                <a:latin typeface="Arial"/>
              </a:defRPr>
            </a:pPr>
            <a:r>
              <a:t>   • Đề án No.22 — Tự động hóa kiểm tra thông mạch, tiếp địa, cách điện chịu áp (自動導通・耐圧検査):</a:t>
            </a:r>
          </a:p>
          <a:p>
            <a:pPr>
              <a:spcAft>
                <a:spcPts val="300"/>
              </a:spcAft>
              <a:defRPr sz="930">
                <a:solidFill>
                  <a:srgbClr val="1E242B"/>
                </a:solidFill>
                <a:latin typeface="Arial"/>
              </a:defRPr>
            </a:pPr>
            <a:r>
              <a:t>   • Tổng kinh phí theo BOM 25 hạng mục (Sheet 導通・耐圧検査設備リスト): 101.690.000 VNĐ (3.911,15 USD) [Nếu tách riêng Mục 17 Tủ điện 5.000.000 VNĐ đang ghi "Xin báo giá" thì 24 mục cố định là 96.690.000 VNĐ / 3.718,85 USD; bản thuyết minh làm tròn 101.700.000 VNĐ / 3.911,54 USD; bảng 纏め làm tròn 4.000 USD].</a:t>
            </a:r>
          </a:p>
          <a:p>
            <a:pPr>
              <a:spcAft>
                <a:spcPts val="300"/>
              </a:spcAft>
              <a:defRPr sz="930">
                <a:solidFill>
                  <a:srgbClr val="1E242B"/>
                </a:solidFill>
                <a:latin typeface="Arial"/>
              </a:defRPr>
            </a:pPr>
            <a:r>
              <a:t>   • Hiệu quả: Giảm 30s/máy (20s tiếp địa + 10s chịu áp), tiết kiệm 29.600.000 VNĐ/năm (1.138,46 USD/năm).</a:t>
            </a:r>
          </a:p>
          <a:p>
            <a:pPr>
              <a:spcAft>
                <a:spcPts val="300"/>
              </a:spcAft>
              <a:defRPr sz="930" b="1">
                <a:solidFill>
                  <a:srgbClr val="1E242B"/>
                </a:solidFill>
                <a:latin typeface="Arial"/>
              </a:defRPr>
            </a:pPr>
            <a:r>
              <a:t>■ 2. Xin chủ trương hoàn tất báo giá cho 11 hạng mục "Đang báo giá (見積中)":</a:t>
            </a:r>
          </a:p>
          <a:p>
            <a:pPr>
              <a:spcAft>
                <a:spcPts val="300"/>
              </a:spcAft>
              <a:defRPr sz="930">
                <a:solidFill>
                  <a:srgbClr val="1E242B"/>
                </a:solidFill>
                <a:latin typeface="Arial"/>
              </a:defRPr>
            </a:pPr>
            <a:r>
              <a:t>   • Gồm 10 đề án thiết bị/mạng (No.18, 19, 20, 21, 25 [Quét DP], 27 [Camera nồng độ/lề/PPT], 28 [Xuất hàng mạng], 31, 33, 35) + Mục 17 Tủ điện của No.22.</a:t>
            </a:r>
          </a:p>
          <a:p>
            <a:pPr>
              <a:spcAft>
                <a:spcPts val="300"/>
              </a:spcAft>
              <a:defRPr sz="930">
                <a:solidFill>
                  <a:srgbClr val="1E242B"/>
                </a:solidFill>
                <a:latin typeface="Arial"/>
              </a:defRPr>
            </a:pPr>
            <a:r>
              <a:t>   • Nguyên tắc tài chính: Các hạng mục "Đang báo giá (見積中)" được lập bảng riêng, TUYỆT ĐỐI KHÔNG tự điền giá hoặc cộng gộp vào tổng kinh phí xin phê duyệt đợt này.</a:t>
            </a:r>
          </a:p>
          <a:p>
            <a:pPr>
              <a:spcAft>
                <a:spcPts val="300"/>
              </a:spcAft>
              <a:defRPr sz="930" b="1">
                <a:solidFill>
                  <a:srgbClr val="1E242B"/>
                </a:solidFill>
                <a:latin typeface="Arial"/>
              </a:defRPr>
            </a:pPr>
            <a:r>
              <a:t>■ 3. Loại trừ hoàn toàn kinh phí phương án đã hủy / nghiên cứu dài hạn:</a:t>
            </a:r>
          </a:p>
          <a:p>
            <a:pPr>
              <a:spcAft>
                <a:spcPts val="300"/>
              </a:spcAft>
              <a:defRPr sz="930">
                <a:solidFill>
                  <a:srgbClr val="1E242B"/>
                </a:solidFill>
                <a:latin typeface="Arial"/>
              </a:defRPr>
            </a:pPr>
            <a:r>
              <a:t>   • Không duyệt chi 650 triệu VNĐ (25.000 USD) của Robot No.23 &amp; 4.000 USD của Robot No.24; hoãn 600 vạn JPY (~40.000 USD) AI âm thanh lạ No.26 sang R&amp;D dài hạn 2026–2030.</a:t>
            </a:r>
          </a:p>
        </p:txBody>
      </p:sp>
      <p:graphicFrame>
        <p:nvGraphicFramePr>
          <p:cNvPr id="14" name="Table 13"/>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468880"/>
                <a:gridCol w="1645920"/>
                <a:gridCol w="2423160"/>
                <a:gridCol w="2514600"/>
                <a:gridCol w="2590495"/>
              </a:tblGrid>
              <a:tr h="324612">
                <a:tc>
                  <a:txBody>
                    <a:bodyPr/>
                    <a:lstStyle/>
                    <a:p>
                      <a:pPr algn="ctr">
                        <a:defRPr sz="900" b="1">
                          <a:solidFill>
                            <a:srgbClr val="FFFFFF"/>
                          </a:solidFill>
                          <a:latin typeface="Arial"/>
                        </a:defRPr>
                      </a:pPr>
                      <a:r>
                        <a:t>Phân nhóm đề án tại Việt Nam</a:t>
                      </a:r>
                    </a:p>
                  </a:txBody>
                  <a:tcPr anchor="ctr" marL="45720" marR="45720" marT="18288" marB="18288">
                    <a:solidFill>
                      <a:srgbClr val="1B365D"/>
                    </a:solidFill>
                  </a:tcPr>
                </a:tc>
                <a:tc>
                  <a:txBody>
                    <a:bodyPr/>
                    <a:lstStyle/>
                    <a:p>
                      <a:pPr algn="ctr">
                        <a:defRPr sz="90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900" b="1">
                          <a:solidFill>
                            <a:srgbClr val="FFFFFF"/>
                          </a:solidFill>
                          <a:latin typeface="Arial"/>
                        </a:defRPr>
                      </a:pPr>
                      <a:r>
                        <a:t>Tổng thời gian giảm kỳ vọng</a:t>
                      </a:r>
                    </a:p>
                  </a:txBody>
                  <a:tcPr anchor="ctr" marL="45720" marR="45720" marT="18288" marB="18288">
                    <a:solidFill>
                      <a:srgbClr val="1B365D"/>
                    </a:solidFill>
                  </a:tcPr>
                </a:tc>
                <a:tc>
                  <a:txBody>
                    <a:bodyPr/>
                    <a:lstStyle/>
                    <a:p>
                      <a:pPr algn="ctr">
                        <a:defRPr sz="900" b="1">
                          <a:solidFill>
                            <a:srgbClr val="FFFFFF"/>
                          </a:solidFill>
                          <a:latin typeface="Arial"/>
                        </a:defRPr>
                      </a:pPr>
                      <a:r>
                        <a:t>Kinh phí xin phê duyệt đợt này</a:t>
                      </a:r>
                    </a:p>
                  </a:txBody>
                  <a:tcPr anchor="ctr" marL="45720" marR="45720" marT="18288" marB="18288">
                    <a:solidFill>
                      <a:srgbClr val="1B365D"/>
                    </a:solidFill>
                  </a:tcPr>
                </a:tc>
                <a:tc>
                  <a:txBody>
                    <a:bodyPr/>
                    <a:lstStyle/>
                    <a:p>
                      <a:pPr algn="ctr">
                        <a:defRPr sz="900" b="1">
                          <a:solidFill>
                            <a:srgbClr val="FFFFFF"/>
                          </a:solidFill>
                          <a:latin typeface="Arial"/>
                        </a:defRPr>
                      </a:pPr>
                      <a:r>
                        <a:t>Cách xử lý trong báo cáo trình duyệt</a:t>
                      </a:r>
                    </a:p>
                  </a:txBody>
                  <a:tcPr anchor="ctr" marL="45720" marR="45720" marT="18288" marB="18288">
                    <a:solidFill>
                      <a:srgbClr val="1B365D"/>
                    </a:solidFill>
                  </a:tcPr>
                </a:tc>
              </a:tr>
              <a:tr h="324612">
                <a:tc>
                  <a:txBody>
                    <a:bodyPr/>
                    <a:lstStyle/>
                    <a:p>
                      <a:pPr algn="l">
                        <a:defRPr sz="850" b="1">
                          <a:solidFill>
                            <a:srgbClr val="1E242B"/>
                          </a:solidFill>
                          <a:latin typeface="Arial"/>
                        </a:defRPr>
                      </a:pPr>
                      <a:r>
                        <a:t>1. Hạng mục đã có báo giá chi tiết (No.22)</a:t>
                      </a:r>
                    </a:p>
                  </a:txBody>
                  <a:tcPr anchor="ctr" marL="45720" marR="45720" marT="18288" marB="18288">
                    <a:solidFill>
                      <a:srgbClr val="EAF7EE"/>
                    </a:solidFill>
                  </a:tcPr>
                </a:tc>
                <a:tc>
                  <a:txBody>
                    <a:bodyPr/>
                    <a:lstStyle/>
                    <a:p>
                      <a:pPr algn="ctr">
                        <a:defRPr sz="850">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50">
                          <a:solidFill>
                            <a:srgbClr val="1E242B"/>
                          </a:solidFill>
                          <a:latin typeface="Arial"/>
                        </a:defRPr>
                      </a:pPr>
                      <a:r>
                        <a:t>-30,00 s/máy (-29,6 triệu VNĐ/năm)</a:t>
                      </a:r>
                    </a:p>
                  </a:txBody>
                  <a:tcPr anchor="ctr" marL="45720" marR="45720" marT="18288" marB="18288">
                    <a:solidFill>
                      <a:srgbClr val="EAF7EE"/>
                    </a:solidFill>
                  </a:tcPr>
                </a:tc>
                <a:tc>
                  <a:txBody>
                    <a:bodyPr/>
                    <a:lstStyle/>
                    <a:p>
                      <a:pPr algn="r">
                        <a:defRPr sz="850">
                          <a:solidFill>
                            <a:srgbClr val="1E242B"/>
                          </a:solidFill>
                          <a:latin typeface="Arial"/>
                        </a:defRPr>
                      </a:pPr>
                      <a:r>
                        <a:t>101.690.000 VNĐ (3.911,15 USD)</a:t>
                      </a:r>
                    </a:p>
                  </a:txBody>
                  <a:tcPr anchor="ctr" marL="45720" marR="45720" marT="18288" marB="18288">
                    <a:solidFill>
                      <a:srgbClr val="EAF7EE"/>
                    </a:solidFill>
                  </a:tcPr>
                </a:tc>
                <a:tc>
                  <a:txBody>
                    <a:bodyPr/>
                    <a:lstStyle/>
                    <a:p>
                      <a:pPr algn="l">
                        <a:defRPr sz="850">
                          <a:solidFill>
                            <a:srgbClr val="1E242B"/>
                          </a:solidFill>
                          <a:latin typeface="Arial"/>
                        </a:defRPr>
                      </a:pPr>
                      <a:r>
                        <a:t>Trình phê duyệt ngân sách đầu tư ngay</a:t>
                      </a:r>
                    </a:p>
                  </a:txBody>
                  <a:tcPr anchor="ctr" marL="45720" marR="45720" marT="18288" marB="18288">
                    <a:solidFill>
                      <a:srgbClr val="EAF7EE"/>
                    </a:solidFill>
                  </a:tcPr>
                </a:tc>
              </a:tr>
              <a:tr h="324612">
                <a:tc>
                  <a:txBody>
                    <a:bodyPr/>
                    <a:lstStyle/>
                    <a:p>
                      <a:pPr algn="l">
                        <a:defRPr sz="850" b="1">
                          <a:solidFill>
                            <a:srgbClr val="1E242B"/>
                          </a:solidFill>
                          <a:latin typeface="Arial"/>
                        </a:defRPr>
                      </a:pPr>
                      <a:r>
                        <a:t>2. Hạng mục Đang báo giá (見積中) &amp; Cải tiến TK</a:t>
                      </a:r>
                    </a:p>
                  </a:txBody>
                  <a:tcPr anchor="ctr" marL="45720" marR="45720" marT="18288" marB="18288">
                    <a:solidFill>
                      <a:srgbClr val="F7F9FC"/>
                    </a:solidFill>
                  </a:tcPr>
                </a:tc>
                <a:tc>
                  <a:txBody>
                    <a:bodyPr/>
                    <a:lstStyle/>
                    <a:p>
                      <a:pPr algn="ctr">
                        <a:defRPr sz="850">
                          <a:solidFill>
                            <a:srgbClr val="1E242B"/>
                          </a:solidFill>
                          <a:latin typeface="Arial"/>
                        </a:defRPr>
                      </a:pPr>
                      <a:r>
                        <a:t>10 TB đang báo giá + 6 TK/FW</a:t>
                      </a:r>
                    </a:p>
                  </a:txBody>
                  <a:tcPr anchor="ctr" marL="45720" marR="45720" marT="18288" marB="18288">
                    <a:solidFill>
                      <a:srgbClr val="F7F9FC"/>
                    </a:solidFill>
                  </a:tcPr>
                </a:tc>
                <a:tc>
                  <a:txBody>
                    <a:bodyPr/>
                    <a:lstStyle/>
                    <a:p>
                      <a:pPr algn="ctr">
                        <a:defRPr sz="850">
                          <a:solidFill>
                            <a:srgbClr val="1E242B"/>
                          </a:solidFill>
                          <a:latin typeface="Arial"/>
                        </a:defRPr>
                      </a:pPr>
                      <a:r>
                        <a:t>-569,32 s ~ -581,32 s/máy</a:t>
                      </a:r>
                    </a:p>
                  </a:txBody>
                  <a:tcPr anchor="ctr" marL="45720" marR="45720" marT="18288" marB="18288">
                    <a:solidFill>
                      <a:srgbClr val="F7F9FC"/>
                    </a:solidFill>
                  </a:tcPr>
                </a:tc>
                <a:tc>
                  <a:txBody>
                    <a:bodyPr/>
                    <a:lstStyle/>
                    <a:p>
                      <a:pPr algn="r">
                        <a:defRPr sz="850">
                          <a:solidFill>
                            <a:srgbClr val="1E242B"/>
                          </a:solidFill>
                          <a:latin typeface="Arial"/>
                        </a:defRPr>
                      </a:pPr>
                      <a:r>
                        <a:t>0 VNĐ đợt này (Chờ báo giá / 0đ TB)</a:t>
                      </a:r>
                    </a:p>
                  </a:txBody>
                  <a:tcPr anchor="ctr" marL="45720" marR="45720" marT="18288" marB="18288">
                    <a:solidFill>
                      <a:srgbClr val="F7F9FC"/>
                    </a:solidFill>
                  </a:tcPr>
                </a:tc>
                <a:tc>
                  <a:txBody>
                    <a:bodyPr/>
                    <a:lstStyle/>
                    <a:p>
                      <a:pPr algn="l">
                        <a:defRPr sz="850">
                          <a:solidFill>
                            <a:srgbClr val="1E242B"/>
                          </a:solidFill>
                          <a:latin typeface="Arial"/>
                        </a:defRPr>
                      </a:pPr>
                      <a:r>
                        <a:t>Xin tư vấn kỹ thuật &amp; chủ trương lấy báo giá</a:t>
                      </a:r>
                    </a:p>
                  </a:txBody>
                  <a:tcPr anchor="ctr" marL="45720" marR="45720" marT="18288" marB="18288">
                    <a:solidFill>
                      <a:srgbClr val="F7F9FC"/>
                    </a:solidFill>
                  </a:tcPr>
                </a:tc>
              </a:tr>
              <a:tr h="324612">
                <a:tc>
                  <a:txBody>
                    <a:bodyPr/>
                    <a:lstStyle/>
                    <a:p>
                      <a:pPr algn="l">
                        <a:defRPr sz="850" b="1">
                          <a:solidFill>
                            <a:srgbClr val="1E242B"/>
                          </a:solidFill>
                          <a:latin typeface="Arial"/>
                        </a:defRPr>
                      </a:pPr>
                      <a:r>
                        <a:t>3. Phương án Đã hủy (No.23, 24) &amp; Dài hạn (No.26)</a:t>
                      </a:r>
                    </a:p>
                  </a:txBody>
                  <a:tcPr anchor="ctr" marL="45720" marR="45720" marT="18288" marB="18288">
                    <a:solidFill>
                      <a:srgbClr val="FDEDEC"/>
                    </a:solidFill>
                  </a:tcPr>
                </a:tc>
                <a:tc>
                  <a:txBody>
                    <a:bodyPr/>
                    <a:lstStyle/>
                    <a:p>
                      <a:pPr algn="ctr">
                        <a:defRPr sz="850">
                          <a:solidFill>
                            <a:srgbClr val="1E242B"/>
                          </a:solidFill>
                          <a:latin typeface="Arial"/>
                        </a:defRPr>
                      </a:pPr>
                      <a:r>
                        <a:t>2 đã hủy + 1 R&amp;D 2026–2030</a:t>
                      </a:r>
                    </a:p>
                  </a:txBody>
                  <a:tcPr anchor="ctr" marL="45720" marR="45720" marT="18288" marB="18288">
                    <a:solidFill>
                      <a:srgbClr val="FDEDEC"/>
                    </a:solidFill>
                  </a:tcPr>
                </a:tc>
                <a:tc>
                  <a:txBody>
                    <a:bodyPr/>
                    <a:lstStyle/>
                    <a:p>
                      <a:pPr algn="ctr">
                        <a:defRPr sz="850">
                          <a:solidFill>
                            <a:srgbClr val="1E242B"/>
                          </a:solidFill>
                          <a:latin typeface="Arial"/>
                        </a:defRPr>
                      </a:pPr>
                      <a:r>
                        <a:t>Đã thay bằng No.25, JP No.3 &amp; No.6</a:t>
                      </a:r>
                    </a:p>
                  </a:txBody>
                  <a:tcPr anchor="ctr" marL="45720" marR="45720" marT="18288" marB="18288">
                    <a:solidFill>
                      <a:srgbClr val="FDEDEC"/>
                    </a:solidFill>
                  </a:tcPr>
                </a:tc>
                <a:tc>
                  <a:txBody>
                    <a:bodyPr/>
                    <a:lstStyle/>
                    <a:p>
                      <a:pPr algn="r">
                        <a:defRPr sz="850">
                          <a:solidFill>
                            <a:srgbClr val="1E242B"/>
                          </a:solidFill>
                          <a:latin typeface="Arial"/>
                        </a:defRPr>
                      </a:pPr>
                      <a:r>
                        <a:t>0 VNĐ (Tuyệt đối không cộng 25k$ &amp; 4k$)</a:t>
                      </a:r>
                    </a:p>
                  </a:txBody>
                  <a:tcPr anchor="ctr" marL="45720" marR="45720" marT="18288" marB="18288">
                    <a:solidFill>
                      <a:srgbClr val="FDEDEC"/>
                    </a:solidFill>
                  </a:tcPr>
                </a:tc>
                <a:tc>
                  <a:txBody>
                    <a:bodyPr/>
                    <a:lstStyle/>
                    <a:p>
                      <a:pPr algn="l">
                        <a:defRPr sz="850">
                          <a:solidFill>
                            <a:srgbClr val="1E242B"/>
                          </a:solidFill>
                          <a:latin typeface="Arial"/>
                        </a:defRPr>
                      </a:pPr>
                      <a:r>
                        <a:t>Chỉ báo cáo trong mục Rủi ro / Lịch sử DR4</a:t>
                      </a:r>
                    </a:p>
                  </a:txBody>
                  <a:tcPr anchor="ctr" marL="45720" marR="45720" marT="18288" marB="18288">
                    <a:solidFill>
                      <a:srgbClr val="FDEDE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Áp lực sản lượng Iris EXP (16.000 máy/tháng) và căn cứ mẫu Athena/Spica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Sản lượng Iris EXP tại VN đạt 16.000 máy/tháng (Takt time giảm từ 114s xuống 97s) khiến nhân lực tăng từ 14–15 lên 18 người nếu giữ quy trình Iris2024 (2.350s/máy); bắt buộc tái thiết kế theo mẫu Athena &amp; Spica.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≥50% (≤1.175s)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 8 người (-50%)</a:t>
                      </a:r>
                      <a:br/>
                      <a:r>
                        <a:t>IrisEXP mục tiêu: 18 →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rạc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 Check → Chịu áp → Âm thanh →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công nhân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9" name="Picture 8"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10" name="Rectangle 9"/>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LẠI THEO MẪU ATHENA &amp; SPICA (Nguồn: Athena保証工程取り組み説明2025 VN.pptx, 【Spica】保証工程構成.pptx, 第8回打ち合わせ資料.pptx)</a:t>
            </a:r>
          </a:p>
        </p:txBody>
      </p:sp>
      <p:sp>
        <p:nvSpPr>
          <p:cNvPr id="12" name="TextBox 11"/>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Thay đổi triết lý từ "Công đoạn Điều chỉnh (調整工程)" sang "Công đoạn Bảo chứng chất lượng (保証工程)":</a:t>
            </a:r>
          </a:p>
          <a:p>
            <a:pPr>
              <a:spcAft>
                <a:spcPts val="300"/>
              </a:spcAft>
              <a:defRPr sz="880">
                <a:solidFill>
                  <a:srgbClr val="1E242B"/>
                </a:solidFill>
                <a:latin typeface="Arial"/>
              </a:defRPr>
            </a:pPr>
            <a:r>
              <a:t>   • Hiện trạng Iris2024 mặc định máy lắp xong phải chỉnh sửa trên line (đo belt, chỉnh góc vuông ISU/RCG, chỉnh lề RCC có tỷ lệ NG tới 50%, chỉnh lề Gray US0 NG 30–40%, công nhân phải tự nhìn màn hình PC phán đoán).</a:t>
            </a:r>
          </a:p>
          <a:p>
            <a:pPr>
              <a:spcAft>
                <a:spcPts val="300"/>
              </a:spcAft>
              <a:defRPr sz="880">
                <a:solidFill>
                  <a:srgbClr val="1E242B"/>
                </a:solidFill>
                <a:latin typeface="Arial"/>
              </a:defRPr>
            </a:pPr>
            <a:r>
              <a:t>   • Mẫu Athena chuẩn hóa toàn bộ thao tác thành khoảng 60 file kịch bản JSON/hướng xuất trên Host PC (2V9_7401): tự động gửi lệnh tuần tự, tự động đọc kết quả và phán định, giảm nhân lực từ 16 người (Mercury4) xuống 8 người (Athena).</a:t>
            </a:r>
          </a:p>
          <a:p>
            <a:pPr>
              <a:spcAft>
                <a:spcPts val="300"/>
              </a:spcAft>
              <a:defRPr sz="880" b="1">
                <a:solidFill>
                  <a:srgbClr val="1E242B"/>
                </a:solidFill>
                <a:latin typeface="Arial"/>
              </a:defRPr>
            </a:pPr>
            <a:r>
              <a:t>■ 2. Khắc phục nhược điểm của Athena bằng kiến trúc Mini PC của Spica cho dây chuyền sản lượng lớn tại Việt Nam (16.000 máy/tháng):</a:t>
            </a:r>
          </a:p>
          <a:p>
            <a:pPr>
              <a:spcAft>
                <a:spcPts val="300"/>
              </a:spcAft>
              <a:defRPr sz="880">
                <a:solidFill>
                  <a:srgbClr val="1E242B"/>
                </a:solidFill>
                <a:latin typeface="Arial"/>
              </a:defRPr>
            </a:pPr>
            <a:r>
              <a:t>   • Trên Athena (sản lượng thấp 1.000 máy/tháng), mỗi máy gắn 1 Raspberry Pi (8.000–12.000 JPY) nuôi bằng Pin sạc dự phòng (9.600 JPY + hộp sạc 190.000 JPY) để chờ AGV; thực tế phát sinh lỗi mãn tính tắt nguồn/mất mạng 2–3 lần/tuần.</a:t>
            </a:r>
          </a:p>
          <a:p>
            <a:pPr>
              <a:spcAft>
                <a:spcPts val="300"/>
              </a:spcAft>
              <a:defRPr sz="880">
                <a:solidFill>
                  <a:srgbClr val="1E242B"/>
                </a:solidFill>
                <a:latin typeface="Arial"/>
              </a:defRPr>
            </a:pPr>
            <a:r>
              <a:t>   • Với Iris EXP (VN: 16.000 máy/tháng, CN: 2.700 máy/tháng), cuộc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quá trình điều chỉnh mục tiêu qua các kỳ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Đối chiếu biên bản Kỳ 8, DR4, Kỳ 11–12 và tài liệu 24/09/2026: Con số "Tăng gấp đôi năng suất / giảm 50% nhân lực" từng được rút khỏi cam kết chính thức tại Kỳ 11, hiện giữ ở mức "Quyết định tạm thời (仮決定)".</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hiệu lực &amp; Lưu ý bắt buộc</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bỏ hoặc tự động hóa ≥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triệt để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(×2);</a:t>
                      </a:r>
                      <a:br/>
                      <a:r>
                        <a:t>Nhân lực VN: 18 người → 9 người (A-1: 4 người →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 50% thời gian thao tác:</a:t>
                      </a:r>
                      <a:br/>
                      <a:r>
                        <a:t>• VN: giảm ≥1.175s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 3 mục kiểm tra thủ công (WTB, Belt, Điện)</a:t>
                      </a:r>
                      <a:br/>
                      <a:r>
                        <a:t>② Giảm 1/2 số tờ in: Print 17 → 9 tờ; Copy 2 → 1 tờ</a:t>
                      </a:r>
                    </a:p>
                  </a:txBody>
                  <a:tcPr anchor="ctr" marL="45720" marR="45720" marT="18288" marB="18288">
                    <a:solidFill>
                      <a:srgbClr val="F7F9FC"/>
                    </a:solidFill>
                  </a:tcPr>
                </a:tc>
                <a:tc>
                  <a:txBody>
                    <a:bodyPr/>
                    <a:lstStyle/>
                    <a:p>
                      <a:pPr algn="l">
                        <a:defRPr sz="800">
                          <a:solidFill>
                            <a:srgbClr val="1E242B"/>
                          </a:solidFill>
                          <a:latin typeface="Arial"/>
                        </a:defRPr>
                      </a:pPr>
                      <a:r>
                        <a:t>Đề xuất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【LƯU Ý QUAN TRỌNG】: Ông Goto (後藤) tạm rút con số "Năng suất ×2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Chỉ mới xác nhận cắt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 3 mục kiểm tra</a:t>
                      </a:r>
                      <a:br/>
                      <a:r>
                        <a:t>• Giảm 1/2 mẫu in (Print 17→9, Copy 2→1)</a:t>
                      </a:r>
                    </a:p>
                  </a:txBody>
                  <a:tcPr anchor="ctr" marL="45720" marR="45720" marT="18288" marB="18288">
                    <a:solidFill>
                      <a:srgbClr val="FDEDEC"/>
                    </a:solidFill>
                  </a:tcPr>
                </a:tc>
                <a:tc>
                  <a:txBody>
                    <a:bodyPr/>
                    <a:lstStyle/>
                    <a:p>
                      <a:pPr algn="l">
                        <a:defRPr sz="800">
                          <a:solidFill>
                            <a:srgbClr val="1E242B"/>
                          </a:solidFill>
                          <a:latin typeface="Arial"/>
                        </a:defRPr>
                      </a:pPr>
                      <a:r>
                        <a:t>ĐÃ RÚT KHỎI CAM KẾT CHÍNH THỨC tại Kỳ 11 do chưa đủ phương án cụ thể bảo chứng mức cắt giảm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 cùng)</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mẫu in Print (仮決定)</a:t>
                      </a:r>
                      <a:br/>
                      <a:r>
                        <a:t>• Năng lực công đoạn khi MP: Cpk ≥ 1,33 (仮決定)</a:t>
                      </a:r>
                    </a:p>
                  </a:txBody>
                  <a:tcPr anchor="ctr" marL="45720" marR="45720" marT="18288" marB="18288">
                    <a:solidFill>
                      <a:srgbClr val="EAF7EE"/>
                    </a:solidFill>
                  </a:tcPr>
                </a:tc>
                <a:tc>
                  <a:txBody>
                    <a:bodyPr/>
                    <a:lstStyle/>
                    <a:p>
                      <a:pPr algn="l">
                        <a:defRPr sz="800">
                          <a:solidFill>
                            <a:srgbClr val="1E242B"/>
                          </a:solidFill>
                          <a:latin typeface="Arial"/>
                        </a:defRPr>
                      </a:pPr>
                      <a:r>
                        <a:t>TRẠNG THÁI HIỆN HÀNH: "Quyết định tạm thời (仮決定)" — Không trình bày như cam kết đã chốt cứng 100%</a:t>
                      </a:r>
                    </a:p>
                  </a:txBody>
                  <a:tcPr anchor="ctr" marL="45720" marR="45720" marT="18288" marB="18288">
                    <a:solidFill>
                      <a:srgbClr val="EAF7EE"/>
                    </a:solidFill>
                  </a:tcPr>
                </a:tc>
              </a:tr>
            </a:tbl>
          </a:graphicData>
        </a:graphic>
      </p:graphicFrame>
      <p:sp>
        <p:nvSpPr>
          <p:cNvPr id="9" name="Rectangle 8"/>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ĐỒNG THUẬN 3 CỨ ĐIỂM)</a:t>
            </a:r>
          </a:p>
        </p:txBody>
      </p:sp>
      <p:sp>
        <p:nvSpPr>
          <p:cNvPr id="11" name="TextBox 10"/>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bỏ hoặc giảm ≥1/2 công sức cho tối thiểu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 giảm 29,16s chuẩn / 60s K1 VN).</a:t>
            </a:r>
          </a:p>
          <a:p>
            <a:pPr>
              <a:spcAft>
                <a:spcPts val="200"/>
              </a:spcAft>
              <a:defRPr sz="800">
                <a:solidFill>
                  <a:srgbClr val="1E242B"/>
                </a:solidFill>
                <a:latin typeface="Arial"/>
              </a:defRPr>
            </a:pPr>
            <a:r>
              <a:t>   • Hạng mục 2: Xóa kiểm tra lại tọa độ Panel U201 bằng tay, chuyển sang đối chiếu log Host PC (JP No.3 — 削除確定 giảm 15,12s).</a:t>
            </a:r>
          </a:p>
          <a:p>
            <a:pPr>
              <a:spcAft>
                <a:spcPts val="200"/>
              </a:spcAft>
              <a:defRPr sz="800">
                <a:solidFill>
                  <a:srgbClr val="1E242B"/>
                </a:solidFill>
                <a:latin typeface="Arial"/>
              </a:defRPr>
            </a:pPr>
            <a:r>
              <a:t>   • Hạng mục 3: Xóa kiểm tra nhận diện khổ giấy/lượng giấy Cassette 1/2 thủ công (VN No.34 — giảm 66,68s) &amp; kiểm tra cảm biến người/công tắc cửa.</a:t>
            </a:r>
          </a:p>
          <a:p>
            <a:pPr>
              <a:spcAft>
                <a:spcPts val="200"/>
              </a:spcAft>
              <a:defRPr sz="800" b="1">
                <a:solidFill>
                  <a:srgbClr val="1E242B"/>
                </a:solidFill>
                <a:latin typeface="Arial"/>
              </a:defRPr>
            </a:pPr>
            <a:r>
              <a:t>✔ 2. Giảm 1/2 số lượng tờ in kiểm tra: Print giảm từ 17 tờ xuống 9 tờ (gộp RC9+RCG, bỏ Calibration Process...); Copy giảm từ 2 tờ xuống 1 tờ (gộp DC-1 + Gray).</a:t>
            </a:r>
          </a:p>
        </p:txBody>
      </p:sp>
      <p:sp>
        <p:nvSpPr>
          <p:cNvPr id="12" name="Rectangle 11"/>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NGUYÊN TẮC BÁO CÁO MỤC TIÊU ĐỊNH LƯỢNG (TRÁNH NHẦM LẪN MỤC TIÊU TẠM THỜI)</a:t>
            </a:r>
          </a:p>
        </p:txBody>
      </p:sp>
      <p:sp>
        <p:nvSpPr>
          <p:cNvPr id="14" name="TextBox 13"/>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Tại sao Kỳ 11 rút mục tiêu "Giảm 50% nhân lực / Năng suất ×2"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hết các dòng đánh dấu xóa (削) là -267,74s (-21,2%), chưa đạt 50% nếu không có các đề án tự động hóa của VN.</a:t>
            </a:r>
          </a:p>
          <a:p>
            <a:pPr>
              <a:spcAft>
                <a:spcPts val="200"/>
              </a:spcAft>
              <a:defRPr sz="800" b="1">
                <a:solidFill>
                  <a:srgbClr val="1E242B"/>
                </a:solidFill>
                <a:latin typeface="Arial"/>
              </a:defRPr>
            </a:pPr>
            <a:r>
              <a:t>⚠ 2. Định hướng xử lý tại cứ điểm Việt Nam (KDTVN):</a:t>
            </a:r>
          </a:p>
          <a:p>
            <a:pPr>
              <a:spcAft>
                <a:spcPts val="200"/>
              </a:spcAft>
              <a:defRPr sz="800">
                <a:solidFill>
                  <a:srgbClr val="1E242B"/>
                </a:solidFill>
                <a:latin typeface="Arial"/>
              </a:defRPr>
            </a:pPr>
            <a:r>
              <a:t>   • Trong biểu quản lý mục tiêu chất lượng nội bộ (KDTVN-A-QA-QA-BM-003-F), phòng KTCT VN vẫn giữ đích phấn đấu giảm ≥50% (1.175s / 2.350s) vào tháng 03/2027 thông qua 20 đề án VN + đề án JP/CN, nhưng khi báo cáo cấp trên cần nêu rõ tính chất "Quyết định tạm thời (仮決定)" phía công ty mẹ.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các đề án Việt Nam: 20/38 đề án toàn chương trình (Tách biệt rõ với đề án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Cứ điểm Việt Nam đề xuất 20 đề án độc lập (11 đề án báo cáo tháng 8 + 9 đề án bổ sung tháng 9) cùng đề án nạp FW tại Partner; tiềm năng giảm ~599,32s–611,32s/máy.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pic>
        <p:nvPicPr>
          <p:cNvPr id="8" name="Picture 7"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9" name="Table 8"/>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417320"/>
                <a:gridCol w="1143000"/>
                <a:gridCol w="1143000"/>
                <a:gridCol w="117317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ngân sách</a:t>
                      </a:r>
                    </a:p>
                  </a:txBody>
                  <a:tcPr anchor="ctr" marL="45720" marR="45720" marT="18288" marB="18288">
                    <a:solidFill>
                      <a:srgbClr val="1B365D"/>
                    </a:solidFill>
                  </a:tcPr>
                </a:tc>
              </a:tr>
              <a:tr h="359228">
                <a:tc>
                  <a:txBody>
                    <a:bodyPr/>
                    <a:lstStyle/>
                    <a:p>
                      <a:pPr algn="ctr">
                        <a:defRPr sz="760" b="1">
                          <a:solidFill>
                            <a:srgbClr val="1E242B"/>
                          </a:solidFill>
                          <a:latin typeface="Arial"/>
                        </a:defRPr>
                      </a:pPr>
                      <a:r>
                        <a:t>K1 → A-1</a:t>
                      </a:r>
                      <a:br/>
                      <a:r>
                        <a:t>(Nạp FW, TLBĐ)</a:t>
                      </a:r>
                    </a:p>
                  </a:txBody>
                  <a:tcPr anchor="ctr" marL="45720" marR="45720" marT="18288" marB="18288">
                    <a:solidFill>
                      <a:srgbClr val="FFFFFF"/>
                    </a:solidFill>
                  </a:tcPr>
                </a:tc>
                <a:tc>
                  <a:txBody>
                    <a:bodyPr/>
                    <a:lstStyle/>
                    <a:p>
                      <a:pPr algn="l">
                        <a:defRPr sz="76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6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6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6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60" b="1">
                          <a:solidFill>
                            <a:srgbClr val="1E242B"/>
                          </a:solidFill>
                          <a:latin typeface="Arial"/>
                        </a:defRPr>
                      </a:pPr>
                      <a:r>
                        <a:t>K2 → A-2</a:t>
                      </a:r>
                      <a:br/>
                      <a:r>
                        <a:t>(Semi, Option)</a:t>
                      </a:r>
                    </a:p>
                  </a:txBody>
                  <a:tcPr anchor="ctr" marL="45720" marR="45720" marT="18288" marB="18288">
                    <a:solidFill>
                      <a:srgbClr val="F7F9FC"/>
                    </a:solidFill>
                  </a:tcPr>
                </a:tc>
                <a:tc>
                  <a:txBody>
                    <a:bodyPr/>
                    <a:lstStyle/>
                    <a:p>
                      <a:pPr algn="l">
                        <a:defRPr sz="760">
                          <a:solidFill>
                            <a:srgbClr val="1E242B"/>
                          </a:solidFill>
                          <a:latin typeface="Arial"/>
                        </a:defRPr>
                      </a:pPr>
                      <a:r>
                        <a:t>No.21, 31, 32</a:t>
                      </a:r>
                    </a:p>
                  </a:txBody>
                  <a:tcPr anchor="ctr" marL="45720" marR="45720" marT="18288" marB="18288">
                    <a:solidFill>
                      <a:srgbClr val="F7F9FC"/>
                    </a:solidFill>
                  </a:tcPr>
                </a:tc>
                <a:tc>
                  <a:txBody>
                    <a:bodyPr/>
                    <a:lstStyle/>
                    <a:p>
                      <a:pPr algn="ctr">
                        <a:defRPr sz="76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60">
                          <a:solidFill>
                            <a:srgbClr val="1E242B"/>
                          </a:solidFill>
                          <a:latin typeface="Arial"/>
                        </a:defRPr>
                      </a:pPr>
                      <a:r>
                        <a:t>-65,00s ~ -110,00s</a:t>
                      </a:r>
                    </a:p>
                  </a:txBody>
                  <a:tcPr anchor="ctr" marL="45720" marR="45720" marT="18288" marB="18288">
                    <a:solidFill>
                      <a:srgbClr val="F7F9FC"/>
                    </a:solidFill>
                  </a:tcPr>
                </a:tc>
                <a:tc>
                  <a:txBody>
                    <a:bodyPr/>
                    <a:lstStyle/>
                    <a:p>
                      <a:pPr algn="l">
                        <a:defRPr sz="76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K3 → A-3</a:t>
                      </a:r>
                      <a:br/>
                      <a:r>
                        <a:t>(Vỏ, Chịu áp, Khay)</a:t>
                      </a:r>
                    </a:p>
                  </a:txBody>
                  <a:tcPr anchor="ctr" marL="45720" marR="45720" marT="18288" marB="18288">
                    <a:solidFill>
                      <a:srgbClr val="EAF7EE"/>
                    </a:solidFill>
                  </a:tcPr>
                </a:tc>
                <a:tc>
                  <a:txBody>
                    <a:bodyPr/>
                    <a:lstStyle/>
                    <a:p>
                      <a:pPr algn="l">
                        <a:defRPr sz="760">
                          <a:solidFill>
                            <a:srgbClr val="1E242B"/>
                          </a:solidFill>
                          <a:latin typeface="Arial"/>
                        </a:defRPr>
                      </a:pPr>
                      <a:r>
                        <a:t>No.22, 33, 34, 35</a:t>
                      </a:r>
                    </a:p>
                  </a:txBody>
                  <a:tcPr anchor="ctr" marL="45720" marR="45720" marT="18288" marB="18288">
                    <a:solidFill>
                      <a:srgbClr val="EAF7EE"/>
                    </a:solidFill>
                  </a:tcPr>
                </a:tc>
                <a:tc>
                  <a:txBody>
                    <a:bodyPr/>
                    <a:lstStyle/>
                    <a:p>
                      <a:pPr algn="ctr">
                        <a:defRPr sz="76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60">
                          <a:solidFill>
                            <a:srgbClr val="1E242B"/>
                          </a:solidFill>
                          <a:latin typeface="Arial"/>
                        </a:defRPr>
                      </a:pPr>
                      <a:r>
                        <a:t>-158,32s ~ -200,00s</a:t>
                      </a:r>
                    </a:p>
                  </a:txBody>
                  <a:tcPr anchor="ctr" marL="45720" marR="45720" marT="18288" marB="18288">
                    <a:solidFill>
                      <a:srgbClr val="EAF7EE"/>
                    </a:solidFill>
                  </a:tcPr>
                </a:tc>
                <a:tc>
                  <a:txBody>
                    <a:bodyPr/>
                    <a:lstStyle/>
                    <a:p>
                      <a:pPr algn="l">
                        <a:defRPr sz="760">
                          <a:solidFill>
                            <a:srgbClr val="1E242B"/>
                          </a:solidFill>
                          <a:latin typeface="Arial"/>
                        </a:defRPr>
                      </a:pPr>
                      <a:r>
                        <a:t>No.22: 101,69 tr VNĐ</a:t>
                      </a:r>
                      <a:br/>
                      <a:r>
                        <a:t>2 Báo giá | 1 TK (0đ)</a:t>
                      </a:r>
                    </a:p>
                  </a:txBody>
                  <a:tcPr anchor="ctr" marL="45720" marR="45720" marT="18288" marB="18288">
                    <a:solidFill>
                      <a:srgbClr val="EAF7EE"/>
                    </a:solidFill>
                  </a:tcPr>
                </a:tc>
              </a:tr>
              <a:tr h="359228">
                <a:tc>
                  <a:txBody>
                    <a:bodyPr/>
                    <a:lstStyle/>
                    <a:p>
                      <a:pPr algn="ctr">
                        <a:defRPr sz="760" b="1">
                          <a:solidFill>
                            <a:srgbClr val="1E242B"/>
                          </a:solidFill>
                          <a:latin typeface="Arial"/>
                        </a:defRPr>
                      </a:pPr>
                      <a:r>
                        <a:t>K4 → A-4 đầu</a:t>
                      </a:r>
                      <a:br/>
                      <a:r>
                        <a:t>(Scan, USB, U201)</a:t>
                      </a:r>
                    </a:p>
                  </a:txBody>
                  <a:tcPr anchor="ctr" marL="45720" marR="45720" marT="18288" marB="18288">
                    <a:solidFill>
                      <a:srgbClr val="F7F9FC"/>
                    </a:solidFill>
                  </a:tcPr>
                </a:tc>
                <a:tc>
                  <a:txBody>
                    <a:bodyPr/>
                    <a:lstStyle/>
                    <a:p>
                      <a:pPr algn="l">
                        <a:defRPr sz="760">
                          <a:solidFill>
                            <a:srgbClr val="1E242B"/>
                          </a:solidFill>
                          <a:latin typeface="Arial"/>
                        </a:defRPr>
                      </a:pPr>
                      <a:r>
                        <a:t>No.25 (thay No.23),</a:t>
                      </a:r>
                      <a:br/>
                      <a:r>
                        <a:t>No.36, 37 (+ hủy No.24)</a:t>
                      </a:r>
                    </a:p>
                  </a:txBody>
                  <a:tcPr anchor="ctr" marL="45720" marR="45720" marT="18288" marB="18288">
                    <a:solidFill>
                      <a:srgbClr val="F7F9FC"/>
                    </a:solidFill>
                  </a:tcPr>
                </a:tc>
                <a:tc>
                  <a:txBody>
                    <a:bodyPr/>
                    <a:lstStyle/>
                    <a:p>
                      <a:pPr algn="ctr">
                        <a:defRPr sz="760">
                          <a:solidFill>
                            <a:srgbClr val="1E242B"/>
                          </a:solidFill>
                          <a:latin typeface="Arial"/>
                        </a:defRPr>
                      </a:pPr>
                      <a:r>
                        <a:t>480,00 s</a:t>
                      </a:r>
                      <a:br/>
                      <a:r>
                        <a:t>(gồm 285s U950)</a:t>
                      </a:r>
                    </a:p>
                  </a:txBody>
                  <a:tcPr anchor="ctr" marL="45720" marR="45720" marT="18288" marB="18288">
                    <a:solidFill>
                      <a:srgbClr val="F7F9FC"/>
                    </a:solidFill>
                  </a:tcPr>
                </a:tc>
                <a:tc>
                  <a:txBody>
                    <a:bodyPr/>
                    <a:lstStyle/>
                    <a:p>
                      <a:pPr algn="ctr">
                        <a:defRPr sz="760">
                          <a:solidFill>
                            <a:srgbClr val="1E242B"/>
                          </a:solidFill>
                          <a:latin typeface="Arial"/>
                        </a:defRPr>
                      </a:pPr>
                      <a:r>
                        <a:t>-153,88s ~ -170,00s</a:t>
                      </a:r>
                    </a:p>
                  </a:txBody>
                  <a:tcPr anchor="ctr" marL="45720" marR="45720" marT="18288" marB="18288">
                    <a:solidFill>
                      <a:srgbClr val="F7F9FC"/>
                    </a:solidFill>
                  </a:tcPr>
                </a:tc>
                <a:tc>
                  <a:txBody>
                    <a:bodyPr/>
                    <a:lstStyle/>
                    <a:p>
                      <a:pPr algn="l">
                        <a:defRPr sz="760">
                          <a:solidFill>
                            <a:srgbClr val="1E242B"/>
                          </a:solidFill>
                          <a:latin typeface="Arial"/>
                        </a:defRPr>
                      </a:pPr>
                      <a:r>
                        <a:t>No.25: Đang báo giá</a:t>
                      </a:r>
                      <a:br/>
                      <a:r>
                        <a:t>(Hủy 2 Robot 29k$)</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K6, K7, K8 → A-4</a:t>
                      </a:r>
                      <a:br/>
                      <a:r>
                        <a:t>(Ảnh, Âm, Xuất)</a:t>
                      </a:r>
                    </a:p>
                  </a:txBody>
                  <a:tcPr anchor="ctr" marL="45720" marR="45720" marT="18288" marB="18288">
                    <a:solidFill>
                      <a:srgbClr val="FFFFFF"/>
                    </a:solidFill>
                  </a:tcPr>
                </a:tc>
                <a:tc>
                  <a:txBody>
                    <a:bodyPr/>
                    <a:lstStyle/>
                    <a:p>
                      <a:pPr algn="l">
                        <a:defRPr sz="760">
                          <a:solidFill>
                            <a:srgbClr val="1E242B"/>
                          </a:solidFill>
                          <a:latin typeface="Arial"/>
                        </a:defRPr>
                      </a:pPr>
                      <a:r>
                        <a:t>No.26 (Dài hạn),</a:t>
                      </a:r>
                      <a:br/>
                      <a:r>
                        <a:t>No.27, No.28</a:t>
                      </a:r>
                    </a:p>
                  </a:txBody>
                  <a:tcPr anchor="ctr" marL="45720" marR="45720" marT="18288" marB="18288">
                    <a:solidFill>
                      <a:srgbClr val="FFFFFF"/>
                    </a:solidFill>
                  </a:tcPr>
                </a:tc>
                <a:tc>
                  <a:txBody>
                    <a:bodyPr/>
                    <a:lstStyle/>
                    <a:p>
                      <a:pPr algn="ctr">
                        <a:defRPr sz="76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6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60">
                          <a:solidFill>
                            <a:srgbClr val="1E242B"/>
                          </a:solidFill>
                          <a:latin typeface="Arial"/>
                        </a:defRPr>
                      </a:pPr>
                      <a:r>
                        <a:t>No.27, 28: Báo giá</a:t>
                      </a:r>
                      <a:br/>
                      <a:r>
                        <a:t>No.26: R&amp;D 26-30</a:t>
                      </a:r>
                    </a:p>
                  </a:txBody>
                  <a:tcPr anchor="ctr" marL="45720" marR="45720" marT="18288" marB="18288">
                    <a:solidFill>
                      <a:srgbClr val="FFFFFF"/>
                    </a:solidFill>
                  </a:tcPr>
                </a:tc>
              </a:tr>
              <a:tr h="359232">
                <a:tc>
                  <a:txBody>
                    <a:bodyPr/>
                    <a:lstStyle/>
                    <a:p>
                      <a:pPr algn="ctr">
                        <a:defRPr sz="76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60">
                          <a:solidFill>
                            <a:srgbClr val="1E242B"/>
                          </a:solidFill>
                          <a:latin typeface="Arial"/>
                        </a:defRPr>
                      </a:pPr>
                      <a:r>
                        <a:t>20 đề án (18 khả thi)</a:t>
                      </a:r>
                    </a:p>
                  </a:txBody>
                  <a:tcPr anchor="ctr" marL="45720" marR="45720" marT="18288" marB="18288">
                    <a:solidFill>
                      <a:srgbClr val="E8EEF5"/>
                    </a:solidFill>
                  </a:tcPr>
                </a:tc>
                <a:tc>
                  <a:txBody>
                    <a:bodyPr/>
                    <a:lstStyle/>
                    <a:p>
                      <a:pPr algn="ctr">
                        <a:defRPr sz="76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60">
                          <a:solidFill>
                            <a:srgbClr val="1E242B"/>
                          </a:solidFill>
                          <a:latin typeface="Arial"/>
                        </a:defRPr>
                      </a:pPr>
                      <a:r>
                        <a:t>~599,32s – 611,32s*</a:t>
                      </a:r>
                    </a:p>
                  </a:txBody>
                  <a:tcPr anchor="ctr" marL="45720" marR="45720" marT="18288" marB="18288">
                    <a:solidFill>
                      <a:srgbClr val="E8EEF5"/>
                    </a:solidFill>
                  </a:tcPr>
                </a:tc>
                <a:tc>
                  <a:txBody>
                    <a:bodyPr/>
                    <a:lstStyle/>
                    <a:p>
                      <a:pPr algn="l">
                        <a:defRPr sz="760">
                          <a:solidFill>
                            <a:srgbClr val="1E242B"/>
                          </a:solidFill>
                          <a:latin typeface="Arial"/>
                        </a:defRPr>
                      </a:pPr>
                      <a:r>
                        <a:t>Duyệt: 101,69 tr VNĐ</a:t>
                      </a:r>
                    </a:p>
                  </a:txBody>
                  <a:tcPr anchor="ctr" marL="45720" marR="45720" marT="18288" marB="18288">
                    <a:solidFill>
                      <a:srgbClr val="E8EEF5"/>
                    </a:solidFill>
                  </a:tcPr>
                </a:tc>
              </a:tr>
            </a:tbl>
          </a:graphicData>
        </a:graphic>
      </p:graphicFrame>
      <p:sp>
        <p:nvSpPr>
          <p:cNvPr id="10" name="Rectangle 9"/>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TÁCH RÕ CẤU TRÚC 20 ĐỀ ÁN CỦA VIỆT NAM VỚI ĐỀ ÁN CỦA NHẬT BẢN (7 ĐỀ ÁN) VÀ TRUNG QUỐC (11 ĐỀ ÁN)</a:t>
            </a:r>
          </a:p>
        </p:txBody>
      </p:sp>
      <p:sp>
        <p:nvSpPr>
          <p:cNvPr id="12" name="TextBox 11"/>
          <p:cNvSpPr txBox="1"/>
          <p:nvPr/>
        </p:nvSpPr>
        <p:spPr>
          <a:xfrm>
            <a:off x="347472" y="4187952"/>
            <a:ext cx="11496751" cy="2249424"/>
          </a:xfrm>
          <a:prstGeom prst="rect">
            <a:avLst/>
          </a:prstGeom>
          <a:noFill/>
        </p:spPr>
        <p:txBody>
          <a:bodyPr wrap="square" lIns="36576" rIns="36576" tIns="18288" bIns="18288">
            <a:spAutoFit/>
          </a:bodyPr>
          <a:lstStyle/>
          <a:p>
            <a:pPr>
              <a:spcAft>
                <a:spcPts val="300"/>
              </a:spcAft>
              <a:defRPr sz="840" b="1">
                <a:solidFill>
                  <a:srgbClr val="1E242B"/>
                </a:solidFill>
                <a:latin typeface="Arial"/>
              </a:defRPr>
            </a:pPr>
            <a:r>
              <a:t>■ 1. Nhóm A — 11 đề án Việt Nam trong Báo cáo gốc tháng 8/2026 (IrisEXP報告.pptx Slide 3 &amp; IrisEXP改善提案まとめ.xlsx No.18 ~ No.28):</a:t>
            </a:r>
          </a:p>
          <a:p>
            <a:pPr>
              <a:spcAft>
                <a:spcPts val="300"/>
              </a:spcAft>
              <a:defRPr sz="840">
                <a:solidFill>
                  <a:srgbClr val="1E242B"/>
                </a:solidFill>
                <a:latin typeface="Arial"/>
              </a:defRPr>
            </a:pPr>
            <a:r>
              <a:t>   • Tập trung vào giải pháp Thiết bị tự động hóa, Đồ gá thông minh và Mạng hóa tại 4 trạm A-1 ~ A-4: (1) Gá nạp FW 4 máy đồng thời [No.18], (2) Không tháo nắp/cáp khi nạp FW &amp; TLBĐ [No.19], (3) Lấy log kiểm tra qua mạng LAN thay USB [No.20], (4) Gá kiểm tra Option bằng nam châm [No.21], (5) Tự động kiểm tra thông mạch, tiếp địa, cách điện chịu áp [No.22 — Đã có BOM 101,69 triệu VNĐ], (6) Quét bản thảo liên tục bằng DP của máy + PC tự động đánh giá [No.25 — Thay thế Robot ISU No.23], (7) Camera đo nồng độ, đo lề, PPT [No.27], (8) Tự động thiết lập xuất hàng qua mạng [No.28].</a:t>
            </a:r>
          </a:p>
          <a:p>
            <a:pPr>
              <a:spcAft>
                <a:spcPts val="300"/>
              </a:spcAft>
              <a:defRPr sz="840">
                <a:solidFill>
                  <a:srgbClr val="1E242B"/>
                </a:solidFill>
                <a:latin typeface="Arial"/>
              </a:defRPr>
            </a:pPr>
            <a:r>
              <a:t>   • Tách riêng 2 phương án Robot đã bị hủy sau DR4: Robot đặt bản thảo mặt kính ISU [No.23 — 650 triệu VNĐ / 25.000 USD] &amp; Robot cắm USB/chạm U201 [No.24 — 4.000 USD]; và 1 đề án chuyển nghiên cứu dài hạn 2026–2030: Phần mềm AI kiểm tra âm thanh lạ &amp; nhiệt độ [No.26 — 600 vạn JPY / ~40.000 USD].</a:t>
            </a:r>
          </a:p>
          <a:p>
            <a:pPr>
              <a:spcAft>
                <a:spcPts val="300"/>
              </a:spcAft>
              <a:defRPr sz="840" b="1">
                <a:solidFill>
                  <a:srgbClr val="1E242B"/>
                </a:solidFill>
                <a:latin typeface="Arial"/>
              </a:defRPr>
            </a:pPr>
            <a:r>
              <a:t>■ 2. Nhóm B — 9 đề án Việt Nam bổ sung trong tháng 9/2026 (IrisEXP VN改善案LIST.xlsx &amp; IrisEXP改善提案まとめ.xlsx No.29 ~ No.37):</a:t>
            </a:r>
          </a:p>
          <a:p>
            <a:pPr>
              <a:spcAft>
                <a:spcPts val="300"/>
              </a:spcAft>
              <a:defRPr sz="840">
                <a:solidFill>
                  <a:srgbClr val="1E242B"/>
                </a:solidFill>
                <a:latin typeface="Arial"/>
              </a:defRPr>
            </a:pPr>
            <a:r>
              <a:t>   • Do 11 đề án ban đầu chưa đủ cắt giảm 50% thời gian (1.175s), KDTVN đã rà soát toàn bộ các thao tác thủ công còn sót lại tại K1–K4 và đề xuất thêm 9 đề án: gồm 6 đề án kiến nghị Thiết kế JP cải tiến bản mạch/phần mềm để tự động kiểm tra (Hộp mực [No.29], Mực thải WTB [No.30], Không cắm dây Option [No.32], Nhận diện cỡ/lượng giấy Cassette 1/2 [No.34], Đóng mở Cover Right [No.36], Bỏ đo lệch Transfer Belt [No.37]) và 3 đề án tự động hóa cơ khí / chuyển công đoạn (Đóng mở Cassette tải nặng [No.31], Lắp 6 tấm vỏ máy [No.33], Đặt giấy tự động [No.35]).</a:t>
            </a:r>
          </a:p>
          <a:p>
            <a:pPr>
              <a:spcAft>
                <a:spcPts val="300"/>
              </a:spcAft>
              <a:defRPr sz="840">
                <a:solidFill>
                  <a:srgbClr val="1E242B"/>
                </a:solidFill>
                <a:latin typeface="Arial"/>
              </a:defRPr>
            </a:pPr>
            <a:r>
              <a:t>   • Ghi chú phương pháp tính (*): Tổng thời gian giảm tiềm năng ~599,32s–611,32s/máy của riêng các đề án VN đã loại trừ hoàn toàn việc cộng trùng giữa Robot ISU đã hủy (No.23: 110s) và Quét DP liên tục (No.25: 110s). Khi kết hợp thêm các đề án gộp mẫu in/bỏ Calibration tại K5 của JP &amp; CN (-178,56s ~ -267,74s) và rút ngắn chờ máy sẽ tiến tới mục tiêu -1.175s.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các đề án Việt Nam —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5 đề án VN tại A-1 ~ A-3 kết hợp phương án nạp FW tại Partner giúp giảm ~173s–185s/máy và rút giảm 1 nhân sự tại A-1; trong đó Đề án No.22 đã có báo giá BOM 101,69 triệu VNĐ.</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60" b="1">
                          <a:solidFill>
                            <a:srgbClr val="1E242B"/>
                          </a:solidFill>
                          <a:latin typeface="Arial"/>
                        </a:defRPr>
                      </a:pPr>
                      <a:r>
                        <a:t>No.18</a:t>
                      </a:r>
                      <a:br/>
                      <a:r>
                        <a:t>(K1 → A-1)</a:t>
                      </a:r>
                    </a:p>
                  </a:txBody>
                  <a:tcPr anchor="ctr" marL="45720" marR="45720" marT="18288" marB="18288">
                    <a:solidFill>
                      <a:srgbClr val="FFFFFF"/>
                    </a:solidFill>
                  </a:tcPr>
                </a:tc>
                <a:tc>
                  <a:txBody>
                    <a:bodyPr/>
                    <a:lstStyle/>
                    <a:p>
                      <a:pPr algn="l">
                        <a:defRPr sz="76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60">
                          <a:solidFill>
                            <a:srgbClr val="1E242B"/>
                          </a:solidFill>
                          <a:latin typeface="Arial"/>
                        </a:defRPr>
                      </a:pPr>
                      <a:r>
                        <a:t>Nạp FW bằng USB từng máy (90s/máy). 1 công nhân đứng chờ thao tác cắm/rút USB và bấm khởi động.</a:t>
                      </a:r>
                    </a:p>
                  </a:txBody>
                  <a:tcPr anchor="ctr" marL="45720" marR="45720" marT="18288" marB="18288">
                    <a:solidFill>
                      <a:srgbClr val="FFFFFF"/>
                    </a:solidFill>
                  </a:tcPr>
                </a:tc>
                <a:tc>
                  <a:txBody>
                    <a:bodyPr/>
                    <a:lstStyle/>
                    <a:p>
                      <a:pPr algn="l">
                        <a:defRPr sz="760">
                          <a:solidFill>
                            <a:srgbClr val="1E242B"/>
                          </a:solidFill>
                          <a:latin typeface="Arial"/>
                        </a:defRPr>
                      </a:pPr>
                      <a:r>
                        <a:t>Thiết kế trạm A-1 cho phép 1 công nhân vận hành nạp FW đồng thời 4 máy qua hệ thống Mini PC / mạng LAN.</a:t>
                      </a:r>
                    </a:p>
                  </a:txBody>
                  <a:tcPr anchor="ctr" marL="45720" marR="45720" marT="18288" marB="18288">
                    <a:solidFill>
                      <a:srgbClr val="FFFFFF"/>
                    </a:solidFill>
                  </a:tcPr>
                </a:tc>
                <a:tc>
                  <a:txBody>
                    <a:bodyPr/>
                    <a:lstStyle/>
                    <a:p>
                      <a:pPr algn="l">
                        <a:defRPr sz="76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6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6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6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60">
                          <a:solidFill>
                            <a:srgbClr val="1E242B"/>
                          </a:solidFill>
                          <a:latin typeface="Arial"/>
                        </a:defRPr>
                      </a:pPr>
                      <a:r>
                        <a:t>• Giảm 13s ~ 25s thao tác tay; chu kỳ A-1 giảm 379s → 279s (354s → 254s)</a:t>
                      </a:r>
                      <a:br/>
                      <a:r>
                        <a:t>• Giảm 1 người tại A-1 (từ 4 → 3 người)</a:t>
                      </a:r>
                    </a:p>
                  </a:txBody>
                  <a:tcPr anchor="ctr" marL="45720" marR="45720" marT="18288" marB="18288">
                    <a:solidFill>
                      <a:srgbClr val="E8EEF5"/>
                    </a:solidFill>
                  </a:tcPr>
                </a:tc>
                <a:tc>
                  <a:txBody>
                    <a:bodyPr/>
                    <a:lstStyle/>
                    <a:p>
                      <a:pPr algn="ctr">
                        <a:defRPr sz="76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6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60" b="1">
                          <a:solidFill>
                            <a:srgbClr val="1E242B"/>
                          </a:solidFill>
                          <a:latin typeface="Arial"/>
                        </a:defRPr>
                      </a:pPr>
                      <a:r>
                        <a:t>No.19</a:t>
                      </a:r>
                      <a:br/>
                      <a:r>
                        <a:t>(K1 → A-1)</a:t>
                      </a:r>
                    </a:p>
                  </a:txBody>
                  <a:tcPr anchor="ctr" marL="45720" marR="45720" marT="18288" marB="18288">
                    <a:solidFill>
                      <a:srgbClr val="FFFFFF"/>
                    </a:solidFill>
                  </a:tcPr>
                </a:tc>
                <a:tc>
                  <a:txBody>
                    <a:bodyPr/>
                    <a:lstStyle/>
                    <a:p>
                      <a:pPr algn="l">
                        <a:defRPr sz="76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6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6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6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6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No.20</a:t>
                      </a:r>
                      <a:br/>
                      <a:r>
                        <a:t>(K1 → A-1)</a:t>
                      </a:r>
                    </a:p>
                  </a:txBody>
                  <a:tcPr anchor="ctr" marL="45720" marR="45720" marT="18288" marB="18288">
                    <a:solidFill>
                      <a:srgbClr val="F7F9FC"/>
                    </a:solidFill>
                  </a:tcPr>
                </a:tc>
                <a:tc>
                  <a:txBody>
                    <a:bodyPr/>
                    <a:lstStyle/>
                    <a:p>
                      <a:pPr algn="l">
                        <a:defRPr sz="76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60">
                          <a:solidFill>
                            <a:srgbClr val="1E242B"/>
                          </a:solidFill>
                          <a:latin typeface="Arial"/>
                        </a:defRPr>
                      </a:pPr>
                      <a:r>
                        <a:t>Công nhân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60">
                          <a:solidFill>
                            <a:srgbClr val="1E242B"/>
                          </a:solidFill>
                          <a:latin typeface="Arial"/>
                        </a:defRPr>
                      </a:pPr>
                      <a:r>
                        <a:t>Truyền trực tiếp dữ liệu log kiểm tra từ máy về Host PC thông qua mạng nội bộ (LAN/VLAN qua Mini PC).</a:t>
                      </a:r>
                    </a:p>
                  </a:txBody>
                  <a:tcPr anchor="ctr" marL="45720" marR="45720" marT="18288" marB="18288">
                    <a:solidFill>
                      <a:srgbClr val="F7F9FC"/>
                    </a:solidFill>
                  </a:tcPr>
                </a:tc>
                <a:tc>
                  <a:txBody>
                    <a:bodyPr/>
                    <a:lstStyle/>
                    <a:p>
                      <a:pPr algn="l">
                        <a:defRPr sz="76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6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60" b="1">
                          <a:solidFill>
                            <a:srgbClr val="1E242B"/>
                          </a:solidFill>
                          <a:latin typeface="Arial"/>
                        </a:defRPr>
                      </a:pPr>
                      <a:r>
                        <a:t>No.21</a:t>
                      </a:r>
                      <a:br/>
                      <a:r>
                        <a:t>(K2 → A-2)</a:t>
                      </a:r>
                    </a:p>
                  </a:txBody>
                  <a:tcPr anchor="ctr" marL="45720" marR="45720" marT="18288" marB="18288">
                    <a:solidFill>
                      <a:srgbClr val="FFFFFF"/>
                    </a:solidFill>
                  </a:tcPr>
                </a:tc>
                <a:tc>
                  <a:txBody>
                    <a:bodyPr/>
                    <a:lstStyle/>
                    <a:p>
                      <a:pPr algn="l">
                        <a:defRPr sz="76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6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6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6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60" b="1">
                          <a:solidFill>
                            <a:srgbClr val="1E242B"/>
                          </a:solidFill>
                          <a:latin typeface="Arial"/>
                        </a:defRPr>
                      </a:pPr>
                      <a:r>
                        <a:t>No.22</a:t>
                      </a:r>
                      <a:br/>
                      <a:r>
                        <a:t>(K3 → A-3)</a:t>
                      </a:r>
                    </a:p>
                  </a:txBody>
                  <a:tcPr anchor="ctr" marL="45720" marR="45720" marT="18288" marB="18288">
                    <a:solidFill>
                      <a:srgbClr val="EAF7EE"/>
                    </a:solidFill>
                  </a:tcPr>
                </a:tc>
                <a:tc>
                  <a:txBody>
                    <a:bodyPr/>
                    <a:lstStyle/>
                    <a:p>
                      <a:pPr algn="l">
                        <a:defRPr sz="760">
                          <a:solidFill>
                            <a:srgbClr val="1E242B"/>
                          </a:solidFill>
                          <a:latin typeface="Arial"/>
                        </a:defRPr>
                      </a:pPr>
                      <a:r>
                        <a:t>Tự động hóa kiểm tra thông mạch, tiếp địa, cách điện chịu áp</a:t>
                      </a:r>
                      <a:br/>
                      <a:r>
                        <a:t>(自動導通・耐圧検査の自動化)</a:t>
                      </a:r>
                    </a:p>
                  </a:txBody>
                  <a:tcPr anchor="ctr" marL="45720" marR="45720" marT="18288" marB="18288">
                    <a:solidFill>
                      <a:srgbClr val="EAF7EE"/>
                    </a:solidFill>
                  </a:tcPr>
                </a:tc>
                <a:tc>
                  <a:txBody>
                    <a:bodyPr/>
                    <a:lstStyle/>
                    <a:p>
                      <a:pPr algn="l">
                        <a:defRPr sz="760">
                          <a:solidFill>
                            <a:srgbClr val="1E242B"/>
                          </a:solidFill>
                          <a:latin typeface="Arial"/>
                        </a:defRPr>
                      </a:pPr>
                      <a:r>
                        <a:t>Công nhân cắm nguồn, kẹp que đo tiếp địa, bấm máy đo Chroma 19032 và quét barcode thủ công (20s tiếp địa + 10s chịu áp = 30s/máy).</a:t>
                      </a:r>
                    </a:p>
                  </a:txBody>
                  <a:tcPr anchor="ctr" marL="45720" marR="45720" marT="18288" marB="18288">
                    <a:solidFill>
                      <a:srgbClr val="EAF7EE"/>
                    </a:solidFill>
                  </a:tcPr>
                </a:tc>
                <a:tc>
                  <a:txBody>
                    <a:bodyPr/>
                    <a:lstStyle/>
                    <a:p>
                      <a:pPr algn="l">
                        <a:defRPr sz="760">
                          <a:solidFill>
                            <a:srgbClr val="1E242B"/>
                          </a:solidFill>
                          <a:latin typeface="Arial"/>
                        </a:defRPr>
                      </a:pPr>
                      <a:r>
                        <a:t>Chế tạo hệ thống tự động: 4 Xylanh khí nén SMC tự động cắm nguồn/chạm kim tiếp địa/bấm nút + PLC FX5U + HMI GOT2000 + Đầu đọc Barcode cố định.</a:t>
                      </a:r>
                      <a:br/>
                      <a:r>
                        <a:t>※ Quyết định DR4: Phải đo khi ĐÃ ĐÓNG VỎ MÁY tại A-3 để phát hiện lỗi kẹt dây điện.</a:t>
                      </a:r>
                    </a:p>
                  </a:txBody>
                  <a:tcPr anchor="ctr" marL="45720" marR="45720" marT="18288" marB="18288">
                    <a:solidFill>
                      <a:srgbClr val="EAF7EE"/>
                    </a:solidFill>
                  </a:tcPr>
                </a:tc>
                <a:tc>
                  <a:txBody>
                    <a:bodyPr/>
                    <a:lstStyle/>
                    <a:p>
                      <a:pPr algn="l">
                        <a:defRPr sz="760">
                          <a:solidFill>
                            <a:srgbClr val="1E242B"/>
                          </a:solidFill>
                          <a:latin typeface="Arial"/>
                        </a:defRPr>
                      </a:pPr>
                      <a:r>
                        <a:t>• Giảm 30,00 s/máy</a:t>
                      </a:r>
                      <a:br/>
                      <a:r>
                        <a:t>• Tiết kiệm nhân công: 29.600.000 VNĐ/năm (1.138,46 USD/năm)</a:t>
                      </a:r>
                      <a:br/>
                      <a:r>
                        <a:t>• Tự động lưu kết quả barcode</a:t>
                      </a:r>
                    </a:p>
                  </a:txBody>
                  <a:tcPr anchor="ctr" marL="45720" marR="45720" marT="18288" marB="18288">
                    <a:solidFill>
                      <a:srgbClr val="EAF7EE"/>
                    </a:solidFill>
                  </a:tcPr>
                </a:tc>
                <a:tc>
                  <a:txBody>
                    <a:bodyPr/>
                    <a:lstStyle/>
                    <a:p>
                      <a:pPr algn="ctr">
                        <a:defRPr sz="760" b="1">
                          <a:solidFill>
                            <a:srgbClr val="1E6E3E"/>
                          </a:solidFill>
                          <a:latin typeface="Arial"/>
                        </a:defRPr>
                      </a:pPr>
                      <a:r>
                        <a:t>ĐÃ CÓ BÁO GIÁ:</a:t>
                      </a:r>
                      <a:br/>
                      <a:r>
                        <a:t>101.690.000 VNĐ</a:t>
                      </a:r>
                      <a:br/>
                      <a:r>
                        <a:t>(3.911,15 USD theo BOM 25 mục)</a:t>
                      </a:r>
                      <a:br/>
                      <a:r>
                        <a:t>[Thuyết minh: 101,7tr;</a:t>
                      </a:r>
                      <a:br/>
                      <a:r>
                        <a:t>纏め: 4.000 USD]</a:t>
                      </a:r>
                    </a:p>
                  </a:txBody>
                  <a:tcPr anchor="ctr" marL="45720" marR="45720" marT="18288" marB="18288">
                    <a:solidFill>
                      <a:srgbClr val="EAF7EE"/>
                    </a:solidFill>
                  </a:tcPr>
                </a:tc>
                <a:tc>
                  <a:txBody>
                    <a:bodyPr/>
                    <a:lstStyle/>
                    <a:p>
                      <a:pPr algn="l">
                        <a:defRPr sz="760">
                          <a:solidFill>
                            <a:srgbClr val="1E242B"/>
                          </a:solidFill>
                          <a:latin typeface="Arial"/>
                        </a:defRPr>
                      </a:pPr>
                      <a:r>
                        <a:t>Đề nghị phê duyệt đầu tư đợt này</a:t>
                      </a:r>
                      <a:br/>
                      <a:r>
                        <a:t>(VN提案.xlsx;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các đề án Việt Nam — Cụm A-4 (No.23 ~ No.28) &amp; Kiểm chứng phương án Robot đã hủy sau DR4</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Hai phương án Robot (No.23: 650 triệu VNĐ / 25.000 USD và No.24: 4.000 USD) ĐÃ BỊ HỦY sau DR4; thay thế bằng Quét liên tục qua DP (No.25, -110s) và Camera đo nồng độ/lề/PPT (No.27, -177s ~ -215s).</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Quyết định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&amp; Trạng thái báo giá</a:t>
                      </a:r>
                    </a:p>
                  </a:txBody>
                  <a:tcPr anchor="ctr" marL="45720" marR="45720" marT="18288" marB="18288">
                    <a:solidFill>
                      <a:srgbClr val="1B365D"/>
                    </a:solidFill>
                  </a:tcPr>
                </a:tc>
                <a:tc>
                  <a:txBody>
                    <a:bodyPr/>
                    <a:lstStyle/>
                    <a:p>
                      <a:pPr algn="ctr">
                        <a:defRPr sz="800" b="1">
                          <a:solidFill>
                            <a:srgbClr val="FFFFFF"/>
                          </a:solidFill>
                          <a:latin typeface="Arial"/>
                        </a:defRPr>
                      </a:pPr>
                      <a:r>
                        <a:t>Quyết định / Nguồn đối chiếu</a:t>
                      </a:r>
                    </a:p>
                  </a:txBody>
                  <a:tcPr anchor="ctr" marL="45720" marR="45720" marT="18288" marB="18288">
                    <a:solidFill>
                      <a:srgbClr val="1B365D"/>
                    </a:solidFill>
                  </a:tcPr>
                </a:tc>
              </a:tr>
              <a:tr h="568234">
                <a:tc>
                  <a:txBody>
                    <a:bodyPr/>
                    <a:lstStyle/>
                    <a:p>
                      <a:pPr algn="ctr">
                        <a:defRPr sz="740" b="1">
                          <a:solidFill>
                            <a:srgbClr val="B8292F"/>
                          </a:solidFill>
                          <a:latin typeface="Arial"/>
                        </a:defRPr>
                      </a:pPr>
                      <a:r>
                        <a:t>No.23</a:t>
                      </a:r>
                      <a:br/>
                      <a:r>
                        <a:t>(K4 → A-4)</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Chế tạo Robot đặt bản thảo lên mặt kính ISU</a:t>
                      </a:r>
                      <a:br/>
                      <a:r>
                        <a:t>(ISU原稿セットロボット)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mở nắp Platen, đặt/lấy 3 bản thảo lên kính ISU: U411 (45s) + SITC-2 (35s) + Halftone (30s) = 110s/máy.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mở rộng 2 cell băng tải (200tr) + cấp nguồn (50tr) + định vị USB/LAN (50tr) + Cánh tay Robot (350tr). ĐÃ HỦY tại 連携会 7 / DR4 do chi phí quá cao, hoàn vốn &gt;6 năm, cồng kềnh.</a:t>
                      </a:r>
                    </a:p>
                  </a:txBody>
                  <a:tcPr anchor="ctr" marL="45720" marR="45720" marT="18288" marB="18288">
                    <a:solidFill>
                      <a:srgbClr val="FDEDEC"/>
                    </a:solidFill>
                  </a:tcPr>
                </a:tc>
                <a:tc>
                  <a:txBody>
                    <a:bodyPr/>
                    <a:lstStyle/>
                    <a:p>
                      <a:pPr algn="l">
                        <a:defRPr sz="740">
                          <a:solidFill>
                            <a:srgbClr val="1E242B"/>
                          </a:solidFill>
                          <a:latin typeface="Arial"/>
                        </a:defRPr>
                      </a:pPr>
                      <a:r>
                        <a:t>• Mục tiêu: -110s/máy (108,53tr VNĐ/năm)</a:t>
                      </a:r>
                      <a:br/>
                      <a:r>
                        <a:t>• Không hiệu quả kinh tế → HỦY BỎ</a:t>
                      </a:r>
                    </a:p>
                  </a:txBody>
                  <a:tcPr anchor="ctr" marL="45720" marR="45720" marT="18288" marB="18288">
                    <a:solidFill>
                      <a:srgbClr val="FDEDEC"/>
                    </a:solidFill>
                  </a:tcPr>
                </a:tc>
                <a:tc>
                  <a:txBody>
                    <a:bodyPr/>
                    <a:lstStyle/>
                    <a:p>
                      <a:pPr algn="ctr">
                        <a:defRPr sz="740" b="1">
                          <a:solidFill>
                            <a:srgbClr val="B8292F"/>
                          </a:solidFill>
                          <a:latin typeface="Arial"/>
                        </a:defRPr>
                      </a:pPr>
                      <a:r>
                        <a:t>650.000.000 VNĐ</a:t>
                      </a:r>
                      <a:br/>
                      <a:r>
                        <a:t>(25.000 USD)</a:t>
                      </a:r>
                      <a:br/>
                      <a:r>
                        <a:t>【ĐÃ HỦY BỎ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(廃止)</a:t>
                      </a:r>
                      <a:br/>
                      <a:r>
                        <a:t>Thay bằng No.25</a:t>
                      </a:r>
                      <a:br/>
                      <a:r>
                        <a:t>(VN提案.xlsx;</a:t>
                      </a:r>
                      <a:br/>
                      <a:r>
                        <a:t>第7回.txt; R37)</a:t>
                      </a:r>
                    </a:p>
                  </a:txBody>
                  <a:tcPr anchor="ctr" marL="45720" marR="45720" marT="18288" marB="18288">
                    <a:solidFill>
                      <a:srgbClr val="FDEDEC"/>
                    </a:solidFill>
                  </a:tcPr>
                </a:tc>
              </a:tr>
              <a:tr h="568234">
                <a:tc>
                  <a:txBody>
                    <a:bodyPr/>
                    <a:lstStyle/>
                    <a:p>
                      <a:pPr algn="ctr">
                        <a:defRPr sz="740" b="1">
                          <a:solidFill>
                            <a:srgbClr val="B8292F"/>
                          </a:solidFill>
                          <a:latin typeface="Arial"/>
                        </a:defRPr>
                      </a:pPr>
                      <a:r>
                        <a:t>No.24</a:t>
                      </a:r>
                      <a:br/>
                      <a:r>
                        <a:t>(K4 → A-2)</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Robot kiểm tra nhận diện USB &amp; tọa độ Panel U201</a:t>
                      </a:r>
                      <a:br/>
                      <a:r>
                        <a:t>(USB・U201検査ロボット)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cắm/rút USB kiểm tra nhận diện (15s) và dùng bút chạm 3 điểm trên màn hình U201 (15s) = 30s/máy.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làm cơ cấu tự động cắm USB &amp; chạm Panel. ĐÃ HỦY (見送り) vì USB đã được bảo chứng khi nạp FW đầu chuyền (JP No.6) và U201 chuyển sang đọc log từ Panel Assy qua Host PC (JP No.3).</a:t>
                      </a:r>
                    </a:p>
                  </a:txBody>
                  <a:tcPr anchor="ctr" marL="45720" marR="45720" marT="18288" marB="18288">
                    <a:solidFill>
                      <a:srgbClr val="FDEDEC"/>
                    </a:solidFill>
                  </a:tcPr>
                </a:tc>
                <a:tc>
                  <a:txBody>
                    <a:bodyPr/>
                    <a:lstStyle/>
                    <a:p>
                      <a:pPr algn="l">
                        <a:defRPr sz="740">
                          <a:solidFill>
                            <a:srgbClr val="1E242B"/>
                          </a:solidFill>
                          <a:latin typeface="Arial"/>
                        </a:defRPr>
                      </a:pPr>
                      <a:r>
                        <a:t>• Xóa 30s tại VN (15,12s U201 + 3,96s USB chuẩn) bằng phần mềm 0 đồng TB</a:t>
                      </a:r>
                    </a:p>
                  </a:txBody>
                  <a:tcPr anchor="ctr" marL="45720" marR="45720" marT="18288" marB="18288">
                    <a:solidFill>
                      <a:srgbClr val="FDEDEC"/>
                    </a:solidFill>
                  </a:tcPr>
                </a:tc>
                <a:tc>
                  <a:txBody>
                    <a:bodyPr/>
                    <a:lstStyle/>
                    <a:p>
                      <a:pPr algn="ctr">
                        <a:defRPr sz="740" b="1">
                          <a:solidFill>
                            <a:srgbClr val="B8292F"/>
                          </a:solidFill>
                          <a:latin typeface="Arial"/>
                        </a:defRPr>
                      </a:pPr>
                      <a:r>
                        <a:t>4.000 USD</a:t>
                      </a:r>
                      <a:br/>
                      <a:r>
                        <a:t>(~104 triệu VNĐ)</a:t>
                      </a:r>
                      <a:br/>
                      <a:r>
                        <a:t>【ĐÃ HỦY BỎ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ROBOT</a:t>
                      </a:r>
                      <a:br/>
                      <a:r>
                        <a:t>Đã xóa bước nhờ JP No.3 &amp; No.6</a:t>
                      </a:r>
                      <a:br/>
                      <a:r>
                        <a:t>(VN提案; 第7回)</a:t>
                      </a:r>
                    </a:p>
                  </a:txBody>
                  <a:tcPr anchor="ctr" marL="45720" marR="45720" marT="18288" marB="18288">
                    <a:solidFill>
                      <a:srgbClr val="FDEDEC"/>
                    </a:solidFill>
                  </a:tcPr>
                </a:tc>
              </a:tr>
              <a:tr h="568234">
                <a:tc>
                  <a:txBody>
                    <a:bodyPr/>
                    <a:lstStyle/>
                    <a:p>
                      <a:pPr algn="ctr">
                        <a:defRPr sz="740" b="1">
                          <a:solidFill>
                            <a:srgbClr val="1E242B"/>
                          </a:solidFill>
                          <a:latin typeface="Arial"/>
                        </a:defRPr>
                      </a:pPr>
                      <a:r>
                        <a:t>No.25</a:t>
                      </a:r>
                      <a:br/>
                      <a:r>
                        <a:t>(K4 → A-4)</a:t>
                      </a:r>
                      <a:br/>
                      <a:r>
                        <a:t>[ĐƯỢC CHỌN]</a:t>
                      </a:r>
                    </a:p>
                  </a:txBody>
                  <a:tcPr anchor="ctr" marL="45720" marR="45720" marT="18288" marB="18288">
                    <a:solidFill>
                      <a:srgbClr val="EAF7EE"/>
                    </a:solidFill>
                  </a:tcPr>
                </a:tc>
                <a:tc>
                  <a:txBody>
                    <a:bodyPr/>
                    <a:lstStyle/>
                    <a:p>
                      <a:pPr algn="l">
                        <a:defRPr sz="740">
                          <a:solidFill>
                            <a:srgbClr val="1E242B"/>
                          </a:solidFill>
                          <a:latin typeface="Arial"/>
                        </a:defRPr>
                      </a:pPr>
                      <a:r>
                        <a:t>Quét bản thảo liên tục bằng bộ nạp DP của máy + PC tự động đánh giá</a:t>
                      </a:r>
                      <a:br/>
                      <a:r>
                        <a:t>(本体DP連続スキャン＋PC自動判定)</a:t>
                      </a:r>
                    </a:p>
                  </a:txBody>
                  <a:tcPr anchor="ctr" marL="45720" marR="45720" marT="18288" marB="18288">
                    <a:solidFill>
                      <a:srgbClr val="EAF7EE"/>
                    </a:solidFill>
                  </a:tcPr>
                </a:tc>
                <a:tc>
                  <a:txBody>
                    <a:bodyPr/>
                    <a:lstStyle/>
                    <a:p>
                      <a:pPr algn="l">
                        <a:defRPr sz="740">
                          <a:solidFill>
                            <a:srgbClr val="1E242B"/>
                          </a:solidFill>
                          <a:latin typeface="Arial"/>
                        </a:defRPr>
                      </a:pPr>
                      <a:r>
                        <a:t>Đặt từng tờ bản thảo lên mặt kính ISU thủ công tốn 110s/máy (U411 45s + SITC-2 35s + Halftone 30s).</a:t>
                      </a:r>
                    </a:p>
                  </a:txBody>
                  <a:tcPr anchor="ctr" marL="45720" marR="45720" marT="18288" marB="18288">
                    <a:solidFill>
                      <a:srgbClr val="EAF7EE"/>
                    </a:solidFill>
                  </a:tcPr>
                </a:tc>
                <a:tc>
                  <a:txBody>
                    <a:bodyPr/>
                    <a:lstStyle/>
                    <a:p>
                      <a:pPr algn="l">
                        <a:defRPr sz="740">
                          <a:solidFill>
                            <a:srgbClr val="1E242B"/>
                          </a:solidFill>
                          <a:latin typeface="Arial"/>
                        </a:defRPr>
                      </a:pPr>
                      <a:r>
                        <a:t>PHƯƠNG ÁN ĐƯỢC CHỌN THAY THẾ ROBOT NO.23: Đặt cả xấp bản thảo vào khay nạp tự động DP (Document Processor) của máy MFP để máy tự kéo giấy quét liên tục 1 lần và gửi ảnh về PC phán định.</a:t>
                      </a:r>
                    </a:p>
                  </a:txBody>
                  <a:tcPr anchor="ctr" marL="45720" marR="45720" marT="18288" marB="18288">
                    <a:solidFill>
                      <a:srgbClr val="EAF7EE"/>
                    </a:solidFill>
                  </a:tcPr>
                </a:tc>
                <a:tc>
                  <a:txBody>
                    <a:bodyPr/>
                    <a:lstStyle/>
                    <a:p>
                      <a:pPr algn="l">
                        <a:defRPr sz="740">
                          <a:solidFill>
                            <a:srgbClr val="1E242B"/>
                          </a:solidFill>
                          <a:latin typeface="Arial"/>
                        </a:defRPr>
                      </a:pPr>
                      <a:r>
                        <a:t>• Giảm 110,00 s/máy</a:t>
                      </a:r>
                      <a:br/>
                      <a:r>
                        <a:t>• Không tốn diện tích mở rộng 2 cell băng tải và không cần Robot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br/>
                      <a:r>
                        <a:t>[Tuyệt đối không dùng giá 650tr của No.23]</a:t>
                      </a:r>
                    </a:p>
                  </a:txBody>
                  <a:tcPr anchor="ctr" marL="45720" marR="45720" marT="18288" marB="18288">
                    <a:solidFill>
                      <a:srgbClr val="EAF7EE"/>
                    </a:solidFill>
                  </a:tcPr>
                </a:tc>
                <a:tc>
                  <a:txBody>
                    <a:bodyPr/>
                    <a:lstStyle/>
                    <a:p>
                      <a:pPr algn="l">
                        <a:defRPr sz="740">
                          <a:solidFill>
                            <a:srgbClr val="1E242B"/>
                          </a:solidFill>
                          <a:latin typeface="Arial"/>
                        </a:defRPr>
                      </a:pPr>
                      <a:r>
                        <a:t>Đang kiểm chứng độ chính xác DP vs ISU</a:t>
                      </a:r>
                      <a:br/>
                      <a:r>
                        <a:t>(まとめ Row 39;</a:t>
                      </a:r>
                      <a:br/>
                      <a:r>
                        <a:t>第13回~17回)</a:t>
                      </a:r>
                    </a:p>
                  </a:txBody>
                  <a:tcPr anchor="ctr" marL="45720" marR="45720" marT="18288" marB="18288">
                    <a:solidFill>
                      <a:srgbClr val="EAF7EE"/>
                    </a:solidFill>
                  </a:tcPr>
                </a:tc>
              </a:tr>
              <a:tr h="568234">
                <a:tc>
                  <a:txBody>
                    <a:bodyPr/>
                    <a:lstStyle/>
                    <a:p>
                      <a:pPr algn="ctr">
                        <a:defRPr sz="740" b="1">
                          <a:solidFill>
                            <a:srgbClr val="1E242B"/>
                          </a:solidFill>
                          <a:latin typeface="Arial"/>
                        </a:defRPr>
                      </a:pPr>
                      <a:r>
                        <a:t>No.26</a:t>
                      </a:r>
                      <a:br/>
                      <a:r>
                        <a:t>(K6 → A-3)</a:t>
                      </a:r>
                      <a:br/>
                      <a:r>
                        <a:t>[DÀI HẠN]</a:t>
                      </a:r>
                    </a:p>
                  </a:txBody>
                  <a:tcPr anchor="ctr" marL="45720" marR="45720" marT="18288" marB="18288">
                    <a:solidFill>
                      <a:srgbClr val="FEF7E6"/>
                    </a:solidFill>
                  </a:tcPr>
                </a:tc>
                <a:tc>
                  <a:txBody>
                    <a:bodyPr/>
                    <a:lstStyle/>
                    <a:p>
                      <a:pPr algn="l">
                        <a:defRPr sz="74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40">
                          <a:solidFill>
                            <a:srgbClr val="1E242B"/>
                          </a:solidFill>
                          <a:latin typeface="Arial"/>
                        </a:defRPr>
                      </a:pPr>
                      <a:r>
                        <a:t>Công nhân nghe âm thanh lạ bằng tai trong buồng cách âm (Fuser, FAN, Operation, MPF/DU = 40s tại K6).</a:t>
                      </a:r>
                    </a:p>
                  </a:txBody>
                  <a:tcPr anchor="ctr" marL="45720" marR="45720" marT="18288" marB="18288">
                    <a:solidFill>
                      <a:srgbClr val="FEF7E6"/>
                    </a:solidFill>
                  </a:tcPr>
                </a:tc>
                <a:tc>
                  <a:txBody>
                    <a:bodyPr/>
                    <a:lstStyle/>
                    <a:p>
                      <a:pPr algn="l">
                        <a:defRPr sz="74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4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Hoãn ngắn hạn → Chuyển R&amp;D 2026–2030</a:t>
                      </a:r>
                      <a:br/>
                      <a:r>
                        <a:t>(検討資料 S8;</a:t>
                      </a:r>
                      <a:br/>
                      <a:r>
                        <a:t>まとめ Row 40)</a:t>
                      </a:r>
                    </a:p>
                  </a:txBody>
                  <a:tcPr anchor="ctr" marL="45720" marR="45720" marT="18288" marB="18288">
                    <a:solidFill>
                      <a:srgbClr val="FEF7E6"/>
                    </a:solidFill>
                  </a:tcPr>
                </a:tc>
              </a:tr>
              <a:tr h="568234">
                <a:tc>
                  <a:txBody>
                    <a:bodyPr/>
                    <a:lstStyle/>
                    <a:p>
                      <a:pPr algn="ctr">
                        <a:defRPr sz="740" b="1">
                          <a:solidFill>
                            <a:srgbClr val="1E242B"/>
                          </a:solidFill>
                          <a:latin typeface="Arial"/>
                        </a:defRPr>
                      </a:pPr>
                      <a:r>
                        <a:t>No.27</a:t>
                      </a:r>
                      <a:br/>
                      <a:r>
                        <a:t>(K6, K7 →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Sử dụng Camera đo nồng độ, đo lề, kiểm tra PPT &amp; đánh giá hình ảnh</a:t>
                      </a:r>
                      <a:br/>
                      <a:r>
                        <a:t>(カメラによる濃度・マージン・PPT・画像総合検査)</a:t>
                      </a:r>
                    </a:p>
                  </a:txBody>
                  <a:tcPr anchor="ctr" marL="45720" marR="45720" marT="18288" marB="18288">
                    <a:solidFill>
                      <a:srgbClr val="EAF7EE"/>
                    </a:solidFill>
                  </a:tcPr>
                </a:tc>
                <a:tc>
                  <a:txBody>
                    <a:bodyPr/>
                    <a:lstStyle/>
                    <a:p>
                      <a:pPr algn="l">
                        <a:defRPr sz="74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40">
                          <a:solidFill>
                            <a:srgbClr val="1E242B"/>
                          </a:solidFill>
                          <a:latin typeface="Arial"/>
                        </a:defRPr>
                      </a:pPr>
                      <a:r>
                        <a:t>Dùng hệ thống Camera/Scanner phân tích ảnh tự động: Thời gian đo nồng độ 3 tờ giảm từ 192s xuống còn 15s (5s/tờ → giảm 177s/máy); tích hợp tự động đo lề (-28s) và xóa/tự động kiểm tra PPT (-10s).</a:t>
                      </a:r>
                    </a:p>
                  </a:txBody>
                  <a:tcPr anchor="ctr" marL="45720" marR="45720" marT="18288" marB="18288">
                    <a:solidFill>
                      <a:srgbClr val="EAF7EE"/>
                    </a:solidFill>
                  </a:tcPr>
                </a:tc>
                <a:tc>
                  <a:txBody>
                    <a:bodyPr/>
                    <a:lstStyle/>
                    <a:p>
                      <a:pPr algn="l">
                        <a:defRPr sz="74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triển khai (PPT đã duyệt xóa theo CN No.10)</a:t>
                      </a:r>
                      <a:br/>
                      <a:r>
                        <a:t>(DSLK Sheet 5;</a:t>
                      </a:r>
                      <a:br/>
                      <a:r>
                        <a:t>まとめ Row 41)</a:t>
                      </a:r>
                    </a:p>
                  </a:txBody>
                  <a:tcPr anchor="ctr" marL="45720" marR="45720" marT="18288" marB="18288">
                    <a:solidFill>
                      <a:srgbClr val="EAF7EE"/>
                    </a:solidFill>
                  </a:tcPr>
                </a:tc>
              </a:tr>
              <a:tr h="568235">
                <a:tc>
                  <a:txBody>
                    <a:bodyPr/>
                    <a:lstStyle/>
                    <a:p>
                      <a:pPr algn="ctr">
                        <a:defRPr sz="740" b="1">
                          <a:solidFill>
                            <a:srgbClr val="1E242B"/>
                          </a:solidFill>
                          <a:latin typeface="Arial"/>
                        </a:defRPr>
                      </a:pPr>
                      <a:r>
                        <a:t>No.28</a:t>
                      </a:r>
                      <a:br/>
                      <a:r>
                        <a:t>(K8 →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Tự động hóa thiết lập xuất hàng qua mạng nội bộ</a:t>
                      </a:r>
                      <a:br/>
                      <a:r>
                        <a:t>(出荷設定のネットワーク自動化)</a:t>
                      </a:r>
                    </a:p>
                  </a:txBody>
                  <a:tcPr anchor="ctr" marL="45720" marR="45720" marT="18288" marB="18288">
                    <a:solidFill>
                      <a:srgbClr val="EAF7EE"/>
                    </a:solidFill>
                  </a:tcPr>
                </a:tc>
                <a:tc>
                  <a:txBody>
                    <a:bodyPr/>
                    <a:lstStyle/>
                    <a:p>
                      <a:pPr algn="l">
                        <a:defRPr sz="740">
                          <a:solidFill>
                            <a:srgbClr val="1E242B"/>
                          </a:solidFill>
                          <a:latin typeface="Arial"/>
                        </a:defRPr>
                      </a:pPr>
                      <a:r>
                        <a:t>Công nhân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40">
                          <a:solidFill>
                            <a:srgbClr val="1E242B"/>
                          </a:solidFill>
                          <a:latin typeface="Arial"/>
                        </a:defRPr>
                      </a:pPr>
                      <a:r>
                        <a:t>Tự động gửi lệnh thiết lập xuất hàng (FinalSetup) và đối chiếu thông số từ Host PC / Mini PC qua mạng nội bộ, xóa bỏ thao tác cắm/rút USB và bấm xác nhận thủ công.</a:t>
                      </a:r>
                    </a:p>
                  </a:txBody>
                  <a:tcPr anchor="ctr" marL="45720" marR="45720" marT="18288" marB="18288">
                    <a:solidFill>
                      <a:srgbClr val="EAF7EE"/>
                    </a:solidFill>
                  </a:tcPr>
                </a:tc>
                <a:tc>
                  <a:txBody>
                    <a:bodyPr/>
                    <a:lstStyle/>
                    <a:p>
                      <a:pPr algn="l">
                        <a:defRPr sz="74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9" name="Rectangle 8"/>
          <p:cNvSpPr/>
          <p:nvPr/>
        </p:nvSpPr>
        <p:spPr>
          <a:xfrm>
            <a:off x="274320" y="5303520"/>
            <a:ext cx="11643055" cy="118872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303520"/>
            <a:ext cx="11643055" cy="310896"/>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 KIỂM CHỨNG TỪ TÀI LIỆU NGUỒN VỀ CON SỐ 650.000.000 VNĐ (25.000 USD) — TRÁNH NHẦM LẪN SANG ĐỀ ÁN QUÉT DP LIÊN TỤC (NO.25)</a:t>
            </a:r>
          </a:p>
        </p:txBody>
      </p:sp>
      <p:sp>
        <p:nvSpPr>
          <p:cNvPr id="11" name="TextBox 10"/>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819">
                <a:solidFill>
                  <a:srgbClr val="1E242B"/>
                </a:solidFill>
                <a:latin typeface="Arial"/>
              </a:defRPr>
            </a:pPr>
            <a:r>
              <a:t>• Đối chiếu trực tiếp file nguồn đề án cải tiến Điều chỉnh\Iris EXPのVN提案.xlsx (Sheet 纏め Row 3–5 &amp; Sheet 自動Scan tự động Row 1–15): Con số 650.000.000 VNĐ (25.000 USD, tỷ giá 26.000) là dự toán của Phương án 2: Chế tạo Robot đặt bản thảo lên mặt kính ISU [No.23], gồm 4 thành phần: (1) Mở rộng thêm 2 cell băng tải: 200.000.000 VNĐ ($7.692,31) + (2) Cụm cấp nguồn máy in: 50.000.000 VNĐ ($1.923,08) + (3) Cụm định vị cổng USB/LAN: 50.000.000 VNĐ ($1.923,08) + (4) Cánh tay Robot: 350.000.000 VNĐ ($13.461,54).</a:t>
            </a:r>
          </a:p>
          <a:p>
            <a:pPr>
              <a:spcAft>
                <a:spcPts val="200"/>
              </a:spcAft>
              <a:defRPr sz="819">
                <a:solidFill>
                  <a:srgbClr val="1E242B"/>
                </a:solidFill>
                <a:latin typeface="Arial"/>
              </a:defRPr>
            </a:pPr>
            <a:r>
              <a:t>• Theo biên bản IrisEXP 保証工程連携会 第7回.txt và IrisEXP改善提案まとめ.xlsx (Row 37 &amp; Row 39): Phương án Robot 650 triệu VNĐ này ĐÃ BỊ HỦY BỎ (廃止) vì chi phí quá đắt so với mức tiết kiệm nhân công 108.533.333 VNĐ/năm ($4.174,36/năm), và được thay thế bằng Đề án No.25: Quét bản thảo liên tục bằng bộ nạp DP của máy + PC tự động đánh giá (trạng thái kinh phí của No.25 trong nguồn là "Đang báo giá / 見積中").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hoàn thành trong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9 đề án bổ sung (No.29~37) gồm 6 kiến nghị cải tiến mạch/FW (0 đồng TB tại xưởng) và 3 đề án thiết bị đang báo giá; tháng 10/2026 đã hoàn thành xóa 4 bước thao tác giảm thực tế 4,32s/máy.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Công nhân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 nguy hiểm</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Công nhân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Không ngắt quãng luồng bảo chứng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Công nhân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mọi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Công nhân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công nhân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 2 = 1,44s) và nhìn xác nhận cảnh báo Toner xuất hiện rồi tắt (1,44s ×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chính thức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 100%)</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tổng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Tổng 38 đề án (JP: 7 | CN: 11 | VN: 20); Cột VN khớp tuyệt đối với Phần 5; tách bạch rõ số liệu đã có báo giá, phần đang chờ báo giá (見積中) và phần đã hủy.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[Khớp 100% với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9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90">
                          <a:solidFill>
                            <a:srgbClr val="1E242B"/>
                          </a:solidFill>
                          <a:latin typeface="Arial"/>
                        </a:defRPr>
                      </a:pPr>
                      <a:r>
                        <a:t>• 7 đề án (No.1 ~ No.7), giữ nguyên từ T8 → T10/2026</a:t>
                      </a:r>
                    </a:p>
                  </a:txBody>
                  <a:tcPr anchor="ctr" marL="36576" marR="36576" marT="9144" marB="9144">
                    <a:solidFill>
                      <a:srgbClr val="FFFFFF"/>
                    </a:solidFill>
                  </a:tcPr>
                </a:tc>
                <a:tc>
                  <a:txBody>
                    <a:bodyPr/>
                    <a:lstStyle/>
                    <a:p>
                      <a:pPr algn="l">
                        <a:defRPr sz="59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90">
                          <a:solidFill>
                            <a:srgbClr val="1E242B"/>
                          </a:solidFill>
                          <a:latin typeface="Arial"/>
                        </a:defRPr>
                      </a:pPr>
                      <a:r>
                        <a:t>• T8: 11 đề án (No.18~28) + T9: 9 đề án (No.29~37) = 20 đề án VN (17 triển khai + 2 đã hủy + 1 R&amp;D dài hạn)</a:t>
                      </a:r>
                    </a:p>
                  </a:txBody>
                  <a:tcPr anchor="ctr" marL="36576" marR="36576" marT="9144" marB="9144">
                    <a:solidFill>
                      <a:srgbClr val="FFFFFF"/>
                    </a:solidFill>
                  </a:tcPr>
                </a:tc>
                <a:tc>
                  <a:txBody>
                    <a:bodyPr/>
                    <a:lstStyle/>
                    <a:p>
                      <a:pPr algn="l">
                        <a:defRPr sz="59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9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9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9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9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9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9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9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9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90">
                          <a:solidFill>
                            <a:srgbClr val="1E242B"/>
                          </a:solidFill>
                          <a:latin typeface="Arial"/>
                        </a:defRPr>
                      </a:pPr>
                      <a:r>
                        <a:t>• Công thức 7 ĐA: -87,84s vs Iris2024 (-176,84s vs 改善無 → còn 1.083,86s Color)</a:t>
                      </a:r>
                      <a:br/>
                      <a:r>
                        <a:t>• Tổng bước 削 (147) + 削除確定 (6): -267,74s Color / -263,06s Mono</a:t>
                      </a:r>
                    </a:p>
                  </a:txBody>
                  <a:tcPr anchor="ctr" marL="36576" marR="36576" marT="9144" marB="9144">
                    <a:solidFill>
                      <a:srgbClr val="FFFFFF"/>
                    </a:solidFill>
                  </a:tcPr>
                </a:tc>
                <a:tc>
                  <a:txBody>
                    <a:bodyPr/>
                    <a:lstStyle/>
                    <a:p>
                      <a:pPr algn="l">
                        <a:defRPr sz="590">
                          <a:solidFill>
                            <a:srgbClr val="1E242B"/>
                          </a:solidFill>
                          <a:latin typeface="Arial"/>
                        </a:defRPr>
                      </a:pPr>
                      <a:r>
                        <a:t>• Tổng 10 dòng có số giây trong list CN: -178,56 s/máy thao tác</a:t>
                      </a:r>
                      <a:br/>
                      <a:r>
                        <a:t>• No.13: Rút ngắn chờ in -110s (230s→120s); No.38: AI WeChat</a:t>
                      </a:r>
                    </a:p>
                  </a:txBody>
                  <a:tcPr anchor="ctr" marL="36576" marR="36576" marT="9144" marB="9144">
                    <a:solidFill>
                      <a:srgbClr val="FFFFFF"/>
                    </a:solidFill>
                  </a:tcPr>
                </a:tc>
                <a:tc>
                  <a:txBody>
                    <a:bodyPr/>
                    <a:lstStyle/>
                    <a:p>
                      <a:pPr algn="l">
                        <a:defRPr sz="590">
                          <a:solidFill>
                            <a:srgbClr val="1E242B"/>
                          </a:solidFill>
                          <a:latin typeface="Arial"/>
                        </a:defRPr>
                      </a:pPr>
                      <a:r>
                        <a:t>• Thực tích PDCA T10/2026: -4,32s (0,18%)</a:t>
                      </a:r>
                      <a:br/>
                      <a:r>
                        <a:t>• Tiềm năng các đề án VN khả thi: ~599,32s ~ 611,32s thao tác</a:t>
                      </a:r>
                      <a:br/>
                      <a:r>
                        <a:t>• Mục tiêu T3/2027: Giảm ≥ 1.175,00s (≥50%, còn ≤1.175s)</a:t>
                      </a:r>
                    </a:p>
                  </a:txBody>
                  <a:tcPr anchor="ctr" marL="36576" marR="36576" marT="9144" marB="9144">
                    <a:solidFill>
                      <a:srgbClr val="FFFFFF"/>
                    </a:solidFill>
                  </a:tcPr>
                </a:tc>
                <a:tc>
                  <a:txBody>
                    <a:bodyPr/>
                    <a:lstStyle/>
                    <a:p>
                      <a:pPr algn="l">
                        <a:defRPr sz="590">
                          <a:solidFill>
                            <a:srgbClr val="1E242B"/>
                          </a:solidFill>
                          <a:latin typeface="Arial"/>
                        </a:defRPr>
                      </a:pPr>
                      <a:r>
                        <a:t>• JP: -176,84s ~ -267,74s thao tác</a:t>
                      </a:r>
                      <a:br/>
                      <a:r>
                        <a:t>• CN: -178,56s thao tác + -110s in</a:t>
                      </a:r>
                      <a:br/>
                      <a:r>
                        <a:t>• VN: Mục tiêu -1.175,00s (≥50%)</a:t>
                      </a:r>
                    </a:p>
                  </a:txBody>
                  <a:tcPr anchor="ctr" marL="36576" marR="36576" marT="9144" marB="9144">
                    <a:solidFill>
                      <a:srgbClr val="FFFFFF"/>
                    </a:solidFill>
                  </a:tcPr>
                </a:tc>
                <a:tc>
                  <a:txBody>
                    <a:bodyPr/>
                    <a:lstStyle/>
                    <a:p>
                      <a:pPr algn="l">
                        <a:defRPr sz="59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9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90">
                          <a:solidFill>
                            <a:srgbClr val="1E242B"/>
                          </a:solidFill>
                          <a:latin typeface="Arial"/>
                        </a:defRPr>
                      </a:pPr>
                      <a:r>
                        <a:t>• Tham chiếu Athena: 16 → 8 người (-50%); thiết kế JIG &amp; phần mềm Semifinal dùng chung</a:t>
                      </a:r>
                    </a:p>
                  </a:txBody>
                  <a:tcPr anchor="ctr" marL="36576" marR="36576" marT="9144" marB="9144">
                    <a:solidFill>
                      <a:srgbClr val="F7F9FC"/>
                    </a:solidFill>
                  </a:tcPr>
                </a:tc>
                <a:tc>
                  <a:txBody>
                    <a:bodyPr/>
                    <a:lstStyle/>
                    <a:p>
                      <a:pPr algn="l">
                        <a:defRPr sz="59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90">
                          <a:solidFill>
                            <a:srgbClr val="1E242B"/>
                          </a:solidFill>
                          <a:latin typeface="Arial"/>
                        </a:defRPr>
                      </a:pPr>
                      <a:r>
                        <a:t>• Hiện trạng Iris2024: 14 người (15 người ở Takt 114s DR4)</a:t>
                      </a:r>
                      <a:br/>
                      <a:r>
                        <a:t>• Sản lượng 16.000 máy/tháng (Takt 97s): Không cải tiến cần 18 người (17,62) → Mục tiêu (仮決定): 9 người (A-1: 4→3 người)</a:t>
                      </a:r>
                    </a:p>
                  </a:txBody>
                  <a:tcPr anchor="ctr" marL="36576" marR="36576" marT="9144" marB="9144">
                    <a:solidFill>
                      <a:srgbClr val="F7F9FC"/>
                    </a:solidFill>
                  </a:tcPr>
                </a:tc>
                <a:tc>
                  <a:txBody>
                    <a:bodyPr/>
                    <a:lstStyle/>
                    <a:p>
                      <a:pPr algn="l">
                        <a:defRPr sz="590">
                          <a:solidFill>
                            <a:srgbClr val="1E242B"/>
                          </a:solidFill>
                          <a:latin typeface="Arial"/>
                        </a:defRPr>
                      </a:pPr>
                      <a:r>
                        <a:t>• Năng suất mục tiêu: Tăng gấp 2 lần (2倍 - 仮決定)</a:t>
                      </a:r>
                      <a:br/>
                      <a:r>
                        <a:t>• VN: 18 → 9 người; CN: -11.160 RMB/tháng</a:t>
                      </a:r>
                    </a:p>
                  </a:txBody>
                  <a:tcPr anchor="ctr" marL="36576" marR="36576" marT="9144" marB="9144">
                    <a:solidFill>
                      <a:srgbClr val="F7F9FC"/>
                    </a:solidFill>
                  </a:tcPr>
                </a:tc>
                <a:tc>
                  <a:txBody>
                    <a:bodyPr/>
                    <a:lstStyle/>
                    <a:p>
                      <a:pPr algn="l">
                        <a:defRPr sz="590">
                          <a:solidFill>
                            <a:srgbClr val="1E242B"/>
                          </a:solidFill>
                          <a:latin typeface="Arial"/>
                        </a:defRPr>
                      </a:pPr>
                      <a:r>
                        <a:t>調整工程計画.xlsx;</a:t>
                      </a:r>
                      <a:br/>
                      <a:r>
                        <a:t>DR 4.pdf S2;</a:t>
                      </a:r>
                      <a:br/>
                      <a:r>
                        <a:t>cn改善案list</a:t>
                      </a:r>
                    </a:p>
                  </a:txBody>
                  <a:tcPr anchor="ctr" marL="36576" marR="36576" marT="9144" marB="9144">
                    <a:solidFill>
                      <a:srgbClr val="F7F9FC"/>
                    </a:solidFill>
                  </a:tcPr>
                </a:tc>
              </a:tr>
              <a:tr h="386080">
                <a:tc>
                  <a:txBody>
                    <a:bodyPr/>
                    <a:lstStyle/>
                    <a:p>
                      <a:pPr algn="l">
                        <a:defRPr sz="590" b="1">
                          <a:solidFill>
                            <a:srgbClr val="1E242B"/>
                          </a:solidFill>
                          <a:latin typeface="Arial"/>
                        </a:defRPr>
                      </a:pPr>
                      <a:r>
                        <a:t>5. Kinh phí ĐÃ CÓ</a:t>
                      </a:r>
                      <a:br/>
                      <a:r>
                        <a:t>BÁO GIÁ (Xin duyệt)</a:t>
                      </a:r>
                    </a:p>
                  </a:txBody>
                  <a:tcPr anchor="ctr" marL="36576" marR="36576" marT="9144" marB="9144">
                    <a:solidFill>
                      <a:srgbClr val="EAF7EE"/>
                    </a:solidFill>
                  </a:tcPr>
                </a:tc>
                <a:tc>
                  <a:txBody>
                    <a:bodyPr/>
                    <a:lstStyle/>
                    <a:p>
                      <a:pPr algn="l">
                        <a:defRPr sz="59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9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90">
                          <a:solidFill>
                            <a:srgbClr val="1E242B"/>
                          </a:solidFill>
                          <a:latin typeface="Arial"/>
                        </a:defRPr>
                      </a:pPr>
                      <a:r>
                        <a:t>• XIN PHÊ DUYỆT ĐỢT NÀY (No.22 — Tự động đo thông mạch/chịu áp): 101.690.000 VNĐ (3.911,15 USD theo BOM 25 mục) [96.690.000 VNĐ / 3.718,85 USD nếu tách Mục 17 Tủ điện 5tr]; 7 đề án TK/FW: 0 VNĐ TB</a:t>
                      </a:r>
                    </a:p>
                  </a:txBody>
                  <a:tcPr anchor="ctr" marL="36576" marR="36576" marT="9144" marB="9144">
                    <a:solidFill>
                      <a:srgbClr val="EAF7EE"/>
                    </a:solidFill>
                  </a:tcPr>
                </a:tc>
                <a:tc>
                  <a:txBody>
                    <a:bodyPr/>
                    <a:lstStyle/>
                    <a:p>
                      <a:pPr algn="l">
                        <a:defRPr sz="590">
                          <a:solidFill>
                            <a:srgbClr val="1E242B"/>
                          </a:solidFill>
                          <a:latin typeface="Arial"/>
                        </a:defRPr>
                      </a:pPr>
                      <a:r>
                        <a:t>• VN xin duyệt ngay (No.22): 101.690.000 VNĐ (3.911,15 USD)</a:t>
                      </a:r>
                      <a:br/>
                      <a:r>
                        <a:t>• Tham khảo JP: Mini PC ~40k JPY/bộ; PM U413: 225~250 vạn JPY</a:t>
                      </a:r>
                    </a:p>
                  </a:txBody>
                  <a:tcPr anchor="ctr" marL="36576" marR="36576" marT="9144" marB="9144">
                    <a:solidFill>
                      <a:srgbClr val="EAF7EE"/>
                    </a:solidFill>
                  </a:tcPr>
                </a:tc>
                <a:tc>
                  <a:txBody>
                    <a:bodyPr/>
                    <a:lstStyle/>
                    <a:p>
                      <a:pPr algn="l">
                        <a:defRPr sz="590">
                          <a:solidFill>
                            <a:srgbClr val="1E242B"/>
                          </a:solidFill>
                          <a:latin typeface="Arial"/>
                        </a:defRPr>
                      </a:pPr>
                      <a:r>
                        <a:t>Iris EXPのVN提案</a:t>
                      </a:r>
                      <a:br/>
                      <a:r>
                        <a:t>(BOM 25 mục);</a:t>
                      </a:r>
                      <a:br/>
                      <a:r>
                        <a:t>AthenaとSpica比較</a:t>
                      </a:r>
                    </a:p>
                  </a:txBody>
                  <a:tcPr anchor="ctr" marL="36576" marR="36576" marT="9144" marB="9144">
                    <a:solidFill>
                      <a:srgbClr val="EAF7EE"/>
                    </a:solidFill>
                  </a:tcPr>
                </a:tc>
              </a:tr>
              <a:tr h="386080">
                <a:tc>
                  <a:txBody>
                    <a:bodyPr/>
                    <a:lstStyle/>
                    <a:p>
                      <a:pPr algn="l">
                        <a:defRPr sz="59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9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9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90">
                          <a:solidFill>
                            <a:srgbClr val="1E242B"/>
                          </a:solidFill>
                          <a:latin typeface="Arial"/>
                        </a:defRPr>
                      </a:pPr>
                      <a:r>
                        <a:t>• 10 đề án TB đang ghi "Đang báo giá / 見積中": No.18, No.19, No.20, No.21, No.25 (Quét DP liên tục), No.27 (Camera nồng độ/lề), No.28 (Xuất hàng mạng), No.31, No.33 (nếu làm TB), No.35 (+ Mục 17 Tủ điện 5tr của No.22)</a:t>
                      </a:r>
                    </a:p>
                  </a:txBody>
                  <a:tcPr anchor="ctr" marL="36576" marR="36576" marT="9144" marB="9144">
                    <a:solidFill>
                      <a:srgbClr val="FEF7E6"/>
                    </a:solidFill>
                  </a:tcPr>
                </a:tc>
                <a:tc>
                  <a:txBody>
                    <a:bodyPr/>
                    <a:lstStyle/>
                    <a:p>
                      <a:pPr algn="l">
                        <a:defRPr sz="590">
                          <a:solidFill>
                            <a:srgbClr val="1E242B"/>
                          </a:solidFill>
                          <a:latin typeface="Arial"/>
                        </a:defRPr>
                      </a:pPr>
                      <a:r>
                        <a:t>• Giữ nguyên "Đang báo giá (見積中)" theo nguồn; TUYỆT ĐỐI KHÔNG tự điền giá hay cộng vào tổng xin duyệt.</a:t>
                      </a:r>
                    </a:p>
                  </a:txBody>
                  <a:tcPr anchor="ctr" marL="36576" marR="36576" marT="9144" marB="9144">
                    <a:solidFill>
                      <a:srgbClr val="FEF7E6"/>
                    </a:solidFill>
                  </a:tcPr>
                </a:tc>
                <a:tc>
                  <a:txBody>
                    <a:bodyPr/>
                    <a:lstStyle/>
                    <a:p>
                      <a:pPr algn="l">
                        <a:defRPr sz="590">
                          <a:solidFill>
                            <a:srgbClr val="1E242B"/>
                          </a:solidFill>
                          <a:latin typeface="Arial"/>
                        </a:defRPr>
                      </a:pPr>
                      <a:r>
                        <a:t>IrisEXP改善提案まとめ (Cột O);</a:t>
                      </a:r>
                      <a:br/>
                      <a:r>
                        <a:t>Iris EXPのVN提案</a:t>
                      </a:r>
                    </a:p>
                  </a:txBody>
                  <a:tcPr anchor="ctr" marL="36576" marR="36576" marT="9144" marB="9144">
                    <a:solidFill>
                      <a:srgbClr val="FEF7E6"/>
                    </a:solidFill>
                  </a:tcPr>
                </a:tc>
              </a:tr>
              <a:tr h="386080">
                <a:tc>
                  <a:txBody>
                    <a:bodyPr/>
                    <a:lstStyle/>
                    <a:p>
                      <a:pPr algn="l">
                        <a:defRPr sz="590" b="1">
                          <a:solidFill>
                            <a:srgbClr val="B8292F"/>
                          </a:solidFill>
                          <a:latin typeface="Arial"/>
                        </a:defRPr>
                      </a:pPr>
                      <a:r>
                        <a:t>7. ĐÃ HỦY (廃止) /</a:t>
                      </a:r>
                      <a:br/>
                      <a:r>
                        <a:t>R&amp;D Dài hạn</a:t>
                      </a:r>
                    </a:p>
                  </a:txBody>
                  <a:tcPr anchor="ctr" marL="36576" marR="36576" marT="9144" marB="9144">
                    <a:solidFill>
                      <a:srgbClr val="FDEDEC"/>
                    </a:solidFill>
                  </a:tcPr>
                </a:tc>
                <a:tc>
                  <a:txBody>
                    <a:bodyPr/>
                    <a:lstStyle/>
                    <a:p>
                      <a:pPr algn="l">
                        <a:defRPr sz="590">
                          <a:solidFill>
                            <a:srgbClr val="1E242B"/>
                          </a:solidFill>
                          <a:latin typeface="Arial"/>
                        </a:defRPr>
                      </a:pPr>
                      <a:r>
                        <a:t>• Loại bỏ phương án dùng lại Raspberry Pi + Pin Mobile của Athena do chai pin &amp; rớt Wi-Fi</a:t>
                      </a:r>
                    </a:p>
                  </a:txBody>
                  <a:tcPr anchor="ctr" marL="36576" marR="36576" marT="9144" marB="9144">
                    <a:solidFill>
                      <a:srgbClr val="FDEDEC"/>
                    </a:solidFill>
                  </a:tcPr>
                </a:tc>
                <a:tc>
                  <a:txBody>
                    <a:bodyPr/>
                    <a:lstStyle/>
                    <a:p>
                      <a:pPr algn="l">
                        <a:defRPr sz="590">
                          <a:solidFill>
                            <a:srgbClr val="1E242B"/>
                          </a:solidFill>
                          <a:latin typeface="Arial"/>
                        </a:defRPr>
                      </a:pPr>
                      <a:r>
                        <a:t>• Không có mục hủy có giá tiền riêng trong bảng CN</a:t>
                      </a:r>
                    </a:p>
                  </a:txBody>
                  <a:tcPr anchor="ctr" marL="36576" marR="36576" marT="9144" marB="9144">
                    <a:solidFill>
                      <a:srgbClr val="FDEDEC"/>
                    </a:solidFill>
                  </a:tcPr>
                </a:tc>
                <a:tc>
                  <a:txBody>
                    <a:bodyPr/>
                    <a:lstStyle/>
                    <a:p>
                      <a:pPr algn="l">
                        <a:defRPr sz="590" b="1">
                          <a:solidFill>
                            <a:srgbClr val="B8292F"/>
                          </a:solidFill>
                          <a:latin typeface="Arial"/>
                        </a:defRPr>
                      </a:pPr>
                      <a:r>
                        <a:t>• ĐÃ HỦY SAU DR4 (KHÔNG DÙNG): No.23 Robot đặt bản thảo ISU (650.000.000 VNĐ = 25.000 USD) &amp; No.24 Robot USB/U201 (4.000 USD)</a:t>
                      </a:r>
                      <a:br/>
                      <a:r>
                        <a:t>• R&amp;D dài hạn 2026–2030: No.26 AI âm thanh lạ &amp; nhiệt độ (600 vạn JPY ≈ 40.000 USD)</a:t>
                      </a:r>
                    </a:p>
                  </a:txBody>
                  <a:tcPr anchor="ctr" marL="36576" marR="36576" marT="9144" marB="9144">
                    <a:solidFill>
                      <a:srgbClr val="FDEDEC"/>
                    </a:solidFill>
                  </a:tcPr>
                </a:tc>
                <a:tc>
                  <a:txBody>
                    <a:bodyPr/>
                    <a:lstStyle/>
                    <a:p>
                      <a:pPr algn="l">
                        <a:defRPr sz="590">
                          <a:solidFill>
                            <a:srgbClr val="1E242B"/>
                          </a:solidFill>
                          <a:latin typeface="Arial"/>
                        </a:defRPr>
                      </a:pPr>
                      <a:r>
                        <a:t>• Đã hủy: 29.000 USD (No.23: 25k$ / 650tr VNĐ + No.24: 4k$)</a:t>
                      </a:r>
                      <a:br/>
                      <a:r>
                        <a:t>• R&amp;D 2026–2030: 600 vạn JPY</a:t>
                      </a:r>
                    </a:p>
                  </a:txBody>
                  <a:tcPr anchor="ctr" marL="36576" marR="36576" marT="9144" marB="9144">
                    <a:solidFill>
                      <a:srgbClr val="FDEDEC"/>
                    </a:solidFill>
                  </a:tcPr>
                </a:tc>
                <a:tc>
                  <a:txBody>
                    <a:bodyPr/>
                    <a:lstStyle/>
                    <a:p>
                      <a:pPr algn="l">
                        <a:defRPr sz="590">
                          <a:solidFill>
                            <a:srgbClr val="1E242B"/>
                          </a:solidFill>
                          <a:latin typeface="Arial"/>
                        </a:defRPr>
                      </a:pPr>
                      <a:r>
                        <a:t>連携会 第7回.txt;</a:t>
                      </a:r>
                      <a:br/>
                      <a:r>
                        <a:t>検討資料(8月3日) S8</a:t>
                      </a:r>
                    </a:p>
                  </a:txBody>
                  <a:tcPr anchor="ctr" marL="36576" marR="36576" marT="9144" marB="9144">
                    <a:solidFill>
                      <a:srgbClr val="FDEDEC"/>
                    </a:solidFill>
                  </a:tcPr>
                </a:tc>
              </a:tr>
              <a:tr h="386080">
                <a:tc>
                  <a:txBody>
                    <a:bodyPr/>
                    <a:lstStyle/>
                    <a:p>
                      <a:pPr algn="l">
                        <a:defRPr sz="59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9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9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90">
                          <a:solidFill>
                            <a:srgbClr val="1E242B"/>
                          </a:solidFill>
                          <a:latin typeface="Arial"/>
                        </a:defRPr>
                      </a:pPr>
                      <a:r>
                        <a:t>• Đã hoàn thành xóa 4 bước trên bảng công đoạn T10 (-4,32s/máy); hoàn tất BOM 25 mục No.22 (101,69tr VNĐ); chuẩn bị PMT1 (T12/2026)</a:t>
                      </a:r>
                    </a:p>
                  </a:txBody>
                  <a:tcPr anchor="ctr" marL="36576" marR="36576" marT="9144" marB="9144">
                    <a:solidFill>
                      <a:srgbClr val="F7F9FC"/>
                    </a:solidFill>
                  </a:tcPr>
                </a:tc>
                <a:tc>
                  <a:txBody>
                    <a:bodyPr/>
                    <a:lstStyle/>
                    <a:p>
                      <a:pPr algn="l">
                        <a:defRPr sz="590">
                          <a:solidFill>
                            <a:srgbClr val="1E242B"/>
                          </a:solidFill>
                          <a:latin typeface="Arial"/>
                        </a:defRPr>
                      </a:pPr>
                      <a:r>
                        <a:t>• Lộ trình: DMT (T8~T11/2026) → PMT1 (T12/2026) → PMT2 (T2/2027) → MP (T3/2027)</a:t>
                      </a:r>
                    </a:p>
                  </a:txBody>
                  <a:tcPr anchor="ctr" marL="36576" marR="36576" marT="9144" marB="9144">
                    <a:solidFill>
                      <a:srgbClr val="F7F9FC"/>
                    </a:solidFill>
                  </a:tcPr>
                </a:tc>
                <a:tc>
                  <a:txBody>
                    <a:bodyPr/>
                    <a:lstStyle/>
                    <a:p>
                      <a:pPr algn="l">
                        <a:defRPr sz="59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9" name="Rectangle 8"/>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 GIẢI TRÌNH ĐỐI CHIẾU SỐ LƯỢNG ĐỀ ÁN GIỮA CÁC FILE NGUỒN (28 vs 37 vs 38 ĐỀ ÁN) VÀ HỆ QUY CHIẾU THỜI GIAN</a:t>
            </a:r>
          </a:p>
        </p:txBody>
      </p:sp>
      <p:sp>
        <p:nvSpPr>
          <p:cNvPr id="11" name="TextBox 10"/>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bổ sung thêm No.38 của CN (WeChat AI kiểm tra hình ảnh) thành 38 đề án (JP: 7, CN: 11, VN: 20). Riêng file IrisEXP cn改善案list.xlsx có 11 dòng vì tính cả đề án xóa U155 (-28,2s) mà bản tổng hợp gộp chung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chi tiết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Tách rõ nguồn gốc đề án của JP và CN với đề án của VN; các hạng mục phần mềm/xóa bước của JP &amp; CN được kế thừa sang chuyền VN để tối ưu hóa đồng bộ.</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sp>
        <p:nvSpPr>
          <p:cNvPr id="8" name="TextBox 7"/>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9" name="Table 8"/>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10" name="TextBox 9"/>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1" name="Table 10"/>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mẫu in kiểm tra (từ 17 tờ xuống 9 tờ theo chuẩn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mẫu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Tối ưu trình tự khởi động và in liên tục để giảm thời gian chờ in từ 230s → 120s.</a:t>
                      </a:r>
                    </a:p>
                  </a:txBody>
                  <a:tcPr anchor="ctr" marL="36576" marR="36576" marT="9144" marB="9144">
                    <a:solidFill>
                      <a:srgbClr val="F7F9FC"/>
                    </a:solidFill>
                  </a:tcPr>
                </a:tc>
                <a:tc>
                  <a:txBody>
                    <a:bodyPr/>
                    <a:lstStyle/>
                    <a:p>
                      <a:pPr algn="ctr">
                        <a:defRPr sz="590">
                          <a:solidFill>
                            <a:srgbClr val="1E242B"/>
                          </a:solidFill>
                          <a:latin typeface="Arial"/>
                        </a:defRPr>
                      </a:pPr>
                      <a:r>
                        <a:t>230s →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ý tưởng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và Tách bạch Hiệu quả đã đo bằng PDCA vs. Kỳ vọng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Thực tích PDCA tại VN tới T10/2026 đã giảm 4,32s/máy (0,18%); trên bảng công đoạn JP đã xác lập giảm 176,84s ~ 267,74s; khi triển khai đủ đạt giảm ≥1.175s (≥50%) và giảm 18 → 9 người.</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 1.175,00 s/máy</a:t>
                      </a:r>
                      <a:br/>
                      <a:r>
                        <a:t>(4 cụm trạm A-1 ~ A-4</a:t>
                      </a:r>
                      <a:br/>
                      <a:r>
                        <a:t>mẫu Athena)</a:t>
                      </a:r>
                    </a:p>
                  </a:txBody>
                  <a:tcPr anchor="ctr" marL="36576" marR="36576" marT="9144" marB="9144">
                    <a:solidFill>
                      <a:srgbClr val="EAF7EE"/>
                    </a:solidFill>
                  </a:tcPr>
                </a:tc>
                <a:tc>
                  <a:txBody>
                    <a:bodyPr/>
                    <a:lstStyle/>
                    <a:p>
                      <a:pPr algn="l">
                        <a:defRPr sz="670">
                          <a:solidFill>
                            <a:srgbClr val="1E242B"/>
                          </a:solidFill>
                          <a:latin typeface="Arial"/>
                        </a:defRPr>
                      </a:pPr>
                      <a:r>
                        <a:t>Giảm ≥ 1.175,00 s</a:t>
                      </a:r>
                      <a:br/>
                      <a:r>
                        <a:t>(Giảm ≥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theo 4 cụm</a:t>
                      </a:r>
                      <a:br/>
                      <a:r>
                        <a:t>A-1 ~ A-4 mẫu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chính thức</a:t>
                      </a:r>
                      <a:br/>
                      <a:r>
                        <a:t>2倍 của chương trình)</a:t>
                      </a:r>
                    </a:p>
                  </a:txBody>
                  <a:tcPr anchor="ctr" marL="36576" marR="36576" marT="9144" marB="9144">
                    <a:solidFill>
                      <a:srgbClr val="E8EEF5"/>
                    </a:solidFill>
                  </a:tcPr>
                </a:tc>
                <a:tc>
                  <a:txBody>
                    <a:bodyPr/>
                    <a:lstStyle/>
                    <a:p>
                      <a:pPr algn="l">
                        <a:defRPr sz="670">
                          <a:solidFill>
                            <a:srgbClr val="1E242B"/>
                          </a:solidFill>
                          <a:latin typeface="Arial"/>
                        </a:defRPr>
                      </a:pPr>
                      <a:r>
                        <a:t>Tăng +100% (×2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mẫu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gấp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9" name="Picture 8"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đầu việc tiếp theo theo biên bản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Bám sát các mốc DMT (T8~T11/2026) → PMT1 (T12/2026) → PMT2 (T2/2027) → MP (T3/2027); ghi đúng tên bộ phận/cá nhân có trong nguồn, không bịa tên người.</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sp>
        <p:nvSpPr>
          <p:cNvPr id="8" name="TextBox 7"/>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CHƯƠNG TRÌNH CẢI TIẾN CÔNG ĐOẠN ĐIỀU CHỈNH IRISEXP (Nguồn: KDTVN-A-QA-QA-BM-003-F 5月~10月.xlsx &amp; 調整工程計画.xlsx)</a:t>
            </a:r>
          </a:p>
        </p:txBody>
      </p:sp>
      <p:graphicFrame>
        <p:nvGraphicFramePr>
          <p:cNvPr id="9" name="Table 8"/>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 100%</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 50% thời gian</a:t>
                      </a:r>
                      <a:br/>
                      <a:r>
                        <a:t>(≤1.175s, 9 người, NS ×2)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10" name="TextBox 9"/>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BƯỚC TIẾP THEO &amp; BÊN CHỊU TRÁCH NHIỆM THEO BIÊN BẢN NGUỒN (連携会 第13~17回 &amp; BM-003-F — Giữ nguyên tên bộ phận/cá nhân trong nguồn)</a:t>
            </a:r>
          </a:p>
        </p:txBody>
      </p:sp>
      <p:graphicFrame>
        <p:nvGraphicFramePr>
          <p:cNvPr id="11" name="Table 10"/>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 (Theo nguồn)</a:t>
                      </a:r>
                    </a:p>
                  </a:txBody>
                  <a:tcPr anchor="ctr" marL="36576" marR="36576" marT="9144" marB="9144">
                    <a:solidFill>
                      <a:srgbClr val="1B365D"/>
                    </a:solidFill>
                  </a:tcPr>
                </a:tc>
                <a:tc>
                  <a:txBody>
                    <a:bodyPr/>
                    <a:lstStyle/>
                    <a:p>
                      <a:pPr algn="ctr">
                        <a:defRPr sz="700" b="1">
                          <a:solidFill>
                            <a:srgbClr val="FFFFFF"/>
                          </a:solidFill>
                          <a:latin typeface="Arial"/>
                        </a:defRPr>
                      </a:pPr>
                      <a:r>
                        <a:t>Bên chịu trách nhiệm (Theo đúng file nguồn)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hàng linh kiện chế tạo Thiết bị tự động kiểm tra thông mạch &amp; chịu áp (Đề án No.22 — 101.690.000 VNĐ / 3.911,15 USD); hoàn tất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9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chính thức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giải pháp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Quyết định phương án đối ứng cho cụm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 kinh phí đã ghi nhận trong nguồn và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Tổng hợp 6 rủi ro cốt lõi từ biên bản DR4, 連携会 2~17 và bảng đánh giá kỹ thuật (gồm cả phương án đã hủy và lỗi mãn tính của hệ thống Athena).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 trong tài liệu nguồn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đã xác lập trong nguồn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Rủi ro hiệu quả đầu tư:</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QUYẾT ĐỊNH HỦY BỎ (廃止 / 見送り) cả 2 phương án Robot sau DR4 / 連携会 7.</a:t>
                      </a:r>
                      <a:br/>
                      <a:r>
                        <a:t>• Thay No.23 bằng Đề án No.25: Quét bản thảo liên tục bằng chính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mãn tính của phương án Athena:</a:t>
                      </a:r>
                      <a:br/>
                      <a:r>
                        <a:t>Suy thoái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chai/suy thoái (劣化), cần bộ sạc 10 cổng đắt đỏ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 ổn định.</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Rủi ro 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thế đặt bản thảo trên mặt kính ISU bằng quét kéo giấy liên tục qua DP (No.25), có rủi ro sai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thực hiện kiểm chứng so sánh dữ liệu quét DP vs ISU và hiệu chỉnh thuật toán phần mềm tự động đánh giá trên PC (連携会 13~17).</a:t>
                      </a:r>
                      <a:br/>
                      <a:r>
                        <a:t>• Chỉ áp dụng chính thức khi chỉ số năng lực công đoạn đạt Cpk ≥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Rủi ro 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ở trạng thái ĐÃ LẮP ĐẦY ĐỦ VỎ NGOÀI (外装カバー付き) để phát hiện lỗi kẹt dây điện vào sườn máy.</a:t>
                      </a:r>
                      <a:br/>
                      <a:r>
                        <a:t>• Tuy nhiên tại A-3 còn phải kiểm tra hoạt động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Thiết kế hệ thống tự động No.22 đặt tại cuối trạm A-3 (sau khi máy đã đóng kín vỏ hoàn chỉnh).</a:t>
                      </a:r>
                      <a:br/>
                      <a:r>
                        <a:t>• Thúc đẩy Đề án No.33: Chuyển công đoạn lắp 6 tấm vỏ máy về công đoạn Lắp ráp (本体組立) và tích hợp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hiện tượng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Rủi ro 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phát triển phần mềm nạp dữ liệu LSU tự động để xóa thao tác U413 trên chuyền (tiết kiệm 42 vạn JPY/năm).</a:t>
                      </a:r>
                      <a:br/>
                      <a:r>
                        <a:t>• Về No.18: Nếu nạp FW ở Partner thì tích hợp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định hướng kỹ thuật và điều phối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Liệt kê cụ thể 5 nội dung xin tư vấn của Trưởng bộ phận để tháo gỡ nút thắt tiến độ PDCA (đang ở 0,18% tại T10) và chốt thiết kế trước mốc PMT1 (T12/2026).</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Bối cảnh &amp; Vướng mắc thực tế từ nguồn</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Định hướng lộ trình ưu tiên đầu tư cho 9 đề án thiết bị VN đang chờ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Hiện mới có Đề án No.22 hoàn tất BOM báo giá chi tiết (101,69 triệu VNĐ). Còn 9 đề án thiết bị của VN đang ở trạng thái "Đang báo giá (見積中)", trong khi mục tiêu PDCA tháng 11 phải đạt 15% (-282s) và tháng 12 đạt 30% (-705s).</a:t>
                      </a:r>
                    </a:p>
                  </a:txBody>
                  <a:tcPr anchor="ctr" marL="45720" marR="45720" marT="18288" marB="18288">
                    <a:solidFill>
                      <a:srgbClr val="E8EEF5"/>
                    </a:solidFill>
                  </a:tcPr>
                </a:tc>
                <a:tc>
                  <a:txBody>
                    <a:bodyPr/>
                    <a:lstStyle/>
                    <a:p>
                      <a:pPr algn="l">
                        <a:defRPr sz="700">
                          <a:solidFill>
                            <a:srgbClr val="1E242B"/>
                          </a:solidFill>
                          <a:latin typeface="Arial"/>
                        </a:defRPr>
                      </a:pPr>
                      <a:r>
                        <a:t>Đề xuất phân nhóm ưu tiên chốt báo giá trong tháng 11/2026:</a:t>
                      </a:r>
                      <a:br/>
                      <a:r>
                        <a:t>• Nhóm Ưu tiên 1 (Tác động lớn nhất tới thời gian &amp; nhân lực): No.27 (Camera đo nồng độ/lề: -177s~-215s), No.25 (Quét DP liên tục + PC: -110s), No.28 (Thiết lập xuất hàng qua mạng: -50s).</a:t>
                      </a:r>
                      <a:br/>
                      <a:r>
                        <a:t>• Nhóm Ưu tiên 2 (Chống lỗi &amp; giảm thao tác nặng): No.21 (Gá Option nam châm: -45s), No.18 (Đồ gá cụm sấy: -20s), No.31 &amp; No.35.</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tư vấn thứ tự ưu tiên và hạn mức ngân sách dự kiến cho Nhóm Ưu tiên 1 trước ngày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công nhân điều chỉnh đang phải lắp và siết vít 6 tấm vỏ ngoài (TRAY INNER, COVER DP, REAR LOW/UP, FILTER, PLATE OPTION) mất 48,32s~90s/máy. Việc này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tốn 0 đồng thiết bị): Chuyển toàn bộ nguyên công lắp 6 tấm vỏ này về cuối công đoạn Lắp ráp thân máy (本体組立) trước khi máy sang chuyền Điều chỉnh.</a:t>
                      </a:r>
                      <a:br/>
                      <a:r>
                        <a:t>• Phương án B: Đầu tư cơ cấu gá lắp/siết vít tự động tại trạm A-3 (tốn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tư vấn chủ trương phối hợp với bộ phận Lắp ráp (Assy) và PE JP để thống nhất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Cơ chế thúc đẩy Thiết kế JP &amp; PE JP chốt DR công đoạn và phản hồi 6 kiến nghị cải tiến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tổng thể công đoạn. Ngoài ra, 6 kiến nghị cải tiến FW/mạch của VN (No.19, 29, 30, 32, 34, 36) cần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nâng cấp vấn đề lên cuộc họp giao ban cấp Quản lý giữa KDTVN và bộ phận Thiết kế / PE JP để chốt lịch DR công đoạn dứt điểm trong tháng 11/2026, tránh ảnh hưởng mốc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tác động với đầu mối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Tiêu chuẩn nghiệm thu điều kiện xóa bước kiểm tra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kiểm tra độ lệch Transfer Belt (-15,36s trên 工程表), nhưng thực tế tại nhà máy VN vẫn phát sinh 1~2 máy NG/tháng nên QA VN chưa đồng ý bỏ ngay nếu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nguyên bước kiểm tra Transfer Belt trong giai đoạn PMT1 (T12/2026); chỉ chính thức xóa bước này tại VN sau khi theo dõi lô máy dùng Puli 35° + Belt đàn hồi mới đạt Cpk ≥ 1,33 và 0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về nguyên tắc an toàn chất lượng khi làm việc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Định hướng trang bị hạ tầng phần cứng điều khiển tự động tại VN theo chuẩn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triển khai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hạ tầng mạng nội bộ (LAN/VLAN) và bố trí vị trí lắp đặt Mini PC theo cấu hình Spica (1 Mini PC / 4 máy MFP) đồng bộ với chuẩn của JP để tái sử dụng phần mềm dùng chung.</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phê duyệt định hướng đồng bộ phần cứng theo hệ Spica để tính vào dự toán các đề 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đầu tư &amp; Danh mục chờ báo giá riêng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Thông điệp chính (Key Message): Đề nghị phê duyệt ngay Đề án No.22: 101.690.000 VNĐ (3.911,15 USD theo BOM 25 mục; hoặc 96.690.000 VNĐ nếu tách Mục 17 Tủ điện 5tr chờ báo giá). Các mục 見積中 tách riêng, KHÔNG cộng gộp.</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 Báo cáo Đề án Cải tiến Công đoạn Điều chỉnh / Bảo chứng Thân máy (本体保証工程) | Căn cứ: Hồ sơ kỹ thuật 保証工程連携会 (Kỳ 2–17) &amp; DR4 | Bảng số liệu: bang-so-lieu/Bang_so_lieu_chi_tiet_IrisEXP_VN.xlsx</a:t>
            </a:r>
          </a:p>
        </p:txBody>
      </p:sp>
      <p:sp>
        <p:nvSpPr>
          <p:cNvPr id="8" name="TextBox 7"/>
          <p:cNvSpPr txBox="1"/>
          <p:nvPr/>
        </p:nvSpPr>
        <p:spPr>
          <a:xfrm>
            <a:off x="274320" y="1197864"/>
            <a:ext cx="6629400" cy="201168"/>
          </a:xfrm>
          <a:prstGeom prst="rect">
            <a:avLst/>
          </a:prstGeom>
          <a:noFill/>
        </p:spPr>
        <p:txBody>
          <a:bodyPr wrap="square" lIns="18288" rIns="18288" tIns="9144" bIns="9144">
            <a:spAutoFit/>
          </a:bodyPr>
          <a:lstStyle/>
          <a:p>
            <a:pPr>
              <a:defRPr sz="800" b="1">
                <a:solidFill>
                  <a:srgbClr val="1E6E3E"/>
                </a:solidFill>
                <a:latin typeface="Arial"/>
              </a:defRPr>
            </a:pPr>
            <a:r>
              <a:t>■ 1. TỔNG KINH PHÍ ĐỀ NGHỊ PHÊ DUYỆT ĐỢT NÀY (CHỈ TÍNH HẠNG MỤC ĐÃ CÓ BÁO GIÁ — ĐỀ ÁN NO.22)</a:t>
            </a:r>
          </a:p>
        </p:txBody>
      </p:sp>
      <p:graphicFrame>
        <p:nvGraphicFramePr>
          <p:cNvPr id="9" name="Table 8"/>
          <p:cNvGraphicFramePr>
            <a:graphicFrameLocks noGrp="1"/>
          </p:cNvGraphicFramePr>
          <p:nvPr/>
        </p:nvGraphicFramePr>
        <p:xfrm>
          <a:off x="274320" y="1399032"/>
          <a:ext cx="6629400" cy="2286000"/>
        </p:xfrm>
        <a:graphic>
          <a:graphicData uri="http://schemas.openxmlformats.org/drawingml/2006/table">
            <a:tbl>
              <a:tblPr firstRow="1" bandRow="1">
                <a:tableStyleId>{5C22544A-7EE6-4342-B048-85BDC9FD1C3A}</a:tableStyleId>
              </a:tblPr>
              <a:tblGrid>
                <a:gridCol w="457200"/>
                <a:gridCol w="2697480"/>
                <a:gridCol w="1234440"/>
                <a:gridCol w="1097280"/>
                <a:gridCol w="1143000"/>
              </a:tblGrid>
              <a:tr h="254000">
                <a:tc>
                  <a:txBody>
                    <a:bodyPr/>
                    <a:lstStyle/>
                    <a:p>
                      <a:pPr algn="ctr">
                        <a:defRPr sz="650" b="1">
                          <a:solidFill>
                            <a:srgbClr val="FFFFFF"/>
                          </a:solidFill>
                          <a:latin typeface="Arial"/>
                        </a:defRPr>
                      </a:pPr>
                      <a:r>
                        <a:t>Nhóm</a:t>
                      </a:r>
                    </a:p>
                  </a:txBody>
                  <a:tcPr anchor="ctr" marL="36576" marR="36576" marT="9144" marB="9144">
                    <a:solidFill>
                      <a:srgbClr val="1B365D"/>
                    </a:solidFill>
                  </a:tcPr>
                </a:tc>
                <a:tc>
                  <a:txBody>
                    <a:bodyPr/>
                    <a:lstStyle/>
                    <a:p>
                      <a:pPr algn="ctr">
                        <a:defRPr sz="650" b="1">
                          <a:solidFill>
                            <a:srgbClr val="FFFFFF"/>
                          </a:solidFill>
                          <a:latin typeface="Arial"/>
                        </a:defRPr>
                      </a:pPr>
                      <a:r>
                        <a:t>Phân bổ theo nhóm linh kiện thuộc Đề án No.22</a:t>
                      </a:r>
                      <a:br/>
                      <a:r>
                        <a:t>(Nguồn: Sheet 導通・耐圧検査設備リスト — 25 mục BOM)</a:t>
                      </a:r>
                    </a:p>
                  </a:txBody>
                  <a:tcPr anchor="ctr" marL="36576" marR="36576" marT="9144" marB="9144">
                    <a:solidFill>
                      <a:srgbClr val="1B365D"/>
                    </a:solidFill>
                  </a:tcPr>
                </a:tc>
                <a:tc>
                  <a:txBody>
                    <a:bodyPr/>
                    <a:lstStyle/>
                    <a:p>
                      <a:pPr algn="ctr">
                        <a:defRPr sz="65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50" b="1">
                          <a:solidFill>
                            <a:srgbClr val="FFFFFF"/>
                          </a:solidFill>
                          <a:latin typeface="Arial"/>
                        </a:defRPr>
                      </a:pPr>
                      <a:r>
                        <a:t>Quy đổi (USD)</a:t>
                      </a:r>
                      <a:br/>
                      <a:r>
                        <a:t>[Chính xác]</a:t>
                      </a:r>
                    </a:p>
                  </a:txBody>
                  <a:tcPr anchor="ctr" marL="36576" marR="36576" marT="9144" marB="9144">
                    <a:solidFill>
                      <a:srgbClr val="1B365D"/>
                    </a:solidFill>
                  </a:tcPr>
                </a:tc>
                <a:tc>
                  <a:txBody>
                    <a:bodyPr/>
                    <a:lstStyle/>
                    <a:p>
                      <a:pPr algn="ctr">
                        <a:defRPr sz="650" b="1">
                          <a:solidFill>
                            <a:srgbClr val="FFFFFF"/>
                          </a:solidFill>
                          <a:latin typeface="Arial"/>
                        </a:defRPr>
                      </a:pPr>
                      <a:r>
                        <a:t>Ghi chú trong</a:t>
                      </a:r>
                      <a:br/>
                      <a:r>
                        <a:t>file nguồn</a:t>
                      </a:r>
                    </a:p>
                  </a:txBody>
                  <a:tcPr anchor="ctr" marL="36576" marR="36576" marT="9144" marB="9144">
                    <a:solidFill>
                      <a:srgbClr val="1B365D"/>
                    </a:solidFill>
                  </a:tcPr>
                </a:tc>
              </a:tr>
              <a:tr h="254000">
                <a:tc>
                  <a:txBody>
                    <a:bodyPr/>
                    <a:lstStyle/>
                    <a:p>
                      <a:pPr algn="ctr">
                        <a:defRPr sz="580" b="1">
                          <a:solidFill>
                            <a:srgbClr val="1E242B"/>
                          </a:solidFill>
                          <a:latin typeface="Arial"/>
                        </a:defRPr>
                      </a:pPr>
                      <a:r>
                        <a:t>1</a:t>
                      </a:r>
                    </a:p>
                  </a:txBody>
                  <a:tcPr anchor="ctr" marL="36576" marR="36576" marT="9144" marB="9144">
                    <a:solidFill>
                      <a:srgbClr val="FFFFFF"/>
                    </a:solidFill>
                  </a:tcPr>
                </a:tc>
                <a:tc>
                  <a:txBody>
                    <a:bodyPr/>
                    <a:lstStyle/>
                    <a:p>
                      <a:pPr algn="l">
                        <a:defRPr sz="580">
                          <a:solidFill>
                            <a:srgbClr val="1E242B"/>
                          </a:solidFill>
                          <a:latin typeface="Arial"/>
                        </a:defRPr>
                      </a:pPr>
                      <a:r>
                        <a:t>Nhóm 1 (Mục 18~24): PLC FX5U-32MT/ES (13tr) + Màn hình HMI GOT2000 (12tr) + Nguồn, Rơ-le, Đèn tháp, Vật tư điện (5,6tr)</a:t>
                      </a:r>
                    </a:p>
                  </a:txBody>
                  <a:tcPr anchor="ctr" marL="36576" marR="36576" marT="9144" marB="9144">
                    <a:solidFill>
                      <a:srgbClr val="FFFFFF"/>
                    </a:solidFill>
                  </a:tcPr>
                </a:tc>
                <a:tc>
                  <a:txBody>
                    <a:bodyPr/>
                    <a:lstStyle/>
                    <a:p>
                      <a:pPr algn="r">
                        <a:defRPr sz="580">
                          <a:solidFill>
                            <a:srgbClr val="1E242B"/>
                          </a:solidFill>
                          <a:latin typeface="Arial"/>
                        </a:defRPr>
                      </a:pPr>
                      <a:r>
                        <a:t>30.600.000 VNĐ</a:t>
                      </a:r>
                    </a:p>
                  </a:txBody>
                  <a:tcPr anchor="ctr" marL="36576" marR="36576" marT="9144" marB="9144">
                    <a:solidFill>
                      <a:srgbClr val="FFFFFF"/>
                    </a:solidFill>
                  </a:tcPr>
                </a:tc>
                <a:tc>
                  <a:txBody>
                    <a:bodyPr/>
                    <a:lstStyle/>
                    <a:p>
                      <a:pPr algn="r">
                        <a:defRPr sz="580">
                          <a:solidFill>
                            <a:srgbClr val="1E242B"/>
                          </a:solidFill>
                          <a:latin typeface="Arial"/>
                        </a:defRPr>
                      </a:pPr>
                      <a:r>
                        <a:t>1.176,92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(30,1%)</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2</a:t>
                      </a:r>
                    </a:p>
                  </a:txBody>
                  <a:tcPr anchor="ctr" marL="36576" marR="36576" marT="9144" marB="9144">
                    <a:solidFill>
                      <a:srgbClr val="F7F9FC"/>
                    </a:solidFill>
                  </a:tcPr>
                </a:tc>
                <a:tc>
                  <a:txBody>
                    <a:bodyPr/>
                    <a:lstStyle/>
                    <a:p>
                      <a:pPr algn="l">
                        <a:defRPr sz="580">
                          <a:solidFill>
                            <a:srgbClr val="1E242B"/>
                          </a:solidFill>
                          <a:latin typeface="Arial"/>
                        </a:defRPr>
                      </a:pPr>
                      <a:r>
                        <a:t>Nhóm 2 (Mục 8, 9, 25): Gia công cơ khí chính xác CNC (20tr) + Tấm Bakelit đồ gá (5tr) + Tấm Mica chắn an toàn (2,8tr)</a:t>
                      </a:r>
                    </a:p>
                  </a:txBody>
                  <a:tcPr anchor="ctr" marL="36576" marR="36576" marT="9144" marB="9144">
                    <a:solidFill>
                      <a:srgbClr val="F7F9FC"/>
                    </a:solidFill>
                  </a:tcPr>
                </a:tc>
                <a:tc>
                  <a:txBody>
                    <a:bodyPr/>
                    <a:lstStyle/>
                    <a:p>
                      <a:pPr algn="r">
                        <a:defRPr sz="580">
                          <a:solidFill>
                            <a:srgbClr val="1E242B"/>
                          </a:solidFill>
                          <a:latin typeface="Arial"/>
                        </a:defRPr>
                      </a:pPr>
                      <a:r>
                        <a:t>27.800.000 VNĐ</a:t>
                      </a:r>
                    </a:p>
                  </a:txBody>
                  <a:tcPr anchor="ctr" marL="36576" marR="36576" marT="9144" marB="9144">
                    <a:solidFill>
                      <a:srgbClr val="F7F9FC"/>
                    </a:solidFill>
                  </a:tcPr>
                </a:tc>
                <a:tc>
                  <a:txBody>
                    <a:bodyPr/>
                    <a:lstStyle/>
                    <a:p>
                      <a:pPr algn="r">
                        <a:defRPr sz="580">
                          <a:solidFill>
                            <a:srgbClr val="1E242B"/>
                          </a:solidFill>
                          <a:latin typeface="Arial"/>
                        </a:defRPr>
                      </a:pPr>
                      <a:r>
                        <a:t>1.069,23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(27,3%)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3</a:t>
                      </a:r>
                    </a:p>
                  </a:txBody>
                  <a:tcPr anchor="ctr" marL="36576" marR="36576" marT="9144" marB="9144">
                    <a:solidFill>
                      <a:srgbClr val="FFFFFF"/>
                    </a:solidFill>
                  </a:tcPr>
                </a:tc>
                <a:tc>
                  <a:txBody>
                    <a:bodyPr/>
                    <a:lstStyle/>
                    <a:p>
                      <a:pPr algn="l">
                        <a:defRPr sz="580">
                          <a:solidFill>
                            <a:srgbClr val="1E242B"/>
                          </a:solidFill>
                          <a:latin typeface="Arial"/>
                        </a:defRPr>
                      </a:pPr>
                      <a:r>
                        <a:t>Nhóm 3 (Mục 10): Đầu đọc Barcode cố định tự động (Fixed Barcode Reader — đọc S/N máy tự động)</a:t>
                      </a:r>
                    </a:p>
                  </a:txBody>
                  <a:tcPr anchor="ctr" marL="36576" marR="36576" marT="9144" marB="9144">
                    <a:solidFill>
                      <a:srgbClr val="FFFFFF"/>
                    </a:solidFill>
                  </a:tcPr>
                </a:tc>
                <a:tc>
                  <a:txBody>
                    <a:bodyPr/>
                    <a:lstStyle/>
                    <a:p>
                      <a:pPr algn="r">
                        <a:defRPr sz="580">
                          <a:solidFill>
                            <a:srgbClr val="1E242B"/>
                          </a:solidFill>
                          <a:latin typeface="Arial"/>
                        </a:defRPr>
                      </a:pPr>
                      <a:r>
                        <a:t>19.000.000 VNĐ</a:t>
                      </a:r>
                    </a:p>
                  </a:txBody>
                  <a:tcPr anchor="ctr" marL="36576" marR="36576" marT="9144" marB="9144">
                    <a:solidFill>
                      <a:srgbClr val="FFFFFF"/>
                    </a:solidFill>
                  </a:tcPr>
                </a:tc>
                <a:tc>
                  <a:txBody>
                    <a:bodyPr/>
                    <a:lstStyle/>
                    <a:p>
                      <a:pPr algn="r">
                        <a:defRPr sz="580">
                          <a:solidFill>
                            <a:srgbClr val="1E242B"/>
                          </a:solidFill>
                          <a:latin typeface="Arial"/>
                        </a:defRPr>
                      </a:pPr>
                      <a:r>
                        <a:t>730,77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(18,7%)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4</a:t>
                      </a:r>
                    </a:p>
                  </a:txBody>
                  <a:tcPr anchor="ctr" marL="36576" marR="36576" marT="9144" marB="9144">
                    <a:solidFill>
                      <a:srgbClr val="F7F9FC"/>
                    </a:solidFill>
                  </a:tcPr>
                </a:tc>
                <a:tc>
                  <a:txBody>
                    <a:bodyPr/>
                    <a:lstStyle/>
                    <a:p>
                      <a:pPr algn="l">
                        <a:defRPr sz="580">
                          <a:solidFill>
                            <a:srgbClr val="1E242B"/>
                          </a:solidFill>
                          <a:latin typeface="Arial"/>
                        </a:defRPr>
                      </a:pPr>
                      <a:r>
                        <a:t>Nhóm 4 (Mục 11~16): 4 Xylanh khí nén SMC tự động cắm nguồn/đo (9,5tr) + 4 Van điện từ + 8 Cảm biến + Giảm chấn, Ống khí (4tr)</a:t>
                      </a:r>
                    </a:p>
                  </a:txBody>
                  <a:tcPr anchor="ctr" marL="36576" marR="36576" marT="9144" marB="9144">
                    <a:solidFill>
                      <a:srgbClr val="F7F9FC"/>
                    </a:solidFill>
                  </a:tcPr>
                </a:tc>
                <a:tc>
                  <a:txBody>
                    <a:bodyPr/>
                    <a:lstStyle/>
                    <a:p>
                      <a:pPr algn="r">
                        <a:defRPr sz="580">
                          <a:solidFill>
                            <a:srgbClr val="1E242B"/>
                          </a:solidFill>
                          <a:latin typeface="Arial"/>
                        </a:defRPr>
                      </a:pPr>
                      <a:r>
                        <a:t>13.500.000 VNĐ</a:t>
                      </a:r>
                    </a:p>
                  </a:txBody>
                  <a:tcPr anchor="ctr" marL="36576" marR="36576" marT="9144" marB="9144">
                    <a:solidFill>
                      <a:srgbClr val="F7F9FC"/>
                    </a:solidFill>
                  </a:tcPr>
                </a:tc>
                <a:tc>
                  <a:txBody>
                    <a:bodyPr/>
                    <a:lstStyle/>
                    <a:p>
                      <a:pPr algn="r">
                        <a:defRPr sz="580">
                          <a:solidFill>
                            <a:srgbClr val="1E242B"/>
                          </a:solidFill>
                          <a:latin typeface="Arial"/>
                        </a:defRPr>
                      </a:pPr>
                      <a:r>
                        <a:t>519,23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(13,3%)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5</a:t>
                      </a:r>
                    </a:p>
                  </a:txBody>
                  <a:tcPr anchor="ctr" marL="36576" marR="36576" marT="9144" marB="9144">
                    <a:solidFill>
                      <a:srgbClr val="FFFFFF"/>
                    </a:solidFill>
                  </a:tcPr>
                </a:tc>
                <a:tc>
                  <a:txBody>
                    <a:bodyPr/>
                    <a:lstStyle/>
                    <a:p>
                      <a:pPr algn="l">
                        <a:defRPr sz="580">
                          <a:solidFill>
                            <a:srgbClr val="1E242B"/>
                          </a:solidFill>
                          <a:latin typeface="Arial"/>
                        </a:defRPr>
                      </a:pPr>
                      <a:r>
                        <a:t>Nhóm 5 (Mục 1~7): Khung nhôm định hình 30x30/30x60/40x40 (3,94tr) + Ke góc (0,75tr) + Chân đế M12 &amp; Bánh xe (1,1tr)</a:t>
                      </a:r>
                    </a:p>
                  </a:txBody>
                  <a:tcPr anchor="ctr" marL="36576" marR="36576" marT="9144" marB="9144">
                    <a:solidFill>
                      <a:srgbClr val="FFFFFF"/>
                    </a:solidFill>
                  </a:tcPr>
                </a:tc>
                <a:tc>
                  <a:txBody>
                    <a:bodyPr/>
                    <a:lstStyle/>
                    <a:p>
                      <a:pPr algn="r">
                        <a:defRPr sz="580">
                          <a:solidFill>
                            <a:srgbClr val="1E242B"/>
                          </a:solidFill>
                          <a:latin typeface="Arial"/>
                        </a:defRPr>
                      </a:pPr>
                      <a:r>
                        <a:t>5.790.000 VNĐ</a:t>
                      </a:r>
                    </a:p>
                  </a:txBody>
                  <a:tcPr anchor="ctr" marL="36576" marR="36576" marT="9144" marB="9144">
                    <a:solidFill>
                      <a:srgbClr val="FFFFFF"/>
                    </a:solidFill>
                  </a:tcPr>
                </a:tc>
                <a:tc>
                  <a:txBody>
                    <a:bodyPr/>
                    <a:lstStyle/>
                    <a:p>
                      <a:pPr algn="r">
                        <a:defRPr sz="580">
                          <a:solidFill>
                            <a:srgbClr val="1E242B"/>
                          </a:solidFill>
                          <a:latin typeface="Arial"/>
                        </a:defRPr>
                      </a:pPr>
                      <a:r>
                        <a:t>222,69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(5,7%)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a:t>
                      </a:r>
                    </a:p>
                  </a:txBody>
                  <a:tcPr anchor="ctr" marL="36576" marR="36576" marT="9144" marB="9144">
                    <a:solidFill>
                      <a:srgbClr val="E8EEF5"/>
                    </a:solidFill>
                  </a:tcPr>
                </a:tc>
                <a:tc>
                  <a:txBody>
                    <a:bodyPr/>
                    <a:lstStyle/>
                    <a:p>
                      <a:pPr algn="l">
                        <a:defRPr sz="580">
                          <a:solidFill>
                            <a:srgbClr val="1E242B"/>
                          </a:solidFill>
                          <a:latin typeface="Arial"/>
                        </a:defRPr>
                      </a:pPr>
                      <a:r>
                        <a:t>CỘNG 24 MỤC ĐÃ CÓ GIÁ CỐ ĐỊNH (Mục 1~16 &amp; 18~25)</a:t>
                      </a:r>
                    </a:p>
                  </a:txBody>
                  <a:tcPr anchor="ctr" marL="36576" marR="36576" marT="9144" marB="9144">
                    <a:solidFill>
                      <a:srgbClr val="E8EEF5"/>
                    </a:solidFill>
                  </a:tcPr>
                </a:tc>
                <a:tc>
                  <a:txBody>
                    <a:bodyPr/>
                    <a:lstStyle/>
                    <a:p>
                      <a:pPr algn="r">
                        <a:defRPr sz="580">
                          <a:solidFill>
                            <a:srgbClr val="1E242B"/>
                          </a:solidFill>
                          <a:latin typeface="Arial"/>
                        </a:defRPr>
                      </a:pPr>
                      <a:r>
                        <a:t>96.690.000 VNĐ</a:t>
                      </a:r>
                    </a:p>
                  </a:txBody>
                  <a:tcPr anchor="ctr" marL="36576" marR="36576" marT="9144" marB="9144">
                    <a:solidFill>
                      <a:srgbClr val="E8EEF5"/>
                    </a:solidFill>
                  </a:tcPr>
                </a:tc>
                <a:tc>
                  <a:txBody>
                    <a:bodyPr/>
                    <a:lstStyle/>
                    <a:p>
                      <a:pPr algn="r">
                        <a:defRPr sz="580">
                          <a:solidFill>
                            <a:srgbClr val="1E242B"/>
                          </a:solidFill>
                          <a:latin typeface="Arial"/>
                        </a:defRPr>
                      </a:pPr>
                      <a:r>
                        <a:t>3.718,85 USD</a:t>
                      </a:r>
                    </a:p>
                  </a:txBody>
                  <a:tcPr anchor="ctr" marL="36576" marR="36576" marT="9144" marB="9144">
                    <a:solidFill>
                      <a:srgbClr val="E8EEF5"/>
                    </a:solidFill>
                  </a:tcPr>
                </a:tc>
                <a:tc>
                  <a:txBody>
                    <a:bodyPr/>
                    <a:lstStyle/>
                    <a:p>
                      <a:pPr algn="l">
                        <a:defRPr sz="580">
                          <a:solidFill>
                            <a:srgbClr val="1E242B"/>
                          </a:solidFill>
                          <a:latin typeface="Arial"/>
                        </a:defRPr>
                      </a:pPr>
                      <a:r>
                        <a:t>Chắc chắn (95,1%)</a:t>
                      </a:r>
                    </a:p>
                  </a:txBody>
                  <a:tcPr anchor="ctr" marL="36576" marR="36576" marT="9144" marB="9144">
                    <a:solidFill>
                      <a:srgbClr val="E8EEF5"/>
                    </a:solidFill>
                  </a:tcPr>
                </a:tc>
              </a:tr>
              <a:tr h="254000">
                <a:tc>
                  <a:txBody>
                    <a:bodyPr/>
                    <a:lstStyle/>
                    <a:p>
                      <a:pPr algn="ctr">
                        <a:defRPr sz="580" b="1">
                          <a:solidFill>
                            <a:srgbClr val="1E242B"/>
                          </a:solidFill>
                          <a:latin typeface="Arial"/>
                        </a:defRPr>
                      </a:pPr>
                      <a:r>
                        <a:t>6</a:t>
                      </a:r>
                    </a:p>
                  </a:txBody>
                  <a:tcPr anchor="ctr" marL="36576" marR="36576" marT="9144" marB="9144">
                    <a:solidFill>
                      <a:srgbClr val="FEF7E6"/>
                    </a:solidFill>
                  </a:tcPr>
                </a:tc>
                <a:tc>
                  <a:txBody>
                    <a:bodyPr/>
                    <a:lstStyle/>
                    <a:p>
                      <a:pPr algn="l">
                        <a:defRPr sz="580">
                          <a:solidFill>
                            <a:srgbClr val="1E242B"/>
                          </a:solidFill>
                          <a:latin typeface="Arial"/>
                        </a:defRPr>
                      </a:pPr>
                      <a:r>
                        <a:t>Nhóm 6 (Mục 17): Tủ điện điều khiển 500x400x200 (1 cái × 5.000.000 VNĐ — cột Ghi chú ghi "Xin báo giá")</a:t>
                      </a:r>
                    </a:p>
                  </a:txBody>
                  <a:tcPr anchor="ctr" marL="36576" marR="36576" marT="9144" marB="9144">
                    <a:solidFill>
                      <a:srgbClr val="FEF7E6"/>
                    </a:solidFill>
                  </a:tcPr>
                </a:tc>
                <a:tc>
                  <a:txBody>
                    <a:bodyPr/>
                    <a:lstStyle/>
                    <a:p>
                      <a:pPr algn="r">
                        <a:defRPr sz="580">
                          <a:solidFill>
                            <a:srgbClr val="1E242B"/>
                          </a:solidFill>
                          <a:latin typeface="Arial"/>
                        </a:defRPr>
                      </a:pPr>
                      <a:r>
                        <a:t>5.000.000 VNĐ</a:t>
                      </a:r>
                    </a:p>
                  </a:txBody>
                  <a:tcPr anchor="ctr" marL="36576" marR="36576" marT="9144" marB="9144">
                    <a:solidFill>
                      <a:srgbClr val="FEF7E6"/>
                    </a:solidFill>
                  </a:tcPr>
                </a:tc>
                <a:tc>
                  <a:txBody>
                    <a:bodyPr/>
                    <a:lstStyle/>
                    <a:p>
                      <a:pPr algn="r">
                        <a:defRPr sz="580">
                          <a:solidFill>
                            <a:srgbClr val="1E242B"/>
                          </a:solidFill>
                          <a:latin typeface="Arial"/>
                        </a:defRPr>
                      </a:pPr>
                      <a:r>
                        <a:t>192,31 USD</a:t>
                      </a:r>
                    </a:p>
                  </a:txBody>
                  <a:tcPr anchor="ctr" marL="36576" marR="36576" marT="9144" marB="9144">
                    <a:solidFill>
                      <a:srgbClr val="FEF7E6"/>
                    </a:solidFill>
                  </a:tcPr>
                </a:tc>
                <a:tc>
                  <a:txBody>
                    <a:bodyPr/>
                    <a:lstStyle/>
                    <a:p>
                      <a:pPr algn="l">
                        <a:defRPr sz="580">
                          <a:solidFill>
                            <a:srgbClr val="1E242B"/>
                          </a:solidFill>
                          <a:latin typeface="Arial"/>
                        </a:defRPr>
                      </a:pPr>
                      <a:r>
                        <a:t>Ghi chú: "Xin báo giá"</a:t>
                      </a:r>
                    </a:p>
                  </a:txBody>
                  <a:tcPr anchor="ctr" marL="36576" marR="36576" marT="9144" marB="9144">
                    <a:solidFill>
                      <a:srgbClr val="FEF7E6"/>
                    </a:solidFill>
                  </a:tcPr>
                </a:tc>
              </a:tr>
              <a:tr h="254000">
                <a:tc>
                  <a:txBody>
                    <a:bodyPr/>
                    <a:lstStyle/>
                    <a:p>
                      <a:pPr algn="ctr">
                        <a:defRPr sz="580" b="1">
                          <a:solidFill>
                            <a:srgbClr val="1E242B"/>
                          </a:solidFill>
                          <a:latin typeface="Arial"/>
                        </a:defRPr>
                      </a:pPr>
                      <a:r>
                        <a:t>TỔNG</a:t>
                      </a:r>
                    </a:p>
                  </a:txBody>
                  <a:tcPr anchor="ctr" marL="36576" marR="36576" marT="9144" marB="9144">
                    <a:solidFill>
                      <a:srgbClr val="EAF7EE"/>
                    </a:solidFill>
                  </a:tcPr>
                </a:tc>
                <a:tc>
                  <a:txBody>
                    <a:bodyPr/>
                    <a:lstStyle/>
                    <a:p>
                      <a:pPr algn="l">
                        <a:defRPr sz="580" b="1">
                          <a:solidFill>
                            <a:srgbClr val="1E242B"/>
                          </a:solidFill>
                          <a:latin typeface="Arial"/>
                        </a:defRPr>
                      </a:pPr>
                      <a:r>
                        <a:t>TỔNG CỘNG ĐỀ ÁN NO.22 XIN PHÊ DUYỆT (25 MỤC BOM)</a:t>
                      </a:r>
                      <a:br/>
                      <a:r>
                        <a:t>[Thuyết minh làm tròn: 101.700.000 VNĐ / 3.911,54 USD | Sheet 纏め: 4.000 USD]</a:t>
                      </a:r>
                    </a:p>
                  </a:txBody>
                  <a:tcPr anchor="ctr" marL="36576" marR="36576" marT="9144" marB="9144">
                    <a:solidFill>
                      <a:srgbClr val="EAF7EE"/>
                    </a:solidFill>
                  </a:tcPr>
                </a:tc>
                <a:tc>
                  <a:txBody>
                    <a:bodyPr/>
                    <a:lstStyle/>
                    <a:p>
                      <a:pPr algn="r">
                        <a:defRPr sz="580">
                          <a:solidFill>
                            <a:srgbClr val="1E242B"/>
                          </a:solidFill>
                          <a:latin typeface="Arial"/>
                        </a:defRPr>
                      </a:pPr>
                      <a:r>
                        <a:t>101.690.000 VNĐ</a:t>
                      </a:r>
                    </a:p>
                  </a:txBody>
                  <a:tcPr anchor="ctr" marL="36576" marR="36576" marT="9144" marB="9144">
                    <a:solidFill>
                      <a:srgbClr val="EAF7EE"/>
                    </a:solidFill>
                  </a:tcPr>
                </a:tc>
                <a:tc>
                  <a:txBody>
                    <a:bodyPr/>
                    <a:lstStyle/>
                    <a:p>
                      <a:pPr algn="r">
                        <a:defRPr sz="580">
                          <a:solidFill>
                            <a:srgbClr val="1E242B"/>
                          </a:solidFill>
                          <a:latin typeface="Arial"/>
                        </a:defRPr>
                      </a:pPr>
                      <a:r>
                        <a:t>3.911,15 USD</a:t>
                      </a:r>
                    </a:p>
                  </a:txBody>
                  <a:tcPr anchor="ctr" marL="36576" marR="36576" marT="9144" marB="9144">
                    <a:solidFill>
                      <a:srgbClr val="EAF7EE"/>
                    </a:solidFill>
                  </a:tcPr>
                </a:tc>
                <a:tc>
                  <a:txBody>
                    <a:bodyPr/>
                    <a:lstStyle/>
                    <a:p>
                      <a:pPr algn="l">
                        <a:defRPr sz="580">
                          <a:solidFill>
                            <a:srgbClr val="1E242B"/>
                          </a:solidFill>
                          <a:latin typeface="Arial"/>
                        </a:defRPr>
                      </a:pPr>
                      <a:r>
                        <a:t>Tiết kiệm: 30s/máy</a:t>
                      </a:r>
                      <a:br/>
                      <a:r>
                        <a:t>(29,6tr VNĐ/năm)</a:t>
                      </a:r>
                    </a:p>
                  </a:txBody>
                  <a:tcPr anchor="ctr" marL="36576" marR="36576" marT="9144" marB="9144">
                    <a:solidFill>
                      <a:srgbClr val="EAF7EE"/>
                    </a:solidFill>
                  </a:tcPr>
                </a:tc>
              </a:tr>
            </a:tbl>
          </a:graphicData>
        </a:graphic>
      </p:graphicFrame>
      <p:sp>
        <p:nvSpPr>
          <p:cNvPr id="10" name="TextBox 9"/>
          <p:cNvSpPr txBox="1"/>
          <p:nvPr/>
        </p:nvSpPr>
        <p:spPr>
          <a:xfrm>
            <a:off x="274320" y="3950208"/>
            <a:ext cx="6629400" cy="201168"/>
          </a:xfrm>
          <a:prstGeom prst="rect">
            <a:avLst/>
          </a:prstGeom>
          <a:noFill/>
        </p:spPr>
        <p:txBody>
          <a:bodyPr wrap="square" lIns="18288" rIns="18288" tIns="9144" bIns="9144">
            <a:spAutoFit/>
          </a:bodyPr>
          <a:lstStyle/>
          <a:p>
            <a:pPr>
              <a:defRPr sz="800" b="1">
                <a:solidFill>
                  <a:srgbClr val="B96800"/>
                </a:solidFill>
                <a:latin typeface="Arial"/>
              </a:defRPr>
            </a:pPr>
            <a:r>
              <a:t>■ 2. DANH MỤC ĐANG CHỜ BÁO GIÁ (見積中) &amp; CÁC MỤC KHÔNG CỘNG VÀO TỔNG XIN PHÊ DUYỆT</a:t>
            </a:r>
          </a:p>
        </p:txBody>
      </p:sp>
      <p:graphicFrame>
        <p:nvGraphicFramePr>
          <p:cNvPr id="11" name="Table 10"/>
          <p:cNvGraphicFramePr>
            <a:graphicFrameLocks noGrp="1"/>
          </p:cNvGraphicFramePr>
          <p:nvPr/>
        </p:nvGraphicFramePr>
        <p:xfrm>
          <a:off x="274320" y="4151376"/>
          <a:ext cx="6629400" cy="2057400"/>
        </p:xfrm>
        <a:graphic>
          <a:graphicData uri="http://schemas.openxmlformats.org/drawingml/2006/table">
            <a:tbl>
              <a:tblPr firstRow="1" bandRow="1">
                <a:tableStyleId>{5C22544A-7EE6-4342-B048-85BDC9FD1C3A}</a:tableStyleId>
              </a:tblPr>
              <a:tblGrid>
                <a:gridCol w="1234440"/>
                <a:gridCol w="3108960"/>
                <a:gridCol w="1097280"/>
                <a:gridCol w="1188720"/>
              </a:tblGrid>
              <a:tr h="342900">
                <a:tc>
                  <a:txBody>
                    <a:bodyPr/>
                    <a:lstStyle/>
                    <a:p>
                      <a:pPr algn="ctr">
                        <a:defRPr sz="65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50" b="1">
                          <a:solidFill>
                            <a:srgbClr val="FFFFFF"/>
                          </a:solidFill>
                          <a:latin typeface="Arial"/>
                        </a:defRPr>
                      </a:pPr>
                      <a:r>
                        <a:t>Danh sách các đề án cụ thể (Theo đúng file nguồn)</a:t>
                      </a:r>
                    </a:p>
                  </a:txBody>
                  <a:tcPr anchor="ctr" marL="36576" marR="36576" marT="9144" marB="9144">
                    <a:solidFill>
                      <a:srgbClr val="1B365D"/>
                    </a:solidFill>
                  </a:tcPr>
                </a:tc>
                <a:tc>
                  <a:txBody>
                    <a:bodyPr/>
                    <a:lstStyle/>
                    <a:p>
                      <a:pPr algn="ctr">
                        <a:defRPr sz="65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50" b="1">
                          <a:solidFill>
                            <a:srgbClr val="FFFFFF"/>
                          </a:solidFill>
                          <a:latin typeface="Arial"/>
                        </a:defRPr>
                      </a:pPr>
                      <a:r>
                        <a:t>Xử lý ngân sách</a:t>
                      </a:r>
                    </a:p>
                  </a:txBody>
                  <a:tcPr anchor="ctr" marL="36576" marR="36576" marT="9144" marB="9144">
                    <a:solidFill>
                      <a:srgbClr val="1B365D"/>
                    </a:solidFill>
                  </a:tcPr>
                </a:tc>
              </a:tr>
              <a:tr h="342900">
                <a:tc>
                  <a:txBody>
                    <a:bodyPr/>
                    <a:lstStyle/>
                    <a:p>
                      <a:pPr algn="l">
                        <a:defRPr sz="580" b="1">
                          <a:solidFill>
                            <a:srgbClr val="1E242B"/>
                          </a:solidFill>
                          <a:latin typeface="Arial"/>
                        </a:defRPr>
                      </a:pPr>
                      <a:r>
                        <a:t>A. Đang chờ báo giá</a:t>
                      </a:r>
                      <a:br/>
                      <a:r>
                        <a:t>(Đang báo giá / 見積中)</a:t>
                      </a:r>
                      <a:br/>
                      <a:r>
                        <a:t>[10 đề án TB VN]</a:t>
                      </a:r>
                    </a:p>
                  </a:txBody>
                  <a:tcPr anchor="ctr" marL="36576" marR="36576" marT="9144" marB="9144">
                    <a:solidFill>
                      <a:srgbClr val="FEF7E6"/>
                    </a:solidFill>
                  </a:tcPr>
                </a:tc>
                <a:tc>
                  <a:txBody>
                    <a:bodyPr/>
                    <a:lstStyle/>
                    <a:p>
                      <a:pPr algn="l">
                        <a:defRPr sz="580">
                          <a:solidFill>
                            <a:srgbClr val="1E242B"/>
                          </a:solidFill>
                          <a:latin typeface="Arial"/>
                        </a:defRPr>
                      </a:pPr>
                      <a:r>
                        <a:t>• Cụm A-1: No.18 (Gá nạp FW 4 máy), No.19 (Bỏ tháo nắp/cáp FW — tận dụng 12 gá hiện có), No.20 (Mạng hóa log USB)</a:t>
                      </a:r>
                      <a:br/>
                      <a:r>
                        <a:t>• Cụm A-2 &amp; A-3: No.21 (Gá Option nam châm), No.31 (Đóng mở Cassette tải nặng), No.35 (Tự động đặt giấy), No.33 (Nếu làm TB lắp vỏ)</a:t>
                      </a:r>
                      <a:br/>
                      <a:r>
                        <a:t>• Cụm A-4: No.25 (Quét DP liên tục + PC), No.27 (Camera đo nồng độ/lề), No.28 (Xuất hàng qua mạng)</a:t>
                      </a:r>
                    </a:p>
                  </a:txBody>
                  <a:tcPr anchor="ctr" marL="36576" marR="36576" marT="9144" marB="9144">
                    <a:solidFill>
                      <a:srgbClr val="FEF7E6"/>
                    </a:solidFill>
                  </a:tcPr>
                </a:tc>
                <a:tc>
                  <a:txBody>
                    <a:bodyPr/>
                    <a:lstStyle/>
                    <a:p>
                      <a:pPr algn="ctr">
                        <a:defRPr sz="58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80">
                          <a:solidFill>
                            <a:srgbClr val="1E242B"/>
                          </a:solidFill>
                          <a:latin typeface="Arial"/>
                        </a:defRPr>
                      </a:pPr>
                      <a:r>
                        <a:t>ĐANG BÁO GIÁ (見積中)</a:t>
                      </a:r>
                      <a:br/>
                      <a:r>
                        <a:t>→ KHÔNG cộng vào tổng duyệt đợt này (Trình Đợt 2)</a:t>
                      </a:r>
                    </a:p>
                  </a:txBody>
                  <a:tcPr anchor="ctr" marL="36576" marR="36576" marT="9144" marB="9144">
                    <a:solidFill>
                      <a:srgbClr val="FEF7E6"/>
                    </a:solidFill>
                  </a:tcPr>
                </a:tc>
              </a:tr>
              <a:tr h="342900">
                <a:tc>
                  <a:txBody>
                    <a:bodyPr/>
                    <a:lstStyle/>
                    <a:p>
                      <a:pPr algn="l">
                        <a:defRPr sz="580" b="1">
                          <a:solidFill>
                            <a:srgbClr val="1E242B"/>
                          </a:solidFill>
                          <a:latin typeface="Arial"/>
                        </a:defRPr>
                      </a:pPr>
                      <a:r>
                        <a:t>B. Cải tiến Phần mềm /</a:t>
                      </a:r>
                      <a:br/>
                      <a:r>
                        <a:t>Mạch / Quy trình</a:t>
                      </a:r>
                      <a:br/>
                      <a:r>
                        <a:t>[7 đề án VN + T10]</a:t>
                      </a:r>
                    </a:p>
                  </a:txBody>
                  <a:tcPr anchor="ctr" marL="36576" marR="36576" marT="9144" marB="9144">
                    <a:solidFill>
                      <a:srgbClr val="EAF7EE"/>
                    </a:solidFill>
                  </a:tcPr>
                </a:tc>
                <a:tc>
                  <a:txBody>
                    <a:bodyPr/>
                    <a:lstStyle/>
                    <a:p>
                      <a:pPr algn="l">
                        <a:defRPr sz="580">
                          <a:solidFill>
                            <a:srgbClr val="1E242B"/>
                          </a:solidFill>
                          <a:latin typeface="Arial"/>
                        </a:defRPr>
                      </a:pPr>
                      <a:r>
                        <a:t>• Đã duyệt / triển khai ngay: No.30 (Xóa U155), No.34 (Xóa đổi cữ giấy), No.36 (Xóa KT công tắc nắp phải), Thực tích T10 (Xóa 4 bước = -4,32s), Nạp FW tại Partner</a:t>
                      </a:r>
                      <a:br/>
                      <a:r>
                        <a:t>• Đang chờ TK/QA JP xác nhận: No.29 (Hộp mực), No.32 (Option không dây), No.37 (Đo lệch Transfer Belt sau khi đổi Puli 35°)</a:t>
                      </a:r>
                    </a:p>
                  </a:txBody>
                  <a:tcPr anchor="ctr" marL="36576" marR="36576" marT="9144" marB="9144">
                    <a:solidFill>
                      <a:srgbClr val="EAF7EE"/>
                    </a:solidFill>
                  </a:tcPr>
                </a:tc>
                <a:tc>
                  <a:txBody>
                    <a:bodyPr/>
                    <a:lstStyle/>
                    <a:p>
                      <a:pPr algn="ctr">
                        <a:defRPr sz="58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80">
                          <a:solidFill>
                            <a:srgbClr val="1E242B"/>
                          </a:solidFill>
                          <a:latin typeface="Arial"/>
                        </a:defRPr>
                      </a:pPr>
                      <a:r>
                        <a:t>0 VNĐ chi phí thiết bị</a:t>
                      </a:r>
                      <a:br/>
                      <a:r>
                        <a:t>tại nhà máy VN</a:t>
                      </a:r>
                    </a:p>
                  </a:txBody>
                  <a:tcPr anchor="ctr" marL="36576" marR="36576" marT="9144" marB="9144">
                    <a:solidFill>
                      <a:srgbClr val="EAF7EE"/>
                    </a:solidFill>
                  </a:tcPr>
                </a:tc>
              </a:tr>
              <a:tr h="342900">
                <a:tc>
                  <a:txBody>
                    <a:bodyPr/>
                    <a:lstStyle/>
                    <a:p>
                      <a:pPr algn="l">
                        <a:defRPr sz="58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8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8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80">
                          <a:solidFill>
                            <a:srgbClr val="1E242B"/>
                          </a:solidFill>
                          <a:latin typeface="Arial"/>
                        </a:defRPr>
                      </a:pPr>
                      <a:r>
                        <a:t>Ngân sách phía JP /</a:t>
                      </a:r>
                      <a:br/>
                      <a:r>
                        <a:t>Trình riêng sau khi chốt</a:t>
                      </a:r>
                    </a:p>
                  </a:txBody>
                  <a:tcPr anchor="ctr" marL="36576" marR="36576" marT="9144" marB="9144">
                    <a:solidFill>
                      <a:srgbClr val="FFFFFF"/>
                    </a:solidFill>
                  </a:tcPr>
                </a:tc>
              </a:tr>
              <a:tr h="342900">
                <a:tc>
                  <a:txBody>
                    <a:bodyPr/>
                    <a:lstStyle/>
                    <a:p>
                      <a:pPr algn="l">
                        <a:defRPr sz="580" b="1">
                          <a:solidFill>
                            <a:srgbClr val="B8292F"/>
                          </a:solidFill>
                          <a:latin typeface="Arial"/>
                        </a:defRPr>
                      </a:pPr>
                      <a:r>
                        <a:t>D. ĐÃ HỦY SAU DR4</a:t>
                      </a:r>
                      <a:br/>
                      <a:r>
                        <a:t>(廃止 — Tuyệt đối bỏ)</a:t>
                      </a:r>
                    </a:p>
                  </a:txBody>
                  <a:tcPr anchor="ctr" marL="36576" marR="36576" marT="9144" marB="9144">
                    <a:solidFill>
                      <a:srgbClr val="FDEDEC"/>
                    </a:solidFill>
                  </a:tcPr>
                </a:tc>
                <a:tc>
                  <a:txBody>
                    <a:bodyPr/>
                    <a:lstStyle/>
                    <a:p>
                      <a:pPr algn="l">
                        <a:defRPr sz="580" b="1">
                          <a:solidFill>
                            <a:srgbClr val="B8292F"/>
                          </a:solidFill>
                          <a:latin typeface="Arial"/>
                        </a:defRPr>
                      </a:pPr>
                      <a:r>
                        <a:t>• No.23: Robot đặt bản thảo mặt kính ISU (650.000.000 VNĐ = 25.000 USD) — ĐÃ HỦY, thay bằng No.25</a:t>
                      </a:r>
                      <a:br/>
                      <a:r>
                        <a:t>• No.24: Robot cắm USB &amp; chạm Panel U201 (4.000 USD) — ĐÃ HỦY, thay bằng JP No.3 &amp; No.6</a:t>
                      </a:r>
                    </a:p>
                  </a:txBody>
                  <a:tcPr anchor="ctr" marL="36576" marR="36576" marT="9144" marB="9144">
                    <a:solidFill>
                      <a:srgbClr val="FDEDEC"/>
                    </a:solidFill>
                  </a:tcPr>
                </a:tc>
                <a:tc>
                  <a:txBody>
                    <a:bodyPr/>
                    <a:lstStyle/>
                    <a:p>
                      <a:pPr algn="ctr">
                        <a:defRPr sz="580">
                          <a:solidFill>
                            <a:srgbClr val="1E242B"/>
                          </a:solidFill>
                          <a:latin typeface="Arial"/>
                        </a:defRPr>
                      </a:pPr>
                      <a:r>
                        <a:t>Đã thay bằng giải</a:t>
                      </a:r>
                      <a:br/>
                      <a:r>
                        <a:t>pháp khác tối ưu</a:t>
                      </a:r>
                    </a:p>
                  </a:txBody>
                  <a:tcPr anchor="ctr" marL="36576" marR="36576" marT="9144" marB="9144">
                    <a:solidFill>
                      <a:srgbClr val="FDEDEC"/>
                    </a:solidFill>
                  </a:tcPr>
                </a:tc>
                <a:tc>
                  <a:txBody>
                    <a:bodyPr/>
                    <a:lstStyle/>
                    <a:p>
                      <a:pPr algn="l">
                        <a:defRPr sz="580" b="1">
                          <a:solidFill>
                            <a:srgbClr val="B8292F"/>
                          </a:solidFill>
                          <a:latin typeface="Arial"/>
                        </a:defRPr>
                      </a:pPr>
                      <a:r>
                        <a:t>ĐÃ HỦY BỎ (0 VNĐ)</a:t>
                      </a:r>
                      <a:br/>
                      <a:r>
                        <a:t>Tuyệt đối không dùng 650tr</a:t>
                      </a:r>
                    </a:p>
                  </a:txBody>
                  <a:tcPr anchor="ctr" marL="36576" marR="36576" marT="9144" marB="9144">
                    <a:solidFill>
                      <a:srgbClr val="FDEDEC"/>
                    </a:solidFill>
                  </a:tcPr>
                </a:tc>
              </a:tr>
              <a:tr h="342900">
                <a:tc>
                  <a:txBody>
                    <a:bodyPr/>
                    <a:lstStyle/>
                    <a:p>
                      <a:pPr algn="l">
                        <a:defRPr sz="580" b="1">
                          <a:solidFill>
                            <a:srgbClr val="1E242B"/>
                          </a:solidFill>
                          <a:latin typeface="Arial"/>
                        </a:defRPr>
                      </a:pPr>
                      <a:r>
                        <a:t>E. Nghiên cứu dài hạn</a:t>
                      </a:r>
                      <a:br/>
                      <a:r>
                        <a:t>(R&amp;D 2026–2030)</a:t>
                      </a:r>
                    </a:p>
                  </a:txBody>
                  <a:tcPr anchor="ctr" marL="36576" marR="36576" marT="9144" marB="9144">
                    <a:solidFill>
                      <a:srgbClr val="FFFFFF"/>
                    </a:solidFill>
                  </a:tcPr>
                </a:tc>
                <a:tc>
                  <a:txBody>
                    <a:bodyPr/>
                    <a:lstStyle/>
                    <a:p>
                      <a:pPr algn="l">
                        <a:defRPr sz="58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FFFFF"/>
                    </a:solidFill>
                  </a:tcPr>
                </a:tc>
                <a:tc>
                  <a:txBody>
                    <a:bodyPr/>
                    <a:lstStyle/>
                    <a:p>
                      <a:pPr algn="ctr">
                        <a:defRPr sz="580">
                          <a:solidFill>
                            <a:srgbClr val="1E242B"/>
                          </a:solidFill>
                          <a:latin typeface="Arial"/>
                        </a:defRPr>
                      </a:pPr>
                      <a:r>
                        <a:t>Kỳ vọng dài hạn:</a:t>
                      </a:r>
                      <a:br/>
                      <a:r>
                        <a:t>-40s/máy</a:t>
                      </a:r>
                    </a:p>
                  </a:txBody>
                  <a:tcPr anchor="ctr" marL="36576" marR="36576" marT="9144" marB="9144">
                    <a:solidFill>
                      <a:srgbClr val="FFFFFF"/>
                    </a:solidFill>
                  </a:tcPr>
                </a:tc>
                <a:tc>
                  <a:txBody>
                    <a:bodyPr/>
                    <a:lstStyle/>
                    <a:p>
                      <a:pPr algn="l">
                        <a:defRPr sz="580">
                          <a:solidFill>
                            <a:srgbClr val="1E242B"/>
                          </a:solidFill>
                          <a:latin typeface="Arial"/>
                        </a:defRPr>
                      </a:pPr>
                      <a:r>
                        <a:t>Chuyển sang R&amp;D 2026–30</a:t>
                      </a:r>
                      <a:br/>
                      <a:r>
                        <a:t>Không xin duyệt đợt này</a:t>
                      </a:r>
                    </a:p>
                  </a:txBody>
                  <a:tcPr anchor="ctr" marL="36576" marR="36576" marT="9144" marB="9144">
                    <a:solidFill>
                      <a:srgbClr val="FFFFFF"/>
                    </a:solidFill>
                  </a:tcPr>
                </a:tc>
              </a:tr>
            </a:tbl>
          </a:graphicData>
        </a:graphic>
      </p:graphicFrame>
      <p:pic>
        <p:nvPicPr>
          <p:cNvPr id="12" name="Picture 11"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3" name="Rectangle 12"/>
          <p:cNvSpPr/>
          <p:nvPr/>
        </p:nvSpPr>
        <p:spPr>
          <a:xfrm>
            <a:off x="6995160" y="4480560"/>
            <a:ext cx="4919472" cy="196596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95160" y="4480560"/>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 TÓM TẮT ĐỀ NGHỊ PHÊ DUYỆT &amp; TÀI LIỆU KÈM THEO</a:t>
            </a:r>
          </a:p>
        </p:txBody>
      </p:sp>
      <p:sp>
        <p:nvSpPr>
          <p:cNvPr id="15" name="TextBox 14"/>
          <p:cNvSpPr txBox="1"/>
          <p:nvPr/>
        </p:nvSpPr>
        <p:spPr>
          <a:xfrm>
            <a:off x="7068312" y="4809744"/>
            <a:ext cx="4773168" cy="1600200"/>
          </a:xfrm>
          <a:prstGeom prst="rect">
            <a:avLst/>
          </a:prstGeom>
          <a:noFill/>
        </p:spPr>
        <p:txBody>
          <a:bodyPr wrap="square" lIns="36576" rIns="36576" tIns="18288" bIns="18288">
            <a:spAutoFit/>
          </a:bodyPr>
          <a:lstStyle/>
          <a:p>
            <a:pPr>
              <a:spcAft>
                <a:spcPts val="200"/>
              </a:spcAft>
              <a:defRPr sz="720" b="1">
                <a:solidFill>
                  <a:srgbClr val="1E242B"/>
                </a:solidFill>
                <a:latin typeface="Arial"/>
              </a:defRPr>
            </a:pPr>
            <a:r>
              <a:t>■ 1. Phê duyệt kinh phí Đợt 1 (Đề án No.22 — Trạm A-3):</a:t>
            </a:r>
          </a:p>
          <a:p>
            <a:pPr>
              <a:spcAft>
                <a:spcPts val="200"/>
              </a:spcAft>
              <a:defRPr sz="720">
                <a:solidFill>
                  <a:srgbClr val="1E242B"/>
                </a:solidFill>
                <a:latin typeface="Arial"/>
              </a:defRPr>
            </a:pPr>
            <a:r>
              <a:t>   • Tổng cộng (25 mục BOM): 101.690.000 VNĐ (3.911,15 USD)</a:t>
            </a:r>
          </a:p>
          <a:p>
            <a:pPr>
              <a:spcAft>
                <a:spcPts val="200"/>
              </a:spcAft>
              <a:defRPr sz="720">
                <a:solidFill>
                  <a:srgbClr val="1E242B"/>
                </a:solidFill>
                <a:latin typeface="Arial"/>
              </a:defRPr>
            </a:pPr>
            <a:r>
              <a:t>   • Phần đã có giá cố định (24 mục): 96.690.000 VNĐ (3.718,85 USD)</a:t>
            </a:r>
          </a:p>
          <a:p>
            <a:pPr>
              <a:spcAft>
                <a:spcPts val="200"/>
              </a:spcAft>
              <a:defRPr sz="720">
                <a:solidFill>
                  <a:srgbClr val="1E242B"/>
                </a:solidFill>
                <a:latin typeface="Arial"/>
              </a:defRPr>
            </a:pPr>
            <a:r>
              <a:t>   • Phần đang xin báo giá chính thức (Mục 17 - Tủ điện): 5.000.000 VNĐ (192,31 USD)</a:t>
            </a:r>
          </a:p>
          <a:p>
            <a:pPr>
              <a:spcAft>
                <a:spcPts val="200"/>
              </a:spcAft>
              <a:defRPr sz="720">
                <a:solidFill>
                  <a:srgbClr val="1E242B"/>
                </a:solidFill>
                <a:latin typeface="Arial"/>
              </a:defRPr>
            </a:pPr>
            <a:r>
              <a:t>   • Hiệu quả: Giảm 30,00s/máy (tiết kiệm 29,6 triệu VNĐ/năm = 1.138,46 USD/năm).</a:t>
            </a:r>
          </a:p>
          <a:p>
            <a:pPr>
              <a:spcAft>
                <a:spcPts val="200"/>
              </a:spcAft>
              <a:defRPr sz="720" b="1">
                <a:solidFill>
                  <a:srgbClr val="1E242B"/>
                </a:solidFill>
                <a:latin typeface="Arial"/>
              </a:defRPr>
            </a:pPr>
            <a:r>
              <a:t>■ 2. Cho phép tiến hành chốt báo giá Đợt 2 (T11/2026):</a:t>
            </a:r>
          </a:p>
          <a:p>
            <a:pPr>
              <a:spcAft>
                <a:spcPts val="200"/>
              </a:spcAft>
              <a:defRPr sz="720">
                <a:solidFill>
                  <a:srgbClr val="1E242B"/>
                </a:solidFill>
                <a:latin typeface="Arial"/>
              </a:defRPr>
            </a:pPr>
            <a:r>
              <a:t>   • Trọng tâm: No.25 (Quét DP liên tục), No.27 (Camera đo nồng độ/lề), No.28 (Thiết lập xuất hàng qua mạng), No.21 (Gá nam châm).</a:t>
            </a:r>
          </a:p>
          <a:p>
            <a:pPr>
              <a:spcAft>
                <a:spcPts val="200"/>
              </a:spcAft>
              <a:defRPr sz="720" b="1">
                <a:solidFill>
                  <a:srgbClr val="1E242B"/>
                </a:solidFill>
                <a:latin typeface="Arial"/>
              </a:defRPr>
            </a:pPr>
            <a:r>
              <a:t>■ 3. Bảng số liệu chi tiết đính kèm trong cùng Repo báo cáo:</a:t>
            </a:r>
          </a:p>
          <a:p>
            <a:pPr>
              <a:spcAft>
                <a:spcPts val="200"/>
              </a:spcAft>
              <a:defRPr sz="720">
                <a:solidFill>
                  <a:srgbClr val="1E242B"/>
                </a:solidFill>
                <a:latin typeface="Arial"/>
              </a:defRPr>
            </a:pPr>
            <a:r>
              <a:t>   •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