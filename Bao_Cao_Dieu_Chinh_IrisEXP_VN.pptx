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777240"/>
            <a:ext cx="128016" cy="5303520"/>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804672"/>
            <a:ext cx="4754880" cy="420624"/>
          </a:xfrm>
          <a:prstGeom prst="round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B365D"/>
                </a:solidFill>
                <a:latin typeface="Times New Roman"/>
              </a:defRPr>
            </a:pPr>
            <a:r>
              <a:t>DỰ ÁN IRIS EXP  |  CÔNG ĐOẠN ĐIỀU CHỈNH</a:t>
            </a:r>
          </a:p>
        </p:txBody>
      </p:sp>
      <p:sp>
        <p:nvSpPr>
          <p:cNvPr id="6" name="TextBox 5"/>
          <p:cNvSpPr txBox="1"/>
          <p:nvPr/>
        </p:nvSpPr>
        <p:spPr>
          <a:xfrm>
            <a:off x="960120" y="1417320"/>
            <a:ext cx="10424160" cy="1737360"/>
          </a:xfrm>
          <a:prstGeom prst="rect">
            <a:avLst/>
          </a:prstGeom>
          <a:noFill/>
        </p:spPr>
        <p:txBody>
          <a:bodyPr wrap="square">
            <a:spAutoFit/>
          </a:bodyPr>
          <a:lstStyle/>
          <a:p>
            <a:pPr>
              <a:spcAft>
                <a:spcPts val="1200"/>
              </a:spcAft>
              <a:defRPr sz="3200" b="1">
                <a:solidFill>
                  <a:srgbClr val="1B365D"/>
                </a:solidFill>
                <a:latin typeface="Times New Roman"/>
              </a:defRPr>
            </a:pPr>
            <a:r>
              <a:t>BÁO CÁO ĐỀ ÁN CẢI TIẾN</a:t>
            </a:r>
            <a:br/>
            <a:r>
              <a:t>CÔNG ĐOẠN ĐIỀU CHỈNH IRIS EXP</a:t>
            </a:r>
          </a:p>
          <a:p>
            <a:pPr>
              <a:defRPr sz="1650" b="1">
                <a:solidFill>
                  <a:srgbClr val="D96B27"/>
                </a:solidFill>
                <a:latin typeface="Times New Roman"/>
              </a:defRPr>
            </a:pPr>
            <a:r>
              <a:t>Mục tiêu tăng gấp đôi năng suất, đáp ứng sản lượng trên chuyền Iris2024 hiện tại</a:t>
            </a:r>
          </a:p>
        </p:txBody>
      </p:sp>
      <p:sp>
        <p:nvSpPr>
          <p:cNvPr id="7" name="Rounded Rectangle 6"/>
          <p:cNvSpPr/>
          <p:nvPr/>
        </p:nvSpPr>
        <p:spPr>
          <a:xfrm>
            <a:off x="960120" y="3520440"/>
            <a:ext cx="2505456" cy="1691640"/>
          </a:xfrm>
          <a:prstGeom prst="roundRect">
            <a:avLst/>
          </a:prstGeom>
          <a:solidFill>
            <a:srgbClr val="FFFFFF"/>
          </a:solidFill>
          <a:ln w="1905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3520440"/>
            <a:ext cx="2505456" cy="384048"/>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01: NẮM BẮT HIỆN TRẠNG</a:t>
            </a:r>
          </a:p>
        </p:txBody>
      </p:sp>
      <p:sp>
        <p:nvSpPr>
          <p:cNvPr id="9" name="TextBox 8"/>
          <p:cNvSpPr txBox="1"/>
          <p:nvPr/>
        </p:nvSpPr>
        <p:spPr>
          <a:xfrm>
            <a:off x="1051560" y="4005072"/>
            <a:ext cx="2322576" cy="1115568"/>
          </a:xfrm>
          <a:prstGeom prst="rect">
            <a:avLst/>
          </a:prstGeom>
          <a:noFill/>
        </p:spPr>
        <p:txBody>
          <a:bodyPr wrap="square">
            <a:spAutoFit/>
          </a:bodyPr>
          <a:lstStyle/>
          <a:p>
            <a:pPr>
              <a:defRPr sz="1200">
                <a:solidFill>
                  <a:srgbClr val="1E242B"/>
                </a:solidFill>
                <a:latin typeface="Times New Roman"/>
              </a:defRPr>
            </a:pPr>
            <a:r>
              <a:t>Iris2024 (16 người, 243 máy/ngày)</a:t>
            </a:r>
            <a:br/>
            <a:r>
              <a:t>và bài toán nhịp Takt 97s IrisEXP</a:t>
            </a:r>
          </a:p>
        </p:txBody>
      </p:sp>
      <p:sp>
        <p:nvSpPr>
          <p:cNvPr id="10" name="Rounded Rectangle 9"/>
          <p:cNvSpPr/>
          <p:nvPr/>
        </p:nvSpPr>
        <p:spPr>
          <a:xfrm>
            <a:off x="3630168" y="3520440"/>
            <a:ext cx="2505456" cy="1691640"/>
          </a:xfrm>
          <a:prstGeom prst="roundRect">
            <a:avLst/>
          </a:prstGeom>
          <a:solidFill>
            <a:srgbClr val="FFFFFF"/>
          </a:solidFill>
          <a:ln w="19050">
            <a:solidFill>
              <a:srgbClr val="1E6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30168" y="3520440"/>
            <a:ext cx="2505456" cy="384048"/>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02: MỤC TIÊU PHÁT TRIỂN</a:t>
            </a:r>
          </a:p>
        </p:txBody>
      </p:sp>
      <p:sp>
        <p:nvSpPr>
          <p:cNvPr id="12" name="TextBox 11"/>
          <p:cNvSpPr txBox="1"/>
          <p:nvPr/>
        </p:nvSpPr>
        <p:spPr>
          <a:xfrm>
            <a:off x="3721607" y="4005072"/>
            <a:ext cx="2322576" cy="1115568"/>
          </a:xfrm>
          <a:prstGeom prst="rect">
            <a:avLst/>
          </a:prstGeom>
          <a:noFill/>
        </p:spPr>
        <p:txBody>
          <a:bodyPr wrap="square">
            <a:spAutoFit/>
          </a:bodyPr>
          <a:lstStyle/>
          <a:p>
            <a:pPr>
              <a:defRPr sz="1200">
                <a:solidFill>
                  <a:srgbClr val="1E242B"/>
                </a:solidFill>
                <a:latin typeface="Times New Roman"/>
              </a:defRPr>
            </a:pPr>
            <a:r>
              <a:t>Năng suất một người tăng gấp đôi (≥30,4 máy)</a:t>
            </a:r>
            <a:br/>
            <a:r>
              <a:t>Cắt giảm 50% thời gian và số tờ in</a:t>
            </a:r>
          </a:p>
        </p:txBody>
      </p:sp>
      <p:sp>
        <p:nvSpPr>
          <p:cNvPr id="13" name="Rounded Rectangle 12"/>
          <p:cNvSpPr/>
          <p:nvPr/>
        </p:nvSpPr>
        <p:spPr>
          <a:xfrm>
            <a:off x="6300216" y="3520440"/>
            <a:ext cx="2505456" cy="1691640"/>
          </a:xfrm>
          <a:prstGeom prst="roundRect">
            <a:avLst/>
          </a:prstGeom>
          <a:solidFill>
            <a:srgbClr val="FFFFFF"/>
          </a:solidFill>
          <a:ln w="1905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0216" y="3520440"/>
            <a:ext cx="2505456" cy="384048"/>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03: PHƯƠNG CHÂM 3 CỨ ĐIỂM</a:t>
            </a:r>
          </a:p>
        </p:txBody>
      </p:sp>
      <p:sp>
        <p:nvSpPr>
          <p:cNvPr id="15" name="TextBox 14"/>
          <p:cNvSpPr txBox="1"/>
          <p:nvPr/>
        </p:nvSpPr>
        <p:spPr>
          <a:xfrm>
            <a:off x="6391655" y="4005072"/>
            <a:ext cx="2322576" cy="1115568"/>
          </a:xfrm>
          <a:prstGeom prst="rect">
            <a:avLst/>
          </a:prstGeom>
          <a:noFill/>
        </p:spPr>
        <p:txBody>
          <a:bodyPr wrap="square">
            <a:spAutoFit/>
          </a:bodyPr>
          <a:lstStyle/>
          <a:p>
            <a:pPr>
              <a:defRPr sz="1200">
                <a:solidFill>
                  <a:srgbClr val="1E242B"/>
                </a:solidFill>
                <a:latin typeface="Times New Roman"/>
              </a:defRPr>
            </a:pPr>
            <a:r>
              <a:t>Nhật Bản định hướng, nhà máy chủ động</a:t>
            </a:r>
            <a:br/>
            <a:r>
              <a:t>Đồng bộ định kỳ ba cứ điểm</a:t>
            </a:r>
          </a:p>
        </p:txBody>
      </p:sp>
      <p:sp>
        <p:nvSpPr>
          <p:cNvPr id="16" name="Rounded Rectangle 15"/>
          <p:cNvSpPr/>
          <p:nvPr/>
        </p:nvSpPr>
        <p:spPr>
          <a:xfrm>
            <a:off x="8970264" y="3520440"/>
            <a:ext cx="2505456" cy="1691640"/>
          </a:xfrm>
          <a:prstGeom prst="roundRect">
            <a:avLst/>
          </a:prstGeom>
          <a:solidFill>
            <a:srgbClr val="FFFFFF"/>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70264" y="3520440"/>
            <a:ext cx="2505456" cy="384048"/>
          </a:xfrm>
          <a:prstGeom prst="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PHẦN 04: ĐỀ ÁN TỰ ĐỘNG HÓA VN</a:t>
            </a:r>
          </a:p>
        </p:txBody>
      </p:sp>
      <p:sp>
        <p:nvSpPr>
          <p:cNvPr id="18" name="TextBox 17"/>
          <p:cNvSpPr txBox="1"/>
          <p:nvPr/>
        </p:nvSpPr>
        <p:spPr>
          <a:xfrm>
            <a:off x="9061704" y="4005072"/>
            <a:ext cx="2322576" cy="1115568"/>
          </a:xfrm>
          <a:prstGeom prst="rect">
            <a:avLst/>
          </a:prstGeom>
          <a:noFill/>
        </p:spPr>
        <p:txBody>
          <a:bodyPr wrap="square">
            <a:spAutoFit/>
          </a:bodyPr>
          <a:lstStyle/>
          <a:p>
            <a:pPr>
              <a:defRPr sz="1200">
                <a:solidFill>
                  <a:srgbClr val="1E242B"/>
                </a:solidFill>
                <a:latin typeface="Times New Roman"/>
              </a:defRPr>
            </a:pPr>
            <a:r>
              <a:t>Chi tiết 20 đề án cải tiến tại KDTVN</a:t>
            </a:r>
            <a:br/>
            <a:r>
              <a:t>và dự toán đầu tư (Tham khảo 38 ĐA)</a:t>
            </a:r>
          </a:p>
        </p:txBody>
      </p:sp>
      <p:sp>
        <p:nvSpPr>
          <p:cNvPr id="19" name="Rectangle 18"/>
          <p:cNvSpPr/>
          <p:nvPr/>
        </p:nvSpPr>
        <p:spPr>
          <a:xfrm>
            <a:off x="960120" y="5532120"/>
            <a:ext cx="10424160" cy="566928"/>
          </a:xfrm>
          <a:prstGeom prst="rect">
            <a:avLst/>
          </a:prstGeom>
          <a:solidFill>
            <a:srgbClr val="E8EEF5"/>
          </a:solidFill>
          <a:ln w="1016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300" b="1">
                <a:solidFill>
                  <a:srgbClr val="1B365D"/>
                </a:solidFill>
                <a:latin typeface="Times New Roman"/>
              </a:defRPr>
            </a:pPr>
            <a:r>
              <a:t>Bộ phận Kỹ thuật Sản xuất KDTVN   |   Người trình bày: Bùi Đức Vinh   |   Tháng 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1. NẮM BẮT HIỆN TRẠNG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Hiện trạng sản xuất dòng máy Iris2024 và bài toán năng lực khi chuyển sang IrisEXP</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2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Chuyền Iris2024 hiện cần 16 người để đạt 243 máy/ngày (15,19 máy/người). Khi sang IrisEXP theo nhịp Takt 97s (300 máy/ngày), quy trình cũ cần 18 người, vượt quá năng lực mặt bằng hiện có.</a:t>
            </a:r>
          </a:p>
        </p:txBody>
      </p:sp>
      <p:graphicFrame>
        <p:nvGraphicFramePr>
          <p:cNvPr id="7" name="Table 6"/>
          <p:cNvGraphicFramePr>
            <a:graphicFrameLocks noGrp="1"/>
          </p:cNvGraphicFramePr>
          <p:nvPr/>
        </p:nvGraphicFramePr>
        <p:xfrm>
          <a:off x="256032" y="1234440"/>
          <a:ext cx="5989320" cy="5120640"/>
        </p:xfrm>
        <a:graphic>
          <a:graphicData uri="http://schemas.openxmlformats.org/drawingml/2006/table">
            <a:tbl>
              <a:tblPr firstRow="1" bandRow="1">
                <a:tableStyleId>{5C22544A-7EE6-4342-B048-85BDC9FD1C3A}</a:tableStyleId>
              </a:tblPr>
              <a:tblGrid>
                <a:gridCol w="1783080"/>
                <a:gridCol w="1371600"/>
                <a:gridCol w="1417320"/>
                <a:gridCol w="1417320"/>
              </a:tblGrid>
              <a:tr h="640080">
                <a:tc>
                  <a:txBody>
                    <a:bodyPr wrap="square"/>
                    <a:lstStyle/>
                    <a:p>
                      <a:pPr algn="ctr">
                        <a:defRPr sz="1250" b="1">
                          <a:solidFill>
                            <a:srgbClr val="FFFFFF"/>
                          </a:solidFill>
                          <a:latin typeface="Times New Roman"/>
                        </a:defRPr>
                      </a:pPr>
                      <a:r>
                        <a:t>Chỉ tiêu sản xuất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Hiện trạng Iris2024</a:t>
                      </a:r>
                      <a:br/>
                      <a:r>
                        <a:t>(Line hiện tại)</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Khi sang IrisEXP</a:t>
                      </a:r>
                      <a:br/>
                      <a:r>
                        <a:t>(Chưa cải tiến)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Đánh giá khả năng</a:t>
                      </a:r>
                      <a:br/>
                      <a:r>
                        <a:t>đáp ứng trên Line</a:t>
                      </a:r>
                    </a:p>
                  </a:txBody>
                  <a:tcPr anchor="ctr" marL="36576" marR="36576" marT="13716" marB="13716">
                    <a:solidFill>
                      <a:srgbClr val="1B365D"/>
                    </a:solidFill>
                  </a:tcPr>
                </a:tc>
              </a:tr>
              <a:tr h="640080">
                <a:tc>
                  <a:txBody>
                    <a:bodyPr wrap="square"/>
                    <a:lstStyle/>
                    <a:p>
                      <a:pPr algn="l">
                        <a:defRPr sz="1200" b="1">
                          <a:solidFill>
                            <a:srgbClr val="1E242B"/>
                          </a:solidFill>
                          <a:latin typeface="Times New Roman"/>
                        </a:defRPr>
                      </a:pPr>
                      <a:r>
                        <a:t>Thời gian thao tác chuẩn</a:t>
                      </a:r>
                      <a:br/>
                      <a:r>
                        <a:t>(Mã hàng cao nhất)</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1.083s / máy</a:t>
                      </a:r>
                      <a:br/>
                      <a:r>
                        <a:t>(Gross: 2.350s)</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1.260,7s / máy</a:t>
                      </a:r>
                      <a:br/>
                      <a:r>
                        <a:t>(+89s bù quét U413)</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Thao tác dài,</a:t>
                      </a:r>
                      <a:br/>
                      <a:r>
                        <a:t>phát sinh bước U413</a:t>
                      </a:r>
                    </a:p>
                  </a:txBody>
                  <a:tcPr anchor="ctr" marL="36576" marR="36576" marT="13716" marB="13716">
                    <a:solidFill>
                      <a:srgbClr val="E8EEF5"/>
                    </a:solidFill>
                  </a:tcPr>
                </a:tc>
              </a:tr>
              <a:tr h="640080">
                <a:tc>
                  <a:txBody>
                    <a:bodyPr wrap="square"/>
                    <a:lstStyle/>
                    <a:p>
                      <a:pPr algn="l">
                        <a:defRPr sz="1200" b="1">
                          <a:solidFill>
                            <a:srgbClr val="1E242B"/>
                          </a:solidFill>
                          <a:latin typeface="Times New Roman"/>
                        </a:defRPr>
                      </a:pPr>
                      <a:r>
                        <a:t>Takt Time công đoạn</a:t>
                      </a:r>
                      <a:br/>
                      <a:r>
                        <a:t>(Nhịp sản xuất)</a:t>
                      </a:r>
                    </a:p>
                  </a:txBody>
                  <a:tcPr anchor="ctr" marL="36576" marR="36576" marT="13716" marB="13716">
                    <a:solidFill>
                      <a:srgbClr val="FEF7E6"/>
                    </a:solidFill>
                  </a:tcPr>
                </a:tc>
                <a:tc>
                  <a:txBody>
                    <a:bodyPr wrap="square"/>
                    <a:lstStyle/>
                    <a:p>
                      <a:pPr algn="ctr">
                        <a:defRPr sz="1200">
                          <a:solidFill>
                            <a:srgbClr val="1E242B"/>
                          </a:solidFill>
                          <a:latin typeface="Times New Roman"/>
                        </a:defRPr>
                      </a:pPr>
                      <a:r>
                        <a:t>114 giây / máy</a:t>
                      </a:r>
                    </a:p>
                  </a:txBody>
                  <a:tcPr anchor="ctr" marL="36576" marR="36576" marT="13716" marB="13716">
                    <a:solidFill>
                      <a:srgbClr val="FEF7E6"/>
                    </a:solidFill>
                  </a:tcPr>
                </a:tc>
                <a:tc>
                  <a:txBody>
                    <a:bodyPr wrap="square"/>
                    <a:lstStyle/>
                    <a:p>
                      <a:pPr algn="ctr">
                        <a:defRPr sz="1200">
                          <a:solidFill>
                            <a:srgbClr val="1E242B"/>
                          </a:solidFill>
                          <a:latin typeface="Times New Roman"/>
                        </a:defRPr>
                      </a:pPr>
                      <a:r>
                        <a:t>97 giây / máy</a:t>
                      </a:r>
                      <a:br/>
                      <a:r>
                        <a:t>(Nhanh hơn 17s/máy)</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Nhịp chuyền yêu cầu</a:t>
                      </a:r>
                      <a:br/>
                      <a:r>
                        <a:t>tăng tốc 17,5%</a:t>
                      </a:r>
                    </a:p>
                  </a:txBody>
                  <a:tcPr anchor="ctr" marL="36576" marR="36576" marT="13716" marB="13716">
                    <a:solidFill>
                      <a:srgbClr val="FEF7E6"/>
                    </a:solidFill>
                  </a:tcPr>
                </a:tc>
              </a:tr>
              <a:tr h="640080">
                <a:tc>
                  <a:txBody>
                    <a:bodyPr wrap="square"/>
                    <a:lstStyle/>
                    <a:p>
                      <a:pPr algn="l">
                        <a:defRPr sz="1200" b="1">
                          <a:solidFill>
                            <a:srgbClr val="1E242B"/>
                          </a:solidFill>
                          <a:latin typeface="Times New Roman"/>
                        </a:defRPr>
                      </a:pPr>
                      <a:r>
                        <a:t>Sản lượng 1 ngày</a:t>
                      </a:r>
                      <a:br/>
                      <a:r>
                        <a:t>(Trên 1 Line)</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243 máy / ngày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300 máy / ngày</a:t>
                      </a:r>
                      <a:br/>
                      <a:r>
                        <a:t>(16.000 máy/tháng)</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Yêu cầu tăng sản lượng</a:t>
                      </a:r>
                      <a:br/>
                      <a:r>
                        <a:t>+57 máy/ngày (+23,5%)</a:t>
                      </a:r>
                    </a:p>
                  </a:txBody>
                  <a:tcPr anchor="ctr" marL="36576" marR="36576" marT="13716" marB="13716">
                    <a:solidFill>
                      <a:srgbClr val="FFFFFF"/>
                    </a:solidFill>
                  </a:tcPr>
                </a:tc>
              </a:tr>
              <a:tr h="640080">
                <a:tc>
                  <a:txBody>
                    <a:bodyPr wrap="square"/>
                    <a:lstStyle/>
                    <a:p>
                      <a:pPr algn="l">
                        <a:defRPr sz="1200" b="1">
                          <a:solidFill>
                            <a:srgbClr val="1E242B"/>
                          </a:solidFill>
                          <a:latin typeface="Times New Roman"/>
                        </a:defRPr>
                      </a:pPr>
                      <a:r>
                        <a:t>Nhân sự ĐIỀU CHỈNH</a:t>
                      </a:r>
                      <a:br/>
                      <a:r>
                        <a:t>(K1 ~ K4)</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7 người thao tác</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9 người thao tác</a:t>
                      </a:r>
                      <a:br/>
                      <a:r>
                        <a:t>(Nếu giữ cách cũ)</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Thiếu 2 người thao tác</a:t>
                      </a:r>
                      <a:br/>
                      <a:r>
                        <a:t>và thiếu vị trí đứng máy</a:t>
                      </a:r>
                    </a:p>
                  </a:txBody>
                  <a:tcPr anchor="ctr" marL="36576" marR="36576" marT="13716" marB="13716">
                    <a:solidFill>
                      <a:srgbClr val="F7F9FC"/>
                    </a:solidFill>
                  </a:tcPr>
                </a:tc>
              </a:tr>
              <a:tr h="640080">
                <a:tc>
                  <a:txBody>
                    <a:bodyPr wrap="square"/>
                    <a:lstStyle/>
                    <a:p>
                      <a:pPr algn="l">
                        <a:defRPr sz="1200" b="1">
                          <a:solidFill>
                            <a:srgbClr val="1E242B"/>
                          </a:solidFill>
                          <a:latin typeface="Times New Roman"/>
                        </a:defRPr>
                      </a:pPr>
                      <a:r>
                        <a:t>Nhân sự HÌNH ẢNH</a:t>
                      </a:r>
                      <a:br/>
                      <a:r>
                        <a:t>(K5 ~ K8)</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9 người thao tác</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9 người thao tác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Nghẽn cụm in &amp; đo ảnh</a:t>
                      </a:r>
                      <a:br/>
                      <a:r>
                        <a:t>(17 tờ Print + 2 tờ Copy)</a:t>
                      </a:r>
                    </a:p>
                  </a:txBody>
                  <a:tcPr anchor="ctr" marL="36576" marR="36576" marT="13716" marB="13716">
                    <a:solidFill>
                      <a:srgbClr val="FFFFFF"/>
                    </a:solidFill>
                  </a:tcPr>
                </a:tc>
              </a:tr>
              <a:tr h="640080">
                <a:tc>
                  <a:txBody>
                    <a:bodyPr wrap="square"/>
                    <a:lstStyle/>
                    <a:p>
                      <a:pPr algn="l">
                        <a:defRPr sz="1200" b="1">
                          <a:solidFill>
                            <a:srgbClr val="1E242B"/>
                          </a:solidFill>
                          <a:latin typeface="Times New Roman"/>
                        </a:defRPr>
                      </a:pPr>
                      <a:r>
                        <a:t>TỔNG SỐ NGƯỜI</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16 người thao tác</a:t>
                      </a:r>
                      <a:br/>
                      <a:r>
                        <a:t>(7 ĐC + 9 Hình ảnh)</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Cần 18 người</a:t>
                      </a:r>
                      <a:br/>
                      <a:r>
                        <a:t>(Theo Takt 97s)</a:t>
                      </a:r>
                    </a:p>
                  </a:txBody>
                  <a:tcPr anchor="ctr" marL="36576" marR="36576" marT="13716" marB="13716">
                    <a:solidFill>
                      <a:srgbClr val="FDEDEC"/>
                    </a:solidFill>
                  </a:tcPr>
                </a:tc>
                <a:tc>
                  <a:txBody>
                    <a:bodyPr wrap="square"/>
                    <a:lstStyle/>
                    <a:p>
                      <a:pPr algn="l">
                        <a:defRPr sz="1200">
                          <a:solidFill>
                            <a:srgbClr val="1E242B"/>
                          </a:solidFill>
                          <a:latin typeface="Times New Roman"/>
                        </a:defRPr>
                      </a:pPr>
                      <a:r>
                        <a:t>Line hiện tại chỉ đủ chỗ</a:t>
                      </a:r>
                      <a:br/>
                      <a:r>
                        <a:t>cho tối đa 16 người</a:t>
                      </a:r>
                    </a:p>
                  </a:txBody>
                  <a:tcPr anchor="ctr" marL="36576" marR="36576" marT="13716" marB="13716">
                    <a:solidFill>
                      <a:srgbClr val="FDEDEC"/>
                    </a:solidFill>
                  </a:tcPr>
                </a:tc>
              </a:tr>
              <a:tr h="640080">
                <a:tc>
                  <a:txBody>
                    <a:bodyPr wrap="square"/>
                    <a:lstStyle/>
                    <a:p>
                      <a:pPr algn="l">
                        <a:defRPr sz="1200" b="1">
                          <a:solidFill>
                            <a:srgbClr val="1E242B"/>
                          </a:solidFill>
                          <a:latin typeface="Times New Roman"/>
                        </a:defRPr>
                      </a:pPr>
                      <a:r>
                        <a:t>Năng suất 1 người / ngày</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15,19 máy / ngày</a:t>
                      </a:r>
                      <a:br/>
                      <a:r>
                        <a:t>(243 máy ÷ 16 người)</a:t>
                      </a:r>
                    </a:p>
                  </a:txBody>
                  <a:tcPr anchor="ctr" marL="36576" marR="36576" marT="13716" marB="13716">
                    <a:solidFill>
                      <a:srgbClr val="FDEDEC"/>
                    </a:solidFill>
                  </a:tcPr>
                </a:tc>
                <a:tc>
                  <a:txBody>
                    <a:bodyPr wrap="square"/>
                    <a:lstStyle/>
                    <a:p>
                      <a:pPr algn="ctr">
                        <a:defRPr sz="1200">
                          <a:solidFill>
                            <a:srgbClr val="1E242B"/>
                          </a:solidFill>
                          <a:latin typeface="Times New Roman"/>
                        </a:defRPr>
                      </a:pPr>
                      <a:r>
                        <a:t>16,67 máy / ngày</a:t>
                      </a:r>
                      <a:br/>
                      <a:r>
                        <a:t>(300 máy ÷ 18 người)</a:t>
                      </a:r>
                    </a:p>
                  </a:txBody>
                  <a:tcPr anchor="ctr" marL="36576" marR="36576" marT="13716" marB="13716">
                    <a:solidFill>
                      <a:srgbClr val="FDEDEC"/>
                    </a:solidFill>
                  </a:tcPr>
                </a:tc>
                <a:tc>
                  <a:txBody>
                    <a:bodyPr wrap="square"/>
                    <a:lstStyle/>
                    <a:p>
                      <a:pPr algn="l">
                        <a:defRPr sz="1200">
                          <a:solidFill>
                            <a:srgbClr val="1E242B"/>
                          </a:solidFill>
                          <a:latin typeface="Times New Roman"/>
                        </a:defRPr>
                      </a:pPr>
                      <a:r>
                        <a:t>Line hiện tại không thể</a:t>
                      </a:r>
                      <a:br/>
                      <a:r>
                        <a:t>đáp ứng sản xuất</a:t>
                      </a:r>
                    </a:p>
                  </a:txBody>
                  <a:tcPr anchor="ctr" marL="36576" marR="36576" marT="13716" marB="13716">
                    <a:solidFill>
                      <a:srgbClr val="FDEDEC"/>
                    </a:solidFill>
                  </a:tcPr>
                </a:tc>
              </a:tr>
            </a:tbl>
          </a:graphicData>
        </a:graphic>
      </p:graphicFrame>
      <p:pic>
        <p:nvPicPr>
          <p:cNvPr id="8" name="Picture 7" descr="chart_s1_status_vn.png"/>
          <p:cNvPicPr>
            <a:picLocks noChangeAspect="1"/>
          </p:cNvPicPr>
          <p:nvPr/>
        </p:nvPicPr>
        <p:blipFill>
          <a:blip r:embed="rId2"/>
          <a:stretch>
            <a:fillRect/>
          </a:stretch>
        </p:blipFill>
        <p:spPr>
          <a:xfrm>
            <a:off x="6382512" y="1234440"/>
            <a:ext cx="5532120" cy="2370909"/>
          </a:xfrm>
          <a:prstGeom prst="rect">
            <a:avLst/>
          </a:prstGeom>
        </p:spPr>
      </p:pic>
      <p:sp>
        <p:nvSpPr>
          <p:cNvPr id="9" name="Rectangle 8"/>
          <p:cNvSpPr/>
          <p:nvPr/>
        </p:nvSpPr>
        <p:spPr>
          <a:xfrm>
            <a:off x="6382512" y="3566160"/>
            <a:ext cx="5532120" cy="2926080"/>
          </a:xfrm>
          <a:prstGeom prst="rect">
            <a:avLst/>
          </a:prstGeom>
          <a:solidFill>
            <a:srgbClr val="FDEDEC"/>
          </a:solidFill>
          <a:ln w="12700">
            <a:solidFill>
              <a:srgbClr val="B82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82512" y="3566160"/>
            <a:ext cx="5532120" cy="347472"/>
          </a:xfrm>
          <a:prstGeom prst="rect">
            <a:avLst/>
          </a:prstGeom>
          <a:solidFill>
            <a:srgbClr val="B8292F"/>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KẾT LUẬN VỀ NĂNG LỰC HIỆN TẠI TRÊN LINE IRIS2024</a:t>
            </a:r>
          </a:p>
        </p:txBody>
      </p:sp>
      <p:sp>
        <p:nvSpPr>
          <p:cNvPr id="11" name="TextBox 10"/>
          <p:cNvSpPr txBox="1"/>
          <p:nvPr/>
        </p:nvSpPr>
        <p:spPr>
          <a:xfrm>
            <a:off x="6473952" y="3950208"/>
            <a:ext cx="5349240" cy="250545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1. Thiếu hụt 57 máy/ngày: Năng lực hiện tại chỉ đạt 243 máy/ngày (15,19 máy/người), không đạt mục tiêu 300 máy/ngày theo nhịp Takt 97s.</a:t>
            </a:r>
          </a:p>
          <a:p>
            <a:pPr>
              <a:spcAft>
                <a:spcPts val="300"/>
              </a:spcAft>
              <a:defRPr sz="1200">
                <a:solidFill>
                  <a:srgbClr val="1E242B"/>
                </a:solidFill>
                <a:latin typeface="Times New Roman"/>
              </a:defRPr>
            </a:pPr>
            <a:r>
              <a:t>2. Quá tải mặt bằng chuyền: Quy trình cũ cần 18 người thao tác, trong khi diện tích và số bàn thử hiện tại chỉ bố trí tối đa 16 người.</a:t>
            </a:r>
          </a:p>
          <a:p>
            <a:pPr>
              <a:spcAft>
                <a:spcPts val="300"/>
              </a:spcAft>
              <a:defRPr sz="1200">
                <a:solidFill>
                  <a:srgbClr val="1E242B"/>
                </a:solidFill>
                <a:latin typeface="Times New Roman"/>
              </a:defRPr>
            </a:pPr>
            <a:r>
              <a:t>3. Điểm nghẽn cụm Hình ảnh: Công đoạn in 17 tờ Print, 2 tờ Copy và đo nồng độ thủ công mất 192s, 9 người không thể đáp ứng nhịp Takt 97s.</a:t>
            </a:r>
          </a:p>
          <a:p>
            <a:pPr>
              <a:spcAft>
                <a:spcPts val="300"/>
              </a:spcAft>
              <a:defRPr sz="1200">
                <a:solidFill>
                  <a:srgbClr val="1E242B"/>
                </a:solidFill>
                <a:latin typeface="Times New Roman"/>
              </a:defRPr>
            </a:pPr>
            <a:r>
              <a:t>4. Yêu cầu cải tiến: Nâng năng suất lên ≥30,38 máy/người/ngày và rút gọn nhân sự còn 8 đến 9 người để sản xuất ngay trên chuyền hiện tại.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1. NẮM BẮT HIỆN TRẠNG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Layout thực tế Line Điều chỉnh Iris2024 (A1 ~ A11: Dài 57m × Rộng 2,7m | 1 người 3 Cell)</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3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defRPr sz="1200">
                <a:latin typeface="Times New Roman"/>
              </a:defRPr>
            </a:pPr>
            <a:r>
              <a:rPr sz="1200">
                <a:latin typeface="Times New Roman"/>
              </a:rPr>
              <a:t>Chuyền Điều chỉnh Iris2024 bố trí 11 trạm A1 đến A11 với 16 người thao tác trên diện tích 57m × 2,7m; mặt bằng đã cố định, không thể mở rộng diện tích sàn hoặc bổ sung thêm nhân lực đứng chuyền.</a:t>
            </a:r>
          </a:p>
        </p:txBody>
      </p:sp>
      <p:sp>
        <p:nvSpPr>
          <p:cNvPr id="7" name="Rectangle 6"/>
          <p:cNvSpPr/>
          <p:nvPr/>
        </p:nvSpPr>
        <p:spPr>
          <a:xfrm>
            <a:off x="256032" y="1234440"/>
            <a:ext cx="11679631" cy="3108960"/>
          </a:xfrm>
          <a:prstGeom prst="rect">
            <a:avLst/>
          </a:prstGeom>
          <a:solidFill>
            <a:srgbClr val="FFFFFF"/>
          </a:solidFill>
          <a:ln w="12700">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34440"/>
            <a:ext cx="11679631" cy="329184"/>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mes New Roman"/>
              </a:defRPr>
            </a:pPr>
            <a:r>
              <a:t>  BẢN VẼ LAYOUT LINE ĐIỀU CHỈNH IRIS2024 THỰC TẾ (Iris2024 PRT 調整工程: A1 ~ A11)</a:t>
            </a:r>
          </a:p>
        </p:txBody>
      </p:sp>
      <p:pic>
        <p:nvPicPr>
          <p:cNvPr id="9" name="Picture 8" descr="layout_iris2024_vn.png"/>
          <p:cNvPicPr>
            <a:picLocks noChangeAspect="1"/>
          </p:cNvPicPr>
          <p:nvPr/>
        </p:nvPicPr>
        <p:blipFill>
          <a:blip r:embed="rId2"/>
          <a:stretch>
            <a:fillRect/>
          </a:stretch>
        </p:blipFill>
        <p:spPr>
          <a:xfrm>
            <a:off x="329184" y="1591056"/>
            <a:ext cx="11521440" cy="3109942"/>
          </a:xfrm>
          <a:prstGeom prst="rect">
            <a:avLst/>
          </a:prstGeom>
        </p:spPr>
      </p:pic>
      <p:sp>
        <p:nvSpPr>
          <p:cNvPr id="10" name="Rectangle 9"/>
          <p:cNvSpPr/>
          <p:nvPr/>
        </p:nvSpPr>
        <p:spPr>
          <a:xfrm>
            <a:off x="256032" y="4462272"/>
            <a:ext cx="3767328"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4462272"/>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1. CỤM ĐIỀU CHỈNH 1 (Line thủ công: A1 ~ A4)</a:t>
            </a:r>
          </a:p>
        </p:txBody>
      </p:sp>
      <p:sp>
        <p:nvSpPr>
          <p:cNvPr id="12" name="TextBox 11"/>
          <p:cNvSpPr txBox="1"/>
          <p:nvPr/>
        </p:nvSpPr>
        <p:spPr>
          <a:xfrm>
            <a:off x="347472" y="4846320"/>
            <a:ext cx="3584448"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Vị trí: Bố trí dọc chuyền đẩy tay đầu Line với 7 người thao tác.</a:t>
            </a:r>
          </a:p>
          <a:p>
            <a:pPr>
              <a:spcAft>
                <a:spcPts val="300"/>
              </a:spcAft>
              <a:defRPr sz="1200">
                <a:solidFill>
                  <a:srgbClr val="1E242B"/>
                </a:solidFill>
                <a:latin typeface="Times New Roman"/>
              </a:defRPr>
            </a:pPr>
            <a:r>
              <a:t>Thao tác: Nạp phần mềm, gá mực, đo TLBĐ, U155, lắp Option, lắp 6 vỏ ngoài, đo an toàn điện.</a:t>
            </a:r>
          </a:p>
          <a:p>
            <a:pPr>
              <a:spcAft>
                <a:spcPts val="300"/>
              </a:spcAft>
              <a:defRPr sz="1200">
                <a:solidFill>
                  <a:srgbClr val="1E242B"/>
                </a:solidFill>
                <a:latin typeface="Times New Roman"/>
              </a:defRPr>
            </a:pPr>
            <a:r>
              <a:t>Điểm nghẽn: Thao tác cắm rút cáp 11 lần, tháo lắp đồ gá lặp lại nhiều lần, mất 48s đến 90s lắp vỏ ngoài.</a:t>
            </a:r>
          </a:p>
        </p:txBody>
      </p:sp>
      <p:sp>
        <p:nvSpPr>
          <p:cNvPr id="13" name="Rectangle 12"/>
          <p:cNvSpPr/>
          <p:nvPr/>
        </p:nvSpPr>
        <p:spPr>
          <a:xfrm>
            <a:off x="4206240" y="4462272"/>
            <a:ext cx="3767328"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4462272"/>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2. CỤM ĐIỀU CHỈNH 2 (Line tự động: A5 ~ A7)</a:t>
            </a:r>
          </a:p>
        </p:txBody>
      </p:sp>
      <p:sp>
        <p:nvSpPr>
          <p:cNvPr id="15" name="TextBox 14"/>
          <p:cNvSpPr txBox="1"/>
          <p:nvPr/>
        </p:nvSpPr>
        <p:spPr>
          <a:xfrm>
            <a:off x="4297679" y="4846320"/>
            <a:ext cx="3584448"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Vị trí: Bố trí trên băng tải tự động trước và trong khu vực Aging.</a:t>
            </a:r>
          </a:p>
          <a:p>
            <a:pPr>
              <a:spcAft>
                <a:spcPts val="300"/>
              </a:spcAft>
              <a:defRPr sz="1200">
                <a:solidFill>
                  <a:srgbClr val="1E242B"/>
                </a:solidFill>
                <a:latin typeface="Times New Roman"/>
              </a:defRPr>
            </a:pPr>
            <a:r>
              <a:t>Thao tác: Nhận diện giấy, chỉnh ISU U411, quét SITC-2, U201, chạy Aging U950 (285s).</a:t>
            </a:r>
          </a:p>
          <a:p>
            <a:pPr>
              <a:spcAft>
                <a:spcPts val="300"/>
              </a:spcAft>
              <a:defRPr sz="1200">
                <a:solidFill>
                  <a:srgbClr val="1E242B"/>
                </a:solidFill>
                <a:latin typeface="Times New Roman"/>
              </a:defRPr>
            </a:pPr>
            <a:r>
              <a:t>Điểm nghẽn: Mở nắp kính đặt 3 bản thảo thủ công mất 110s; chu kỳ chờ Aging 285s gây ùn ứ máy.</a:t>
            </a:r>
          </a:p>
        </p:txBody>
      </p:sp>
      <p:sp>
        <p:nvSpPr>
          <p:cNvPr id="16" name="Rectangle 15"/>
          <p:cNvSpPr/>
          <p:nvPr/>
        </p:nvSpPr>
        <p:spPr>
          <a:xfrm>
            <a:off x="8156448" y="4462272"/>
            <a:ext cx="3779215" cy="2029968"/>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6448" y="4462272"/>
            <a:ext cx="3779215"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3. CỤM HÌNH ẢNH &amp; XUẤT (Cell Line: A8 ~ A11)</a:t>
            </a:r>
          </a:p>
        </p:txBody>
      </p:sp>
      <p:sp>
        <p:nvSpPr>
          <p:cNvPr id="18" name="TextBox 17"/>
          <p:cNvSpPr txBox="1"/>
          <p:nvPr/>
        </p:nvSpPr>
        <p:spPr>
          <a:xfrm>
            <a:off x="8247888" y="4846320"/>
            <a:ext cx="3596335" cy="1609344"/>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Vị trí: Cell hai bên (1 người phụ trách 3 Cell), buồng âm A9 và 5 Cell xuất hàng A11.</a:t>
            </a:r>
          </a:p>
          <a:p>
            <a:pPr>
              <a:spcAft>
                <a:spcPts val="300"/>
              </a:spcAft>
              <a:defRPr sz="1200">
                <a:solidFill>
                  <a:srgbClr val="1E242B"/>
                </a:solidFill>
                <a:latin typeface="Times New Roman"/>
              </a:defRPr>
            </a:pPr>
            <a:r>
              <a:t>Thao tác: In 17 tờ Print, 2 tờ Copy, đo nồng độ màu thủ công mất 192s, thiết lập xuất hàng.</a:t>
            </a:r>
          </a:p>
          <a:p>
            <a:pPr>
              <a:spcAft>
                <a:spcPts val="300"/>
              </a:spcAft>
              <a:defRPr sz="1200">
                <a:solidFill>
                  <a:srgbClr val="1E242B"/>
                </a:solidFill>
                <a:latin typeface="Times New Roman"/>
              </a:defRPr>
            </a:pPr>
            <a:r>
              <a:rPr sz="1200">
                <a:latin typeface="Times New Roman"/>
              </a:rPr>
              <a:t>Điểm nghẽn: Quá tải cụm in và đo ảnh; Cell A11 đã giảm từ 6 xuống 5 Cell, không thể bố trí thêm vị trí thao tác.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2. MỤC TIÊU PHÁT TRIỂN</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Mục tiêu phát triển Công đoạn điều chỉnh thân máy IrisEXP (Theo tài liệu của bác Goto)</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4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Mục tiêu phát triển của bác Goto: Tăng gấp đôi năng suất (≥30,38 máy/người/ngày), cắt giảm 50% thời gian thao tác và nhân sự, giữ nguyên diện tích chuyền hiện có.</a:t>
            </a:r>
          </a:p>
        </p:txBody>
      </p:sp>
      <p:sp>
        <p:nvSpPr>
          <p:cNvPr id="7" name="Rectangle 6"/>
          <p:cNvSpPr/>
          <p:nvPr/>
        </p:nvSpPr>
        <p:spPr>
          <a:xfrm>
            <a:off x="256032" y="1234440"/>
            <a:ext cx="3767328" cy="24231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34440"/>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1: BẢO CHỨNG MODULE</a:t>
            </a:r>
          </a:p>
        </p:txBody>
      </p:sp>
      <p:sp>
        <p:nvSpPr>
          <p:cNvPr id="9" name="TextBox 8"/>
          <p:cNvSpPr txBox="1"/>
          <p:nvPr/>
        </p:nvSpPr>
        <p:spPr>
          <a:xfrm>
            <a:off x="347472" y="1618488"/>
            <a:ext cx="3584448" cy="20025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Định hướng thiết kế: Thiết lập bảo chứng theo từng module, chuyển thao tác kiểm tra về thượng nguồn.</a:t>
            </a:r>
          </a:p>
          <a:p>
            <a:pPr>
              <a:spcAft>
                <a:spcPts val="300"/>
              </a:spcAft>
              <a:defRPr sz="1200">
                <a:solidFill>
                  <a:srgbClr val="1E242B"/>
                </a:solidFill>
                <a:latin typeface="Times New Roman"/>
              </a:defRPr>
            </a:pPr>
            <a:r>
              <a:t>Mục tiêu cụ thể: Cắt giảm từ một nửa đến toàn bộ công sức tại ít nhất 3 hạng mục:</a:t>
            </a:r>
          </a:p>
          <a:p>
            <a:pPr>
              <a:spcAft>
                <a:spcPts val="300"/>
              </a:spcAft>
              <a:defRPr sz="1200">
                <a:solidFill>
                  <a:srgbClr val="1E242B"/>
                </a:solidFill>
                <a:latin typeface="Times New Roman"/>
              </a:defRPr>
            </a:pPr>
            <a:r>
              <a:t>- Bỏ cài đặt ngưỡng mực thải WTB U155.</a:t>
            </a:r>
          </a:p>
          <a:p>
            <a:pPr>
              <a:spcAft>
                <a:spcPts val="300"/>
              </a:spcAft>
              <a:defRPr sz="1200">
                <a:solidFill>
                  <a:srgbClr val="1E242B"/>
                </a:solidFill>
                <a:latin typeface="Times New Roman"/>
              </a:defRPr>
            </a:pPr>
            <a:r>
              <a:t>- Bỏ đo độ lệch Belt trung chuyển.</a:t>
            </a:r>
          </a:p>
          <a:p>
            <a:pPr>
              <a:spcAft>
                <a:spcPts val="300"/>
              </a:spcAft>
              <a:defRPr sz="1200">
                <a:solidFill>
                  <a:srgbClr val="1E242B"/>
                </a:solidFill>
                <a:latin typeface="Times New Roman"/>
              </a:defRPr>
            </a:pPr>
            <a:r>
              <a:t>- Tự động hóa kiểm tra an toàn điện (Đề án No.22).</a:t>
            </a:r>
          </a:p>
        </p:txBody>
      </p:sp>
      <p:sp>
        <p:nvSpPr>
          <p:cNvPr id="10" name="Rectangle 9"/>
          <p:cNvSpPr/>
          <p:nvPr/>
        </p:nvSpPr>
        <p:spPr>
          <a:xfrm>
            <a:off x="4206240" y="1234440"/>
            <a:ext cx="3767328" cy="24231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234440"/>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2: GIẢM THỜI GIAN &amp; TỜ IN</a:t>
            </a:r>
          </a:p>
        </p:txBody>
      </p:sp>
      <p:sp>
        <p:nvSpPr>
          <p:cNvPr id="12" name="TextBox 11"/>
          <p:cNvSpPr txBox="1"/>
          <p:nvPr/>
        </p:nvSpPr>
        <p:spPr>
          <a:xfrm>
            <a:off x="4297679" y="1618488"/>
            <a:ext cx="3584448" cy="20025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Thời gian tiêu chuẩn: Giảm 50% thời gian thao tác (1.083s xuống ≤ 541s/máy; gross 2.350s xuống ≤ 1.175s).</a:t>
            </a:r>
          </a:p>
          <a:p>
            <a:pPr>
              <a:spcAft>
                <a:spcPts val="300"/>
              </a:spcAft>
              <a:defRPr sz="1200">
                <a:solidFill>
                  <a:srgbClr val="1E242B"/>
                </a:solidFill>
                <a:latin typeface="Times New Roman"/>
              </a:defRPr>
            </a:pPr>
            <a:r>
              <a:t>Số tờ in kiểm tra: Cắt giảm một nửa số lượng bản in:</a:t>
            </a:r>
          </a:p>
          <a:p>
            <a:pPr>
              <a:spcAft>
                <a:spcPts val="300"/>
              </a:spcAft>
              <a:defRPr sz="1200">
                <a:solidFill>
                  <a:srgbClr val="1E242B"/>
                </a:solidFill>
                <a:latin typeface="Times New Roman"/>
              </a:defRPr>
            </a:pPr>
            <a:r>
              <a:t>- Bản in Print: Cắt giảm từ 17 tờ xuống 9 tờ.</a:t>
            </a:r>
          </a:p>
          <a:p>
            <a:pPr>
              <a:spcAft>
                <a:spcPts val="300"/>
              </a:spcAft>
              <a:defRPr sz="1200">
                <a:solidFill>
                  <a:srgbClr val="1E242B"/>
                </a:solidFill>
                <a:latin typeface="Times New Roman"/>
              </a:defRPr>
            </a:pPr>
            <a:r>
              <a:t>- Bản in Copy: Cắt giảm từ 2 tờ xuống 1 tờ.</a:t>
            </a:r>
          </a:p>
          <a:p>
            <a:pPr>
              <a:spcAft>
                <a:spcPts val="300"/>
              </a:spcAft>
              <a:defRPr sz="1200">
                <a:solidFill>
                  <a:srgbClr val="1E242B"/>
                </a:solidFill>
                <a:latin typeface="Times New Roman"/>
              </a:defRPr>
            </a:pPr>
            <a:r>
              <a:t>Phần mềm: Ứng dụng AI phân tích video thao tác tìm lãng phí.</a:t>
            </a:r>
          </a:p>
        </p:txBody>
      </p:sp>
      <p:sp>
        <p:nvSpPr>
          <p:cNvPr id="13" name="Rectangle 12"/>
          <p:cNvSpPr/>
          <p:nvPr/>
        </p:nvSpPr>
        <p:spPr>
          <a:xfrm>
            <a:off x="8156448" y="1234440"/>
            <a:ext cx="3779215" cy="242316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6448" y="1234440"/>
            <a:ext cx="3779215"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PHƯƠNG CHÂM 3: TỰ ĐỘNG HÓA &amp; X2 NĂNG SUẤT</a:t>
            </a:r>
          </a:p>
        </p:txBody>
      </p:sp>
      <p:sp>
        <p:nvSpPr>
          <p:cNvPr id="15" name="TextBox 14"/>
          <p:cNvSpPr txBox="1"/>
          <p:nvPr/>
        </p:nvSpPr>
        <p:spPr>
          <a:xfrm>
            <a:off x="8247888" y="1618488"/>
            <a:ext cx="3596335" cy="20025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Tự động hóa công đoạn: Triển khai 7 cụm thao tác lớn gồm JIG an toàn điện, Camera đo màu, khay nạp DP và phần mềm mạng Spica.</a:t>
            </a:r>
          </a:p>
          <a:p>
            <a:pPr>
              <a:spcAft>
                <a:spcPts val="300"/>
              </a:spcAft>
              <a:defRPr sz="1200">
                <a:solidFill>
                  <a:srgbClr val="1E242B"/>
                </a:solidFill>
                <a:latin typeface="Times New Roman"/>
              </a:defRPr>
            </a:pPr>
            <a:r>
              <a:t>Mục tiêu tại KDTVN: Tăng năng suất một người lên gấp đôi (15,19 lên ≥ 30,38 máy/ngày); giảm 50% nhân sự (16 đến 18 người xuống 8 đến 9 người).</a:t>
            </a:r>
          </a:p>
        </p:txBody>
      </p:sp>
      <p:graphicFrame>
        <p:nvGraphicFramePr>
          <p:cNvPr id="16" name="Table 15"/>
          <p:cNvGraphicFramePr>
            <a:graphicFrameLocks noGrp="1"/>
          </p:cNvGraphicFramePr>
          <p:nvPr/>
        </p:nvGraphicFramePr>
        <p:xfrm>
          <a:off x="256032" y="3794760"/>
          <a:ext cx="11679631" cy="2697480"/>
        </p:xfrm>
        <a:graphic>
          <a:graphicData uri="http://schemas.openxmlformats.org/drawingml/2006/table">
            <a:tbl>
              <a:tblPr firstRow="1" bandRow="1">
                <a:tableStyleId>{5C22544A-7EE6-4342-B048-85BDC9FD1C3A}</a:tableStyleId>
              </a:tblPr>
              <a:tblGrid>
                <a:gridCol w="2926080"/>
                <a:gridCol w="4114800"/>
                <a:gridCol w="4638751"/>
              </a:tblGrid>
              <a:tr h="674370">
                <a:tc>
                  <a:txBody>
                    <a:bodyPr wrap="square"/>
                    <a:lstStyle/>
                    <a:p>
                      <a:pPr algn="ctr">
                        <a:defRPr sz="1250" b="1">
                          <a:solidFill>
                            <a:srgbClr val="FFFFFF"/>
                          </a:solidFill>
                          <a:latin typeface="Times New Roman"/>
                        </a:defRPr>
                      </a:pPr>
                      <a:r>
                        <a:t>Mục tiêu định lượng</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Hoạt động phát triển cơ bản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Đề án triển khai trọng tâm tại Việt Nam (Theo Sheet VN1)</a:t>
                      </a:r>
                    </a:p>
                  </a:txBody>
                  <a:tcPr anchor="ctr" marL="36576" marR="36576" marT="13716" marB="13716">
                    <a:solidFill>
                      <a:srgbClr val="1B365D"/>
                    </a:solidFill>
                  </a:tcPr>
                </a:tc>
              </a:tr>
              <a:tr h="674370">
                <a:tc>
                  <a:txBody>
                    <a:bodyPr wrap="square"/>
                    <a:lstStyle/>
                    <a:p>
                      <a:pPr algn="l">
                        <a:defRPr sz="1200" b="1">
                          <a:solidFill>
                            <a:srgbClr val="1E242B"/>
                          </a:solidFill>
                          <a:latin typeface="Times New Roman"/>
                        </a:defRPr>
                      </a:pPr>
                      <a:r>
                        <a:t>Tăng gấp đôi năng suất</a:t>
                      </a:r>
                      <a:br/>
                      <a:r>
                        <a:t>(≥ 30,38 máy/người/ngày)</a:t>
                      </a:r>
                      <a:br/>
                      <a:r>
                        <a:t>Giảm 50% nhân sự (còn 8 đến 9)</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1. Bố trí lại chuyền và bảo chứng module:</a:t>
                      </a:r>
                      <a:br/>
                      <a:r>
                        <a:t>Chuyển kiểm tra về cụm lắp ráp phụ hoặc xóa bỏ thao tác thừa</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Áp dụng hệ Host PC và Spica Mini PC, gộp 8 trạm thành 4 cụm A-1 đến A-4.</a:t>
                      </a:r>
                      <a:br/>
                      <a:r>
                        <a:t>Bỏ cài đặt WTB U155; bỏ bấm tay U201; chuyển 6 tấm vỏ về Lắp ráp.</a:t>
                      </a:r>
                    </a:p>
                  </a:txBody>
                  <a:tcPr anchor="ctr" marL="36576" marR="36576" marT="13716" marB="13716">
                    <a:solidFill>
                      <a:srgbClr val="E8EEF5"/>
                    </a:solidFill>
                  </a:tcPr>
                </a:tc>
              </a:tr>
              <a:tr h="674370">
                <a:tc>
                  <a:txBody>
                    <a:bodyPr wrap="square"/>
                    <a:lstStyle/>
                    <a:p>
                      <a:pPr algn="l">
                        <a:defRPr sz="1200" b="1">
                          <a:solidFill>
                            <a:srgbClr val="1E242B"/>
                          </a:solidFill>
                          <a:latin typeface="Times New Roman"/>
                        </a:defRPr>
                      </a:pPr>
                      <a:r>
                        <a:t>Giảm 50% thời gian thao tác</a:t>
                      </a:r>
                      <a:br/>
                      <a:r>
                        <a:t>(1.083s xuống ≤ 541s)</a:t>
                      </a:r>
                      <a:br/>
                      <a:r>
                        <a:t>Giảm tờ in: Print 17-&gt;9, Copy 2-&gt;1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2. Giảm số bản in test và bỏ bước lặp:</a:t>
                      </a:r>
                      <a:br/>
                      <a:r>
                        <a:t>Tích hợp các tờ in kiểm tra và gộp lệnh phần mềm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Hủy in RCG trước U950; gộp RCG Ledger và LSU Skew vào Color Regist.</a:t>
                      </a:r>
                      <a:br/>
                      <a:r>
                        <a:t>Gộp Calibration U410 thành 1 lệnh; gộp Mono vào Check Black; gộp Copy DC-1 + Gray.</a:t>
                      </a:r>
                    </a:p>
                  </a:txBody>
                  <a:tcPr anchor="ctr" marL="36576" marR="36576" marT="13716" marB="13716">
                    <a:solidFill>
                      <a:srgbClr val="FFFFFF"/>
                    </a:solidFill>
                  </a:tcPr>
                </a:tc>
              </a:tr>
              <a:tr h="674370">
                <a:tc>
                  <a:txBody>
                    <a:bodyPr wrap="square"/>
                    <a:lstStyle/>
                    <a:p>
                      <a:pPr algn="l">
                        <a:defRPr sz="1200" b="1">
                          <a:solidFill>
                            <a:srgbClr val="1E242B"/>
                          </a:solidFill>
                          <a:latin typeface="Times New Roman"/>
                        </a:defRPr>
                      </a:pPr>
                      <a:r>
                        <a:t>Tự động hóa 7 cụm thao tác</a:t>
                      </a:r>
                      <a:br/>
                      <a:r>
                        <a:t>Cpk công đoạn khi sản xuất MP ≥ 1,33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3. Tự động hóa bằng đồ gá, camera, khay DP:</a:t>
                      </a:r>
                      <a:br/>
                      <a:r>
                        <a:t>Thu thập dữ liệu liên kết chất lượng module với ảnh chụp</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Gá kết nối nhanh Option (No.21); JIG tự động đo an toàn điện No.22 (101,69 triệu VNĐ).</a:t>
                      </a:r>
                      <a:br/>
                      <a:r>
                        <a:t>Quét liên tục bằng khay DP (No.25); Camera HIKROBOT đo nồng độ và lề bản in (No.27).</a:t>
                      </a:r>
                    </a:p>
                  </a:txBody>
                  <a:tcPr anchor="ctr" marL="36576" marR="36576" marT="13716" marB="13716">
                    <a:solidFill>
                      <a:srgbClr val="EAF7EE"/>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3. PHƯƠNG CHÂM THỰC HIỆN</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Phương châm thực hiện của 3 cứ điểm (JP - CN - VN) và Vai trò trọng tâm của Việt Nam</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5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Nhật Bản định hướng thiết kế và điều phối kỹ thuật; Việt Nam và Trung Quốc chủ động xử lý tại xưởng; ba cứ điểm đồng bộ trên tài liệu chung.</a:t>
            </a:r>
          </a:p>
        </p:txBody>
      </p:sp>
      <p:sp>
        <p:nvSpPr>
          <p:cNvPr id="7" name="Rounded Rectangle 6"/>
          <p:cNvSpPr/>
          <p:nvPr/>
        </p:nvSpPr>
        <p:spPr>
          <a:xfrm>
            <a:off x="256032" y="1234440"/>
            <a:ext cx="11679631" cy="777240"/>
          </a:xfrm>
          <a:prstGeom prst="roundRect">
            <a:avLst/>
          </a:prstGeom>
          <a:solidFill>
            <a:srgbClr val="1B365D"/>
          </a:solidFill>
          <a:ln w="2540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wrap="square" tIns="73152"/>
          <a:lstStyle/>
          <a:p>
            <a:pPr algn="ctr">
              <a:defRPr sz="1550" b="1">
                <a:solidFill>
                  <a:srgbClr val="F5B041"/>
                </a:solidFill>
                <a:latin typeface="Times New Roman"/>
              </a:defRPr>
            </a:pPr>
            <a:r>
              <a:t>PHƯƠNG CHÂM PHỐI HỢP: NHẬT BẢN ĐỊNH HƯỚNG, NHÀ MÁY CHỦ ĐỘNG, BA CỨ ĐIỂM ĐỒNG BỘ</a:t>
            </a:r>
          </a:p>
          <a:p>
            <a:pPr algn="ctr">
              <a:defRPr sz="1200">
                <a:solidFill>
                  <a:srgbClr val="FFFFFF"/>
                </a:solidFill>
                <a:latin typeface="Times New Roman"/>
              </a:defRPr>
            </a:pPr>
            <a:r>
              <a:t>Nhật Bản định hướng kỹ thuật  |  Việt Nam và Trung Quốc chủ động tại xưởng  |  Họp định kỳ hàng tuần cùng tháo gỡ vướng mắc</a:t>
            </a:r>
          </a:p>
        </p:txBody>
      </p:sp>
      <p:sp>
        <p:nvSpPr>
          <p:cNvPr id="8" name="Rectangle 7"/>
          <p:cNvSpPr/>
          <p:nvPr/>
        </p:nvSpPr>
        <p:spPr>
          <a:xfrm>
            <a:off x="256032" y="2103120"/>
            <a:ext cx="3767328"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2103120"/>
            <a:ext cx="3767328"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1. NHẬT BẢN (KDC): ĐỊNH HƯỚNG &amp; REVIEW</a:t>
            </a:r>
          </a:p>
        </p:txBody>
      </p:sp>
      <p:sp>
        <p:nvSpPr>
          <p:cNvPr id="10" name="TextBox 9"/>
          <p:cNvSpPr txBox="1"/>
          <p:nvPr/>
        </p:nvSpPr>
        <p:spPr>
          <a:xfrm>
            <a:off x="347472" y="2487168"/>
            <a:ext cx="3584448"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Định hướng thiết kế tổng thể: Xây dựng cấu trúc chuẩn công đoạn Bảo chứng thân máy và lộ trình kỹ thuật.</a:t>
            </a:r>
          </a:p>
          <a:p>
            <a:pPr>
              <a:spcAft>
                <a:spcPts val="300"/>
              </a:spcAft>
              <a:defRPr sz="1200">
                <a:solidFill>
                  <a:srgbClr val="1E242B"/>
                </a:solidFill>
                <a:latin typeface="Times New Roman"/>
              </a:defRPr>
            </a:pPr>
            <a:r>
              <a:t>Đánh giá và phê duyệt: Thẩm định tính khả thi và phê duyệt tiêu chuẩn kỹ thuật QA cho các đề án từ nhà máy.</a:t>
            </a:r>
          </a:p>
          <a:p>
            <a:pPr>
              <a:spcAft>
                <a:spcPts val="300"/>
              </a:spcAft>
              <a:defRPr sz="1200">
                <a:solidFill>
                  <a:srgbClr val="1E242B"/>
                </a:solidFill>
                <a:latin typeface="Times New Roman"/>
              </a:defRPr>
            </a:pPr>
            <a:r>
              <a:t>Điều phối kỹ thuật: Kết nối các bộ phận Thiết kế, Phần mềm, QA và Kỹ thuật sản xuất xử lý vướng mắc.</a:t>
            </a:r>
          </a:p>
        </p:txBody>
      </p:sp>
      <p:sp>
        <p:nvSpPr>
          <p:cNvPr id="11" name="Rectangle 10"/>
          <p:cNvSpPr/>
          <p:nvPr/>
        </p:nvSpPr>
        <p:spPr>
          <a:xfrm>
            <a:off x="4206240" y="2103120"/>
            <a:ext cx="3767328"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2103120"/>
            <a:ext cx="3767328" cy="347472"/>
          </a:xfrm>
          <a:prstGeom prst="rect">
            <a:avLst/>
          </a:prstGeom>
          <a:solidFill>
            <a:srgbClr val="2B547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2. TRUNG QUỐC &amp; VIỆT NAM: CHỦ ĐỘNG TẠI XƯỞNG</a:t>
            </a:r>
          </a:p>
        </p:txBody>
      </p:sp>
      <p:sp>
        <p:nvSpPr>
          <p:cNvPr id="13" name="TextBox 12"/>
          <p:cNvSpPr txBox="1"/>
          <p:nvPr/>
        </p:nvSpPr>
        <p:spPr>
          <a:xfrm>
            <a:off x="4297679" y="2487168"/>
            <a:ext cx="3584448"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Chủ động phát hiện vấn đề: Bấm giờ thao tác, phân tích video và bóc tách điểm nghẽn thực tế trên chuyền.</a:t>
            </a:r>
          </a:p>
          <a:p>
            <a:pPr>
              <a:spcAft>
                <a:spcPts val="300"/>
              </a:spcAft>
              <a:defRPr sz="1200">
                <a:solidFill>
                  <a:srgbClr val="1E242B"/>
                </a:solidFill>
                <a:latin typeface="Times New Roman"/>
              </a:defRPr>
            </a:pPr>
            <a:r>
              <a:t>Tự thiết kế giải pháp: Chế tạo đồ gá, lựa chọn thiết bị tự động hóa và tính toán hiệu quả đầu tư tại chỗ.</a:t>
            </a:r>
          </a:p>
          <a:p>
            <a:pPr>
              <a:spcAft>
                <a:spcPts val="300"/>
              </a:spcAft>
              <a:defRPr sz="1200">
                <a:solidFill>
                  <a:srgbClr val="1E242B"/>
                </a:solidFill>
                <a:latin typeface="Times New Roman"/>
              </a:defRPr>
            </a:pPr>
            <a:r>
              <a:t>Chủ động triển khai: Đo kiểm năng lực công đoạn và áp dụng ngay các nội dung đã được phê duyệt.</a:t>
            </a:r>
          </a:p>
        </p:txBody>
      </p:sp>
      <p:sp>
        <p:nvSpPr>
          <p:cNvPr id="14" name="Rectangle 13"/>
          <p:cNvSpPr/>
          <p:nvPr/>
        </p:nvSpPr>
        <p:spPr>
          <a:xfrm>
            <a:off x="8156448" y="2103120"/>
            <a:ext cx="3779215" cy="210312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2103120"/>
            <a:ext cx="3779215" cy="347472"/>
          </a:xfrm>
          <a:prstGeom prst="rect">
            <a:avLst/>
          </a:prstGeom>
          <a:solidFill>
            <a:srgbClr val="007A78"/>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3. BA CỨ ĐIỂM: CHIA SẺ &amp; PHỐI HỢP</a:t>
            </a:r>
          </a:p>
        </p:txBody>
      </p:sp>
      <p:sp>
        <p:nvSpPr>
          <p:cNvPr id="16" name="TextBox 15"/>
          <p:cNvSpPr txBox="1"/>
          <p:nvPr/>
        </p:nvSpPr>
        <p:spPr>
          <a:xfrm>
            <a:off x="8247888" y="2487168"/>
            <a:ext cx="3596335" cy="1682495"/>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Quản lý tập trung: Theo dõi đồng bộ toàn bộ 38 đề án (Nhật Bản: 7, Trung Quốc: 11, Việt Nam: 20) trên một tài liệu chung.</a:t>
            </a:r>
          </a:p>
          <a:p>
            <a:pPr>
              <a:spcAft>
                <a:spcPts val="300"/>
              </a:spcAft>
              <a:defRPr sz="1200">
                <a:solidFill>
                  <a:srgbClr val="1E242B"/>
                </a:solidFill>
                <a:latin typeface="Times New Roman"/>
              </a:defRPr>
            </a:pPr>
            <a:r>
              <a:t>Họp định kỳ hàng tuần: Chia sẻ tiến độ thực tế, dữ liệu thực nghiệm và khó khăn phát sinh để cùng tháo gỡ.</a:t>
            </a:r>
          </a:p>
          <a:p>
            <a:pPr>
              <a:spcAft>
                <a:spcPts val="300"/>
              </a:spcAft>
              <a:defRPr sz="1200">
                <a:solidFill>
                  <a:srgbClr val="1E242B"/>
                </a:solidFill>
                <a:latin typeface="Times New Roman"/>
              </a:defRPr>
            </a:pPr>
            <a:r>
              <a:t>Triển khai ngang: Đề án thành công tại một nhà máy được chia sẻ dữ liệu để nhân rộng cho cả ba cứ điểm.</a:t>
            </a:r>
          </a:p>
        </p:txBody>
      </p:sp>
      <p:sp>
        <p:nvSpPr>
          <p:cNvPr id="17" name="Rectangle 16"/>
          <p:cNvSpPr/>
          <p:nvPr/>
        </p:nvSpPr>
        <p:spPr>
          <a:xfrm>
            <a:off x="256032"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1: PHÂN TÍCH &amp; ĐỀ XUẤT</a:t>
            </a:r>
          </a:p>
        </p:txBody>
      </p:sp>
      <p:sp>
        <p:nvSpPr>
          <p:cNvPr id="19" name="TextBox 18"/>
          <p:cNvSpPr txBox="1"/>
          <p:nvPr/>
        </p:nvSpPr>
        <p:spPr>
          <a:xfrm>
            <a:off x="347472"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Phân tích thực tế chuyền Iris2024 (16 người, 1.083s); chủ động đề xuất 20 giải pháp cải tiến (chiếm 20/38 đề án của dự án).</a:t>
            </a:r>
          </a:p>
        </p:txBody>
      </p:sp>
      <p:sp>
        <p:nvSpPr>
          <p:cNvPr id="20" name="Rectangle 19"/>
          <p:cNvSpPr/>
          <p:nvPr/>
        </p:nvSpPr>
        <p:spPr>
          <a:xfrm>
            <a:off x="3209544"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9544"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2: PHỐI HỢP KIỂM CHỨNG</a:t>
            </a:r>
          </a:p>
        </p:txBody>
      </p:sp>
      <p:sp>
        <p:nvSpPr>
          <p:cNvPr id="22" name="TextBox 21"/>
          <p:cNvSpPr txBox="1"/>
          <p:nvPr/>
        </p:nvSpPr>
        <p:spPr>
          <a:xfrm>
            <a:off x="3300984"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Làm việc trực tiếp với Lắp ráp, QA, Thiết kế và Nhà cung cấp để thực nghiệm, kiểm chứng tính khả thi và lập danh mục BOM chi tiết.</a:t>
            </a:r>
          </a:p>
        </p:txBody>
      </p:sp>
      <p:sp>
        <p:nvSpPr>
          <p:cNvPr id="23" name="Rectangle 22"/>
          <p:cNvSpPr/>
          <p:nvPr/>
        </p:nvSpPr>
        <p:spPr>
          <a:xfrm>
            <a:off x="6163056"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63056"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3: TỰ THEO DÕI TIẾN ĐỘ</a:t>
            </a:r>
          </a:p>
        </p:txBody>
      </p:sp>
      <p:sp>
        <p:nvSpPr>
          <p:cNvPr id="25" name="TextBox 24"/>
          <p:cNvSpPr txBox="1"/>
          <p:nvPr/>
        </p:nvSpPr>
        <p:spPr>
          <a:xfrm>
            <a:off x="6254496"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Tự quản lý tiến độ hàng tháng theo biểu mục tiêu chất lượng PDCA (KDTVN-PE-3), đưa ngay các hạng mục đã chốt vào tài liệu SOP.</a:t>
            </a:r>
          </a:p>
        </p:txBody>
      </p:sp>
      <p:sp>
        <p:nvSpPr>
          <p:cNvPr id="26" name="Rectangle 25"/>
          <p:cNvSpPr/>
          <p:nvPr/>
        </p:nvSpPr>
        <p:spPr>
          <a:xfrm>
            <a:off x="9116567" y="4315968"/>
            <a:ext cx="2852928" cy="2176272"/>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16567" y="4315968"/>
            <a:ext cx="2852928"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BƯỚC 4: CẬP NHẬT &amp; BÁO CÁO</a:t>
            </a:r>
          </a:p>
        </p:txBody>
      </p:sp>
      <p:sp>
        <p:nvSpPr>
          <p:cNvPr id="28" name="TextBox 27"/>
          <p:cNvSpPr txBox="1"/>
          <p:nvPr/>
        </p:nvSpPr>
        <p:spPr>
          <a:xfrm>
            <a:off x="9208007" y="4700016"/>
            <a:ext cx="2670048" cy="1755648"/>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Cập nhật đầy đủ kết quả, rủi ro và kiến nghị hỗ trợ vào file chung; báo cáo định kỳ tại cuộc họp liên kết ba cứ điểm.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4.1 ĐỀ ÁN VIỆT NAM</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Tổng quan 20 đề án cải tiến của Việt Nam (No.18 ~ No.37) và 4 hạng mục tự động hóa</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6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Việt Nam đã lập 20 đề án cải tiến. Trong đó, 3 đề án tự động hóa theo file Iris EXPのVN提案.xlsx có tổng dự toán 855,69 triệu VNĐ (32.911,15 USD).</a:t>
            </a:r>
          </a:p>
        </p:txBody>
      </p:sp>
      <p:pic>
        <p:nvPicPr>
          <p:cNvPr id="7" name="Picture 6" descr="chart_s5_overview.png"/>
          <p:cNvPicPr>
            <a:picLocks noChangeAspect="1"/>
          </p:cNvPicPr>
          <p:nvPr/>
        </p:nvPicPr>
        <p:blipFill>
          <a:blip r:embed="rId2"/>
          <a:stretch>
            <a:fillRect/>
          </a:stretch>
        </p:blipFill>
        <p:spPr>
          <a:xfrm>
            <a:off x="256032" y="1234440"/>
            <a:ext cx="5257800" cy="2289687"/>
          </a:xfrm>
          <a:prstGeom prst="rect">
            <a:avLst/>
          </a:prstGeom>
        </p:spPr>
      </p:pic>
      <p:graphicFrame>
        <p:nvGraphicFramePr>
          <p:cNvPr id="8" name="Table 7"/>
          <p:cNvGraphicFramePr>
            <a:graphicFrameLocks noGrp="1"/>
          </p:cNvGraphicFramePr>
          <p:nvPr/>
        </p:nvGraphicFramePr>
        <p:xfrm>
          <a:off x="5623560" y="1234440"/>
          <a:ext cx="6309360" cy="2560320"/>
        </p:xfrm>
        <a:graphic>
          <a:graphicData uri="http://schemas.openxmlformats.org/drawingml/2006/table">
            <a:tbl>
              <a:tblPr firstRow="1" bandRow="1">
                <a:tableStyleId>{5C22544A-7EE6-4342-B048-85BDC9FD1C3A}</a:tableStyleId>
              </a:tblPr>
              <a:tblGrid>
                <a:gridCol w="1417320"/>
                <a:gridCol w="1554480"/>
                <a:gridCol w="1600200"/>
                <a:gridCol w="1737360"/>
              </a:tblGrid>
              <a:tr h="426720">
                <a:tc>
                  <a:txBody>
                    <a:bodyPr wrap="square"/>
                    <a:lstStyle/>
                    <a:p>
                      <a:pPr algn="ctr">
                        <a:defRPr sz="1250" b="1">
                          <a:solidFill>
                            <a:srgbClr val="FFFFFF"/>
                          </a:solidFill>
                          <a:latin typeface="Times New Roman"/>
                        </a:defRPr>
                      </a:pPr>
                      <a:r>
                        <a:t>Cụm 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Mã đề án VN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Thời gian giảm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dự toán</a:t>
                      </a:r>
                    </a:p>
                  </a:txBody>
                  <a:tcPr anchor="ctr" marL="36576" marR="36576" marT="13716" marB="13716">
                    <a:solidFill>
                      <a:srgbClr val="1B365D"/>
                    </a:solidFill>
                  </a:tcPr>
                </a:tc>
              </a:tr>
              <a:tr h="426720">
                <a:tc>
                  <a:txBody>
                    <a:bodyPr wrap="square"/>
                    <a:lstStyle/>
                    <a:p>
                      <a:pPr algn="l">
                        <a:defRPr sz="1200" b="1">
                          <a:solidFill>
                            <a:srgbClr val="1E242B"/>
                          </a:solidFill>
                          <a:latin typeface="Times New Roman"/>
                        </a:defRPr>
                      </a:pPr>
                      <a:r>
                        <a:t>A-1 (Nạp FW, TLBĐ)</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No.18, 19, 20, 29, 30</a:t>
                      </a:r>
                      <a:br/>
                      <a:r>
                        <a:t>+ FW Partner</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-112,5s ~ -124,5s</a:t>
                      </a:r>
                      <a:br/>
                      <a:r>
                        <a:t>(Giảm 1 người)</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3 Đang lấy báo giá</a:t>
                      </a:r>
                      <a:br/>
                      <a:r>
                        <a:t>2 Cải tiến 0đ thiết kế</a:t>
                      </a:r>
                    </a:p>
                  </a:txBody>
                  <a:tcPr anchor="ctr" marL="36576" marR="36576" marT="13716" marB="13716">
                    <a:solidFill>
                      <a:srgbClr val="FFFFFF"/>
                    </a:solidFill>
                  </a:tcPr>
                </a:tc>
              </a:tr>
              <a:tr h="426720">
                <a:tc>
                  <a:txBody>
                    <a:bodyPr wrap="square"/>
                    <a:lstStyle/>
                    <a:p>
                      <a:pPr algn="l">
                        <a:defRPr sz="1200" b="1">
                          <a:solidFill>
                            <a:srgbClr val="1E242B"/>
                          </a:solidFill>
                          <a:latin typeface="Times New Roman"/>
                        </a:defRPr>
                      </a:pPr>
                      <a:r>
                        <a:t>A-2 (Option, Scan)</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No.21, 23, 24, 25, 31</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-154,0s ~ -170,0s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Thay Robot bằng khay DP</a:t>
                      </a:r>
                      <a:br/>
                      <a:r>
                        <a:t>Tiết kiệm 754 triệu VNĐ</a:t>
                      </a:r>
                    </a:p>
                  </a:txBody>
                  <a:tcPr anchor="ctr" marL="36576" marR="36576" marT="13716" marB="13716">
                    <a:solidFill>
                      <a:srgbClr val="F7F9FC"/>
                    </a:solidFill>
                  </a:tcPr>
                </a:tc>
              </a:tr>
              <a:tr h="426720">
                <a:tc>
                  <a:txBody>
                    <a:bodyPr wrap="square"/>
                    <a:lstStyle/>
                    <a:p>
                      <a:pPr algn="l">
                        <a:defRPr sz="1200" b="1">
                          <a:solidFill>
                            <a:srgbClr val="1E242B"/>
                          </a:solidFill>
                          <a:latin typeface="Times New Roman"/>
                        </a:defRPr>
                      </a:pPr>
                      <a:r>
                        <a:t>A-3 (An toàn điện)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No.22, 33, 34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-158,3s ~ -200,0s</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No.22: 101,69 triệu VNĐ</a:t>
                      </a:r>
                      <a:br/>
                      <a:r>
                        <a:t>(3.911 USD / BOM 25 mục)</a:t>
                      </a:r>
                    </a:p>
                  </a:txBody>
                  <a:tcPr anchor="ctr" marL="36576" marR="36576" marT="13716" marB="13716">
                    <a:solidFill>
                      <a:srgbClr val="EAF7EE"/>
                    </a:solidFill>
                  </a:tcPr>
                </a:tc>
              </a:tr>
              <a:tr h="426720">
                <a:tc>
                  <a:txBody>
                    <a:bodyPr wrap="square"/>
                    <a:lstStyle/>
                    <a:p>
                      <a:pPr algn="l">
                        <a:defRPr sz="1200" b="1">
                          <a:solidFill>
                            <a:srgbClr val="1E242B"/>
                          </a:solidFill>
                          <a:latin typeface="Times New Roman"/>
                        </a:defRPr>
                      </a:pPr>
                      <a:r>
                        <a:t>A-4 (Ảnh, Âm, Xuất)</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No.26, 27, 28, 35, 37</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-227,0s ~ -265,0s</a:t>
                      </a:r>
                      <a:br/>
                      <a:r>
                        <a:t>(Giảm ~2 người)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Camera No.27 (-177s)</a:t>
                      </a:r>
                      <a:br/>
                      <a:r>
                        <a:t>Xuất qua mạng (-50s)</a:t>
                      </a:r>
                    </a:p>
                  </a:txBody>
                  <a:tcPr anchor="ctr" marL="36576" marR="36576" marT="13716" marB="13716">
                    <a:solidFill>
                      <a:srgbClr val="F7F9FC"/>
                    </a:solidFill>
                  </a:tcPr>
                </a:tc>
              </a:tr>
              <a:tr h="426720">
                <a:tc>
                  <a:txBody>
                    <a:bodyPr wrap="square"/>
                    <a:lstStyle/>
                    <a:p>
                      <a:pPr algn="l">
                        <a:defRPr sz="1200" b="1">
                          <a:solidFill>
                            <a:srgbClr val="1E242B"/>
                          </a:solidFill>
                          <a:latin typeface="Times New Roman"/>
                        </a:defRPr>
                      </a:pPr>
                      <a:r>
                        <a:t>TỔNG CỘNG VN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20 Đề án (No.18 ~ 37)</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~600s (-50%)</a:t>
                      </a:r>
                      <a:br/>
                      <a:r>
                        <a:t>Đạt mục tiêu x2 NS</a:t>
                      </a:r>
                    </a:p>
                  </a:txBody>
                  <a:tcPr anchor="ctr" marL="36576" marR="36576" marT="13716" marB="13716">
                    <a:solidFill>
                      <a:srgbClr val="E8EEF5"/>
                    </a:solidFill>
                  </a:tcPr>
                </a:tc>
                <a:tc>
                  <a:txBody>
                    <a:bodyPr wrap="square"/>
                    <a:lstStyle/>
                    <a:p>
                      <a:pPr algn="l">
                        <a:defRPr sz="1200" b="1">
                          <a:solidFill>
                            <a:srgbClr val="1E6E3E"/>
                          </a:solidFill>
                          <a:latin typeface="Times New Roman"/>
                        </a:defRPr>
                      </a:pPr>
                      <a:r>
                        <a:t>3 ĐA: 855,69 triệu VNĐ</a:t>
                      </a:r>
                      <a:br/>
                      <a:r>
                        <a:t>(Duyệt No.22: 101,69 tr)</a:t>
                      </a:r>
                    </a:p>
                  </a:txBody>
                  <a:tcPr anchor="ctr" marL="36576" marR="36576" marT="13716" marB="13716">
                    <a:solidFill>
                      <a:srgbClr val="E8EEF5"/>
                    </a:solidFill>
                  </a:tcPr>
                </a:tc>
              </a:tr>
            </a:tbl>
          </a:graphicData>
        </a:graphic>
      </p:graphicFrame>
      <p:sp>
        <p:nvSpPr>
          <p:cNvPr id="9" name="Rectangle 8"/>
          <p:cNvSpPr/>
          <p:nvPr/>
        </p:nvSpPr>
        <p:spPr>
          <a:xfrm>
            <a:off x="256032" y="3977639"/>
            <a:ext cx="11679631" cy="251460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3977639"/>
            <a:ext cx="11679631"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CƠ CẤU 4 HẠNG MỤC TỰ ĐỘNG HÓA TRONG FILE DỰ TOÁN IRIS EXPのVN提案.xlsx (TỶ GIÁ 26.000 VNĐ/USD)</a:t>
            </a:r>
          </a:p>
        </p:txBody>
      </p:sp>
      <p:sp>
        <p:nvSpPr>
          <p:cNvPr id="11" name="TextBox 10"/>
          <p:cNvSpPr txBox="1"/>
          <p:nvPr/>
        </p:nvSpPr>
        <p:spPr>
          <a:xfrm>
            <a:off x="347472" y="4361688"/>
            <a:ext cx="11496751" cy="209397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Đề án 1 (No.22 - Tự động đo an toàn điện, 30s): Chế tạo JIG tự động PLC FX5U và xi lanh SMC đo khi đóng nắp máy. Đã có báo giá BOM 25 mục là 101,69 triệu VNĐ (3.911,15 USD; làm tròn 4.000 USD), tiết kiệm 29,6 triệu VNĐ/năm.</a:t>
            </a:r>
          </a:p>
          <a:p>
            <a:pPr>
              <a:spcAft>
                <a:spcPts val="300"/>
              </a:spcAft>
              <a:defRPr sz="1200">
                <a:solidFill>
                  <a:srgbClr val="1E242B"/>
                </a:solidFill>
                <a:latin typeface="Times New Roman"/>
              </a:defRPr>
            </a:pPr>
            <a:r>
              <a:t>Đề án 2 (No.23 - Tự động đặt bản thảo ISU, 110s): Báo giá Robot là 650 triệu VNĐ (25.000 USD). Sau DR4, nhóm thống nhất hủy Robot đắt tiền, chuyển sang dùng khay nạp DP (No.25) quét liên tục.</a:t>
            </a:r>
          </a:p>
          <a:p>
            <a:pPr>
              <a:spcAft>
                <a:spcPts val="300"/>
              </a:spcAft>
              <a:defRPr sz="1200">
                <a:solidFill>
                  <a:srgbClr val="1E242B"/>
                </a:solidFill>
                <a:latin typeface="Times New Roman"/>
              </a:defRPr>
            </a:pPr>
            <a:r>
              <a:t>Đề án 3 (No.24 - Kiểm tra USB và tọa độ U201, 30s): Báo giá Robot là 104 triệu VNĐ (4.000 USD). Thống nhất hủy Robot, đọc log U201 qua Host PC (JP No.3) và xác nhận USB khi nạp FW với chi phí 0 đồng.</a:t>
            </a:r>
          </a:p>
          <a:p>
            <a:pPr>
              <a:spcAft>
                <a:spcPts val="300"/>
              </a:spcAft>
              <a:defRPr sz="1200">
                <a:solidFill>
                  <a:srgbClr val="1E242B"/>
                </a:solidFill>
                <a:latin typeface="Times New Roman"/>
              </a:defRPr>
            </a:pPr>
            <a:r>
              <a:t>Đề án 4 (No.25 - Bổ sung khay DP vào máy thực nghiệm): Kéo quét bản in liên tục thay cho đặt tay từng tờ, gửi ảnh về PC tự động chấm điểm.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4.2 ĐỀ ÁN VN (CỤM ĐẦU)</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các đề án tự động hóa của Việt Nam: Cụm A-1, A-2, A-3 (No.18 ~ No.22 &amp; Nạp FW)</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7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Cụm trạm đầu giảm từ 173s đến 185s mỗi máy, giảm 1 người tại trạm A-1. Đề án No.22 đã hoàn tất báo giá BOM 25 linh kiện với tổng kinh phí 101,69 triệu VNĐ (3.911,15 USD).</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280160"/>
                <a:gridCol w="2468880"/>
                <a:gridCol w="4023360"/>
                <a:gridCol w="2103120"/>
                <a:gridCol w="1804111"/>
              </a:tblGrid>
              <a:tr h="751114">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cải tiến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kỹ thuật &amp; Phương án thống nhất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đạt được</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&amp; Tiến độ</a:t>
                      </a:r>
                    </a:p>
                  </a:txBody>
                  <a:tcPr anchor="ctr" marL="36576" marR="36576" marT="13716" marB="13716">
                    <a:solidFill>
                      <a:srgbClr val="1B365D"/>
                    </a:solidFill>
                  </a:tcPr>
                </a:tc>
              </a:tr>
              <a:tr h="751114">
                <a:tc>
                  <a:txBody>
                    <a:bodyPr wrap="square"/>
                    <a:lstStyle/>
                    <a:p>
                      <a:pPr algn="ctr">
                        <a:defRPr sz="1200" b="1">
                          <a:solidFill>
                            <a:srgbClr val="1E242B"/>
                          </a:solidFill>
                          <a:latin typeface="Times New Roman"/>
                        </a:defRPr>
                      </a:pPr>
                      <a:r>
                        <a:t>No.18</a:t>
                      </a:r>
                      <a:br/>
                      <a:r>
                        <a:t>(K1 -&gt;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Tự động nạp Firmware /</a:t>
                      </a:r>
                      <a:br/>
                      <a:r>
                        <a:t>Nạp đồng thời 4 máy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kế trạm A-1 cho 1 người vận hành nạp FW đồng thời 4 máy; tạm giữ cắm 2 USB song song theo kết luận DR4.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thời gian đứng chờ nạp FW;</a:t>
                      </a:r>
                      <a:br/>
                      <a:r>
                        <a:t>Tăng năng suất trạm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(Thiết kế chuẩn trạm A-1)</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Đề án FW</a:t>
                      </a:r>
                      <a:br/>
                      <a:r>
                        <a:t>(Trạm A-1)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nạp lại soft trên Line /</a:t>
                      </a:r>
                      <a:br/>
                      <a:r>
                        <a:t>Nạp sẵn tại Partner</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Chỉ nạp lại soft khi có phiên bản mới cập nhật sau xuất xưởng; bình thường Skip và đối chiếu Version qua Set Serial.</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13s ~ 25s thao tác tay;</a:t>
                      </a:r>
                      <a:br/>
                      <a:r>
                        <a:t>Giảm 1 người tại trạm A-1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0 VNĐ thiết bị</a:t>
                      </a:r>
                      <a:br/>
                      <a:r>
                        <a:t>(Đang chốt với Thiết kế JP)</a:t>
                      </a:r>
                    </a:p>
                  </a:txBody>
                  <a:tcPr anchor="ctr" marL="36576" marR="36576" marT="13716" marB="13716">
                    <a:solidFill>
                      <a:srgbClr val="E8EEF5"/>
                    </a:solidFill>
                  </a:tcPr>
                </a:tc>
              </a:tr>
              <a:tr h="751114">
                <a:tc>
                  <a:txBody>
                    <a:bodyPr wrap="square"/>
                    <a:lstStyle/>
                    <a:p>
                      <a:pPr algn="ctr">
                        <a:defRPr sz="1200" b="1">
                          <a:solidFill>
                            <a:srgbClr val="1E242B"/>
                          </a:solidFill>
                          <a:latin typeface="Times New Roman"/>
                        </a:defRPr>
                      </a:pPr>
                      <a:r>
                        <a:t>No.19</a:t>
                      </a:r>
                      <a:br/>
                      <a:r>
                        <a:t>(K1 -&gt; A-1)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Không tháo lắp nắp &amp; gá FW;</a:t>
                      </a:r>
                      <a:br/>
                      <a:r>
                        <a:t>Tự động đổi tiếng Anh</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Tích hợp script tự động đổi tiếng Anh sau thiết lập ban đầu (JP đã đồng ý); tận dụng 12 bộ gá hộp mực hiện có để giảm tháo lắp.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55s/máy tại trạm K1;</a:t>
                      </a:r>
                      <a:br/>
                      <a:r>
                        <a:t>Giảm 11 lần cắm/rút cáp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(Đổi tiếng Anh: Làm ngay)</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No.20</a:t>
                      </a:r>
                      <a:br/>
                      <a:r>
                        <a:t>(K1 -&gt; A-1)</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Truyền log qua mạng LAN &amp;</a:t>
                      </a:r>
                      <a:br/>
                      <a:r>
                        <a:t>Bỏ test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Truyền trực tiếp file log kiểm tra về Host PC qua mạng nội bộ; nộp dữ liệu độ bền bản lề xin QA duyệt bỏ test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10s lấy log USB;</a:t>
                      </a:r>
                      <a:br/>
                      <a:r>
                        <a:t>Giảm 5s thử khay không tải</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Đang báo giá</a:t>
                      </a:r>
                      <a:br/>
                      <a:r>
                        <a:t>(Tích hợp mạng Spica)</a:t>
                      </a:r>
                    </a:p>
                  </a:txBody>
                  <a:tcPr anchor="ctr" marL="36576" marR="36576" marT="13716" marB="13716">
                    <a:solidFill>
                      <a:srgbClr val="F7F9FC"/>
                    </a:solidFill>
                  </a:tcPr>
                </a:tc>
              </a:tr>
              <a:tr h="751114">
                <a:tc>
                  <a:txBody>
                    <a:bodyPr wrap="square"/>
                    <a:lstStyle/>
                    <a:p>
                      <a:pPr algn="ctr">
                        <a:defRPr sz="1200" b="1">
                          <a:solidFill>
                            <a:srgbClr val="1E242B"/>
                          </a:solidFill>
                          <a:latin typeface="Times New Roman"/>
                        </a:defRPr>
                      </a:pPr>
                      <a:r>
                        <a:t>No.21</a:t>
                      </a:r>
                      <a:br/>
                      <a:r>
                        <a:t>(K2 -&gt; A-2)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Đồ gá kết nối nhanh Option</a:t>
                      </a:r>
                      <a:br/>
                      <a:r>
                        <a:t>(1 chạm / nam châm)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Hủy ý tưởng dùng Robot cắm giắc; chuyển sang làm đồ gá 1 chạm / nam châm định vị giúp thao tác cắm cổng Option trong 40s.</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45s ~ 50s/máy;</a:t>
                      </a:r>
                      <a:br/>
                      <a:r>
                        <a:t>Chống gãy chân giắc Option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báo giá</a:t>
                      </a:r>
                      <a:br/>
                      <a:r>
                        <a:t>(Đang chế tạo thử nghiệm)</a:t>
                      </a:r>
                    </a:p>
                  </a:txBody>
                  <a:tcPr anchor="ctr" marL="36576" marR="36576" marT="13716" marB="13716">
                    <a:solidFill>
                      <a:srgbClr val="FFFFFF"/>
                    </a:solidFill>
                  </a:tcPr>
                </a:tc>
              </a:tr>
              <a:tr h="751116">
                <a:tc>
                  <a:txBody>
                    <a:bodyPr wrap="square"/>
                    <a:lstStyle/>
                    <a:p>
                      <a:pPr algn="ctr">
                        <a:defRPr sz="1200" b="1">
                          <a:solidFill>
                            <a:srgbClr val="1E242B"/>
                          </a:solidFill>
                          <a:latin typeface="Times New Roman"/>
                        </a:defRPr>
                      </a:pPr>
                      <a:r>
                        <a:t>No.22</a:t>
                      </a:r>
                      <a:br/>
                      <a:r>
                        <a:t>(K3 -&gt; A-3)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động kiểm tra an toàn điện</a:t>
                      </a:r>
                      <a:br/>
                      <a:r>
                        <a:t>(Đo khi đóng kín nắp)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Chế tạo JIG tự động PLC FX5U + SMC đo thông mạch tiếp đất và chịu áp cách điện ở trạng thái ĐÃ ĐÓNG KÍN VỎ MÁY theo chuẩn DR4.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30s/máy;</a:t>
                      </a:r>
                      <a:br/>
                      <a:r>
                        <a:t>Tiết kiệm 29,6 triệu VNĐ/năm;</a:t>
                      </a:r>
                      <a:br/>
                      <a:r>
                        <a:t>Chống sót bước an toàn điện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101.690.000 VNĐ</a:t>
                      </a:r>
                      <a:br/>
                      <a:r>
                        <a:t>(3.911,15 USD / BOM 25 mục)</a:t>
                      </a:r>
                      <a:br/>
                      <a:r>
                        <a:t>[Đề nghị duyệt Đợt 1]</a:t>
                      </a:r>
                    </a:p>
                  </a:txBody>
                  <a:tcPr anchor="ctr" marL="36576" marR="36576" marT="13716" marB="13716">
                    <a:solidFill>
                      <a:srgbClr val="EAF7EE"/>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4.3 ĐỀ ÁN VN (HÌNH ẢNH)</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các đề án tự động hóa của Việt Nam: Cụm Hình ảnh &amp; Xuất hàng (No.23 ~ No.28)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8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Khắc phục nút thắt tại cụm Hình ảnh bằng phương án nạp khay DP tự động (No.25 thay thế Robot No.23) và cụm Camera HIKROBOT đo nồng độ màu (No.27, giảm 177s đến 215s/máy).</a:t>
            </a:r>
          </a:p>
        </p:txBody>
      </p:sp>
      <p:graphicFrame>
        <p:nvGraphicFramePr>
          <p:cNvPr id="7" name="Table 6"/>
          <p:cNvGraphicFramePr>
            <a:graphicFrameLocks noGrp="1"/>
          </p:cNvGraphicFramePr>
          <p:nvPr/>
        </p:nvGraphicFramePr>
        <p:xfrm>
          <a:off x="256032" y="1234440"/>
          <a:ext cx="11679631" cy="3931920"/>
        </p:xfrm>
        <a:graphic>
          <a:graphicData uri="http://schemas.openxmlformats.org/drawingml/2006/table">
            <a:tbl>
              <a:tblPr firstRow="1" bandRow="1">
                <a:tableStyleId>{5C22544A-7EE6-4342-B048-85BDC9FD1C3A}</a:tableStyleId>
              </a:tblPr>
              <a:tblGrid>
                <a:gridCol w="1280160"/>
                <a:gridCol w="2468880"/>
                <a:gridCol w="4023360"/>
                <a:gridCol w="2103120"/>
                <a:gridCol w="1804111"/>
              </a:tblGrid>
              <a:tr h="655320">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tự động hóa</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kỹ thuật &amp; Phương án tối ưu chi phí sau DR4</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đạt được</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Kinh phí &amp; Đánh giá</a:t>
                      </a:r>
                    </a:p>
                  </a:txBody>
                  <a:tcPr anchor="ctr" marL="36576" marR="36576" marT="13716" marB="13716">
                    <a:solidFill>
                      <a:srgbClr val="1B365D"/>
                    </a:solidFill>
                  </a:tcPr>
                </a:tc>
              </a:tr>
              <a:tr h="655320">
                <a:tc>
                  <a:txBody>
                    <a:bodyPr wrap="square"/>
                    <a:lstStyle/>
                    <a:p>
                      <a:pPr algn="ctr">
                        <a:defRPr sz="1200" b="1">
                          <a:solidFill>
                            <a:srgbClr val="1E242B"/>
                          </a:solidFill>
                          <a:latin typeface="Times New Roman"/>
                        </a:defRPr>
                      </a:pPr>
                      <a:r>
                        <a:t>No.23</a:t>
                      </a:r>
                      <a:br/>
                      <a:r>
                        <a:t>(K4 -&gt; A-2)</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Tự động nạp bản thảo ISU</a:t>
                      </a:r>
                      <a:br/>
                      <a:r>
                        <a:t>(Robot ISU -&gt; Đổi sang DP)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phương án Robot đặt bản thảo lên kính (650 triệu / 25.000 USD) vì đắt và thu hồi vốn lâu; chuyển sang dùng khay nạp DP kéo quét liên tục.</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110s đặt bản thảo;</a:t>
                      </a:r>
                      <a:br/>
                      <a:r>
                        <a:t>Tiết kiệm 108,5 triệu VNĐ/năm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Báo giá Robot: 650 tr VNĐ</a:t>
                      </a:r>
                      <a:br/>
                      <a:r>
                        <a:t>-&gt; Đổi sang dùng khay DP</a:t>
                      </a:r>
                    </a:p>
                  </a:txBody>
                  <a:tcPr anchor="ctr" marL="36576" marR="36576" marT="13716" marB="13716">
                    <a:solidFill>
                      <a:srgbClr val="E8EEF5"/>
                    </a:solidFill>
                  </a:tcPr>
                </a:tc>
              </a:tr>
              <a:tr h="655320">
                <a:tc>
                  <a:txBody>
                    <a:bodyPr wrap="square"/>
                    <a:lstStyle/>
                    <a:p>
                      <a:pPr algn="ctr">
                        <a:defRPr sz="1200" b="1">
                          <a:solidFill>
                            <a:srgbClr val="1E242B"/>
                          </a:solidFill>
                          <a:latin typeface="Times New Roman"/>
                        </a:defRPr>
                      </a:pPr>
                      <a:r>
                        <a:t>No.24</a:t>
                      </a:r>
                      <a:br/>
                      <a:r>
                        <a:t>(K4 -&gt; A-2)</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Kiểm tra nhận diện USB &amp;</a:t>
                      </a:r>
                      <a:br/>
                      <a:r>
                        <a:t>Tọa độ U201 trên Panel</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đầu tư Robot USB + chấm U201 (104 triệu / 4.000 USD); thay bằng đọc log U201 qua Host PC (JP No.3) và xác nhận USB khi nạp FW đầu chuyền.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Giảm 30s/máy;</a:t>
                      </a:r>
                      <a:br/>
                      <a:r>
                        <a:t>Tiết kiệm 29,6 triệu VNĐ/năm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Báo giá Robot: 104 tr VNĐ</a:t>
                      </a:r>
                      <a:br/>
                      <a:r>
                        <a:t>-&gt; Thay bằng Host PC (0đ)</a:t>
                      </a:r>
                    </a:p>
                  </a:txBody>
                  <a:tcPr anchor="ctr" marL="36576" marR="36576" marT="13716" marB="13716">
                    <a:solidFill>
                      <a:srgbClr val="E8EEF5"/>
                    </a:solidFill>
                  </a:tcPr>
                </a:tc>
              </a:tr>
              <a:tr h="655320">
                <a:tc>
                  <a:txBody>
                    <a:bodyPr wrap="square"/>
                    <a:lstStyle/>
                    <a:p>
                      <a:pPr algn="ctr">
                        <a:defRPr sz="1200" b="1">
                          <a:solidFill>
                            <a:srgbClr val="1E242B"/>
                          </a:solidFill>
                          <a:latin typeface="Times New Roman"/>
                        </a:defRPr>
                      </a:pPr>
                      <a:r>
                        <a:t>No.25</a:t>
                      </a:r>
                      <a:br/>
                      <a:r>
                        <a:t>(K4/5 -&gt; A-2)</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khay DP vào máy test</a:t>
                      </a:r>
                      <a:br/>
                      <a:r>
                        <a:t>để quét liên tục + PC chấm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bổ sung bộ nạp DP lên máy thực nghiệm; đặt cả xấp bản in vào khay DP để máy tự kéo quét liên tục, gửi ảnh về PC tự động chấm điểm.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110s đặt bản thảo K5;</a:t>
                      </a:r>
                      <a:br/>
                      <a:r>
                        <a:t>Rút ngắn mạnh cụm 6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Đang lấy báo giá</a:t>
                      </a:r>
                      <a:br/>
                      <a:r>
                        <a:t>(Đang kiểm chứng độ nét)</a:t>
                      </a:r>
                    </a:p>
                  </a:txBody>
                  <a:tcPr anchor="ctr" marL="36576" marR="36576" marT="13716" marB="13716">
                    <a:solidFill>
                      <a:srgbClr val="EAF7EE"/>
                    </a:solidFill>
                  </a:tcPr>
                </a:tc>
              </a:tr>
              <a:tr h="655320">
                <a:tc>
                  <a:txBody>
                    <a:bodyPr wrap="square"/>
                    <a:lstStyle/>
                    <a:p>
                      <a:pPr algn="ctr">
                        <a:defRPr sz="1200" b="1">
                          <a:solidFill>
                            <a:srgbClr val="1E242B"/>
                          </a:solidFill>
                          <a:latin typeface="Times New Roman"/>
                        </a:defRPr>
                      </a:pPr>
                      <a:r>
                        <a:t>No.27</a:t>
                      </a:r>
                      <a:br/>
                      <a:r>
                        <a:t>(K6/7 -&gt; A-3)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Camera HIKROBOT đo nồng</a:t>
                      </a:r>
                      <a:br/>
                      <a:r>
                        <a:t>độ màu, đo lề bản in &amp; PPT</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Buồng chụp Camera công nghiệp: Chụp và phân tích nồng độ 3 tờ trong 15s (thay vì đo tay 192s); tích hợp thuật toán tự động đo lề bản in (-28s).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177s đo nồng độ;</a:t>
                      </a:r>
                      <a:br/>
                      <a:r>
                        <a:t>Giảm 205s~215s khi gộp đo lề;</a:t>
                      </a:r>
                      <a:br/>
                      <a:r>
                        <a:t>Giảm ~2 người cụm ảnh</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Đang lấy báo giá</a:t>
                      </a:r>
                      <a:br/>
                      <a:r>
                        <a:t>(Đang chế tạo module thử)</a:t>
                      </a:r>
                    </a:p>
                  </a:txBody>
                  <a:tcPr anchor="ctr" marL="36576" marR="36576" marT="13716" marB="13716">
                    <a:solidFill>
                      <a:srgbClr val="EAF7EE"/>
                    </a:solidFill>
                  </a:tcPr>
                </a:tc>
              </a:tr>
              <a:tr h="655320">
                <a:tc>
                  <a:txBody>
                    <a:bodyPr wrap="square"/>
                    <a:lstStyle/>
                    <a:p>
                      <a:pPr algn="ctr">
                        <a:defRPr sz="1200" b="1">
                          <a:solidFill>
                            <a:srgbClr val="1E242B"/>
                          </a:solidFill>
                          <a:latin typeface="Times New Roman"/>
                        </a:defRPr>
                      </a:pPr>
                      <a:r>
                        <a:t>No.28</a:t>
                      </a:r>
                      <a:br/>
                      <a:r>
                        <a:t>(K8 -&gt; A-4)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lập xuất hàng mạng &amp;</a:t>
                      </a:r>
                      <a:br/>
                      <a:r>
                        <a:t>AI phân tích video thao tác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Tự động gửi lệnh thiết lập xuất hàng (FinalSetup) từ Host PC qua mạng nội bộ (-50s); dùng phần mềm AI bóc tách động tác thừa qua video.</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50s tại trạm xuất hàng;</a:t>
                      </a:r>
                      <a:br/>
                      <a:r>
                        <a:t>Chuẩn hóa thao tác toàn chuyền</a:t>
                      </a:r>
                    </a:p>
                  </a:txBody>
                  <a:tcPr anchor="ctr" marL="36576" marR="36576" marT="13716" marB="13716">
                    <a:solidFill>
                      <a:srgbClr val="FFFFFF"/>
                    </a:solidFill>
                  </a:tcPr>
                </a:tc>
                <a:tc>
                  <a:txBody>
                    <a:bodyPr wrap="square"/>
                    <a:lstStyle/>
                    <a:p>
                      <a:pPr algn="l">
                        <a:defRPr sz="1200" b="1">
                          <a:solidFill>
                            <a:srgbClr val="1E6E3E"/>
                          </a:solidFill>
                          <a:latin typeface="Times New Roman"/>
                        </a:defRPr>
                      </a:pPr>
                      <a:r>
                        <a:t>Đang lấy báo giá</a:t>
                      </a:r>
                      <a:br/>
                      <a:r>
                        <a:t>(Triển khai ngay lệnh mạng)</a:t>
                      </a:r>
                    </a:p>
                  </a:txBody>
                  <a:tcPr anchor="ctr" marL="36576" marR="36576" marT="13716" marB="13716">
                    <a:solidFill>
                      <a:srgbClr val="FFFFFF"/>
                    </a:solidFill>
                  </a:tcPr>
                </a:tc>
              </a:tr>
            </a:tbl>
          </a:graphicData>
        </a:graphic>
      </p:graphicFrame>
      <p:sp>
        <p:nvSpPr>
          <p:cNvPr id="8" name="Rectangle 7"/>
          <p:cNvSpPr/>
          <p:nvPr/>
        </p:nvSpPr>
        <p:spPr>
          <a:xfrm>
            <a:off x="256032" y="5257800"/>
            <a:ext cx="11679631" cy="128016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5257800"/>
            <a:ext cx="11679631"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TỔNG KẾT TỐI ƯU CHI PHÍ SAU DR4: THAY ROBOT ĐẮT TIỀN BẰNG KHAY DP VÀ LỆNH MẠNG HOST PC</a:t>
            </a:r>
          </a:p>
        </p:txBody>
      </p:sp>
      <p:sp>
        <p:nvSpPr>
          <p:cNvPr id="10" name="TextBox 9"/>
          <p:cNvSpPr txBox="1"/>
          <p:nvPr/>
        </p:nvSpPr>
        <p:spPr>
          <a:xfrm>
            <a:off x="347472" y="5641848"/>
            <a:ext cx="11496751" cy="8595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Tổng 3 đề án có giá ban đầu: No.22 (101,69 triệu) + No.23 Robot ISU (650 triệu) + No.24 Robot USB/U201 (104 triệu) = 855,69 triệu VNĐ (32.911,15 USD).</a:t>
            </a:r>
          </a:p>
          <a:p>
            <a:pPr>
              <a:spcAft>
                <a:spcPts val="300"/>
              </a:spcAft>
              <a:defRPr sz="1200">
                <a:solidFill>
                  <a:srgbClr val="1E242B"/>
                </a:solidFill>
                <a:latin typeface="Times New Roman"/>
              </a:defRPr>
            </a:pPr>
            <a:r>
              <a:t>Phương án tối ưu sau DR4: Hủy 2 Robot đắt tiền (No.23 và No.24 tiết kiệm 754 triệu VNĐ), thay bằng khay nạp DP No.25 và đọc log Host PC. Đợt 1 ưu tiên duyệt trước JIG an toàn điện No.22 là 101,69 triệu VNĐ; Đợt 2 tập trung kinh phí cho Camera No.27 (-177s) và khay DP No.25.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4.4 ĐỀ ÁN VN BỔ SUNG</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9 đề án Việt Nam bổ sung đợt 2 (No.29 ~ No.37) và Thực tích PDCA tháng 10/2026</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9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9 đề án bổ sung đợt 2 tập trung chẩn đoán phần mềm và gộp tờ in với chi phí thấp. Trong tháng 10/2026, xưởng đã xóa 4 bước thao tác trên bảng SOP, rút ngắn 4,32s mỗi máy.</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371600"/>
                <a:gridCol w="3108960"/>
                <a:gridCol w="4754880"/>
                <a:gridCol w="2444191"/>
              </a:tblGrid>
              <a:tr h="657225">
                <a:tc>
                  <a:txBody>
                    <a:bodyPr wrap="square"/>
                    <a:lstStyle/>
                    <a:p>
                      <a:pPr algn="ctr">
                        <a:defRPr sz="1250" b="1">
                          <a:solidFill>
                            <a:srgbClr val="FFFFFF"/>
                          </a:solidFill>
                          <a:latin typeface="Times New Roman"/>
                        </a:defRPr>
                      </a:pPr>
                      <a:r>
                        <a:t>Mã đề án</a:t>
                      </a:r>
                      <a:br/>
                      <a:r>
                        <a:t>(Trạm)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Tên đề án bổ sung của Việt Nam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cải tiến &amp; Tích hợp bản in / câu lệnh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Hiệu quả &amp; 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No.29 &amp; 30</a:t>
                      </a:r>
                      <a:br/>
                      <a:r>
                        <a:t>(A-1 / K1)</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kiểm tra hộp mực (No.29) &amp;</a:t>
                      </a:r>
                      <a:br/>
                      <a:r>
                        <a:t>Đọc Barcode, bỏ WTB U155 (No.30)</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Cải tiến FW nhận diện hộp mực không cần lắp gá; tự động đọc Barcode; thêm Push Switch và đo điện trở Sub-Assy xóa hẳn cài đặt U155.</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lắp gá mực (0đ thiết bị);</a:t>
                      </a:r>
                      <a:br/>
                      <a:r>
                        <a:t>Giảm 29s chuẩn (Đã duyệt xóa U155)</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No.31</a:t>
                      </a:r>
                      <a:br/>
                      <a:r>
                        <a:t>(A-2 / A-5)</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Tích hợp 2Way Clutch vào Color Regist</a:t>
                      </a:r>
                      <a:br/>
                      <a:r>
                        <a:t>-&gt; Hủy tờ in RCG trước U950</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Kiểm tra 2Way Clutch chung vào tờ Color Regist để xóa hẳn tờ RCG trước U950; làm cơ cấu thử tải khay giấy tự động.</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17s~25s (Bỏ 1 tờ in RCG);</a:t>
                      </a:r>
                      <a:br/>
                      <a:r>
                        <a:t>Giảm 20s thử khay có tải</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No.32</a:t>
                      </a:r>
                      <a:br/>
                      <a:r>
                        <a:t>(A-2 / A-7)</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Rút ngắn Aging U950 (285s) &amp;</a:t>
                      </a:r>
                      <a:br/>
                      <a:r>
                        <a:t>Kiểm tra Option không cần cắm cáp</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Rà soát lại thông số kỹ thuật để rút ngắn chu kỳ Aging U950 (285s); cải tiến FW tự chẩn đoán kết nối Option không cần cắm dây.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Rút ngắn chu kỳ chờ Aging 285s;</a:t>
                      </a:r>
                      <a:br/>
                      <a:r>
                        <a:t>Đang xem xét cùng Thiết kế JP</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No.33</a:t>
                      </a:r>
                      <a:br/>
                      <a:r>
                        <a:t>(A-3 / A-8)</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RCG Ledger vào Color Regist;</a:t>
                      </a:r>
                      <a:br/>
                      <a:r>
                        <a:t>Chuyển lắp 6 vỏ ngoài về Lắp ráp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đo góc vuông Ledger vào tờ Color Regist để xóa tờ Ledger; chuyển nguyên công lắp 6 tấm vỏ ngoài về cuối chuyền Lắp ráp.</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1 tờ in (RCG Ledger: -32s);</a:t>
                      </a:r>
                      <a:br/>
                      <a:r>
                        <a:t>Chuyển 48s~90s lắp vỏ về Lắp ráp</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No.34</a:t>
                      </a:r>
                      <a:br/>
                      <a:r>
                        <a:t>(A-3 / A-8)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Gộp RCG LSU SKEW vào Color Regist;</a:t>
                      </a:r>
                      <a:br/>
                      <a:r>
                        <a:t>Tự động nhận diện khổ giấy khay 1/2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Tích hợp mẫu đo nghiêng tia laser vào tờ Color Regist để xóa tờ LSU Skew; Host PC gửi lệnh tự động nhận diện cảm biến khổ giấy.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1 tờ in (LSU Skew: -37s);</a:t>
                      </a:r>
                      <a:br/>
                      <a:r>
                        <a:t>Giảm 66,7s kiểm tra khay 1/2</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No.35 &amp; 36</a:t>
                      </a:r>
                      <a:br/>
                      <a:r>
                        <a:t>(A-4 / A-8)</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Calibration U410 thành 1 lệnh;</a:t>
                      </a:r>
                      <a:br/>
                      <a:r>
                        <a:t>Gộp Halftone Mono vào Check Black</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bước Calibration vào chung 1 lệnh khi chạy Halftone U410; gộp mẫu Mono vào tờ Check Black để xóa tờ Mono; tự kiểm tra công tắc nắp.</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1 tờ in (Mono: -110s K5);</a:t>
                      </a:r>
                      <a:br/>
                      <a:r>
                        <a:t>Giảm 8,9s kiểm tra công tắc nắp</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Thực tích</a:t>
                      </a:r>
                      <a:br/>
                      <a:r>
                        <a:t>T10/2026</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【ĐÃ HOÀN THÀNH THÁNG 10/2026】</a:t>
                      </a:r>
                      <a:br/>
                      <a:r>
                        <a:t>Xóa 4 bước thao tác trên bảng SOP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Xóa 2 bước bấm chọn tiếng Anh (1,44s) và 2 bước nhìn chờ cảnh báo Toner (2,88s). Đã xác nhận không cần thao tác tay và xóa khỏi SOP.</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ĐÃ GIẢM THỰC TẾ: -4,32s / MÁY</a:t>
                      </a:r>
                      <a:br/>
                      <a:r>
                        <a:t>(Mục tiêu PDCA KDTVN-PE-3)</a:t>
                      </a:r>
                    </a:p>
                  </a:txBody>
                  <a:tcPr anchor="ctr" marL="36576" marR="36576" marT="13716" marB="13716">
                    <a:solidFill>
                      <a:srgbClr val="E8EE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4.5 DỰ TOÁN &amp; PHÊ DUYỆT</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dự toán BOM 25 mục Đề án No.22 (101,69 triệu VNĐ) và 2 Phương án trình phê duyệt</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10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Đề xuất phê duyệt Phương án 1 đầu tư JIG đo an toàn điện No.22 (101,69 triệu VNĐ / 3.911,15 USD), hoặc Phương án 2 đầu tư trọn gói cả 3 đề án (855,69 triệu VNĐ / 32.911,15 USD).</a:t>
            </a:r>
          </a:p>
        </p:txBody>
      </p:sp>
      <p:graphicFrame>
        <p:nvGraphicFramePr>
          <p:cNvPr id="7" name="Table 6"/>
          <p:cNvGraphicFramePr>
            <a:graphicFrameLocks noGrp="1"/>
          </p:cNvGraphicFramePr>
          <p:nvPr/>
        </p:nvGraphicFramePr>
        <p:xfrm>
          <a:off x="256032" y="1234440"/>
          <a:ext cx="6217920" cy="5257800"/>
        </p:xfrm>
        <a:graphic>
          <a:graphicData uri="http://schemas.openxmlformats.org/drawingml/2006/table">
            <a:tbl>
              <a:tblPr firstRow="1" bandRow="1">
                <a:tableStyleId>{5C22544A-7EE6-4342-B048-85BDC9FD1C3A}</a:tableStyleId>
              </a:tblPr>
              <a:tblGrid>
                <a:gridCol w="2103120"/>
                <a:gridCol w="1463040"/>
                <a:gridCol w="1280160"/>
                <a:gridCol w="1371600"/>
              </a:tblGrid>
              <a:tr h="657225">
                <a:tc>
                  <a:txBody>
                    <a:bodyPr wrap="square"/>
                    <a:lstStyle/>
                    <a:p>
                      <a:pPr algn="ctr">
                        <a:defRPr sz="1250" b="1">
                          <a:solidFill>
                            <a:srgbClr val="FFFFFF"/>
                          </a:solidFill>
                          <a:latin typeface="Times New Roman"/>
                        </a:defRPr>
                      </a:pPr>
                      <a:r>
                        <a:t>Nhóm linh kiện BOM No.22</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Thành tiền (VNĐ)</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Quy đổi (USD)</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Tỷ trọng BOM</a:t>
                      </a:r>
                    </a:p>
                  </a:txBody>
                  <a:tcPr anchor="ctr" marL="36576" marR="36576" marT="13716" marB="13716">
                    <a:solidFill>
                      <a:srgbClr val="1B365D"/>
                    </a:solidFill>
                  </a:tcPr>
                </a:tc>
              </a:tr>
              <a:tr h="657225">
                <a:tc>
                  <a:txBody>
                    <a:bodyPr wrap="square"/>
                    <a:lstStyle/>
                    <a:p>
                      <a:pPr algn="l">
                        <a:defRPr sz="1200" b="1">
                          <a:solidFill>
                            <a:srgbClr val="1E242B"/>
                          </a:solidFill>
                          <a:latin typeface="Times New Roman"/>
                        </a:defRPr>
                      </a:pPr>
                      <a:r>
                        <a:t>1. Khí nén SMC (Van SY5120 &amp; 6 Xylanh)</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37.700.000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1.450,00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37,1%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2. Gia công cơ khí &amp; vật tư phụ</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20.000.000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769,23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19,7%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3. Điều khiển PLC FX5U, HMI &amp; Cảm biến</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19.500.000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750,00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19,2%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4. Khung nhôm Misumi &amp; phụ kiện ke/nut</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12.500.000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480,77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12,3%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5. Tủ điện &amp; linh kiện Omron, Contactor</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6.990.000 VNĐ</a:t>
                      </a:r>
                    </a:p>
                  </a:txBody>
                  <a:tcPr anchor="ctr" marL="36576" marR="36576" marT="13716" marB="13716">
                    <a:solidFill>
                      <a:srgbClr val="FFFFFF"/>
                    </a:solidFill>
                  </a:tcPr>
                </a:tc>
                <a:tc>
                  <a:txBody>
                    <a:bodyPr wrap="square"/>
                    <a:lstStyle/>
                    <a:p>
                      <a:pPr algn="r">
                        <a:defRPr sz="1200">
                          <a:solidFill>
                            <a:srgbClr val="1E242B"/>
                          </a:solidFill>
                          <a:latin typeface="Times New Roman"/>
                        </a:defRPr>
                      </a:pPr>
                      <a:r>
                        <a:t>268,85 USD</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6,9% BOM</a:t>
                      </a:r>
                    </a:p>
                  </a:txBody>
                  <a:tcPr anchor="ctr" marL="36576" marR="36576" marT="13716" marB="13716">
                    <a:solidFill>
                      <a:srgbClr val="FFFFFF"/>
                    </a:solidFill>
                  </a:tcPr>
                </a:tc>
              </a:tr>
              <a:tr h="657225">
                <a:tc>
                  <a:txBody>
                    <a:bodyPr wrap="square"/>
                    <a:lstStyle/>
                    <a:p>
                      <a:pPr algn="l">
                        <a:defRPr sz="1200" b="1">
                          <a:solidFill>
                            <a:srgbClr val="1E242B"/>
                          </a:solidFill>
                          <a:latin typeface="Times New Roman"/>
                        </a:defRPr>
                      </a:pPr>
                      <a:r>
                        <a:t>6. Vỏ tủ điện điều khiển</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5.000.000 VNĐ</a:t>
                      </a:r>
                    </a:p>
                  </a:txBody>
                  <a:tcPr anchor="ctr" marL="36576" marR="36576" marT="13716" marB="13716">
                    <a:solidFill>
                      <a:srgbClr val="F7F9FC"/>
                    </a:solidFill>
                  </a:tcPr>
                </a:tc>
                <a:tc>
                  <a:txBody>
                    <a:bodyPr wrap="square"/>
                    <a:lstStyle/>
                    <a:p>
                      <a:pPr algn="r">
                        <a:defRPr sz="1200">
                          <a:solidFill>
                            <a:srgbClr val="1E242B"/>
                          </a:solidFill>
                          <a:latin typeface="Times New Roman"/>
                        </a:defRPr>
                      </a:pPr>
                      <a:r>
                        <a:t>192,31 USD</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4,9% BOM</a:t>
                      </a:r>
                    </a:p>
                  </a:txBody>
                  <a:tcPr anchor="ctr" marL="36576" marR="36576" marT="13716" marB="13716">
                    <a:solidFill>
                      <a:srgbClr val="F7F9FC"/>
                    </a:solidFill>
                  </a:tcPr>
                </a:tc>
              </a:tr>
              <a:tr h="657225">
                <a:tc>
                  <a:txBody>
                    <a:bodyPr wrap="square"/>
                    <a:lstStyle/>
                    <a:p>
                      <a:pPr algn="l">
                        <a:defRPr sz="1200" b="1">
                          <a:solidFill>
                            <a:srgbClr val="1E242B"/>
                          </a:solidFill>
                          <a:latin typeface="Times New Roman"/>
                        </a:defRPr>
                      </a:pPr>
                      <a:r>
                        <a:t>TỔNG ĐỀ ÁN NO.22 (PHƯƠNG ÁN 1)</a:t>
                      </a:r>
                      <a:br/>
                      <a:r>
                        <a:t>(Tự động đo thông mạch &amp; chịu áp nắp kín)</a:t>
                      </a:r>
                    </a:p>
                  </a:txBody>
                  <a:tcPr anchor="ctr" marL="36576" marR="36576" marT="13716" marB="13716">
                    <a:solidFill>
                      <a:srgbClr val="EAF7EE"/>
                    </a:solidFill>
                  </a:tcPr>
                </a:tc>
                <a:tc>
                  <a:txBody>
                    <a:bodyPr wrap="square"/>
                    <a:lstStyle/>
                    <a:p>
                      <a:pPr algn="r">
                        <a:defRPr sz="1200">
                          <a:solidFill>
                            <a:srgbClr val="1E242B"/>
                          </a:solidFill>
                          <a:latin typeface="Times New Roman"/>
                        </a:defRPr>
                      </a:pPr>
                      <a:r>
                        <a:t>101.690.000 VNĐ</a:t>
                      </a:r>
                    </a:p>
                  </a:txBody>
                  <a:tcPr anchor="ctr" marL="36576" marR="36576" marT="13716" marB="13716">
                    <a:solidFill>
                      <a:srgbClr val="EAF7EE"/>
                    </a:solidFill>
                  </a:tcPr>
                </a:tc>
                <a:tc>
                  <a:txBody>
                    <a:bodyPr wrap="square"/>
                    <a:lstStyle/>
                    <a:p>
                      <a:pPr algn="r">
                        <a:defRPr sz="1200">
                          <a:solidFill>
                            <a:srgbClr val="1E242B"/>
                          </a:solidFill>
                          <a:latin typeface="Times New Roman"/>
                        </a:defRPr>
                      </a:pPr>
                      <a:r>
                        <a:t>3.911,15 USD</a:t>
                      </a:r>
                      <a:br/>
                      <a:r>
                        <a:t>(Làm tròn: 4.000$)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Giảm 30s/máy</a:t>
                      </a:r>
                      <a:br/>
                      <a:r>
                        <a:t>Tiết kiệm 29,6tr/năm</a:t>
                      </a:r>
                    </a:p>
                  </a:txBody>
                  <a:tcPr anchor="ctr" marL="36576" marR="36576" marT="13716" marB="13716">
                    <a:solidFill>
                      <a:srgbClr val="EAF7EE"/>
                    </a:solidFill>
                  </a:tcPr>
                </a:tc>
              </a:tr>
            </a:tbl>
          </a:graphicData>
        </a:graphic>
      </p:graphicFrame>
      <p:sp>
        <p:nvSpPr>
          <p:cNvPr id="8" name="Rectangle 7"/>
          <p:cNvSpPr/>
          <p:nvPr/>
        </p:nvSpPr>
        <p:spPr>
          <a:xfrm>
            <a:off x="6629400" y="1234440"/>
            <a:ext cx="5303520" cy="2926080"/>
          </a:xfrm>
          <a:prstGeom prst="rect">
            <a:avLst/>
          </a:prstGeom>
          <a:solidFill>
            <a:srgbClr val="EAF7EE"/>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1234440"/>
            <a:ext cx="5303520" cy="347472"/>
          </a:xfrm>
          <a:prstGeom prst="rect">
            <a:avLst/>
          </a:prstGeom>
          <a:solidFill>
            <a:srgbClr val="1E6E3E"/>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HAI PHƯƠNG ÁN TRÌNH PHÊ DUYỆT KINH PHÍ ĐẦU TƯ</a:t>
            </a:r>
          </a:p>
        </p:txBody>
      </p:sp>
      <p:sp>
        <p:nvSpPr>
          <p:cNvPr id="10" name="TextBox 9"/>
          <p:cNvSpPr txBox="1"/>
          <p:nvPr/>
        </p:nvSpPr>
        <p:spPr>
          <a:xfrm>
            <a:off x="6720840" y="1618488"/>
            <a:ext cx="5120640" cy="250545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Phương án 1 (Ưu tiên lựa chọn): Triển khai ngay JIG đo an toàn điện No.22.</a:t>
            </a:r>
          </a:p>
          <a:p>
            <a:pPr>
              <a:spcAft>
                <a:spcPts val="300"/>
              </a:spcAft>
              <a:defRPr sz="1200">
                <a:solidFill>
                  <a:srgbClr val="1E242B"/>
                </a:solidFill>
                <a:latin typeface="Times New Roman"/>
              </a:defRPr>
            </a:pPr>
            <a:r>
              <a:t>- Kinh phí: 101.690.000 VNĐ (3.911,15 USD / làm tròn: 4.000 USD).</a:t>
            </a:r>
          </a:p>
          <a:p>
            <a:pPr>
              <a:spcAft>
                <a:spcPts val="300"/>
              </a:spcAft>
              <a:defRPr sz="1200">
                <a:solidFill>
                  <a:srgbClr val="1E242B"/>
                </a:solidFill>
                <a:latin typeface="Times New Roman"/>
              </a:defRPr>
            </a:pPr>
            <a:r>
              <a:t>- Hiệu quả: Giảm 30s/máy, tiết kiệm 29,6 triệu VNĐ/năm, hoàn vốn trong 3,4 năm.</a:t>
            </a:r>
          </a:p>
          <a:p>
            <a:pPr>
              <a:spcAft>
                <a:spcPts val="300"/>
              </a:spcAft>
              <a:defRPr sz="1200">
                <a:solidFill>
                  <a:srgbClr val="1E242B"/>
                </a:solidFill>
                <a:latin typeface="Times New Roman"/>
              </a:defRPr>
            </a:pPr>
            <a:r>
              <a:t>- Tối ưu vốn: Hủy 2 robot No.23 và No.24 để tiết kiệm 754 triệu VNĐ. Hạng mục Camera No.27 (-177s) và khay DP No.25 sẽ trình duyệt ở Đợt 2.</a:t>
            </a:r>
          </a:p>
          <a:p>
            <a:pPr>
              <a:spcAft>
                <a:spcPts val="300"/>
              </a:spcAft>
              <a:defRPr sz="1200">
                <a:solidFill>
                  <a:srgbClr val="1E242B"/>
                </a:solidFill>
                <a:latin typeface="Times New Roman"/>
              </a:defRPr>
            </a:pPr>
            <a:r>
              <a:t>Phương án 2: Duyệt trọn gói cả 3 đề án theo dự toán ban đầu (855,69 triệu VNĐ / 32.911,15 USD).</a:t>
            </a:r>
          </a:p>
        </p:txBody>
      </p:sp>
      <p:sp>
        <p:nvSpPr>
          <p:cNvPr id="11" name="Rectangle 10"/>
          <p:cNvSpPr/>
          <p:nvPr/>
        </p:nvSpPr>
        <p:spPr>
          <a:xfrm>
            <a:off x="6629400" y="4297680"/>
            <a:ext cx="5303520" cy="2194560"/>
          </a:xfrm>
          <a:prstGeom prst="rect">
            <a:avLst/>
          </a:prstGeom>
          <a:solidFill>
            <a:srgbClr val="FFFFFF"/>
          </a:solidFill>
          <a:ln w="12700">
            <a:solidFill>
              <a:srgbClr val="C5C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29400" y="4297680"/>
            <a:ext cx="5303520" cy="34747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wrap="square" tIns="27432"/>
          <a:lstStyle/>
          <a:p>
            <a:pPr algn="ctr">
              <a:defRPr sz="1250" b="1">
                <a:solidFill>
                  <a:srgbClr val="FFFFFF"/>
                </a:solidFill>
                <a:latin typeface="Times New Roman"/>
              </a:defRPr>
            </a:pPr>
            <a:r>
              <a:t>CÁC NỘI DUNG XIN Ý KIẾN CHỈ ĐẠO CỦA TRƯỞNG BỘ PHẬN</a:t>
            </a:r>
          </a:p>
        </p:txBody>
      </p:sp>
      <p:sp>
        <p:nvSpPr>
          <p:cNvPr id="13" name="TextBox 12"/>
          <p:cNvSpPr txBox="1"/>
          <p:nvPr/>
        </p:nvSpPr>
        <p:spPr>
          <a:xfrm>
            <a:off x="6720840" y="4681728"/>
            <a:ext cx="5120640" cy="1773936"/>
          </a:xfrm>
          <a:prstGeom prst="rect">
            <a:avLst/>
          </a:prstGeom>
          <a:noFill/>
        </p:spPr>
        <p:txBody>
          <a:bodyPr wrap="square" lIns="36576" rIns="36576" tIns="18288" bIns="18288">
            <a:spAutoFit/>
          </a:bodyPr>
          <a:lstStyle/>
          <a:p>
            <a:pPr>
              <a:spcAft>
                <a:spcPts val="300"/>
              </a:spcAft>
              <a:defRPr sz="1200">
                <a:solidFill>
                  <a:srgbClr val="1E242B"/>
                </a:solidFill>
                <a:latin typeface="Times New Roman"/>
              </a:defRPr>
            </a:pPr>
            <a:r>
              <a:t>1. Lựa chọn phương án ngân sách: Xin ý kiến chọn Phương án 1 hay Phương án 2 trước ngày 15/11/2026.</a:t>
            </a:r>
          </a:p>
          <a:p>
            <a:pPr>
              <a:spcAft>
                <a:spcPts val="300"/>
              </a:spcAft>
              <a:defRPr sz="1200">
                <a:solidFill>
                  <a:srgbClr val="1E242B"/>
                </a:solidFill>
                <a:latin typeface="Times New Roman"/>
              </a:defRPr>
            </a:pPr>
            <a:r>
              <a:t>2. Chuyển công đoạn lắp 6 tấm vỏ: Chỉ đạo phối hợp với Lắp ráp và PE Nhật để chuyển bước lắp 6 vỏ ngoài về cuối chuyền Lắp ráp (No.33, chi phí 0 đồng).</a:t>
            </a:r>
          </a:p>
          <a:p>
            <a:pPr>
              <a:spcAft>
                <a:spcPts val="300"/>
              </a:spcAft>
              <a:defRPr sz="1200">
                <a:solidFill>
                  <a:srgbClr val="1E242B"/>
                </a:solidFill>
                <a:latin typeface="Times New Roman"/>
              </a:defRPr>
            </a:pPr>
            <a:r>
              <a:t>3. Chốt lịch họp DR công đoạn: Thúc đẩy Thiết kế Nhật phản hồi 6 kiến nghị sửa mạch và phần mềm của Việt Nam trong tháng 11/2026 để kịp chạy thử PMT1 vào tháng 12/2026.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4.6 LỘ TRÌNH &amp; HIỆU QUẢ</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So sánh Trước / Sau cải tiến và Lộ trình triển khai tới sản xuất hàng loạt MP (T3/2027)</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11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Sau cải tiến, năng suất lao động tăng gấp đôi từ 15,19 lên trên 30,38 máy/người/ngày; nhân sự rút gọn còn 8 đến 9 người, đáp ứng yêu cầu sản xuất ngay trên chuyền Iris2024.</a:t>
            </a:r>
          </a:p>
        </p:txBody>
      </p:sp>
      <p:graphicFrame>
        <p:nvGraphicFramePr>
          <p:cNvPr id="7" name="Table 6"/>
          <p:cNvGraphicFramePr>
            <a:graphicFrameLocks noGrp="1"/>
          </p:cNvGraphicFramePr>
          <p:nvPr/>
        </p:nvGraphicFramePr>
        <p:xfrm>
          <a:off x="256032" y="1234440"/>
          <a:ext cx="6217920" cy="5257800"/>
        </p:xfrm>
        <a:graphic>
          <a:graphicData uri="http://schemas.openxmlformats.org/drawingml/2006/table">
            <a:tbl>
              <a:tblPr firstRow="1" bandRow="1">
                <a:tableStyleId>{5C22544A-7EE6-4342-B048-85BDC9FD1C3A}</a:tableStyleId>
              </a:tblPr>
              <a:tblGrid>
                <a:gridCol w="1920240"/>
                <a:gridCol w="1371600"/>
                <a:gridCol w="1463040"/>
                <a:gridCol w="1463040"/>
              </a:tblGrid>
              <a:tr h="876300">
                <a:tc>
                  <a:txBody>
                    <a:bodyPr wrap="square"/>
                    <a:lstStyle/>
                    <a:p>
                      <a:pPr algn="ctr">
                        <a:defRPr sz="1250" b="1">
                          <a:solidFill>
                            <a:srgbClr val="FFFFFF"/>
                          </a:solidFill>
                          <a:latin typeface="Times New Roman"/>
                        </a:defRPr>
                      </a:pPr>
                      <a:r>
                        <a:t>Chỉ tiêu đánh giá</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Hiện trạng Iris2024</a:t>
                      </a:r>
                      <a:br/>
                      <a:r>
                        <a:t>(243 máy/ngày)</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Mục tiêu IrisEXP</a:t>
                      </a:r>
                      <a:br/>
                      <a:r>
                        <a:t>(300 máy/ngày)</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Mức cải thiện</a:t>
                      </a:r>
                    </a:p>
                  </a:txBody>
                  <a:tcPr anchor="ctr" marL="36576" marR="36576" marT="13716" marB="13716">
                    <a:solidFill>
                      <a:srgbClr val="1B365D"/>
                    </a:solidFill>
                  </a:tcPr>
                </a:tc>
              </a:tr>
              <a:tr h="876300">
                <a:tc>
                  <a:txBody>
                    <a:bodyPr wrap="square"/>
                    <a:lstStyle/>
                    <a:p>
                      <a:pPr algn="l">
                        <a:defRPr sz="1200" b="1">
                          <a:solidFill>
                            <a:srgbClr val="1E242B"/>
                          </a:solidFill>
                          <a:latin typeface="Times New Roman"/>
                        </a:defRPr>
                      </a:pPr>
                      <a:r>
                        <a:t>1. Thời gian chuẩn</a:t>
                      </a:r>
                      <a:br/>
                      <a:r>
                        <a:t>(Mã hàng cao nhất)</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1.083s / máy</a:t>
                      </a:r>
                      <a:br/>
                      <a:r>
                        <a:t>(840s ĐC + 243s data)</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 541,5s / máy</a:t>
                      </a:r>
                      <a:br/>
                      <a:r>
                        <a:t>(KDC thiết kế: 591s)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50% thời gian</a:t>
                      </a:r>
                      <a:br/>
                      <a:r>
                        <a:t>thao tác tiêu chuẩn</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2. Gross toàn công đoạn</a:t>
                      </a:r>
                      <a:br/>
                      <a:r>
                        <a:t>(Gồm chờ máy, U950)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2.350s / máy</a:t>
                      </a:r>
                      <a:br/>
                      <a:r>
                        <a:t>(8 trạm K1 ~ K8)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 1.175s / máy</a:t>
                      </a:r>
                      <a:br/>
                      <a:r>
                        <a:t>(Gộp 4 cụm A-1~A-4)</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 ≥ 1.175s</a:t>
                      </a:r>
                      <a:br/>
                      <a:r>
                        <a:t>(Giảm ≥ 50,0%)</a:t>
                      </a:r>
                    </a:p>
                  </a:txBody>
                  <a:tcPr anchor="ctr" marL="36576" marR="36576" marT="13716" marB="13716">
                    <a:solidFill>
                      <a:srgbClr val="F7F9FC"/>
                    </a:solidFill>
                  </a:tcPr>
                </a:tc>
              </a:tr>
              <a:tr h="876300">
                <a:tc>
                  <a:txBody>
                    <a:bodyPr wrap="square"/>
                    <a:lstStyle/>
                    <a:p>
                      <a:pPr algn="l">
                        <a:defRPr sz="1200" b="1">
                          <a:solidFill>
                            <a:srgbClr val="1E242B"/>
                          </a:solidFill>
                          <a:latin typeface="Times New Roman"/>
                        </a:defRPr>
                      </a:pPr>
                      <a:r>
                        <a:t>3. Tổng số người thao tác</a:t>
                      </a:r>
                      <a:br/>
                      <a:r>
                        <a:t>trên Line</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16 người thao tác</a:t>
                      </a:r>
                      <a:br/>
                      <a:r>
                        <a:t>(7 ĐC + 9 Hình ảnh)</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8 ~ 9 người thao tác</a:t>
                      </a:r>
                      <a:br/>
                      <a:r>
                        <a:t>(Thay vì 18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50% nhân sự</a:t>
                      </a:r>
                      <a:br/>
                      <a:r>
                        <a:t>so với chưa cải tiến</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4. Năng suất lao động</a:t>
                      </a:r>
                      <a:br/>
                      <a:r>
                        <a:t>(1 người / ngày)</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15,19 máy / người</a:t>
                      </a:r>
                      <a:br/>
                      <a:r>
                        <a:t>(243 máy ÷ 16 người)</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 30,38 ~ 33,33 máy</a:t>
                      </a:r>
                      <a:br/>
                      <a:r>
                        <a:t>(300 máy ÷ 9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Tăng gấp 2 lần (x2)</a:t>
                      </a:r>
                      <a:br/>
                      <a:r>
                        <a:t>Đảm bảo SX trên Line</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5. Số tờ in test / máy</a:t>
                      </a:r>
                      <a:br/>
                      <a:r>
                        <a:t>(Print &amp; Copy)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Print: 17 tờ / máy</a:t>
                      </a:r>
                      <a:br/>
                      <a:r>
                        <a:t>Copy: 2 tờ / máy</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Print: 9 tờ / máy</a:t>
                      </a:r>
                      <a:br/>
                      <a:r>
                        <a:t>Copy: 1 tờ / máy</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Giảm 8 tờ Print (-47%)</a:t>
                      </a:r>
                      <a:br/>
                      <a:r>
                        <a:t>Giảm 1 tờ Copy (-50%)</a:t>
                      </a:r>
                    </a:p>
                  </a:txBody>
                  <a:tcPr anchor="ctr" marL="36576" marR="36576" marT="13716" marB="13716">
                    <a:solidFill>
                      <a:srgbClr val="FFFFFF"/>
                    </a:solidFill>
                  </a:tcPr>
                </a:tc>
              </a:tr>
            </a:tbl>
          </a:graphicData>
        </a:graphic>
      </p:graphicFrame>
      <p:graphicFrame>
        <p:nvGraphicFramePr>
          <p:cNvPr id="8" name="Table 7"/>
          <p:cNvGraphicFramePr>
            <a:graphicFrameLocks noGrp="1"/>
          </p:cNvGraphicFramePr>
          <p:nvPr/>
        </p:nvGraphicFramePr>
        <p:xfrm>
          <a:off x="6629400" y="1234440"/>
          <a:ext cx="5303518" cy="5257800"/>
        </p:xfrm>
        <a:graphic>
          <a:graphicData uri="http://schemas.openxmlformats.org/drawingml/2006/table">
            <a:tbl>
              <a:tblPr firstRow="1" bandRow="1">
                <a:tableStyleId>{5C22544A-7EE6-4342-B048-85BDC9FD1C3A}</a:tableStyleId>
              </a:tblPr>
              <a:tblGrid>
                <a:gridCol w="1554480"/>
                <a:gridCol w="1874519"/>
                <a:gridCol w="1874519"/>
              </a:tblGrid>
              <a:tr h="1051560">
                <a:tc>
                  <a:txBody>
                    <a:bodyPr wrap="square"/>
                    <a:lstStyle/>
                    <a:p>
                      <a:pPr algn="ctr">
                        <a:defRPr sz="1250" b="1">
                          <a:solidFill>
                            <a:srgbClr val="FFFFFF"/>
                          </a:solidFill>
                          <a:latin typeface="Times New Roman"/>
                        </a:defRPr>
                      </a:pPr>
                      <a:r>
                        <a:t>Giai đoạn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Hạng mục triển khai chính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Mục tiêu tích lũy (PE-3)</a:t>
                      </a:r>
                    </a:p>
                  </a:txBody>
                  <a:tcPr anchor="ctr" marL="36576" marR="36576" marT="13716" marB="13716">
                    <a:solidFill>
                      <a:srgbClr val="1B365D"/>
                    </a:solidFill>
                  </a:tcPr>
                </a:tc>
              </a:tr>
              <a:tr h="1051560">
                <a:tc>
                  <a:txBody>
                    <a:bodyPr wrap="square"/>
                    <a:lstStyle/>
                    <a:p>
                      <a:pPr algn="l">
                        <a:defRPr sz="1200" b="1">
                          <a:solidFill>
                            <a:srgbClr val="1E242B"/>
                          </a:solidFill>
                          <a:latin typeface="Times New Roman"/>
                        </a:defRPr>
                      </a:pPr>
                      <a:r>
                        <a:t>T8 ~ T9/2026</a:t>
                      </a:r>
                      <a:br/>
                      <a:r>
                        <a:t>(DMT1 / Đề án)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Lập 28 đến 37 đề án; khảo sát nhà cung cấp và lập dự toán đầu tư VN提案.</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KH: Giảm 1% (-23,5s)</a:t>
                      </a:r>
                      <a:br/>
                      <a:r>
                        <a:t>Chốt mục tiêu x2 năng suất</a:t>
                      </a:r>
                    </a:p>
                  </a:txBody>
                  <a:tcPr anchor="ctr" marL="36576" marR="36576" marT="13716" marB="13716">
                    <a:solidFill>
                      <a:srgbClr val="E8EEF5"/>
                    </a:solidFill>
                  </a:tcPr>
                </a:tc>
              </a:tr>
              <a:tr h="1051560">
                <a:tc>
                  <a:txBody>
                    <a:bodyPr wrap="square"/>
                    <a:lstStyle/>
                    <a:p>
                      <a:pPr algn="l">
                        <a:defRPr sz="1200" b="1">
                          <a:solidFill>
                            <a:srgbClr val="1E242B"/>
                          </a:solidFill>
                          <a:latin typeface="Times New Roman"/>
                        </a:defRPr>
                      </a:pPr>
                      <a:r>
                        <a:t>T10/2026</a:t>
                      </a:r>
                      <a:br/>
                      <a:r>
                        <a:t>(DMT2 / Báo giá)</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Hoàn tất BOM 25 mục No.22 (101,69 tr VNĐ); xóa 4 bước trên SOP (-4,32s).</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Thực tích: Đạt -4,32s</a:t>
                      </a:r>
                      <a:br/>
                      <a:r>
                        <a:t>Cập nhật 38 đề án</a:t>
                      </a:r>
                    </a:p>
                  </a:txBody>
                  <a:tcPr anchor="ctr" marL="36576" marR="36576" marT="13716" marB="13716">
                    <a:solidFill>
                      <a:srgbClr val="EAF7EE"/>
                    </a:solidFill>
                  </a:tcPr>
                </a:tc>
              </a:tr>
              <a:tr h="1051560">
                <a:tc>
                  <a:txBody>
                    <a:bodyPr wrap="square"/>
                    <a:lstStyle/>
                    <a:p>
                      <a:pPr algn="l">
                        <a:defRPr sz="1200" b="1">
                          <a:solidFill>
                            <a:srgbClr val="1E242B"/>
                          </a:solidFill>
                          <a:latin typeface="Times New Roman"/>
                        </a:defRPr>
                      </a:pPr>
                      <a:r>
                        <a:t>T11 ~ T12/2026</a:t>
                      </a:r>
                      <a:br/>
                      <a:r>
                        <a:t>(DR / PMT1 thử nghiệm)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Chốt DR công đoạn; chế tạo JIG No.22, Camera No.27; chạy thử 4 cụm trạm A-1 đến A-4.</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Mục tiêu: Giảm 30%</a:t>
                      </a:r>
                      <a:br/>
                      <a:r>
                        <a:t>(Cắt giảm ≥ 705s/máy)</a:t>
                      </a:r>
                    </a:p>
                  </a:txBody>
                  <a:tcPr anchor="ctr" marL="36576" marR="36576" marT="13716" marB="13716">
                    <a:solidFill>
                      <a:srgbClr val="FFFFFF"/>
                    </a:solidFill>
                  </a:tcPr>
                </a:tc>
              </a:tr>
              <a:tr h="1051560">
                <a:tc>
                  <a:txBody>
                    <a:bodyPr wrap="square"/>
                    <a:lstStyle/>
                    <a:p>
                      <a:pPr algn="l">
                        <a:defRPr sz="1200" b="1">
                          <a:solidFill>
                            <a:srgbClr val="1E242B"/>
                          </a:solidFill>
                          <a:latin typeface="Times New Roman"/>
                        </a:defRPr>
                      </a:pPr>
                      <a:r>
                        <a:t>T1 ~ T3/2027</a:t>
                      </a:r>
                      <a:br/>
                      <a:r>
                        <a:t>(PMT2 -&gt; MP Hàng loạt)</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Nghiệm thu thiết bị Cpk ≥ 1,33; bỏ đo lệch Belt; vận hành chính thức nhịp Takt 97s.</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Hoàn thành 100% đề án</a:t>
                      </a:r>
                      <a:br/>
                      <a:r>
                        <a:t>Năng suất tăng gấp đôi</a:t>
                      </a:r>
                    </a:p>
                  </a:txBody>
                  <a:tcPr anchor="ctr" marL="36576" marR="36576" marT="13716" marB="13716">
                    <a:solidFill>
                      <a:srgbClr val="FEF7E6"/>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(1/4)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Tổng hợp toàn bộ 38 đề án cải tiến của 3 cứ điểm Nhật Bản (7) - Trung Quốc (11) - Việt Nam (20)</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12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Đối chiếu tổng thể số lượng đề án, thời gian cắt giảm, nhân lực và kinh phí giữa ba cứ điểm Nhật Bản, Trung Quốc và Việt Nam.</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1645920"/>
                <a:gridCol w="2286000"/>
                <a:gridCol w="2468880"/>
                <a:gridCol w="2651760"/>
                <a:gridCol w="2627071"/>
              </a:tblGrid>
              <a:tr h="876300">
                <a:tc>
                  <a:txBody>
                    <a:bodyPr wrap="square"/>
                    <a:lstStyle/>
                    <a:p>
                      <a:pPr algn="ctr">
                        <a:defRPr sz="1250" b="1">
                          <a:solidFill>
                            <a:srgbClr val="FFFFFF"/>
                          </a:solidFill>
                          <a:latin typeface="Times New Roman"/>
                        </a:defRPr>
                      </a:pPr>
                      <a:r>
                        <a:t>Chỉ tiêu đối chiếu</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Nhật Bản (JP)</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Trung Quốc (CN)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Việt Nam (VN)</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Tổng hợp 3 cứ điểm</a:t>
                      </a:r>
                    </a:p>
                  </a:txBody>
                  <a:tcPr anchor="ctr" marL="36576" marR="36576" marT="13716" marB="13716">
                    <a:solidFill>
                      <a:srgbClr val="1B365D"/>
                    </a:solidFill>
                  </a:tcPr>
                </a:tc>
              </a:tr>
              <a:tr h="876300">
                <a:tc>
                  <a:txBody>
                    <a:bodyPr wrap="square"/>
                    <a:lstStyle/>
                    <a:p>
                      <a:pPr algn="l">
                        <a:defRPr sz="1200" b="1">
                          <a:solidFill>
                            <a:srgbClr val="1E242B"/>
                          </a:solidFill>
                          <a:latin typeface="Times New Roman"/>
                        </a:defRPr>
                      </a:pPr>
                      <a:r>
                        <a:t>1. Số lượng đề án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7 đề án (No.1 ~ No.7)</a:t>
                      </a:r>
                      <a:br/>
                      <a:r>
                        <a:t>(Giữ nguyên từ T8 -&gt; T10)</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11 đề án (No.8 ~ No.17</a:t>
                      </a:r>
                      <a:br/>
                      <a:r>
                        <a:t>+ No.38 AI WeChat)</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20 đề án (No.18 ~ No.37</a:t>
                      </a:r>
                      <a:br/>
                      <a:r>
                        <a:t>+ Nạp FW trước)</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Toàn dự án: 38 đề án</a:t>
                      </a:r>
                      <a:br/>
                      <a:r>
                        <a:t>(JP: 7, CN: 11, VN: 20)</a:t>
                      </a:r>
                    </a:p>
                  </a:txBody>
                  <a:tcPr anchor="ctr" marL="36576" marR="36576" marT="13716" marB="13716">
                    <a:solidFill>
                      <a:srgbClr val="E8EEF5"/>
                    </a:solidFill>
                  </a:tcPr>
                </a:tc>
              </a:tr>
              <a:tr h="876300">
                <a:tc>
                  <a:txBody>
                    <a:bodyPr wrap="square"/>
                    <a:lstStyle/>
                    <a:p>
                      <a:pPr algn="l">
                        <a:defRPr sz="1200" b="1">
                          <a:solidFill>
                            <a:srgbClr val="1E242B"/>
                          </a:solidFill>
                          <a:latin typeface="Times New Roman"/>
                        </a:defRPr>
                      </a:pPr>
                      <a:r>
                        <a:t>2. Hiện trạng thời gian</a:t>
                      </a:r>
                      <a:br/>
                      <a:r>
                        <a:t>(Iris2024)</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Thao tác thuần: 1.171,7s</a:t>
                      </a:r>
                      <a:br/>
                      <a:r>
                        <a:t>Chưa cải tiến: 1.260,7s Color</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575 bước trên bảng CĐ;</a:t>
                      </a:r>
                      <a:br/>
                      <a:r>
                        <a:t>TG giảm đề xuất: 178,6s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Chuẩn mã cao nhất: 1.083s</a:t>
                      </a:r>
                      <a:br/>
                      <a:r>
                        <a:t>Gross toàn công đoạn: 2.350s</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KDTVN: 1.083s (Gross: 2.350s)</a:t>
                      </a:r>
                      <a:br/>
                      <a:r>
                        <a:t>KDC: 1.171,7s Color</a:t>
                      </a:r>
                    </a:p>
                  </a:txBody>
                  <a:tcPr anchor="ctr" marL="36576" marR="36576" marT="13716" marB="13716">
                    <a:solidFill>
                      <a:srgbClr val="F7F9FC"/>
                    </a:solidFill>
                  </a:tcPr>
                </a:tc>
              </a:tr>
              <a:tr h="876300">
                <a:tc>
                  <a:txBody>
                    <a:bodyPr wrap="square"/>
                    <a:lstStyle/>
                    <a:p>
                      <a:pPr algn="l">
                        <a:defRPr sz="1200" b="1">
                          <a:solidFill>
                            <a:srgbClr val="1E242B"/>
                          </a:solidFill>
                          <a:latin typeface="Times New Roman"/>
                        </a:defRPr>
                      </a:pPr>
                      <a:r>
                        <a:t>3. Hiệu quả giảm thời gian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-87,8s vs Iris2024</a:t>
                      </a:r>
                      <a:br/>
                      <a:r>
                        <a:t>(-176,8s vs chưa cải tiến;</a:t>
                      </a:r>
                      <a:br/>
                      <a:r>
                        <a:t>Xóa 153 bước: -267,7s)</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-178,6s thao tác</a:t>
                      </a:r>
                      <a:br/>
                      <a:r>
                        <a:t>-110,0s chờ in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3 ĐA trong file: -170s</a:t>
                      </a:r>
                      <a:br/>
                      <a:r>
                        <a:t>Camera No.27: -177s~-215s</a:t>
                      </a:r>
                      <a:br/>
                      <a:r>
                        <a:t>Mục tiêu: Giảm 50% thời gian</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JP: -176,8s ~ -267,7s</a:t>
                      </a:r>
                      <a:br/>
                      <a:r>
                        <a:t>CN: -178,6s + -110s chờ in</a:t>
                      </a:r>
                      <a:br/>
                      <a:r>
                        <a:t>VN: Giảm 50% thời gian</a:t>
                      </a:r>
                    </a:p>
                  </a:txBody>
                  <a:tcPr anchor="ctr" marL="36576" marR="36576" marT="13716" marB="13716">
                    <a:solidFill>
                      <a:srgbClr val="FFFFFF"/>
                    </a:solidFill>
                  </a:tcPr>
                </a:tc>
              </a:tr>
              <a:tr h="876300">
                <a:tc>
                  <a:txBody>
                    <a:bodyPr wrap="square"/>
                    <a:lstStyle/>
                    <a:p>
                      <a:pPr algn="l">
                        <a:defRPr sz="1200" b="1">
                          <a:solidFill>
                            <a:srgbClr val="1E242B"/>
                          </a:solidFill>
                          <a:latin typeface="Times New Roman"/>
                        </a:defRPr>
                      </a:pPr>
                      <a:r>
                        <a:t>4. Nhân lực &amp; Năng suất</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Tham chiếu Athena: Giảm 50%</a:t>
                      </a:r>
                      <a:br/>
                      <a:r>
                        <a:t>(16 người -&gt; 8 người)</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Tiết kiệm: 11.160 RMB/tháng</a:t>
                      </a:r>
                      <a:br/>
                      <a:r>
                        <a:t>+ 5.000 RMB/5.000 máy</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Hiện tại: 16 người (15,2 máy)</a:t>
                      </a:r>
                      <a:br/>
                      <a:r>
                        <a:t>Mục tiêu: x2 NS (≥30,4 máy)</a:t>
                      </a:r>
                      <a:br/>
                      <a:r>
                        <a:t>Giảm 50% người (còn 8~9)</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Mục tiêu: Tăng x2 năng suất</a:t>
                      </a:r>
                      <a:br/>
                      <a:r>
                        <a:t>Đảm bảo SX trên Line hiện tại</a:t>
                      </a:r>
                    </a:p>
                  </a:txBody>
                  <a:tcPr anchor="ctr" marL="36576" marR="36576" marT="13716" marB="13716">
                    <a:solidFill>
                      <a:srgbClr val="EAF7EE"/>
                    </a:solidFill>
                  </a:tcPr>
                </a:tc>
              </a:tr>
              <a:tr h="876300">
                <a:tc>
                  <a:txBody>
                    <a:bodyPr wrap="square"/>
                    <a:lstStyle/>
                    <a:p>
                      <a:pPr algn="l">
                        <a:defRPr sz="1200" b="1">
                          <a:solidFill>
                            <a:srgbClr val="1E242B"/>
                          </a:solidFill>
                          <a:latin typeface="Times New Roman"/>
                        </a:defRPr>
                      </a:pPr>
                      <a:r>
                        <a:t>5. Dự toán kinh phí</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Mini PC: ~40.000 JPY/bộ</a:t>
                      </a:r>
                      <a:br/>
                      <a:r>
                        <a:t>(1 bộ điều khiển 4 máy)</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Bỏ U155, giảm tờ in:</a:t>
                      </a:r>
                      <a:br/>
                      <a:r>
                        <a:t>0 RMB chi phí thiết bị</a:t>
                      </a:r>
                    </a:p>
                  </a:txBody>
                  <a:tcPr anchor="ctr" marL="36576" marR="36576" marT="13716" marB="13716">
                    <a:solidFill>
                      <a:srgbClr val="FEF7E6"/>
                    </a:solidFill>
                  </a:tcPr>
                </a:tc>
                <a:tc>
                  <a:txBody>
                    <a:bodyPr wrap="square"/>
                    <a:lstStyle/>
                    <a:p>
                      <a:pPr algn="l">
                        <a:defRPr sz="1200" b="1">
                          <a:solidFill>
                            <a:srgbClr val="1E6E3E"/>
                          </a:solidFill>
                          <a:latin typeface="Times New Roman"/>
                        </a:defRPr>
                      </a:pPr>
                      <a:r>
                        <a:t>No.22 (BOM): 101,69 tr VNĐ</a:t>
                      </a:r>
                      <a:br/>
                      <a:r>
                        <a:t>Tổng 3 ĐA: 855,69 tr VNĐ</a:t>
                      </a:r>
                      <a:br/>
                      <a:r>
                        <a:t>(Duyệt trước No.22: 101,69 tr)</a:t>
                      </a:r>
                    </a:p>
                  </a:txBody>
                  <a:tcPr anchor="ctr" marL="36576" marR="36576" marT="13716" marB="13716">
                    <a:solidFill>
                      <a:srgbClr val="FEF7E6"/>
                    </a:solidFill>
                  </a:tcPr>
                </a:tc>
                <a:tc>
                  <a:txBody>
                    <a:bodyPr wrap="square"/>
                    <a:lstStyle/>
                    <a:p>
                      <a:pPr algn="l">
                        <a:defRPr sz="1200" b="1">
                          <a:solidFill>
                            <a:srgbClr val="1E6E3E"/>
                          </a:solidFill>
                          <a:latin typeface="Times New Roman"/>
                        </a:defRPr>
                      </a:pPr>
                      <a:r>
                        <a:t>VN: 855,69 tr (32.911 USD)</a:t>
                      </a:r>
                      <a:br/>
                      <a:r>
                        <a:t>(Duyệt riêng No.22: 101,69 tr)</a:t>
                      </a:r>
                      <a:br/>
                      <a:r>
                        <a:t>JP: Mini PC ~40k JPY/bộ</a:t>
                      </a:r>
                    </a:p>
                  </a:txBody>
                  <a:tcPr anchor="ctr" marL="36576" marR="36576" marT="13716" marB="13716">
                    <a:solidFill>
                      <a:srgbClr val="FEF7E6"/>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(2/4)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Chi tiết 7 đề án của Nhật Bản (No.1 ~ No.7) và 11 đề án của Trung Quốc (No.8 ~ No.17, No.38)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13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Danh mục 7 đề án của Nhật Bản và 11 đề án của Trung Quốc theo tài liệu tổng hợp chung, cùng kế hoạch triển khai ngang tại KDTVN.</a:t>
            </a:r>
          </a:p>
        </p:txBody>
      </p:sp>
      <p:graphicFrame>
        <p:nvGraphicFramePr>
          <p:cNvPr id="7" name="Table 6"/>
          <p:cNvGraphicFramePr>
            <a:graphicFrameLocks noGrp="1"/>
          </p:cNvGraphicFramePr>
          <p:nvPr/>
        </p:nvGraphicFramePr>
        <p:xfrm>
          <a:off x="256032" y="1234440"/>
          <a:ext cx="5669280" cy="5257800"/>
        </p:xfrm>
        <a:graphic>
          <a:graphicData uri="http://schemas.openxmlformats.org/drawingml/2006/table">
            <a:tbl>
              <a:tblPr firstRow="1" bandRow="1">
                <a:tableStyleId>{5C22544A-7EE6-4342-B048-85BDC9FD1C3A}</a:tableStyleId>
              </a:tblPr>
              <a:tblGrid>
                <a:gridCol w="822960"/>
                <a:gridCol w="3474720"/>
                <a:gridCol w="1371600"/>
              </a:tblGrid>
              <a:tr h="657225">
                <a:tc>
                  <a:txBody>
                    <a:bodyPr wrap="square"/>
                    <a:lstStyle/>
                    <a:p>
                      <a:pPr algn="ctr">
                        <a:defRPr sz="1250" b="1">
                          <a:solidFill>
                            <a:srgbClr val="FFFFFF"/>
                          </a:solidFill>
                          <a:latin typeface="Times New Roman"/>
                        </a:defRPr>
                      </a:pPr>
                      <a:r>
                        <a:t>STT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7 Đề án của Nhật Bản (JP: No.1 ~ No.7)</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No.1</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Thiết kế chuyền lấy A-1 làm trung tâm (4 người, Takt 97s)</a:t>
                      </a:r>
                    </a:p>
                  </a:txBody>
                  <a:tcPr anchor="ctr" marL="36576" marR="36576" marT="13716" marB="13716">
                    <a:solidFill>
                      <a:srgbClr val="FFFFFF"/>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No.2</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bước cài đặt ngưỡng mực thải WTB U155 (-29,2s)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bấm tay U201, chuyển sang đọc log Host PC (-15,1s)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động kiểm tra cảm biến khổ giấy khay 1 &amp; 2 (-66,7s)</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No.5</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Đổi phương pháp kiểm tra cảm biến người &amp; bỏ tạo JAM</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Chờ tài liệu JP</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No.6</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Bỏ kiểm tra cổng USB riêng biệt (bảo chứng khi nạp FW)</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No.7</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nhận diện công tắc nắp &amp; đo an toàn điện khi đóng kín vỏ</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bl>
          </a:graphicData>
        </a:graphic>
      </p:graphicFrame>
      <p:graphicFrame>
        <p:nvGraphicFramePr>
          <p:cNvPr id="8" name="Table 7"/>
          <p:cNvGraphicFramePr>
            <a:graphicFrameLocks noGrp="1"/>
          </p:cNvGraphicFramePr>
          <p:nvPr/>
        </p:nvGraphicFramePr>
        <p:xfrm>
          <a:off x="6172200" y="1234440"/>
          <a:ext cx="5760720" cy="5257800"/>
        </p:xfrm>
        <a:graphic>
          <a:graphicData uri="http://schemas.openxmlformats.org/drawingml/2006/table">
            <a:tbl>
              <a:tblPr firstRow="1" bandRow="1">
                <a:tableStyleId>{5C22544A-7EE6-4342-B048-85BDC9FD1C3A}</a:tableStyleId>
              </a:tblPr>
              <a:tblGrid>
                <a:gridCol w="822960"/>
                <a:gridCol w="3566160"/>
                <a:gridCol w="1371600"/>
              </a:tblGrid>
              <a:tr h="657225">
                <a:tc>
                  <a:txBody>
                    <a:bodyPr wrap="square"/>
                    <a:lstStyle/>
                    <a:p>
                      <a:pPr algn="ctr">
                        <a:defRPr sz="1250" b="1">
                          <a:solidFill>
                            <a:srgbClr val="FFFFFF"/>
                          </a:solidFill>
                          <a:latin typeface="Times New Roman"/>
                        </a:defRPr>
                      </a:pPr>
                      <a:r>
                        <a:t>STT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11 Đề án của Trung Quốc (CN: No.8 ~ No.17, No.38)</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657225">
                <a:tc>
                  <a:txBody>
                    <a:bodyPr wrap="square"/>
                    <a:lstStyle/>
                    <a:p>
                      <a:pPr algn="ctr">
                        <a:defRPr sz="1200" b="1">
                          <a:solidFill>
                            <a:srgbClr val="1E242B"/>
                          </a:solidFill>
                          <a:latin typeface="Times New Roman"/>
                        </a:defRPr>
                      </a:pPr>
                      <a:r>
                        <a:t>No.8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Xem xét bỏ đo khe hở Belt truyền ảnh (-15,4s)</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No.9</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Giảm/bỏ kiểm tra độ bám mực sấy &amp; đổi test khay MPF</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657225">
                <a:tc>
                  <a:txBody>
                    <a:bodyPr wrap="square"/>
                    <a:lstStyle/>
                    <a:p>
                      <a:pPr algn="ctr">
                        <a:defRPr sz="1200" b="1">
                          <a:solidFill>
                            <a:srgbClr val="1E242B"/>
                          </a:solidFill>
                          <a:latin typeface="Times New Roman"/>
                        </a:defRPr>
                      </a:pPr>
                      <a:r>
                        <a:t>No.10</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Xem xét lại quy trình soi chấm vàng chống tiền giả PPT</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Tạm giữ Scanner</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No.11</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2 tờ DC-1 và bản Gray thành 1 tờ duy nhất</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No.12</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Đồ gá tự động quét đo lề bản in Gray &amp; bù lệnh U402</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chế tạo thử</a:t>
                      </a:r>
                    </a:p>
                  </a:txBody>
                  <a:tcPr anchor="ctr" marL="36576" marR="36576" marT="13716" marB="13716">
                    <a:solidFill>
                      <a:srgbClr val="FFFFFF"/>
                    </a:solidFill>
                  </a:tcPr>
                </a:tc>
              </a:tr>
              <a:tr h="657225">
                <a:tc>
                  <a:txBody>
                    <a:bodyPr wrap="square"/>
                    <a:lstStyle/>
                    <a:p>
                      <a:pPr algn="ctr">
                        <a:defRPr sz="1200" b="1">
                          <a:solidFill>
                            <a:srgbClr val="1E242B"/>
                          </a:solidFill>
                          <a:latin typeface="Times New Roman"/>
                        </a:defRPr>
                      </a:pPr>
                      <a:r>
                        <a:t>No.13</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Giảm số lượng bản in Print từ 17 tờ xuống còn 9 tờ</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EAF7EE"/>
                    </a:solidFill>
                  </a:tcPr>
                </a:tc>
              </a:tr>
              <a:tr h="657225">
                <a:tc>
                  <a:txBody>
                    <a:bodyPr wrap="square"/>
                    <a:lstStyle/>
                    <a:p>
                      <a:pPr algn="ctr">
                        <a:defRPr sz="1200" b="1">
                          <a:solidFill>
                            <a:srgbClr val="1E242B"/>
                          </a:solidFill>
                          <a:latin typeface="Times New Roman"/>
                        </a:defRPr>
                      </a:pPr>
                      <a:r>
                        <a:t>No.14~38</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Vào Maintenance Mode tự động (No.14); Macro in 1 chạm (No.15); Đo tốc độ FAN (No.16); Tối ưu quét SITC-2 (No.17); AI WeChat (No.38)</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phối hợp KDC</a:t>
                      </a:r>
                    </a:p>
                  </a:txBody>
                  <a:tcPr anchor="ctr" marL="36576" marR="36576" marT="13716" marB="13716">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(3/4)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Các vấn đề kỹ thuật, rủi ro phát sinh và Đối sách thống nhất giữa 3 cứ điểm</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14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Tổng hợp 6 vấn đề kỹ thuật và phát sinh chi phí từ 17 cuộc họp liên kết ba cứ điểm, kèm phương án đối sách đã thống nhất sau DR4.</a:t>
            </a:r>
          </a:p>
        </p:txBody>
      </p:sp>
      <p:graphicFrame>
        <p:nvGraphicFramePr>
          <p:cNvPr id="7" name="Table 6"/>
          <p:cNvGraphicFramePr>
            <a:graphicFrameLocks noGrp="1"/>
          </p:cNvGraphicFramePr>
          <p:nvPr/>
        </p:nvGraphicFramePr>
        <p:xfrm>
          <a:off x="256032" y="1234440"/>
          <a:ext cx="11679631" cy="5257800"/>
        </p:xfrm>
        <a:graphic>
          <a:graphicData uri="http://schemas.openxmlformats.org/drawingml/2006/table">
            <a:tbl>
              <a:tblPr firstRow="1" bandRow="1">
                <a:tableStyleId>{5C22544A-7EE6-4342-B048-85BDC9FD1C3A}</a:tableStyleId>
              </a:tblPr>
              <a:tblGrid>
                <a:gridCol w="548640"/>
                <a:gridCol w="2286000"/>
                <a:gridCol w="3931920"/>
                <a:gridCol w="4913071"/>
              </a:tblGrid>
              <a:tr h="751114">
                <a:tc>
                  <a:txBody>
                    <a:bodyPr wrap="square"/>
                    <a:lstStyle/>
                    <a:p>
                      <a:pPr algn="ctr">
                        <a:defRPr sz="1250" b="1">
                          <a:solidFill>
                            <a:srgbClr val="FFFFFF"/>
                          </a:solidFill>
                          <a:latin typeface="Times New Roman"/>
                        </a:defRPr>
                      </a:pPr>
                      <a:r>
                        <a:t>TT</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Vấn đề phát sinh</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Chi tiết rủi ro thực tế</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Đối sách kỹ thuật đã thống nhất</a:t>
                      </a:r>
                    </a:p>
                  </a:txBody>
                  <a:tcPr anchor="ctr" marL="36576" marR="36576" marT="13716" marB="13716">
                    <a:solidFill>
                      <a:srgbClr val="1B365D"/>
                    </a:solidFill>
                  </a:tcPr>
                </a:tc>
              </a:tr>
              <a:tr h="751114">
                <a:tc>
                  <a:txBody>
                    <a:bodyPr wrap="square"/>
                    <a:lstStyle/>
                    <a:p>
                      <a:pPr algn="ctr">
                        <a:defRPr sz="1200" b="1">
                          <a:solidFill>
                            <a:srgbClr val="1E242B"/>
                          </a:solidFill>
                          <a:latin typeface="Times New Roman"/>
                        </a:defRPr>
                      </a:pPr>
                      <a:r>
                        <a:t>1</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Chi phí Robot No.23 &amp; No.24 quá cao (754 tr VNĐ)</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Robot đặt bản thảo No.23 (650tr) và Robot USB/U201 No.24 (104tr) thu hồi vốn lâu (&gt;6 năm).</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Hủy 2 Robot; chuyển sang dùng khay nạp DP kéo quét liên tục (No.25) và đọc log Host PC (JP No.3, No.6) với chi phí thiết bị 0 đồng.</a:t>
                      </a:r>
                    </a:p>
                  </a:txBody>
                  <a:tcPr anchor="ctr" marL="36576" marR="36576" marT="13716" marB="13716">
                    <a:solidFill>
                      <a:srgbClr val="E8EEF5"/>
                    </a:solidFill>
                  </a:tcPr>
                </a:tc>
              </a:tr>
              <a:tr h="751114">
                <a:tc>
                  <a:txBody>
                    <a:bodyPr wrap="square"/>
                    <a:lstStyle/>
                    <a:p>
                      <a:pPr algn="ctr">
                        <a:defRPr sz="1200" b="1">
                          <a:solidFill>
                            <a:srgbClr val="1E242B"/>
                          </a:solidFill>
                          <a:latin typeface="Times New Roman"/>
                        </a:defRPr>
                      </a:pPr>
                      <a:r>
                        <a:t>2</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Raspberry Pi của Athena bị chai pin &amp; rớt mạng Wi-Fi</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Athena dùng Pin sạc dự phòng cho AGV bị chai pin và rớt Wi-Fi 2~3 lần/tuần, không hợp với sản lượng 16.000 máy/tháng.</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Thống nhất chuyển sang Spica Mini PC: Cấp nguồn điện AC cố định, dùng mạng dây LAN/VLAN (1 bộ điều khiển 4 máy trong Cell).</a:t>
                      </a:r>
                    </a:p>
                  </a:txBody>
                  <a:tcPr anchor="ctr" marL="36576" marR="36576" marT="13716" marB="13716">
                    <a:solidFill>
                      <a:srgbClr val="FEF7E6"/>
                    </a:solidFill>
                  </a:tcPr>
                </a:tc>
              </a:tr>
              <a:tr h="751114">
                <a:tc>
                  <a:txBody>
                    <a:bodyPr wrap="square"/>
                    <a:lstStyle/>
                    <a:p>
                      <a:pPr algn="ctr">
                        <a:defRPr sz="1200" b="1">
                          <a:solidFill>
                            <a:srgbClr val="1E242B"/>
                          </a:solidFill>
                          <a:latin typeface="Times New Roman"/>
                        </a:defRPr>
                      </a:pPr>
                      <a:r>
                        <a:t>3</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Sai lệch khi quét qua khay DP so với mặt kính ISU</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Kéo giấy liên tục qua khay DP (No.25) có thể bị lệch hoặc rung so với đặt cố định trên kính phẳng ISU.</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Đang chạy thực nghiệm so sánh dữ liệu; xây dựng thuật toán bù hình học trên phần mềm PC; chỉ áp dụng đại trà khi Cpk ≥ 1,33.</a:t>
                      </a:r>
                    </a:p>
                  </a:txBody>
                  <a:tcPr anchor="ctr" marL="36576" marR="36576" marT="13716" marB="13716">
                    <a:solidFill>
                      <a:srgbClr val="FFFFFF"/>
                    </a:solidFill>
                  </a:tcPr>
                </a:tc>
              </a:tr>
              <a:tr h="751114">
                <a:tc>
                  <a:txBody>
                    <a:bodyPr wrap="square"/>
                    <a:lstStyle/>
                    <a:p>
                      <a:pPr algn="ctr">
                        <a:defRPr sz="1200" b="1">
                          <a:solidFill>
                            <a:srgbClr val="1E242B"/>
                          </a:solidFill>
                          <a:latin typeface="Times New Roman"/>
                        </a:defRPr>
                      </a:pPr>
                      <a:r>
                        <a:t>4</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Quy định an toàn bắt buộc đo chịu áp khi đóng kín nắp máy</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DR4 quy định bắt buộc đo chịu áp khi đã đóng kín vỏ để phát hiện kẹt dập dây điện; nhưng K3 đang mở nắp kiểm tra FAN.</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Tách riêng kiểm tra FAN bằng tín hiệu phần mềm; chuyển nguyên công lắp 6 tấm vỏ ngoài về cuối chuyền Lắp ráp (No.33).</a:t>
                      </a:r>
                    </a:p>
                  </a:txBody>
                  <a:tcPr anchor="ctr" marL="36576" marR="36576" marT="13716" marB="13716">
                    <a:solidFill>
                      <a:srgbClr val="EAF7EE"/>
                    </a:solidFill>
                  </a:tcPr>
                </a:tc>
              </a:tr>
              <a:tr h="751114">
                <a:tc>
                  <a:txBody>
                    <a:bodyPr wrap="square"/>
                    <a:lstStyle/>
                    <a:p>
                      <a:pPr algn="ctr">
                        <a:defRPr sz="1200" b="1">
                          <a:solidFill>
                            <a:srgbClr val="1E242B"/>
                          </a:solidFill>
                          <a:latin typeface="Times New Roman"/>
                        </a:defRPr>
                      </a:pPr>
                      <a:r>
                        <a:t>5</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Lỗi lệch Transfer Belt tại VN (1~2 máy/tháng)</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Nhà máy CN không bị, nhưng VN vẫn có 1~2 máy lỗi/tháng do dung sai linh kiện; đổi cơ cấu gạt mực dễ lật lưỡi gạt.</a:t>
                      </a:r>
                    </a:p>
                  </a:txBody>
                  <a:tcPr anchor="ctr" marL="36576" marR="36576" marT="13716" marB="13716">
                    <a:solidFill>
                      <a:srgbClr val="FEF7E6"/>
                    </a:solidFill>
                  </a:tcPr>
                </a:tc>
                <a:tc>
                  <a:txBody>
                    <a:bodyPr wrap="square"/>
                    <a:lstStyle/>
                    <a:p>
                      <a:pPr algn="l">
                        <a:defRPr sz="1200">
                          <a:solidFill>
                            <a:srgbClr val="1E242B"/>
                          </a:solidFill>
                          <a:latin typeface="Times New Roman"/>
                        </a:defRPr>
                      </a:pPr>
                      <a:r>
                        <a:t>Thiết kế đã đổi Puli góc vát 35° và đổi vật liệu Belt; VN tiếp tục đo kiểm đến khi Cpk ≥ 1,33; bổ sung chu trình cấp mực U930.</a:t>
                      </a:r>
                    </a:p>
                  </a:txBody>
                  <a:tcPr anchor="ctr" marL="36576" marR="36576" marT="13716" marB="13716">
                    <a:solidFill>
                      <a:srgbClr val="FEF7E6"/>
                    </a:solidFill>
                  </a:tcPr>
                </a:tc>
              </a:tr>
              <a:tr h="751116">
                <a:tc>
                  <a:txBody>
                    <a:bodyPr wrap="square"/>
                    <a:lstStyle/>
                    <a:p>
                      <a:pPr algn="ctr">
                        <a:defRPr sz="1200" b="1">
                          <a:solidFill>
                            <a:srgbClr val="1E242B"/>
                          </a:solidFill>
                          <a:latin typeface="Times New Roman"/>
                        </a:defRPr>
                      </a:pPr>
                      <a:r>
                        <a:t>6</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Phát sinh bước mới U413 (+89s Color / +52s Mono)</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Để nâng cao chất lượng ảnh, thiết kế bổ sung bước bù bước tia quét U413 làm phát sinh thêm 89s nếu làm thủ công.</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Xem xét phần mềm tự động nạp dữ liệu LSU bỏ chỉnh tay trên line (~225-250 vạn JPY), hoặc tích hợp tự động vào chu trình in trạm A-2.</a:t>
                      </a:r>
                    </a:p>
                  </a:txBody>
                  <a:tcPr anchor="ctr" marL="36576" marR="36576" marT="13716" marB="13716">
                    <a:solidFill>
                      <a:srgbClr val="F7F9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21792"/>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56032" y="109728"/>
            <a:ext cx="2148840" cy="402336"/>
          </a:xfrm>
          <a:prstGeom prst="roundRect">
            <a:avLst/>
          </a:prstGeom>
          <a:solidFill>
            <a:srgbClr val="D96B27"/>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200" b="1">
                <a:solidFill>
                  <a:srgbClr val="FFFFFF"/>
                </a:solidFill>
                <a:latin typeface="Times New Roman"/>
              </a:defRPr>
            </a:pPr>
            <a:r>
              <a:t>PHẦN THAM KHẢO (4/4)</a:t>
            </a:r>
          </a:p>
        </p:txBody>
      </p:sp>
      <p:sp>
        <p:nvSpPr>
          <p:cNvPr id="4" name="TextBox 3"/>
          <p:cNvSpPr txBox="1"/>
          <p:nvPr/>
        </p:nvSpPr>
        <p:spPr>
          <a:xfrm>
            <a:off x="2514600" y="73152"/>
            <a:ext cx="8823960" cy="475488"/>
          </a:xfrm>
          <a:prstGeom prst="rect">
            <a:avLst/>
          </a:prstGeom>
          <a:noFill/>
        </p:spPr>
        <p:txBody>
          <a:bodyPr wrap="square" lIns="18288" rIns="18288">
            <a:spAutoFit/>
          </a:bodyPr>
          <a:lstStyle/>
          <a:p>
            <a:pPr>
              <a:defRPr sz="1550" b="1">
                <a:solidFill>
                  <a:srgbClr val="FFFFFF"/>
                </a:solidFill>
                <a:latin typeface="Times New Roman"/>
              </a:defRPr>
            </a:pPr>
            <a:r>
              <a:t>Bảng tra cứu đầy đủ 38 đề án cải tiến của 3 cứ điểm (No.1 ~ No.38)</a:t>
            </a:r>
          </a:p>
        </p:txBody>
      </p:sp>
      <p:sp>
        <p:nvSpPr>
          <p:cNvPr id="5" name="TextBox 4"/>
          <p:cNvSpPr txBox="1"/>
          <p:nvPr/>
        </p:nvSpPr>
        <p:spPr>
          <a:xfrm>
            <a:off x="11292840" y="128016"/>
            <a:ext cx="731520" cy="347472"/>
          </a:xfrm>
          <a:prstGeom prst="rect">
            <a:avLst/>
          </a:prstGeom>
          <a:noFill/>
        </p:spPr>
        <p:txBody>
          <a:bodyPr wrap="none">
            <a:spAutoFit/>
          </a:bodyPr>
          <a:lstStyle/>
          <a:p>
            <a:pPr algn="r">
              <a:defRPr sz="1200" b="1">
                <a:solidFill>
                  <a:srgbClr val="D0D8E8"/>
                </a:solidFill>
                <a:latin typeface="Times New Roman"/>
              </a:defRPr>
            </a:pPr>
            <a:r>
              <a:t>15 / 15</a:t>
            </a:r>
          </a:p>
        </p:txBody>
      </p:sp>
      <p:sp>
        <p:nvSpPr>
          <p:cNvPr id="6" name="Rectangle 5"/>
          <p:cNvSpPr/>
          <p:nvPr/>
        </p:nvSpPr>
        <p:spPr>
          <a:xfrm>
            <a:off x="256032" y="676656"/>
            <a:ext cx="11679631" cy="475488"/>
          </a:xfrm>
          <a:prstGeom prst="rect">
            <a:avLst/>
          </a:prstGeom>
          <a:solidFill>
            <a:srgbClr val="E8EEF5"/>
          </a:solidFill>
          <a:ln w="12700">
            <a:solidFill>
              <a:srgbClr val="2B547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ctr">
              <a:defRPr sz="1200" b="1">
                <a:solidFill>
                  <a:srgbClr val="1B365D"/>
                </a:solidFill>
                <a:latin typeface="Times New Roman"/>
              </a:defRPr>
            </a:pPr>
            <a:r>
              <a:t>Bảng tra cứu đầy đủ 38 đề án cải tiến của ba cứ điểm được trích xuất từ tài liệu tổng hợp chung IrisEXP改善提案まとめ.xlsx.</a:t>
            </a:r>
          </a:p>
        </p:txBody>
      </p:sp>
      <p:graphicFrame>
        <p:nvGraphicFramePr>
          <p:cNvPr id="7" name="Table 6"/>
          <p:cNvGraphicFramePr>
            <a:graphicFrameLocks noGrp="1"/>
          </p:cNvGraphicFramePr>
          <p:nvPr/>
        </p:nvGraphicFramePr>
        <p:xfrm>
          <a:off x="256032" y="1234440"/>
          <a:ext cx="5669280" cy="5257800"/>
        </p:xfrm>
        <a:graphic>
          <a:graphicData uri="http://schemas.openxmlformats.org/drawingml/2006/table">
            <a:tbl>
              <a:tblPr firstRow="1" bandRow="1">
                <a:tableStyleId>{5C22544A-7EE6-4342-B048-85BDC9FD1C3A}</a:tableStyleId>
              </a:tblPr>
              <a:tblGrid>
                <a:gridCol w="640080"/>
                <a:gridCol w="1097280"/>
                <a:gridCol w="2560320"/>
                <a:gridCol w="1371600"/>
              </a:tblGrid>
              <a:tr h="477981">
                <a:tc>
                  <a:txBody>
                    <a:bodyPr wrap="square"/>
                    <a:lstStyle/>
                    <a:p>
                      <a:pPr algn="ctr">
                        <a:defRPr sz="1250" b="1">
                          <a:solidFill>
                            <a:srgbClr val="FFFFFF"/>
                          </a:solidFill>
                          <a:latin typeface="Times New Roman"/>
                        </a:defRPr>
                      </a:pPr>
                      <a:r>
                        <a:t>Mã</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Cứ điểm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đề án (No.1 ~ No.19)</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477981">
                <a:tc>
                  <a:txBody>
                    <a:bodyPr wrap="square"/>
                    <a:lstStyle/>
                    <a:p>
                      <a:pPr algn="ctr">
                        <a:defRPr sz="1200" b="1">
                          <a:solidFill>
                            <a:srgbClr val="1E242B"/>
                          </a:solidFill>
                          <a:latin typeface="Times New Roman"/>
                        </a:defRPr>
                      </a:pPr>
                      <a:r>
                        <a:t>No.1</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Chuyền lấy A-1 làm trọng tâm (4 người, 97s)</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No.2</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bước cài đặt ngưỡng WTB U155 (-29s)</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No.3</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kiểm tra Panel U201, đọc log Host PC</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No.4</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Tự động kiểm tra khổ giấy khay 1 &amp; 2</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No.5~7</a:t>
                      </a:r>
                    </a:p>
                  </a:txBody>
                  <a:tcPr anchor="ctr" marL="36576" marR="36576" marT="13716" marB="13716">
                    <a:solidFill>
                      <a:srgbClr val="E8EEF5"/>
                    </a:solidFill>
                  </a:tcPr>
                </a:tc>
                <a:tc>
                  <a:txBody>
                    <a:bodyPr wrap="square"/>
                    <a:lstStyle/>
                    <a:p>
                      <a:pPr algn="ctr">
                        <a:defRPr sz="1200">
                          <a:solidFill>
                            <a:srgbClr val="1E242B"/>
                          </a:solidFill>
                          <a:latin typeface="Times New Roman"/>
                        </a:defRPr>
                      </a:pPr>
                      <a:r>
                        <a:t>Nhật Bản</a:t>
                      </a:r>
                    </a:p>
                  </a:txBody>
                  <a:tcPr anchor="ctr" marL="36576" marR="36576" marT="13716" marB="13716">
                    <a:solidFill>
                      <a:srgbClr val="E8EEF5"/>
                    </a:solidFill>
                  </a:tcPr>
                </a:tc>
                <a:tc>
                  <a:txBody>
                    <a:bodyPr wrap="square"/>
                    <a:lstStyle/>
                    <a:p>
                      <a:pPr algn="l">
                        <a:defRPr sz="1200">
                          <a:solidFill>
                            <a:srgbClr val="1E242B"/>
                          </a:solidFill>
                          <a:latin typeface="Times New Roman"/>
                        </a:defRPr>
                      </a:pPr>
                      <a:r>
                        <a:t>Bỏ tạo JAM (No.5); Bỏ test USB (No.6); Tự nhận diện công tắc nắp &amp; đo chịu áp (No.7)</a:t>
                      </a:r>
                    </a:p>
                  </a:txBody>
                  <a:tcPr anchor="ctr" marL="36576" marR="36576" marT="13716" marB="13716">
                    <a:solidFill>
                      <a:srgbClr val="E8EEF5"/>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8EEF5"/>
                    </a:solidFill>
                  </a:tcPr>
                </a:tc>
              </a:tr>
              <a:tr h="477981">
                <a:tc>
                  <a:txBody>
                    <a:bodyPr wrap="square"/>
                    <a:lstStyle/>
                    <a:p>
                      <a:pPr algn="ctr">
                        <a:defRPr sz="1200" b="1">
                          <a:solidFill>
                            <a:srgbClr val="1E242B"/>
                          </a:solidFill>
                          <a:latin typeface="Times New Roman"/>
                        </a:defRPr>
                      </a:pPr>
                      <a:r>
                        <a:t>No.8~10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Xem xét bỏ đo Belt (No.8); Giảm test sấy (No.9); Tạm giữ Scanner soi chấm PPT (No.10)</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No.11</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Gộp 2 tờ DC-1 và Gray thành 1 tờ duy nhất</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No.12~13</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Tự đo lề Gray (No.12); Giảm Print 17-&gt;9 tờ (No.13)</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Chờ QA duyệt</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No.14~17</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Trung Quốc</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Vào Maintenance mạng (No.14); Macro in (No.15); Đo tốc độ FAN (No.16); Quét SITC-2 (No.17)</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phối hợp</a:t>
                      </a:r>
                    </a:p>
                  </a:txBody>
                  <a:tcPr anchor="ctr" marL="36576" marR="36576" marT="13716" marB="13716">
                    <a:solidFill>
                      <a:srgbClr val="FFFFFF"/>
                    </a:solidFill>
                  </a:tcPr>
                </a:tc>
              </a:tr>
              <a:tr h="477990">
                <a:tc>
                  <a:txBody>
                    <a:bodyPr wrap="square"/>
                    <a:lstStyle/>
                    <a:p>
                      <a:pPr algn="ctr">
                        <a:defRPr sz="1200" b="1">
                          <a:solidFill>
                            <a:srgbClr val="1E242B"/>
                          </a:solidFill>
                          <a:latin typeface="Times New Roman"/>
                        </a:defRPr>
                      </a:pPr>
                      <a:r>
                        <a:t>No.18~19</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Nạp FW 4 máy (No.18); Tự đổi tiếng Anh (No.19)</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Triển khai ngay</a:t>
                      </a:r>
                    </a:p>
                  </a:txBody>
                  <a:tcPr anchor="ctr" marL="36576" marR="36576" marT="13716" marB="13716">
                    <a:solidFill>
                      <a:srgbClr val="EAF7EE"/>
                    </a:solidFill>
                  </a:tcPr>
                </a:tc>
              </a:tr>
            </a:tbl>
          </a:graphicData>
        </a:graphic>
      </p:graphicFrame>
      <p:graphicFrame>
        <p:nvGraphicFramePr>
          <p:cNvPr id="8" name="Table 7"/>
          <p:cNvGraphicFramePr>
            <a:graphicFrameLocks noGrp="1"/>
          </p:cNvGraphicFramePr>
          <p:nvPr/>
        </p:nvGraphicFramePr>
        <p:xfrm>
          <a:off x="6172200" y="1234440"/>
          <a:ext cx="5763463" cy="5257800"/>
        </p:xfrm>
        <a:graphic>
          <a:graphicData uri="http://schemas.openxmlformats.org/drawingml/2006/table">
            <a:tbl>
              <a:tblPr firstRow="1" bandRow="1">
                <a:tableStyleId>{5C22544A-7EE6-4342-B048-85BDC9FD1C3A}</a:tableStyleId>
              </a:tblPr>
              <a:tblGrid>
                <a:gridCol w="640080"/>
                <a:gridCol w="1097280"/>
                <a:gridCol w="2654503"/>
                <a:gridCol w="1371600"/>
              </a:tblGrid>
              <a:tr h="477981">
                <a:tc>
                  <a:txBody>
                    <a:bodyPr wrap="square"/>
                    <a:lstStyle/>
                    <a:p>
                      <a:pPr algn="ctr">
                        <a:defRPr sz="1250" b="1">
                          <a:solidFill>
                            <a:srgbClr val="FFFFFF"/>
                          </a:solidFill>
                          <a:latin typeface="Times New Roman"/>
                        </a:defRPr>
                      </a:pPr>
                      <a:r>
                        <a:t>Mã</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Cứ điểm</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Nội dung đề án (No.20 ~ No.38)</a:t>
                      </a:r>
                    </a:p>
                  </a:txBody>
                  <a:tcPr anchor="ctr" marL="36576" marR="36576" marT="13716" marB="13716">
                    <a:solidFill>
                      <a:srgbClr val="1B365D"/>
                    </a:solidFill>
                  </a:tcPr>
                </a:tc>
                <a:tc>
                  <a:txBody>
                    <a:bodyPr wrap="square"/>
                    <a:lstStyle/>
                    <a:p>
                      <a:pPr algn="ctr">
                        <a:defRPr sz="1250" b="1">
                          <a:solidFill>
                            <a:srgbClr val="FFFFFF"/>
                          </a:solidFill>
                          <a:latin typeface="Times New Roman"/>
                        </a:defRPr>
                      </a:pPr>
                      <a:r>
                        <a:t>Trạng thái</a:t>
                      </a:r>
                    </a:p>
                  </a:txBody>
                  <a:tcPr anchor="ctr" marL="36576" marR="36576" marT="13716" marB="13716">
                    <a:solidFill>
                      <a:srgbClr val="1B365D"/>
                    </a:solidFill>
                  </a:tcPr>
                </a:tc>
              </a:tr>
              <a:tr h="477981">
                <a:tc>
                  <a:txBody>
                    <a:bodyPr wrap="square"/>
                    <a:lstStyle/>
                    <a:p>
                      <a:pPr algn="ctr">
                        <a:defRPr sz="1200" b="1">
                          <a:solidFill>
                            <a:srgbClr val="1E242B"/>
                          </a:solidFill>
                          <a:latin typeface="Times New Roman"/>
                        </a:defRPr>
                      </a:pPr>
                      <a:r>
                        <a:t>No.20~21</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Truyền log LAN (No.20); Gá nhanh Option (No.21)</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Đang chế tạo thử</a:t>
                      </a:r>
                    </a:p>
                  </a:txBody>
                  <a:tcPr anchor="ctr" marL="36576" marR="36576" marT="13716" marB="13716">
                    <a:solidFill>
                      <a:srgbClr val="FFFFFF"/>
                    </a:solidFill>
                  </a:tcPr>
                </a:tc>
              </a:tr>
              <a:tr h="477981">
                <a:tc>
                  <a:txBody>
                    <a:bodyPr wrap="square"/>
                    <a:lstStyle/>
                    <a:p>
                      <a:pPr algn="ctr">
                        <a:defRPr sz="1200" b="1">
                          <a:solidFill>
                            <a:srgbClr val="1E242B"/>
                          </a:solidFill>
                          <a:latin typeface="Times New Roman"/>
                        </a:defRPr>
                      </a:pPr>
                      <a:r>
                        <a:t>No.22</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b="1">
                          <a:solidFill>
                            <a:srgbClr val="1E6E3E"/>
                          </a:solidFill>
                          <a:latin typeface="Times New Roman"/>
                        </a:defRPr>
                      </a:pPr>
                      <a:r>
                        <a:t>Tự động kiểm tra an toàn điện (101,69 tr VNĐ)</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Duyệt Đợt 1</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No.23~24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Hủy Robot 25k$ &amp; 4k$; thay bằng DP và Host PC</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Hủy 2 Robot</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No.25</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Lắp khay DP lên máy test để quét liên tục</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Đang kiểm chứng</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No.26</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FFFFFF"/>
                    </a:solidFill>
                  </a:tcPr>
                </a:tc>
                <a:tc>
                  <a:txBody>
                    <a:bodyPr wrap="square"/>
                    <a:lstStyle/>
                    <a:p>
                      <a:pPr algn="l">
                        <a:defRPr sz="1200">
                          <a:solidFill>
                            <a:srgbClr val="1E242B"/>
                          </a:solidFill>
                          <a:latin typeface="Times New Roman"/>
                        </a:defRPr>
                      </a:pPr>
                      <a:r>
                        <a:t>AI phân tích tiếng kêu lạ &amp; nhiệt độ (~600 vạn)</a:t>
                      </a:r>
                    </a:p>
                  </a:txBody>
                  <a:tcPr anchor="ctr" marL="36576" marR="36576" marT="13716" marB="13716">
                    <a:solidFill>
                      <a:srgbClr val="FFFFFF"/>
                    </a:solidFill>
                  </a:tcPr>
                </a:tc>
                <a:tc>
                  <a:txBody>
                    <a:bodyPr wrap="square"/>
                    <a:lstStyle/>
                    <a:p>
                      <a:pPr algn="ctr">
                        <a:defRPr sz="1200">
                          <a:solidFill>
                            <a:srgbClr val="1E242B"/>
                          </a:solidFill>
                          <a:latin typeface="Times New Roman"/>
                        </a:defRPr>
                      </a:pPr>
                      <a:r>
                        <a:t>Nghiên cứu dài hạn</a:t>
                      </a:r>
                    </a:p>
                  </a:txBody>
                  <a:tcPr anchor="ctr" marL="36576" marR="36576" marT="13716" marB="13716">
                    <a:solidFill>
                      <a:srgbClr val="FFFFFF"/>
                    </a:solidFill>
                  </a:tcPr>
                </a:tc>
              </a:tr>
              <a:tr h="477981">
                <a:tc>
                  <a:txBody>
                    <a:bodyPr wrap="square"/>
                    <a:lstStyle/>
                    <a:p>
                      <a:pPr algn="ctr">
                        <a:defRPr sz="1200" b="1">
                          <a:solidFill>
                            <a:srgbClr val="1E242B"/>
                          </a:solidFill>
                          <a:latin typeface="Times New Roman"/>
                        </a:defRPr>
                      </a:pPr>
                      <a:r>
                        <a:t>No.27~28</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Việt Nam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Camera HIKROBOT đo nồng độ &amp; lề (No.27); Xuất hàng qua mạng &amp; AI video (No.28)</a:t>
                      </a:r>
                    </a:p>
                  </a:txBody>
                  <a:tcPr anchor="ctr" marL="36576" marR="36576" marT="13716" marB="13716">
                    <a:solidFill>
                      <a:srgbClr val="EAF7EE"/>
                    </a:solidFill>
                  </a:tcPr>
                </a:tc>
                <a:tc>
                  <a:txBody>
                    <a:bodyPr wrap="square"/>
                    <a:lstStyle/>
                    <a:p>
                      <a:pPr algn="ctr">
                        <a:defRPr sz="1200" b="1">
                          <a:solidFill>
                            <a:srgbClr val="1E6E3E"/>
                          </a:solidFill>
                          <a:latin typeface="Times New Roman"/>
                        </a:defRPr>
                      </a:pPr>
                      <a:r>
                        <a:t>Đang lấy báo giá / Triển khai ngay</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No.29~30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Tự kiểm tra hộp mực (No.29); Bỏ WTB U155 (No.30)</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Đã duyệt xóa U155</a:t>
                      </a:r>
                    </a:p>
                  </a:txBody>
                  <a:tcPr anchor="ctr" marL="36576" marR="36576" marT="13716" marB="13716">
                    <a:solidFill>
                      <a:srgbClr val="EAF7EE"/>
                    </a:solidFill>
                  </a:tcPr>
                </a:tc>
              </a:tr>
              <a:tr h="477981">
                <a:tc>
                  <a:txBody>
                    <a:bodyPr wrap="square"/>
                    <a:lstStyle/>
                    <a:p>
                      <a:pPr algn="ctr">
                        <a:defRPr sz="1200" b="1">
                          <a:solidFill>
                            <a:srgbClr val="1E242B"/>
                          </a:solidFill>
                          <a:latin typeface="Times New Roman"/>
                        </a:defRPr>
                      </a:pPr>
                      <a:r>
                        <a:t>No.31~32</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Hủy tờ RCG trước U950 (No.31); Rút Aging (No.32)</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Đang xác nhận JP</a:t>
                      </a:r>
                    </a:p>
                  </a:txBody>
                  <a:tcPr anchor="ctr" marL="36576" marR="36576" marT="13716" marB="13716">
                    <a:solidFill>
                      <a:srgbClr val="F7F9FC"/>
                    </a:solidFill>
                  </a:tcPr>
                </a:tc>
              </a:tr>
              <a:tr h="477981">
                <a:tc>
                  <a:txBody>
                    <a:bodyPr wrap="square"/>
                    <a:lstStyle/>
                    <a:p>
                      <a:pPr algn="ctr">
                        <a:defRPr sz="1200" b="1">
                          <a:solidFill>
                            <a:srgbClr val="1E242B"/>
                          </a:solidFill>
                          <a:latin typeface="Times New Roman"/>
                        </a:defRPr>
                      </a:pPr>
                      <a:r>
                        <a:t>No.33~34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VN thêm</a:t>
                      </a:r>
                    </a:p>
                  </a:txBody>
                  <a:tcPr anchor="ctr" marL="36576" marR="36576" marT="13716" marB="13716">
                    <a:solidFill>
                      <a:srgbClr val="EAF7EE"/>
                    </a:solidFill>
                  </a:tcPr>
                </a:tc>
                <a:tc>
                  <a:txBody>
                    <a:bodyPr wrap="square"/>
                    <a:lstStyle/>
                    <a:p>
                      <a:pPr algn="l">
                        <a:defRPr sz="1200">
                          <a:solidFill>
                            <a:srgbClr val="1E242B"/>
                          </a:solidFill>
                          <a:latin typeface="Times New Roman"/>
                        </a:defRPr>
                      </a:pPr>
                      <a:r>
                        <a:t>Hủy tờ RCG Ledger (No.33); Hủy tờ LSU Skew (No.34)</a:t>
                      </a:r>
                    </a:p>
                  </a:txBody>
                  <a:tcPr anchor="ctr" marL="36576" marR="36576" marT="13716" marB="13716">
                    <a:solidFill>
                      <a:srgbClr val="EAF7EE"/>
                    </a:solidFill>
                  </a:tcPr>
                </a:tc>
                <a:tc>
                  <a:txBody>
                    <a:bodyPr wrap="square"/>
                    <a:lstStyle/>
                    <a:p>
                      <a:pPr algn="ctr">
                        <a:defRPr sz="1200">
                          <a:solidFill>
                            <a:srgbClr val="1E242B"/>
                          </a:solidFill>
                          <a:latin typeface="Times New Roman"/>
                        </a:defRPr>
                      </a:pPr>
                      <a:r>
                        <a:t>Chốt DR công đoạn</a:t>
                      </a:r>
                    </a:p>
                  </a:txBody>
                  <a:tcPr anchor="ctr" marL="36576" marR="36576" marT="13716" marB="13716">
                    <a:solidFill>
                      <a:srgbClr val="EAF7EE"/>
                    </a:solidFill>
                  </a:tcPr>
                </a:tc>
              </a:tr>
              <a:tr h="477990">
                <a:tc>
                  <a:txBody>
                    <a:bodyPr wrap="square"/>
                    <a:lstStyle/>
                    <a:p>
                      <a:pPr algn="ctr">
                        <a:defRPr sz="1200" b="1">
                          <a:solidFill>
                            <a:srgbClr val="1E242B"/>
                          </a:solidFill>
                          <a:latin typeface="Times New Roman"/>
                        </a:defRPr>
                      </a:pPr>
                      <a:r>
                        <a:t>No.35~38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VN / CN</a:t>
                      </a:r>
                    </a:p>
                  </a:txBody>
                  <a:tcPr anchor="ctr" marL="36576" marR="36576" marT="13716" marB="13716">
                    <a:solidFill>
                      <a:srgbClr val="F7F9FC"/>
                    </a:solidFill>
                  </a:tcPr>
                </a:tc>
                <a:tc>
                  <a:txBody>
                    <a:bodyPr wrap="square"/>
                    <a:lstStyle/>
                    <a:p>
                      <a:pPr algn="l">
                        <a:defRPr sz="1200">
                          <a:solidFill>
                            <a:srgbClr val="1E242B"/>
                          </a:solidFill>
                          <a:latin typeface="Times New Roman"/>
                        </a:defRPr>
                      </a:pPr>
                      <a:r>
                        <a:t>Gộp lệnh U410 (No.35); Hủy tờ Mono (No.36); RCG Copy Check (No.37); AI WeChat (No.38)</a:t>
                      </a:r>
                    </a:p>
                  </a:txBody>
                  <a:tcPr anchor="ctr" marL="36576" marR="36576" marT="13716" marB="13716">
                    <a:solidFill>
                      <a:srgbClr val="F7F9FC"/>
                    </a:solidFill>
                  </a:tcPr>
                </a:tc>
                <a:tc>
                  <a:txBody>
                    <a:bodyPr wrap="square"/>
                    <a:lstStyle/>
                    <a:p>
                      <a:pPr algn="ctr">
                        <a:defRPr sz="1200">
                          <a:solidFill>
                            <a:srgbClr val="1E242B"/>
                          </a:solidFill>
                          <a:latin typeface="Times New Roman"/>
                        </a:defRPr>
                      </a:pPr>
                      <a:r>
                        <a:t>Đang phối hợp</a:t>
                      </a:r>
                    </a:p>
                  </a:txBody>
                  <a:tcPr anchor="ctr" marL="36576" marR="36576" marT="13716" marB="13716">
                    <a:solidFill>
                      <a:srgbClr val="F7F9FC"/>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