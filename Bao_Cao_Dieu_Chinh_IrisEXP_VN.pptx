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5" r:id="rId8"/>
    <p:sldId id="262" r:id="rId9"/>
    <p:sldId id="263" r:id="rId10"/>
    <p:sldId id="264"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840374A-089D-475A-A408-28A4A1B34F33}">
          <p14:sldIdLst>
            <p14:sldId id="256"/>
            <p14:sldId id="257"/>
            <p14:sldId id="258"/>
            <p14:sldId id="259"/>
            <p14:sldId id="260"/>
            <p14:sldId id="261"/>
            <p14:sldId id="265"/>
          </p14:sldIdLst>
        </p14:section>
        <p14:section name="Tham khảo" id="{521CCA80-A9B0-4BFE-8E89-4513C5CC911C}">
          <p14:sldIdLst>
            <p14:sldId id="262"/>
            <p14:sldId id="263"/>
            <p14:sldId id="264"/>
            <p14:sldId id="266"/>
            <p14:sldId id="267"/>
            <p14:sldId id="268"/>
            <p14:sldId id="269"/>
            <p14:sldId id="270"/>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64" d="100"/>
          <a:sy n="64" d="100"/>
        </p:scale>
        <p:origin x="954"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AF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94360" y="777240"/>
            <a:ext cx="128016" cy="5303520"/>
          </a:xfrm>
          <a:prstGeom prst="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960120" y="804672"/>
            <a:ext cx="4754880" cy="420624"/>
          </a:xfrm>
          <a:prstGeom prst="round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B365D"/>
                </a:solidFill>
                <a:latin typeface="Times New Roman"/>
              </a:defRPr>
            </a:pPr>
            <a:r>
              <a:t>DỰ ÁN IRIS EXP  |  CÔNG ĐOẠN ĐIỀU CHỈNH</a:t>
            </a:r>
          </a:p>
        </p:txBody>
      </p:sp>
      <p:sp>
        <p:nvSpPr>
          <p:cNvPr id="6" name="TextBox 5"/>
          <p:cNvSpPr txBox="1"/>
          <p:nvPr/>
        </p:nvSpPr>
        <p:spPr>
          <a:xfrm>
            <a:off x="960120" y="1417320"/>
            <a:ext cx="10424160" cy="1737360"/>
          </a:xfrm>
          <a:prstGeom prst="rect">
            <a:avLst/>
          </a:prstGeom>
          <a:noFill/>
        </p:spPr>
        <p:txBody>
          <a:bodyPr wrap="square">
            <a:spAutoFit/>
          </a:bodyPr>
          <a:lstStyle/>
          <a:p>
            <a:pPr>
              <a:spcAft>
                <a:spcPts val="1200"/>
              </a:spcAft>
              <a:defRPr sz="3200" b="1">
                <a:solidFill>
                  <a:srgbClr val="1B365D"/>
                </a:solidFill>
                <a:latin typeface="Times New Roman"/>
              </a:defRPr>
            </a:pPr>
            <a:r>
              <a:t>BÁO CÁO ĐỀ ÁN CẢI TIẾN</a:t>
            </a:r>
            <a:br/>
            <a:r>
              <a:t>CÔNG ĐOẠN ĐIỀU CHỈNH IRIS EXP</a:t>
            </a:r>
          </a:p>
          <a:p>
            <a:pPr>
              <a:defRPr sz="1650" b="1">
                <a:solidFill>
                  <a:srgbClr val="D96B27"/>
                </a:solidFill>
                <a:latin typeface="Times New Roman"/>
              </a:defRPr>
            </a:pPr>
            <a:r>
              <a:t>Mục tiêu tăng gấp đôi năng suất, đáp ứng sản lượng trên chuyền Iris2024 hiện tại</a:t>
            </a:r>
          </a:p>
        </p:txBody>
      </p:sp>
      <p:sp>
        <p:nvSpPr>
          <p:cNvPr id="7" name="Rounded Rectangle 6"/>
          <p:cNvSpPr/>
          <p:nvPr/>
        </p:nvSpPr>
        <p:spPr>
          <a:xfrm>
            <a:off x="960120" y="3520440"/>
            <a:ext cx="2505456" cy="1691640"/>
          </a:xfrm>
          <a:prstGeom prst="roundRect">
            <a:avLst/>
          </a:prstGeom>
          <a:solidFill>
            <a:srgbClr val="FFFFFF"/>
          </a:solidFill>
          <a:ln w="1905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60120" y="3520440"/>
            <a:ext cx="2505456" cy="38404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PHẦN 01: NẮM BẮT HIỆN TRẠNG</a:t>
            </a:r>
          </a:p>
        </p:txBody>
      </p:sp>
      <p:sp>
        <p:nvSpPr>
          <p:cNvPr id="9" name="TextBox 8"/>
          <p:cNvSpPr txBox="1"/>
          <p:nvPr/>
        </p:nvSpPr>
        <p:spPr>
          <a:xfrm>
            <a:off x="1051560" y="4005072"/>
            <a:ext cx="2322576" cy="1115568"/>
          </a:xfrm>
          <a:prstGeom prst="rect">
            <a:avLst/>
          </a:prstGeom>
          <a:noFill/>
        </p:spPr>
        <p:txBody>
          <a:bodyPr wrap="square">
            <a:spAutoFit/>
          </a:bodyPr>
          <a:lstStyle/>
          <a:p>
            <a:pPr>
              <a:defRPr sz="1200">
                <a:solidFill>
                  <a:srgbClr val="1E242B"/>
                </a:solidFill>
                <a:latin typeface="Times New Roman"/>
              </a:defRPr>
            </a:pPr>
            <a:r>
              <a:t>Iris2024 (16 người, 243 máy/ngày)</a:t>
            </a:r>
            <a:br/>
            <a:r>
              <a:t>và bài toán nhịp Takt 97s IrisEXP</a:t>
            </a:r>
          </a:p>
        </p:txBody>
      </p:sp>
      <p:sp>
        <p:nvSpPr>
          <p:cNvPr id="10" name="Rounded Rectangle 9"/>
          <p:cNvSpPr/>
          <p:nvPr/>
        </p:nvSpPr>
        <p:spPr>
          <a:xfrm>
            <a:off x="3630168" y="3520440"/>
            <a:ext cx="2505456" cy="1691640"/>
          </a:xfrm>
          <a:prstGeom prst="roundRect">
            <a:avLst/>
          </a:prstGeom>
          <a:solidFill>
            <a:srgbClr val="FFFFFF"/>
          </a:solidFill>
          <a:ln w="1905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630168" y="3520440"/>
            <a:ext cx="2505456" cy="384048"/>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PHẦN 02: MỤC TIÊU PHÁT TRIỂN</a:t>
            </a:r>
          </a:p>
        </p:txBody>
      </p:sp>
      <p:sp>
        <p:nvSpPr>
          <p:cNvPr id="12" name="TextBox 11"/>
          <p:cNvSpPr txBox="1"/>
          <p:nvPr/>
        </p:nvSpPr>
        <p:spPr>
          <a:xfrm>
            <a:off x="3721607" y="4005072"/>
            <a:ext cx="2322576" cy="1115568"/>
          </a:xfrm>
          <a:prstGeom prst="rect">
            <a:avLst/>
          </a:prstGeom>
          <a:noFill/>
        </p:spPr>
        <p:txBody>
          <a:bodyPr wrap="square">
            <a:spAutoFit/>
          </a:bodyPr>
          <a:lstStyle/>
          <a:p>
            <a:pPr>
              <a:defRPr sz="1200">
                <a:solidFill>
                  <a:srgbClr val="1E242B"/>
                </a:solidFill>
                <a:latin typeface="Times New Roman"/>
              </a:defRPr>
            </a:pPr>
            <a:r>
              <a:t>Năng suất một người tăng gấp đôi (≥30,4 máy)</a:t>
            </a:r>
            <a:br/>
            <a:r>
              <a:t>Cắt giảm 50% thời gian và số tờ in</a:t>
            </a:r>
          </a:p>
        </p:txBody>
      </p:sp>
      <p:sp>
        <p:nvSpPr>
          <p:cNvPr id="13" name="Rounded Rectangle 12"/>
          <p:cNvSpPr/>
          <p:nvPr/>
        </p:nvSpPr>
        <p:spPr>
          <a:xfrm>
            <a:off x="6300216" y="3520440"/>
            <a:ext cx="2505456" cy="1691640"/>
          </a:xfrm>
          <a:prstGeom prst="roundRect">
            <a:avLst/>
          </a:prstGeom>
          <a:solidFill>
            <a:srgbClr val="FFFFFF"/>
          </a:solidFill>
          <a:ln w="1905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300216" y="3520440"/>
            <a:ext cx="2505456" cy="384048"/>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PHẦN 03: PHƯƠNG CHÂM 3 CỨ ĐIỂM</a:t>
            </a:r>
          </a:p>
        </p:txBody>
      </p:sp>
      <p:sp>
        <p:nvSpPr>
          <p:cNvPr id="15" name="TextBox 14"/>
          <p:cNvSpPr txBox="1"/>
          <p:nvPr/>
        </p:nvSpPr>
        <p:spPr>
          <a:xfrm>
            <a:off x="6391655" y="4005072"/>
            <a:ext cx="2322576" cy="1115568"/>
          </a:xfrm>
          <a:prstGeom prst="rect">
            <a:avLst/>
          </a:prstGeom>
          <a:noFill/>
        </p:spPr>
        <p:txBody>
          <a:bodyPr wrap="square">
            <a:spAutoFit/>
          </a:bodyPr>
          <a:lstStyle/>
          <a:p>
            <a:pPr>
              <a:defRPr sz="1200">
                <a:solidFill>
                  <a:srgbClr val="1E242B"/>
                </a:solidFill>
                <a:latin typeface="Times New Roman"/>
              </a:defRPr>
            </a:pPr>
            <a:r>
              <a:t>Nhật Bản định hướng, nhà máy chủ động</a:t>
            </a:r>
            <a:br/>
            <a:r>
              <a:t>Đồng bộ định kỳ ba cứ điểm</a:t>
            </a:r>
          </a:p>
        </p:txBody>
      </p:sp>
      <p:sp>
        <p:nvSpPr>
          <p:cNvPr id="16" name="Rounded Rectangle 15"/>
          <p:cNvSpPr/>
          <p:nvPr/>
        </p:nvSpPr>
        <p:spPr>
          <a:xfrm>
            <a:off x="8970264" y="3520440"/>
            <a:ext cx="2505456" cy="1691640"/>
          </a:xfrm>
          <a:prstGeom prst="roundRect">
            <a:avLst/>
          </a:prstGeom>
          <a:solidFill>
            <a:srgbClr val="FFFFFF"/>
          </a:solidFill>
          <a:ln w="19050">
            <a:solidFill>
              <a:srgbClr val="D96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970264" y="3520440"/>
            <a:ext cx="2505456" cy="384048"/>
          </a:xfrm>
          <a:prstGeom prst="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PHẦN 04: ĐỀ ÁN TỰ ĐỘNG HÓA VN</a:t>
            </a:r>
          </a:p>
        </p:txBody>
      </p:sp>
      <p:sp>
        <p:nvSpPr>
          <p:cNvPr id="18" name="TextBox 17"/>
          <p:cNvSpPr txBox="1"/>
          <p:nvPr/>
        </p:nvSpPr>
        <p:spPr>
          <a:xfrm>
            <a:off x="9061704" y="4005072"/>
            <a:ext cx="2322576" cy="1115568"/>
          </a:xfrm>
          <a:prstGeom prst="rect">
            <a:avLst/>
          </a:prstGeom>
          <a:noFill/>
        </p:spPr>
        <p:txBody>
          <a:bodyPr wrap="square">
            <a:spAutoFit/>
          </a:bodyPr>
          <a:lstStyle/>
          <a:p>
            <a:pPr>
              <a:defRPr sz="1200">
                <a:solidFill>
                  <a:srgbClr val="1E242B"/>
                </a:solidFill>
                <a:latin typeface="Times New Roman"/>
              </a:defRPr>
            </a:pPr>
            <a:r>
              <a:t>Chi tiết 20 đề án cải tiến tại KDTVN</a:t>
            </a:r>
            <a:br/>
            <a:r>
              <a:t>và dự toán đầu tư (Tham khảo 38 ĐA)</a:t>
            </a:r>
          </a:p>
        </p:txBody>
      </p:sp>
      <p:sp>
        <p:nvSpPr>
          <p:cNvPr id="19" name="Rectangle 18"/>
          <p:cNvSpPr/>
          <p:nvPr/>
        </p:nvSpPr>
        <p:spPr>
          <a:xfrm>
            <a:off x="960120" y="5532120"/>
            <a:ext cx="10424160" cy="566928"/>
          </a:xfrm>
          <a:prstGeom prst="rect">
            <a:avLst/>
          </a:prstGeom>
          <a:solidFill>
            <a:srgbClr val="E8EEF5"/>
          </a:solidFill>
          <a:ln w="10160">
            <a:solidFill>
              <a:srgbClr val="C5CDD6"/>
            </a:solidFill>
          </a:ln>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defRPr sz="1300" b="1">
                <a:solidFill>
                  <a:srgbClr val="1B365D"/>
                </a:solidFill>
                <a:latin typeface="Times New Roman"/>
              </a:defRPr>
            </a:pPr>
            <a:r>
              <a:t>Bộ phận Kỹ thuật Sản xuất KDTVN   |   Người trình bày: Bùi Đức Vinh   |   Tháng 10/2026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1. NẮM BẮT HIỆN TRẠNG</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Hiện trạng sản xuất dòng máy Iris2024 và bài toán năng lực khi chuyển sang IrisEXP</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2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Chuyền Iris2024 hiện cần 16 người để đạt 243 máy/ngày (15,19 máy/người). Khi sang IrisEXP theo nhịp Takt 97s (300 máy/ngày), quy trình cũ cần 18 người, vượt quá năng lực mặt bằng hiện có.</a:t>
            </a:r>
          </a:p>
        </p:txBody>
      </p:sp>
      <p:graphicFrame>
        <p:nvGraphicFramePr>
          <p:cNvPr id="7" name="Table 6"/>
          <p:cNvGraphicFramePr>
            <a:graphicFrameLocks noGrp="1"/>
          </p:cNvGraphicFramePr>
          <p:nvPr/>
        </p:nvGraphicFramePr>
        <p:xfrm>
          <a:off x="256032" y="1234440"/>
          <a:ext cx="5989320" cy="5477256"/>
        </p:xfrm>
        <a:graphic>
          <a:graphicData uri="http://schemas.openxmlformats.org/drawingml/2006/table">
            <a:tbl>
              <a:tblPr firstRow="1" bandRow="1">
                <a:tableStyleId>{5C22544A-7EE6-4342-B048-85BDC9FD1C3A}</a:tableStyleId>
              </a:tblPr>
              <a:tblGrid>
                <a:gridCol w="178308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tblGrid>
              <a:tr h="640080">
                <a:tc>
                  <a:txBody>
                    <a:bodyPr/>
                    <a:lstStyle/>
                    <a:p>
                      <a:pPr algn="ctr">
                        <a:defRPr sz="1250" b="1">
                          <a:solidFill>
                            <a:srgbClr val="FFFFFF"/>
                          </a:solidFill>
                          <a:latin typeface="Times New Roman"/>
                        </a:defRPr>
                      </a:pPr>
                      <a:r>
                        <a:t>Chỉ tiêu sản xuất</a:t>
                      </a:r>
                    </a:p>
                  </a:txBody>
                  <a:tcPr marL="36576" marR="36576" marT="13716" marB="13716" anchor="ctr">
                    <a:solidFill>
                      <a:srgbClr val="1B365D"/>
                    </a:solidFill>
                  </a:tcPr>
                </a:tc>
                <a:tc>
                  <a:txBody>
                    <a:bodyPr/>
                    <a:lstStyle/>
                    <a:p>
                      <a:pPr algn="ctr">
                        <a:defRPr sz="1250" b="1">
                          <a:solidFill>
                            <a:srgbClr val="FFFFFF"/>
                          </a:solidFill>
                          <a:latin typeface="Times New Roman"/>
                        </a:defRPr>
                      </a:pPr>
                      <a:r>
                        <a:t>Hiện trạng Iris2024</a:t>
                      </a:r>
                      <a:br/>
                      <a:r>
                        <a:t>(Line hiện tại)</a:t>
                      </a:r>
                    </a:p>
                  </a:txBody>
                  <a:tcPr marL="36576" marR="36576" marT="13716" marB="13716" anchor="ctr">
                    <a:solidFill>
                      <a:srgbClr val="1B365D"/>
                    </a:solidFill>
                  </a:tcPr>
                </a:tc>
                <a:tc>
                  <a:txBody>
                    <a:bodyPr/>
                    <a:lstStyle/>
                    <a:p>
                      <a:pPr algn="ctr">
                        <a:defRPr sz="1250" b="1">
                          <a:solidFill>
                            <a:srgbClr val="FFFFFF"/>
                          </a:solidFill>
                          <a:latin typeface="Times New Roman"/>
                        </a:defRPr>
                      </a:pPr>
                      <a:r>
                        <a:t>Khi sang IrisEXP</a:t>
                      </a:r>
                      <a:br/>
                      <a:r>
                        <a:t>(Chưa cải tiến)</a:t>
                      </a:r>
                    </a:p>
                  </a:txBody>
                  <a:tcPr marL="36576" marR="36576" marT="13716" marB="13716" anchor="ctr">
                    <a:solidFill>
                      <a:srgbClr val="1B365D"/>
                    </a:solidFill>
                  </a:tcPr>
                </a:tc>
                <a:tc>
                  <a:txBody>
                    <a:bodyPr/>
                    <a:lstStyle/>
                    <a:p>
                      <a:pPr algn="ctr">
                        <a:defRPr sz="1250" b="1">
                          <a:solidFill>
                            <a:srgbClr val="FFFFFF"/>
                          </a:solidFill>
                          <a:latin typeface="Times New Roman"/>
                        </a:defRPr>
                      </a:pPr>
                      <a:r>
                        <a:t>Đánh giá khả năng</a:t>
                      </a:r>
                      <a:br/>
                      <a:r>
                        <a:t>đáp ứng trên Line</a:t>
                      </a:r>
                    </a:p>
                  </a:txBody>
                  <a:tcPr marL="36576" marR="36576" marT="13716" marB="13716" anchor="ctr">
                    <a:solidFill>
                      <a:srgbClr val="1B365D"/>
                    </a:solidFill>
                  </a:tcPr>
                </a:tc>
                <a:extLst>
                  <a:ext uri="{0D108BD9-81ED-4DB2-BD59-A6C34878D82A}">
                    <a16:rowId xmlns:a16="http://schemas.microsoft.com/office/drawing/2014/main" val="10000"/>
                  </a:ext>
                </a:extLst>
              </a:tr>
              <a:tr h="640080">
                <a:tc>
                  <a:txBody>
                    <a:bodyPr/>
                    <a:lstStyle/>
                    <a:p>
                      <a:pPr algn="l">
                        <a:defRPr sz="1200" b="1">
                          <a:solidFill>
                            <a:srgbClr val="1E242B"/>
                          </a:solidFill>
                          <a:latin typeface="Times New Roman"/>
                        </a:defRPr>
                      </a:pPr>
                      <a:r>
                        <a:t>Thời gian thao tác chuẩn</a:t>
                      </a:r>
                      <a:br/>
                      <a:r>
                        <a:t>(Mã hàng cao nhất)</a:t>
                      </a:r>
                    </a:p>
                  </a:txBody>
                  <a:tcPr marL="36576" marR="36576" marT="13716" marB="13716" anchor="ctr">
                    <a:solidFill>
                      <a:srgbClr val="E8EEF5"/>
                    </a:solidFill>
                  </a:tcPr>
                </a:tc>
                <a:tc>
                  <a:txBody>
                    <a:bodyPr/>
                    <a:lstStyle/>
                    <a:p>
                      <a:pPr algn="ctr">
                        <a:defRPr sz="1200">
                          <a:solidFill>
                            <a:srgbClr val="1E242B"/>
                          </a:solidFill>
                          <a:latin typeface="Times New Roman"/>
                        </a:defRPr>
                      </a:pPr>
                      <a:r>
                        <a:t>1.083s / máy</a:t>
                      </a:r>
                      <a:br/>
                      <a:r>
                        <a:t>(Gross: 2.350s)</a:t>
                      </a:r>
                    </a:p>
                  </a:txBody>
                  <a:tcPr marL="36576" marR="36576" marT="13716" marB="13716" anchor="ctr">
                    <a:solidFill>
                      <a:srgbClr val="E8EEF5"/>
                    </a:solidFill>
                  </a:tcPr>
                </a:tc>
                <a:tc>
                  <a:txBody>
                    <a:bodyPr/>
                    <a:lstStyle/>
                    <a:p>
                      <a:pPr algn="ctr">
                        <a:defRPr sz="1200">
                          <a:solidFill>
                            <a:srgbClr val="1E242B"/>
                          </a:solidFill>
                          <a:latin typeface="Times New Roman"/>
                        </a:defRPr>
                      </a:pPr>
                      <a:r>
                        <a:t>1.260,7s / máy</a:t>
                      </a:r>
                      <a:br/>
                      <a:r>
                        <a:t>(+89s bù quét U413)</a:t>
                      </a:r>
                    </a:p>
                  </a:txBody>
                  <a:tcPr marL="36576" marR="36576" marT="13716" marB="13716" anchor="ctr">
                    <a:solidFill>
                      <a:srgbClr val="E8EEF5"/>
                    </a:solidFill>
                  </a:tcPr>
                </a:tc>
                <a:tc>
                  <a:txBody>
                    <a:bodyPr/>
                    <a:lstStyle/>
                    <a:p>
                      <a:pPr algn="l">
                        <a:defRPr sz="1200">
                          <a:solidFill>
                            <a:srgbClr val="1E242B"/>
                          </a:solidFill>
                          <a:latin typeface="Times New Roman"/>
                        </a:defRPr>
                      </a:pPr>
                      <a:r>
                        <a:t>Thao tác dài,</a:t>
                      </a:r>
                      <a:br/>
                      <a:r>
                        <a:t>phát sinh bước U413</a:t>
                      </a:r>
                    </a:p>
                  </a:txBody>
                  <a:tcPr marL="36576" marR="36576" marT="13716" marB="13716" anchor="ctr">
                    <a:solidFill>
                      <a:srgbClr val="E8EEF5"/>
                    </a:solidFill>
                  </a:tcPr>
                </a:tc>
                <a:extLst>
                  <a:ext uri="{0D108BD9-81ED-4DB2-BD59-A6C34878D82A}">
                    <a16:rowId xmlns:a16="http://schemas.microsoft.com/office/drawing/2014/main" val="10001"/>
                  </a:ext>
                </a:extLst>
              </a:tr>
              <a:tr h="640080">
                <a:tc>
                  <a:txBody>
                    <a:bodyPr/>
                    <a:lstStyle/>
                    <a:p>
                      <a:pPr algn="l">
                        <a:defRPr sz="1200" b="1">
                          <a:solidFill>
                            <a:srgbClr val="1E242B"/>
                          </a:solidFill>
                          <a:latin typeface="Times New Roman"/>
                        </a:defRPr>
                      </a:pPr>
                      <a:r>
                        <a:t>Takt Time công đoạn</a:t>
                      </a:r>
                      <a:br/>
                      <a:r>
                        <a:t>(Nhịp sản xuất)</a:t>
                      </a:r>
                    </a:p>
                  </a:txBody>
                  <a:tcPr marL="36576" marR="36576" marT="13716" marB="13716" anchor="ctr">
                    <a:solidFill>
                      <a:srgbClr val="FEF7E6"/>
                    </a:solidFill>
                  </a:tcPr>
                </a:tc>
                <a:tc>
                  <a:txBody>
                    <a:bodyPr/>
                    <a:lstStyle/>
                    <a:p>
                      <a:pPr algn="ctr">
                        <a:defRPr sz="1200">
                          <a:solidFill>
                            <a:srgbClr val="1E242B"/>
                          </a:solidFill>
                          <a:latin typeface="Times New Roman"/>
                        </a:defRPr>
                      </a:pPr>
                      <a:r>
                        <a:t>114 giây / máy</a:t>
                      </a:r>
                    </a:p>
                  </a:txBody>
                  <a:tcPr marL="36576" marR="36576" marT="13716" marB="13716" anchor="ctr">
                    <a:solidFill>
                      <a:srgbClr val="FEF7E6"/>
                    </a:solidFill>
                  </a:tcPr>
                </a:tc>
                <a:tc>
                  <a:txBody>
                    <a:bodyPr/>
                    <a:lstStyle/>
                    <a:p>
                      <a:pPr algn="ctr">
                        <a:defRPr sz="1200">
                          <a:solidFill>
                            <a:srgbClr val="1E242B"/>
                          </a:solidFill>
                          <a:latin typeface="Times New Roman"/>
                        </a:defRPr>
                      </a:pPr>
                      <a:r>
                        <a:t>97 giây / máy</a:t>
                      </a:r>
                      <a:br/>
                      <a:r>
                        <a:t>(Nhanh hơn 17s/máy)</a:t>
                      </a:r>
                    </a:p>
                  </a:txBody>
                  <a:tcPr marL="36576" marR="36576" marT="13716" marB="13716" anchor="ctr">
                    <a:solidFill>
                      <a:srgbClr val="FEF7E6"/>
                    </a:solidFill>
                  </a:tcPr>
                </a:tc>
                <a:tc>
                  <a:txBody>
                    <a:bodyPr/>
                    <a:lstStyle/>
                    <a:p>
                      <a:pPr algn="l">
                        <a:defRPr sz="1200">
                          <a:solidFill>
                            <a:srgbClr val="1E242B"/>
                          </a:solidFill>
                          <a:latin typeface="Times New Roman"/>
                        </a:defRPr>
                      </a:pPr>
                      <a:r>
                        <a:t>Nhịp chuyền yêu cầu</a:t>
                      </a:r>
                      <a:br/>
                      <a:r>
                        <a:t>tăng tốc 17,5%</a:t>
                      </a:r>
                    </a:p>
                  </a:txBody>
                  <a:tcPr marL="36576" marR="36576" marT="13716" marB="13716" anchor="ctr">
                    <a:solidFill>
                      <a:srgbClr val="FEF7E6"/>
                    </a:solidFill>
                  </a:tcPr>
                </a:tc>
                <a:extLst>
                  <a:ext uri="{0D108BD9-81ED-4DB2-BD59-A6C34878D82A}">
                    <a16:rowId xmlns:a16="http://schemas.microsoft.com/office/drawing/2014/main" val="10002"/>
                  </a:ext>
                </a:extLst>
              </a:tr>
              <a:tr h="640080">
                <a:tc>
                  <a:txBody>
                    <a:bodyPr/>
                    <a:lstStyle/>
                    <a:p>
                      <a:pPr algn="l">
                        <a:defRPr sz="1200" b="1">
                          <a:solidFill>
                            <a:srgbClr val="1E242B"/>
                          </a:solidFill>
                          <a:latin typeface="Times New Roman"/>
                        </a:defRPr>
                      </a:pPr>
                      <a:r>
                        <a:t>Sản lượng 1 ngày</a:t>
                      </a:r>
                      <a:br/>
                      <a:r>
                        <a:t>(Trên 1 Line)</a:t>
                      </a:r>
                    </a:p>
                  </a:txBody>
                  <a:tcPr marL="36576" marR="36576" marT="13716" marB="13716" anchor="ctr">
                    <a:solidFill>
                      <a:srgbClr val="FFFFFF"/>
                    </a:solidFill>
                  </a:tcPr>
                </a:tc>
                <a:tc>
                  <a:txBody>
                    <a:bodyPr/>
                    <a:lstStyle/>
                    <a:p>
                      <a:pPr algn="ctr">
                        <a:defRPr sz="1200">
                          <a:solidFill>
                            <a:srgbClr val="1E242B"/>
                          </a:solidFill>
                          <a:latin typeface="Times New Roman"/>
                        </a:defRPr>
                      </a:pPr>
                      <a:r>
                        <a:t>243 máy / ngày</a:t>
                      </a:r>
                    </a:p>
                  </a:txBody>
                  <a:tcPr marL="36576" marR="36576" marT="13716" marB="13716" anchor="ctr">
                    <a:solidFill>
                      <a:srgbClr val="FFFFFF"/>
                    </a:solidFill>
                  </a:tcPr>
                </a:tc>
                <a:tc>
                  <a:txBody>
                    <a:bodyPr/>
                    <a:lstStyle/>
                    <a:p>
                      <a:pPr algn="ctr">
                        <a:defRPr sz="1200">
                          <a:solidFill>
                            <a:srgbClr val="1E242B"/>
                          </a:solidFill>
                          <a:latin typeface="Times New Roman"/>
                        </a:defRPr>
                      </a:pPr>
                      <a:r>
                        <a:t>300 máy / ngày</a:t>
                      </a:r>
                      <a:br/>
                      <a:r>
                        <a:t>(16.000 máy/tháng)</a:t>
                      </a:r>
                    </a:p>
                  </a:txBody>
                  <a:tcPr marL="36576" marR="36576" marT="13716" marB="13716" anchor="ctr">
                    <a:solidFill>
                      <a:srgbClr val="FFFFFF"/>
                    </a:solidFill>
                  </a:tcPr>
                </a:tc>
                <a:tc>
                  <a:txBody>
                    <a:bodyPr/>
                    <a:lstStyle/>
                    <a:p>
                      <a:pPr algn="l">
                        <a:defRPr sz="1200">
                          <a:solidFill>
                            <a:srgbClr val="1E242B"/>
                          </a:solidFill>
                          <a:latin typeface="Times New Roman"/>
                        </a:defRPr>
                      </a:pPr>
                      <a:r>
                        <a:t>Yêu cầu tăng sản lượng</a:t>
                      </a:r>
                      <a:br/>
                      <a:r>
                        <a:t>+57 máy/ngày (+23,5%)</a:t>
                      </a:r>
                    </a:p>
                  </a:txBody>
                  <a:tcPr marL="36576" marR="36576" marT="13716" marB="13716" anchor="ctr">
                    <a:solidFill>
                      <a:srgbClr val="FFFFFF"/>
                    </a:solidFill>
                  </a:tcPr>
                </a:tc>
                <a:extLst>
                  <a:ext uri="{0D108BD9-81ED-4DB2-BD59-A6C34878D82A}">
                    <a16:rowId xmlns:a16="http://schemas.microsoft.com/office/drawing/2014/main" val="10003"/>
                  </a:ext>
                </a:extLst>
              </a:tr>
              <a:tr h="640080">
                <a:tc>
                  <a:txBody>
                    <a:bodyPr/>
                    <a:lstStyle/>
                    <a:p>
                      <a:pPr algn="l">
                        <a:defRPr sz="1200" b="1">
                          <a:solidFill>
                            <a:srgbClr val="1E242B"/>
                          </a:solidFill>
                          <a:latin typeface="Times New Roman"/>
                        </a:defRPr>
                      </a:pPr>
                      <a:r>
                        <a:t>Nhân sự ĐIỀU CHỈNH</a:t>
                      </a:r>
                      <a:br/>
                      <a:r>
                        <a:t>(K1 ~ K4)</a:t>
                      </a:r>
                    </a:p>
                  </a:txBody>
                  <a:tcPr marL="36576" marR="36576" marT="13716" marB="13716" anchor="ctr">
                    <a:solidFill>
                      <a:srgbClr val="F7F9FC"/>
                    </a:solidFill>
                  </a:tcPr>
                </a:tc>
                <a:tc>
                  <a:txBody>
                    <a:bodyPr/>
                    <a:lstStyle/>
                    <a:p>
                      <a:pPr algn="ctr">
                        <a:defRPr sz="1200">
                          <a:solidFill>
                            <a:srgbClr val="1E242B"/>
                          </a:solidFill>
                          <a:latin typeface="Times New Roman"/>
                        </a:defRPr>
                      </a:pPr>
                      <a:r>
                        <a:t>7 người thao tác</a:t>
                      </a:r>
                    </a:p>
                  </a:txBody>
                  <a:tcPr marL="36576" marR="36576" marT="13716" marB="13716" anchor="ctr">
                    <a:solidFill>
                      <a:srgbClr val="F7F9FC"/>
                    </a:solidFill>
                  </a:tcPr>
                </a:tc>
                <a:tc>
                  <a:txBody>
                    <a:bodyPr/>
                    <a:lstStyle/>
                    <a:p>
                      <a:pPr algn="ctr">
                        <a:defRPr sz="1200">
                          <a:solidFill>
                            <a:srgbClr val="1E242B"/>
                          </a:solidFill>
                          <a:latin typeface="Times New Roman"/>
                        </a:defRPr>
                      </a:pPr>
                      <a:r>
                        <a:t>9 người thao tác</a:t>
                      </a:r>
                      <a:br/>
                      <a:r>
                        <a:t>(Nếu giữ cách cũ)</a:t>
                      </a:r>
                    </a:p>
                  </a:txBody>
                  <a:tcPr marL="36576" marR="36576" marT="13716" marB="13716" anchor="ctr">
                    <a:solidFill>
                      <a:srgbClr val="F7F9FC"/>
                    </a:solidFill>
                  </a:tcPr>
                </a:tc>
                <a:tc>
                  <a:txBody>
                    <a:bodyPr/>
                    <a:lstStyle/>
                    <a:p>
                      <a:pPr algn="l">
                        <a:defRPr sz="1200">
                          <a:solidFill>
                            <a:srgbClr val="1E242B"/>
                          </a:solidFill>
                          <a:latin typeface="Times New Roman"/>
                        </a:defRPr>
                      </a:pPr>
                      <a:r>
                        <a:t>Thiếu 2 người thao tác</a:t>
                      </a:r>
                      <a:br/>
                      <a:r>
                        <a:t>và thiếu vị trí đứng máy</a:t>
                      </a:r>
                    </a:p>
                  </a:txBody>
                  <a:tcPr marL="36576" marR="36576" marT="13716" marB="13716" anchor="ctr">
                    <a:solidFill>
                      <a:srgbClr val="F7F9FC"/>
                    </a:solidFill>
                  </a:tcPr>
                </a:tc>
                <a:extLst>
                  <a:ext uri="{0D108BD9-81ED-4DB2-BD59-A6C34878D82A}">
                    <a16:rowId xmlns:a16="http://schemas.microsoft.com/office/drawing/2014/main" val="10004"/>
                  </a:ext>
                </a:extLst>
              </a:tr>
              <a:tr h="640080">
                <a:tc>
                  <a:txBody>
                    <a:bodyPr/>
                    <a:lstStyle/>
                    <a:p>
                      <a:pPr algn="l">
                        <a:defRPr sz="1200" b="1">
                          <a:solidFill>
                            <a:srgbClr val="1E242B"/>
                          </a:solidFill>
                          <a:latin typeface="Times New Roman"/>
                        </a:defRPr>
                      </a:pPr>
                      <a:r>
                        <a:t>Nhân sự HÌNH ẢNH</a:t>
                      </a:r>
                      <a:br/>
                      <a:r>
                        <a:t>(K5 ~ K8)</a:t>
                      </a:r>
                    </a:p>
                  </a:txBody>
                  <a:tcPr marL="36576" marR="36576" marT="13716" marB="13716" anchor="ctr">
                    <a:solidFill>
                      <a:srgbClr val="FFFFFF"/>
                    </a:solidFill>
                  </a:tcPr>
                </a:tc>
                <a:tc>
                  <a:txBody>
                    <a:bodyPr/>
                    <a:lstStyle/>
                    <a:p>
                      <a:pPr algn="ctr">
                        <a:defRPr sz="1200">
                          <a:solidFill>
                            <a:srgbClr val="1E242B"/>
                          </a:solidFill>
                          <a:latin typeface="Times New Roman"/>
                        </a:defRPr>
                      </a:pPr>
                      <a:r>
                        <a:t>9 người thao tác</a:t>
                      </a:r>
                    </a:p>
                  </a:txBody>
                  <a:tcPr marL="36576" marR="36576" marT="13716" marB="13716" anchor="ctr">
                    <a:solidFill>
                      <a:srgbClr val="FFFFFF"/>
                    </a:solidFill>
                  </a:tcPr>
                </a:tc>
                <a:tc>
                  <a:txBody>
                    <a:bodyPr/>
                    <a:lstStyle/>
                    <a:p>
                      <a:pPr algn="ctr">
                        <a:defRPr sz="1200">
                          <a:solidFill>
                            <a:srgbClr val="1E242B"/>
                          </a:solidFill>
                          <a:latin typeface="Times New Roman"/>
                        </a:defRPr>
                      </a:pPr>
                      <a:r>
                        <a:t>9 người thao tác</a:t>
                      </a:r>
                    </a:p>
                  </a:txBody>
                  <a:tcPr marL="36576" marR="36576" marT="13716" marB="13716" anchor="ctr">
                    <a:solidFill>
                      <a:srgbClr val="FFFFFF"/>
                    </a:solidFill>
                  </a:tcPr>
                </a:tc>
                <a:tc>
                  <a:txBody>
                    <a:bodyPr/>
                    <a:lstStyle/>
                    <a:p>
                      <a:pPr algn="l">
                        <a:defRPr sz="1200">
                          <a:solidFill>
                            <a:srgbClr val="1E242B"/>
                          </a:solidFill>
                          <a:latin typeface="Times New Roman"/>
                        </a:defRPr>
                      </a:pPr>
                      <a:r>
                        <a:t>Nghẽn cụm in &amp; đo ảnh</a:t>
                      </a:r>
                      <a:br/>
                      <a:r>
                        <a:t>(17 tờ Print + 2 tờ Copy)</a:t>
                      </a:r>
                    </a:p>
                  </a:txBody>
                  <a:tcPr marL="36576" marR="36576" marT="13716" marB="13716" anchor="ctr">
                    <a:solidFill>
                      <a:srgbClr val="FFFFFF"/>
                    </a:solidFill>
                  </a:tcPr>
                </a:tc>
                <a:extLst>
                  <a:ext uri="{0D108BD9-81ED-4DB2-BD59-A6C34878D82A}">
                    <a16:rowId xmlns:a16="http://schemas.microsoft.com/office/drawing/2014/main" val="10005"/>
                  </a:ext>
                </a:extLst>
              </a:tr>
              <a:tr h="640080">
                <a:tc>
                  <a:txBody>
                    <a:bodyPr/>
                    <a:lstStyle/>
                    <a:p>
                      <a:pPr algn="l">
                        <a:defRPr sz="1200" b="1">
                          <a:solidFill>
                            <a:srgbClr val="1E242B"/>
                          </a:solidFill>
                          <a:latin typeface="Times New Roman"/>
                        </a:defRPr>
                      </a:pPr>
                      <a:r>
                        <a:t>TỔNG SỐ NGƯỜI</a:t>
                      </a:r>
                    </a:p>
                  </a:txBody>
                  <a:tcPr marL="36576" marR="36576" marT="13716" marB="13716" anchor="ctr">
                    <a:solidFill>
                      <a:srgbClr val="FDEDEC"/>
                    </a:solidFill>
                  </a:tcPr>
                </a:tc>
                <a:tc>
                  <a:txBody>
                    <a:bodyPr/>
                    <a:lstStyle/>
                    <a:p>
                      <a:pPr algn="ctr">
                        <a:defRPr sz="1200">
                          <a:solidFill>
                            <a:srgbClr val="1E242B"/>
                          </a:solidFill>
                          <a:latin typeface="Times New Roman"/>
                        </a:defRPr>
                      </a:pPr>
                      <a:r>
                        <a:t>16 người thao tác</a:t>
                      </a:r>
                      <a:br/>
                      <a:r>
                        <a:t>(7 ĐC + 9 Hình ảnh)</a:t>
                      </a:r>
                    </a:p>
                  </a:txBody>
                  <a:tcPr marL="36576" marR="36576" marT="13716" marB="13716" anchor="ctr">
                    <a:solidFill>
                      <a:srgbClr val="FDEDEC"/>
                    </a:solidFill>
                  </a:tcPr>
                </a:tc>
                <a:tc>
                  <a:txBody>
                    <a:bodyPr/>
                    <a:lstStyle/>
                    <a:p>
                      <a:pPr algn="ctr">
                        <a:defRPr sz="1200">
                          <a:solidFill>
                            <a:srgbClr val="1E242B"/>
                          </a:solidFill>
                          <a:latin typeface="Times New Roman"/>
                        </a:defRPr>
                      </a:pPr>
                      <a:r>
                        <a:t>Cần 18 người</a:t>
                      </a:r>
                      <a:br/>
                      <a:r>
                        <a:t>(Theo Takt 97s)</a:t>
                      </a:r>
                    </a:p>
                  </a:txBody>
                  <a:tcPr marL="36576" marR="36576" marT="13716" marB="13716" anchor="ctr">
                    <a:solidFill>
                      <a:srgbClr val="FDEDEC"/>
                    </a:solidFill>
                  </a:tcPr>
                </a:tc>
                <a:tc>
                  <a:txBody>
                    <a:bodyPr/>
                    <a:lstStyle/>
                    <a:p>
                      <a:pPr algn="l">
                        <a:defRPr sz="1200">
                          <a:solidFill>
                            <a:srgbClr val="1E242B"/>
                          </a:solidFill>
                          <a:latin typeface="Times New Roman"/>
                        </a:defRPr>
                      </a:pPr>
                      <a:r>
                        <a:t>Line hiện tại chỉ đủ chỗ</a:t>
                      </a:r>
                      <a:br/>
                      <a:r>
                        <a:t>cho tối đa 16 người</a:t>
                      </a:r>
                    </a:p>
                  </a:txBody>
                  <a:tcPr marL="36576" marR="36576" marT="13716" marB="13716" anchor="ctr">
                    <a:solidFill>
                      <a:srgbClr val="FDEDEC"/>
                    </a:solidFill>
                  </a:tcPr>
                </a:tc>
                <a:extLst>
                  <a:ext uri="{0D108BD9-81ED-4DB2-BD59-A6C34878D82A}">
                    <a16:rowId xmlns:a16="http://schemas.microsoft.com/office/drawing/2014/main" val="10006"/>
                  </a:ext>
                </a:extLst>
              </a:tr>
              <a:tr h="640080">
                <a:tc>
                  <a:txBody>
                    <a:bodyPr/>
                    <a:lstStyle/>
                    <a:p>
                      <a:pPr algn="l">
                        <a:defRPr sz="1200" b="1">
                          <a:solidFill>
                            <a:srgbClr val="1E242B"/>
                          </a:solidFill>
                          <a:latin typeface="Times New Roman"/>
                        </a:defRPr>
                      </a:pPr>
                      <a:r>
                        <a:t>Năng suất 1 người / ngày</a:t>
                      </a:r>
                    </a:p>
                  </a:txBody>
                  <a:tcPr marL="36576" marR="36576" marT="13716" marB="13716" anchor="ctr">
                    <a:solidFill>
                      <a:srgbClr val="FDEDEC"/>
                    </a:solidFill>
                  </a:tcPr>
                </a:tc>
                <a:tc>
                  <a:txBody>
                    <a:bodyPr/>
                    <a:lstStyle/>
                    <a:p>
                      <a:pPr algn="ctr">
                        <a:defRPr sz="1200">
                          <a:solidFill>
                            <a:srgbClr val="1E242B"/>
                          </a:solidFill>
                          <a:latin typeface="Times New Roman"/>
                        </a:defRPr>
                      </a:pPr>
                      <a:r>
                        <a:t>15,19 máy / ngày</a:t>
                      </a:r>
                      <a:br/>
                      <a:r>
                        <a:t>(243 máy ÷ 16 người)</a:t>
                      </a:r>
                    </a:p>
                  </a:txBody>
                  <a:tcPr marL="36576" marR="36576" marT="13716" marB="13716" anchor="ctr">
                    <a:solidFill>
                      <a:srgbClr val="FDEDEC"/>
                    </a:solidFill>
                  </a:tcPr>
                </a:tc>
                <a:tc>
                  <a:txBody>
                    <a:bodyPr/>
                    <a:lstStyle/>
                    <a:p>
                      <a:pPr algn="ctr">
                        <a:defRPr sz="1200">
                          <a:solidFill>
                            <a:srgbClr val="1E242B"/>
                          </a:solidFill>
                          <a:latin typeface="Times New Roman"/>
                        </a:defRPr>
                      </a:pPr>
                      <a:r>
                        <a:t>16,67 máy / ngày</a:t>
                      </a:r>
                      <a:br/>
                      <a:r>
                        <a:t>(300 máy ÷ 18 người)</a:t>
                      </a:r>
                    </a:p>
                  </a:txBody>
                  <a:tcPr marL="36576" marR="36576" marT="13716" marB="13716" anchor="ctr">
                    <a:solidFill>
                      <a:srgbClr val="FDEDEC"/>
                    </a:solidFill>
                  </a:tcPr>
                </a:tc>
                <a:tc>
                  <a:txBody>
                    <a:bodyPr/>
                    <a:lstStyle/>
                    <a:p>
                      <a:pPr algn="l">
                        <a:defRPr sz="1200">
                          <a:solidFill>
                            <a:srgbClr val="1E242B"/>
                          </a:solidFill>
                          <a:latin typeface="Times New Roman"/>
                        </a:defRPr>
                      </a:pPr>
                      <a:r>
                        <a:t>Line hiện tại không thể</a:t>
                      </a:r>
                      <a:br/>
                      <a:r>
                        <a:t>đáp ứng sản xuất</a:t>
                      </a:r>
                    </a:p>
                  </a:txBody>
                  <a:tcPr marL="36576" marR="36576" marT="13716" marB="13716" anchor="ctr">
                    <a:solidFill>
                      <a:srgbClr val="FDEDEC"/>
                    </a:solidFill>
                  </a:tcPr>
                </a:tc>
                <a:extLst>
                  <a:ext uri="{0D108BD9-81ED-4DB2-BD59-A6C34878D82A}">
                    <a16:rowId xmlns:a16="http://schemas.microsoft.com/office/drawing/2014/main" val="10007"/>
                  </a:ext>
                </a:extLst>
              </a:tr>
            </a:tbl>
          </a:graphicData>
        </a:graphic>
      </p:graphicFrame>
      <p:pic>
        <p:nvPicPr>
          <p:cNvPr id="8" name="Picture 7" descr="chart_s1_status_vn.png"/>
          <p:cNvPicPr>
            <a:picLocks noChangeAspect="1"/>
          </p:cNvPicPr>
          <p:nvPr/>
        </p:nvPicPr>
        <p:blipFill>
          <a:blip r:embed="rId2"/>
          <a:stretch>
            <a:fillRect/>
          </a:stretch>
        </p:blipFill>
        <p:spPr>
          <a:xfrm>
            <a:off x="6382512" y="1234440"/>
            <a:ext cx="5532120" cy="2370909"/>
          </a:xfrm>
          <a:prstGeom prst="rect">
            <a:avLst/>
          </a:prstGeom>
        </p:spPr>
      </p:pic>
      <p:sp>
        <p:nvSpPr>
          <p:cNvPr id="9" name="Rectangle 8"/>
          <p:cNvSpPr/>
          <p:nvPr/>
        </p:nvSpPr>
        <p:spPr>
          <a:xfrm>
            <a:off x="6382512" y="3566160"/>
            <a:ext cx="5532120" cy="2926080"/>
          </a:xfrm>
          <a:prstGeom prst="rect">
            <a:avLst/>
          </a:prstGeom>
          <a:solidFill>
            <a:srgbClr val="FDEDEC"/>
          </a:solidFill>
          <a:ln w="12700">
            <a:solidFill>
              <a:srgbClr val="B829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382512" y="3566160"/>
            <a:ext cx="5532120" cy="347472"/>
          </a:xfrm>
          <a:prstGeom prst="rect">
            <a:avLst/>
          </a:prstGeom>
          <a:solidFill>
            <a:srgbClr val="B8292F"/>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KẾT LUẬN VỀ NĂNG LỰC HIỆN TẠI TRÊN LINE IRIS2024</a:t>
            </a:r>
          </a:p>
        </p:txBody>
      </p:sp>
      <p:sp>
        <p:nvSpPr>
          <p:cNvPr id="11" name="TextBox 10"/>
          <p:cNvSpPr txBox="1"/>
          <p:nvPr/>
        </p:nvSpPr>
        <p:spPr>
          <a:xfrm>
            <a:off x="6473952" y="3950208"/>
            <a:ext cx="5349240" cy="2505456"/>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1. Thiếu hụt 57 máy/ngày: Năng lực hiện tại chỉ đạt 243 máy/ngày (15,19 máy/người), không đạt mục tiêu 300 máy/ngày theo nhịp Takt 97s.</a:t>
            </a:r>
          </a:p>
          <a:p>
            <a:pPr>
              <a:spcAft>
                <a:spcPts val="300"/>
              </a:spcAft>
              <a:defRPr sz="1200">
                <a:solidFill>
                  <a:srgbClr val="1E242B"/>
                </a:solidFill>
                <a:latin typeface="Times New Roman"/>
              </a:defRPr>
            </a:pPr>
            <a:r>
              <a:t>2. Quá tải mặt bằng chuyền: Quy trình cũ cần 18 người thao tác, trong khi diện tích và số bàn thử hiện tại chỉ bố trí tối đa 16 người.</a:t>
            </a:r>
          </a:p>
          <a:p>
            <a:pPr>
              <a:spcAft>
                <a:spcPts val="300"/>
              </a:spcAft>
              <a:defRPr sz="1200">
                <a:solidFill>
                  <a:srgbClr val="1E242B"/>
                </a:solidFill>
                <a:latin typeface="Times New Roman"/>
              </a:defRPr>
            </a:pPr>
            <a:r>
              <a:t>3. Điểm nghẽn cụm Hình ảnh: Công đoạn in 17 tờ Print, 2 tờ Copy và đo nồng độ thủ công mất 192s, 9 người không thể đáp ứng nhịp Takt 97s.</a:t>
            </a:r>
          </a:p>
          <a:p>
            <a:pPr>
              <a:spcAft>
                <a:spcPts val="300"/>
              </a:spcAft>
              <a:defRPr sz="1200">
                <a:solidFill>
                  <a:srgbClr val="1E242B"/>
                </a:solidFill>
                <a:latin typeface="Times New Roman"/>
              </a:defRPr>
            </a:pPr>
            <a:r>
              <a:t>4. Yêu cầu cải tiến: Nâng năng suất lên ≥30,38 máy/người/ngày và rút gọn nhân sự còn 8 đến 9 người để sản xuất ngay trên chuyền hiện tại.</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1. NẮM BẮT HIỆN TRẠNG</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Layout thực tế Line Điều chỉnh Iris2024 (A1 ~ A11: Dài 57m × Rộng 2,7m | 1 người 3 Cell)</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3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Chuyền Điều chỉnh Iris2024 bố trí 11 trạm A1 đến A11 với 16 người thao tác trên diện tích 57m × 2,7m; mặt bằng đã cố định, không thể mở rộng diện tích sàn hoặc bổ sung thêm nhân lực đứng chuyền.</a:t>
            </a:r>
          </a:p>
        </p:txBody>
      </p:sp>
      <p:sp>
        <p:nvSpPr>
          <p:cNvPr id="7" name="Rectangle 6"/>
          <p:cNvSpPr/>
          <p:nvPr/>
        </p:nvSpPr>
        <p:spPr>
          <a:xfrm>
            <a:off x="256032" y="1234440"/>
            <a:ext cx="11679631" cy="310896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6032" y="1234440"/>
            <a:ext cx="11679631" cy="329184"/>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  BẢN VẼ LAYOUT LINE ĐIỀU CHỈNH IRIS2024 THỰC TẾ (Iris2024 PRT 調整工程: A1 ~ A11)</a:t>
            </a:r>
          </a:p>
        </p:txBody>
      </p:sp>
      <p:pic>
        <p:nvPicPr>
          <p:cNvPr id="9" name="Picture 8" descr="layout_iris2024_vn.png"/>
          <p:cNvPicPr>
            <a:picLocks noChangeAspect="1"/>
          </p:cNvPicPr>
          <p:nvPr/>
        </p:nvPicPr>
        <p:blipFill>
          <a:blip r:embed="rId2"/>
          <a:stretch>
            <a:fillRect/>
          </a:stretch>
        </p:blipFill>
        <p:spPr>
          <a:xfrm>
            <a:off x="329184" y="1591056"/>
            <a:ext cx="11521440" cy="3109942"/>
          </a:xfrm>
          <a:prstGeom prst="rect">
            <a:avLst/>
          </a:prstGeom>
        </p:spPr>
      </p:pic>
      <p:sp>
        <p:nvSpPr>
          <p:cNvPr id="10" name="Rectangle 9"/>
          <p:cNvSpPr/>
          <p:nvPr/>
        </p:nvSpPr>
        <p:spPr>
          <a:xfrm>
            <a:off x="256032" y="4462272"/>
            <a:ext cx="3767328" cy="2029968"/>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6032" y="4462272"/>
            <a:ext cx="3767328"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1. CỤM ĐIỀU CHỈNH 1 (Line thủ công: A1 ~ A4)</a:t>
            </a:r>
          </a:p>
        </p:txBody>
      </p:sp>
      <p:sp>
        <p:nvSpPr>
          <p:cNvPr id="12" name="TextBox 11"/>
          <p:cNvSpPr txBox="1"/>
          <p:nvPr/>
        </p:nvSpPr>
        <p:spPr>
          <a:xfrm>
            <a:off x="347472" y="4846320"/>
            <a:ext cx="3584448" cy="1609344"/>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Vị trí: Bố trí dọc chuyền đẩy tay đầu Line với 7 người thao tác.</a:t>
            </a:r>
          </a:p>
          <a:p>
            <a:pPr>
              <a:spcAft>
                <a:spcPts val="300"/>
              </a:spcAft>
              <a:defRPr sz="1200">
                <a:solidFill>
                  <a:srgbClr val="1E242B"/>
                </a:solidFill>
                <a:latin typeface="Times New Roman"/>
              </a:defRPr>
            </a:pPr>
            <a:r>
              <a:t>Thao tác: Nạp phần mềm, gá mực, đo TLBĐ, U155, lắp Option, lắp 6 vỏ ngoài, đo an toàn điện.</a:t>
            </a:r>
          </a:p>
          <a:p>
            <a:pPr>
              <a:spcAft>
                <a:spcPts val="300"/>
              </a:spcAft>
              <a:defRPr sz="1200">
                <a:solidFill>
                  <a:srgbClr val="1E242B"/>
                </a:solidFill>
                <a:latin typeface="Times New Roman"/>
              </a:defRPr>
            </a:pPr>
            <a:r>
              <a:t>Điểm nghẽn: Thao tác cắm rút cáp 11 lần, tháo lắp đồ gá lặp lại nhiều lần, mất 48s đến 90s lắp vỏ ngoài.</a:t>
            </a:r>
          </a:p>
        </p:txBody>
      </p:sp>
      <p:sp>
        <p:nvSpPr>
          <p:cNvPr id="13" name="Rectangle 12"/>
          <p:cNvSpPr/>
          <p:nvPr/>
        </p:nvSpPr>
        <p:spPr>
          <a:xfrm>
            <a:off x="4206240" y="4462272"/>
            <a:ext cx="3767328" cy="2029968"/>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206240" y="4462272"/>
            <a:ext cx="3767328" cy="34747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2. CỤM ĐIỀU CHỈNH 2 (Line tự động: A5 ~ A7)</a:t>
            </a:r>
          </a:p>
        </p:txBody>
      </p:sp>
      <p:sp>
        <p:nvSpPr>
          <p:cNvPr id="15" name="TextBox 14"/>
          <p:cNvSpPr txBox="1"/>
          <p:nvPr/>
        </p:nvSpPr>
        <p:spPr>
          <a:xfrm>
            <a:off x="4297679" y="4846320"/>
            <a:ext cx="3584448" cy="1609344"/>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Vị trí: Bố trí trên băng tải tự động trước và trong khu vực Aging.</a:t>
            </a:r>
          </a:p>
          <a:p>
            <a:pPr>
              <a:spcAft>
                <a:spcPts val="300"/>
              </a:spcAft>
              <a:defRPr sz="1200">
                <a:solidFill>
                  <a:srgbClr val="1E242B"/>
                </a:solidFill>
                <a:latin typeface="Times New Roman"/>
              </a:defRPr>
            </a:pPr>
            <a:r>
              <a:t>Thao tác: Nhận diện giấy, chỉnh ISU U411, quét SITC-2, U201, chạy Aging U950 (285s).</a:t>
            </a:r>
          </a:p>
          <a:p>
            <a:pPr>
              <a:spcAft>
                <a:spcPts val="300"/>
              </a:spcAft>
              <a:defRPr sz="1200">
                <a:solidFill>
                  <a:srgbClr val="1E242B"/>
                </a:solidFill>
                <a:latin typeface="Times New Roman"/>
              </a:defRPr>
            </a:pPr>
            <a:r>
              <a:t>Điểm nghẽn: Mở nắp kính đặt 3 bản thảo thủ công mất 110s; chu kỳ chờ Aging 285s gây ùn ứ máy.</a:t>
            </a:r>
          </a:p>
        </p:txBody>
      </p:sp>
      <p:sp>
        <p:nvSpPr>
          <p:cNvPr id="16" name="Rectangle 15"/>
          <p:cNvSpPr/>
          <p:nvPr/>
        </p:nvSpPr>
        <p:spPr>
          <a:xfrm>
            <a:off x="8156448" y="4462272"/>
            <a:ext cx="3779215" cy="2029968"/>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156448" y="4462272"/>
            <a:ext cx="3779215"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3. CỤM HÌNH ẢNH &amp; XUẤT (Cell Line: A8 ~ A11)</a:t>
            </a:r>
          </a:p>
        </p:txBody>
      </p:sp>
      <p:sp>
        <p:nvSpPr>
          <p:cNvPr id="18" name="TextBox 17"/>
          <p:cNvSpPr txBox="1"/>
          <p:nvPr/>
        </p:nvSpPr>
        <p:spPr>
          <a:xfrm>
            <a:off x="8247888" y="4846320"/>
            <a:ext cx="3596335" cy="1609344"/>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Vị trí: Cell hai bên (1 người phụ trách 3 Cell), buồng âm A9 và 5 Cell xuất hàng A11.</a:t>
            </a:r>
          </a:p>
          <a:p>
            <a:pPr>
              <a:spcAft>
                <a:spcPts val="300"/>
              </a:spcAft>
              <a:defRPr sz="1200">
                <a:solidFill>
                  <a:srgbClr val="1E242B"/>
                </a:solidFill>
                <a:latin typeface="Times New Roman"/>
              </a:defRPr>
            </a:pPr>
            <a:r>
              <a:t>Thao tác: In 17 tờ Print, 2 tờ Copy, đo nồng độ màu thủ công mất 192s, thiết lập xuất hàng.</a:t>
            </a:r>
          </a:p>
          <a:p>
            <a:pPr>
              <a:spcAft>
                <a:spcPts val="300"/>
              </a:spcAft>
              <a:defRPr sz="1200">
                <a:solidFill>
                  <a:srgbClr val="1E242B"/>
                </a:solidFill>
                <a:latin typeface="Times New Roman"/>
              </a:defRPr>
            </a:pPr>
            <a:r>
              <a:rPr sz="1200">
                <a:latin typeface="Times New Roman"/>
              </a:rPr>
              <a:t>Điểm nghẽn: Quá tải cụm in và đo ảnh; Cell A11 đã giảm từ 6 xuống 5 Cell, không thể bố trí thêm vị trí thao tác.</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2. MỤC TIÊU PHÁT TRIỂN</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Mục tiêu phát triển Công đoạn điều chỉnh thân máy IrisEXP (Theo tài liệu của bác Goto)</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4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Mục tiêu phát triển của bác Goto: Tăng gấp đôi năng suất (≥30,38 máy/người/ngày), cắt giảm 50% thời gian thao tác và nhân sự, giữ nguyên diện tích chuyền hiện có.</a:t>
            </a:r>
          </a:p>
        </p:txBody>
      </p:sp>
      <p:sp>
        <p:nvSpPr>
          <p:cNvPr id="7" name="Rectangle 6"/>
          <p:cNvSpPr/>
          <p:nvPr/>
        </p:nvSpPr>
        <p:spPr>
          <a:xfrm>
            <a:off x="256032" y="1234440"/>
            <a:ext cx="3767328" cy="360000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6032" y="1234440"/>
            <a:ext cx="3767328"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PHƯƠNG CHÂM 1: BẢO CHỨNG MODULE</a:t>
            </a:r>
          </a:p>
        </p:txBody>
      </p:sp>
      <p:sp>
        <p:nvSpPr>
          <p:cNvPr id="9" name="TextBox 8"/>
          <p:cNvSpPr txBox="1"/>
          <p:nvPr/>
        </p:nvSpPr>
        <p:spPr>
          <a:xfrm>
            <a:off x="347472" y="1618488"/>
            <a:ext cx="3584448" cy="3540000"/>
          </a:xfrm>
          <a:prstGeom prst="rect">
            <a:avLst/>
          </a:prstGeom>
          <a:noFill/>
        </p:spPr>
        <p:txBody>
          <a:bodyPr wrap="square" lIns="36576" tIns="18288" rIns="36576" bIns="18288">
            <a:spAutoFit/>
          </a:bodyPr>
          <a:lstStyle/>
          <a:p>
            <a:pPr>
              <a:spcAft>
                <a:spcPts val="200"/>
              </a:spcAft>
              <a:defRPr sz="1300" b="1">
                <a:solidFill>
                  <a:srgbClr val="1B365D"/>
                </a:solidFill>
                <a:latin typeface="Times New Roman"/>
              </a:defRPr>
            </a:pPr>
            <a:r>
              <a:t>Định hướng thiết kế:</a:t>
            </a:r>
          </a:p>
          <a:p>
            <a:pPr>
              <a:spcAft>
                <a:spcPts val="1400"/>
              </a:spcAft>
              <a:defRPr sz="1250">
                <a:solidFill>
                  <a:srgbClr val="1E242B"/>
                </a:solidFill>
                <a:latin typeface="Times New Roman"/>
              </a:defRPr>
            </a:pPr>
            <a:r>
              <a:t>Thiết lập nền tảng bảo chứng hoàn thiện theo từng module, chuyển thao tác kiểm tra về công đoạn trước (Lắp ráp).</a:t>
            </a:r>
          </a:p>
          <a:p>
            <a:pPr>
              <a:spcAft>
                <a:spcPts val="200"/>
              </a:spcAft>
              <a:defRPr sz="1300" b="1">
                <a:solidFill>
                  <a:srgbClr val="1B365D"/>
                </a:solidFill>
                <a:latin typeface="Times New Roman"/>
              </a:defRPr>
            </a:pPr>
            <a:r>
              <a:t>Loại bỏ lãng phí:</a:t>
            </a:r>
          </a:p>
          <a:p>
            <a:pPr>
              <a:spcAft>
                <a:spcPts val="1400"/>
              </a:spcAft>
              <a:defRPr sz="1250">
                <a:solidFill>
                  <a:srgbClr val="1E242B"/>
                </a:solidFill>
                <a:latin typeface="Times New Roman"/>
              </a:defRPr>
            </a:pPr>
            <a:r>
              <a:t>Rà soát toàn bộ quy trình Iris2024 hiện tại, triệt để loại bỏ các thao tác trùng lặp và công số dư thừa.</a:t>
            </a:r>
          </a:p>
          <a:p>
            <a:pPr>
              <a:spcAft>
                <a:spcPts val="200"/>
              </a:spcAft>
              <a:defRPr sz="1300" b="1">
                <a:solidFill>
                  <a:srgbClr val="1B365D"/>
                </a:solidFill>
                <a:latin typeface="Times New Roman"/>
              </a:defRPr>
            </a:pPr>
            <a:r>
              <a:t>Mục tiêu công số:</a:t>
            </a:r>
          </a:p>
          <a:p>
            <a:pPr>
              <a:spcAft>
                <a:spcPts val="0"/>
              </a:spcAft>
              <a:defRPr sz="1250">
                <a:solidFill>
                  <a:srgbClr val="1E242B"/>
                </a:solidFill>
                <a:latin typeface="Times New Roman"/>
              </a:defRPr>
            </a:pPr>
            <a:r>
              <a:t>Xóa bỏ kiểm tra thủ công của Iris2024, hoặc cắt giảm ≥ 50% công số tại ít nhất 3 hạng mục kiểm tra.</a:t>
            </a:r>
          </a:p>
        </p:txBody>
      </p:sp>
      <p:sp>
        <p:nvSpPr>
          <p:cNvPr id="10" name="Rectangle 9"/>
          <p:cNvSpPr/>
          <p:nvPr/>
        </p:nvSpPr>
        <p:spPr>
          <a:xfrm>
            <a:off x="4206240" y="1234440"/>
            <a:ext cx="3767328" cy="360000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206240" y="1234440"/>
            <a:ext cx="3767328" cy="34747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PHƯƠNG CHÂM 2: GIẢM THỜI GIAN &amp; TỜ IN</a:t>
            </a:r>
          </a:p>
        </p:txBody>
      </p:sp>
      <p:sp>
        <p:nvSpPr>
          <p:cNvPr id="12" name="TextBox 11"/>
          <p:cNvSpPr txBox="1"/>
          <p:nvPr/>
        </p:nvSpPr>
        <p:spPr>
          <a:xfrm>
            <a:off x="4297679" y="1618488"/>
            <a:ext cx="3584448" cy="3540000"/>
          </a:xfrm>
          <a:prstGeom prst="rect">
            <a:avLst/>
          </a:prstGeom>
          <a:noFill/>
        </p:spPr>
        <p:txBody>
          <a:bodyPr wrap="square" lIns="36576" tIns="18288" rIns="36576" bIns="18288">
            <a:spAutoFit/>
          </a:bodyPr>
          <a:lstStyle/>
          <a:p>
            <a:pPr>
              <a:spcAft>
                <a:spcPts val="200"/>
              </a:spcAft>
              <a:defRPr sz="1300" b="1">
                <a:solidFill>
                  <a:srgbClr val="1B365D"/>
                </a:solidFill>
                <a:latin typeface="Times New Roman"/>
              </a:defRPr>
            </a:pPr>
            <a:r>
              <a:t>Thời gian thao tác tiêu chuẩn:</a:t>
            </a:r>
          </a:p>
          <a:p>
            <a:pPr>
              <a:spcAft>
                <a:spcPts val="1200"/>
              </a:spcAft>
              <a:defRPr sz="1250">
                <a:solidFill>
                  <a:srgbClr val="1E242B"/>
                </a:solidFill>
                <a:latin typeface="Times New Roman"/>
              </a:defRPr>
            </a:pPr>
            <a:r>
              <a:t>Cắt giảm 50% thời gian (thời gian tịnh từ 1.083s xuống ≤ 541s/máy; tổng thời gian gross từ 2.350s xuống ≤ 1.175s).</a:t>
            </a:r>
          </a:p>
          <a:p>
            <a:pPr>
              <a:spcAft>
                <a:spcPts val="200"/>
              </a:spcAft>
              <a:defRPr sz="1300" b="1">
                <a:solidFill>
                  <a:srgbClr val="1B365D"/>
                </a:solidFill>
                <a:latin typeface="Times New Roman"/>
              </a:defRPr>
            </a:pPr>
            <a:r>
              <a:t>Số lượng tờ in kiểm tra:</a:t>
            </a:r>
          </a:p>
          <a:p>
            <a:pPr>
              <a:spcAft>
                <a:spcPts val="1200"/>
              </a:spcAft>
              <a:defRPr sz="1250">
                <a:solidFill>
                  <a:srgbClr val="1E242B"/>
                </a:solidFill>
                <a:latin typeface="Times New Roman"/>
              </a:defRPr>
            </a:pPr>
            <a:r>
              <a:t>Cắt giảm một nửa số lượng bản in thử nghiệm:</a:t>
            </a:r>
            <a:br/>
            <a:r>
              <a:t>• Bản in Print: Cắt giảm từ 17 tờ xuống 9 tờ.</a:t>
            </a:r>
            <a:br/>
            <a:r>
              <a:t>• Bản in Copy: Cắt giảm từ 2 tờ xuống 1 tờ.</a:t>
            </a:r>
          </a:p>
          <a:p>
            <a:pPr>
              <a:spcAft>
                <a:spcPts val="200"/>
              </a:spcAft>
              <a:defRPr sz="1300" b="1">
                <a:solidFill>
                  <a:srgbClr val="1B365D"/>
                </a:solidFill>
                <a:latin typeface="Times New Roman"/>
              </a:defRPr>
            </a:pPr>
            <a:r>
              <a:t>Tối ưu hóa phần mềm:</a:t>
            </a:r>
          </a:p>
          <a:p>
            <a:pPr>
              <a:spcAft>
                <a:spcPts val="0"/>
              </a:spcAft>
              <a:defRPr sz="1250">
                <a:solidFill>
                  <a:srgbClr val="1E242B"/>
                </a:solidFill>
                <a:latin typeface="Times New Roman"/>
              </a:defRPr>
            </a:pPr>
            <a:r>
              <a:t>Ứng dụng AI phân tích video thao tác tìm lãng phí và tích hợp lệnh chẩn đoán phần mềm tự động.</a:t>
            </a:r>
          </a:p>
        </p:txBody>
      </p:sp>
      <p:sp>
        <p:nvSpPr>
          <p:cNvPr id="13" name="Rectangle 12"/>
          <p:cNvSpPr/>
          <p:nvPr/>
        </p:nvSpPr>
        <p:spPr>
          <a:xfrm>
            <a:off x="8156448" y="1234440"/>
            <a:ext cx="3779215" cy="3600000"/>
          </a:xfrm>
          <a:prstGeom prst="rect">
            <a:avLst/>
          </a:prstGeom>
          <a:solidFill>
            <a:srgbClr val="EAF7EE"/>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156448" y="1234440"/>
            <a:ext cx="3779215"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PHƯƠNG CHÂM 3: TỰ ĐỘNG HÓA &amp; X2 NĂNG SUẤT</a:t>
            </a:r>
          </a:p>
        </p:txBody>
      </p:sp>
      <p:sp>
        <p:nvSpPr>
          <p:cNvPr id="15" name="TextBox 14"/>
          <p:cNvSpPr txBox="1"/>
          <p:nvPr/>
        </p:nvSpPr>
        <p:spPr>
          <a:xfrm>
            <a:off x="8247888" y="1618488"/>
            <a:ext cx="3596335" cy="3540000"/>
          </a:xfrm>
          <a:prstGeom prst="rect">
            <a:avLst/>
          </a:prstGeom>
          <a:noFill/>
        </p:spPr>
        <p:txBody>
          <a:bodyPr wrap="square" lIns="109728" tIns="109728" rIns="109728" bIns="109728">
            <a:spAutoFit/>
          </a:bodyPr>
          <a:lstStyle/>
          <a:p>
            <a:pPr>
              <a:spcBef>
                <a:spcPts val="0"/>
              </a:spcBef>
              <a:spcAft>
                <a:spcPts val="200"/>
              </a:spcAft>
              <a:defRPr sz="1300" b="1">
                <a:solidFill>
                  <a:srgbClr val="1B365D"/>
                </a:solidFill>
                <a:latin typeface="Times New Roman"/>
              </a:defRPr>
            </a:pPr>
            <a:r>
              <a:rPr sz="1300" b="1">
                <a:solidFill>
                  <a:srgbClr val="1B5E20"/>
                </a:solidFill>
                <a:latin typeface="Times New Roman"/>
              </a:rPr>
              <a:t>Năng suất lao động (Tăng gấp đôi):</a:t>
            </a:r>
          </a:p>
          <a:p>
            <a:pPr>
              <a:lnSpc>
                <a:spcPct val="120000"/>
              </a:lnSpc>
              <a:spcBef>
                <a:spcPts val="0"/>
              </a:spcBef>
              <a:spcAft>
                <a:spcPts val="800"/>
              </a:spcAft>
            </a:pPr>
            <a:r>
              <a:rPr sz="1250" b="0">
                <a:solidFill>
                  <a:srgbClr val="1E242B"/>
                </a:solidFill>
                <a:latin typeface="Times New Roman"/>
              </a:rPr>
              <a:t>Đạt ≥ 30,38 ~ 33,33 máy/người/ngày (tăng gấp đôi so với hiện tại: 15,19 máy/người/ngày).</a:t>
            </a:r>
          </a:p>
          <a:p>
            <a:pPr>
              <a:spcBef>
                <a:spcPts val="800"/>
              </a:spcBef>
              <a:spcAft>
                <a:spcPts val="200"/>
              </a:spcAft>
            </a:pPr>
            <a:r>
              <a:rPr sz="1300" b="1">
                <a:solidFill>
                  <a:srgbClr val="1B5E20"/>
                </a:solidFill>
                <a:latin typeface="Times New Roman"/>
              </a:rPr>
              <a:t>Tinh gọn nhân sự (Cắt giảm 50%):</a:t>
            </a:r>
          </a:p>
          <a:p>
            <a:pPr>
              <a:lnSpc>
                <a:spcPct val="120000"/>
              </a:lnSpc>
              <a:spcBef>
                <a:spcPts val="0"/>
              </a:spcBef>
              <a:spcAft>
                <a:spcPts val="800"/>
              </a:spcAft>
            </a:pPr>
            <a:r>
              <a:rPr sz="1250" b="0">
                <a:solidFill>
                  <a:srgbClr val="1E242B"/>
                </a:solidFill>
                <a:latin typeface="Times New Roman"/>
              </a:rPr>
              <a:t>Rút gọn quy mô nhân lực từ 16 ~ 18 người xuống còn 8 ~ 9 người vận hành trên toàn chuyền.</a:t>
            </a:r>
          </a:p>
          <a:p>
            <a:pPr>
              <a:spcBef>
                <a:spcPts val="800"/>
              </a:spcBef>
              <a:spcAft>
                <a:spcPts val="200"/>
              </a:spcAft>
            </a:pPr>
            <a:r>
              <a:rPr sz="1300" b="1">
                <a:solidFill>
                  <a:srgbClr val="1B5E20"/>
                </a:solidFill>
                <a:latin typeface="Times New Roman"/>
              </a:rPr>
              <a:t>Năng lực chất lượng công đoạn:</a:t>
            </a:r>
          </a:p>
          <a:p>
            <a:pPr>
              <a:lnSpc>
                <a:spcPct val="120000"/>
              </a:lnSpc>
              <a:spcBef>
                <a:spcPts val="0"/>
              </a:spcBef>
              <a:spcAft>
                <a:spcPts val="800"/>
              </a:spcAft>
            </a:pPr>
            <a:r>
              <a:rPr sz="1250" b="0">
                <a:solidFill>
                  <a:srgbClr val="1E242B"/>
                </a:solidFill>
                <a:latin typeface="Times New Roman"/>
              </a:rPr>
              <a:t>Đảm bảo chỉ số năng lực công đoạn đạt Cpk ≥ 1,33 khi đưa vào sản xuất hàng loạt (MP).</a:t>
            </a:r>
          </a:p>
        </p:txBody>
      </p:sp>
      <p:sp>
        <p:nvSpPr>
          <p:cNvPr id="16" name="Rectangle 15"/>
          <p:cNvSpPr/>
          <p:nvPr/>
        </p:nvSpPr>
        <p:spPr>
          <a:xfrm>
            <a:off x="347472" y="5350000"/>
            <a:ext cx="11497056" cy="1100000"/>
          </a:xfrm>
          <a:prstGeom prst="rect">
            <a:avLst/>
          </a:prstGeom>
          <a:solidFill>
            <a:srgbClr val="E8EEF5"/>
          </a:solidFill>
          <a:ln w="1905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300" b="1">
                <a:solidFill>
                  <a:srgbClr val="1B365D"/>
                </a:solidFill>
                <a:latin typeface="Times New Roman"/>
              </a:defRPr>
            </a:pPr>
            <a:r>
              <a:t>ĐỒNG BỘ 3 PHƯƠNG CHÂM: TÁI CẤU TRÚC CÔNG ĐOẠN  +  CẮT GIẢM 50% TỜ IN  +  TỰ ĐỘNG HÓA THAO TÁC</a:t>
            </a:r>
          </a:p>
          <a:p>
            <a:pPr algn="ctr">
              <a:defRPr sz="1200">
                <a:solidFill>
                  <a:srgbClr val="1E242B"/>
                </a:solidFill>
                <a:latin typeface="Times New Roman"/>
              </a:defRPr>
            </a:pPr>
            <a:r>
              <a:t>Đảm bảo đạt nhịp Takt 97 giây (300 máy/ngày) của IrisEXP ngay trên diện tích chuyền Iris2024 hiện có mà không cần mở rộng mặt bằng hay tăng thêm nhân sự.</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3. PHƯƠNG CHÂM THỰC HIỆN</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Phương châm thực hiện của 3 cứ điểm (JP - CN - VN) và Vai trò trọng tâm của Việt Nam</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5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Nhật Bản định hướng thiết kế và điều phối kỹ thuật; Việt Nam và Trung Quốc chủ động xử lý tại xưởng; ba cứ điểm đồng bộ trên tài liệu chung.</a:t>
            </a:r>
          </a:p>
        </p:txBody>
      </p:sp>
      <p:sp>
        <p:nvSpPr>
          <p:cNvPr id="7" name="Rounded Rectangle 6"/>
          <p:cNvSpPr/>
          <p:nvPr/>
        </p:nvSpPr>
        <p:spPr>
          <a:xfrm>
            <a:off x="256032" y="1234440"/>
            <a:ext cx="11679631" cy="777240"/>
          </a:xfrm>
          <a:prstGeom prst="roundRect">
            <a:avLst/>
          </a:prstGeom>
          <a:solidFill>
            <a:srgbClr val="1B365D"/>
          </a:solidFill>
          <a:ln w="25400">
            <a:solidFill>
              <a:srgbClr val="D96B27"/>
            </a:solidFill>
          </a:ln>
        </p:spPr>
        <p:style>
          <a:lnRef idx="1">
            <a:schemeClr val="accent1"/>
          </a:lnRef>
          <a:fillRef idx="3">
            <a:schemeClr val="accent1"/>
          </a:fillRef>
          <a:effectRef idx="2">
            <a:schemeClr val="accent1"/>
          </a:effectRef>
          <a:fontRef idx="minor">
            <a:schemeClr val="lt1"/>
          </a:fontRef>
        </p:style>
        <p:txBody>
          <a:bodyPr wrap="square" tIns="73152" rtlCol="0" anchor="ctr"/>
          <a:lstStyle/>
          <a:p>
            <a:pPr algn="ctr">
              <a:defRPr sz="1550" b="1">
                <a:solidFill>
                  <a:srgbClr val="F5B041"/>
                </a:solidFill>
                <a:latin typeface="Times New Roman"/>
              </a:defRPr>
            </a:pPr>
            <a:r>
              <a:t>PHƯƠNG CHÂM PHỐI HỢP: NHẬT BẢN ĐỊNH HƯỚNG, NHÀ MÁY CHỦ ĐỘNG, BA CỨ ĐIỂM ĐỒNG BỘ</a:t>
            </a:r>
          </a:p>
          <a:p>
            <a:pPr algn="ctr">
              <a:defRPr sz="1200">
                <a:solidFill>
                  <a:srgbClr val="FFFFFF"/>
                </a:solidFill>
                <a:latin typeface="Times New Roman"/>
              </a:defRPr>
            </a:pPr>
            <a:r>
              <a:t>Nhật Bản định hướng kỹ thuật  |  Việt Nam và Trung Quốc chủ động tại xưởng  |  Họp định kỳ hàng tuần cùng tháo gỡ vướng mắc</a:t>
            </a:r>
          </a:p>
        </p:txBody>
      </p:sp>
      <p:sp>
        <p:nvSpPr>
          <p:cNvPr id="8" name="Rectangle 7"/>
          <p:cNvSpPr/>
          <p:nvPr/>
        </p:nvSpPr>
        <p:spPr>
          <a:xfrm>
            <a:off x="256032" y="2103120"/>
            <a:ext cx="3767328" cy="375000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6032" y="2103120"/>
            <a:ext cx="3767328" cy="36000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1. NHẬT BẢN (KDC): ĐỊNH HƯỚNG &amp; REVIEW</a:t>
            </a:r>
          </a:p>
        </p:txBody>
      </p:sp>
      <p:sp>
        <p:nvSpPr>
          <p:cNvPr id="10" name="TextBox 9"/>
          <p:cNvSpPr txBox="1"/>
          <p:nvPr/>
        </p:nvSpPr>
        <p:spPr>
          <a:xfrm>
            <a:off x="320000" y="2520000"/>
            <a:ext cx="3640000" cy="3250000"/>
          </a:xfrm>
          <a:prstGeom prst="rect">
            <a:avLst/>
          </a:prstGeom>
          <a:noFill/>
        </p:spPr>
        <p:txBody>
          <a:bodyPr wrap="square" lIns="109728" tIns="109728" rIns="109728" bIns="109728">
            <a:spAutoFit/>
          </a:bodyPr>
          <a:lstStyle/>
          <a:p>
            <a:pPr>
              <a:lnSpc>
                <a:spcPct val="125000"/>
              </a:lnSpc>
              <a:spcAft>
                <a:spcPts val="1400"/>
              </a:spcAft>
              <a:defRPr sz="1200">
                <a:solidFill>
                  <a:srgbClr val="1E242B"/>
                </a:solidFill>
                <a:latin typeface="Times New Roman"/>
              </a:defRPr>
            </a:pPr>
            <a:r>
              <a:rPr sz="1300" b="1">
                <a:solidFill>
                  <a:srgbClr val="1B365D"/>
                </a:solidFill>
                <a:latin typeface="Times New Roman"/>
              </a:rPr>
              <a:t>• </a:t>
            </a:r>
            <a:r>
              <a:rPr sz="1300" b="1">
                <a:solidFill>
                  <a:srgbClr val="1B365D"/>
                </a:solidFill>
                <a:latin typeface="Times New Roman"/>
              </a:rPr>
              <a:t>Định hướng thiết kế tổng thể: </a:t>
            </a:r>
            <a:r>
              <a:rPr sz="1300" b="0">
                <a:solidFill>
                  <a:srgbClr val="1E242B"/>
                </a:solidFill>
                <a:latin typeface="Times New Roman"/>
              </a:rPr>
              <a:t>Xây dựng cấu trúc chuẩn công đoạn Bảo chứng thân máy và lộ trình kỹ thuật cho toàn dự án IrisEXP.</a:t>
            </a:r>
          </a:p>
          <a:p>
            <a:pPr>
              <a:lnSpc>
                <a:spcPct val="125000"/>
              </a:lnSpc>
              <a:spcAft>
                <a:spcPts val="1400"/>
              </a:spcAft>
            </a:pPr>
            <a:r>
              <a:rPr sz="1300" b="1">
                <a:solidFill>
                  <a:srgbClr val="1B365D"/>
                </a:solidFill>
                <a:latin typeface="Times New Roman"/>
              </a:rPr>
              <a:t>• </a:t>
            </a:r>
            <a:r>
              <a:rPr sz="1300" b="1">
                <a:solidFill>
                  <a:srgbClr val="1B365D"/>
                </a:solidFill>
                <a:latin typeface="Times New Roman"/>
              </a:rPr>
              <a:t>Đánh giá và phê duyệt: </a:t>
            </a:r>
            <a:r>
              <a:rPr sz="1300" b="0">
                <a:solidFill>
                  <a:srgbClr val="1E242B"/>
                </a:solidFill>
                <a:latin typeface="Times New Roman"/>
              </a:rPr>
              <a:t>Thẩm định tính khả thi, đánh giá an toàn chất lượng và phê duyệt tiêu chuẩn QA cho các đề án cải tiến từ nhà máy.</a:t>
            </a:r>
          </a:p>
          <a:p>
            <a:pPr>
              <a:lnSpc>
                <a:spcPct val="125000"/>
              </a:lnSpc>
              <a:spcAft>
                <a:spcPts val="1400"/>
              </a:spcAft>
            </a:pPr>
            <a:r>
              <a:rPr sz="1300" b="1">
                <a:solidFill>
                  <a:srgbClr val="1B365D"/>
                </a:solidFill>
                <a:latin typeface="Times New Roman"/>
              </a:rPr>
              <a:t>• </a:t>
            </a:r>
            <a:r>
              <a:rPr sz="1300" b="1">
                <a:solidFill>
                  <a:srgbClr val="1B365D"/>
                </a:solidFill>
                <a:latin typeface="Times New Roman"/>
              </a:rPr>
              <a:t>Điều phối kỹ thuật liên bộ phận: </a:t>
            </a:r>
            <a:r>
              <a:rPr sz="1300" b="0">
                <a:solidFill>
                  <a:srgbClr val="1E242B"/>
                </a:solidFill>
                <a:latin typeface="Times New Roman"/>
              </a:rPr>
              <a:t>Kết nối chặt chẽ giữa Thiết kế, Phần mềm, QA và Kỹ thuật sản xuất nhằm tháo gỡ nhanh các rào cản kỹ thuật.</a:t>
            </a:r>
          </a:p>
        </p:txBody>
      </p:sp>
      <p:sp>
        <p:nvSpPr>
          <p:cNvPr id="11" name="Rectangle 10"/>
          <p:cNvSpPr/>
          <p:nvPr/>
        </p:nvSpPr>
        <p:spPr>
          <a:xfrm>
            <a:off x="4206240" y="2103120"/>
            <a:ext cx="3767328" cy="375000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06240" y="2103120"/>
            <a:ext cx="3767328" cy="360000"/>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2. TRUNG QUỐC &amp; VIỆT NAM: CHỦ ĐỘNG TẠI XƯỞNG</a:t>
            </a:r>
          </a:p>
        </p:txBody>
      </p:sp>
      <p:sp>
        <p:nvSpPr>
          <p:cNvPr id="13" name="TextBox 12"/>
          <p:cNvSpPr txBox="1"/>
          <p:nvPr/>
        </p:nvSpPr>
        <p:spPr>
          <a:xfrm>
            <a:off x="4270000" y="2520000"/>
            <a:ext cx="3640000" cy="3250000"/>
          </a:xfrm>
          <a:prstGeom prst="rect">
            <a:avLst/>
          </a:prstGeom>
          <a:noFill/>
        </p:spPr>
        <p:txBody>
          <a:bodyPr wrap="square" lIns="109728" tIns="109728" rIns="109728" bIns="109728">
            <a:spAutoFit/>
          </a:bodyPr>
          <a:lstStyle/>
          <a:p>
            <a:pPr>
              <a:lnSpc>
                <a:spcPct val="125000"/>
              </a:lnSpc>
              <a:spcAft>
                <a:spcPts val="1400"/>
              </a:spcAft>
              <a:defRPr sz="1200">
                <a:solidFill>
                  <a:srgbClr val="1E242B"/>
                </a:solidFill>
                <a:latin typeface="Times New Roman"/>
              </a:defRPr>
            </a:pPr>
            <a:r>
              <a:rPr sz="1300" b="1">
                <a:solidFill>
                  <a:srgbClr val="1B365D"/>
                </a:solidFill>
                <a:latin typeface="Times New Roman"/>
              </a:rPr>
              <a:t>• </a:t>
            </a:r>
            <a:r>
              <a:rPr sz="1300" b="1">
                <a:solidFill>
                  <a:srgbClr val="1B365D"/>
                </a:solidFill>
                <a:latin typeface="Times New Roman"/>
              </a:rPr>
              <a:t>Chủ động phát hiện vấn đề: </a:t>
            </a:r>
            <a:r>
              <a:rPr sz="1300" b="0">
                <a:solidFill>
                  <a:srgbClr val="1E242B"/>
                </a:solidFill>
                <a:latin typeface="Times New Roman"/>
              </a:rPr>
              <a:t>Bấm giờ thao tác thực tế, phân tích video bóc tách điểm nghẽn tại 11 trạm điều chỉnh (chu kỳ 1.083s).</a:t>
            </a:r>
          </a:p>
          <a:p>
            <a:pPr>
              <a:lnSpc>
                <a:spcPct val="125000"/>
              </a:lnSpc>
              <a:spcAft>
                <a:spcPts val="1400"/>
              </a:spcAft>
            </a:pPr>
            <a:r>
              <a:rPr sz="1300" b="1">
                <a:solidFill>
                  <a:srgbClr val="1B365D"/>
                </a:solidFill>
                <a:latin typeface="Times New Roman"/>
              </a:rPr>
              <a:t>• </a:t>
            </a:r>
            <a:r>
              <a:rPr sz="1300" b="1">
                <a:solidFill>
                  <a:srgbClr val="1B365D"/>
                </a:solidFill>
                <a:latin typeface="Times New Roman"/>
              </a:rPr>
              <a:t>Tự thiết kế &amp; kiểm chứng: </a:t>
            </a:r>
            <a:r>
              <a:rPr sz="1300" b="0">
                <a:solidFill>
                  <a:srgbClr val="1E242B"/>
                </a:solidFill>
                <a:latin typeface="Times New Roman"/>
              </a:rPr>
              <a:t>Chế tạo đồ gá nội bộ, chuyển đổi dùng khay DP thay thế Robot đắt tiền, tính toán hiệu quả đầu tư tại chỗ.</a:t>
            </a:r>
          </a:p>
          <a:p>
            <a:pPr>
              <a:lnSpc>
                <a:spcPct val="125000"/>
              </a:lnSpc>
              <a:spcAft>
                <a:spcPts val="1400"/>
              </a:spcAft>
            </a:pPr>
            <a:r>
              <a:rPr sz="1300" b="1">
                <a:solidFill>
                  <a:srgbClr val="1B365D"/>
                </a:solidFill>
                <a:latin typeface="Times New Roman"/>
              </a:rPr>
              <a:t>• </a:t>
            </a:r>
            <a:r>
              <a:rPr sz="1300" b="1">
                <a:solidFill>
                  <a:srgbClr val="1B365D"/>
                </a:solidFill>
                <a:latin typeface="Times New Roman"/>
              </a:rPr>
              <a:t>Chủ động triển khai: </a:t>
            </a:r>
            <a:r>
              <a:rPr sz="1300" b="0">
                <a:solidFill>
                  <a:srgbClr val="1E242B"/>
                </a:solidFill>
                <a:latin typeface="Times New Roman"/>
              </a:rPr>
              <a:t>Tự theo dõi tiến độ PDCA hàng tháng, đo kiểm năng lực công đoạn và áp dụng ngay các cải tiến đã chốt vào tài liệu SOP.</a:t>
            </a:r>
          </a:p>
        </p:txBody>
      </p:sp>
      <p:sp>
        <p:nvSpPr>
          <p:cNvPr id="14" name="Rectangle 13"/>
          <p:cNvSpPr/>
          <p:nvPr/>
        </p:nvSpPr>
        <p:spPr>
          <a:xfrm>
            <a:off x="8156448" y="2103120"/>
            <a:ext cx="3779215" cy="375000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156448" y="2103120"/>
            <a:ext cx="3779215" cy="360000"/>
          </a:xfrm>
          <a:prstGeom prst="rect">
            <a:avLst/>
          </a:prstGeom>
          <a:solidFill>
            <a:srgbClr val="007A78"/>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3. BA CỨ ĐIỂM: CHIA SẺ &amp; PHỐI HỢP</a:t>
            </a:r>
          </a:p>
        </p:txBody>
      </p:sp>
      <p:sp>
        <p:nvSpPr>
          <p:cNvPr id="16" name="TextBox 15"/>
          <p:cNvSpPr txBox="1"/>
          <p:nvPr/>
        </p:nvSpPr>
        <p:spPr>
          <a:xfrm>
            <a:off x="8220000" y="2520000"/>
            <a:ext cx="3650000" cy="3250000"/>
          </a:xfrm>
          <a:prstGeom prst="rect">
            <a:avLst/>
          </a:prstGeom>
          <a:noFill/>
        </p:spPr>
        <p:txBody>
          <a:bodyPr wrap="square" lIns="109728" tIns="109728" rIns="109728" bIns="109728">
            <a:spAutoFit/>
          </a:bodyPr>
          <a:lstStyle/>
          <a:p>
            <a:pPr>
              <a:lnSpc>
                <a:spcPct val="125000"/>
              </a:lnSpc>
              <a:spcAft>
                <a:spcPts val="1400"/>
              </a:spcAft>
              <a:defRPr sz="1200">
                <a:solidFill>
                  <a:srgbClr val="1E242B"/>
                </a:solidFill>
                <a:latin typeface="Times New Roman"/>
              </a:defRPr>
            </a:pPr>
            <a:r>
              <a:rPr sz="1300" b="1">
                <a:solidFill>
                  <a:srgbClr val="1B365D"/>
                </a:solidFill>
                <a:latin typeface="Times New Roman"/>
              </a:rPr>
              <a:t>• </a:t>
            </a:r>
            <a:r>
              <a:rPr sz="1300" b="1">
                <a:solidFill>
                  <a:srgbClr val="1B365D"/>
                </a:solidFill>
                <a:latin typeface="Times New Roman"/>
              </a:rPr>
              <a:t>Quản lý tập trung: </a:t>
            </a:r>
            <a:r>
              <a:rPr sz="1300" b="0">
                <a:solidFill>
                  <a:srgbClr val="1E242B"/>
                </a:solidFill>
                <a:latin typeface="Times New Roman"/>
              </a:rPr>
              <a:t>Theo dõi đồng bộ toàn bộ 38 đề án (Nhật Bản: 7, Trung Quốc: 11, Việt Nam: 20) trên cùng một bảng quản lý chung.</a:t>
            </a:r>
          </a:p>
          <a:p>
            <a:pPr>
              <a:lnSpc>
                <a:spcPct val="125000"/>
              </a:lnSpc>
              <a:spcAft>
                <a:spcPts val="1400"/>
              </a:spcAft>
            </a:pPr>
            <a:r>
              <a:rPr sz="1300" b="1">
                <a:solidFill>
                  <a:srgbClr val="1B365D"/>
                </a:solidFill>
                <a:latin typeface="Times New Roman"/>
              </a:rPr>
              <a:t>• </a:t>
            </a:r>
            <a:r>
              <a:rPr sz="1300" b="1">
                <a:solidFill>
                  <a:srgbClr val="1B365D"/>
                </a:solidFill>
                <a:latin typeface="Times New Roman"/>
              </a:rPr>
              <a:t>Họp định kỳ hàng tuần: </a:t>
            </a:r>
            <a:r>
              <a:rPr sz="1300" b="0">
                <a:solidFill>
                  <a:srgbClr val="1E242B"/>
                </a:solidFill>
                <a:latin typeface="Times New Roman"/>
              </a:rPr>
              <a:t>Họp liên kết ba cứ điểm để chia sẻ tiến độ thực tế, nộp dữ liệu thực nghiệm và cùng nhau giải quyết vướng mắc.</a:t>
            </a:r>
          </a:p>
          <a:p>
            <a:pPr>
              <a:lnSpc>
                <a:spcPct val="125000"/>
              </a:lnSpc>
              <a:spcAft>
                <a:spcPts val="1400"/>
              </a:spcAft>
            </a:pPr>
            <a:r>
              <a:rPr sz="1300" b="1">
                <a:solidFill>
                  <a:srgbClr val="1B365D"/>
                </a:solidFill>
                <a:latin typeface="Times New Roman"/>
              </a:rPr>
              <a:t>• </a:t>
            </a:r>
            <a:r>
              <a:rPr sz="1300" b="1">
                <a:solidFill>
                  <a:srgbClr val="1B365D"/>
                </a:solidFill>
                <a:latin typeface="Times New Roman"/>
              </a:rPr>
              <a:t>Nhân rộng giải pháp: </a:t>
            </a:r>
            <a:r>
              <a:rPr sz="1300" b="0">
                <a:solidFill>
                  <a:srgbClr val="1E242B"/>
                </a:solidFill>
                <a:latin typeface="Times New Roman"/>
              </a:rPr>
              <a:t>Đề án cải tiến thành công tại một nhà máy được chia sẻ dữ liệu và chuyển giao tiêu chuẩn để nhân rộng cho cả ba cứ điểm.</a:t>
            </a:r>
          </a:p>
        </p:txBody>
      </p:sp>
      <p:sp>
        <p:nvSpPr>
          <p:cNvPr id="17" name="Rectangle 16"/>
          <p:cNvSpPr/>
          <p:nvPr/>
        </p:nvSpPr>
        <p:spPr>
          <a:xfrm>
            <a:off x="256032" y="5980000"/>
            <a:ext cx="11679631" cy="520000"/>
          </a:xfrm>
          <a:prstGeom prst="rect">
            <a:avLst/>
          </a:prstGeom>
          <a:solidFill>
            <a:srgbClr val="E8EEF5"/>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wrap="square" tIns="73152" bIns="73152"/>
          <a:lstStyle/>
          <a:p>
            <a:pPr algn="ctr"/>
            <a:r>
              <a:rPr sz="1300" b="1">
                <a:solidFill>
                  <a:srgbClr val="1B365D"/>
                </a:solidFill>
                <a:latin typeface="Times New Roman"/>
              </a:rPr>
              <a:t>Mục tiêu phối hợp: KDC định hướng kiến trúc, Nhà máy làm chủ hiện trường, ba cứ điểm đồng bộ dữ liệu quyết tâm đạt mục tiêu Takt Time IrisEXP.</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4.1 ĐỀ ÁN VIỆT NAM</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400" b="1">
                <a:solidFill>
                  <a:srgbClr val="FFFFFF"/>
                </a:solidFill>
                <a:latin typeface="Times New Roman"/>
              </a:defRPr>
            </a:pPr>
            <a:r>
              <a:t>Tổng quan 20 đề án cải tiến của Việt Nam (No.18 ~ No.37) và các đề án trọng tâm</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6 / 15</a:t>
            </a:r>
          </a:p>
        </p:txBody>
      </p:sp>
      <p:sp>
        <p:nvSpPr>
          <p:cNvPr id="6" name="Rectangle 5"/>
          <p:cNvSpPr/>
          <p:nvPr/>
        </p:nvSpPr>
        <p:spPr>
          <a:xfrm>
            <a:off x="256032" y="676656"/>
            <a:ext cx="11679631" cy="475488"/>
          </a:xfrm>
          <a:prstGeom prst="rect">
            <a:avLst/>
          </a:prstGeom>
          <a:solidFill>
            <a:srgbClr val="E8EEF5"/>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t>Việt Nam lập 20 đề án: Trọng tâm chuyển nạp Soft về NCC (giảm 1 người tại A-1) và 4 hạng mục tự động hóa với dự toán duyệt 101,69 triệu VNĐ (No.22).</a:t>
            </a:r>
          </a:p>
        </p:txBody>
      </p:sp>
      <p:pic>
        <p:nvPicPr>
          <p:cNvPr id="7" name="Picture 6" descr="chart_s5_overview.png"/>
          <p:cNvPicPr>
            <a:picLocks noChangeAspect="1"/>
          </p:cNvPicPr>
          <p:nvPr/>
        </p:nvPicPr>
        <p:blipFill>
          <a:blip r:embed="rId2"/>
          <a:stretch>
            <a:fillRect/>
          </a:stretch>
        </p:blipFill>
        <p:spPr>
          <a:xfrm>
            <a:off x="256032" y="1234440"/>
            <a:ext cx="5257800" cy="2289687"/>
          </a:xfrm>
          <a:prstGeom prst="rect">
            <a:avLst/>
          </a:prstGeom>
        </p:spPr>
      </p:pic>
      <p:graphicFrame>
        <p:nvGraphicFramePr>
          <p:cNvPr id="8" name="Table 7"/>
          <p:cNvGraphicFramePr>
            <a:graphicFrameLocks noGrp="1"/>
          </p:cNvGraphicFramePr>
          <p:nvPr/>
        </p:nvGraphicFramePr>
        <p:xfrm>
          <a:off x="5623560" y="1234440"/>
          <a:ext cx="6309360" cy="2709672"/>
        </p:xfrm>
        <a:graphic>
          <a:graphicData uri="http://schemas.openxmlformats.org/drawingml/2006/table">
            <a:tbl>
              <a:tblPr firstRow="1" bandRow="1">
                <a:tableStyleId>{5C22544A-7EE6-4342-B048-85BDC9FD1C3A}</a:tableStyleId>
              </a:tblPr>
              <a:tblGrid>
                <a:gridCol w="141732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426720">
                <a:tc>
                  <a:txBody>
                    <a:bodyPr/>
                    <a:lstStyle/>
                    <a:p>
                      <a:pPr algn="ctr">
                        <a:defRPr sz="1250" b="1">
                          <a:solidFill>
                            <a:srgbClr val="FFFFFF"/>
                          </a:solidFill>
                          <a:latin typeface="Times New Roman"/>
                        </a:defRPr>
                      </a:pPr>
                      <a:r>
                        <a:t>Cụm trạm</a:t>
                      </a:r>
                    </a:p>
                  </a:txBody>
                  <a:tcPr marL="36576" marR="36576" marT="13716" marB="13716" anchor="ctr">
                    <a:solidFill>
                      <a:srgbClr val="1B365D"/>
                    </a:solidFill>
                  </a:tcPr>
                </a:tc>
                <a:tc>
                  <a:txBody>
                    <a:bodyPr/>
                    <a:lstStyle/>
                    <a:p>
                      <a:pPr algn="ctr">
                        <a:defRPr sz="1250" b="1">
                          <a:solidFill>
                            <a:srgbClr val="FFFFFF"/>
                          </a:solidFill>
                          <a:latin typeface="Times New Roman"/>
                        </a:defRPr>
                      </a:pPr>
                      <a:r>
                        <a:t>Mã đề án VN</a:t>
                      </a:r>
                    </a:p>
                  </a:txBody>
                  <a:tcPr marL="36576" marR="36576" marT="13716" marB="13716" anchor="ctr">
                    <a:solidFill>
                      <a:srgbClr val="1B365D"/>
                    </a:solidFill>
                  </a:tcPr>
                </a:tc>
                <a:tc>
                  <a:txBody>
                    <a:bodyPr/>
                    <a:lstStyle/>
                    <a:p>
                      <a:pPr algn="ctr">
                        <a:defRPr sz="1250" b="1">
                          <a:solidFill>
                            <a:srgbClr val="FFFFFF"/>
                          </a:solidFill>
                          <a:latin typeface="Times New Roman"/>
                        </a:defRPr>
                      </a:pPr>
                      <a:r>
                        <a:t>Thời gian giảm</a:t>
                      </a:r>
                    </a:p>
                  </a:txBody>
                  <a:tcPr marL="36576" marR="36576" marT="13716" marB="13716" anchor="ctr">
                    <a:solidFill>
                      <a:srgbClr val="1B365D"/>
                    </a:solidFill>
                  </a:tcPr>
                </a:tc>
                <a:tc>
                  <a:txBody>
                    <a:bodyPr/>
                    <a:lstStyle/>
                    <a:p>
                      <a:pPr algn="ctr">
                        <a:defRPr sz="1250" b="1">
                          <a:solidFill>
                            <a:srgbClr val="FFFFFF"/>
                          </a:solidFill>
                          <a:latin typeface="Times New Roman"/>
                        </a:defRPr>
                      </a:pPr>
                      <a:r>
                        <a:t>Kinh phí dự toán</a:t>
                      </a:r>
                    </a:p>
                  </a:txBody>
                  <a:tcPr marL="36576" marR="36576" marT="13716" marB="13716" anchor="ctr">
                    <a:solidFill>
                      <a:srgbClr val="1B365D"/>
                    </a:solidFill>
                  </a:tcPr>
                </a:tc>
                <a:extLst>
                  <a:ext uri="{0D108BD9-81ED-4DB2-BD59-A6C34878D82A}">
                    <a16:rowId xmlns:a16="http://schemas.microsoft.com/office/drawing/2014/main" val="10000"/>
                  </a:ext>
                </a:extLst>
              </a:tr>
              <a:tr h="426720">
                <a:tc>
                  <a:txBody>
                    <a:bodyPr/>
                    <a:lstStyle/>
                    <a:p>
                      <a:pPr algn="l">
                        <a:defRPr sz="1200" b="1">
                          <a:solidFill>
                            <a:srgbClr val="1E242B"/>
                          </a:solidFill>
                          <a:latin typeface="Times New Roman"/>
                        </a:defRPr>
                      </a:pPr>
                      <a:r>
                        <a:t>A-1 (Nạp FW, TLBĐ)</a:t>
                      </a:r>
                    </a:p>
                  </a:txBody>
                  <a:tcPr marL="36576" marR="36576" marT="13716" marB="13716" anchor="ctr">
                    <a:solidFill>
                      <a:srgbClr val="FFFFFF"/>
                    </a:solidFill>
                  </a:tcPr>
                </a:tc>
                <a:tc>
                  <a:txBody>
                    <a:bodyPr/>
                    <a:lstStyle/>
                    <a:p>
                      <a:pPr algn="l">
                        <a:defRPr sz="1200">
                          <a:solidFill>
                            <a:srgbClr val="1E242B"/>
                          </a:solidFill>
                          <a:latin typeface="Times New Roman"/>
                        </a:defRPr>
                      </a:pPr>
                      <a:r>
                        <a:t>No.18, 19, 20, 29, 30</a:t>
                      </a:r>
                      <a:br/>
                      <a:r>
                        <a:t>+ FW Partner</a:t>
                      </a:r>
                    </a:p>
                  </a:txBody>
                  <a:tcPr marL="36576" marR="36576" marT="13716" marB="13716" anchor="ctr">
                    <a:solidFill>
                      <a:srgbClr val="FFFFFF"/>
                    </a:solidFill>
                  </a:tcPr>
                </a:tc>
                <a:tc>
                  <a:txBody>
                    <a:bodyPr/>
                    <a:lstStyle/>
                    <a:p>
                      <a:pPr algn="l">
                        <a:defRPr sz="1200">
                          <a:solidFill>
                            <a:srgbClr val="1E242B"/>
                          </a:solidFill>
                          <a:latin typeface="Times New Roman"/>
                        </a:defRPr>
                      </a:pPr>
                      <a:r>
                        <a:t>-112,5s ~ -124,5s</a:t>
                      </a:r>
                      <a:br/>
                      <a:r>
                        <a:t>(Giảm 1 người)</a:t>
                      </a:r>
                    </a:p>
                  </a:txBody>
                  <a:tcPr marL="36576" marR="36576" marT="13716" marB="13716" anchor="ctr">
                    <a:solidFill>
                      <a:srgbClr val="FFFFFF"/>
                    </a:solidFill>
                  </a:tcPr>
                </a:tc>
                <a:tc>
                  <a:txBody>
                    <a:bodyPr/>
                    <a:lstStyle/>
                    <a:p>
                      <a:pPr algn="l">
                        <a:defRPr sz="1200">
                          <a:solidFill>
                            <a:srgbClr val="1E242B"/>
                          </a:solidFill>
                          <a:latin typeface="Times New Roman"/>
                        </a:defRPr>
                      </a:pPr>
                      <a:r>
                        <a:t>3 Đang lấy báo giá</a:t>
                      </a:r>
                      <a:br/>
                      <a:r>
                        <a:t>2 Cải tiến 0đ thiết kế</a:t>
                      </a:r>
                    </a:p>
                  </a:txBody>
                  <a:tcPr marL="36576" marR="36576" marT="13716" marB="13716" anchor="ctr">
                    <a:solidFill>
                      <a:srgbClr val="FFFFFF"/>
                    </a:solidFill>
                  </a:tcPr>
                </a:tc>
                <a:extLst>
                  <a:ext uri="{0D108BD9-81ED-4DB2-BD59-A6C34878D82A}">
                    <a16:rowId xmlns:a16="http://schemas.microsoft.com/office/drawing/2014/main" val="10001"/>
                  </a:ext>
                </a:extLst>
              </a:tr>
              <a:tr h="426720">
                <a:tc>
                  <a:txBody>
                    <a:bodyPr/>
                    <a:lstStyle/>
                    <a:p>
                      <a:pPr algn="l">
                        <a:defRPr sz="1200" b="1">
                          <a:solidFill>
                            <a:srgbClr val="1E242B"/>
                          </a:solidFill>
                          <a:latin typeface="Times New Roman"/>
                        </a:defRPr>
                      </a:pPr>
                      <a:r>
                        <a:t>A-2 (Option, Scan)</a:t>
                      </a:r>
                    </a:p>
                  </a:txBody>
                  <a:tcPr marL="36576" marR="36576" marT="13716" marB="13716" anchor="ctr">
                    <a:solidFill>
                      <a:srgbClr val="F7F9FC"/>
                    </a:solidFill>
                  </a:tcPr>
                </a:tc>
                <a:tc>
                  <a:txBody>
                    <a:bodyPr/>
                    <a:lstStyle/>
                    <a:p>
                      <a:pPr algn="l">
                        <a:defRPr sz="1200">
                          <a:solidFill>
                            <a:srgbClr val="1E242B"/>
                          </a:solidFill>
                          <a:latin typeface="Times New Roman"/>
                        </a:defRPr>
                      </a:pPr>
                      <a:r>
                        <a:t>No.21, 23, 24, 25, 31</a:t>
                      </a:r>
                    </a:p>
                  </a:txBody>
                  <a:tcPr marL="36576" marR="36576" marT="13716" marB="13716" anchor="ctr">
                    <a:solidFill>
                      <a:srgbClr val="F7F9FC"/>
                    </a:solidFill>
                  </a:tcPr>
                </a:tc>
                <a:tc>
                  <a:txBody>
                    <a:bodyPr/>
                    <a:lstStyle/>
                    <a:p>
                      <a:pPr algn="l">
                        <a:defRPr sz="1200">
                          <a:solidFill>
                            <a:srgbClr val="1E242B"/>
                          </a:solidFill>
                          <a:latin typeface="Times New Roman"/>
                        </a:defRPr>
                      </a:pPr>
                      <a:r>
                        <a:t>-154,0s ~ -170,0s</a:t>
                      </a:r>
                    </a:p>
                  </a:txBody>
                  <a:tcPr marL="36576" marR="36576" marT="13716" marB="13716" anchor="ctr">
                    <a:solidFill>
                      <a:srgbClr val="F7F9FC"/>
                    </a:solidFill>
                  </a:tcPr>
                </a:tc>
                <a:tc>
                  <a:txBody>
                    <a:bodyPr/>
                    <a:lstStyle/>
                    <a:p>
                      <a:pPr algn="l">
                        <a:defRPr sz="1200">
                          <a:solidFill>
                            <a:srgbClr val="1E242B"/>
                          </a:solidFill>
                          <a:latin typeface="Times New Roman"/>
                        </a:defRPr>
                      </a:pPr>
                      <a:r>
                        <a:t>Thay Robot bằng khay DP</a:t>
                      </a:r>
                      <a:br/>
                      <a:r>
                        <a:t>Tiết kiệm 754 triệu VNĐ</a:t>
                      </a:r>
                    </a:p>
                  </a:txBody>
                  <a:tcPr marL="36576" marR="36576" marT="13716" marB="13716" anchor="ctr">
                    <a:solidFill>
                      <a:srgbClr val="F7F9FC"/>
                    </a:solidFill>
                  </a:tcPr>
                </a:tc>
                <a:extLst>
                  <a:ext uri="{0D108BD9-81ED-4DB2-BD59-A6C34878D82A}">
                    <a16:rowId xmlns:a16="http://schemas.microsoft.com/office/drawing/2014/main" val="10002"/>
                  </a:ext>
                </a:extLst>
              </a:tr>
              <a:tr h="426720">
                <a:tc>
                  <a:txBody>
                    <a:bodyPr/>
                    <a:lstStyle/>
                    <a:p>
                      <a:pPr algn="l">
                        <a:defRPr sz="1200" b="1">
                          <a:solidFill>
                            <a:srgbClr val="1E242B"/>
                          </a:solidFill>
                          <a:latin typeface="Times New Roman"/>
                        </a:defRPr>
                      </a:pPr>
                      <a:r>
                        <a:t>A-3 (An toàn điện)</a:t>
                      </a:r>
                    </a:p>
                  </a:txBody>
                  <a:tcPr marL="36576" marR="36576" marT="13716" marB="13716" anchor="ctr">
                    <a:solidFill>
                      <a:srgbClr val="EAF7EE"/>
                    </a:solidFill>
                  </a:tcPr>
                </a:tc>
                <a:tc>
                  <a:txBody>
                    <a:bodyPr/>
                    <a:lstStyle/>
                    <a:p>
                      <a:pPr algn="l">
                        <a:defRPr sz="1200">
                          <a:solidFill>
                            <a:srgbClr val="1E242B"/>
                          </a:solidFill>
                          <a:latin typeface="Times New Roman"/>
                        </a:defRPr>
                      </a:pPr>
                      <a:r>
                        <a:t>No.22, 33, 34</a:t>
                      </a:r>
                    </a:p>
                  </a:txBody>
                  <a:tcPr marL="36576" marR="36576" marT="13716" marB="13716" anchor="ctr">
                    <a:solidFill>
                      <a:srgbClr val="EAF7EE"/>
                    </a:solidFill>
                  </a:tcPr>
                </a:tc>
                <a:tc>
                  <a:txBody>
                    <a:bodyPr/>
                    <a:lstStyle/>
                    <a:p>
                      <a:pPr algn="l">
                        <a:defRPr sz="1200">
                          <a:solidFill>
                            <a:srgbClr val="1E242B"/>
                          </a:solidFill>
                          <a:latin typeface="Times New Roman"/>
                        </a:defRPr>
                      </a:pPr>
                      <a:r>
                        <a:t>-158,3s ~ -200,0s</a:t>
                      </a:r>
                    </a:p>
                  </a:txBody>
                  <a:tcPr marL="36576" marR="36576" marT="13716" marB="13716" anchor="ctr">
                    <a:solidFill>
                      <a:srgbClr val="EAF7EE"/>
                    </a:solidFill>
                  </a:tcPr>
                </a:tc>
                <a:tc>
                  <a:txBody>
                    <a:bodyPr/>
                    <a:lstStyle/>
                    <a:p>
                      <a:pPr algn="l">
                        <a:defRPr sz="1200" b="1">
                          <a:solidFill>
                            <a:srgbClr val="1E6E3E"/>
                          </a:solidFill>
                          <a:latin typeface="Times New Roman"/>
                        </a:defRPr>
                      </a:pPr>
                      <a:r>
                        <a:t>No.22: 101,69 triệu VNĐ</a:t>
                      </a:r>
                      <a:br/>
                      <a:r>
                        <a:t>(3.911 USD / BOM 25 mục)</a:t>
                      </a:r>
                    </a:p>
                  </a:txBody>
                  <a:tcPr marL="36576" marR="36576" marT="13716" marB="13716" anchor="ctr">
                    <a:solidFill>
                      <a:srgbClr val="EAF7EE"/>
                    </a:solidFill>
                  </a:tcPr>
                </a:tc>
                <a:extLst>
                  <a:ext uri="{0D108BD9-81ED-4DB2-BD59-A6C34878D82A}">
                    <a16:rowId xmlns:a16="http://schemas.microsoft.com/office/drawing/2014/main" val="10003"/>
                  </a:ext>
                </a:extLst>
              </a:tr>
              <a:tr h="426720">
                <a:tc>
                  <a:txBody>
                    <a:bodyPr/>
                    <a:lstStyle/>
                    <a:p>
                      <a:pPr algn="l">
                        <a:defRPr sz="1200" b="1">
                          <a:solidFill>
                            <a:srgbClr val="1E242B"/>
                          </a:solidFill>
                          <a:latin typeface="Times New Roman"/>
                        </a:defRPr>
                      </a:pPr>
                      <a:r>
                        <a:t>A-4 (Ảnh, Âm, Xuất)</a:t>
                      </a:r>
                    </a:p>
                  </a:txBody>
                  <a:tcPr marL="36576" marR="36576" marT="13716" marB="13716" anchor="ctr">
                    <a:solidFill>
                      <a:srgbClr val="F7F9FC"/>
                    </a:solidFill>
                  </a:tcPr>
                </a:tc>
                <a:tc>
                  <a:txBody>
                    <a:bodyPr/>
                    <a:lstStyle/>
                    <a:p>
                      <a:pPr algn="l">
                        <a:defRPr sz="1200">
                          <a:solidFill>
                            <a:srgbClr val="1E242B"/>
                          </a:solidFill>
                          <a:latin typeface="Times New Roman"/>
                        </a:defRPr>
                      </a:pPr>
                      <a:r>
                        <a:t>No.26, 27, 28, 35, 37</a:t>
                      </a:r>
                    </a:p>
                  </a:txBody>
                  <a:tcPr marL="36576" marR="36576" marT="13716" marB="13716" anchor="ctr">
                    <a:solidFill>
                      <a:srgbClr val="F7F9FC"/>
                    </a:solidFill>
                  </a:tcPr>
                </a:tc>
                <a:tc>
                  <a:txBody>
                    <a:bodyPr/>
                    <a:lstStyle/>
                    <a:p>
                      <a:pPr algn="l">
                        <a:defRPr sz="1200">
                          <a:solidFill>
                            <a:srgbClr val="1E242B"/>
                          </a:solidFill>
                          <a:latin typeface="Times New Roman"/>
                        </a:defRPr>
                      </a:pPr>
                      <a:r>
                        <a:t>-227,0s ~ -265,0s</a:t>
                      </a:r>
                      <a:br/>
                      <a:r>
                        <a:t>(Giảm ~2 người)</a:t>
                      </a:r>
                    </a:p>
                  </a:txBody>
                  <a:tcPr marL="36576" marR="36576" marT="13716" marB="13716" anchor="ctr">
                    <a:solidFill>
                      <a:srgbClr val="F7F9FC"/>
                    </a:solidFill>
                  </a:tcPr>
                </a:tc>
                <a:tc>
                  <a:txBody>
                    <a:bodyPr/>
                    <a:lstStyle/>
                    <a:p>
                      <a:pPr algn="l">
                        <a:defRPr sz="1200">
                          <a:solidFill>
                            <a:srgbClr val="1E242B"/>
                          </a:solidFill>
                          <a:latin typeface="Times New Roman"/>
                        </a:defRPr>
                      </a:pPr>
                      <a:r>
                        <a:t>Camera No.27 (-177s)</a:t>
                      </a:r>
                      <a:br/>
                      <a:r>
                        <a:t>Xuất qua mạng (-50s)</a:t>
                      </a:r>
                    </a:p>
                  </a:txBody>
                  <a:tcPr marL="36576" marR="36576" marT="13716" marB="13716" anchor="ctr">
                    <a:solidFill>
                      <a:srgbClr val="F7F9FC"/>
                    </a:solidFill>
                  </a:tcPr>
                </a:tc>
                <a:extLst>
                  <a:ext uri="{0D108BD9-81ED-4DB2-BD59-A6C34878D82A}">
                    <a16:rowId xmlns:a16="http://schemas.microsoft.com/office/drawing/2014/main" val="10004"/>
                  </a:ext>
                </a:extLst>
              </a:tr>
              <a:tr h="426720">
                <a:tc>
                  <a:txBody>
                    <a:bodyPr/>
                    <a:lstStyle/>
                    <a:p>
                      <a:pPr algn="l">
                        <a:defRPr sz="1200" b="1">
                          <a:solidFill>
                            <a:srgbClr val="1E242B"/>
                          </a:solidFill>
                          <a:latin typeface="Times New Roman"/>
                        </a:defRPr>
                      </a:pPr>
                      <a:r>
                        <a:t>TỔNG CỘNG VN</a:t>
                      </a:r>
                    </a:p>
                  </a:txBody>
                  <a:tcPr marL="36576" marR="36576" marT="13716" marB="13716" anchor="ctr">
                    <a:solidFill>
                      <a:srgbClr val="E8EEF5"/>
                    </a:solidFill>
                  </a:tcPr>
                </a:tc>
                <a:tc>
                  <a:txBody>
                    <a:bodyPr/>
                    <a:lstStyle/>
                    <a:p>
                      <a:pPr algn="l">
                        <a:defRPr sz="1200">
                          <a:solidFill>
                            <a:srgbClr val="1E242B"/>
                          </a:solidFill>
                          <a:latin typeface="Times New Roman"/>
                        </a:defRPr>
                      </a:pPr>
                      <a:r>
                        <a:t>20 Đề án (No.18 ~ 37)</a:t>
                      </a:r>
                    </a:p>
                  </a:txBody>
                  <a:tcPr marL="36576" marR="36576" marT="13716" marB="13716" anchor="ctr">
                    <a:solidFill>
                      <a:srgbClr val="E8EEF5"/>
                    </a:solidFill>
                  </a:tcPr>
                </a:tc>
                <a:tc>
                  <a:txBody>
                    <a:bodyPr/>
                    <a:lstStyle/>
                    <a:p>
                      <a:pPr algn="l">
                        <a:defRPr sz="1200">
                          <a:solidFill>
                            <a:srgbClr val="1E242B"/>
                          </a:solidFill>
                          <a:latin typeface="Times New Roman"/>
                        </a:defRPr>
                      </a:pPr>
                      <a:r>
                        <a:t>Giảm ~600s (-50%)</a:t>
                      </a:r>
                      <a:br/>
                      <a:r>
                        <a:t>Đạt mục tiêu x2 NS</a:t>
                      </a:r>
                    </a:p>
                  </a:txBody>
                  <a:tcPr marL="36576" marR="36576" marT="13716" marB="13716" anchor="ctr">
                    <a:solidFill>
                      <a:srgbClr val="E8EEF5"/>
                    </a:solidFill>
                  </a:tcPr>
                </a:tc>
                <a:tc>
                  <a:txBody>
                    <a:bodyPr/>
                    <a:lstStyle/>
                    <a:p>
                      <a:pPr algn="l">
                        <a:defRPr sz="1200" b="1">
                          <a:solidFill>
                            <a:srgbClr val="1E6E3E"/>
                          </a:solidFill>
                          <a:latin typeface="Times New Roman"/>
                        </a:defRPr>
                      </a:pPr>
                      <a:r>
                        <a:t>3 ĐA: 855,69 triệu VNĐ</a:t>
                      </a:r>
                      <a:br/>
                      <a:r>
                        <a:t>(Duyệt No.22: 101,69 tr)</a:t>
                      </a:r>
                    </a:p>
                  </a:txBody>
                  <a:tcPr marL="36576" marR="36576" marT="13716" marB="13716" anchor="ctr">
                    <a:solidFill>
                      <a:srgbClr val="E8EEF5"/>
                    </a:solidFill>
                  </a:tcPr>
                </a:tc>
                <a:extLst>
                  <a:ext uri="{0D108BD9-81ED-4DB2-BD59-A6C34878D82A}">
                    <a16:rowId xmlns:a16="http://schemas.microsoft.com/office/drawing/2014/main" val="10005"/>
                  </a:ext>
                </a:extLst>
              </a:tr>
            </a:tbl>
          </a:graphicData>
        </a:graphic>
      </p:graphicFrame>
      <p:sp>
        <p:nvSpPr>
          <p:cNvPr id="9" name="Rectangle 8"/>
          <p:cNvSpPr/>
          <p:nvPr/>
        </p:nvSpPr>
        <p:spPr>
          <a:xfrm>
            <a:off x="256032" y="3980000"/>
            <a:ext cx="5739815" cy="2580000"/>
          </a:xfrm>
          <a:prstGeom prst="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 y="3980000"/>
            <a:ext cx="5739815" cy="330000"/>
          </a:xfrm>
          <a:prstGeom prst="rect">
            <a:avLst/>
          </a:prstGeom>
          <a:solidFill>
            <a:srgbClr val="1B365D"/>
          </a:solidFill>
          <a:ln>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CƠ CẤU 4 HẠNG MỤC TỰ ĐỘNG HÓA TRONG FILE DỰ TOÁN VN</a:t>
            </a:r>
          </a:p>
        </p:txBody>
      </p:sp>
      <p:sp>
        <p:nvSpPr>
          <p:cNvPr id="11" name="TextBox 10"/>
          <p:cNvSpPr txBox="1"/>
          <p:nvPr/>
        </p:nvSpPr>
        <p:spPr>
          <a:xfrm>
            <a:off x="296032" y="4325000"/>
            <a:ext cx="5659815" cy="2225000"/>
          </a:xfrm>
          <a:prstGeom prst="rect">
            <a:avLst/>
          </a:prstGeom>
          <a:noFill/>
        </p:spPr>
        <p:txBody>
          <a:bodyPr wrap="square" lIns="54864" rIns="54864" tIns="36576" bIns="36576">
            <a:spAutoFit/>
          </a:bodyPr>
          <a:lstStyle/>
          <a:p>
            <a:pPr>
              <a:lnSpc>
                <a:spcPct val="115000"/>
              </a:lnSpc>
              <a:spcAft>
                <a:spcPts val="600"/>
              </a:spcAft>
            </a:pPr>
            <a:r>
              <a:rPr sz="1200" b="1">
                <a:solidFill>
                  <a:srgbClr val="1B365D"/>
                </a:solidFill>
                <a:latin typeface="Times New Roman"/>
              </a:rPr>
              <a:t>• Đề án 1 (No.22 - Đo an toàn điện, 30s): </a:t>
            </a:r>
            <a:r>
              <a:rPr sz="1200" b="0">
                <a:solidFill>
                  <a:srgbClr val="1E242B"/>
                </a:solidFill>
                <a:latin typeface="Times New Roman"/>
              </a:rPr>
              <a:t>JIG tự động PLC FX5U đo khi đóng nắp máy. BOM 25 mục: 101,69 tr VNĐ (3.911 USD), tiết kiệm 29,6 tr/năm (đề nghị duyệt Đợt 1).</a:t>
            </a:r>
          </a:p>
          <a:p>
            <a:pPr>
              <a:lnSpc>
                <a:spcPct val="115000"/>
              </a:lnSpc>
              <a:spcAft>
                <a:spcPts val="600"/>
              </a:spcAft>
            </a:pPr>
            <a:r>
              <a:rPr sz="1200" b="1">
                <a:solidFill>
                  <a:srgbClr val="1B365D"/>
                </a:solidFill>
                <a:latin typeface="Times New Roman"/>
              </a:rPr>
              <a:t>• Đề án 2 &amp; 3 (Hủy Robot ISU &amp; USB, 140s): </a:t>
            </a:r>
            <a:r>
              <a:rPr sz="1200" b="0">
                <a:solidFill>
                  <a:srgbClr val="1E242B"/>
                </a:solidFill>
                <a:latin typeface="Times New Roman"/>
              </a:rPr>
              <a:t>Hủy 2 Robot đắt tiền (tiết kiệm 754 tr VNĐ / 29.000 USD). Thay bằng khay nạp DP (No.25) và đọc log qua mạng Host PC với chi phí 0đ.</a:t>
            </a:r>
          </a:p>
          <a:p>
            <a:pPr>
              <a:lnSpc>
                <a:spcPct val="115000"/>
              </a:lnSpc>
              <a:spcAft>
                <a:spcPts val="600"/>
              </a:spcAft>
            </a:pPr>
            <a:r>
              <a:rPr sz="1200" b="1">
                <a:solidFill>
                  <a:srgbClr val="1B365D"/>
                </a:solidFill>
                <a:latin typeface="Times New Roman"/>
              </a:rPr>
              <a:t>• Đề án 4 (No.25 - Khay nạp DP thực nghiệm): </a:t>
            </a:r>
            <a:r>
              <a:rPr sz="1200" b="0">
                <a:solidFill>
                  <a:srgbClr val="1E242B"/>
                </a:solidFill>
                <a:latin typeface="Times New Roman"/>
              </a:rPr>
              <a:t>Quét bản in liên tục thay cho đặt tay từng tờ, truyền ảnh về máy tính để tự động kiểm tra và chấm điểm sai lệch hình ảnh.</a:t>
            </a:r>
          </a:p>
        </p:txBody>
      </p:sp>
      <p:sp>
        <p:nvSpPr>
          <p:cNvPr id="12" name="Rectangle 11"/>
          <p:cNvSpPr/>
          <p:nvPr/>
        </p:nvSpPr>
        <p:spPr>
          <a:xfrm>
            <a:off x="6195847" y="3980000"/>
            <a:ext cx="5739815" cy="2580000"/>
          </a:xfrm>
          <a:prstGeom prst="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5847" y="3980000"/>
            <a:ext cx="5739815" cy="330000"/>
          </a:xfrm>
          <a:prstGeom prst="rect">
            <a:avLst/>
          </a:prstGeom>
          <a:solidFill>
            <a:srgbClr val="005A70"/>
          </a:solidFill>
          <a:ln>
            <a:solidFill>
              <a:srgbClr val="005A7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ĐỀ ÁN TRỌNG ĐIỂM: CHUYỂN NẠP SOFT VỀ NCC / PARTNER (TRẠM A-1)</a:t>
            </a:r>
          </a:p>
        </p:txBody>
      </p:sp>
      <p:sp>
        <p:nvSpPr>
          <p:cNvPr id="14" name="TextBox 13"/>
          <p:cNvSpPr txBox="1"/>
          <p:nvPr/>
        </p:nvSpPr>
        <p:spPr>
          <a:xfrm>
            <a:off x="6235847" y="4325000"/>
            <a:ext cx="5659815" cy="2225000"/>
          </a:xfrm>
          <a:prstGeom prst="rect">
            <a:avLst/>
          </a:prstGeom>
          <a:noFill/>
        </p:spPr>
        <p:txBody>
          <a:bodyPr wrap="square" lIns="54864" rIns="54864" tIns="36576" bIns="36576">
            <a:spAutoFit/>
          </a:bodyPr>
          <a:lstStyle/>
          <a:p>
            <a:pPr>
              <a:lnSpc>
                <a:spcPct val="112000"/>
              </a:lnSpc>
              <a:spcAft>
                <a:spcPts val="400"/>
              </a:spcAft>
            </a:pPr>
            <a:r>
              <a:rPr sz="1200" b="1">
                <a:solidFill>
                  <a:srgbClr val="005A70"/>
                </a:solidFill>
                <a:latin typeface="Times New Roman"/>
              </a:rPr>
              <a:t>• Mục tiêu: </a:t>
            </a:r>
            <a:r>
              <a:rPr sz="1200" b="0">
                <a:solidFill>
                  <a:srgbClr val="1E242B"/>
                </a:solidFill>
                <a:latin typeface="Times New Roman"/>
              </a:rPr>
              <a:t>Hủy nạp soft tại Line, nạp trước tại Partner/NCC để giảm chu kỳ sản xuất, giảm công đoạn và giảm 1 người thao tác (mục tiêu x2 năng suất).</a:t>
            </a:r>
          </a:p>
          <a:p>
            <a:pPr>
              <a:lnSpc>
                <a:spcPct val="112000"/>
              </a:lnSpc>
              <a:spcAft>
                <a:spcPts val="400"/>
              </a:spcAft>
            </a:pPr>
            <a:r>
              <a:rPr sz="1200" b="1">
                <a:solidFill>
                  <a:srgbClr val="005A70"/>
                </a:solidFill>
                <a:latin typeface="Times New Roman"/>
              </a:rPr>
              <a:t>• Phương án: </a:t>
            </a:r>
            <a:r>
              <a:rPr sz="1200" b="0">
                <a:solidFill>
                  <a:srgbClr val="1E242B"/>
                </a:solidFill>
                <a:latin typeface="Times New Roman"/>
              </a:rPr>
              <a:t>Nạp trước Main, Language, OCR, Engine, Motor, Panel, AI. Tại chuyền chỉ đối chiếu version qua Set Serial để chống lọt lỗi ra thị trường.</a:t>
            </a:r>
          </a:p>
          <a:p>
            <a:pPr>
              <a:lnSpc>
                <a:spcPct val="112000"/>
              </a:lnSpc>
              <a:spcAft>
                <a:spcPts val="400"/>
              </a:spcAft>
            </a:pPr>
            <a:r>
              <a:rPr sz="1200" b="1">
                <a:solidFill>
                  <a:srgbClr val="005A70"/>
                </a:solidFill>
                <a:latin typeface="Times New Roman"/>
              </a:rPr>
              <a:t>• Điều kiện &amp; Thách thức: </a:t>
            </a:r>
            <a:r>
              <a:rPr sz="1200" b="0">
                <a:solidFill>
                  <a:srgbClr val="1E242B"/>
                </a:solidFill>
                <a:latin typeface="Times New Roman"/>
              </a:rPr>
              <a:t>Quản lý chặt bản mạch Old/New khi đổi Program; khó dùng chung Main board do khác biệt LSU, SSD, xuất TQ (tăng chi phí nếu nâng cấu hình).</a:t>
            </a:r>
          </a:p>
          <a:p>
            <a:pPr>
              <a:lnSpc>
                <a:spcPct val="112000"/>
              </a:lnSpc>
              <a:spcAft>
                <a:spcPts val="400"/>
              </a:spcAft>
            </a:pPr>
            <a:r>
              <a:rPr sz="1200" b="1">
                <a:solidFill>
                  <a:srgbClr val="005A70"/>
                </a:solidFill>
                <a:latin typeface="Times New Roman"/>
              </a:rPr>
              <a:t>• Định hướng (Bác Hanazaki): </a:t>
            </a:r>
            <a:r>
              <a:rPr sz="1200" b="0">
                <a:solidFill>
                  <a:srgbClr val="1E242B"/>
                </a:solidFill>
                <a:latin typeface="Times New Roman"/>
              </a:rPr>
              <a:t>Tập trung vào hiệu quả giảm người thực tế trên line thay vì chỉ giảm vài phút thao tác; cân đối chi phí và công việc tại khâu linh kiện.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4.5 DỰ TOÁN &amp; PHÊ DUYỆT</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Chi tiết dự toán BOM 25 mục Đề án No.22 (101,69 triệu VNĐ) và 2 Phương án trình phê duyệt</a:t>
            </a:r>
          </a:p>
        </p:txBody>
      </p:sp>
      <p:sp>
        <p:nvSpPr>
          <p:cNvPr id="5" name="TextBox 4"/>
          <p:cNvSpPr txBox="1"/>
          <p:nvPr/>
        </p:nvSpPr>
        <p:spPr>
          <a:xfrm>
            <a:off x="11292840" y="128016"/>
            <a:ext cx="731520" cy="347472"/>
          </a:xfrm>
          <a:prstGeom prst="rect">
            <a:avLst/>
          </a:prstGeom>
          <a:noFill/>
        </p:spPr>
        <p:txBody>
          <a:bodyPr wrap="none">
            <a:spAutoFit/>
          </a:bodyPr>
          <a:lstStyle/>
          <a:p>
            <a:pPr>
              <a:defRPr sz="1200">
                <a:solidFill>
                  <a:srgbClr val="D0D8E8"/>
                </a:solidFill>
                <a:latin typeface="Times New Roman"/>
              </a:defRPr>
            </a:pPr>
            <a:r>
              <a:t>7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Đề xuất phê duyệt Phương án 1 đầu tư JIG đo an toàn điện No.22 (101,69 triệu VNĐ / 3.911,15 USD), hoặc Phương án 2 đầu tư trọn gói cả 3 đề án (855,69 triệu VNĐ / 32.911,15 USD).</a:t>
            </a:r>
          </a:p>
        </p:txBody>
      </p:sp>
      <p:graphicFrame>
        <p:nvGraphicFramePr>
          <p:cNvPr id="7" name="Table 6"/>
          <p:cNvGraphicFramePr>
            <a:graphicFrameLocks noGrp="1"/>
          </p:cNvGraphicFramePr>
          <p:nvPr/>
        </p:nvGraphicFramePr>
        <p:xfrm>
          <a:off x="256032" y="1234440"/>
          <a:ext cx="6217920" cy="5359527"/>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657225">
                <a:tc>
                  <a:txBody>
                    <a:bodyPr/>
                    <a:lstStyle/>
                    <a:p>
                      <a:pPr algn="ctr">
                        <a:defRPr sz="1250" b="1">
                          <a:solidFill>
                            <a:srgbClr val="FFFFFF"/>
                          </a:solidFill>
                          <a:latin typeface="Times New Roman"/>
                        </a:defRPr>
                      </a:pPr>
                      <a:r>
                        <a:t>Nhóm linh kiện BOM No.22</a:t>
                      </a:r>
                    </a:p>
                  </a:txBody>
                  <a:tcPr marL="36576" marR="36576" marT="13716" marB="13716" anchor="ctr">
                    <a:solidFill>
                      <a:srgbClr val="1B365D"/>
                    </a:solidFill>
                  </a:tcPr>
                </a:tc>
                <a:tc>
                  <a:txBody>
                    <a:bodyPr/>
                    <a:lstStyle/>
                    <a:p>
                      <a:pPr algn="ctr">
                        <a:defRPr sz="1250" b="1">
                          <a:solidFill>
                            <a:srgbClr val="FFFFFF"/>
                          </a:solidFill>
                          <a:latin typeface="Times New Roman"/>
                        </a:defRPr>
                      </a:pPr>
                      <a:r>
                        <a:t>Thành tiền (VNĐ)</a:t>
                      </a:r>
                    </a:p>
                  </a:txBody>
                  <a:tcPr marL="36576" marR="36576" marT="13716" marB="13716" anchor="ctr">
                    <a:solidFill>
                      <a:srgbClr val="1B365D"/>
                    </a:solidFill>
                  </a:tcPr>
                </a:tc>
                <a:tc>
                  <a:txBody>
                    <a:bodyPr/>
                    <a:lstStyle/>
                    <a:p>
                      <a:pPr algn="ctr">
                        <a:defRPr sz="1250" b="1">
                          <a:solidFill>
                            <a:srgbClr val="FFFFFF"/>
                          </a:solidFill>
                          <a:latin typeface="Times New Roman"/>
                        </a:defRPr>
                      </a:pPr>
                      <a:r>
                        <a:t>Quy đổi (USD)</a:t>
                      </a:r>
                    </a:p>
                  </a:txBody>
                  <a:tcPr marL="36576" marR="36576" marT="13716" marB="13716" anchor="ctr">
                    <a:solidFill>
                      <a:srgbClr val="1B365D"/>
                    </a:solidFill>
                  </a:tcPr>
                </a:tc>
                <a:tc>
                  <a:txBody>
                    <a:bodyPr/>
                    <a:lstStyle/>
                    <a:p>
                      <a:pPr algn="ctr">
                        <a:defRPr sz="1250" b="1">
                          <a:solidFill>
                            <a:srgbClr val="FFFFFF"/>
                          </a:solidFill>
                          <a:latin typeface="Times New Roman"/>
                        </a:defRPr>
                      </a:pPr>
                      <a:r>
                        <a:t>Tỷ trọng BOM</a:t>
                      </a:r>
                    </a:p>
                  </a:txBody>
                  <a:tcPr marL="36576" marR="36576" marT="13716" marB="13716" anchor="ctr">
                    <a:solidFill>
                      <a:srgbClr val="1B365D"/>
                    </a:solidFill>
                  </a:tcPr>
                </a:tc>
                <a:extLst>
                  <a:ext uri="{0D108BD9-81ED-4DB2-BD59-A6C34878D82A}">
                    <a16:rowId xmlns:a16="http://schemas.microsoft.com/office/drawing/2014/main" val="10000"/>
                  </a:ext>
                </a:extLst>
              </a:tr>
              <a:tr h="657225">
                <a:tc>
                  <a:txBody>
                    <a:bodyPr/>
                    <a:lstStyle/>
                    <a:p>
                      <a:pPr algn="l">
                        <a:defRPr sz="1200" b="1">
                          <a:solidFill>
                            <a:srgbClr val="1E242B"/>
                          </a:solidFill>
                          <a:latin typeface="Times New Roman"/>
                        </a:defRPr>
                      </a:pPr>
                      <a:r>
                        <a:t>1. Khí nén SMC (Van SY5120 &amp; 6 Xylanh)</a:t>
                      </a:r>
                    </a:p>
                  </a:txBody>
                  <a:tcPr marL="36576" marR="36576" marT="13716" marB="13716" anchor="ctr">
                    <a:solidFill>
                      <a:srgbClr val="FFFFFF"/>
                    </a:solidFill>
                  </a:tcPr>
                </a:tc>
                <a:tc>
                  <a:txBody>
                    <a:bodyPr/>
                    <a:lstStyle/>
                    <a:p>
                      <a:pPr algn="r">
                        <a:defRPr sz="1200">
                          <a:solidFill>
                            <a:srgbClr val="1E242B"/>
                          </a:solidFill>
                          <a:latin typeface="Times New Roman"/>
                        </a:defRPr>
                      </a:pPr>
                      <a:r>
                        <a:t>37.700.000 VNĐ</a:t>
                      </a:r>
                    </a:p>
                  </a:txBody>
                  <a:tcPr marL="36576" marR="36576" marT="13716" marB="13716" anchor="ctr">
                    <a:solidFill>
                      <a:srgbClr val="FFFFFF"/>
                    </a:solidFill>
                  </a:tcPr>
                </a:tc>
                <a:tc>
                  <a:txBody>
                    <a:bodyPr/>
                    <a:lstStyle/>
                    <a:p>
                      <a:pPr algn="r">
                        <a:defRPr sz="1200">
                          <a:solidFill>
                            <a:srgbClr val="1E242B"/>
                          </a:solidFill>
                          <a:latin typeface="Times New Roman"/>
                        </a:defRPr>
                      </a:pPr>
                      <a:r>
                        <a:t>1.450,00 USD</a:t>
                      </a:r>
                    </a:p>
                  </a:txBody>
                  <a:tcPr marL="36576" marR="36576" marT="13716" marB="13716" anchor="ctr">
                    <a:solidFill>
                      <a:srgbClr val="FFFFFF"/>
                    </a:solidFill>
                  </a:tcPr>
                </a:tc>
                <a:tc>
                  <a:txBody>
                    <a:bodyPr/>
                    <a:lstStyle/>
                    <a:p>
                      <a:pPr algn="ctr">
                        <a:defRPr sz="1200">
                          <a:solidFill>
                            <a:srgbClr val="1E242B"/>
                          </a:solidFill>
                          <a:latin typeface="Times New Roman"/>
                        </a:defRPr>
                      </a:pPr>
                      <a:r>
                        <a:t>37,1% BOM</a:t>
                      </a:r>
                    </a:p>
                  </a:txBody>
                  <a:tcPr marL="36576" marR="36576" marT="13716" marB="13716" anchor="ctr">
                    <a:solidFill>
                      <a:srgbClr val="FFFFFF"/>
                    </a:solidFill>
                  </a:tcPr>
                </a:tc>
                <a:extLst>
                  <a:ext uri="{0D108BD9-81ED-4DB2-BD59-A6C34878D82A}">
                    <a16:rowId xmlns:a16="http://schemas.microsoft.com/office/drawing/2014/main" val="10001"/>
                  </a:ext>
                </a:extLst>
              </a:tr>
              <a:tr h="657225">
                <a:tc>
                  <a:txBody>
                    <a:bodyPr/>
                    <a:lstStyle/>
                    <a:p>
                      <a:pPr algn="l">
                        <a:defRPr sz="1200" b="1">
                          <a:solidFill>
                            <a:srgbClr val="1E242B"/>
                          </a:solidFill>
                          <a:latin typeface="Times New Roman"/>
                        </a:defRPr>
                      </a:pPr>
                      <a:r>
                        <a:t>2. Gia công cơ khí &amp; vật tư phụ</a:t>
                      </a:r>
                    </a:p>
                  </a:txBody>
                  <a:tcPr marL="36576" marR="36576" marT="13716" marB="13716" anchor="ctr">
                    <a:solidFill>
                      <a:srgbClr val="F7F9FC"/>
                    </a:solidFill>
                  </a:tcPr>
                </a:tc>
                <a:tc>
                  <a:txBody>
                    <a:bodyPr/>
                    <a:lstStyle/>
                    <a:p>
                      <a:pPr algn="r">
                        <a:defRPr sz="1200">
                          <a:solidFill>
                            <a:srgbClr val="1E242B"/>
                          </a:solidFill>
                          <a:latin typeface="Times New Roman"/>
                        </a:defRPr>
                      </a:pPr>
                      <a:r>
                        <a:t>20.000.000 VNĐ</a:t>
                      </a:r>
                    </a:p>
                  </a:txBody>
                  <a:tcPr marL="36576" marR="36576" marT="13716" marB="13716" anchor="ctr">
                    <a:solidFill>
                      <a:srgbClr val="F7F9FC"/>
                    </a:solidFill>
                  </a:tcPr>
                </a:tc>
                <a:tc>
                  <a:txBody>
                    <a:bodyPr/>
                    <a:lstStyle/>
                    <a:p>
                      <a:pPr algn="r">
                        <a:defRPr sz="1200">
                          <a:solidFill>
                            <a:srgbClr val="1E242B"/>
                          </a:solidFill>
                          <a:latin typeface="Times New Roman"/>
                        </a:defRPr>
                      </a:pPr>
                      <a:r>
                        <a:t>769,23 USD</a:t>
                      </a:r>
                    </a:p>
                  </a:txBody>
                  <a:tcPr marL="36576" marR="36576" marT="13716" marB="13716" anchor="ctr">
                    <a:solidFill>
                      <a:srgbClr val="F7F9FC"/>
                    </a:solidFill>
                  </a:tcPr>
                </a:tc>
                <a:tc>
                  <a:txBody>
                    <a:bodyPr/>
                    <a:lstStyle/>
                    <a:p>
                      <a:pPr algn="ctr">
                        <a:defRPr sz="1200">
                          <a:solidFill>
                            <a:srgbClr val="1E242B"/>
                          </a:solidFill>
                          <a:latin typeface="Times New Roman"/>
                        </a:defRPr>
                      </a:pPr>
                      <a:r>
                        <a:t>19,7% BOM</a:t>
                      </a:r>
                    </a:p>
                  </a:txBody>
                  <a:tcPr marL="36576" marR="36576" marT="13716" marB="13716" anchor="ctr">
                    <a:solidFill>
                      <a:srgbClr val="F7F9FC"/>
                    </a:solidFill>
                  </a:tcPr>
                </a:tc>
                <a:extLst>
                  <a:ext uri="{0D108BD9-81ED-4DB2-BD59-A6C34878D82A}">
                    <a16:rowId xmlns:a16="http://schemas.microsoft.com/office/drawing/2014/main" val="10002"/>
                  </a:ext>
                </a:extLst>
              </a:tr>
              <a:tr h="657225">
                <a:tc>
                  <a:txBody>
                    <a:bodyPr/>
                    <a:lstStyle/>
                    <a:p>
                      <a:pPr algn="l">
                        <a:defRPr sz="1200" b="1">
                          <a:solidFill>
                            <a:srgbClr val="1E242B"/>
                          </a:solidFill>
                          <a:latin typeface="Times New Roman"/>
                        </a:defRPr>
                      </a:pPr>
                      <a:r>
                        <a:t>3. Điều khiển PLC FX5U, HMI &amp; Cảm biến</a:t>
                      </a:r>
                    </a:p>
                  </a:txBody>
                  <a:tcPr marL="36576" marR="36576" marT="13716" marB="13716" anchor="ctr">
                    <a:solidFill>
                      <a:srgbClr val="FFFFFF"/>
                    </a:solidFill>
                  </a:tcPr>
                </a:tc>
                <a:tc>
                  <a:txBody>
                    <a:bodyPr/>
                    <a:lstStyle/>
                    <a:p>
                      <a:pPr algn="r">
                        <a:defRPr sz="1200">
                          <a:solidFill>
                            <a:srgbClr val="1E242B"/>
                          </a:solidFill>
                          <a:latin typeface="Times New Roman"/>
                        </a:defRPr>
                      </a:pPr>
                      <a:r>
                        <a:t>19.500.000 VNĐ</a:t>
                      </a:r>
                    </a:p>
                  </a:txBody>
                  <a:tcPr marL="36576" marR="36576" marT="13716" marB="13716" anchor="ctr">
                    <a:solidFill>
                      <a:srgbClr val="FFFFFF"/>
                    </a:solidFill>
                  </a:tcPr>
                </a:tc>
                <a:tc>
                  <a:txBody>
                    <a:bodyPr/>
                    <a:lstStyle/>
                    <a:p>
                      <a:pPr algn="r">
                        <a:defRPr sz="1200">
                          <a:solidFill>
                            <a:srgbClr val="1E242B"/>
                          </a:solidFill>
                          <a:latin typeface="Times New Roman"/>
                        </a:defRPr>
                      </a:pPr>
                      <a:r>
                        <a:t>750,00 USD</a:t>
                      </a:r>
                    </a:p>
                  </a:txBody>
                  <a:tcPr marL="36576" marR="36576" marT="13716" marB="13716" anchor="ctr">
                    <a:solidFill>
                      <a:srgbClr val="FFFFFF"/>
                    </a:solidFill>
                  </a:tcPr>
                </a:tc>
                <a:tc>
                  <a:txBody>
                    <a:bodyPr/>
                    <a:lstStyle/>
                    <a:p>
                      <a:pPr algn="ctr">
                        <a:defRPr sz="1200">
                          <a:solidFill>
                            <a:srgbClr val="1E242B"/>
                          </a:solidFill>
                          <a:latin typeface="Times New Roman"/>
                        </a:defRPr>
                      </a:pPr>
                      <a:r>
                        <a:t>19,2% BOM</a:t>
                      </a:r>
                    </a:p>
                  </a:txBody>
                  <a:tcPr marL="36576" marR="36576" marT="13716" marB="13716" anchor="ctr">
                    <a:solidFill>
                      <a:srgbClr val="FFFFFF"/>
                    </a:solidFill>
                  </a:tcPr>
                </a:tc>
                <a:extLst>
                  <a:ext uri="{0D108BD9-81ED-4DB2-BD59-A6C34878D82A}">
                    <a16:rowId xmlns:a16="http://schemas.microsoft.com/office/drawing/2014/main" val="10003"/>
                  </a:ext>
                </a:extLst>
              </a:tr>
              <a:tr h="657225">
                <a:tc>
                  <a:txBody>
                    <a:bodyPr/>
                    <a:lstStyle/>
                    <a:p>
                      <a:pPr algn="l">
                        <a:defRPr sz="1200" b="1">
                          <a:solidFill>
                            <a:srgbClr val="1E242B"/>
                          </a:solidFill>
                          <a:latin typeface="Times New Roman"/>
                        </a:defRPr>
                      </a:pPr>
                      <a:r>
                        <a:t>4. Khung nhôm Misumi &amp; phụ kiện ke/nut</a:t>
                      </a:r>
                    </a:p>
                  </a:txBody>
                  <a:tcPr marL="36576" marR="36576" marT="13716" marB="13716" anchor="ctr">
                    <a:solidFill>
                      <a:srgbClr val="F7F9FC"/>
                    </a:solidFill>
                  </a:tcPr>
                </a:tc>
                <a:tc>
                  <a:txBody>
                    <a:bodyPr/>
                    <a:lstStyle/>
                    <a:p>
                      <a:pPr algn="r">
                        <a:defRPr sz="1200">
                          <a:solidFill>
                            <a:srgbClr val="1E242B"/>
                          </a:solidFill>
                          <a:latin typeface="Times New Roman"/>
                        </a:defRPr>
                      </a:pPr>
                      <a:r>
                        <a:t>12.500.000 VNĐ</a:t>
                      </a:r>
                    </a:p>
                  </a:txBody>
                  <a:tcPr marL="36576" marR="36576" marT="13716" marB="13716" anchor="ctr">
                    <a:solidFill>
                      <a:srgbClr val="F7F9FC"/>
                    </a:solidFill>
                  </a:tcPr>
                </a:tc>
                <a:tc>
                  <a:txBody>
                    <a:bodyPr/>
                    <a:lstStyle/>
                    <a:p>
                      <a:pPr algn="r">
                        <a:defRPr sz="1200">
                          <a:solidFill>
                            <a:srgbClr val="1E242B"/>
                          </a:solidFill>
                          <a:latin typeface="Times New Roman"/>
                        </a:defRPr>
                      </a:pPr>
                      <a:r>
                        <a:t>480,77 USD</a:t>
                      </a:r>
                    </a:p>
                  </a:txBody>
                  <a:tcPr marL="36576" marR="36576" marT="13716" marB="13716" anchor="ctr">
                    <a:solidFill>
                      <a:srgbClr val="F7F9FC"/>
                    </a:solidFill>
                  </a:tcPr>
                </a:tc>
                <a:tc>
                  <a:txBody>
                    <a:bodyPr/>
                    <a:lstStyle/>
                    <a:p>
                      <a:pPr algn="ctr">
                        <a:defRPr sz="1200">
                          <a:solidFill>
                            <a:srgbClr val="1E242B"/>
                          </a:solidFill>
                          <a:latin typeface="Times New Roman"/>
                        </a:defRPr>
                      </a:pPr>
                      <a:r>
                        <a:t>12,3% BOM</a:t>
                      </a:r>
                    </a:p>
                  </a:txBody>
                  <a:tcPr marL="36576" marR="36576" marT="13716" marB="13716" anchor="ctr">
                    <a:solidFill>
                      <a:srgbClr val="F7F9FC"/>
                    </a:solidFill>
                  </a:tcPr>
                </a:tc>
                <a:extLst>
                  <a:ext uri="{0D108BD9-81ED-4DB2-BD59-A6C34878D82A}">
                    <a16:rowId xmlns:a16="http://schemas.microsoft.com/office/drawing/2014/main" val="10004"/>
                  </a:ext>
                </a:extLst>
              </a:tr>
              <a:tr h="657225">
                <a:tc>
                  <a:txBody>
                    <a:bodyPr/>
                    <a:lstStyle/>
                    <a:p>
                      <a:pPr algn="l">
                        <a:defRPr sz="1200" b="1">
                          <a:solidFill>
                            <a:srgbClr val="1E242B"/>
                          </a:solidFill>
                          <a:latin typeface="Times New Roman"/>
                        </a:defRPr>
                      </a:pPr>
                      <a:r>
                        <a:t>5. Tủ điện &amp; linh kiện Omron, Contactor</a:t>
                      </a:r>
                    </a:p>
                  </a:txBody>
                  <a:tcPr marL="36576" marR="36576" marT="13716" marB="13716" anchor="ctr">
                    <a:solidFill>
                      <a:srgbClr val="FFFFFF"/>
                    </a:solidFill>
                  </a:tcPr>
                </a:tc>
                <a:tc>
                  <a:txBody>
                    <a:bodyPr/>
                    <a:lstStyle/>
                    <a:p>
                      <a:pPr algn="r">
                        <a:defRPr sz="1200">
                          <a:solidFill>
                            <a:srgbClr val="1E242B"/>
                          </a:solidFill>
                          <a:latin typeface="Times New Roman"/>
                        </a:defRPr>
                      </a:pPr>
                      <a:r>
                        <a:t>6.990.000 VNĐ</a:t>
                      </a:r>
                    </a:p>
                  </a:txBody>
                  <a:tcPr marL="36576" marR="36576" marT="13716" marB="13716" anchor="ctr">
                    <a:solidFill>
                      <a:srgbClr val="FFFFFF"/>
                    </a:solidFill>
                  </a:tcPr>
                </a:tc>
                <a:tc>
                  <a:txBody>
                    <a:bodyPr/>
                    <a:lstStyle/>
                    <a:p>
                      <a:pPr algn="r">
                        <a:defRPr sz="1200">
                          <a:solidFill>
                            <a:srgbClr val="1E242B"/>
                          </a:solidFill>
                          <a:latin typeface="Times New Roman"/>
                        </a:defRPr>
                      </a:pPr>
                      <a:r>
                        <a:t>268,85 USD</a:t>
                      </a:r>
                    </a:p>
                  </a:txBody>
                  <a:tcPr marL="36576" marR="36576" marT="13716" marB="13716" anchor="ctr">
                    <a:solidFill>
                      <a:srgbClr val="FFFFFF"/>
                    </a:solidFill>
                  </a:tcPr>
                </a:tc>
                <a:tc>
                  <a:txBody>
                    <a:bodyPr/>
                    <a:lstStyle/>
                    <a:p>
                      <a:pPr algn="ctr">
                        <a:defRPr sz="1200">
                          <a:solidFill>
                            <a:srgbClr val="1E242B"/>
                          </a:solidFill>
                          <a:latin typeface="Times New Roman"/>
                        </a:defRPr>
                      </a:pPr>
                      <a:r>
                        <a:t>6,9% BOM</a:t>
                      </a:r>
                    </a:p>
                  </a:txBody>
                  <a:tcPr marL="36576" marR="36576" marT="13716" marB="13716" anchor="ctr">
                    <a:solidFill>
                      <a:srgbClr val="FFFFFF"/>
                    </a:solidFill>
                  </a:tcPr>
                </a:tc>
                <a:extLst>
                  <a:ext uri="{0D108BD9-81ED-4DB2-BD59-A6C34878D82A}">
                    <a16:rowId xmlns:a16="http://schemas.microsoft.com/office/drawing/2014/main" val="10005"/>
                  </a:ext>
                </a:extLst>
              </a:tr>
              <a:tr h="657225">
                <a:tc>
                  <a:txBody>
                    <a:bodyPr/>
                    <a:lstStyle/>
                    <a:p>
                      <a:pPr algn="l">
                        <a:defRPr sz="1200" b="1">
                          <a:solidFill>
                            <a:srgbClr val="1E242B"/>
                          </a:solidFill>
                          <a:latin typeface="Times New Roman"/>
                        </a:defRPr>
                      </a:pPr>
                      <a:r>
                        <a:t>6. Vỏ tủ điện điều khiển</a:t>
                      </a:r>
                    </a:p>
                  </a:txBody>
                  <a:tcPr marL="36576" marR="36576" marT="13716" marB="13716" anchor="ctr">
                    <a:solidFill>
                      <a:srgbClr val="F7F9FC"/>
                    </a:solidFill>
                  </a:tcPr>
                </a:tc>
                <a:tc>
                  <a:txBody>
                    <a:bodyPr/>
                    <a:lstStyle/>
                    <a:p>
                      <a:pPr algn="r">
                        <a:defRPr sz="1200">
                          <a:solidFill>
                            <a:srgbClr val="1E242B"/>
                          </a:solidFill>
                          <a:latin typeface="Times New Roman"/>
                        </a:defRPr>
                      </a:pPr>
                      <a:r>
                        <a:t>5.000.000 VNĐ</a:t>
                      </a:r>
                    </a:p>
                  </a:txBody>
                  <a:tcPr marL="36576" marR="36576" marT="13716" marB="13716" anchor="ctr">
                    <a:solidFill>
                      <a:srgbClr val="F7F9FC"/>
                    </a:solidFill>
                  </a:tcPr>
                </a:tc>
                <a:tc>
                  <a:txBody>
                    <a:bodyPr/>
                    <a:lstStyle/>
                    <a:p>
                      <a:pPr algn="r">
                        <a:defRPr sz="1200">
                          <a:solidFill>
                            <a:srgbClr val="1E242B"/>
                          </a:solidFill>
                          <a:latin typeface="Times New Roman"/>
                        </a:defRPr>
                      </a:pPr>
                      <a:r>
                        <a:t>192,31 USD</a:t>
                      </a:r>
                    </a:p>
                  </a:txBody>
                  <a:tcPr marL="36576" marR="36576" marT="13716" marB="13716" anchor="ctr">
                    <a:solidFill>
                      <a:srgbClr val="F7F9FC"/>
                    </a:solidFill>
                  </a:tcPr>
                </a:tc>
                <a:tc>
                  <a:txBody>
                    <a:bodyPr/>
                    <a:lstStyle/>
                    <a:p>
                      <a:pPr algn="ctr">
                        <a:defRPr sz="1200">
                          <a:solidFill>
                            <a:srgbClr val="1E242B"/>
                          </a:solidFill>
                          <a:latin typeface="Times New Roman"/>
                        </a:defRPr>
                      </a:pPr>
                      <a:r>
                        <a:t>4,9% BOM</a:t>
                      </a:r>
                    </a:p>
                  </a:txBody>
                  <a:tcPr marL="36576" marR="36576" marT="13716" marB="13716" anchor="ctr">
                    <a:solidFill>
                      <a:srgbClr val="F7F9FC"/>
                    </a:solidFill>
                  </a:tcPr>
                </a:tc>
                <a:extLst>
                  <a:ext uri="{0D108BD9-81ED-4DB2-BD59-A6C34878D82A}">
                    <a16:rowId xmlns:a16="http://schemas.microsoft.com/office/drawing/2014/main" val="10006"/>
                  </a:ext>
                </a:extLst>
              </a:tr>
              <a:tr h="657225">
                <a:tc>
                  <a:txBody>
                    <a:bodyPr/>
                    <a:lstStyle/>
                    <a:p>
                      <a:pPr algn="l">
                        <a:defRPr sz="1200" b="1">
                          <a:solidFill>
                            <a:srgbClr val="1E242B"/>
                          </a:solidFill>
                          <a:latin typeface="Times New Roman"/>
                        </a:defRPr>
                      </a:pPr>
                      <a:r>
                        <a:t>TỔNG ĐỀ ÁN NO.22 (PHƯƠNG ÁN 1)</a:t>
                      </a:r>
                      <a:br/>
                      <a:r>
                        <a:t>(Tự động đo thông mạch &amp; chịu áp nắp kín)</a:t>
                      </a:r>
                    </a:p>
                  </a:txBody>
                  <a:tcPr marL="36576" marR="36576" marT="13716" marB="13716" anchor="ctr">
                    <a:solidFill>
                      <a:srgbClr val="EAF7EE"/>
                    </a:solidFill>
                  </a:tcPr>
                </a:tc>
                <a:tc>
                  <a:txBody>
                    <a:bodyPr/>
                    <a:lstStyle/>
                    <a:p>
                      <a:pPr algn="r">
                        <a:defRPr sz="1200">
                          <a:solidFill>
                            <a:srgbClr val="1E242B"/>
                          </a:solidFill>
                          <a:latin typeface="Times New Roman"/>
                        </a:defRPr>
                      </a:pPr>
                      <a:r>
                        <a:t>101.690.000 VNĐ</a:t>
                      </a:r>
                    </a:p>
                  </a:txBody>
                  <a:tcPr marL="36576" marR="36576" marT="13716" marB="13716" anchor="ctr">
                    <a:solidFill>
                      <a:srgbClr val="EAF7EE"/>
                    </a:solidFill>
                  </a:tcPr>
                </a:tc>
                <a:tc>
                  <a:txBody>
                    <a:bodyPr/>
                    <a:lstStyle/>
                    <a:p>
                      <a:pPr algn="r">
                        <a:defRPr sz="1200">
                          <a:solidFill>
                            <a:srgbClr val="1E242B"/>
                          </a:solidFill>
                          <a:latin typeface="Times New Roman"/>
                        </a:defRPr>
                      </a:pPr>
                      <a:r>
                        <a:t>3.911,15 USD</a:t>
                      </a:r>
                      <a:br/>
                      <a:r>
                        <a:t>(Làm tròn: 4.000$)</a:t>
                      </a:r>
                    </a:p>
                  </a:txBody>
                  <a:tcPr marL="36576" marR="36576" marT="13716" marB="13716" anchor="ctr">
                    <a:solidFill>
                      <a:srgbClr val="EAF7EE"/>
                    </a:solidFill>
                  </a:tcPr>
                </a:tc>
                <a:tc>
                  <a:txBody>
                    <a:bodyPr/>
                    <a:lstStyle/>
                    <a:p>
                      <a:pPr algn="ctr">
                        <a:defRPr sz="1200">
                          <a:solidFill>
                            <a:srgbClr val="1E242B"/>
                          </a:solidFill>
                          <a:latin typeface="Times New Roman"/>
                        </a:defRPr>
                      </a:pPr>
                      <a:r>
                        <a:t>Giảm 30s/máy</a:t>
                      </a:r>
                      <a:br/>
                      <a:r>
                        <a:t>Tiết kiệm 29,6tr/năm</a:t>
                      </a:r>
                    </a:p>
                  </a:txBody>
                  <a:tcPr marL="36576" marR="36576" marT="13716" marB="13716" anchor="ctr">
                    <a:solidFill>
                      <a:srgbClr val="EAF7EE"/>
                    </a:solidFill>
                  </a:tcPr>
                </a:tc>
                <a:extLst>
                  <a:ext uri="{0D108BD9-81ED-4DB2-BD59-A6C34878D82A}">
                    <a16:rowId xmlns:a16="http://schemas.microsoft.com/office/drawing/2014/main" val="10007"/>
                  </a:ext>
                </a:extLst>
              </a:tr>
            </a:tbl>
          </a:graphicData>
        </a:graphic>
      </p:graphicFrame>
      <p:sp>
        <p:nvSpPr>
          <p:cNvPr id="8" name="Rectangle 7"/>
          <p:cNvSpPr/>
          <p:nvPr/>
        </p:nvSpPr>
        <p:spPr>
          <a:xfrm>
            <a:off x="6629400" y="1234440"/>
            <a:ext cx="5303520" cy="2926080"/>
          </a:xfrm>
          <a:prstGeom prst="rect">
            <a:avLst/>
          </a:prstGeom>
          <a:solidFill>
            <a:srgbClr val="EAF7EE"/>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629400" y="1234440"/>
            <a:ext cx="5303520"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HAI PHƯƠNG ÁN TRÌNH PHÊ DUYỆT KINH PHÍ ĐẦU TƯ</a:t>
            </a:r>
          </a:p>
        </p:txBody>
      </p:sp>
      <p:sp>
        <p:nvSpPr>
          <p:cNvPr id="10" name="TextBox 9"/>
          <p:cNvSpPr txBox="1"/>
          <p:nvPr/>
        </p:nvSpPr>
        <p:spPr>
          <a:xfrm>
            <a:off x="6720840" y="1618488"/>
            <a:ext cx="5120640" cy="2505456"/>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Phương án 1 (Ưu tiên lựa chọn): Triển khai ngay JIG đo an toàn điện No.22.</a:t>
            </a:r>
          </a:p>
          <a:p>
            <a:pPr>
              <a:spcAft>
                <a:spcPts val="300"/>
              </a:spcAft>
              <a:defRPr sz="1200">
                <a:solidFill>
                  <a:srgbClr val="1E242B"/>
                </a:solidFill>
                <a:latin typeface="Times New Roman"/>
              </a:defRPr>
            </a:pPr>
            <a:r>
              <a:t>- Kinh phí: 101.690.000 VNĐ (3.911,15 USD / làm tròn: 4.000 USD).</a:t>
            </a:r>
          </a:p>
          <a:p>
            <a:pPr>
              <a:spcAft>
                <a:spcPts val="300"/>
              </a:spcAft>
              <a:defRPr sz="1200">
                <a:solidFill>
                  <a:srgbClr val="1E242B"/>
                </a:solidFill>
                <a:latin typeface="Times New Roman"/>
              </a:defRPr>
            </a:pPr>
            <a:r>
              <a:t>- Hiệu quả: Giảm 30s/máy, tiết kiệm 29,6 triệu VNĐ/năm, hoàn vốn trong 3,4 năm.</a:t>
            </a:r>
          </a:p>
          <a:p>
            <a:pPr>
              <a:spcAft>
                <a:spcPts val="300"/>
              </a:spcAft>
              <a:defRPr sz="1200">
                <a:solidFill>
                  <a:srgbClr val="1E242B"/>
                </a:solidFill>
                <a:latin typeface="Times New Roman"/>
              </a:defRPr>
            </a:pPr>
            <a:r>
              <a:t>- Tối ưu vốn: Hủy 2 robot No.23 và No.24 để tiết kiệm 754 triệu VNĐ. Hạng mục Camera No.27 (-177s) và khay DP No.25 sẽ trình duyệt ở Đợt 2.</a:t>
            </a:r>
          </a:p>
          <a:p>
            <a:pPr>
              <a:spcAft>
                <a:spcPts val="300"/>
              </a:spcAft>
              <a:defRPr sz="1200">
                <a:solidFill>
                  <a:srgbClr val="1E242B"/>
                </a:solidFill>
                <a:latin typeface="Times New Roman"/>
              </a:defRPr>
            </a:pPr>
            <a:r>
              <a:t>Phương án 2: Duyệt trọn gói cả 3 đề án theo dự toán ban đầu (855,69 triệu VNĐ / 32.911,15 USD).</a:t>
            </a:r>
          </a:p>
        </p:txBody>
      </p:sp>
      <p:sp>
        <p:nvSpPr>
          <p:cNvPr id="11" name="Rectangle 10"/>
          <p:cNvSpPr/>
          <p:nvPr/>
        </p:nvSpPr>
        <p:spPr>
          <a:xfrm>
            <a:off x="6629400" y="4297680"/>
            <a:ext cx="5303520" cy="219456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629400" y="4297680"/>
            <a:ext cx="5303520"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CÁC NỘI DUNG XIN Ý KIẾN CHỈ ĐẠO CỦA TRƯỞNG BỘ PHẬN</a:t>
            </a:r>
          </a:p>
        </p:txBody>
      </p:sp>
      <p:sp>
        <p:nvSpPr>
          <p:cNvPr id="13" name="TextBox 12"/>
          <p:cNvSpPr txBox="1"/>
          <p:nvPr/>
        </p:nvSpPr>
        <p:spPr>
          <a:xfrm>
            <a:off x="6720840" y="4681728"/>
            <a:ext cx="5120640" cy="1773936"/>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1. Lựa chọn phương án ngân sách: Xin ý kiến chọn Phương án 1 hay Phương án 2 trước ngày 15/11/2026.</a:t>
            </a:r>
          </a:p>
          <a:p>
            <a:pPr>
              <a:spcAft>
                <a:spcPts val="300"/>
              </a:spcAft>
              <a:defRPr sz="1200">
                <a:solidFill>
                  <a:srgbClr val="1E242B"/>
                </a:solidFill>
                <a:latin typeface="Times New Roman"/>
              </a:defRPr>
            </a:pPr>
            <a:r>
              <a:t>2. Chuyển công đoạn lắp 6 tấm vỏ: Chỉ đạo phối hợp với Lắp ráp và PE Nhật để chuyển bước lắp 6 vỏ ngoài về cuối chuyền Lắp ráp (No.33, chi phí 0 đồng).</a:t>
            </a:r>
          </a:p>
          <a:p>
            <a:pPr>
              <a:spcAft>
                <a:spcPts val="300"/>
              </a:spcAft>
              <a:defRPr sz="1200">
                <a:solidFill>
                  <a:srgbClr val="1E242B"/>
                </a:solidFill>
                <a:latin typeface="Times New Roman"/>
              </a:defRPr>
            </a:pPr>
            <a:r>
              <a:t>3. Chốt lịch họp DR công đoạn: Thúc đẩy Thiết kế Nhật phản hồi 6 kiến nghị sửa mạch và phần mềm của Việt Nam trong tháng 11/2026 để kịp chạy thử PMT1 vào tháng 12/2026.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4.2 ĐỀ ÁN VN (CỤM ĐẦU)</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Chi tiết các đề án tự động hóa của Việt Nam: Cụm A-1, A-2, A-3 (No.18 ~ No.22 &amp; Nạp FW)</a:t>
            </a:r>
          </a:p>
        </p:txBody>
      </p:sp>
      <p:sp>
        <p:nvSpPr>
          <p:cNvPr id="5" name="TextBox 4"/>
          <p:cNvSpPr txBox="1"/>
          <p:nvPr/>
        </p:nvSpPr>
        <p:spPr>
          <a:xfrm>
            <a:off x="11292840" y="128016"/>
            <a:ext cx="731520" cy="347472"/>
          </a:xfrm>
          <a:prstGeom prst="rect">
            <a:avLst/>
          </a:prstGeom>
          <a:noFill/>
        </p:spPr>
        <p:txBody>
          <a:bodyPr wrap="none">
            <a:spAutoFit/>
          </a:bodyPr>
          <a:lstStyle/>
          <a:p>
            <a:pPr>
              <a:defRPr sz="1200">
                <a:solidFill>
                  <a:srgbClr val="D0D8E8"/>
                </a:solidFill>
                <a:latin typeface="Times New Roman"/>
              </a:defRPr>
            </a:pPr>
            <a:r>
              <a:t>8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Cụm trạm đầu giảm từ 173s đến 185s mỗi máy, giảm 1 người tại trạm A-1. Đề án No.22 đã hoàn tất báo giá BOM 25 linh kiện với tổng kinh phí 101,69 triệu VNĐ (3.911,15 USD).</a:t>
            </a:r>
          </a:p>
        </p:txBody>
      </p:sp>
      <p:graphicFrame>
        <p:nvGraphicFramePr>
          <p:cNvPr id="7" name="Table 6"/>
          <p:cNvGraphicFramePr>
            <a:graphicFrameLocks noGrp="1"/>
          </p:cNvGraphicFramePr>
          <p:nvPr/>
        </p:nvGraphicFramePr>
        <p:xfrm>
          <a:off x="256032" y="1234440"/>
          <a:ext cx="11679631" cy="5265636"/>
        </p:xfrm>
        <a:graphic>
          <a:graphicData uri="http://schemas.openxmlformats.org/drawingml/2006/table">
            <a:tbl>
              <a:tblPr firstRow="1" bandRow="1">
                <a:tableStyleId>{5C22544A-7EE6-4342-B048-85BDC9FD1C3A}</a:tableStyleId>
              </a:tblPr>
              <a:tblGrid>
                <a:gridCol w="12801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1804111">
                  <a:extLst>
                    <a:ext uri="{9D8B030D-6E8A-4147-A177-3AD203B41FA5}">
                      <a16:colId xmlns:a16="http://schemas.microsoft.com/office/drawing/2014/main" val="20004"/>
                    </a:ext>
                  </a:extLst>
                </a:gridCol>
              </a:tblGrid>
              <a:tr h="751114">
                <a:tc>
                  <a:txBody>
                    <a:bodyPr/>
                    <a:lstStyle/>
                    <a:p>
                      <a:pPr algn="ctr">
                        <a:defRPr sz="1250" b="1">
                          <a:solidFill>
                            <a:srgbClr val="FFFFFF"/>
                          </a:solidFill>
                          <a:latin typeface="Times New Roman"/>
                        </a:defRPr>
                      </a:pPr>
                      <a:r>
                        <a:t>Mã đề án</a:t>
                      </a:r>
                      <a:br/>
                      <a:r>
                        <a:t>(Trạm)</a:t>
                      </a:r>
                    </a:p>
                  </a:txBody>
                  <a:tcPr marL="36576" marR="36576" marT="13716" marB="13716" anchor="ctr">
                    <a:solidFill>
                      <a:srgbClr val="1B365D"/>
                    </a:solidFill>
                  </a:tcPr>
                </a:tc>
                <a:tc>
                  <a:txBody>
                    <a:bodyPr/>
                    <a:lstStyle/>
                    <a:p>
                      <a:pPr algn="ctr">
                        <a:defRPr sz="1250" b="1">
                          <a:solidFill>
                            <a:srgbClr val="FFFFFF"/>
                          </a:solidFill>
                          <a:latin typeface="Times New Roman"/>
                        </a:defRPr>
                      </a:pPr>
                      <a:r>
                        <a:t>Tên đề án cải tiến</a:t>
                      </a:r>
                    </a:p>
                  </a:txBody>
                  <a:tcPr marL="36576" marR="36576" marT="13716" marB="13716" anchor="ctr">
                    <a:solidFill>
                      <a:srgbClr val="1B365D"/>
                    </a:solidFill>
                  </a:tcPr>
                </a:tc>
                <a:tc>
                  <a:txBody>
                    <a:bodyPr/>
                    <a:lstStyle/>
                    <a:p>
                      <a:pPr algn="ctr">
                        <a:defRPr sz="1250" b="1">
                          <a:solidFill>
                            <a:srgbClr val="FFFFFF"/>
                          </a:solidFill>
                          <a:latin typeface="Times New Roman"/>
                        </a:defRPr>
                      </a:pPr>
                      <a:r>
                        <a:t>Nội dung kỹ thuật &amp; Phương án thống nhất</a:t>
                      </a:r>
                    </a:p>
                  </a:txBody>
                  <a:tcPr marL="36576" marR="36576" marT="13716" marB="13716" anchor="ctr">
                    <a:solidFill>
                      <a:srgbClr val="1B365D"/>
                    </a:solidFill>
                  </a:tcPr>
                </a:tc>
                <a:tc>
                  <a:txBody>
                    <a:bodyPr/>
                    <a:lstStyle/>
                    <a:p>
                      <a:pPr algn="ctr">
                        <a:defRPr sz="1250" b="1">
                          <a:solidFill>
                            <a:srgbClr val="FFFFFF"/>
                          </a:solidFill>
                          <a:latin typeface="Times New Roman"/>
                        </a:defRPr>
                      </a:pPr>
                      <a:r>
                        <a:t>Hiệu quả đạt được</a:t>
                      </a:r>
                    </a:p>
                  </a:txBody>
                  <a:tcPr marL="36576" marR="36576" marT="13716" marB="13716" anchor="ctr">
                    <a:solidFill>
                      <a:srgbClr val="1B365D"/>
                    </a:solidFill>
                  </a:tcPr>
                </a:tc>
                <a:tc>
                  <a:txBody>
                    <a:bodyPr/>
                    <a:lstStyle/>
                    <a:p>
                      <a:pPr algn="ctr">
                        <a:defRPr sz="1250" b="1">
                          <a:solidFill>
                            <a:srgbClr val="FFFFFF"/>
                          </a:solidFill>
                          <a:latin typeface="Times New Roman"/>
                        </a:defRPr>
                      </a:pPr>
                      <a:r>
                        <a:t>Kinh phí &amp; Tiến độ</a:t>
                      </a:r>
                    </a:p>
                  </a:txBody>
                  <a:tcPr marL="36576" marR="36576" marT="13716" marB="13716" anchor="ctr">
                    <a:solidFill>
                      <a:srgbClr val="1B365D"/>
                    </a:solidFill>
                  </a:tcPr>
                </a:tc>
                <a:extLst>
                  <a:ext uri="{0D108BD9-81ED-4DB2-BD59-A6C34878D82A}">
                    <a16:rowId xmlns:a16="http://schemas.microsoft.com/office/drawing/2014/main" val="10000"/>
                  </a:ext>
                </a:extLst>
              </a:tr>
              <a:tr h="751114">
                <a:tc>
                  <a:txBody>
                    <a:bodyPr/>
                    <a:lstStyle/>
                    <a:p>
                      <a:pPr algn="ctr">
                        <a:defRPr sz="1200" b="1">
                          <a:solidFill>
                            <a:srgbClr val="1E242B"/>
                          </a:solidFill>
                          <a:latin typeface="Times New Roman"/>
                        </a:defRPr>
                      </a:pPr>
                      <a:r>
                        <a:t>No.18</a:t>
                      </a:r>
                      <a:br/>
                      <a:r>
                        <a:t>(K1 -&gt; A-1)</a:t>
                      </a:r>
                    </a:p>
                  </a:txBody>
                  <a:tcPr marL="36576" marR="36576" marT="13716" marB="13716" anchor="ctr">
                    <a:solidFill>
                      <a:srgbClr val="FFFFFF"/>
                    </a:solidFill>
                  </a:tcPr>
                </a:tc>
                <a:tc>
                  <a:txBody>
                    <a:bodyPr/>
                    <a:lstStyle/>
                    <a:p>
                      <a:pPr algn="l">
                        <a:defRPr sz="1200">
                          <a:solidFill>
                            <a:srgbClr val="1E242B"/>
                          </a:solidFill>
                          <a:latin typeface="Times New Roman"/>
                        </a:defRPr>
                      </a:pPr>
                      <a:r>
                        <a:t>Tự động nạp Firmware /</a:t>
                      </a:r>
                      <a:br/>
                      <a:r>
                        <a:t>Nạp đồng thời 4 máy</a:t>
                      </a:r>
                    </a:p>
                  </a:txBody>
                  <a:tcPr marL="36576" marR="36576" marT="13716" marB="13716" anchor="ctr">
                    <a:solidFill>
                      <a:srgbClr val="FFFFFF"/>
                    </a:solidFill>
                  </a:tcPr>
                </a:tc>
                <a:tc>
                  <a:txBody>
                    <a:bodyPr/>
                    <a:lstStyle/>
                    <a:p>
                      <a:pPr algn="l">
                        <a:defRPr sz="1200">
                          <a:solidFill>
                            <a:srgbClr val="1E242B"/>
                          </a:solidFill>
                          <a:latin typeface="Times New Roman"/>
                        </a:defRPr>
                      </a:pPr>
                      <a:r>
                        <a:t>Thiết kế trạm A-1 cho 1 người vận hành nạp FW đồng thời 4 máy; tạm giữ cắm 2 USB song song theo kết luận DR4.</a:t>
                      </a:r>
                    </a:p>
                  </a:txBody>
                  <a:tcPr marL="36576" marR="36576" marT="13716" marB="13716" anchor="ctr">
                    <a:solidFill>
                      <a:srgbClr val="FFFFFF"/>
                    </a:solidFill>
                  </a:tcPr>
                </a:tc>
                <a:tc>
                  <a:txBody>
                    <a:bodyPr/>
                    <a:lstStyle/>
                    <a:p>
                      <a:pPr algn="l">
                        <a:defRPr sz="1200">
                          <a:solidFill>
                            <a:srgbClr val="1E242B"/>
                          </a:solidFill>
                          <a:latin typeface="Times New Roman"/>
                        </a:defRPr>
                      </a:pPr>
                      <a:r>
                        <a:t>Giảm thời gian đứng chờ nạp FW;</a:t>
                      </a:r>
                      <a:br/>
                      <a:r>
                        <a:t>Tăng năng suất trạm A-1</a:t>
                      </a:r>
                    </a:p>
                  </a:txBody>
                  <a:tcPr marL="36576" marR="36576" marT="13716" marB="13716" anchor="ctr">
                    <a:solidFill>
                      <a:srgbClr val="FFFFFF"/>
                    </a:solidFill>
                  </a:tcPr>
                </a:tc>
                <a:tc>
                  <a:txBody>
                    <a:bodyPr/>
                    <a:lstStyle/>
                    <a:p>
                      <a:pPr algn="l">
                        <a:defRPr sz="1200">
                          <a:solidFill>
                            <a:srgbClr val="1E242B"/>
                          </a:solidFill>
                          <a:latin typeface="Times New Roman"/>
                        </a:defRPr>
                      </a:pPr>
                      <a:r>
                        <a:t>Đang báo giá</a:t>
                      </a:r>
                      <a:br/>
                      <a:r>
                        <a:t>(Thiết kế chuẩn trạm A-1)</a:t>
                      </a:r>
                    </a:p>
                  </a:txBody>
                  <a:tcPr marL="36576" marR="36576" marT="13716" marB="13716" anchor="ctr">
                    <a:solidFill>
                      <a:srgbClr val="FFFFFF"/>
                    </a:solidFill>
                  </a:tcPr>
                </a:tc>
                <a:extLst>
                  <a:ext uri="{0D108BD9-81ED-4DB2-BD59-A6C34878D82A}">
                    <a16:rowId xmlns:a16="http://schemas.microsoft.com/office/drawing/2014/main" val="10001"/>
                  </a:ext>
                </a:extLst>
              </a:tr>
              <a:tr h="751114">
                <a:tc>
                  <a:txBody>
                    <a:bodyPr/>
                    <a:lstStyle/>
                    <a:p>
                      <a:pPr algn="ctr">
                        <a:defRPr sz="1200" b="1">
                          <a:solidFill>
                            <a:srgbClr val="1E242B"/>
                          </a:solidFill>
                          <a:latin typeface="Times New Roman"/>
                        </a:defRPr>
                      </a:pPr>
                      <a:r>
                        <a:t>Đề án FW</a:t>
                      </a:r>
                      <a:br/>
                      <a:r>
                        <a:t>(Trạm A-1)</a:t>
                      </a:r>
                    </a:p>
                  </a:txBody>
                  <a:tcPr marL="36576" marR="36576" marT="13716" marB="13716" anchor="ctr">
                    <a:solidFill>
                      <a:srgbClr val="E8EEF5"/>
                    </a:solidFill>
                  </a:tcPr>
                </a:tc>
                <a:tc>
                  <a:txBody>
                    <a:bodyPr/>
                    <a:lstStyle/>
                    <a:p>
                      <a:pPr algn="l">
                        <a:defRPr sz="1200">
                          <a:solidFill>
                            <a:srgbClr val="1E242B"/>
                          </a:solidFill>
                          <a:latin typeface="Times New Roman"/>
                        </a:defRPr>
                      </a:pPr>
                      <a:r>
                        <a:t>Bỏ nạp lại soft trên Line /</a:t>
                      </a:r>
                      <a:br/>
                      <a:r>
                        <a:t>Nạp sẵn tại Partner</a:t>
                      </a:r>
                    </a:p>
                  </a:txBody>
                  <a:tcPr marL="36576" marR="36576" marT="13716" marB="13716" anchor="ctr">
                    <a:solidFill>
                      <a:srgbClr val="E8EEF5"/>
                    </a:solidFill>
                  </a:tcPr>
                </a:tc>
                <a:tc>
                  <a:txBody>
                    <a:bodyPr/>
                    <a:lstStyle/>
                    <a:p>
                      <a:pPr>
                        <a:defRPr sz="1100">
                          <a:solidFill>
                            <a:srgbClr val="1E242B"/>
                          </a:solidFill>
                          <a:latin typeface="Times New Roman"/>
                        </a:defRPr>
                      </a:pPr>
                      <a:r>
                        <a:t>Nạp trước toàn bộ F/W (Main, Lang, OCR, Engine, Motor, Panel, AI) tại NCC; tại Line chỉ đối chiếu version qua Set Serial. Quản lý chặt bản mạch Old/New và đánh giá hiệu quả giảm người thực tế theo chỉ đạo bác Hanazaki.</a:t>
                      </a:r>
                    </a:p>
                  </a:txBody>
                  <a:tcPr marL="36576" marR="36576" marT="13716" marB="13716" anchor="ctr">
                    <a:solidFill>
                      <a:srgbClr val="E8EEF5"/>
                    </a:solidFill>
                  </a:tcPr>
                </a:tc>
                <a:tc>
                  <a:txBody>
                    <a:bodyPr/>
                    <a:lstStyle/>
                    <a:p>
                      <a:pPr>
                        <a:defRPr sz="1100">
                          <a:solidFill>
                            <a:srgbClr val="1E242B"/>
                          </a:solidFill>
                          <a:latin typeface="Times New Roman"/>
                        </a:defRPr>
                      </a:pPr>
                      <a:r>
                        <a:t>Giảm 13s ~ 25s thao tác; Hướng tới cắt giảm 1 người tại trạm A-1 (đóng góp mục tiêu x2 năng suất)</a:t>
                      </a:r>
                    </a:p>
                  </a:txBody>
                  <a:tcPr marL="36576" marR="36576" marT="13716" marB="13716" anchor="ctr">
                    <a:solidFill>
                      <a:srgbClr val="E8EEF5"/>
                    </a:solidFill>
                  </a:tcPr>
                </a:tc>
                <a:tc>
                  <a:txBody>
                    <a:bodyPr/>
                    <a:lstStyle/>
                    <a:p>
                      <a:pPr>
                        <a:defRPr sz="1100">
                          <a:solidFill>
                            <a:srgbClr val="1E242B"/>
                          </a:solidFill>
                          <a:latin typeface="Times New Roman"/>
                        </a:defRPr>
                      </a:pPr>
                      <a:r>
                        <a:t>0 VNĐ thiết bị (Đang chốt cơ chế Old/New và giới hạn dùng chung Main board với Thiết kế JP)</a:t>
                      </a:r>
                    </a:p>
                  </a:txBody>
                  <a:tcPr marL="36576" marR="36576" marT="13716" marB="13716" anchor="ctr">
                    <a:solidFill>
                      <a:srgbClr val="E8EEF5"/>
                    </a:solidFill>
                  </a:tcPr>
                </a:tc>
                <a:extLst>
                  <a:ext uri="{0D108BD9-81ED-4DB2-BD59-A6C34878D82A}">
                    <a16:rowId xmlns:a16="http://schemas.microsoft.com/office/drawing/2014/main" val="10002"/>
                  </a:ext>
                </a:extLst>
              </a:tr>
              <a:tr h="751114">
                <a:tc>
                  <a:txBody>
                    <a:bodyPr/>
                    <a:lstStyle/>
                    <a:p>
                      <a:pPr algn="ctr">
                        <a:defRPr sz="1200" b="1">
                          <a:solidFill>
                            <a:srgbClr val="1E242B"/>
                          </a:solidFill>
                          <a:latin typeface="Times New Roman"/>
                        </a:defRPr>
                      </a:pPr>
                      <a:r>
                        <a:t>No.19</a:t>
                      </a:r>
                      <a:br/>
                      <a:r>
                        <a:t>(K1 -&gt; A-1)</a:t>
                      </a:r>
                    </a:p>
                  </a:txBody>
                  <a:tcPr marL="36576" marR="36576" marT="13716" marB="13716" anchor="ctr">
                    <a:solidFill>
                      <a:srgbClr val="FFFFFF"/>
                    </a:solidFill>
                  </a:tcPr>
                </a:tc>
                <a:tc>
                  <a:txBody>
                    <a:bodyPr/>
                    <a:lstStyle/>
                    <a:p>
                      <a:pPr algn="l">
                        <a:defRPr sz="1200">
                          <a:solidFill>
                            <a:srgbClr val="1E242B"/>
                          </a:solidFill>
                          <a:latin typeface="Times New Roman"/>
                        </a:defRPr>
                      </a:pPr>
                      <a:r>
                        <a:t>Không tháo lắp nắp &amp; gá FW;</a:t>
                      </a:r>
                      <a:br/>
                      <a:r>
                        <a:t>Tự động đổi tiếng Anh</a:t>
                      </a:r>
                    </a:p>
                  </a:txBody>
                  <a:tcPr marL="36576" marR="36576" marT="13716" marB="13716" anchor="ctr">
                    <a:solidFill>
                      <a:srgbClr val="FFFFFF"/>
                    </a:solidFill>
                  </a:tcPr>
                </a:tc>
                <a:tc>
                  <a:txBody>
                    <a:bodyPr/>
                    <a:lstStyle/>
                    <a:p>
                      <a:pPr algn="l">
                        <a:defRPr sz="1200">
                          <a:solidFill>
                            <a:srgbClr val="1E242B"/>
                          </a:solidFill>
                          <a:latin typeface="Times New Roman"/>
                        </a:defRPr>
                      </a:pPr>
                      <a:r>
                        <a:t>Tích hợp script tự động đổi tiếng Anh sau thiết lập ban đầu (JP đã đồng ý); tận dụng 12 bộ gá hộp mực hiện có để giảm tháo lắp.</a:t>
                      </a:r>
                    </a:p>
                  </a:txBody>
                  <a:tcPr marL="36576" marR="36576" marT="13716" marB="13716" anchor="ctr">
                    <a:solidFill>
                      <a:srgbClr val="FFFFFF"/>
                    </a:solidFill>
                  </a:tcPr>
                </a:tc>
                <a:tc>
                  <a:txBody>
                    <a:bodyPr/>
                    <a:lstStyle/>
                    <a:p>
                      <a:pPr algn="l">
                        <a:defRPr sz="1200">
                          <a:solidFill>
                            <a:srgbClr val="1E242B"/>
                          </a:solidFill>
                          <a:latin typeface="Times New Roman"/>
                        </a:defRPr>
                      </a:pPr>
                      <a:r>
                        <a:t>Giảm 55s/máy tại trạm K1;</a:t>
                      </a:r>
                      <a:br/>
                      <a:r>
                        <a:t>Giảm 11 lần cắm/rút cáp</a:t>
                      </a:r>
                    </a:p>
                  </a:txBody>
                  <a:tcPr marL="36576" marR="36576" marT="13716" marB="13716" anchor="ctr">
                    <a:solidFill>
                      <a:srgbClr val="FFFFFF"/>
                    </a:solidFill>
                  </a:tcPr>
                </a:tc>
                <a:tc>
                  <a:txBody>
                    <a:bodyPr/>
                    <a:lstStyle/>
                    <a:p>
                      <a:pPr algn="l">
                        <a:defRPr sz="1200">
                          <a:solidFill>
                            <a:srgbClr val="1E242B"/>
                          </a:solidFill>
                          <a:latin typeface="Times New Roman"/>
                        </a:defRPr>
                      </a:pPr>
                      <a:r>
                        <a:t>Đang báo giá</a:t>
                      </a:r>
                      <a:br/>
                      <a:r>
                        <a:t>(Đổi tiếng Anh: Làm ngay)</a:t>
                      </a:r>
                    </a:p>
                  </a:txBody>
                  <a:tcPr marL="36576" marR="36576" marT="13716" marB="13716" anchor="ctr">
                    <a:solidFill>
                      <a:srgbClr val="FFFFFF"/>
                    </a:solidFill>
                  </a:tcPr>
                </a:tc>
                <a:extLst>
                  <a:ext uri="{0D108BD9-81ED-4DB2-BD59-A6C34878D82A}">
                    <a16:rowId xmlns:a16="http://schemas.microsoft.com/office/drawing/2014/main" val="10003"/>
                  </a:ext>
                </a:extLst>
              </a:tr>
              <a:tr h="751114">
                <a:tc>
                  <a:txBody>
                    <a:bodyPr/>
                    <a:lstStyle/>
                    <a:p>
                      <a:pPr algn="ctr">
                        <a:defRPr sz="1200" b="1">
                          <a:solidFill>
                            <a:srgbClr val="1E242B"/>
                          </a:solidFill>
                          <a:latin typeface="Times New Roman"/>
                        </a:defRPr>
                      </a:pPr>
                      <a:r>
                        <a:t>No.20</a:t>
                      </a:r>
                      <a:br/>
                      <a:r>
                        <a:t>(K1 -&gt; A-1)</a:t>
                      </a:r>
                    </a:p>
                  </a:txBody>
                  <a:tcPr marL="36576" marR="36576" marT="13716" marB="13716" anchor="ctr">
                    <a:solidFill>
                      <a:srgbClr val="F7F9FC"/>
                    </a:solidFill>
                  </a:tcPr>
                </a:tc>
                <a:tc>
                  <a:txBody>
                    <a:bodyPr/>
                    <a:lstStyle/>
                    <a:p>
                      <a:pPr algn="l">
                        <a:defRPr sz="1200">
                          <a:solidFill>
                            <a:srgbClr val="1E242B"/>
                          </a:solidFill>
                          <a:latin typeface="Times New Roman"/>
                        </a:defRPr>
                      </a:pPr>
                      <a:r>
                        <a:t>Truyền log qua mạng LAN &amp;</a:t>
                      </a:r>
                      <a:br/>
                      <a:r>
                        <a:t>Bỏ test khay không tải</a:t>
                      </a:r>
                    </a:p>
                  </a:txBody>
                  <a:tcPr marL="36576" marR="36576" marT="13716" marB="13716" anchor="ctr">
                    <a:solidFill>
                      <a:srgbClr val="F7F9FC"/>
                    </a:solidFill>
                  </a:tcPr>
                </a:tc>
                <a:tc>
                  <a:txBody>
                    <a:bodyPr/>
                    <a:lstStyle/>
                    <a:p>
                      <a:pPr algn="l">
                        <a:defRPr sz="1200">
                          <a:solidFill>
                            <a:srgbClr val="1E242B"/>
                          </a:solidFill>
                          <a:latin typeface="Times New Roman"/>
                        </a:defRPr>
                      </a:pPr>
                      <a:r>
                        <a:t>Truyền trực tiếp file log kiểm tra về Host PC qua mạng nội bộ; nộp dữ liệu độ bền bản lề xin QA duyệt bỏ test khay không tải.</a:t>
                      </a:r>
                    </a:p>
                  </a:txBody>
                  <a:tcPr marL="36576" marR="36576" marT="13716" marB="13716" anchor="ctr">
                    <a:solidFill>
                      <a:srgbClr val="F7F9FC"/>
                    </a:solidFill>
                  </a:tcPr>
                </a:tc>
                <a:tc>
                  <a:txBody>
                    <a:bodyPr/>
                    <a:lstStyle/>
                    <a:p>
                      <a:pPr algn="l">
                        <a:defRPr sz="1200">
                          <a:solidFill>
                            <a:srgbClr val="1E242B"/>
                          </a:solidFill>
                          <a:latin typeface="Times New Roman"/>
                        </a:defRPr>
                      </a:pPr>
                      <a:r>
                        <a:t>Giảm 10s lấy log USB;</a:t>
                      </a:r>
                      <a:br/>
                      <a:r>
                        <a:t>Giảm 5s thử khay không tải</a:t>
                      </a:r>
                    </a:p>
                  </a:txBody>
                  <a:tcPr marL="36576" marR="36576" marT="13716" marB="13716" anchor="ctr">
                    <a:solidFill>
                      <a:srgbClr val="F7F9FC"/>
                    </a:solidFill>
                  </a:tcPr>
                </a:tc>
                <a:tc>
                  <a:txBody>
                    <a:bodyPr/>
                    <a:lstStyle/>
                    <a:p>
                      <a:pPr algn="l">
                        <a:defRPr sz="1200">
                          <a:solidFill>
                            <a:srgbClr val="1E242B"/>
                          </a:solidFill>
                          <a:latin typeface="Times New Roman"/>
                        </a:defRPr>
                      </a:pPr>
                      <a:r>
                        <a:t>Đang báo giá</a:t>
                      </a:r>
                      <a:br/>
                      <a:r>
                        <a:t>(Tích hợp mạng Spica)</a:t>
                      </a:r>
                    </a:p>
                  </a:txBody>
                  <a:tcPr marL="36576" marR="36576" marT="13716" marB="13716" anchor="ctr">
                    <a:solidFill>
                      <a:srgbClr val="F7F9FC"/>
                    </a:solidFill>
                  </a:tcPr>
                </a:tc>
                <a:extLst>
                  <a:ext uri="{0D108BD9-81ED-4DB2-BD59-A6C34878D82A}">
                    <a16:rowId xmlns:a16="http://schemas.microsoft.com/office/drawing/2014/main" val="10004"/>
                  </a:ext>
                </a:extLst>
              </a:tr>
              <a:tr h="751114">
                <a:tc>
                  <a:txBody>
                    <a:bodyPr/>
                    <a:lstStyle/>
                    <a:p>
                      <a:pPr algn="ctr">
                        <a:defRPr sz="1200" b="1">
                          <a:solidFill>
                            <a:srgbClr val="1E242B"/>
                          </a:solidFill>
                          <a:latin typeface="Times New Roman"/>
                        </a:defRPr>
                      </a:pPr>
                      <a:r>
                        <a:t>No.21</a:t>
                      </a:r>
                      <a:br/>
                      <a:r>
                        <a:t>(K2 -&gt; A-2)</a:t>
                      </a:r>
                    </a:p>
                  </a:txBody>
                  <a:tcPr marL="36576" marR="36576" marT="13716" marB="13716" anchor="ctr">
                    <a:solidFill>
                      <a:srgbClr val="FFFFFF"/>
                    </a:solidFill>
                  </a:tcPr>
                </a:tc>
                <a:tc>
                  <a:txBody>
                    <a:bodyPr/>
                    <a:lstStyle/>
                    <a:p>
                      <a:pPr algn="l">
                        <a:defRPr sz="1200">
                          <a:solidFill>
                            <a:srgbClr val="1E242B"/>
                          </a:solidFill>
                          <a:latin typeface="Times New Roman"/>
                        </a:defRPr>
                      </a:pPr>
                      <a:r>
                        <a:t>Đồ gá kết nối nhanh Option</a:t>
                      </a:r>
                      <a:br/>
                      <a:r>
                        <a:t>(1 chạm / nam châm)</a:t>
                      </a:r>
                    </a:p>
                  </a:txBody>
                  <a:tcPr marL="36576" marR="36576" marT="13716" marB="13716" anchor="ctr">
                    <a:solidFill>
                      <a:srgbClr val="FFFFFF"/>
                    </a:solidFill>
                  </a:tcPr>
                </a:tc>
                <a:tc>
                  <a:txBody>
                    <a:bodyPr/>
                    <a:lstStyle/>
                    <a:p>
                      <a:pPr algn="l">
                        <a:defRPr sz="1200">
                          <a:solidFill>
                            <a:srgbClr val="1E242B"/>
                          </a:solidFill>
                          <a:latin typeface="Times New Roman"/>
                        </a:defRPr>
                      </a:pPr>
                      <a:r>
                        <a:t>Hủy ý tưởng dùng Robot cắm giắc; chuyển sang làm đồ gá 1 chạm / nam châm định vị giúp thao tác cắm cổng Option trong 40s.</a:t>
                      </a:r>
                    </a:p>
                  </a:txBody>
                  <a:tcPr marL="36576" marR="36576" marT="13716" marB="13716" anchor="ctr">
                    <a:solidFill>
                      <a:srgbClr val="FFFFFF"/>
                    </a:solidFill>
                  </a:tcPr>
                </a:tc>
                <a:tc>
                  <a:txBody>
                    <a:bodyPr/>
                    <a:lstStyle/>
                    <a:p>
                      <a:pPr algn="l">
                        <a:defRPr sz="1200">
                          <a:solidFill>
                            <a:srgbClr val="1E242B"/>
                          </a:solidFill>
                          <a:latin typeface="Times New Roman"/>
                        </a:defRPr>
                      </a:pPr>
                      <a:r>
                        <a:t>Giảm 45s ~ 50s/máy;</a:t>
                      </a:r>
                      <a:br/>
                      <a:r>
                        <a:t>Chống gãy chân giắc Option</a:t>
                      </a:r>
                    </a:p>
                  </a:txBody>
                  <a:tcPr marL="36576" marR="36576" marT="13716" marB="13716" anchor="ctr">
                    <a:solidFill>
                      <a:srgbClr val="FFFFFF"/>
                    </a:solidFill>
                  </a:tcPr>
                </a:tc>
                <a:tc>
                  <a:txBody>
                    <a:bodyPr/>
                    <a:lstStyle/>
                    <a:p>
                      <a:pPr algn="l">
                        <a:defRPr sz="1200">
                          <a:solidFill>
                            <a:srgbClr val="1E242B"/>
                          </a:solidFill>
                          <a:latin typeface="Times New Roman"/>
                        </a:defRPr>
                      </a:pPr>
                      <a:r>
                        <a:t>Đang báo giá</a:t>
                      </a:r>
                      <a:br/>
                      <a:r>
                        <a:t>(Đang chế tạo thử nghiệm)</a:t>
                      </a:r>
                    </a:p>
                  </a:txBody>
                  <a:tcPr marL="36576" marR="36576" marT="13716" marB="13716" anchor="ctr">
                    <a:solidFill>
                      <a:srgbClr val="FFFFFF"/>
                    </a:solidFill>
                  </a:tcPr>
                </a:tc>
                <a:extLst>
                  <a:ext uri="{0D108BD9-81ED-4DB2-BD59-A6C34878D82A}">
                    <a16:rowId xmlns:a16="http://schemas.microsoft.com/office/drawing/2014/main" val="10005"/>
                  </a:ext>
                </a:extLst>
              </a:tr>
              <a:tr h="751116">
                <a:tc>
                  <a:txBody>
                    <a:bodyPr/>
                    <a:lstStyle/>
                    <a:p>
                      <a:pPr algn="ctr">
                        <a:defRPr sz="1200" b="1">
                          <a:solidFill>
                            <a:srgbClr val="1E242B"/>
                          </a:solidFill>
                          <a:latin typeface="Times New Roman"/>
                        </a:defRPr>
                      </a:pPr>
                      <a:r>
                        <a:t>No.22</a:t>
                      </a:r>
                      <a:br/>
                      <a:r>
                        <a:t>(K3 -&gt; A-3)</a:t>
                      </a:r>
                    </a:p>
                  </a:txBody>
                  <a:tcPr marL="36576" marR="36576" marT="13716" marB="13716" anchor="ctr">
                    <a:solidFill>
                      <a:srgbClr val="EAF7EE"/>
                    </a:solidFill>
                  </a:tcPr>
                </a:tc>
                <a:tc>
                  <a:txBody>
                    <a:bodyPr/>
                    <a:lstStyle/>
                    <a:p>
                      <a:pPr algn="l">
                        <a:defRPr sz="1200">
                          <a:solidFill>
                            <a:srgbClr val="1E242B"/>
                          </a:solidFill>
                          <a:latin typeface="Times New Roman"/>
                        </a:defRPr>
                      </a:pPr>
                      <a:r>
                        <a:t>Tự động kiểm tra an toàn điện</a:t>
                      </a:r>
                      <a:br/>
                      <a:r>
                        <a:t>(Đo khi đóng kín nắp)</a:t>
                      </a:r>
                    </a:p>
                  </a:txBody>
                  <a:tcPr marL="36576" marR="36576" marT="13716" marB="13716" anchor="ctr">
                    <a:solidFill>
                      <a:srgbClr val="EAF7EE"/>
                    </a:solidFill>
                  </a:tcPr>
                </a:tc>
                <a:tc>
                  <a:txBody>
                    <a:bodyPr/>
                    <a:lstStyle/>
                    <a:p>
                      <a:pPr algn="l">
                        <a:defRPr sz="1200">
                          <a:solidFill>
                            <a:srgbClr val="1E242B"/>
                          </a:solidFill>
                          <a:latin typeface="Times New Roman"/>
                        </a:defRPr>
                      </a:pPr>
                      <a:r>
                        <a:t>Chế tạo JIG tự động PLC FX5U + SMC đo thông mạch tiếp đất và chịu áp cách điện ở trạng thái ĐÃ ĐÓNG KÍN VỎ MÁY theo chuẩn DR4.</a:t>
                      </a:r>
                    </a:p>
                  </a:txBody>
                  <a:tcPr marL="36576" marR="36576" marT="13716" marB="13716" anchor="ctr">
                    <a:solidFill>
                      <a:srgbClr val="EAF7EE"/>
                    </a:solidFill>
                  </a:tcPr>
                </a:tc>
                <a:tc>
                  <a:txBody>
                    <a:bodyPr/>
                    <a:lstStyle/>
                    <a:p>
                      <a:pPr algn="l">
                        <a:defRPr sz="1200">
                          <a:solidFill>
                            <a:srgbClr val="1E242B"/>
                          </a:solidFill>
                          <a:latin typeface="Times New Roman"/>
                        </a:defRPr>
                      </a:pPr>
                      <a:r>
                        <a:t>Giảm 30s/máy;</a:t>
                      </a:r>
                      <a:br/>
                      <a:r>
                        <a:t>Tiết kiệm 29,6 triệu VNĐ/năm;</a:t>
                      </a:r>
                      <a:br/>
                      <a:r>
                        <a:t>Chống sót bước an toàn điện</a:t>
                      </a:r>
                    </a:p>
                  </a:txBody>
                  <a:tcPr marL="36576" marR="36576" marT="13716" marB="13716" anchor="ctr">
                    <a:solidFill>
                      <a:srgbClr val="EAF7EE"/>
                    </a:solidFill>
                  </a:tcPr>
                </a:tc>
                <a:tc>
                  <a:txBody>
                    <a:bodyPr/>
                    <a:lstStyle/>
                    <a:p>
                      <a:pPr algn="l">
                        <a:defRPr sz="1200">
                          <a:solidFill>
                            <a:srgbClr val="1E242B"/>
                          </a:solidFill>
                          <a:latin typeface="Times New Roman"/>
                        </a:defRPr>
                      </a:pPr>
                      <a:r>
                        <a:t>101.690.000 VNĐ</a:t>
                      </a:r>
                      <a:br/>
                      <a:r>
                        <a:t>(3.911,15 USD / BOM 25 mục)</a:t>
                      </a:r>
                      <a:br/>
                      <a:r>
                        <a:t>[Đề nghị duyệt Đợt 1]</a:t>
                      </a:r>
                    </a:p>
                  </a:txBody>
                  <a:tcPr marL="36576" marR="36576" marT="13716" marB="13716" anchor="ctr">
                    <a:solidFill>
                      <a:srgbClr val="EAF7EE"/>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4.3 ĐỀ ÁN VN (HÌNH ẢNH)</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Chi tiết các đề án tự động hóa của Việt Nam: Cụm Hình ảnh &amp; Xuất hàng (No.23 ~ No.28)</a:t>
            </a:r>
          </a:p>
        </p:txBody>
      </p:sp>
      <p:sp>
        <p:nvSpPr>
          <p:cNvPr id="5" name="TextBox 4"/>
          <p:cNvSpPr txBox="1"/>
          <p:nvPr/>
        </p:nvSpPr>
        <p:spPr>
          <a:xfrm>
            <a:off x="11292840" y="128016"/>
            <a:ext cx="731520" cy="347472"/>
          </a:xfrm>
          <a:prstGeom prst="rect">
            <a:avLst/>
          </a:prstGeom>
          <a:noFill/>
        </p:spPr>
        <p:txBody>
          <a:bodyPr wrap="none">
            <a:spAutoFit/>
          </a:bodyPr>
          <a:lstStyle/>
          <a:p>
            <a:pPr>
              <a:defRPr sz="1200">
                <a:solidFill>
                  <a:srgbClr val="D0D8E8"/>
                </a:solidFill>
                <a:latin typeface="Times New Roman"/>
              </a:defRPr>
            </a:pPr>
            <a:r>
              <a:t>9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Khắc phục nút thắt tại cụm Hình ảnh bằng phương án nạp khay DP tự động (No.25 thay thế Robot No.23) và cụm Camera HIKROBOT đo nồng độ màu (No.27, giảm 177s đến 215s/máy).</a:t>
            </a:r>
          </a:p>
        </p:txBody>
      </p:sp>
      <p:graphicFrame>
        <p:nvGraphicFramePr>
          <p:cNvPr id="7" name="Table 6"/>
          <p:cNvGraphicFramePr>
            <a:graphicFrameLocks noGrp="1"/>
          </p:cNvGraphicFramePr>
          <p:nvPr/>
        </p:nvGraphicFramePr>
        <p:xfrm>
          <a:off x="256032" y="1234440"/>
          <a:ext cx="11679631" cy="3931920"/>
        </p:xfrm>
        <a:graphic>
          <a:graphicData uri="http://schemas.openxmlformats.org/drawingml/2006/table">
            <a:tbl>
              <a:tblPr firstRow="1" bandRow="1">
                <a:tableStyleId>{5C22544A-7EE6-4342-B048-85BDC9FD1C3A}</a:tableStyleId>
              </a:tblPr>
              <a:tblGrid>
                <a:gridCol w="12801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1804111">
                  <a:extLst>
                    <a:ext uri="{9D8B030D-6E8A-4147-A177-3AD203B41FA5}">
                      <a16:colId xmlns:a16="http://schemas.microsoft.com/office/drawing/2014/main" val="20004"/>
                    </a:ext>
                  </a:extLst>
                </a:gridCol>
              </a:tblGrid>
              <a:tr h="655320">
                <a:tc>
                  <a:txBody>
                    <a:bodyPr/>
                    <a:lstStyle/>
                    <a:p>
                      <a:pPr algn="ctr">
                        <a:defRPr sz="1250" b="1">
                          <a:solidFill>
                            <a:srgbClr val="FFFFFF"/>
                          </a:solidFill>
                          <a:latin typeface="Times New Roman"/>
                        </a:defRPr>
                      </a:pPr>
                      <a:r>
                        <a:t>Mã đề án</a:t>
                      </a:r>
                      <a:br/>
                      <a:r>
                        <a:t>(Trạm)</a:t>
                      </a:r>
                    </a:p>
                  </a:txBody>
                  <a:tcPr marL="36576" marR="36576" marT="13716" marB="13716" anchor="ctr">
                    <a:solidFill>
                      <a:srgbClr val="1B365D"/>
                    </a:solidFill>
                  </a:tcPr>
                </a:tc>
                <a:tc>
                  <a:txBody>
                    <a:bodyPr/>
                    <a:lstStyle/>
                    <a:p>
                      <a:pPr algn="ctr">
                        <a:defRPr sz="1250" b="1">
                          <a:solidFill>
                            <a:srgbClr val="FFFFFF"/>
                          </a:solidFill>
                          <a:latin typeface="Times New Roman"/>
                        </a:defRPr>
                      </a:pPr>
                      <a:r>
                        <a:t>Tên đề án tự động hóa</a:t>
                      </a:r>
                    </a:p>
                  </a:txBody>
                  <a:tcPr marL="36576" marR="36576" marT="13716" marB="13716" anchor="ctr">
                    <a:solidFill>
                      <a:srgbClr val="1B365D"/>
                    </a:solidFill>
                  </a:tcPr>
                </a:tc>
                <a:tc>
                  <a:txBody>
                    <a:bodyPr/>
                    <a:lstStyle/>
                    <a:p>
                      <a:pPr algn="ctr">
                        <a:defRPr sz="1250" b="1">
                          <a:solidFill>
                            <a:srgbClr val="FFFFFF"/>
                          </a:solidFill>
                          <a:latin typeface="Times New Roman"/>
                        </a:defRPr>
                      </a:pPr>
                      <a:r>
                        <a:t>Nội dung kỹ thuật &amp; Phương án tối ưu chi phí sau DR4</a:t>
                      </a:r>
                    </a:p>
                  </a:txBody>
                  <a:tcPr marL="36576" marR="36576" marT="13716" marB="13716" anchor="ctr">
                    <a:solidFill>
                      <a:srgbClr val="1B365D"/>
                    </a:solidFill>
                  </a:tcPr>
                </a:tc>
                <a:tc>
                  <a:txBody>
                    <a:bodyPr/>
                    <a:lstStyle/>
                    <a:p>
                      <a:pPr algn="ctr">
                        <a:defRPr sz="1250" b="1">
                          <a:solidFill>
                            <a:srgbClr val="FFFFFF"/>
                          </a:solidFill>
                          <a:latin typeface="Times New Roman"/>
                        </a:defRPr>
                      </a:pPr>
                      <a:r>
                        <a:t>Hiệu quả đạt được</a:t>
                      </a:r>
                    </a:p>
                  </a:txBody>
                  <a:tcPr marL="36576" marR="36576" marT="13716" marB="13716" anchor="ctr">
                    <a:solidFill>
                      <a:srgbClr val="1B365D"/>
                    </a:solidFill>
                  </a:tcPr>
                </a:tc>
                <a:tc>
                  <a:txBody>
                    <a:bodyPr/>
                    <a:lstStyle/>
                    <a:p>
                      <a:pPr algn="ctr">
                        <a:defRPr sz="1250" b="1">
                          <a:solidFill>
                            <a:srgbClr val="FFFFFF"/>
                          </a:solidFill>
                          <a:latin typeface="Times New Roman"/>
                        </a:defRPr>
                      </a:pPr>
                      <a:r>
                        <a:t>Kinh phí &amp; Đánh giá</a:t>
                      </a:r>
                    </a:p>
                  </a:txBody>
                  <a:tcPr marL="36576" marR="36576" marT="13716" marB="13716" anchor="ctr">
                    <a:solidFill>
                      <a:srgbClr val="1B365D"/>
                    </a:solidFill>
                  </a:tcPr>
                </a:tc>
                <a:extLst>
                  <a:ext uri="{0D108BD9-81ED-4DB2-BD59-A6C34878D82A}">
                    <a16:rowId xmlns:a16="http://schemas.microsoft.com/office/drawing/2014/main" val="10000"/>
                  </a:ext>
                </a:extLst>
              </a:tr>
              <a:tr h="655320">
                <a:tc>
                  <a:txBody>
                    <a:bodyPr/>
                    <a:lstStyle/>
                    <a:p>
                      <a:pPr algn="ctr">
                        <a:defRPr sz="1200" b="1">
                          <a:solidFill>
                            <a:srgbClr val="1E242B"/>
                          </a:solidFill>
                          <a:latin typeface="Times New Roman"/>
                        </a:defRPr>
                      </a:pPr>
                      <a:r>
                        <a:t>No.23</a:t>
                      </a:r>
                      <a:br/>
                      <a:r>
                        <a:t>(K4 -&gt; A-2)</a:t>
                      </a:r>
                    </a:p>
                  </a:txBody>
                  <a:tcPr marL="36576" marR="36576" marT="13716" marB="13716" anchor="ctr">
                    <a:solidFill>
                      <a:srgbClr val="E8EEF5"/>
                    </a:solidFill>
                  </a:tcPr>
                </a:tc>
                <a:tc>
                  <a:txBody>
                    <a:bodyPr/>
                    <a:lstStyle/>
                    <a:p>
                      <a:pPr algn="l">
                        <a:defRPr sz="1200">
                          <a:solidFill>
                            <a:srgbClr val="1E242B"/>
                          </a:solidFill>
                          <a:latin typeface="Times New Roman"/>
                        </a:defRPr>
                      </a:pPr>
                      <a:r>
                        <a:t>Tự động nạp bản thảo ISU</a:t>
                      </a:r>
                      <a:br/>
                      <a:r>
                        <a:t>(Robot ISU -&gt; Đổi sang DP)</a:t>
                      </a:r>
                    </a:p>
                  </a:txBody>
                  <a:tcPr marL="36576" marR="36576" marT="13716" marB="13716" anchor="ctr">
                    <a:solidFill>
                      <a:srgbClr val="E8EEF5"/>
                    </a:solidFill>
                  </a:tcPr>
                </a:tc>
                <a:tc>
                  <a:txBody>
                    <a:bodyPr/>
                    <a:lstStyle/>
                    <a:p>
                      <a:pPr algn="l">
                        <a:defRPr sz="1200">
                          <a:solidFill>
                            <a:srgbClr val="1E242B"/>
                          </a:solidFill>
                          <a:latin typeface="Times New Roman"/>
                        </a:defRPr>
                      </a:pPr>
                      <a:r>
                        <a:t>Hủy phương án Robot đặt bản thảo lên kính (650 triệu / 25.000 USD) vì đắt và thu hồi vốn lâu; chuyển sang dùng khay nạp DP kéo quét liên tục.</a:t>
                      </a:r>
                    </a:p>
                  </a:txBody>
                  <a:tcPr marL="36576" marR="36576" marT="13716" marB="13716" anchor="ctr">
                    <a:solidFill>
                      <a:srgbClr val="E8EEF5"/>
                    </a:solidFill>
                  </a:tcPr>
                </a:tc>
                <a:tc>
                  <a:txBody>
                    <a:bodyPr/>
                    <a:lstStyle/>
                    <a:p>
                      <a:pPr algn="l">
                        <a:defRPr sz="1200">
                          <a:solidFill>
                            <a:srgbClr val="1E242B"/>
                          </a:solidFill>
                          <a:latin typeface="Times New Roman"/>
                        </a:defRPr>
                      </a:pPr>
                      <a:r>
                        <a:t>Giảm 110s đặt bản thảo;</a:t>
                      </a:r>
                      <a:br/>
                      <a:r>
                        <a:t>Tiết kiệm 108,5 triệu VNĐ/năm</a:t>
                      </a:r>
                    </a:p>
                  </a:txBody>
                  <a:tcPr marL="36576" marR="36576" marT="13716" marB="13716" anchor="ctr">
                    <a:solidFill>
                      <a:srgbClr val="E8EEF5"/>
                    </a:solidFill>
                  </a:tcPr>
                </a:tc>
                <a:tc>
                  <a:txBody>
                    <a:bodyPr/>
                    <a:lstStyle/>
                    <a:p>
                      <a:pPr algn="l">
                        <a:defRPr sz="1200">
                          <a:solidFill>
                            <a:srgbClr val="1E242B"/>
                          </a:solidFill>
                          <a:latin typeface="Times New Roman"/>
                        </a:defRPr>
                      </a:pPr>
                      <a:r>
                        <a:t>Báo giá Robot: 650 tr VNĐ</a:t>
                      </a:r>
                      <a:br/>
                      <a:r>
                        <a:t>-&gt; Đổi sang dùng khay DP</a:t>
                      </a:r>
                    </a:p>
                  </a:txBody>
                  <a:tcPr marL="36576" marR="36576" marT="13716" marB="13716" anchor="ctr">
                    <a:solidFill>
                      <a:srgbClr val="E8EEF5"/>
                    </a:solidFill>
                  </a:tcPr>
                </a:tc>
                <a:extLst>
                  <a:ext uri="{0D108BD9-81ED-4DB2-BD59-A6C34878D82A}">
                    <a16:rowId xmlns:a16="http://schemas.microsoft.com/office/drawing/2014/main" val="10001"/>
                  </a:ext>
                </a:extLst>
              </a:tr>
              <a:tr h="655320">
                <a:tc>
                  <a:txBody>
                    <a:bodyPr/>
                    <a:lstStyle/>
                    <a:p>
                      <a:pPr algn="ctr">
                        <a:defRPr sz="1200" b="1">
                          <a:solidFill>
                            <a:srgbClr val="1E242B"/>
                          </a:solidFill>
                          <a:latin typeface="Times New Roman"/>
                        </a:defRPr>
                      </a:pPr>
                      <a:r>
                        <a:t>No.24</a:t>
                      </a:r>
                      <a:br/>
                      <a:r>
                        <a:t>(K4 -&gt; A-2)</a:t>
                      </a:r>
                    </a:p>
                  </a:txBody>
                  <a:tcPr marL="36576" marR="36576" marT="13716" marB="13716" anchor="ctr">
                    <a:solidFill>
                      <a:srgbClr val="E8EEF5"/>
                    </a:solidFill>
                  </a:tcPr>
                </a:tc>
                <a:tc>
                  <a:txBody>
                    <a:bodyPr/>
                    <a:lstStyle/>
                    <a:p>
                      <a:pPr algn="l">
                        <a:defRPr sz="1200">
                          <a:solidFill>
                            <a:srgbClr val="1E242B"/>
                          </a:solidFill>
                          <a:latin typeface="Times New Roman"/>
                        </a:defRPr>
                      </a:pPr>
                      <a:r>
                        <a:t>Kiểm tra nhận diện USB &amp;</a:t>
                      </a:r>
                      <a:br/>
                      <a:r>
                        <a:t>Tọa độ U201 trên Panel</a:t>
                      </a:r>
                    </a:p>
                  </a:txBody>
                  <a:tcPr marL="36576" marR="36576" marT="13716" marB="13716" anchor="ctr">
                    <a:solidFill>
                      <a:srgbClr val="E8EEF5"/>
                    </a:solidFill>
                  </a:tcPr>
                </a:tc>
                <a:tc>
                  <a:txBody>
                    <a:bodyPr/>
                    <a:lstStyle/>
                    <a:p>
                      <a:pPr algn="l">
                        <a:defRPr sz="1200">
                          <a:solidFill>
                            <a:srgbClr val="1E242B"/>
                          </a:solidFill>
                          <a:latin typeface="Times New Roman"/>
                        </a:defRPr>
                      </a:pPr>
                      <a:r>
                        <a:t>Hủy đầu tư Robot USB + chấm U201 (104 triệu / 4.000 USD); thay bằng đọc log U201 qua Host PC (JP No.3) và xác nhận USB khi nạp FW đầu chuyền.</a:t>
                      </a:r>
                    </a:p>
                  </a:txBody>
                  <a:tcPr marL="36576" marR="36576" marT="13716" marB="13716" anchor="ctr">
                    <a:solidFill>
                      <a:srgbClr val="E8EEF5"/>
                    </a:solidFill>
                  </a:tcPr>
                </a:tc>
                <a:tc>
                  <a:txBody>
                    <a:bodyPr/>
                    <a:lstStyle/>
                    <a:p>
                      <a:pPr algn="l">
                        <a:defRPr sz="1200">
                          <a:solidFill>
                            <a:srgbClr val="1E242B"/>
                          </a:solidFill>
                          <a:latin typeface="Times New Roman"/>
                        </a:defRPr>
                      </a:pPr>
                      <a:r>
                        <a:t>Giảm 30s/máy;</a:t>
                      </a:r>
                      <a:br/>
                      <a:r>
                        <a:t>Tiết kiệm 29,6 triệu VNĐ/năm</a:t>
                      </a:r>
                    </a:p>
                  </a:txBody>
                  <a:tcPr marL="36576" marR="36576" marT="13716" marB="13716" anchor="ctr">
                    <a:solidFill>
                      <a:srgbClr val="E8EEF5"/>
                    </a:solidFill>
                  </a:tcPr>
                </a:tc>
                <a:tc>
                  <a:txBody>
                    <a:bodyPr/>
                    <a:lstStyle/>
                    <a:p>
                      <a:pPr algn="l">
                        <a:defRPr sz="1200">
                          <a:solidFill>
                            <a:srgbClr val="1E242B"/>
                          </a:solidFill>
                          <a:latin typeface="Times New Roman"/>
                        </a:defRPr>
                      </a:pPr>
                      <a:r>
                        <a:t>Báo giá Robot: 104 tr VNĐ</a:t>
                      </a:r>
                      <a:br/>
                      <a:r>
                        <a:t>-&gt; Thay bằng Host PC (0đ)</a:t>
                      </a:r>
                    </a:p>
                  </a:txBody>
                  <a:tcPr marL="36576" marR="36576" marT="13716" marB="13716" anchor="ctr">
                    <a:solidFill>
                      <a:srgbClr val="E8EEF5"/>
                    </a:solidFill>
                  </a:tcPr>
                </a:tc>
                <a:extLst>
                  <a:ext uri="{0D108BD9-81ED-4DB2-BD59-A6C34878D82A}">
                    <a16:rowId xmlns:a16="http://schemas.microsoft.com/office/drawing/2014/main" val="10002"/>
                  </a:ext>
                </a:extLst>
              </a:tr>
              <a:tr h="655320">
                <a:tc>
                  <a:txBody>
                    <a:bodyPr/>
                    <a:lstStyle/>
                    <a:p>
                      <a:pPr algn="ctr">
                        <a:defRPr sz="1200" b="1">
                          <a:solidFill>
                            <a:srgbClr val="1E242B"/>
                          </a:solidFill>
                          <a:latin typeface="Times New Roman"/>
                        </a:defRPr>
                      </a:pPr>
                      <a:r>
                        <a:t>No.25</a:t>
                      </a:r>
                      <a:br/>
                      <a:r>
                        <a:t>(K4/5 -&gt; A-2)</a:t>
                      </a:r>
                    </a:p>
                  </a:txBody>
                  <a:tcPr marL="36576" marR="36576" marT="13716" marB="13716" anchor="ctr">
                    <a:solidFill>
                      <a:srgbClr val="EAF7EE"/>
                    </a:solidFill>
                  </a:tcPr>
                </a:tc>
                <a:tc>
                  <a:txBody>
                    <a:bodyPr/>
                    <a:lstStyle/>
                    <a:p>
                      <a:pPr algn="l">
                        <a:defRPr sz="1200">
                          <a:solidFill>
                            <a:srgbClr val="1E242B"/>
                          </a:solidFill>
                          <a:latin typeface="Times New Roman"/>
                        </a:defRPr>
                      </a:pPr>
                      <a:r>
                        <a:t>Lắp khay DP vào máy test</a:t>
                      </a:r>
                      <a:br/>
                      <a:r>
                        <a:t>để quét liên tục + PC chấm</a:t>
                      </a:r>
                    </a:p>
                  </a:txBody>
                  <a:tcPr marL="36576" marR="36576" marT="13716" marB="13716" anchor="ctr">
                    <a:solidFill>
                      <a:srgbClr val="EAF7EE"/>
                    </a:solidFill>
                  </a:tcPr>
                </a:tc>
                <a:tc>
                  <a:txBody>
                    <a:bodyPr/>
                    <a:lstStyle/>
                    <a:p>
                      <a:pPr algn="l">
                        <a:defRPr sz="1200">
                          <a:solidFill>
                            <a:srgbClr val="1E242B"/>
                          </a:solidFill>
                          <a:latin typeface="Times New Roman"/>
                        </a:defRPr>
                      </a:pPr>
                      <a:r>
                        <a:t>Lắp bổ sung bộ nạp DP lên máy thực nghiệm; đặt cả xấp bản in vào khay DP để máy tự kéo quét liên tục, gửi ảnh về PC tự động chấm điểm.</a:t>
                      </a:r>
                    </a:p>
                  </a:txBody>
                  <a:tcPr marL="36576" marR="36576" marT="13716" marB="13716" anchor="ctr">
                    <a:solidFill>
                      <a:srgbClr val="EAF7EE"/>
                    </a:solidFill>
                  </a:tcPr>
                </a:tc>
                <a:tc>
                  <a:txBody>
                    <a:bodyPr/>
                    <a:lstStyle/>
                    <a:p>
                      <a:pPr algn="l">
                        <a:defRPr sz="1200">
                          <a:solidFill>
                            <a:srgbClr val="1E242B"/>
                          </a:solidFill>
                          <a:latin typeface="Times New Roman"/>
                        </a:defRPr>
                      </a:pPr>
                      <a:r>
                        <a:t>Giảm 110s đặt bản thảo K5;</a:t>
                      </a:r>
                      <a:br/>
                      <a:r>
                        <a:t>Rút ngắn mạnh cụm 6 người</a:t>
                      </a:r>
                    </a:p>
                  </a:txBody>
                  <a:tcPr marL="36576" marR="36576" marT="13716" marB="13716" anchor="ctr">
                    <a:solidFill>
                      <a:srgbClr val="EAF7EE"/>
                    </a:solidFill>
                  </a:tcPr>
                </a:tc>
                <a:tc>
                  <a:txBody>
                    <a:bodyPr/>
                    <a:lstStyle/>
                    <a:p>
                      <a:pPr algn="l">
                        <a:defRPr sz="1200">
                          <a:solidFill>
                            <a:srgbClr val="1E242B"/>
                          </a:solidFill>
                          <a:latin typeface="Times New Roman"/>
                        </a:defRPr>
                      </a:pPr>
                      <a:r>
                        <a:t>Đang lấy báo giá</a:t>
                      </a:r>
                      <a:br/>
                      <a:r>
                        <a:t>(Đang kiểm chứng độ nét)</a:t>
                      </a:r>
                    </a:p>
                  </a:txBody>
                  <a:tcPr marL="36576" marR="36576" marT="13716" marB="13716" anchor="ctr">
                    <a:solidFill>
                      <a:srgbClr val="EAF7EE"/>
                    </a:solidFill>
                  </a:tcPr>
                </a:tc>
                <a:extLst>
                  <a:ext uri="{0D108BD9-81ED-4DB2-BD59-A6C34878D82A}">
                    <a16:rowId xmlns:a16="http://schemas.microsoft.com/office/drawing/2014/main" val="10003"/>
                  </a:ext>
                </a:extLst>
              </a:tr>
              <a:tr h="655320">
                <a:tc>
                  <a:txBody>
                    <a:bodyPr/>
                    <a:lstStyle/>
                    <a:p>
                      <a:pPr algn="ctr">
                        <a:defRPr sz="1200" b="1">
                          <a:solidFill>
                            <a:srgbClr val="1E242B"/>
                          </a:solidFill>
                          <a:latin typeface="Times New Roman"/>
                        </a:defRPr>
                      </a:pPr>
                      <a:r>
                        <a:t>No.27</a:t>
                      </a:r>
                      <a:br/>
                      <a:r>
                        <a:t>(K6/7 -&gt; A-3)</a:t>
                      </a:r>
                    </a:p>
                  </a:txBody>
                  <a:tcPr marL="36576" marR="36576" marT="13716" marB="13716" anchor="ctr">
                    <a:solidFill>
                      <a:srgbClr val="EAF7EE"/>
                    </a:solidFill>
                  </a:tcPr>
                </a:tc>
                <a:tc>
                  <a:txBody>
                    <a:bodyPr/>
                    <a:lstStyle/>
                    <a:p>
                      <a:pPr algn="l">
                        <a:defRPr sz="1200">
                          <a:solidFill>
                            <a:srgbClr val="1E242B"/>
                          </a:solidFill>
                          <a:latin typeface="Times New Roman"/>
                        </a:defRPr>
                      </a:pPr>
                      <a:r>
                        <a:t>Camera HIKROBOT đo nồng</a:t>
                      </a:r>
                      <a:br/>
                      <a:r>
                        <a:t>độ màu, đo lề bản in &amp; PPT</a:t>
                      </a:r>
                    </a:p>
                  </a:txBody>
                  <a:tcPr marL="36576" marR="36576" marT="13716" marB="13716" anchor="ctr">
                    <a:solidFill>
                      <a:srgbClr val="EAF7EE"/>
                    </a:solidFill>
                  </a:tcPr>
                </a:tc>
                <a:tc>
                  <a:txBody>
                    <a:bodyPr/>
                    <a:lstStyle/>
                    <a:p>
                      <a:pPr algn="l">
                        <a:defRPr sz="1200">
                          <a:solidFill>
                            <a:srgbClr val="1E242B"/>
                          </a:solidFill>
                          <a:latin typeface="Times New Roman"/>
                        </a:defRPr>
                      </a:pPr>
                      <a:r>
                        <a:t>Buồng chụp Camera công nghiệp: Chụp và phân tích nồng độ 3 tờ trong 15s (thay vì đo tay 192s); tích hợp thuật toán tự động đo lề bản in (-28s).</a:t>
                      </a:r>
                    </a:p>
                  </a:txBody>
                  <a:tcPr marL="36576" marR="36576" marT="13716" marB="13716" anchor="ctr">
                    <a:solidFill>
                      <a:srgbClr val="EAF7EE"/>
                    </a:solidFill>
                  </a:tcPr>
                </a:tc>
                <a:tc>
                  <a:txBody>
                    <a:bodyPr/>
                    <a:lstStyle/>
                    <a:p>
                      <a:pPr algn="l">
                        <a:defRPr sz="1200">
                          <a:solidFill>
                            <a:srgbClr val="1E242B"/>
                          </a:solidFill>
                          <a:latin typeface="Times New Roman"/>
                        </a:defRPr>
                      </a:pPr>
                      <a:r>
                        <a:t>Giảm 177s đo nồng độ;</a:t>
                      </a:r>
                      <a:br/>
                      <a:r>
                        <a:t>Giảm 205s~215s khi gộp đo lề;</a:t>
                      </a:r>
                      <a:br/>
                      <a:r>
                        <a:t>Giảm ~2 người cụm ảnh</a:t>
                      </a:r>
                    </a:p>
                  </a:txBody>
                  <a:tcPr marL="36576" marR="36576" marT="13716" marB="13716" anchor="ctr">
                    <a:solidFill>
                      <a:srgbClr val="EAF7EE"/>
                    </a:solidFill>
                  </a:tcPr>
                </a:tc>
                <a:tc>
                  <a:txBody>
                    <a:bodyPr/>
                    <a:lstStyle/>
                    <a:p>
                      <a:pPr algn="l">
                        <a:defRPr sz="1200">
                          <a:solidFill>
                            <a:srgbClr val="1E242B"/>
                          </a:solidFill>
                          <a:latin typeface="Times New Roman"/>
                        </a:defRPr>
                      </a:pPr>
                      <a:r>
                        <a:t>Đang lấy báo giá</a:t>
                      </a:r>
                      <a:br/>
                      <a:r>
                        <a:t>(Đang chế tạo module thử)</a:t>
                      </a:r>
                    </a:p>
                  </a:txBody>
                  <a:tcPr marL="36576" marR="36576" marT="13716" marB="13716" anchor="ctr">
                    <a:solidFill>
                      <a:srgbClr val="EAF7EE"/>
                    </a:solidFill>
                  </a:tcPr>
                </a:tc>
                <a:extLst>
                  <a:ext uri="{0D108BD9-81ED-4DB2-BD59-A6C34878D82A}">
                    <a16:rowId xmlns:a16="http://schemas.microsoft.com/office/drawing/2014/main" val="10004"/>
                  </a:ext>
                </a:extLst>
              </a:tr>
              <a:tr h="655320">
                <a:tc>
                  <a:txBody>
                    <a:bodyPr/>
                    <a:lstStyle/>
                    <a:p>
                      <a:pPr algn="ctr">
                        <a:defRPr sz="1200" b="1">
                          <a:solidFill>
                            <a:srgbClr val="1E242B"/>
                          </a:solidFill>
                          <a:latin typeface="Times New Roman"/>
                        </a:defRPr>
                      </a:pPr>
                      <a:r>
                        <a:t>No.28</a:t>
                      </a:r>
                      <a:br/>
                      <a:r>
                        <a:t>(K8 -&gt; A-4)</a:t>
                      </a:r>
                    </a:p>
                  </a:txBody>
                  <a:tcPr marL="36576" marR="36576" marT="13716" marB="13716" anchor="ctr">
                    <a:solidFill>
                      <a:srgbClr val="FFFFFF"/>
                    </a:solidFill>
                  </a:tcPr>
                </a:tc>
                <a:tc>
                  <a:txBody>
                    <a:bodyPr/>
                    <a:lstStyle/>
                    <a:p>
                      <a:pPr algn="l">
                        <a:defRPr sz="1200">
                          <a:solidFill>
                            <a:srgbClr val="1E242B"/>
                          </a:solidFill>
                          <a:latin typeface="Times New Roman"/>
                        </a:defRPr>
                      </a:pPr>
                      <a:r>
                        <a:t>Thiết lập xuất hàng mạng &amp;</a:t>
                      </a:r>
                      <a:br/>
                      <a:r>
                        <a:t>AI phân tích video thao tác</a:t>
                      </a:r>
                    </a:p>
                  </a:txBody>
                  <a:tcPr marL="36576" marR="36576" marT="13716" marB="13716" anchor="ctr">
                    <a:solidFill>
                      <a:srgbClr val="FFFFFF"/>
                    </a:solidFill>
                  </a:tcPr>
                </a:tc>
                <a:tc>
                  <a:txBody>
                    <a:bodyPr/>
                    <a:lstStyle/>
                    <a:p>
                      <a:pPr algn="l">
                        <a:defRPr sz="1200">
                          <a:solidFill>
                            <a:srgbClr val="1E242B"/>
                          </a:solidFill>
                          <a:latin typeface="Times New Roman"/>
                        </a:defRPr>
                      </a:pPr>
                      <a:r>
                        <a:t>Tự động gửi lệnh thiết lập xuất hàng (FinalSetup) từ Host PC qua mạng nội bộ (-50s); dùng phần mềm AI bóc tách động tác thừa qua video.</a:t>
                      </a:r>
                    </a:p>
                  </a:txBody>
                  <a:tcPr marL="36576" marR="36576" marT="13716" marB="13716" anchor="ctr">
                    <a:solidFill>
                      <a:srgbClr val="FFFFFF"/>
                    </a:solidFill>
                  </a:tcPr>
                </a:tc>
                <a:tc>
                  <a:txBody>
                    <a:bodyPr/>
                    <a:lstStyle/>
                    <a:p>
                      <a:pPr algn="l">
                        <a:defRPr sz="1200">
                          <a:solidFill>
                            <a:srgbClr val="1E242B"/>
                          </a:solidFill>
                          <a:latin typeface="Times New Roman"/>
                        </a:defRPr>
                      </a:pPr>
                      <a:r>
                        <a:t>Giảm 50s tại trạm xuất hàng;</a:t>
                      </a:r>
                      <a:br/>
                      <a:r>
                        <a:t>Chuẩn hóa thao tác toàn chuyền</a:t>
                      </a:r>
                    </a:p>
                  </a:txBody>
                  <a:tcPr marL="36576" marR="36576" marT="13716" marB="13716" anchor="ctr">
                    <a:solidFill>
                      <a:srgbClr val="FFFFFF"/>
                    </a:solidFill>
                  </a:tcPr>
                </a:tc>
                <a:tc>
                  <a:txBody>
                    <a:bodyPr/>
                    <a:lstStyle/>
                    <a:p>
                      <a:pPr algn="l">
                        <a:defRPr sz="1200" b="1">
                          <a:solidFill>
                            <a:srgbClr val="1E6E3E"/>
                          </a:solidFill>
                          <a:latin typeface="Times New Roman"/>
                        </a:defRPr>
                      </a:pPr>
                      <a:r>
                        <a:t>Đang lấy báo giá</a:t>
                      </a:r>
                      <a:br/>
                      <a:r>
                        <a:t>(Triển khai ngay lệnh mạng)</a:t>
                      </a:r>
                    </a:p>
                  </a:txBody>
                  <a:tcPr marL="36576" marR="36576" marT="13716" marB="13716" anchor="ctr">
                    <a:solidFill>
                      <a:srgbClr val="FFFFFF"/>
                    </a:solidFill>
                  </a:tcPr>
                </a:tc>
                <a:extLst>
                  <a:ext uri="{0D108BD9-81ED-4DB2-BD59-A6C34878D82A}">
                    <a16:rowId xmlns:a16="http://schemas.microsoft.com/office/drawing/2014/main" val="10005"/>
                  </a:ext>
                </a:extLst>
              </a:tr>
            </a:tbl>
          </a:graphicData>
        </a:graphic>
      </p:graphicFrame>
      <p:sp>
        <p:nvSpPr>
          <p:cNvPr id="8" name="Rectangle 7"/>
          <p:cNvSpPr/>
          <p:nvPr/>
        </p:nvSpPr>
        <p:spPr>
          <a:xfrm>
            <a:off x="256032" y="5257800"/>
            <a:ext cx="11679631" cy="1280160"/>
          </a:xfrm>
          <a:prstGeom prst="rect">
            <a:avLst/>
          </a:prstGeom>
          <a:solidFill>
            <a:srgbClr val="EAF7EE"/>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6032" y="5257800"/>
            <a:ext cx="11679631"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TỔNG KẾT TỐI ƯU CHI PHÍ SAU DR4: THAY ROBOT ĐẮT TIỀN BẰNG KHAY DP VÀ LỆNH MẠNG HOST PC</a:t>
            </a:r>
          </a:p>
        </p:txBody>
      </p:sp>
      <p:sp>
        <p:nvSpPr>
          <p:cNvPr id="10" name="TextBox 9"/>
          <p:cNvSpPr txBox="1"/>
          <p:nvPr/>
        </p:nvSpPr>
        <p:spPr>
          <a:xfrm>
            <a:off x="347472" y="5641848"/>
            <a:ext cx="11496751" cy="859536"/>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Tổng 3 đề án có giá ban đầu: No.22 (101,69 triệu) + No.23 Robot ISU (650 triệu) + No.24 Robot USB/U201 (104 triệu) = 855,69 triệu VNĐ (32.911,15 USD).</a:t>
            </a:r>
          </a:p>
          <a:p>
            <a:pPr>
              <a:spcAft>
                <a:spcPts val="300"/>
              </a:spcAft>
              <a:defRPr sz="1200">
                <a:solidFill>
                  <a:srgbClr val="1E242B"/>
                </a:solidFill>
                <a:latin typeface="Times New Roman"/>
              </a:defRPr>
            </a:pPr>
            <a:r>
              <a:t>Phương án tối ưu sau DR4: Hủy 2 Robot đắt tiền (No.23 và No.24 tiết kiệm 754 triệu VNĐ), thay bằng khay nạp DP No.25 và đọc log Host PC. Đợt 1 ưu tiên duyệt trước JIG an toàn điện No.22 là 101,69 triệu VNĐ; Đợt 2 tập trung kinh phí cho Camera No.27 (-177s) và khay DP No.25.</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4.4 ĐỀ ÁN VN BỔ SUNG</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Chi tiết 9 đề án Việt Nam bổ sung đợt 2 (No.29 ~ No.37) và Thực tích PDCA tháng 10/2026</a:t>
            </a:r>
          </a:p>
        </p:txBody>
      </p:sp>
      <p:sp>
        <p:nvSpPr>
          <p:cNvPr id="5" name="TextBox 4"/>
          <p:cNvSpPr txBox="1"/>
          <p:nvPr/>
        </p:nvSpPr>
        <p:spPr>
          <a:xfrm>
            <a:off x="11292840" y="128016"/>
            <a:ext cx="731520" cy="347472"/>
          </a:xfrm>
          <a:prstGeom prst="rect">
            <a:avLst/>
          </a:prstGeom>
          <a:noFill/>
        </p:spPr>
        <p:txBody>
          <a:bodyPr wrap="none">
            <a:spAutoFit/>
          </a:bodyPr>
          <a:lstStyle/>
          <a:p>
            <a:pPr>
              <a:defRPr sz="1200">
                <a:solidFill>
                  <a:srgbClr val="D0D8E8"/>
                </a:solidFill>
                <a:latin typeface="Times New Roman"/>
              </a:defRPr>
            </a:pPr>
            <a:r>
              <a:t>10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9 đề án bổ sung đợt 2 tập trung chẩn đoán phần mềm và gộp tờ in với chi phí thấp. Trong tháng 10/2026, xưởng đã xóa 4 bước thao tác trên bảng SOP, rút ngắn 4,32s mỗi máy.</a:t>
            </a:r>
          </a:p>
        </p:txBody>
      </p:sp>
      <p:graphicFrame>
        <p:nvGraphicFramePr>
          <p:cNvPr id="7" name="Table 6"/>
          <p:cNvGraphicFramePr>
            <a:graphicFrameLocks noGrp="1"/>
          </p:cNvGraphicFramePr>
          <p:nvPr/>
        </p:nvGraphicFramePr>
        <p:xfrm>
          <a:off x="256032" y="1234440"/>
          <a:ext cx="11679631" cy="525780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4754880">
                  <a:extLst>
                    <a:ext uri="{9D8B030D-6E8A-4147-A177-3AD203B41FA5}">
                      <a16:colId xmlns:a16="http://schemas.microsoft.com/office/drawing/2014/main" val="20002"/>
                    </a:ext>
                  </a:extLst>
                </a:gridCol>
                <a:gridCol w="2444191">
                  <a:extLst>
                    <a:ext uri="{9D8B030D-6E8A-4147-A177-3AD203B41FA5}">
                      <a16:colId xmlns:a16="http://schemas.microsoft.com/office/drawing/2014/main" val="20003"/>
                    </a:ext>
                  </a:extLst>
                </a:gridCol>
              </a:tblGrid>
              <a:tr h="657225">
                <a:tc>
                  <a:txBody>
                    <a:bodyPr/>
                    <a:lstStyle/>
                    <a:p>
                      <a:pPr algn="ctr">
                        <a:defRPr sz="1250" b="1">
                          <a:solidFill>
                            <a:srgbClr val="FFFFFF"/>
                          </a:solidFill>
                          <a:latin typeface="Times New Roman"/>
                        </a:defRPr>
                      </a:pPr>
                      <a:r>
                        <a:t>Mã đề án</a:t>
                      </a:r>
                      <a:br/>
                      <a:r>
                        <a:t>(Trạm)</a:t>
                      </a:r>
                    </a:p>
                  </a:txBody>
                  <a:tcPr marL="36576" marR="36576" marT="13716" marB="13716" anchor="ctr">
                    <a:solidFill>
                      <a:srgbClr val="1B365D"/>
                    </a:solidFill>
                  </a:tcPr>
                </a:tc>
                <a:tc>
                  <a:txBody>
                    <a:bodyPr/>
                    <a:lstStyle/>
                    <a:p>
                      <a:pPr algn="ctr">
                        <a:defRPr sz="1250" b="1">
                          <a:solidFill>
                            <a:srgbClr val="FFFFFF"/>
                          </a:solidFill>
                          <a:latin typeface="Times New Roman"/>
                        </a:defRPr>
                      </a:pPr>
                      <a:r>
                        <a:t>Tên đề án bổ sung của Việt Nam</a:t>
                      </a:r>
                    </a:p>
                  </a:txBody>
                  <a:tcPr marL="36576" marR="36576" marT="13716" marB="13716" anchor="ctr">
                    <a:solidFill>
                      <a:srgbClr val="1B365D"/>
                    </a:solidFill>
                  </a:tcPr>
                </a:tc>
                <a:tc>
                  <a:txBody>
                    <a:bodyPr/>
                    <a:lstStyle/>
                    <a:p>
                      <a:pPr algn="ctr">
                        <a:defRPr sz="1250" b="1">
                          <a:solidFill>
                            <a:srgbClr val="FFFFFF"/>
                          </a:solidFill>
                          <a:latin typeface="Times New Roman"/>
                        </a:defRPr>
                      </a:pPr>
                      <a:r>
                        <a:t>Nội dung cải tiến &amp; Tích hợp bản in / câu lệnh</a:t>
                      </a:r>
                    </a:p>
                  </a:txBody>
                  <a:tcPr marL="36576" marR="36576" marT="13716" marB="13716" anchor="ctr">
                    <a:solidFill>
                      <a:srgbClr val="1B365D"/>
                    </a:solidFill>
                  </a:tcPr>
                </a:tc>
                <a:tc>
                  <a:txBody>
                    <a:bodyPr/>
                    <a:lstStyle/>
                    <a:p>
                      <a:pPr algn="ctr">
                        <a:defRPr sz="1250" b="1">
                          <a:solidFill>
                            <a:srgbClr val="FFFFFF"/>
                          </a:solidFill>
                          <a:latin typeface="Times New Roman"/>
                        </a:defRPr>
                      </a:pPr>
                      <a:r>
                        <a:t>Hiệu quả &amp; Trạng thái</a:t>
                      </a:r>
                    </a:p>
                  </a:txBody>
                  <a:tcPr marL="36576" marR="36576" marT="13716" marB="13716" anchor="ctr">
                    <a:solidFill>
                      <a:srgbClr val="1B365D"/>
                    </a:solidFill>
                  </a:tcPr>
                </a:tc>
                <a:extLst>
                  <a:ext uri="{0D108BD9-81ED-4DB2-BD59-A6C34878D82A}">
                    <a16:rowId xmlns:a16="http://schemas.microsoft.com/office/drawing/2014/main" val="10000"/>
                  </a:ext>
                </a:extLst>
              </a:tr>
              <a:tr h="657225">
                <a:tc>
                  <a:txBody>
                    <a:bodyPr/>
                    <a:lstStyle/>
                    <a:p>
                      <a:pPr algn="ctr">
                        <a:defRPr sz="1200" b="1">
                          <a:solidFill>
                            <a:srgbClr val="1E242B"/>
                          </a:solidFill>
                          <a:latin typeface="Times New Roman"/>
                        </a:defRPr>
                      </a:pPr>
                      <a:r>
                        <a:t>No.29 &amp; 30</a:t>
                      </a:r>
                      <a:br/>
                      <a:r>
                        <a:t>(A-1 / K1)</a:t>
                      </a:r>
                    </a:p>
                  </a:txBody>
                  <a:tcPr marL="36576" marR="36576" marT="13716" marB="13716" anchor="ctr">
                    <a:solidFill>
                      <a:srgbClr val="EAF7EE"/>
                    </a:solidFill>
                  </a:tcPr>
                </a:tc>
                <a:tc>
                  <a:txBody>
                    <a:bodyPr/>
                    <a:lstStyle/>
                    <a:p>
                      <a:pPr algn="l">
                        <a:defRPr sz="1200">
                          <a:solidFill>
                            <a:srgbClr val="1E242B"/>
                          </a:solidFill>
                          <a:latin typeface="Times New Roman"/>
                        </a:defRPr>
                      </a:pPr>
                      <a:r>
                        <a:t>Tự kiểm tra hộp mực (No.29) &amp;</a:t>
                      </a:r>
                      <a:br/>
                      <a:r>
                        <a:t>Đọc Barcode, bỏ WTB U155 (No.30)</a:t>
                      </a:r>
                    </a:p>
                  </a:txBody>
                  <a:tcPr marL="36576" marR="36576" marT="13716" marB="13716" anchor="ctr">
                    <a:solidFill>
                      <a:srgbClr val="EAF7EE"/>
                    </a:solidFill>
                  </a:tcPr>
                </a:tc>
                <a:tc>
                  <a:txBody>
                    <a:bodyPr/>
                    <a:lstStyle/>
                    <a:p>
                      <a:pPr algn="l">
                        <a:defRPr sz="1200">
                          <a:solidFill>
                            <a:srgbClr val="1E242B"/>
                          </a:solidFill>
                          <a:latin typeface="Times New Roman"/>
                        </a:defRPr>
                      </a:pPr>
                      <a:r>
                        <a:t>Cải tiến FW nhận diện hộp mực không cần lắp gá; tự động đọc Barcode; thêm Push Switch và đo điện trở Sub-Assy xóa hẳn cài đặt U155.</a:t>
                      </a:r>
                    </a:p>
                  </a:txBody>
                  <a:tcPr marL="36576" marR="36576" marT="13716" marB="13716" anchor="ctr">
                    <a:solidFill>
                      <a:srgbClr val="EAF7EE"/>
                    </a:solidFill>
                  </a:tcPr>
                </a:tc>
                <a:tc>
                  <a:txBody>
                    <a:bodyPr/>
                    <a:lstStyle/>
                    <a:p>
                      <a:pPr algn="l">
                        <a:defRPr sz="1200">
                          <a:solidFill>
                            <a:srgbClr val="1E242B"/>
                          </a:solidFill>
                          <a:latin typeface="Times New Roman"/>
                        </a:defRPr>
                      </a:pPr>
                      <a:r>
                        <a:t>Bỏ lắp gá mực (0đ thiết bị);</a:t>
                      </a:r>
                      <a:br/>
                      <a:r>
                        <a:t>Giảm 29s chuẩn (Đã duyệt xóa U155)</a:t>
                      </a:r>
                    </a:p>
                  </a:txBody>
                  <a:tcPr marL="36576" marR="36576" marT="13716" marB="13716" anchor="ctr">
                    <a:solidFill>
                      <a:srgbClr val="EAF7EE"/>
                    </a:solidFill>
                  </a:tcPr>
                </a:tc>
                <a:extLst>
                  <a:ext uri="{0D108BD9-81ED-4DB2-BD59-A6C34878D82A}">
                    <a16:rowId xmlns:a16="http://schemas.microsoft.com/office/drawing/2014/main" val="10001"/>
                  </a:ext>
                </a:extLst>
              </a:tr>
              <a:tr h="657225">
                <a:tc>
                  <a:txBody>
                    <a:bodyPr/>
                    <a:lstStyle/>
                    <a:p>
                      <a:pPr algn="ctr">
                        <a:defRPr sz="1200" b="1">
                          <a:solidFill>
                            <a:srgbClr val="1E242B"/>
                          </a:solidFill>
                          <a:latin typeface="Times New Roman"/>
                        </a:defRPr>
                      </a:pPr>
                      <a:r>
                        <a:t>No.31</a:t>
                      </a:r>
                      <a:br/>
                      <a:r>
                        <a:t>(A-2 / A-5)</a:t>
                      </a:r>
                    </a:p>
                  </a:txBody>
                  <a:tcPr marL="36576" marR="36576" marT="13716" marB="13716" anchor="ctr">
                    <a:solidFill>
                      <a:srgbClr val="F7F9FC"/>
                    </a:solidFill>
                  </a:tcPr>
                </a:tc>
                <a:tc>
                  <a:txBody>
                    <a:bodyPr/>
                    <a:lstStyle/>
                    <a:p>
                      <a:pPr algn="l">
                        <a:defRPr sz="1200">
                          <a:solidFill>
                            <a:srgbClr val="1E242B"/>
                          </a:solidFill>
                          <a:latin typeface="Times New Roman"/>
                        </a:defRPr>
                      </a:pPr>
                      <a:r>
                        <a:t>Tích hợp 2Way Clutch vào Color Regist</a:t>
                      </a:r>
                      <a:br/>
                      <a:r>
                        <a:t>-&gt; Hủy tờ in RCG trước U950</a:t>
                      </a:r>
                    </a:p>
                  </a:txBody>
                  <a:tcPr marL="36576" marR="36576" marT="13716" marB="13716" anchor="ctr">
                    <a:solidFill>
                      <a:srgbClr val="F7F9FC"/>
                    </a:solidFill>
                  </a:tcPr>
                </a:tc>
                <a:tc>
                  <a:txBody>
                    <a:bodyPr/>
                    <a:lstStyle/>
                    <a:p>
                      <a:pPr algn="l">
                        <a:defRPr sz="1200">
                          <a:solidFill>
                            <a:srgbClr val="1E242B"/>
                          </a:solidFill>
                          <a:latin typeface="Times New Roman"/>
                        </a:defRPr>
                      </a:pPr>
                      <a:r>
                        <a:t>Kiểm tra 2Way Clutch chung vào tờ Color Regist để xóa hẳn tờ RCG trước U950; làm cơ cấu thử tải khay giấy tự động.</a:t>
                      </a:r>
                    </a:p>
                  </a:txBody>
                  <a:tcPr marL="36576" marR="36576" marT="13716" marB="13716" anchor="ctr">
                    <a:solidFill>
                      <a:srgbClr val="F7F9FC"/>
                    </a:solidFill>
                  </a:tcPr>
                </a:tc>
                <a:tc>
                  <a:txBody>
                    <a:bodyPr/>
                    <a:lstStyle/>
                    <a:p>
                      <a:pPr algn="l">
                        <a:defRPr sz="1200">
                          <a:solidFill>
                            <a:srgbClr val="1E242B"/>
                          </a:solidFill>
                          <a:latin typeface="Times New Roman"/>
                        </a:defRPr>
                      </a:pPr>
                      <a:r>
                        <a:t>Giảm 17s~25s (Bỏ 1 tờ in RCG);</a:t>
                      </a:r>
                      <a:br/>
                      <a:r>
                        <a:t>Giảm 20s thử khay có tải</a:t>
                      </a:r>
                    </a:p>
                  </a:txBody>
                  <a:tcPr marL="36576" marR="36576" marT="13716" marB="13716" anchor="ctr">
                    <a:solidFill>
                      <a:srgbClr val="F7F9FC"/>
                    </a:solidFill>
                  </a:tcPr>
                </a:tc>
                <a:extLst>
                  <a:ext uri="{0D108BD9-81ED-4DB2-BD59-A6C34878D82A}">
                    <a16:rowId xmlns:a16="http://schemas.microsoft.com/office/drawing/2014/main" val="10002"/>
                  </a:ext>
                </a:extLst>
              </a:tr>
              <a:tr h="657225">
                <a:tc>
                  <a:txBody>
                    <a:bodyPr/>
                    <a:lstStyle/>
                    <a:p>
                      <a:pPr algn="ctr">
                        <a:defRPr sz="1200" b="1">
                          <a:solidFill>
                            <a:srgbClr val="1E242B"/>
                          </a:solidFill>
                          <a:latin typeface="Times New Roman"/>
                        </a:defRPr>
                      </a:pPr>
                      <a:r>
                        <a:t>No.32</a:t>
                      </a:r>
                      <a:br/>
                      <a:r>
                        <a:t>(A-2 / A-7)</a:t>
                      </a:r>
                    </a:p>
                  </a:txBody>
                  <a:tcPr marL="36576" marR="36576" marT="13716" marB="13716" anchor="ctr">
                    <a:solidFill>
                      <a:srgbClr val="FFFFFF"/>
                    </a:solidFill>
                  </a:tcPr>
                </a:tc>
                <a:tc>
                  <a:txBody>
                    <a:bodyPr/>
                    <a:lstStyle/>
                    <a:p>
                      <a:pPr algn="l">
                        <a:defRPr sz="1200">
                          <a:solidFill>
                            <a:srgbClr val="1E242B"/>
                          </a:solidFill>
                          <a:latin typeface="Times New Roman"/>
                        </a:defRPr>
                      </a:pPr>
                      <a:r>
                        <a:t>Rút ngắn Aging U950 (285s) &amp;</a:t>
                      </a:r>
                      <a:br/>
                      <a:r>
                        <a:t>Kiểm tra Option không cần cắm cáp</a:t>
                      </a:r>
                    </a:p>
                  </a:txBody>
                  <a:tcPr marL="36576" marR="36576" marT="13716" marB="13716" anchor="ctr">
                    <a:solidFill>
                      <a:srgbClr val="FFFFFF"/>
                    </a:solidFill>
                  </a:tcPr>
                </a:tc>
                <a:tc>
                  <a:txBody>
                    <a:bodyPr/>
                    <a:lstStyle/>
                    <a:p>
                      <a:pPr algn="l">
                        <a:defRPr sz="1200">
                          <a:solidFill>
                            <a:srgbClr val="1E242B"/>
                          </a:solidFill>
                          <a:latin typeface="Times New Roman"/>
                        </a:defRPr>
                      </a:pPr>
                      <a:r>
                        <a:t>Rà soát lại thông số kỹ thuật để rút ngắn chu kỳ Aging U950 (285s); cải tiến FW tự chẩn đoán kết nối Option không cần cắm dây.</a:t>
                      </a:r>
                    </a:p>
                  </a:txBody>
                  <a:tcPr marL="36576" marR="36576" marT="13716" marB="13716" anchor="ctr">
                    <a:solidFill>
                      <a:srgbClr val="FFFFFF"/>
                    </a:solidFill>
                  </a:tcPr>
                </a:tc>
                <a:tc>
                  <a:txBody>
                    <a:bodyPr/>
                    <a:lstStyle/>
                    <a:p>
                      <a:pPr algn="l">
                        <a:defRPr sz="1200">
                          <a:solidFill>
                            <a:srgbClr val="1E242B"/>
                          </a:solidFill>
                          <a:latin typeface="Times New Roman"/>
                        </a:defRPr>
                      </a:pPr>
                      <a:r>
                        <a:t>Rút ngắn chu kỳ chờ Aging 285s;</a:t>
                      </a:r>
                      <a:br/>
                      <a:r>
                        <a:t>Đang xem xét cùng Thiết kế JP</a:t>
                      </a:r>
                    </a:p>
                  </a:txBody>
                  <a:tcPr marL="36576" marR="36576" marT="13716" marB="13716" anchor="ctr">
                    <a:solidFill>
                      <a:srgbClr val="FFFFFF"/>
                    </a:solidFill>
                  </a:tcPr>
                </a:tc>
                <a:extLst>
                  <a:ext uri="{0D108BD9-81ED-4DB2-BD59-A6C34878D82A}">
                    <a16:rowId xmlns:a16="http://schemas.microsoft.com/office/drawing/2014/main" val="10003"/>
                  </a:ext>
                </a:extLst>
              </a:tr>
              <a:tr h="657225">
                <a:tc>
                  <a:txBody>
                    <a:bodyPr/>
                    <a:lstStyle/>
                    <a:p>
                      <a:pPr algn="ctr">
                        <a:defRPr sz="1200" b="1">
                          <a:solidFill>
                            <a:srgbClr val="1E242B"/>
                          </a:solidFill>
                          <a:latin typeface="Times New Roman"/>
                        </a:defRPr>
                      </a:pPr>
                      <a:r>
                        <a:t>No.33</a:t>
                      </a:r>
                      <a:br/>
                      <a:r>
                        <a:t>(A-3 / A-8)</a:t>
                      </a:r>
                    </a:p>
                  </a:txBody>
                  <a:tcPr marL="36576" marR="36576" marT="13716" marB="13716" anchor="ctr">
                    <a:solidFill>
                      <a:srgbClr val="EAF7EE"/>
                    </a:solidFill>
                  </a:tcPr>
                </a:tc>
                <a:tc>
                  <a:txBody>
                    <a:bodyPr/>
                    <a:lstStyle/>
                    <a:p>
                      <a:pPr algn="l">
                        <a:defRPr sz="1200">
                          <a:solidFill>
                            <a:srgbClr val="1E242B"/>
                          </a:solidFill>
                          <a:latin typeface="Times New Roman"/>
                        </a:defRPr>
                      </a:pPr>
                      <a:r>
                        <a:t>Gộp RCG Ledger vào Color Regist;</a:t>
                      </a:r>
                      <a:br/>
                      <a:r>
                        <a:t>Chuyển lắp 6 vỏ ngoài về Lắp ráp</a:t>
                      </a:r>
                    </a:p>
                  </a:txBody>
                  <a:tcPr marL="36576" marR="36576" marT="13716" marB="13716" anchor="ctr">
                    <a:solidFill>
                      <a:srgbClr val="EAF7EE"/>
                    </a:solidFill>
                  </a:tcPr>
                </a:tc>
                <a:tc>
                  <a:txBody>
                    <a:bodyPr/>
                    <a:lstStyle/>
                    <a:p>
                      <a:pPr algn="l">
                        <a:defRPr sz="1200">
                          <a:solidFill>
                            <a:srgbClr val="1E242B"/>
                          </a:solidFill>
                          <a:latin typeface="Times New Roman"/>
                        </a:defRPr>
                      </a:pPr>
                      <a:r>
                        <a:t>Gộp đo góc vuông Ledger vào tờ Color Regist để xóa tờ Ledger; chuyển nguyên công lắp 6 tấm vỏ ngoài về cuối chuyền Lắp ráp.</a:t>
                      </a:r>
                    </a:p>
                  </a:txBody>
                  <a:tcPr marL="36576" marR="36576" marT="13716" marB="13716" anchor="ctr">
                    <a:solidFill>
                      <a:srgbClr val="EAF7EE"/>
                    </a:solidFill>
                  </a:tcPr>
                </a:tc>
                <a:tc>
                  <a:txBody>
                    <a:bodyPr/>
                    <a:lstStyle/>
                    <a:p>
                      <a:pPr algn="l">
                        <a:defRPr sz="1200">
                          <a:solidFill>
                            <a:srgbClr val="1E242B"/>
                          </a:solidFill>
                          <a:latin typeface="Times New Roman"/>
                        </a:defRPr>
                      </a:pPr>
                      <a:r>
                        <a:t>Giảm 1 tờ in (RCG Ledger: -32s);</a:t>
                      </a:r>
                      <a:br/>
                      <a:r>
                        <a:t>Chuyển 48s~90s lắp vỏ về Lắp ráp</a:t>
                      </a:r>
                    </a:p>
                  </a:txBody>
                  <a:tcPr marL="36576" marR="36576" marT="13716" marB="13716" anchor="ctr">
                    <a:solidFill>
                      <a:srgbClr val="EAF7EE"/>
                    </a:solidFill>
                  </a:tcPr>
                </a:tc>
                <a:extLst>
                  <a:ext uri="{0D108BD9-81ED-4DB2-BD59-A6C34878D82A}">
                    <a16:rowId xmlns:a16="http://schemas.microsoft.com/office/drawing/2014/main" val="10004"/>
                  </a:ext>
                </a:extLst>
              </a:tr>
              <a:tr h="657225">
                <a:tc>
                  <a:txBody>
                    <a:bodyPr/>
                    <a:lstStyle/>
                    <a:p>
                      <a:pPr algn="ctr">
                        <a:defRPr sz="1200" b="1">
                          <a:solidFill>
                            <a:srgbClr val="1E242B"/>
                          </a:solidFill>
                          <a:latin typeface="Times New Roman"/>
                        </a:defRPr>
                      </a:pPr>
                      <a:r>
                        <a:t>No.34</a:t>
                      </a:r>
                      <a:br/>
                      <a:r>
                        <a:t>(A-3 / A-8)</a:t>
                      </a:r>
                    </a:p>
                  </a:txBody>
                  <a:tcPr marL="36576" marR="36576" marT="13716" marB="13716" anchor="ctr">
                    <a:solidFill>
                      <a:srgbClr val="FFFFFF"/>
                    </a:solidFill>
                  </a:tcPr>
                </a:tc>
                <a:tc>
                  <a:txBody>
                    <a:bodyPr/>
                    <a:lstStyle/>
                    <a:p>
                      <a:pPr algn="l">
                        <a:defRPr sz="1200">
                          <a:solidFill>
                            <a:srgbClr val="1E242B"/>
                          </a:solidFill>
                          <a:latin typeface="Times New Roman"/>
                        </a:defRPr>
                      </a:pPr>
                      <a:r>
                        <a:t>Gộp RCG LSU SKEW vào Color Regist;</a:t>
                      </a:r>
                      <a:br/>
                      <a:r>
                        <a:t>Tự động nhận diện khổ giấy khay 1/2</a:t>
                      </a:r>
                    </a:p>
                  </a:txBody>
                  <a:tcPr marL="36576" marR="36576" marT="13716" marB="13716" anchor="ctr">
                    <a:solidFill>
                      <a:srgbClr val="FFFFFF"/>
                    </a:solidFill>
                  </a:tcPr>
                </a:tc>
                <a:tc>
                  <a:txBody>
                    <a:bodyPr/>
                    <a:lstStyle/>
                    <a:p>
                      <a:pPr algn="l">
                        <a:defRPr sz="1200">
                          <a:solidFill>
                            <a:srgbClr val="1E242B"/>
                          </a:solidFill>
                          <a:latin typeface="Times New Roman"/>
                        </a:defRPr>
                      </a:pPr>
                      <a:r>
                        <a:t>Tích hợp mẫu đo nghiêng tia laser vào tờ Color Regist để xóa tờ LSU Skew; Host PC gửi lệnh tự động nhận diện cảm biến khổ giấy.</a:t>
                      </a:r>
                    </a:p>
                  </a:txBody>
                  <a:tcPr marL="36576" marR="36576" marT="13716" marB="13716" anchor="ctr">
                    <a:solidFill>
                      <a:srgbClr val="FFFFFF"/>
                    </a:solidFill>
                  </a:tcPr>
                </a:tc>
                <a:tc>
                  <a:txBody>
                    <a:bodyPr/>
                    <a:lstStyle/>
                    <a:p>
                      <a:pPr algn="l">
                        <a:defRPr sz="1200">
                          <a:solidFill>
                            <a:srgbClr val="1E242B"/>
                          </a:solidFill>
                          <a:latin typeface="Times New Roman"/>
                        </a:defRPr>
                      </a:pPr>
                      <a:r>
                        <a:t>Giảm 1 tờ in (LSU Skew: -37s);</a:t>
                      </a:r>
                      <a:br/>
                      <a:r>
                        <a:t>Giảm 66,7s kiểm tra khay 1/2</a:t>
                      </a:r>
                    </a:p>
                  </a:txBody>
                  <a:tcPr marL="36576" marR="36576" marT="13716" marB="13716" anchor="ctr">
                    <a:solidFill>
                      <a:srgbClr val="FFFFFF"/>
                    </a:solidFill>
                  </a:tcPr>
                </a:tc>
                <a:extLst>
                  <a:ext uri="{0D108BD9-81ED-4DB2-BD59-A6C34878D82A}">
                    <a16:rowId xmlns:a16="http://schemas.microsoft.com/office/drawing/2014/main" val="10005"/>
                  </a:ext>
                </a:extLst>
              </a:tr>
              <a:tr h="657225">
                <a:tc>
                  <a:txBody>
                    <a:bodyPr/>
                    <a:lstStyle/>
                    <a:p>
                      <a:pPr algn="ctr">
                        <a:defRPr sz="1200" b="1">
                          <a:solidFill>
                            <a:srgbClr val="1E242B"/>
                          </a:solidFill>
                          <a:latin typeface="Times New Roman"/>
                        </a:defRPr>
                      </a:pPr>
                      <a:r>
                        <a:t>No.35 &amp; 36</a:t>
                      </a:r>
                      <a:br/>
                      <a:r>
                        <a:t>(A-4 / A-8)</a:t>
                      </a:r>
                    </a:p>
                  </a:txBody>
                  <a:tcPr marL="36576" marR="36576" marT="13716" marB="13716" anchor="ctr">
                    <a:solidFill>
                      <a:srgbClr val="F7F9FC"/>
                    </a:solidFill>
                  </a:tcPr>
                </a:tc>
                <a:tc>
                  <a:txBody>
                    <a:bodyPr/>
                    <a:lstStyle/>
                    <a:p>
                      <a:pPr algn="l">
                        <a:defRPr sz="1200">
                          <a:solidFill>
                            <a:srgbClr val="1E242B"/>
                          </a:solidFill>
                          <a:latin typeface="Times New Roman"/>
                        </a:defRPr>
                      </a:pPr>
                      <a:r>
                        <a:t>Gộp Calibration U410 thành 1 lệnh;</a:t>
                      </a:r>
                      <a:br/>
                      <a:r>
                        <a:t>Gộp Halftone Mono vào Check Black</a:t>
                      </a:r>
                    </a:p>
                  </a:txBody>
                  <a:tcPr marL="36576" marR="36576" marT="13716" marB="13716" anchor="ctr">
                    <a:solidFill>
                      <a:srgbClr val="F7F9FC"/>
                    </a:solidFill>
                  </a:tcPr>
                </a:tc>
                <a:tc>
                  <a:txBody>
                    <a:bodyPr/>
                    <a:lstStyle/>
                    <a:p>
                      <a:pPr algn="l">
                        <a:defRPr sz="1200">
                          <a:solidFill>
                            <a:srgbClr val="1E242B"/>
                          </a:solidFill>
                          <a:latin typeface="Times New Roman"/>
                        </a:defRPr>
                      </a:pPr>
                      <a:r>
                        <a:t>Gộp bước Calibration vào chung 1 lệnh khi chạy Halftone U410; gộp mẫu Mono vào tờ Check Black để xóa tờ Mono; tự kiểm tra công tắc nắp.</a:t>
                      </a:r>
                    </a:p>
                  </a:txBody>
                  <a:tcPr marL="36576" marR="36576" marT="13716" marB="13716" anchor="ctr">
                    <a:solidFill>
                      <a:srgbClr val="F7F9FC"/>
                    </a:solidFill>
                  </a:tcPr>
                </a:tc>
                <a:tc>
                  <a:txBody>
                    <a:bodyPr/>
                    <a:lstStyle/>
                    <a:p>
                      <a:pPr algn="l">
                        <a:defRPr sz="1200">
                          <a:solidFill>
                            <a:srgbClr val="1E242B"/>
                          </a:solidFill>
                          <a:latin typeface="Times New Roman"/>
                        </a:defRPr>
                      </a:pPr>
                      <a:r>
                        <a:t>Giảm 1 tờ in (Mono: -110s K5);</a:t>
                      </a:r>
                      <a:br/>
                      <a:r>
                        <a:t>Giảm 8,9s kiểm tra công tắc nắp</a:t>
                      </a:r>
                    </a:p>
                  </a:txBody>
                  <a:tcPr marL="36576" marR="36576" marT="13716" marB="13716" anchor="ctr">
                    <a:solidFill>
                      <a:srgbClr val="F7F9FC"/>
                    </a:solidFill>
                  </a:tcPr>
                </a:tc>
                <a:extLst>
                  <a:ext uri="{0D108BD9-81ED-4DB2-BD59-A6C34878D82A}">
                    <a16:rowId xmlns:a16="http://schemas.microsoft.com/office/drawing/2014/main" val="10006"/>
                  </a:ext>
                </a:extLst>
              </a:tr>
              <a:tr h="657225">
                <a:tc>
                  <a:txBody>
                    <a:bodyPr/>
                    <a:lstStyle/>
                    <a:p>
                      <a:pPr algn="ctr">
                        <a:defRPr sz="1200" b="1">
                          <a:solidFill>
                            <a:srgbClr val="1E242B"/>
                          </a:solidFill>
                          <a:latin typeface="Times New Roman"/>
                        </a:defRPr>
                      </a:pPr>
                      <a:r>
                        <a:t>Thực tích</a:t>
                      </a:r>
                      <a:br/>
                      <a:r>
                        <a:t>T10/2026</a:t>
                      </a:r>
                    </a:p>
                  </a:txBody>
                  <a:tcPr marL="36576" marR="36576" marT="13716" marB="13716" anchor="ctr">
                    <a:solidFill>
                      <a:srgbClr val="E8EEF5"/>
                    </a:solidFill>
                  </a:tcPr>
                </a:tc>
                <a:tc>
                  <a:txBody>
                    <a:bodyPr/>
                    <a:lstStyle/>
                    <a:p>
                      <a:pPr algn="l">
                        <a:defRPr sz="1200">
                          <a:solidFill>
                            <a:srgbClr val="1E242B"/>
                          </a:solidFill>
                          <a:latin typeface="Times New Roman"/>
                        </a:defRPr>
                      </a:pPr>
                      <a:r>
                        <a:t>【ĐÃ HOÀN THÀNH THÁNG 10/2026】</a:t>
                      </a:r>
                      <a:br/>
                      <a:r>
                        <a:t>Xóa 4 bước thao tác trên bảng SOP</a:t>
                      </a:r>
                    </a:p>
                  </a:txBody>
                  <a:tcPr marL="36576" marR="36576" marT="13716" marB="13716" anchor="ctr">
                    <a:solidFill>
                      <a:srgbClr val="E8EEF5"/>
                    </a:solidFill>
                  </a:tcPr>
                </a:tc>
                <a:tc>
                  <a:txBody>
                    <a:bodyPr/>
                    <a:lstStyle/>
                    <a:p>
                      <a:pPr algn="l">
                        <a:defRPr sz="1200">
                          <a:solidFill>
                            <a:srgbClr val="1E242B"/>
                          </a:solidFill>
                          <a:latin typeface="Times New Roman"/>
                        </a:defRPr>
                      </a:pPr>
                      <a:r>
                        <a:t>Xóa 2 bước bấm chọn tiếng Anh (1,44s) và 2 bước nhìn chờ cảnh báo Toner (2,88s). Đã xác nhận không cần thao tác tay và xóa khỏi SOP.</a:t>
                      </a:r>
                    </a:p>
                  </a:txBody>
                  <a:tcPr marL="36576" marR="36576" marT="13716" marB="13716" anchor="ctr">
                    <a:solidFill>
                      <a:srgbClr val="E8EEF5"/>
                    </a:solidFill>
                  </a:tcPr>
                </a:tc>
                <a:tc>
                  <a:txBody>
                    <a:bodyPr/>
                    <a:lstStyle/>
                    <a:p>
                      <a:pPr algn="l">
                        <a:defRPr sz="1200">
                          <a:solidFill>
                            <a:srgbClr val="1E242B"/>
                          </a:solidFill>
                          <a:latin typeface="Times New Roman"/>
                        </a:defRPr>
                      </a:pPr>
                      <a:r>
                        <a:t>ĐÃ GIẢM THỰC TẾ: -4,32s / MÁY</a:t>
                      </a:r>
                      <a:br/>
                      <a:r>
                        <a:t>(Mục tiêu PDCA KDTVN-PE-3)</a:t>
                      </a:r>
                    </a:p>
                  </a:txBody>
                  <a:tcPr marL="36576" marR="36576" marT="13716" marB="13716" anchor="ctr">
                    <a:solidFill>
                      <a:srgbClr val="E8EEF5"/>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4.6 LỘ TRÌNH &amp; HIỆU QUẢ</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So sánh Trước / Sau cải tiến và Lộ trình triển khai tới sản xuất hàng loạt MP (T3/2027)</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11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Sau cải tiến, năng suất lao động tăng gấp đôi từ 15,19 lên trên 30,38 máy/người/ngày; nhân sự rút gọn còn 8 đến 9 người, đáp ứng yêu cầu sản xuất ngay trên chuyền Iris2024.</a:t>
            </a:r>
          </a:p>
        </p:txBody>
      </p:sp>
      <p:graphicFrame>
        <p:nvGraphicFramePr>
          <p:cNvPr id="7" name="Table 6"/>
          <p:cNvGraphicFramePr>
            <a:graphicFrameLocks noGrp="1"/>
          </p:cNvGraphicFramePr>
          <p:nvPr/>
        </p:nvGraphicFramePr>
        <p:xfrm>
          <a:off x="256032" y="1234440"/>
          <a:ext cx="6217920" cy="5257800"/>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876300">
                <a:tc>
                  <a:txBody>
                    <a:bodyPr/>
                    <a:lstStyle/>
                    <a:p>
                      <a:pPr algn="ctr">
                        <a:defRPr sz="1250" b="1">
                          <a:solidFill>
                            <a:srgbClr val="FFFFFF"/>
                          </a:solidFill>
                          <a:latin typeface="Times New Roman"/>
                        </a:defRPr>
                      </a:pPr>
                      <a:r>
                        <a:t>Chỉ tiêu đánh giá</a:t>
                      </a:r>
                    </a:p>
                  </a:txBody>
                  <a:tcPr marL="36576" marR="36576" marT="13716" marB="13716" anchor="ctr">
                    <a:solidFill>
                      <a:srgbClr val="1B365D"/>
                    </a:solidFill>
                  </a:tcPr>
                </a:tc>
                <a:tc>
                  <a:txBody>
                    <a:bodyPr/>
                    <a:lstStyle/>
                    <a:p>
                      <a:pPr algn="ctr">
                        <a:defRPr sz="1250" b="1">
                          <a:solidFill>
                            <a:srgbClr val="FFFFFF"/>
                          </a:solidFill>
                          <a:latin typeface="Times New Roman"/>
                        </a:defRPr>
                      </a:pPr>
                      <a:r>
                        <a:t>Hiện trạng Iris2024</a:t>
                      </a:r>
                      <a:br/>
                      <a:r>
                        <a:t>(243 máy/ngày)</a:t>
                      </a:r>
                    </a:p>
                  </a:txBody>
                  <a:tcPr marL="36576" marR="36576" marT="13716" marB="13716" anchor="ctr">
                    <a:solidFill>
                      <a:srgbClr val="1B365D"/>
                    </a:solidFill>
                  </a:tcPr>
                </a:tc>
                <a:tc>
                  <a:txBody>
                    <a:bodyPr/>
                    <a:lstStyle/>
                    <a:p>
                      <a:pPr algn="ctr">
                        <a:defRPr sz="1250" b="1">
                          <a:solidFill>
                            <a:srgbClr val="FFFFFF"/>
                          </a:solidFill>
                          <a:latin typeface="Times New Roman"/>
                        </a:defRPr>
                      </a:pPr>
                      <a:r>
                        <a:t>Mục tiêu IrisEXP</a:t>
                      </a:r>
                      <a:br/>
                      <a:r>
                        <a:t>(300 máy/ngày)</a:t>
                      </a:r>
                    </a:p>
                  </a:txBody>
                  <a:tcPr marL="36576" marR="36576" marT="13716" marB="13716" anchor="ctr">
                    <a:solidFill>
                      <a:srgbClr val="1B365D"/>
                    </a:solidFill>
                  </a:tcPr>
                </a:tc>
                <a:tc>
                  <a:txBody>
                    <a:bodyPr/>
                    <a:lstStyle/>
                    <a:p>
                      <a:pPr algn="ctr">
                        <a:defRPr sz="1250" b="1">
                          <a:solidFill>
                            <a:srgbClr val="FFFFFF"/>
                          </a:solidFill>
                          <a:latin typeface="Times New Roman"/>
                        </a:defRPr>
                      </a:pPr>
                      <a:r>
                        <a:t>Mức cải thiện</a:t>
                      </a:r>
                    </a:p>
                  </a:txBody>
                  <a:tcPr marL="36576" marR="36576" marT="13716" marB="13716" anchor="ctr">
                    <a:solidFill>
                      <a:srgbClr val="1B365D"/>
                    </a:solidFill>
                  </a:tcPr>
                </a:tc>
                <a:extLst>
                  <a:ext uri="{0D108BD9-81ED-4DB2-BD59-A6C34878D82A}">
                    <a16:rowId xmlns:a16="http://schemas.microsoft.com/office/drawing/2014/main" val="10000"/>
                  </a:ext>
                </a:extLst>
              </a:tr>
              <a:tr h="876300">
                <a:tc>
                  <a:txBody>
                    <a:bodyPr/>
                    <a:lstStyle/>
                    <a:p>
                      <a:pPr algn="l">
                        <a:defRPr sz="1200" b="1">
                          <a:solidFill>
                            <a:srgbClr val="1E242B"/>
                          </a:solidFill>
                          <a:latin typeface="Times New Roman"/>
                        </a:defRPr>
                      </a:pPr>
                      <a:r>
                        <a:t>1. Thời gian chuẩn</a:t>
                      </a:r>
                      <a:br/>
                      <a:r>
                        <a:t>(Mã hàng cao nhất)</a:t>
                      </a:r>
                    </a:p>
                  </a:txBody>
                  <a:tcPr marL="36576" marR="36576" marT="13716" marB="13716" anchor="ctr">
                    <a:solidFill>
                      <a:srgbClr val="EAF7EE"/>
                    </a:solidFill>
                  </a:tcPr>
                </a:tc>
                <a:tc>
                  <a:txBody>
                    <a:bodyPr/>
                    <a:lstStyle/>
                    <a:p>
                      <a:pPr algn="ctr">
                        <a:defRPr sz="1200">
                          <a:solidFill>
                            <a:srgbClr val="1E242B"/>
                          </a:solidFill>
                          <a:latin typeface="Times New Roman"/>
                        </a:defRPr>
                      </a:pPr>
                      <a:r>
                        <a:t>1.083s / máy</a:t>
                      </a:r>
                      <a:br/>
                      <a:r>
                        <a:t>(840s ĐC + 243s data)</a:t>
                      </a:r>
                    </a:p>
                  </a:txBody>
                  <a:tcPr marL="36576" marR="36576" marT="13716" marB="13716" anchor="ctr">
                    <a:solidFill>
                      <a:srgbClr val="EAF7EE"/>
                    </a:solidFill>
                  </a:tcPr>
                </a:tc>
                <a:tc>
                  <a:txBody>
                    <a:bodyPr/>
                    <a:lstStyle/>
                    <a:p>
                      <a:pPr algn="ctr">
                        <a:defRPr sz="1200">
                          <a:solidFill>
                            <a:srgbClr val="1E242B"/>
                          </a:solidFill>
                          <a:latin typeface="Times New Roman"/>
                        </a:defRPr>
                      </a:pPr>
                      <a:r>
                        <a:t>≤ 541,5s / máy</a:t>
                      </a:r>
                      <a:br/>
                      <a:r>
                        <a:t>(KDC thiết kế: 591s)</a:t>
                      </a:r>
                    </a:p>
                  </a:txBody>
                  <a:tcPr marL="36576" marR="36576" marT="13716" marB="13716" anchor="ctr">
                    <a:solidFill>
                      <a:srgbClr val="EAF7EE"/>
                    </a:solidFill>
                  </a:tcPr>
                </a:tc>
                <a:tc>
                  <a:txBody>
                    <a:bodyPr/>
                    <a:lstStyle/>
                    <a:p>
                      <a:pPr algn="l">
                        <a:defRPr sz="1200">
                          <a:solidFill>
                            <a:srgbClr val="1E242B"/>
                          </a:solidFill>
                          <a:latin typeface="Times New Roman"/>
                        </a:defRPr>
                      </a:pPr>
                      <a:r>
                        <a:t>Giảm 50% thời gian</a:t>
                      </a:r>
                      <a:br/>
                      <a:r>
                        <a:t>thao tác tiêu chuẩn</a:t>
                      </a:r>
                    </a:p>
                  </a:txBody>
                  <a:tcPr marL="36576" marR="36576" marT="13716" marB="13716" anchor="ctr">
                    <a:solidFill>
                      <a:srgbClr val="EAF7EE"/>
                    </a:solidFill>
                  </a:tcPr>
                </a:tc>
                <a:extLst>
                  <a:ext uri="{0D108BD9-81ED-4DB2-BD59-A6C34878D82A}">
                    <a16:rowId xmlns:a16="http://schemas.microsoft.com/office/drawing/2014/main" val="10001"/>
                  </a:ext>
                </a:extLst>
              </a:tr>
              <a:tr h="876300">
                <a:tc>
                  <a:txBody>
                    <a:bodyPr/>
                    <a:lstStyle/>
                    <a:p>
                      <a:pPr algn="l">
                        <a:defRPr sz="1200" b="1">
                          <a:solidFill>
                            <a:srgbClr val="1E242B"/>
                          </a:solidFill>
                          <a:latin typeface="Times New Roman"/>
                        </a:defRPr>
                      </a:pPr>
                      <a:r>
                        <a:t>2. Gross toàn công đoạn</a:t>
                      </a:r>
                      <a:br/>
                      <a:r>
                        <a:t>(Gồm chờ máy, U950)</a:t>
                      </a:r>
                    </a:p>
                  </a:txBody>
                  <a:tcPr marL="36576" marR="36576" marT="13716" marB="13716" anchor="ctr">
                    <a:solidFill>
                      <a:srgbClr val="F7F9FC"/>
                    </a:solidFill>
                  </a:tcPr>
                </a:tc>
                <a:tc>
                  <a:txBody>
                    <a:bodyPr/>
                    <a:lstStyle/>
                    <a:p>
                      <a:pPr algn="ctr">
                        <a:defRPr sz="1200">
                          <a:solidFill>
                            <a:srgbClr val="1E242B"/>
                          </a:solidFill>
                          <a:latin typeface="Times New Roman"/>
                        </a:defRPr>
                      </a:pPr>
                      <a:r>
                        <a:t>2.350s / máy</a:t>
                      </a:r>
                      <a:br/>
                      <a:r>
                        <a:t>(8 trạm K1 ~ K8)</a:t>
                      </a:r>
                    </a:p>
                  </a:txBody>
                  <a:tcPr marL="36576" marR="36576" marT="13716" marB="13716" anchor="ctr">
                    <a:solidFill>
                      <a:srgbClr val="F7F9FC"/>
                    </a:solidFill>
                  </a:tcPr>
                </a:tc>
                <a:tc>
                  <a:txBody>
                    <a:bodyPr/>
                    <a:lstStyle/>
                    <a:p>
                      <a:pPr algn="ctr">
                        <a:defRPr sz="1200">
                          <a:solidFill>
                            <a:srgbClr val="1E242B"/>
                          </a:solidFill>
                          <a:latin typeface="Times New Roman"/>
                        </a:defRPr>
                      </a:pPr>
                      <a:r>
                        <a:t>≤ 1.175s / máy</a:t>
                      </a:r>
                      <a:br/>
                      <a:r>
                        <a:t>(Gộp 4 cụm A-1~A-4)</a:t>
                      </a:r>
                    </a:p>
                  </a:txBody>
                  <a:tcPr marL="36576" marR="36576" marT="13716" marB="13716" anchor="ctr">
                    <a:solidFill>
                      <a:srgbClr val="F7F9FC"/>
                    </a:solidFill>
                  </a:tcPr>
                </a:tc>
                <a:tc>
                  <a:txBody>
                    <a:bodyPr/>
                    <a:lstStyle/>
                    <a:p>
                      <a:pPr algn="l">
                        <a:defRPr sz="1200">
                          <a:solidFill>
                            <a:srgbClr val="1E242B"/>
                          </a:solidFill>
                          <a:latin typeface="Times New Roman"/>
                        </a:defRPr>
                      </a:pPr>
                      <a:r>
                        <a:t>Giảm ≥ 1.175s</a:t>
                      </a:r>
                      <a:br/>
                      <a:r>
                        <a:t>(Giảm ≥ 50,0%)</a:t>
                      </a:r>
                    </a:p>
                  </a:txBody>
                  <a:tcPr marL="36576" marR="36576" marT="13716" marB="13716" anchor="ctr">
                    <a:solidFill>
                      <a:srgbClr val="F7F9FC"/>
                    </a:solidFill>
                  </a:tcPr>
                </a:tc>
                <a:extLst>
                  <a:ext uri="{0D108BD9-81ED-4DB2-BD59-A6C34878D82A}">
                    <a16:rowId xmlns:a16="http://schemas.microsoft.com/office/drawing/2014/main" val="10002"/>
                  </a:ext>
                </a:extLst>
              </a:tr>
              <a:tr h="876300">
                <a:tc>
                  <a:txBody>
                    <a:bodyPr/>
                    <a:lstStyle/>
                    <a:p>
                      <a:pPr algn="l">
                        <a:defRPr sz="1200" b="1">
                          <a:solidFill>
                            <a:srgbClr val="1E242B"/>
                          </a:solidFill>
                          <a:latin typeface="Times New Roman"/>
                        </a:defRPr>
                      </a:pPr>
                      <a:r>
                        <a:t>3. Tổng số người thao tác</a:t>
                      </a:r>
                      <a:br/>
                      <a:r>
                        <a:t>trên Line</a:t>
                      </a:r>
                    </a:p>
                  </a:txBody>
                  <a:tcPr marL="36576" marR="36576" marT="13716" marB="13716" anchor="ctr">
                    <a:solidFill>
                      <a:srgbClr val="EAF7EE"/>
                    </a:solidFill>
                  </a:tcPr>
                </a:tc>
                <a:tc>
                  <a:txBody>
                    <a:bodyPr/>
                    <a:lstStyle/>
                    <a:p>
                      <a:pPr algn="ctr">
                        <a:defRPr sz="1200">
                          <a:solidFill>
                            <a:srgbClr val="1E242B"/>
                          </a:solidFill>
                          <a:latin typeface="Times New Roman"/>
                        </a:defRPr>
                      </a:pPr>
                      <a:r>
                        <a:t>16 người thao tác</a:t>
                      </a:r>
                      <a:br/>
                      <a:r>
                        <a:t>(7 ĐC + 9 Hình ảnh)</a:t>
                      </a:r>
                    </a:p>
                  </a:txBody>
                  <a:tcPr marL="36576" marR="36576" marT="13716" marB="13716" anchor="ctr">
                    <a:solidFill>
                      <a:srgbClr val="EAF7EE"/>
                    </a:solidFill>
                  </a:tcPr>
                </a:tc>
                <a:tc>
                  <a:txBody>
                    <a:bodyPr/>
                    <a:lstStyle/>
                    <a:p>
                      <a:pPr algn="ctr">
                        <a:defRPr sz="1200">
                          <a:solidFill>
                            <a:srgbClr val="1E242B"/>
                          </a:solidFill>
                          <a:latin typeface="Times New Roman"/>
                        </a:defRPr>
                      </a:pPr>
                      <a:r>
                        <a:t>8 ~ 9 người thao tác</a:t>
                      </a:r>
                      <a:br/>
                      <a:r>
                        <a:t>(Thay vì 18 người)</a:t>
                      </a:r>
                    </a:p>
                  </a:txBody>
                  <a:tcPr marL="36576" marR="36576" marT="13716" marB="13716" anchor="ctr">
                    <a:solidFill>
                      <a:srgbClr val="EAF7EE"/>
                    </a:solidFill>
                  </a:tcPr>
                </a:tc>
                <a:tc>
                  <a:txBody>
                    <a:bodyPr/>
                    <a:lstStyle/>
                    <a:p>
                      <a:pPr algn="l">
                        <a:defRPr sz="1200">
                          <a:solidFill>
                            <a:srgbClr val="1E242B"/>
                          </a:solidFill>
                          <a:latin typeface="Times New Roman"/>
                        </a:defRPr>
                      </a:pPr>
                      <a:r>
                        <a:t>Giảm 50% nhân sự</a:t>
                      </a:r>
                      <a:br/>
                      <a:r>
                        <a:t>so với chưa cải tiến</a:t>
                      </a:r>
                    </a:p>
                  </a:txBody>
                  <a:tcPr marL="36576" marR="36576" marT="13716" marB="13716" anchor="ctr">
                    <a:solidFill>
                      <a:srgbClr val="EAF7EE"/>
                    </a:solidFill>
                  </a:tcPr>
                </a:tc>
                <a:extLst>
                  <a:ext uri="{0D108BD9-81ED-4DB2-BD59-A6C34878D82A}">
                    <a16:rowId xmlns:a16="http://schemas.microsoft.com/office/drawing/2014/main" val="10003"/>
                  </a:ext>
                </a:extLst>
              </a:tr>
              <a:tr h="876300">
                <a:tc>
                  <a:txBody>
                    <a:bodyPr/>
                    <a:lstStyle/>
                    <a:p>
                      <a:pPr algn="l">
                        <a:defRPr sz="1200" b="1">
                          <a:solidFill>
                            <a:srgbClr val="1E242B"/>
                          </a:solidFill>
                          <a:latin typeface="Times New Roman"/>
                        </a:defRPr>
                      </a:pPr>
                      <a:r>
                        <a:t>4. Năng suất lao động</a:t>
                      </a:r>
                      <a:br/>
                      <a:r>
                        <a:t>(1 người / ngày)</a:t>
                      </a:r>
                    </a:p>
                  </a:txBody>
                  <a:tcPr marL="36576" marR="36576" marT="13716" marB="13716" anchor="ctr">
                    <a:solidFill>
                      <a:srgbClr val="EAF7EE"/>
                    </a:solidFill>
                  </a:tcPr>
                </a:tc>
                <a:tc>
                  <a:txBody>
                    <a:bodyPr/>
                    <a:lstStyle/>
                    <a:p>
                      <a:pPr algn="ctr">
                        <a:defRPr sz="1200">
                          <a:solidFill>
                            <a:srgbClr val="1E242B"/>
                          </a:solidFill>
                          <a:latin typeface="Times New Roman"/>
                        </a:defRPr>
                      </a:pPr>
                      <a:r>
                        <a:t>15,19 máy / người</a:t>
                      </a:r>
                      <a:br/>
                      <a:r>
                        <a:t>(243 máy ÷ 16 người)</a:t>
                      </a:r>
                    </a:p>
                  </a:txBody>
                  <a:tcPr marL="36576" marR="36576" marT="13716" marB="13716" anchor="ctr">
                    <a:solidFill>
                      <a:srgbClr val="EAF7EE"/>
                    </a:solidFill>
                  </a:tcPr>
                </a:tc>
                <a:tc>
                  <a:txBody>
                    <a:bodyPr/>
                    <a:lstStyle/>
                    <a:p>
                      <a:pPr algn="ctr">
                        <a:defRPr sz="1200">
                          <a:solidFill>
                            <a:srgbClr val="1E242B"/>
                          </a:solidFill>
                          <a:latin typeface="Times New Roman"/>
                        </a:defRPr>
                      </a:pPr>
                      <a:r>
                        <a:t>≥ 30,38 ~ 33,33 máy</a:t>
                      </a:r>
                      <a:br/>
                      <a:r>
                        <a:t>(300 máy ÷ 9 người)</a:t>
                      </a:r>
                    </a:p>
                  </a:txBody>
                  <a:tcPr marL="36576" marR="36576" marT="13716" marB="13716" anchor="ctr">
                    <a:solidFill>
                      <a:srgbClr val="EAF7EE"/>
                    </a:solidFill>
                  </a:tcPr>
                </a:tc>
                <a:tc>
                  <a:txBody>
                    <a:bodyPr/>
                    <a:lstStyle/>
                    <a:p>
                      <a:pPr algn="l">
                        <a:defRPr sz="1200">
                          <a:solidFill>
                            <a:srgbClr val="1E242B"/>
                          </a:solidFill>
                          <a:latin typeface="Times New Roman"/>
                        </a:defRPr>
                      </a:pPr>
                      <a:r>
                        <a:t>Tăng gấp 2 lần (x2)</a:t>
                      </a:r>
                      <a:br/>
                      <a:r>
                        <a:t>Đảm bảo SX trên Line</a:t>
                      </a:r>
                    </a:p>
                  </a:txBody>
                  <a:tcPr marL="36576" marR="36576" marT="13716" marB="13716" anchor="ctr">
                    <a:solidFill>
                      <a:srgbClr val="EAF7EE"/>
                    </a:solidFill>
                  </a:tcPr>
                </a:tc>
                <a:extLst>
                  <a:ext uri="{0D108BD9-81ED-4DB2-BD59-A6C34878D82A}">
                    <a16:rowId xmlns:a16="http://schemas.microsoft.com/office/drawing/2014/main" val="10004"/>
                  </a:ext>
                </a:extLst>
              </a:tr>
              <a:tr h="876300">
                <a:tc>
                  <a:txBody>
                    <a:bodyPr/>
                    <a:lstStyle/>
                    <a:p>
                      <a:pPr algn="l">
                        <a:defRPr sz="1200" b="1">
                          <a:solidFill>
                            <a:srgbClr val="1E242B"/>
                          </a:solidFill>
                          <a:latin typeface="Times New Roman"/>
                        </a:defRPr>
                      </a:pPr>
                      <a:r>
                        <a:t>5. Số tờ in test / máy</a:t>
                      </a:r>
                      <a:br/>
                      <a:r>
                        <a:t>(Print &amp; Copy)</a:t>
                      </a:r>
                    </a:p>
                  </a:txBody>
                  <a:tcPr marL="36576" marR="36576" marT="13716" marB="13716" anchor="ctr">
                    <a:solidFill>
                      <a:srgbClr val="FFFFFF"/>
                    </a:solidFill>
                  </a:tcPr>
                </a:tc>
                <a:tc>
                  <a:txBody>
                    <a:bodyPr/>
                    <a:lstStyle/>
                    <a:p>
                      <a:pPr algn="ctr">
                        <a:defRPr sz="1200">
                          <a:solidFill>
                            <a:srgbClr val="1E242B"/>
                          </a:solidFill>
                          <a:latin typeface="Times New Roman"/>
                        </a:defRPr>
                      </a:pPr>
                      <a:r>
                        <a:t>Print: 17 tờ / máy</a:t>
                      </a:r>
                      <a:br/>
                      <a:r>
                        <a:t>Copy: 2 tờ / máy</a:t>
                      </a:r>
                    </a:p>
                  </a:txBody>
                  <a:tcPr marL="36576" marR="36576" marT="13716" marB="13716" anchor="ctr">
                    <a:solidFill>
                      <a:srgbClr val="FFFFFF"/>
                    </a:solidFill>
                  </a:tcPr>
                </a:tc>
                <a:tc>
                  <a:txBody>
                    <a:bodyPr/>
                    <a:lstStyle/>
                    <a:p>
                      <a:pPr algn="ctr">
                        <a:defRPr sz="1200">
                          <a:solidFill>
                            <a:srgbClr val="1E242B"/>
                          </a:solidFill>
                          <a:latin typeface="Times New Roman"/>
                        </a:defRPr>
                      </a:pPr>
                      <a:r>
                        <a:t>Print: 9 tờ / máy</a:t>
                      </a:r>
                      <a:br/>
                      <a:r>
                        <a:t>Copy: 1 tờ / máy</a:t>
                      </a:r>
                    </a:p>
                  </a:txBody>
                  <a:tcPr marL="36576" marR="36576" marT="13716" marB="13716" anchor="ctr">
                    <a:solidFill>
                      <a:srgbClr val="FFFFFF"/>
                    </a:solidFill>
                  </a:tcPr>
                </a:tc>
                <a:tc>
                  <a:txBody>
                    <a:bodyPr/>
                    <a:lstStyle/>
                    <a:p>
                      <a:pPr algn="l">
                        <a:defRPr sz="1200">
                          <a:solidFill>
                            <a:srgbClr val="1E242B"/>
                          </a:solidFill>
                          <a:latin typeface="Times New Roman"/>
                        </a:defRPr>
                      </a:pPr>
                      <a:r>
                        <a:t>Giảm 8 tờ Print (-47%)</a:t>
                      </a:r>
                      <a:br/>
                      <a:r>
                        <a:t>Giảm 1 tờ Copy (-50%)</a:t>
                      </a:r>
                    </a:p>
                  </a:txBody>
                  <a:tcPr marL="36576" marR="36576" marT="13716" marB="13716" anchor="ctr">
                    <a:solidFill>
                      <a:srgbClr val="FFFFFF"/>
                    </a:solidFill>
                  </a:tcPr>
                </a:tc>
                <a:extLst>
                  <a:ext uri="{0D108BD9-81ED-4DB2-BD59-A6C34878D82A}">
                    <a16:rowId xmlns:a16="http://schemas.microsoft.com/office/drawing/2014/main" val="10005"/>
                  </a:ext>
                </a:extLst>
              </a:tr>
            </a:tbl>
          </a:graphicData>
        </a:graphic>
      </p:graphicFrame>
      <p:graphicFrame>
        <p:nvGraphicFramePr>
          <p:cNvPr id="8" name="Table 7"/>
          <p:cNvGraphicFramePr>
            <a:graphicFrameLocks noGrp="1"/>
          </p:cNvGraphicFramePr>
          <p:nvPr/>
        </p:nvGraphicFramePr>
        <p:xfrm>
          <a:off x="6629400" y="1234440"/>
          <a:ext cx="5303518" cy="525780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1874519">
                  <a:extLst>
                    <a:ext uri="{9D8B030D-6E8A-4147-A177-3AD203B41FA5}">
                      <a16:colId xmlns:a16="http://schemas.microsoft.com/office/drawing/2014/main" val="20001"/>
                    </a:ext>
                  </a:extLst>
                </a:gridCol>
                <a:gridCol w="1874519">
                  <a:extLst>
                    <a:ext uri="{9D8B030D-6E8A-4147-A177-3AD203B41FA5}">
                      <a16:colId xmlns:a16="http://schemas.microsoft.com/office/drawing/2014/main" val="20002"/>
                    </a:ext>
                  </a:extLst>
                </a:gridCol>
              </a:tblGrid>
              <a:tr h="1051560">
                <a:tc>
                  <a:txBody>
                    <a:bodyPr/>
                    <a:lstStyle/>
                    <a:p>
                      <a:pPr algn="ctr">
                        <a:defRPr sz="1250" b="1">
                          <a:solidFill>
                            <a:srgbClr val="FFFFFF"/>
                          </a:solidFill>
                          <a:latin typeface="Times New Roman"/>
                        </a:defRPr>
                      </a:pPr>
                      <a:r>
                        <a:t>Giai đoạn</a:t>
                      </a:r>
                    </a:p>
                  </a:txBody>
                  <a:tcPr marL="36576" marR="36576" marT="13716" marB="13716" anchor="ctr">
                    <a:solidFill>
                      <a:srgbClr val="1B365D"/>
                    </a:solidFill>
                  </a:tcPr>
                </a:tc>
                <a:tc>
                  <a:txBody>
                    <a:bodyPr/>
                    <a:lstStyle/>
                    <a:p>
                      <a:pPr algn="ctr">
                        <a:defRPr sz="1250" b="1">
                          <a:solidFill>
                            <a:srgbClr val="FFFFFF"/>
                          </a:solidFill>
                          <a:latin typeface="Times New Roman"/>
                        </a:defRPr>
                      </a:pPr>
                      <a:r>
                        <a:t>Hạng mục triển khai chính</a:t>
                      </a:r>
                    </a:p>
                  </a:txBody>
                  <a:tcPr marL="36576" marR="36576" marT="13716" marB="13716" anchor="ctr">
                    <a:solidFill>
                      <a:srgbClr val="1B365D"/>
                    </a:solidFill>
                  </a:tcPr>
                </a:tc>
                <a:tc>
                  <a:txBody>
                    <a:bodyPr/>
                    <a:lstStyle/>
                    <a:p>
                      <a:pPr algn="ctr">
                        <a:defRPr sz="1250" b="1">
                          <a:solidFill>
                            <a:srgbClr val="FFFFFF"/>
                          </a:solidFill>
                          <a:latin typeface="Times New Roman"/>
                        </a:defRPr>
                      </a:pPr>
                      <a:r>
                        <a:t>Mục tiêu tích lũy (PE-3)</a:t>
                      </a:r>
                    </a:p>
                  </a:txBody>
                  <a:tcPr marL="36576" marR="36576" marT="13716" marB="13716" anchor="ctr">
                    <a:solidFill>
                      <a:srgbClr val="1B365D"/>
                    </a:solidFill>
                  </a:tcPr>
                </a:tc>
                <a:extLst>
                  <a:ext uri="{0D108BD9-81ED-4DB2-BD59-A6C34878D82A}">
                    <a16:rowId xmlns:a16="http://schemas.microsoft.com/office/drawing/2014/main" val="10000"/>
                  </a:ext>
                </a:extLst>
              </a:tr>
              <a:tr h="1051560">
                <a:tc>
                  <a:txBody>
                    <a:bodyPr/>
                    <a:lstStyle/>
                    <a:p>
                      <a:pPr algn="l">
                        <a:defRPr sz="1200" b="1">
                          <a:solidFill>
                            <a:srgbClr val="1E242B"/>
                          </a:solidFill>
                          <a:latin typeface="Times New Roman"/>
                        </a:defRPr>
                      </a:pPr>
                      <a:r>
                        <a:t>T8 ~ T9/2026</a:t>
                      </a:r>
                      <a:br/>
                      <a:r>
                        <a:t>(DMT1 / Đề án)</a:t>
                      </a:r>
                    </a:p>
                  </a:txBody>
                  <a:tcPr marL="36576" marR="36576" marT="13716" marB="13716" anchor="ctr">
                    <a:solidFill>
                      <a:srgbClr val="E8EEF5"/>
                    </a:solidFill>
                  </a:tcPr>
                </a:tc>
                <a:tc>
                  <a:txBody>
                    <a:bodyPr/>
                    <a:lstStyle/>
                    <a:p>
                      <a:pPr algn="l">
                        <a:defRPr sz="1200">
                          <a:solidFill>
                            <a:srgbClr val="1E242B"/>
                          </a:solidFill>
                          <a:latin typeface="Times New Roman"/>
                        </a:defRPr>
                      </a:pPr>
                      <a:r>
                        <a:t>Lập 28 đến 37 đề án; khảo sát nhà cung cấp và lập dự toán đầu tư VN提案.</a:t>
                      </a:r>
                    </a:p>
                  </a:txBody>
                  <a:tcPr marL="36576" marR="36576" marT="13716" marB="13716" anchor="ctr">
                    <a:solidFill>
                      <a:srgbClr val="E8EEF5"/>
                    </a:solidFill>
                  </a:tcPr>
                </a:tc>
                <a:tc>
                  <a:txBody>
                    <a:bodyPr/>
                    <a:lstStyle/>
                    <a:p>
                      <a:pPr algn="l">
                        <a:defRPr sz="1200">
                          <a:solidFill>
                            <a:srgbClr val="1E242B"/>
                          </a:solidFill>
                          <a:latin typeface="Times New Roman"/>
                        </a:defRPr>
                      </a:pPr>
                      <a:r>
                        <a:t>KH: Giảm 1% (-23,5s)</a:t>
                      </a:r>
                      <a:br/>
                      <a:r>
                        <a:t>Chốt mục tiêu x2 năng suất</a:t>
                      </a:r>
                    </a:p>
                  </a:txBody>
                  <a:tcPr marL="36576" marR="36576" marT="13716" marB="13716" anchor="ctr">
                    <a:solidFill>
                      <a:srgbClr val="E8EEF5"/>
                    </a:solidFill>
                  </a:tcPr>
                </a:tc>
                <a:extLst>
                  <a:ext uri="{0D108BD9-81ED-4DB2-BD59-A6C34878D82A}">
                    <a16:rowId xmlns:a16="http://schemas.microsoft.com/office/drawing/2014/main" val="10001"/>
                  </a:ext>
                </a:extLst>
              </a:tr>
              <a:tr h="1051560">
                <a:tc>
                  <a:txBody>
                    <a:bodyPr/>
                    <a:lstStyle/>
                    <a:p>
                      <a:pPr algn="l">
                        <a:defRPr sz="1200" b="1">
                          <a:solidFill>
                            <a:srgbClr val="1E242B"/>
                          </a:solidFill>
                          <a:latin typeface="Times New Roman"/>
                        </a:defRPr>
                      </a:pPr>
                      <a:r>
                        <a:t>T10/2026</a:t>
                      </a:r>
                      <a:br/>
                      <a:r>
                        <a:t>(DMT2 / Báo giá)</a:t>
                      </a:r>
                    </a:p>
                  </a:txBody>
                  <a:tcPr marL="36576" marR="36576" marT="13716" marB="13716" anchor="ctr">
                    <a:solidFill>
                      <a:srgbClr val="EAF7EE"/>
                    </a:solidFill>
                  </a:tcPr>
                </a:tc>
                <a:tc>
                  <a:txBody>
                    <a:bodyPr/>
                    <a:lstStyle/>
                    <a:p>
                      <a:pPr algn="l">
                        <a:defRPr sz="1200" b="1">
                          <a:solidFill>
                            <a:srgbClr val="1E6E3E"/>
                          </a:solidFill>
                          <a:latin typeface="Times New Roman"/>
                        </a:defRPr>
                      </a:pPr>
                      <a:r>
                        <a:t>Hoàn tất BOM 25 mục No.22 (101,69 tr VNĐ); xóa 4 bước trên SOP (-4,32s).</a:t>
                      </a:r>
                    </a:p>
                  </a:txBody>
                  <a:tcPr marL="36576" marR="36576" marT="13716" marB="13716" anchor="ctr">
                    <a:solidFill>
                      <a:srgbClr val="EAF7EE"/>
                    </a:solidFill>
                  </a:tcPr>
                </a:tc>
                <a:tc>
                  <a:txBody>
                    <a:bodyPr/>
                    <a:lstStyle/>
                    <a:p>
                      <a:pPr algn="l">
                        <a:defRPr sz="1200">
                          <a:solidFill>
                            <a:srgbClr val="1E242B"/>
                          </a:solidFill>
                          <a:latin typeface="Times New Roman"/>
                        </a:defRPr>
                      </a:pPr>
                      <a:r>
                        <a:t>Thực tích: Đạt -4,32s</a:t>
                      </a:r>
                      <a:br/>
                      <a:r>
                        <a:t>Cập nhật 38 đề án</a:t>
                      </a:r>
                    </a:p>
                  </a:txBody>
                  <a:tcPr marL="36576" marR="36576" marT="13716" marB="13716" anchor="ctr">
                    <a:solidFill>
                      <a:srgbClr val="EAF7EE"/>
                    </a:solidFill>
                  </a:tcPr>
                </a:tc>
                <a:extLst>
                  <a:ext uri="{0D108BD9-81ED-4DB2-BD59-A6C34878D82A}">
                    <a16:rowId xmlns:a16="http://schemas.microsoft.com/office/drawing/2014/main" val="10002"/>
                  </a:ext>
                </a:extLst>
              </a:tr>
              <a:tr h="1051560">
                <a:tc>
                  <a:txBody>
                    <a:bodyPr/>
                    <a:lstStyle/>
                    <a:p>
                      <a:pPr algn="l">
                        <a:defRPr sz="1200" b="1">
                          <a:solidFill>
                            <a:srgbClr val="1E242B"/>
                          </a:solidFill>
                          <a:latin typeface="Times New Roman"/>
                        </a:defRPr>
                      </a:pPr>
                      <a:r>
                        <a:t>T11 ~ T12/2026</a:t>
                      </a:r>
                      <a:br/>
                      <a:r>
                        <a:t>(DR / PMT1 thử nghiệm)</a:t>
                      </a:r>
                    </a:p>
                  </a:txBody>
                  <a:tcPr marL="36576" marR="36576" marT="13716" marB="13716" anchor="ctr">
                    <a:solidFill>
                      <a:srgbClr val="FFFFFF"/>
                    </a:solidFill>
                  </a:tcPr>
                </a:tc>
                <a:tc>
                  <a:txBody>
                    <a:bodyPr/>
                    <a:lstStyle/>
                    <a:p>
                      <a:pPr algn="l">
                        <a:defRPr sz="1200">
                          <a:solidFill>
                            <a:srgbClr val="1E242B"/>
                          </a:solidFill>
                          <a:latin typeface="Times New Roman"/>
                        </a:defRPr>
                      </a:pPr>
                      <a:r>
                        <a:t>Chốt DR công đoạn; chế tạo JIG No.22, Camera No.27; chạy thử 4 cụm trạm A-1 đến A-4.</a:t>
                      </a:r>
                    </a:p>
                  </a:txBody>
                  <a:tcPr marL="36576" marR="36576" marT="13716" marB="13716" anchor="ctr">
                    <a:solidFill>
                      <a:srgbClr val="FFFFFF"/>
                    </a:solidFill>
                  </a:tcPr>
                </a:tc>
                <a:tc>
                  <a:txBody>
                    <a:bodyPr/>
                    <a:lstStyle/>
                    <a:p>
                      <a:pPr algn="l">
                        <a:defRPr sz="1200">
                          <a:solidFill>
                            <a:srgbClr val="1E242B"/>
                          </a:solidFill>
                          <a:latin typeface="Times New Roman"/>
                        </a:defRPr>
                      </a:pPr>
                      <a:r>
                        <a:t>Mục tiêu: Giảm 30%</a:t>
                      </a:r>
                      <a:br/>
                      <a:r>
                        <a:t>(Cắt giảm ≥ 705s/máy)</a:t>
                      </a:r>
                    </a:p>
                  </a:txBody>
                  <a:tcPr marL="36576" marR="36576" marT="13716" marB="13716" anchor="ctr">
                    <a:solidFill>
                      <a:srgbClr val="FFFFFF"/>
                    </a:solidFill>
                  </a:tcPr>
                </a:tc>
                <a:extLst>
                  <a:ext uri="{0D108BD9-81ED-4DB2-BD59-A6C34878D82A}">
                    <a16:rowId xmlns:a16="http://schemas.microsoft.com/office/drawing/2014/main" val="10003"/>
                  </a:ext>
                </a:extLst>
              </a:tr>
              <a:tr h="1051560">
                <a:tc>
                  <a:txBody>
                    <a:bodyPr/>
                    <a:lstStyle/>
                    <a:p>
                      <a:pPr algn="l">
                        <a:defRPr sz="1200" b="1">
                          <a:solidFill>
                            <a:srgbClr val="1E242B"/>
                          </a:solidFill>
                          <a:latin typeface="Times New Roman"/>
                        </a:defRPr>
                      </a:pPr>
                      <a:r>
                        <a:t>T1 ~ T3/2027</a:t>
                      </a:r>
                      <a:br/>
                      <a:r>
                        <a:t>(PMT2 -&gt; MP Hàng loạt)</a:t>
                      </a:r>
                    </a:p>
                  </a:txBody>
                  <a:tcPr marL="36576" marR="36576" marT="13716" marB="13716" anchor="ctr">
                    <a:solidFill>
                      <a:srgbClr val="FEF7E6"/>
                    </a:solidFill>
                  </a:tcPr>
                </a:tc>
                <a:tc>
                  <a:txBody>
                    <a:bodyPr/>
                    <a:lstStyle/>
                    <a:p>
                      <a:pPr algn="l">
                        <a:defRPr sz="1200">
                          <a:solidFill>
                            <a:srgbClr val="1E242B"/>
                          </a:solidFill>
                          <a:latin typeface="Times New Roman"/>
                        </a:defRPr>
                      </a:pPr>
                      <a:r>
                        <a:t>Nghiệm thu thiết bị Cpk ≥ 1,33; bỏ đo lệch Belt; vận hành chính thức nhịp Takt 97s.</a:t>
                      </a:r>
                    </a:p>
                  </a:txBody>
                  <a:tcPr marL="36576" marR="36576" marT="13716" marB="13716" anchor="ctr">
                    <a:solidFill>
                      <a:srgbClr val="FEF7E6"/>
                    </a:solidFill>
                  </a:tcPr>
                </a:tc>
                <a:tc>
                  <a:txBody>
                    <a:bodyPr/>
                    <a:lstStyle/>
                    <a:p>
                      <a:pPr algn="l">
                        <a:defRPr sz="1200">
                          <a:solidFill>
                            <a:srgbClr val="1E242B"/>
                          </a:solidFill>
                          <a:latin typeface="Times New Roman"/>
                        </a:defRPr>
                      </a:pPr>
                      <a:r>
                        <a:t>Hoàn thành 100% đề án</a:t>
                      </a:r>
                      <a:br/>
                      <a:r>
                        <a:t>Năng suất tăng gấp đôi</a:t>
                      </a:r>
                    </a:p>
                  </a:txBody>
                  <a:tcPr marL="36576" marR="36576" marT="13716" marB="13716" anchor="ctr">
                    <a:solidFill>
                      <a:srgbClr val="FEF7E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PHẦN THAM KHẢO (1/4)</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Tổng hợp toàn bộ 38 đề án cải tiến của 3 cứ điểm Nhật Bản (7) - Trung Quốc (11) - Việt Nam (20)</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12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Đối chiếu tổng thể số lượng đề án, thời gian cắt giảm, nhân lực và kinh phí giữa ba cứ điểm Nhật Bản, Trung Quốc và Việt Nam.</a:t>
            </a:r>
          </a:p>
        </p:txBody>
      </p:sp>
      <p:graphicFrame>
        <p:nvGraphicFramePr>
          <p:cNvPr id="7" name="Table 6"/>
          <p:cNvGraphicFramePr>
            <a:graphicFrameLocks noGrp="1"/>
          </p:cNvGraphicFramePr>
          <p:nvPr/>
        </p:nvGraphicFramePr>
        <p:xfrm>
          <a:off x="256032" y="1234440"/>
          <a:ext cx="11679631" cy="525780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gridCol w="2627071">
                  <a:extLst>
                    <a:ext uri="{9D8B030D-6E8A-4147-A177-3AD203B41FA5}">
                      <a16:colId xmlns:a16="http://schemas.microsoft.com/office/drawing/2014/main" val="20004"/>
                    </a:ext>
                  </a:extLst>
                </a:gridCol>
              </a:tblGrid>
              <a:tr h="876300">
                <a:tc>
                  <a:txBody>
                    <a:bodyPr/>
                    <a:lstStyle/>
                    <a:p>
                      <a:pPr algn="ctr">
                        <a:defRPr sz="1250" b="1">
                          <a:solidFill>
                            <a:srgbClr val="FFFFFF"/>
                          </a:solidFill>
                          <a:latin typeface="Times New Roman"/>
                        </a:defRPr>
                      </a:pPr>
                      <a:r>
                        <a:t>Chỉ tiêu đối chiếu</a:t>
                      </a:r>
                    </a:p>
                  </a:txBody>
                  <a:tcPr marL="36576" marR="36576" marT="13716" marB="13716" anchor="ctr">
                    <a:solidFill>
                      <a:srgbClr val="1B365D"/>
                    </a:solidFill>
                  </a:tcPr>
                </a:tc>
                <a:tc>
                  <a:txBody>
                    <a:bodyPr/>
                    <a:lstStyle/>
                    <a:p>
                      <a:pPr algn="ctr">
                        <a:defRPr sz="1250" b="1">
                          <a:solidFill>
                            <a:srgbClr val="FFFFFF"/>
                          </a:solidFill>
                          <a:latin typeface="Times New Roman"/>
                        </a:defRPr>
                      </a:pPr>
                      <a:r>
                        <a:t>Nhật Bản (JP)</a:t>
                      </a:r>
                    </a:p>
                  </a:txBody>
                  <a:tcPr marL="36576" marR="36576" marT="13716" marB="13716" anchor="ctr">
                    <a:solidFill>
                      <a:srgbClr val="1B365D"/>
                    </a:solidFill>
                  </a:tcPr>
                </a:tc>
                <a:tc>
                  <a:txBody>
                    <a:bodyPr/>
                    <a:lstStyle/>
                    <a:p>
                      <a:pPr algn="ctr">
                        <a:defRPr sz="1250" b="1">
                          <a:solidFill>
                            <a:srgbClr val="FFFFFF"/>
                          </a:solidFill>
                          <a:latin typeface="Times New Roman"/>
                        </a:defRPr>
                      </a:pPr>
                      <a:r>
                        <a:t>Trung Quốc (CN)</a:t>
                      </a:r>
                    </a:p>
                  </a:txBody>
                  <a:tcPr marL="36576" marR="36576" marT="13716" marB="13716" anchor="ctr">
                    <a:solidFill>
                      <a:srgbClr val="1B365D"/>
                    </a:solidFill>
                  </a:tcPr>
                </a:tc>
                <a:tc>
                  <a:txBody>
                    <a:bodyPr/>
                    <a:lstStyle/>
                    <a:p>
                      <a:pPr algn="ctr">
                        <a:defRPr sz="1250" b="1">
                          <a:solidFill>
                            <a:srgbClr val="FFFFFF"/>
                          </a:solidFill>
                          <a:latin typeface="Times New Roman"/>
                        </a:defRPr>
                      </a:pPr>
                      <a:r>
                        <a:t>Việt Nam (VN)</a:t>
                      </a:r>
                    </a:p>
                  </a:txBody>
                  <a:tcPr marL="36576" marR="36576" marT="13716" marB="13716" anchor="ctr">
                    <a:solidFill>
                      <a:srgbClr val="1B365D"/>
                    </a:solidFill>
                  </a:tcPr>
                </a:tc>
                <a:tc>
                  <a:txBody>
                    <a:bodyPr/>
                    <a:lstStyle/>
                    <a:p>
                      <a:pPr algn="ctr">
                        <a:defRPr sz="1250" b="1">
                          <a:solidFill>
                            <a:srgbClr val="FFFFFF"/>
                          </a:solidFill>
                          <a:latin typeface="Times New Roman"/>
                        </a:defRPr>
                      </a:pPr>
                      <a:r>
                        <a:t>Tổng hợp 3 cứ điểm</a:t>
                      </a:r>
                    </a:p>
                  </a:txBody>
                  <a:tcPr marL="36576" marR="36576" marT="13716" marB="13716" anchor="ctr">
                    <a:solidFill>
                      <a:srgbClr val="1B365D"/>
                    </a:solidFill>
                  </a:tcPr>
                </a:tc>
                <a:extLst>
                  <a:ext uri="{0D108BD9-81ED-4DB2-BD59-A6C34878D82A}">
                    <a16:rowId xmlns:a16="http://schemas.microsoft.com/office/drawing/2014/main" val="10000"/>
                  </a:ext>
                </a:extLst>
              </a:tr>
              <a:tr h="876300">
                <a:tc>
                  <a:txBody>
                    <a:bodyPr/>
                    <a:lstStyle/>
                    <a:p>
                      <a:pPr algn="l">
                        <a:defRPr sz="1200" b="1">
                          <a:solidFill>
                            <a:srgbClr val="1E242B"/>
                          </a:solidFill>
                          <a:latin typeface="Times New Roman"/>
                        </a:defRPr>
                      </a:pPr>
                      <a:r>
                        <a:t>1. Số lượng đề án</a:t>
                      </a:r>
                    </a:p>
                  </a:txBody>
                  <a:tcPr marL="36576" marR="36576" marT="13716" marB="13716" anchor="ctr">
                    <a:solidFill>
                      <a:srgbClr val="E8EEF5"/>
                    </a:solidFill>
                  </a:tcPr>
                </a:tc>
                <a:tc>
                  <a:txBody>
                    <a:bodyPr/>
                    <a:lstStyle/>
                    <a:p>
                      <a:pPr algn="l">
                        <a:defRPr sz="1200">
                          <a:solidFill>
                            <a:srgbClr val="1E242B"/>
                          </a:solidFill>
                          <a:latin typeface="Times New Roman"/>
                        </a:defRPr>
                      </a:pPr>
                      <a:r>
                        <a:t>7 đề án (No.1 ~ No.7)</a:t>
                      </a:r>
                      <a:br/>
                      <a:r>
                        <a:t>(Giữ nguyên từ T8 -&gt; T10)</a:t>
                      </a:r>
                    </a:p>
                  </a:txBody>
                  <a:tcPr marL="36576" marR="36576" marT="13716" marB="13716" anchor="ctr">
                    <a:solidFill>
                      <a:srgbClr val="E8EEF5"/>
                    </a:solidFill>
                  </a:tcPr>
                </a:tc>
                <a:tc>
                  <a:txBody>
                    <a:bodyPr/>
                    <a:lstStyle/>
                    <a:p>
                      <a:pPr algn="l">
                        <a:defRPr sz="1200">
                          <a:solidFill>
                            <a:srgbClr val="1E242B"/>
                          </a:solidFill>
                          <a:latin typeface="Times New Roman"/>
                        </a:defRPr>
                      </a:pPr>
                      <a:r>
                        <a:t>11 đề án (No.8 ~ No.17</a:t>
                      </a:r>
                      <a:br/>
                      <a:r>
                        <a:t>+ No.38 AI WeChat)</a:t>
                      </a:r>
                    </a:p>
                  </a:txBody>
                  <a:tcPr marL="36576" marR="36576" marT="13716" marB="13716" anchor="ctr">
                    <a:solidFill>
                      <a:srgbClr val="E8EEF5"/>
                    </a:solidFill>
                  </a:tcPr>
                </a:tc>
                <a:tc>
                  <a:txBody>
                    <a:bodyPr/>
                    <a:lstStyle/>
                    <a:p>
                      <a:pPr algn="l">
                        <a:defRPr sz="1200">
                          <a:solidFill>
                            <a:srgbClr val="1E242B"/>
                          </a:solidFill>
                          <a:latin typeface="Times New Roman"/>
                        </a:defRPr>
                      </a:pPr>
                      <a:r>
                        <a:t>20 đề án (No.18 ~ No.37</a:t>
                      </a:r>
                      <a:br/>
                      <a:r>
                        <a:t>+ Nạp FW trước)</a:t>
                      </a:r>
                    </a:p>
                  </a:txBody>
                  <a:tcPr marL="36576" marR="36576" marT="13716" marB="13716" anchor="ctr">
                    <a:solidFill>
                      <a:srgbClr val="E8EEF5"/>
                    </a:solidFill>
                  </a:tcPr>
                </a:tc>
                <a:tc>
                  <a:txBody>
                    <a:bodyPr/>
                    <a:lstStyle/>
                    <a:p>
                      <a:pPr algn="l">
                        <a:defRPr sz="1200">
                          <a:solidFill>
                            <a:srgbClr val="1E242B"/>
                          </a:solidFill>
                          <a:latin typeface="Times New Roman"/>
                        </a:defRPr>
                      </a:pPr>
                      <a:r>
                        <a:t>Toàn dự án: 38 đề án</a:t>
                      </a:r>
                      <a:br/>
                      <a:r>
                        <a:t>(JP: 7, CN: 11, VN: 20)</a:t>
                      </a:r>
                    </a:p>
                  </a:txBody>
                  <a:tcPr marL="36576" marR="36576" marT="13716" marB="13716" anchor="ctr">
                    <a:solidFill>
                      <a:srgbClr val="E8EEF5"/>
                    </a:solidFill>
                  </a:tcPr>
                </a:tc>
                <a:extLst>
                  <a:ext uri="{0D108BD9-81ED-4DB2-BD59-A6C34878D82A}">
                    <a16:rowId xmlns:a16="http://schemas.microsoft.com/office/drawing/2014/main" val="10001"/>
                  </a:ext>
                </a:extLst>
              </a:tr>
              <a:tr h="876300">
                <a:tc>
                  <a:txBody>
                    <a:bodyPr/>
                    <a:lstStyle/>
                    <a:p>
                      <a:pPr algn="l">
                        <a:defRPr sz="1200" b="1">
                          <a:solidFill>
                            <a:srgbClr val="1E242B"/>
                          </a:solidFill>
                          <a:latin typeface="Times New Roman"/>
                        </a:defRPr>
                      </a:pPr>
                      <a:r>
                        <a:t>2. Hiện trạng thời gian</a:t>
                      </a:r>
                      <a:br/>
                      <a:r>
                        <a:t>(Iris2024)</a:t>
                      </a:r>
                    </a:p>
                  </a:txBody>
                  <a:tcPr marL="36576" marR="36576" marT="13716" marB="13716" anchor="ctr">
                    <a:solidFill>
                      <a:srgbClr val="F7F9FC"/>
                    </a:solidFill>
                  </a:tcPr>
                </a:tc>
                <a:tc>
                  <a:txBody>
                    <a:bodyPr/>
                    <a:lstStyle/>
                    <a:p>
                      <a:pPr algn="l">
                        <a:defRPr sz="1200">
                          <a:solidFill>
                            <a:srgbClr val="1E242B"/>
                          </a:solidFill>
                          <a:latin typeface="Times New Roman"/>
                        </a:defRPr>
                      </a:pPr>
                      <a:r>
                        <a:t>Thao tác thuần: 1.171,7s</a:t>
                      </a:r>
                      <a:br/>
                      <a:r>
                        <a:t>Chưa cải tiến: 1.260,7s Color</a:t>
                      </a:r>
                    </a:p>
                  </a:txBody>
                  <a:tcPr marL="36576" marR="36576" marT="13716" marB="13716" anchor="ctr">
                    <a:solidFill>
                      <a:srgbClr val="F7F9FC"/>
                    </a:solidFill>
                  </a:tcPr>
                </a:tc>
                <a:tc>
                  <a:txBody>
                    <a:bodyPr/>
                    <a:lstStyle/>
                    <a:p>
                      <a:pPr algn="l">
                        <a:defRPr sz="1200">
                          <a:solidFill>
                            <a:srgbClr val="1E242B"/>
                          </a:solidFill>
                          <a:latin typeface="Times New Roman"/>
                        </a:defRPr>
                      </a:pPr>
                      <a:r>
                        <a:t>575 bước trên bảng CĐ;</a:t>
                      </a:r>
                      <a:br/>
                      <a:r>
                        <a:t>TG giảm đề xuất: 178,6s</a:t>
                      </a:r>
                    </a:p>
                  </a:txBody>
                  <a:tcPr marL="36576" marR="36576" marT="13716" marB="13716" anchor="ctr">
                    <a:solidFill>
                      <a:srgbClr val="F7F9FC"/>
                    </a:solidFill>
                  </a:tcPr>
                </a:tc>
                <a:tc>
                  <a:txBody>
                    <a:bodyPr/>
                    <a:lstStyle/>
                    <a:p>
                      <a:pPr algn="l">
                        <a:defRPr sz="1200">
                          <a:solidFill>
                            <a:srgbClr val="1E242B"/>
                          </a:solidFill>
                          <a:latin typeface="Times New Roman"/>
                        </a:defRPr>
                      </a:pPr>
                      <a:r>
                        <a:t>Chuẩn mã cao nhất: 1.083s</a:t>
                      </a:r>
                      <a:br/>
                      <a:r>
                        <a:t>Gross toàn công đoạn: 2.350s</a:t>
                      </a:r>
                    </a:p>
                  </a:txBody>
                  <a:tcPr marL="36576" marR="36576" marT="13716" marB="13716" anchor="ctr">
                    <a:solidFill>
                      <a:srgbClr val="F7F9FC"/>
                    </a:solidFill>
                  </a:tcPr>
                </a:tc>
                <a:tc>
                  <a:txBody>
                    <a:bodyPr/>
                    <a:lstStyle/>
                    <a:p>
                      <a:pPr algn="l">
                        <a:defRPr sz="1200">
                          <a:solidFill>
                            <a:srgbClr val="1E242B"/>
                          </a:solidFill>
                          <a:latin typeface="Times New Roman"/>
                        </a:defRPr>
                      </a:pPr>
                      <a:r>
                        <a:t>KDTVN: 1.083s (Gross: 2.350s)</a:t>
                      </a:r>
                      <a:br/>
                      <a:r>
                        <a:t>KDC: 1.171,7s Color</a:t>
                      </a:r>
                    </a:p>
                  </a:txBody>
                  <a:tcPr marL="36576" marR="36576" marT="13716" marB="13716" anchor="ctr">
                    <a:solidFill>
                      <a:srgbClr val="F7F9FC"/>
                    </a:solidFill>
                  </a:tcPr>
                </a:tc>
                <a:extLst>
                  <a:ext uri="{0D108BD9-81ED-4DB2-BD59-A6C34878D82A}">
                    <a16:rowId xmlns:a16="http://schemas.microsoft.com/office/drawing/2014/main" val="10002"/>
                  </a:ext>
                </a:extLst>
              </a:tr>
              <a:tr h="876300">
                <a:tc>
                  <a:txBody>
                    <a:bodyPr/>
                    <a:lstStyle/>
                    <a:p>
                      <a:pPr algn="l">
                        <a:defRPr sz="1200" b="1">
                          <a:solidFill>
                            <a:srgbClr val="1E242B"/>
                          </a:solidFill>
                          <a:latin typeface="Times New Roman"/>
                        </a:defRPr>
                      </a:pPr>
                      <a:r>
                        <a:t>3. Hiệu quả giảm thời gian</a:t>
                      </a:r>
                    </a:p>
                  </a:txBody>
                  <a:tcPr marL="36576" marR="36576" marT="13716" marB="13716" anchor="ctr">
                    <a:solidFill>
                      <a:srgbClr val="FFFFFF"/>
                    </a:solidFill>
                  </a:tcPr>
                </a:tc>
                <a:tc>
                  <a:txBody>
                    <a:bodyPr/>
                    <a:lstStyle/>
                    <a:p>
                      <a:pPr algn="l">
                        <a:defRPr sz="1200">
                          <a:solidFill>
                            <a:srgbClr val="1E242B"/>
                          </a:solidFill>
                          <a:latin typeface="Times New Roman"/>
                        </a:defRPr>
                      </a:pPr>
                      <a:r>
                        <a:t>-87,8s vs Iris2024</a:t>
                      </a:r>
                      <a:br/>
                      <a:r>
                        <a:t>(-176,8s vs chưa cải tiến;</a:t>
                      </a:r>
                      <a:br/>
                      <a:r>
                        <a:t>Xóa 153 bước: -267,7s)</a:t>
                      </a:r>
                    </a:p>
                  </a:txBody>
                  <a:tcPr marL="36576" marR="36576" marT="13716" marB="13716" anchor="ctr">
                    <a:solidFill>
                      <a:srgbClr val="FFFFFF"/>
                    </a:solidFill>
                  </a:tcPr>
                </a:tc>
                <a:tc>
                  <a:txBody>
                    <a:bodyPr/>
                    <a:lstStyle/>
                    <a:p>
                      <a:pPr algn="l">
                        <a:defRPr sz="1200">
                          <a:solidFill>
                            <a:srgbClr val="1E242B"/>
                          </a:solidFill>
                          <a:latin typeface="Times New Roman"/>
                        </a:defRPr>
                      </a:pPr>
                      <a:r>
                        <a:t>-178,6s thao tác</a:t>
                      </a:r>
                      <a:br/>
                      <a:r>
                        <a:t>-110,0s chờ in</a:t>
                      </a:r>
                    </a:p>
                  </a:txBody>
                  <a:tcPr marL="36576" marR="36576" marT="13716" marB="13716" anchor="ctr">
                    <a:solidFill>
                      <a:srgbClr val="FFFFFF"/>
                    </a:solidFill>
                  </a:tcPr>
                </a:tc>
                <a:tc>
                  <a:txBody>
                    <a:bodyPr/>
                    <a:lstStyle/>
                    <a:p>
                      <a:pPr algn="l">
                        <a:defRPr sz="1200">
                          <a:solidFill>
                            <a:srgbClr val="1E242B"/>
                          </a:solidFill>
                          <a:latin typeface="Times New Roman"/>
                        </a:defRPr>
                      </a:pPr>
                      <a:r>
                        <a:t>3 ĐA trong file: -170s</a:t>
                      </a:r>
                      <a:br/>
                      <a:r>
                        <a:t>Camera No.27: -177s~-215s</a:t>
                      </a:r>
                      <a:br/>
                      <a:r>
                        <a:t>Mục tiêu: Giảm 50% thời gian</a:t>
                      </a:r>
                    </a:p>
                  </a:txBody>
                  <a:tcPr marL="36576" marR="36576" marT="13716" marB="13716" anchor="ctr">
                    <a:solidFill>
                      <a:srgbClr val="FFFFFF"/>
                    </a:solidFill>
                  </a:tcPr>
                </a:tc>
                <a:tc>
                  <a:txBody>
                    <a:bodyPr/>
                    <a:lstStyle/>
                    <a:p>
                      <a:pPr algn="l">
                        <a:defRPr sz="1200">
                          <a:solidFill>
                            <a:srgbClr val="1E242B"/>
                          </a:solidFill>
                          <a:latin typeface="Times New Roman"/>
                        </a:defRPr>
                      </a:pPr>
                      <a:r>
                        <a:t>JP: -176,8s ~ -267,7s</a:t>
                      </a:r>
                      <a:br/>
                      <a:r>
                        <a:t>CN: -178,6s + -110s chờ in</a:t>
                      </a:r>
                      <a:br/>
                      <a:r>
                        <a:t>VN: Giảm 50% thời gian</a:t>
                      </a:r>
                    </a:p>
                  </a:txBody>
                  <a:tcPr marL="36576" marR="36576" marT="13716" marB="13716" anchor="ctr">
                    <a:solidFill>
                      <a:srgbClr val="FFFFFF"/>
                    </a:solidFill>
                  </a:tcPr>
                </a:tc>
                <a:extLst>
                  <a:ext uri="{0D108BD9-81ED-4DB2-BD59-A6C34878D82A}">
                    <a16:rowId xmlns:a16="http://schemas.microsoft.com/office/drawing/2014/main" val="10003"/>
                  </a:ext>
                </a:extLst>
              </a:tr>
              <a:tr h="876300">
                <a:tc>
                  <a:txBody>
                    <a:bodyPr/>
                    <a:lstStyle/>
                    <a:p>
                      <a:pPr algn="l">
                        <a:defRPr sz="1200" b="1">
                          <a:solidFill>
                            <a:srgbClr val="1E242B"/>
                          </a:solidFill>
                          <a:latin typeface="Times New Roman"/>
                        </a:defRPr>
                      </a:pPr>
                      <a:r>
                        <a:t>4. Nhân lực &amp; Năng suất</a:t>
                      </a:r>
                    </a:p>
                  </a:txBody>
                  <a:tcPr marL="36576" marR="36576" marT="13716" marB="13716" anchor="ctr">
                    <a:solidFill>
                      <a:srgbClr val="EAF7EE"/>
                    </a:solidFill>
                  </a:tcPr>
                </a:tc>
                <a:tc>
                  <a:txBody>
                    <a:bodyPr/>
                    <a:lstStyle/>
                    <a:p>
                      <a:pPr algn="l">
                        <a:defRPr sz="1200">
                          <a:solidFill>
                            <a:srgbClr val="1E242B"/>
                          </a:solidFill>
                          <a:latin typeface="Times New Roman"/>
                        </a:defRPr>
                      </a:pPr>
                      <a:r>
                        <a:t>Tham chiếu Athena: Giảm 50%</a:t>
                      </a:r>
                      <a:br/>
                      <a:r>
                        <a:t>(16 người -&gt; 8 người)</a:t>
                      </a:r>
                    </a:p>
                  </a:txBody>
                  <a:tcPr marL="36576" marR="36576" marT="13716" marB="13716" anchor="ctr">
                    <a:solidFill>
                      <a:srgbClr val="EAF7EE"/>
                    </a:solidFill>
                  </a:tcPr>
                </a:tc>
                <a:tc>
                  <a:txBody>
                    <a:bodyPr/>
                    <a:lstStyle/>
                    <a:p>
                      <a:pPr algn="l">
                        <a:defRPr sz="1200">
                          <a:solidFill>
                            <a:srgbClr val="1E242B"/>
                          </a:solidFill>
                          <a:latin typeface="Times New Roman"/>
                        </a:defRPr>
                      </a:pPr>
                      <a:r>
                        <a:t>Tiết kiệm: 11.160 RMB/tháng</a:t>
                      </a:r>
                      <a:br/>
                      <a:r>
                        <a:t>+ 5.000 RMB/5.000 máy</a:t>
                      </a:r>
                    </a:p>
                  </a:txBody>
                  <a:tcPr marL="36576" marR="36576" marT="13716" marB="13716" anchor="ctr">
                    <a:solidFill>
                      <a:srgbClr val="EAF7EE"/>
                    </a:solidFill>
                  </a:tcPr>
                </a:tc>
                <a:tc>
                  <a:txBody>
                    <a:bodyPr/>
                    <a:lstStyle/>
                    <a:p>
                      <a:pPr algn="l">
                        <a:defRPr sz="1200">
                          <a:solidFill>
                            <a:srgbClr val="1E242B"/>
                          </a:solidFill>
                          <a:latin typeface="Times New Roman"/>
                        </a:defRPr>
                      </a:pPr>
                      <a:r>
                        <a:t>Hiện tại: 16 người (15,2 máy)</a:t>
                      </a:r>
                      <a:br/>
                      <a:r>
                        <a:t>Mục tiêu: x2 NS (≥30,4 máy)</a:t>
                      </a:r>
                      <a:br/>
                      <a:r>
                        <a:t>Giảm 50% người (còn 8~9)</a:t>
                      </a:r>
                    </a:p>
                  </a:txBody>
                  <a:tcPr marL="36576" marR="36576" marT="13716" marB="13716" anchor="ctr">
                    <a:solidFill>
                      <a:srgbClr val="EAF7EE"/>
                    </a:solidFill>
                  </a:tcPr>
                </a:tc>
                <a:tc>
                  <a:txBody>
                    <a:bodyPr/>
                    <a:lstStyle/>
                    <a:p>
                      <a:pPr algn="l">
                        <a:defRPr sz="1200">
                          <a:solidFill>
                            <a:srgbClr val="1E242B"/>
                          </a:solidFill>
                          <a:latin typeface="Times New Roman"/>
                        </a:defRPr>
                      </a:pPr>
                      <a:r>
                        <a:t>Mục tiêu: Tăng x2 năng suất</a:t>
                      </a:r>
                      <a:br/>
                      <a:r>
                        <a:t>Đảm bảo SX trên Line hiện tại</a:t>
                      </a:r>
                    </a:p>
                  </a:txBody>
                  <a:tcPr marL="36576" marR="36576" marT="13716" marB="13716" anchor="ctr">
                    <a:solidFill>
                      <a:srgbClr val="EAF7EE"/>
                    </a:solidFill>
                  </a:tcPr>
                </a:tc>
                <a:extLst>
                  <a:ext uri="{0D108BD9-81ED-4DB2-BD59-A6C34878D82A}">
                    <a16:rowId xmlns:a16="http://schemas.microsoft.com/office/drawing/2014/main" val="10004"/>
                  </a:ext>
                </a:extLst>
              </a:tr>
              <a:tr h="876300">
                <a:tc>
                  <a:txBody>
                    <a:bodyPr/>
                    <a:lstStyle/>
                    <a:p>
                      <a:pPr algn="l">
                        <a:defRPr sz="1200" b="1">
                          <a:solidFill>
                            <a:srgbClr val="1E242B"/>
                          </a:solidFill>
                          <a:latin typeface="Times New Roman"/>
                        </a:defRPr>
                      </a:pPr>
                      <a:r>
                        <a:t>5. Dự toán kinh phí</a:t>
                      </a:r>
                    </a:p>
                  </a:txBody>
                  <a:tcPr marL="36576" marR="36576" marT="13716" marB="13716" anchor="ctr">
                    <a:solidFill>
                      <a:srgbClr val="FEF7E6"/>
                    </a:solidFill>
                  </a:tcPr>
                </a:tc>
                <a:tc>
                  <a:txBody>
                    <a:bodyPr/>
                    <a:lstStyle/>
                    <a:p>
                      <a:pPr algn="l">
                        <a:defRPr sz="1200">
                          <a:solidFill>
                            <a:srgbClr val="1E242B"/>
                          </a:solidFill>
                          <a:latin typeface="Times New Roman"/>
                        </a:defRPr>
                      </a:pPr>
                      <a:r>
                        <a:t>Mini PC: ~40.000 JPY/bộ</a:t>
                      </a:r>
                      <a:br/>
                      <a:r>
                        <a:t>(1 bộ điều khiển 4 máy)</a:t>
                      </a:r>
                    </a:p>
                  </a:txBody>
                  <a:tcPr marL="36576" marR="36576" marT="13716" marB="13716" anchor="ctr">
                    <a:solidFill>
                      <a:srgbClr val="FEF7E6"/>
                    </a:solidFill>
                  </a:tcPr>
                </a:tc>
                <a:tc>
                  <a:txBody>
                    <a:bodyPr/>
                    <a:lstStyle/>
                    <a:p>
                      <a:pPr algn="l">
                        <a:defRPr sz="1200">
                          <a:solidFill>
                            <a:srgbClr val="1E242B"/>
                          </a:solidFill>
                          <a:latin typeface="Times New Roman"/>
                        </a:defRPr>
                      </a:pPr>
                      <a:r>
                        <a:t>Bỏ U155, giảm tờ in:</a:t>
                      </a:r>
                      <a:br/>
                      <a:r>
                        <a:t>0 RMB chi phí thiết bị</a:t>
                      </a:r>
                    </a:p>
                  </a:txBody>
                  <a:tcPr marL="36576" marR="36576" marT="13716" marB="13716" anchor="ctr">
                    <a:solidFill>
                      <a:srgbClr val="FEF7E6"/>
                    </a:solidFill>
                  </a:tcPr>
                </a:tc>
                <a:tc>
                  <a:txBody>
                    <a:bodyPr/>
                    <a:lstStyle/>
                    <a:p>
                      <a:pPr algn="l">
                        <a:defRPr sz="1200" b="1">
                          <a:solidFill>
                            <a:srgbClr val="1E6E3E"/>
                          </a:solidFill>
                          <a:latin typeface="Times New Roman"/>
                        </a:defRPr>
                      </a:pPr>
                      <a:r>
                        <a:t>No.22 (BOM): 101,69 tr VNĐ</a:t>
                      </a:r>
                      <a:br/>
                      <a:r>
                        <a:t>Tổng 3 ĐA: 855,69 tr VNĐ</a:t>
                      </a:r>
                      <a:br/>
                      <a:r>
                        <a:t>(Duyệt trước No.22: 101,69 tr)</a:t>
                      </a:r>
                    </a:p>
                  </a:txBody>
                  <a:tcPr marL="36576" marR="36576" marT="13716" marB="13716" anchor="ctr">
                    <a:solidFill>
                      <a:srgbClr val="FEF7E6"/>
                    </a:solidFill>
                  </a:tcPr>
                </a:tc>
                <a:tc>
                  <a:txBody>
                    <a:bodyPr/>
                    <a:lstStyle/>
                    <a:p>
                      <a:pPr algn="l">
                        <a:defRPr sz="1200" b="1">
                          <a:solidFill>
                            <a:srgbClr val="1E6E3E"/>
                          </a:solidFill>
                          <a:latin typeface="Times New Roman"/>
                        </a:defRPr>
                      </a:pPr>
                      <a:r>
                        <a:t>VN: 855,69 tr (32.911 USD)</a:t>
                      </a:r>
                      <a:br/>
                      <a:r>
                        <a:t>(Duyệt riêng No.22: 101,69 tr)</a:t>
                      </a:r>
                      <a:br/>
                      <a:r>
                        <a:t>JP: Mini PC ~40k JPY/bộ</a:t>
                      </a:r>
                    </a:p>
                  </a:txBody>
                  <a:tcPr marL="36576" marR="36576" marT="13716" marB="13716" anchor="ctr">
                    <a:solidFill>
                      <a:srgbClr val="FEF7E6"/>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PHẦN THAM KHẢO (2/4)</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Chi tiết 7 đề án của Nhật Bản (No.1 ~ No.7) và 11 đề án của Trung Quốc (No.8 ~ No.17, No.38)</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13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Danh mục 7 đề án của Nhật Bản và 11 đề án của Trung Quốc theo tài liệu tổng hợp chung, cùng kế hoạch triển khai ngang tại KDTVN.</a:t>
            </a:r>
          </a:p>
        </p:txBody>
      </p:sp>
      <p:graphicFrame>
        <p:nvGraphicFramePr>
          <p:cNvPr id="7" name="Table 6"/>
          <p:cNvGraphicFramePr>
            <a:graphicFrameLocks noGrp="1"/>
          </p:cNvGraphicFramePr>
          <p:nvPr/>
        </p:nvGraphicFramePr>
        <p:xfrm>
          <a:off x="256032" y="1234440"/>
          <a:ext cx="5669280" cy="5257800"/>
        </p:xfrm>
        <a:graphic>
          <a:graphicData uri="http://schemas.openxmlformats.org/drawingml/2006/table">
            <a:tbl>
              <a:tblPr firstRow="1" bandRow="1">
                <a:tableStyleId>{5C22544A-7EE6-4342-B048-85BDC9FD1C3A}</a:tableStyleId>
              </a:tblPr>
              <a:tblGrid>
                <a:gridCol w="82296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657225">
                <a:tc>
                  <a:txBody>
                    <a:bodyPr/>
                    <a:lstStyle/>
                    <a:p>
                      <a:pPr algn="ctr">
                        <a:defRPr sz="1250" b="1">
                          <a:solidFill>
                            <a:srgbClr val="FFFFFF"/>
                          </a:solidFill>
                          <a:latin typeface="Times New Roman"/>
                        </a:defRPr>
                      </a:pPr>
                      <a:r>
                        <a:t>STT</a:t>
                      </a:r>
                    </a:p>
                  </a:txBody>
                  <a:tcPr marL="36576" marR="36576" marT="13716" marB="13716" anchor="ctr">
                    <a:solidFill>
                      <a:srgbClr val="1B365D"/>
                    </a:solidFill>
                  </a:tcPr>
                </a:tc>
                <a:tc>
                  <a:txBody>
                    <a:bodyPr/>
                    <a:lstStyle/>
                    <a:p>
                      <a:pPr algn="ctr">
                        <a:defRPr sz="1250" b="1">
                          <a:solidFill>
                            <a:srgbClr val="FFFFFF"/>
                          </a:solidFill>
                          <a:latin typeface="Times New Roman"/>
                        </a:defRPr>
                      </a:pPr>
                      <a:r>
                        <a:t>7 Đề án của Nhật Bản (JP: No.1 ~ No.7)</a:t>
                      </a:r>
                    </a:p>
                  </a:txBody>
                  <a:tcPr marL="36576" marR="36576" marT="13716" marB="13716" anchor="ctr">
                    <a:solidFill>
                      <a:srgbClr val="1B365D"/>
                    </a:solidFill>
                  </a:tcPr>
                </a:tc>
                <a:tc>
                  <a:txBody>
                    <a:bodyPr/>
                    <a:lstStyle/>
                    <a:p>
                      <a:pPr algn="ctr">
                        <a:defRPr sz="1250" b="1">
                          <a:solidFill>
                            <a:srgbClr val="FFFFFF"/>
                          </a:solidFill>
                          <a:latin typeface="Times New Roman"/>
                        </a:defRPr>
                      </a:pPr>
                      <a:r>
                        <a:t>Trạng thái</a:t>
                      </a:r>
                    </a:p>
                  </a:txBody>
                  <a:tcPr marL="36576" marR="36576" marT="13716" marB="13716" anchor="ctr">
                    <a:solidFill>
                      <a:srgbClr val="1B365D"/>
                    </a:solidFill>
                  </a:tcPr>
                </a:tc>
                <a:extLst>
                  <a:ext uri="{0D108BD9-81ED-4DB2-BD59-A6C34878D82A}">
                    <a16:rowId xmlns:a16="http://schemas.microsoft.com/office/drawing/2014/main" val="10000"/>
                  </a:ext>
                </a:extLst>
              </a:tr>
              <a:tr h="657225">
                <a:tc>
                  <a:txBody>
                    <a:bodyPr/>
                    <a:lstStyle/>
                    <a:p>
                      <a:pPr algn="ctr">
                        <a:defRPr sz="1200" b="1">
                          <a:solidFill>
                            <a:srgbClr val="1E242B"/>
                          </a:solidFill>
                          <a:latin typeface="Times New Roman"/>
                        </a:defRPr>
                      </a:pPr>
                      <a:r>
                        <a:t>No.1</a:t>
                      </a:r>
                    </a:p>
                  </a:txBody>
                  <a:tcPr marL="36576" marR="36576" marT="13716" marB="13716" anchor="ctr">
                    <a:solidFill>
                      <a:srgbClr val="FFFFFF"/>
                    </a:solidFill>
                  </a:tcPr>
                </a:tc>
                <a:tc>
                  <a:txBody>
                    <a:bodyPr/>
                    <a:lstStyle/>
                    <a:p>
                      <a:pPr algn="l">
                        <a:defRPr sz="1200">
                          <a:solidFill>
                            <a:srgbClr val="1E242B"/>
                          </a:solidFill>
                          <a:latin typeface="Times New Roman"/>
                        </a:defRPr>
                      </a:pPr>
                      <a:r>
                        <a:t>Thiết kế chuyền lấy A-1 làm trung tâm (4 người, Takt 97s)</a:t>
                      </a:r>
                    </a:p>
                  </a:txBody>
                  <a:tcPr marL="36576" marR="36576" marT="13716" marB="13716" anchor="ctr">
                    <a:solidFill>
                      <a:srgbClr val="FFFFFF"/>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FFFFFF"/>
                    </a:solidFill>
                  </a:tcPr>
                </a:tc>
                <a:extLst>
                  <a:ext uri="{0D108BD9-81ED-4DB2-BD59-A6C34878D82A}">
                    <a16:rowId xmlns:a16="http://schemas.microsoft.com/office/drawing/2014/main" val="10001"/>
                  </a:ext>
                </a:extLst>
              </a:tr>
              <a:tr h="657225">
                <a:tc>
                  <a:txBody>
                    <a:bodyPr/>
                    <a:lstStyle/>
                    <a:p>
                      <a:pPr algn="ctr">
                        <a:defRPr sz="1200" b="1">
                          <a:solidFill>
                            <a:srgbClr val="1E242B"/>
                          </a:solidFill>
                          <a:latin typeface="Times New Roman"/>
                        </a:defRPr>
                      </a:pPr>
                      <a:r>
                        <a:t>No.2</a:t>
                      </a:r>
                    </a:p>
                  </a:txBody>
                  <a:tcPr marL="36576" marR="36576" marT="13716" marB="13716" anchor="ctr">
                    <a:solidFill>
                      <a:srgbClr val="EAF7EE"/>
                    </a:solidFill>
                  </a:tcPr>
                </a:tc>
                <a:tc>
                  <a:txBody>
                    <a:bodyPr/>
                    <a:lstStyle/>
                    <a:p>
                      <a:pPr algn="l">
                        <a:defRPr sz="1200">
                          <a:solidFill>
                            <a:srgbClr val="1E242B"/>
                          </a:solidFill>
                          <a:latin typeface="Times New Roman"/>
                        </a:defRPr>
                      </a:pPr>
                      <a:r>
                        <a:t>Bỏ bước cài đặt ngưỡng mực thải WTB U155 (-29,2s)</a:t>
                      </a:r>
                    </a:p>
                  </a:txBody>
                  <a:tcPr marL="36576" marR="36576" marT="13716" marB="13716" anchor="ctr">
                    <a:solidFill>
                      <a:srgbClr val="EAF7EE"/>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AF7EE"/>
                    </a:solidFill>
                  </a:tcPr>
                </a:tc>
                <a:extLst>
                  <a:ext uri="{0D108BD9-81ED-4DB2-BD59-A6C34878D82A}">
                    <a16:rowId xmlns:a16="http://schemas.microsoft.com/office/drawing/2014/main" val="10002"/>
                  </a:ext>
                </a:extLst>
              </a:tr>
              <a:tr h="657225">
                <a:tc>
                  <a:txBody>
                    <a:bodyPr/>
                    <a:lstStyle/>
                    <a:p>
                      <a:pPr algn="ctr">
                        <a:defRPr sz="1200" b="1">
                          <a:solidFill>
                            <a:srgbClr val="1E242B"/>
                          </a:solidFill>
                          <a:latin typeface="Times New Roman"/>
                        </a:defRPr>
                      </a:pPr>
                      <a:r>
                        <a:t>No.3</a:t>
                      </a:r>
                    </a:p>
                  </a:txBody>
                  <a:tcPr marL="36576" marR="36576" marT="13716" marB="13716" anchor="ctr">
                    <a:solidFill>
                      <a:srgbClr val="EAF7EE"/>
                    </a:solidFill>
                  </a:tcPr>
                </a:tc>
                <a:tc>
                  <a:txBody>
                    <a:bodyPr/>
                    <a:lstStyle/>
                    <a:p>
                      <a:pPr algn="l">
                        <a:defRPr sz="1200">
                          <a:solidFill>
                            <a:srgbClr val="1E242B"/>
                          </a:solidFill>
                          <a:latin typeface="Times New Roman"/>
                        </a:defRPr>
                      </a:pPr>
                      <a:r>
                        <a:t>Bỏ bấm tay U201, chuyển sang đọc log Host PC (-15,1s)</a:t>
                      </a:r>
                    </a:p>
                  </a:txBody>
                  <a:tcPr marL="36576" marR="36576" marT="13716" marB="13716" anchor="ctr">
                    <a:solidFill>
                      <a:srgbClr val="EAF7EE"/>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AF7EE"/>
                    </a:solidFill>
                  </a:tcPr>
                </a:tc>
                <a:extLst>
                  <a:ext uri="{0D108BD9-81ED-4DB2-BD59-A6C34878D82A}">
                    <a16:rowId xmlns:a16="http://schemas.microsoft.com/office/drawing/2014/main" val="10003"/>
                  </a:ext>
                </a:extLst>
              </a:tr>
              <a:tr h="657225">
                <a:tc>
                  <a:txBody>
                    <a:bodyPr/>
                    <a:lstStyle/>
                    <a:p>
                      <a:pPr algn="ctr">
                        <a:defRPr sz="1200" b="1">
                          <a:solidFill>
                            <a:srgbClr val="1E242B"/>
                          </a:solidFill>
                          <a:latin typeface="Times New Roman"/>
                        </a:defRPr>
                      </a:pPr>
                      <a:r>
                        <a:t>No.4</a:t>
                      </a:r>
                    </a:p>
                  </a:txBody>
                  <a:tcPr marL="36576" marR="36576" marT="13716" marB="13716" anchor="ctr">
                    <a:solidFill>
                      <a:srgbClr val="EAF7EE"/>
                    </a:solidFill>
                  </a:tcPr>
                </a:tc>
                <a:tc>
                  <a:txBody>
                    <a:bodyPr/>
                    <a:lstStyle/>
                    <a:p>
                      <a:pPr algn="l">
                        <a:defRPr sz="1200">
                          <a:solidFill>
                            <a:srgbClr val="1E242B"/>
                          </a:solidFill>
                          <a:latin typeface="Times New Roman"/>
                        </a:defRPr>
                      </a:pPr>
                      <a:r>
                        <a:t>Tự động kiểm tra cảm biến khổ giấy khay 1 &amp; 2 (-66,7s)</a:t>
                      </a:r>
                    </a:p>
                  </a:txBody>
                  <a:tcPr marL="36576" marR="36576" marT="13716" marB="13716" anchor="ctr">
                    <a:solidFill>
                      <a:srgbClr val="EAF7EE"/>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AF7EE"/>
                    </a:solidFill>
                  </a:tcPr>
                </a:tc>
                <a:extLst>
                  <a:ext uri="{0D108BD9-81ED-4DB2-BD59-A6C34878D82A}">
                    <a16:rowId xmlns:a16="http://schemas.microsoft.com/office/drawing/2014/main" val="10004"/>
                  </a:ext>
                </a:extLst>
              </a:tr>
              <a:tr h="657225">
                <a:tc>
                  <a:txBody>
                    <a:bodyPr/>
                    <a:lstStyle/>
                    <a:p>
                      <a:pPr algn="ctr">
                        <a:defRPr sz="1200" b="1">
                          <a:solidFill>
                            <a:srgbClr val="1E242B"/>
                          </a:solidFill>
                          <a:latin typeface="Times New Roman"/>
                        </a:defRPr>
                      </a:pPr>
                      <a:r>
                        <a:t>No.5</a:t>
                      </a:r>
                    </a:p>
                  </a:txBody>
                  <a:tcPr marL="36576" marR="36576" marT="13716" marB="13716" anchor="ctr">
                    <a:solidFill>
                      <a:srgbClr val="FFFFFF"/>
                    </a:solidFill>
                  </a:tcPr>
                </a:tc>
                <a:tc>
                  <a:txBody>
                    <a:bodyPr/>
                    <a:lstStyle/>
                    <a:p>
                      <a:pPr algn="l">
                        <a:defRPr sz="1200">
                          <a:solidFill>
                            <a:srgbClr val="1E242B"/>
                          </a:solidFill>
                          <a:latin typeface="Times New Roman"/>
                        </a:defRPr>
                      </a:pPr>
                      <a:r>
                        <a:t>Đổi phương pháp kiểm tra cảm biến người &amp; bỏ tạo JAM</a:t>
                      </a:r>
                    </a:p>
                  </a:txBody>
                  <a:tcPr marL="36576" marR="36576" marT="13716" marB="13716" anchor="ctr">
                    <a:solidFill>
                      <a:srgbClr val="FFFFFF"/>
                    </a:solidFill>
                  </a:tcPr>
                </a:tc>
                <a:tc>
                  <a:txBody>
                    <a:bodyPr/>
                    <a:lstStyle/>
                    <a:p>
                      <a:pPr algn="ctr">
                        <a:defRPr sz="1200">
                          <a:solidFill>
                            <a:srgbClr val="1E242B"/>
                          </a:solidFill>
                          <a:latin typeface="Times New Roman"/>
                        </a:defRPr>
                      </a:pPr>
                      <a:r>
                        <a:t>Chờ tài liệu JP</a:t>
                      </a:r>
                    </a:p>
                  </a:txBody>
                  <a:tcPr marL="36576" marR="36576" marT="13716" marB="13716" anchor="ctr">
                    <a:solidFill>
                      <a:srgbClr val="FFFFFF"/>
                    </a:solidFill>
                  </a:tcPr>
                </a:tc>
                <a:extLst>
                  <a:ext uri="{0D108BD9-81ED-4DB2-BD59-A6C34878D82A}">
                    <a16:rowId xmlns:a16="http://schemas.microsoft.com/office/drawing/2014/main" val="10005"/>
                  </a:ext>
                </a:extLst>
              </a:tr>
              <a:tr h="657225">
                <a:tc>
                  <a:txBody>
                    <a:bodyPr/>
                    <a:lstStyle/>
                    <a:p>
                      <a:pPr algn="ctr">
                        <a:defRPr sz="1200" b="1">
                          <a:solidFill>
                            <a:srgbClr val="1E242B"/>
                          </a:solidFill>
                          <a:latin typeface="Times New Roman"/>
                        </a:defRPr>
                      </a:pPr>
                      <a:r>
                        <a:t>No.6</a:t>
                      </a:r>
                    </a:p>
                  </a:txBody>
                  <a:tcPr marL="36576" marR="36576" marT="13716" marB="13716" anchor="ctr">
                    <a:solidFill>
                      <a:srgbClr val="EAF7EE"/>
                    </a:solidFill>
                  </a:tcPr>
                </a:tc>
                <a:tc>
                  <a:txBody>
                    <a:bodyPr/>
                    <a:lstStyle/>
                    <a:p>
                      <a:pPr algn="l">
                        <a:defRPr sz="1200">
                          <a:solidFill>
                            <a:srgbClr val="1E242B"/>
                          </a:solidFill>
                          <a:latin typeface="Times New Roman"/>
                        </a:defRPr>
                      </a:pPr>
                      <a:r>
                        <a:t>Bỏ kiểm tra cổng USB riêng biệt (bảo chứng khi nạp FW)</a:t>
                      </a:r>
                    </a:p>
                  </a:txBody>
                  <a:tcPr marL="36576" marR="36576" marT="13716" marB="13716" anchor="ctr">
                    <a:solidFill>
                      <a:srgbClr val="EAF7EE"/>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AF7EE"/>
                    </a:solidFill>
                  </a:tcPr>
                </a:tc>
                <a:extLst>
                  <a:ext uri="{0D108BD9-81ED-4DB2-BD59-A6C34878D82A}">
                    <a16:rowId xmlns:a16="http://schemas.microsoft.com/office/drawing/2014/main" val="10006"/>
                  </a:ext>
                </a:extLst>
              </a:tr>
              <a:tr h="657225">
                <a:tc>
                  <a:txBody>
                    <a:bodyPr/>
                    <a:lstStyle/>
                    <a:p>
                      <a:pPr algn="ctr">
                        <a:defRPr sz="1200" b="1">
                          <a:solidFill>
                            <a:srgbClr val="1E242B"/>
                          </a:solidFill>
                          <a:latin typeface="Times New Roman"/>
                        </a:defRPr>
                      </a:pPr>
                      <a:r>
                        <a:t>No.7</a:t>
                      </a:r>
                    </a:p>
                  </a:txBody>
                  <a:tcPr marL="36576" marR="36576" marT="13716" marB="13716" anchor="ctr">
                    <a:solidFill>
                      <a:srgbClr val="EAF7EE"/>
                    </a:solidFill>
                  </a:tcPr>
                </a:tc>
                <a:tc>
                  <a:txBody>
                    <a:bodyPr/>
                    <a:lstStyle/>
                    <a:p>
                      <a:pPr algn="l">
                        <a:defRPr sz="1200">
                          <a:solidFill>
                            <a:srgbClr val="1E242B"/>
                          </a:solidFill>
                          <a:latin typeface="Times New Roman"/>
                        </a:defRPr>
                      </a:pPr>
                      <a:r>
                        <a:t>Tự nhận diện công tắc nắp &amp; đo an toàn điện khi đóng kín vỏ</a:t>
                      </a:r>
                    </a:p>
                  </a:txBody>
                  <a:tcPr marL="36576" marR="36576" marT="13716" marB="13716" anchor="ctr">
                    <a:solidFill>
                      <a:srgbClr val="EAF7EE"/>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AF7EE"/>
                    </a:solidFill>
                  </a:tcPr>
                </a:tc>
                <a:extLst>
                  <a:ext uri="{0D108BD9-81ED-4DB2-BD59-A6C34878D82A}">
                    <a16:rowId xmlns:a16="http://schemas.microsoft.com/office/drawing/2014/main" val="10007"/>
                  </a:ext>
                </a:extLst>
              </a:tr>
            </a:tbl>
          </a:graphicData>
        </a:graphic>
      </p:graphicFrame>
      <p:graphicFrame>
        <p:nvGraphicFramePr>
          <p:cNvPr id="8" name="Table 7"/>
          <p:cNvGraphicFramePr>
            <a:graphicFrameLocks noGrp="1"/>
          </p:cNvGraphicFramePr>
          <p:nvPr/>
        </p:nvGraphicFramePr>
        <p:xfrm>
          <a:off x="6172200" y="1234440"/>
          <a:ext cx="5760720" cy="5257800"/>
        </p:xfrm>
        <a:graphic>
          <a:graphicData uri="http://schemas.openxmlformats.org/drawingml/2006/table">
            <a:tbl>
              <a:tblPr firstRow="1" bandRow="1">
                <a:tableStyleId>{5C22544A-7EE6-4342-B048-85BDC9FD1C3A}</a:tableStyleId>
              </a:tblPr>
              <a:tblGrid>
                <a:gridCol w="82296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657225">
                <a:tc>
                  <a:txBody>
                    <a:bodyPr/>
                    <a:lstStyle/>
                    <a:p>
                      <a:pPr algn="ctr">
                        <a:defRPr sz="1250" b="1">
                          <a:solidFill>
                            <a:srgbClr val="FFFFFF"/>
                          </a:solidFill>
                          <a:latin typeface="Times New Roman"/>
                        </a:defRPr>
                      </a:pPr>
                      <a:r>
                        <a:t>STT</a:t>
                      </a:r>
                    </a:p>
                  </a:txBody>
                  <a:tcPr marL="36576" marR="36576" marT="13716" marB="13716" anchor="ctr">
                    <a:solidFill>
                      <a:srgbClr val="1B365D"/>
                    </a:solidFill>
                  </a:tcPr>
                </a:tc>
                <a:tc>
                  <a:txBody>
                    <a:bodyPr/>
                    <a:lstStyle/>
                    <a:p>
                      <a:pPr algn="ctr">
                        <a:defRPr sz="1250" b="1">
                          <a:solidFill>
                            <a:srgbClr val="FFFFFF"/>
                          </a:solidFill>
                          <a:latin typeface="Times New Roman"/>
                        </a:defRPr>
                      </a:pPr>
                      <a:r>
                        <a:t>11 Đề án của Trung Quốc (CN: No.8 ~ No.17, No.38)</a:t>
                      </a:r>
                    </a:p>
                  </a:txBody>
                  <a:tcPr marL="36576" marR="36576" marT="13716" marB="13716" anchor="ctr">
                    <a:solidFill>
                      <a:srgbClr val="1B365D"/>
                    </a:solidFill>
                  </a:tcPr>
                </a:tc>
                <a:tc>
                  <a:txBody>
                    <a:bodyPr/>
                    <a:lstStyle/>
                    <a:p>
                      <a:pPr algn="ctr">
                        <a:defRPr sz="1250" b="1">
                          <a:solidFill>
                            <a:srgbClr val="FFFFFF"/>
                          </a:solidFill>
                          <a:latin typeface="Times New Roman"/>
                        </a:defRPr>
                      </a:pPr>
                      <a:r>
                        <a:t>Trạng thái</a:t>
                      </a:r>
                    </a:p>
                  </a:txBody>
                  <a:tcPr marL="36576" marR="36576" marT="13716" marB="13716" anchor="ctr">
                    <a:solidFill>
                      <a:srgbClr val="1B365D"/>
                    </a:solidFill>
                  </a:tcPr>
                </a:tc>
                <a:extLst>
                  <a:ext uri="{0D108BD9-81ED-4DB2-BD59-A6C34878D82A}">
                    <a16:rowId xmlns:a16="http://schemas.microsoft.com/office/drawing/2014/main" val="10000"/>
                  </a:ext>
                </a:extLst>
              </a:tr>
              <a:tr h="657225">
                <a:tc>
                  <a:txBody>
                    <a:bodyPr/>
                    <a:lstStyle/>
                    <a:p>
                      <a:pPr algn="ctr">
                        <a:defRPr sz="1200" b="1">
                          <a:solidFill>
                            <a:srgbClr val="1E242B"/>
                          </a:solidFill>
                          <a:latin typeface="Times New Roman"/>
                        </a:defRPr>
                      </a:pPr>
                      <a:r>
                        <a:t>No.8</a:t>
                      </a:r>
                    </a:p>
                  </a:txBody>
                  <a:tcPr marL="36576" marR="36576" marT="13716" marB="13716" anchor="ctr">
                    <a:solidFill>
                      <a:srgbClr val="FFFFFF"/>
                    </a:solidFill>
                  </a:tcPr>
                </a:tc>
                <a:tc>
                  <a:txBody>
                    <a:bodyPr/>
                    <a:lstStyle/>
                    <a:p>
                      <a:pPr algn="l">
                        <a:defRPr sz="1200">
                          <a:solidFill>
                            <a:srgbClr val="1E242B"/>
                          </a:solidFill>
                          <a:latin typeface="Times New Roman"/>
                        </a:defRPr>
                      </a:pPr>
                      <a:r>
                        <a:t>Xem xét bỏ đo khe hở Belt truyền ảnh (-15,4s)</a:t>
                      </a:r>
                    </a:p>
                  </a:txBody>
                  <a:tcPr marL="36576" marR="36576" marT="13716" marB="13716" anchor="ctr">
                    <a:solidFill>
                      <a:srgbClr val="FFFFFF"/>
                    </a:solidFill>
                  </a:tcPr>
                </a:tc>
                <a:tc>
                  <a:txBody>
                    <a:bodyPr/>
                    <a:lstStyle/>
                    <a:p>
                      <a:pPr algn="ctr">
                        <a:defRPr sz="1200">
                          <a:solidFill>
                            <a:srgbClr val="1E242B"/>
                          </a:solidFill>
                          <a:latin typeface="Times New Roman"/>
                        </a:defRPr>
                      </a:pPr>
                      <a:r>
                        <a:t>Chờ QA duyệt</a:t>
                      </a:r>
                    </a:p>
                  </a:txBody>
                  <a:tcPr marL="36576" marR="36576" marT="13716" marB="13716" anchor="ctr">
                    <a:solidFill>
                      <a:srgbClr val="FFFFFF"/>
                    </a:solidFill>
                  </a:tcPr>
                </a:tc>
                <a:extLst>
                  <a:ext uri="{0D108BD9-81ED-4DB2-BD59-A6C34878D82A}">
                    <a16:rowId xmlns:a16="http://schemas.microsoft.com/office/drawing/2014/main" val="10001"/>
                  </a:ext>
                </a:extLst>
              </a:tr>
              <a:tr h="657225">
                <a:tc>
                  <a:txBody>
                    <a:bodyPr/>
                    <a:lstStyle/>
                    <a:p>
                      <a:pPr algn="ctr">
                        <a:defRPr sz="1200" b="1">
                          <a:solidFill>
                            <a:srgbClr val="1E242B"/>
                          </a:solidFill>
                          <a:latin typeface="Times New Roman"/>
                        </a:defRPr>
                      </a:pPr>
                      <a:r>
                        <a:t>No.9</a:t>
                      </a:r>
                    </a:p>
                  </a:txBody>
                  <a:tcPr marL="36576" marR="36576" marT="13716" marB="13716" anchor="ctr">
                    <a:solidFill>
                      <a:srgbClr val="F7F9FC"/>
                    </a:solidFill>
                  </a:tcPr>
                </a:tc>
                <a:tc>
                  <a:txBody>
                    <a:bodyPr/>
                    <a:lstStyle/>
                    <a:p>
                      <a:pPr algn="l">
                        <a:defRPr sz="1200">
                          <a:solidFill>
                            <a:srgbClr val="1E242B"/>
                          </a:solidFill>
                          <a:latin typeface="Times New Roman"/>
                        </a:defRPr>
                      </a:pPr>
                      <a:r>
                        <a:t>Giảm/bỏ kiểm tra độ bám mực sấy &amp; đổi test khay MPF</a:t>
                      </a:r>
                    </a:p>
                  </a:txBody>
                  <a:tcPr marL="36576" marR="36576" marT="13716" marB="13716" anchor="ctr">
                    <a:solidFill>
                      <a:srgbClr val="F7F9FC"/>
                    </a:solidFill>
                  </a:tcPr>
                </a:tc>
                <a:tc>
                  <a:txBody>
                    <a:bodyPr/>
                    <a:lstStyle/>
                    <a:p>
                      <a:pPr algn="ctr">
                        <a:defRPr sz="1200">
                          <a:solidFill>
                            <a:srgbClr val="1E242B"/>
                          </a:solidFill>
                          <a:latin typeface="Times New Roman"/>
                        </a:defRPr>
                      </a:pPr>
                      <a:r>
                        <a:t>Chờ QA duyệt</a:t>
                      </a:r>
                    </a:p>
                  </a:txBody>
                  <a:tcPr marL="36576" marR="36576" marT="13716" marB="13716" anchor="ctr">
                    <a:solidFill>
                      <a:srgbClr val="F7F9FC"/>
                    </a:solidFill>
                  </a:tcPr>
                </a:tc>
                <a:extLst>
                  <a:ext uri="{0D108BD9-81ED-4DB2-BD59-A6C34878D82A}">
                    <a16:rowId xmlns:a16="http://schemas.microsoft.com/office/drawing/2014/main" val="10002"/>
                  </a:ext>
                </a:extLst>
              </a:tr>
              <a:tr h="657225">
                <a:tc>
                  <a:txBody>
                    <a:bodyPr/>
                    <a:lstStyle/>
                    <a:p>
                      <a:pPr algn="ctr">
                        <a:defRPr sz="1200" b="1">
                          <a:solidFill>
                            <a:srgbClr val="1E242B"/>
                          </a:solidFill>
                          <a:latin typeface="Times New Roman"/>
                        </a:defRPr>
                      </a:pPr>
                      <a:r>
                        <a:t>No.10</a:t>
                      </a:r>
                    </a:p>
                  </a:txBody>
                  <a:tcPr marL="36576" marR="36576" marT="13716" marB="13716" anchor="ctr">
                    <a:solidFill>
                      <a:srgbClr val="FFFFFF"/>
                    </a:solidFill>
                  </a:tcPr>
                </a:tc>
                <a:tc>
                  <a:txBody>
                    <a:bodyPr/>
                    <a:lstStyle/>
                    <a:p>
                      <a:pPr algn="l">
                        <a:defRPr sz="1200">
                          <a:solidFill>
                            <a:srgbClr val="1E242B"/>
                          </a:solidFill>
                          <a:latin typeface="Times New Roman"/>
                        </a:defRPr>
                      </a:pPr>
                      <a:r>
                        <a:t>Xem xét lại quy trình soi chấm vàng chống tiền giả PPT</a:t>
                      </a:r>
                    </a:p>
                  </a:txBody>
                  <a:tcPr marL="36576" marR="36576" marT="13716" marB="13716" anchor="ctr">
                    <a:solidFill>
                      <a:srgbClr val="FFFFFF"/>
                    </a:solidFill>
                  </a:tcPr>
                </a:tc>
                <a:tc>
                  <a:txBody>
                    <a:bodyPr/>
                    <a:lstStyle/>
                    <a:p>
                      <a:pPr algn="ctr">
                        <a:defRPr sz="1200">
                          <a:solidFill>
                            <a:srgbClr val="1E242B"/>
                          </a:solidFill>
                          <a:latin typeface="Times New Roman"/>
                        </a:defRPr>
                      </a:pPr>
                      <a:r>
                        <a:t>Tạm giữ Scanner</a:t>
                      </a:r>
                    </a:p>
                  </a:txBody>
                  <a:tcPr marL="36576" marR="36576" marT="13716" marB="13716" anchor="ctr">
                    <a:solidFill>
                      <a:srgbClr val="FFFFFF"/>
                    </a:solidFill>
                  </a:tcPr>
                </a:tc>
                <a:extLst>
                  <a:ext uri="{0D108BD9-81ED-4DB2-BD59-A6C34878D82A}">
                    <a16:rowId xmlns:a16="http://schemas.microsoft.com/office/drawing/2014/main" val="10003"/>
                  </a:ext>
                </a:extLst>
              </a:tr>
              <a:tr h="657225">
                <a:tc>
                  <a:txBody>
                    <a:bodyPr/>
                    <a:lstStyle/>
                    <a:p>
                      <a:pPr algn="ctr">
                        <a:defRPr sz="1200" b="1">
                          <a:solidFill>
                            <a:srgbClr val="1E242B"/>
                          </a:solidFill>
                          <a:latin typeface="Times New Roman"/>
                        </a:defRPr>
                      </a:pPr>
                      <a:r>
                        <a:t>No.11</a:t>
                      </a:r>
                    </a:p>
                  </a:txBody>
                  <a:tcPr marL="36576" marR="36576" marT="13716" marB="13716" anchor="ctr">
                    <a:solidFill>
                      <a:srgbClr val="EAF7EE"/>
                    </a:solidFill>
                  </a:tcPr>
                </a:tc>
                <a:tc>
                  <a:txBody>
                    <a:bodyPr/>
                    <a:lstStyle/>
                    <a:p>
                      <a:pPr algn="l">
                        <a:defRPr sz="1200">
                          <a:solidFill>
                            <a:srgbClr val="1E242B"/>
                          </a:solidFill>
                          <a:latin typeface="Times New Roman"/>
                        </a:defRPr>
                      </a:pPr>
                      <a:r>
                        <a:t>Gộp 2 tờ DC-1 và bản Gray thành 1 tờ duy nhất</a:t>
                      </a:r>
                    </a:p>
                  </a:txBody>
                  <a:tcPr marL="36576" marR="36576" marT="13716" marB="13716" anchor="ctr">
                    <a:solidFill>
                      <a:srgbClr val="EAF7EE"/>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AF7EE"/>
                    </a:solidFill>
                  </a:tcPr>
                </a:tc>
                <a:extLst>
                  <a:ext uri="{0D108BD9-81ED-4DB2-BD59-A6C34878D82A}">
                    <a16:rowId xmlns:a16="http://schemas.microsoft.com/office/drawing/2014/main" val="10004"/>
                  </a:ext>
                </a:extLst>
              </a:tr>
              <a:tr h="657225">
                <a:tc>
                  <a:txBody>
                    <a:bodyPr/>
                    <a:lstStyle/>
                    <a:p>
                      <a:pPr algn="ctr">
                        <a:defRPr sz="1200" b="1">
                          <a:solidFill>
                            <a:srgbClr val="1E242B"/>
                          </a:solidFill>
                          <a:latin typeface="Times New Roman"/>
                        </a:defRPr>
                      </a:pPr>
                      <a:r>
                        <a:t>No.12</a:t>
                      </a:r>
                    </a:p>
                  </a:txBody>
                  <a:tcPr marL="36576" marR="36576" marT="13716" marB="13716" anchor="ctr">
                    <a:solidFill>
                      <a:srgbClr val="FFFFFF"/>
                    </a:solidFill>
                  </a:tcPr>
                </a:tc>
                <a:tc>
                  <a:txBody>
                    <a:bodyPr/>
                    <a:lstStyle/>
                    <a:p>
                      <a:pPr algn="l">
                        <a:defRPr sz="1200">
                          <a:solidFill>
                            <a:srgbClr val="1E242B"/>
                          </a:solidFill>
                          <a:latin typeface="Times New Roman"/>
                        </a:defRPr>
                      </a:pPr>
                      <a:r>
                        <a:t>Đồ gá tự động quét đo lề bản in Gray &amp; bù lệnh U402</a:t>
                      </a:r>
                    </a:p>
                  </a:txBody>
                  <a:tcPr marL="36576" marR="36576" marT="13716" marB="13716" anchor="ctr">
                    <a:solidFill>
                      <a:srgbClr val="FFFFFF"/>
                    </a:solidFill>
                  </a:tcPr>
                </a:tc>
                <a:tc>
                  <a:txBody>
                    <a:bodyPr/>
                    <a:lstStyle/>
                    <a:p>
                      <a:pPr algn="ctr">
                        <a:defRPr sz="1200">
                          <a:solidFill>
                            <a:srgbClr val="1E242B"/>
                          </a:solidFill>
                          <a:latin typeface="Times New Roman"/>
                        </a:defRPr>
                      </a:pPr>
                      <a:r>
                        <a:t>Đang chế tạo thử</a:t>
                      </a:r>
                    </a:p>
                  </a:txBody>
                  <a:tcPr marL="36576" marR="36576" marT="13716" marB="13716" anchor="ctr">
                    <a:solidFill>
                      <a:srgbClr val="FFFFFF"/>
                    </a:solidFill>
                  </a:tcPr>
                </a:tc>
                <a:extLst>
                  <a:ext uri="{0D108BD9-81ED-4DB2-BD59-A6C34878D82A}">
                    <a16:rowId xmlns:a16="http://schemas.microsoft.com/office/drawing/2014/main" val="10005"/>
                  </a:ext>
                </a:extLst>
              </a:tr>
              <a:tr h="657225">
                <a:tc>
                  <a:txBody>
                    <a:bodyPr/>
                    <a:lstStyle/>
                    <a:p>
                      <a:pPr algn="ctr">
                        <a:defRPr sz="1200" b="1">
                          <a:solidFill>
                            <a:srgbClr val="1E242B"/>
                          </a:solidFill>
                          <a:latin typeface="Times New Roman"/>
                        </a:defRPr>
                      </a:pPr>
                      <a:r>
                        <a:t>No.13</a:t>
                      </a:r>
                    </a:p>
                  </a:txBody>
                  <a:tcPr marL="36576" marR="36576" marT="13716" marB="13716" anchor="ctr">
                    <a:solidFill>
                      <a:srgbClr val="EAF7EE"/>
                    </a:solidFill>
                  </a:tcPr>
                </a:tc>
                <a:tc>
                  <a:txBody>
                    <a:bodyPr/>
                    <a:lstStyle/>
                    <a:p>
                      <a:pPr algn="l">
                        <a:defRPr sz="1200">
                          <a:solidFill>
                            <a:srgbClr val="1E242B"/>
                          </a:solidFill>
                          <a:latin typeface="Times New Roman"/>
                        </a:defRPr>
                      </a:pPr>
                      <a:r>
                        <a:t>Giảm số lượng bản in Print từ 17 tờ xuống còn 9 tờ</a:t>
                      </a:r>
                    </a:p>
                  </a:txBody>
                  <a:tcPr marL="36576" marR="36576" marT="13716" marB="13716" anchor="ctr">
                    <a:solidFill>
                      <a:srgbClr val="EAF7EE"/>
                    </a:solidFill>
                  </a:tcPr>
                </a:tc>
                <a:tc>
                  <a:txBody>
                    <a:bodyPr/>
                    <a:lstStyle/>
                    <a:p>
                      <a:pPr algn="ctr">
                        <a:defRPr sz="1200">
                          <a:solidFill>
                            <a:srgbClr val="1E242B"/>
                          </a:solidFill>
                          <a:latin typeface="Times New Roman"/>
                        </a:defRPr>
                      </a:pPr>
                      <a:r>
                        <a:t>Chờ QA duyệt</a:t>
                      </a:r>
                    </a:p>
                  </a:txBody>
                  <a:tcPr marL="36576" marR="36576" marT="13716" marB="13716" anchor="ctr">
                    <a:solidFill>
                      <a:srgbClr val="EAF7EE"/>
                    </a:solidFill>
                  </a:tcPr>
                </a:tc>
                <a:extLst>
                  <a:ext uri="{0D108BD9-81ED-4DB2-BD59-A6C34878D82A}">
                    <a16:rowId xmlns:a16="http://schemas.microsoft.com/office/drawing/2014/main" val="10006"/>
                  </a:ext>
                </a:extLst>
              </a:tr>
              <a:tr h="657225">
                <a:tc>
                  <a:txBody>
                    <a:bodyPr/>
                    <a:lstStyle/>
                    <a:p>
                      <a:pPr algn="ctr">
                        <a:defRPr sz="1200" b="1">
                          <a:solidFill>
                            <a:srgbClr val="1E242B"/>
                          </a:solidFill>
                          <a:latin typeface="Times New Roman"/>
                        </a:defRPr>
                      </a:pPr>
                      <a:r>
                        <a:t>No.14~38</a:t>
                      </a:r>
                    </a:p>
                  </a:txBody>
                  <a:tcPr marL="36576" marR="36576" marT="13716" marB="13716" anchor="ctr">
                    <a:solidFill>
                      <a:srgbClr val="FFFFFF"/>
                    </a:solidFill>
                  </a:tcPr>
                </a:tc>
                <a:tc>
                  <a:txBody>
                    <a:bodyPr/>
                    <a:lstStyle/>
                    <a:p>
                      <a:pPr algn="l">
                        <a:defRPr sz="1200">
                          <a:solidFill>
                            <a:srgbClr val="1E242B"/>
                          </a:solidFill>
                          <a:latin typeface="Times New Roman"/>
                        </a:defRPr>
                      </a:pPr>
                      <a:r>
                        <a:t>Vào Maintenance Mode tự động (No.14); Macro in 1 chạm (No.15); Đo tốc độ FAN (No.16); Tối ưu quét SITC-2 (No.17); AI WeChat (No.38)</a:t>
                      </a:r>
                    </a:p>
                  </a:txBody>
                  <a:tcPr marL="36576" marR="36576" marT="13716" marB="13716" anchor="ctr">
                    <a:solidFill>
                      <a:srgbClr val="FFFFFF"/>
                    </a:solidFill>
                  </a:tcPr>
                </a:tc>
                <a:tc>
                  <a:txBody>
                    <a:bodyPr/>
                    <a:lstStyle/>
                    <a:p>
                      <a:pPr algn="ctr">
                        <a:defRPr sz="1200">
                          <a:solidFill>
                            <a:srgbClr val="1E242B"/>
                          </a:solidFill>
                          <a:latin typeface="Times New Roman"/>
                        </a:defRPr>
                      </a:pPr>
                      <a:r>
                        <a:t>Đang phối hợp KDC</a:t>
                      </a:r>
                    </a:p>
                  </a:txBody>
                  <a:tcPr marL="36576" marR="36576" marT="13716" marB="13716" anchor="ctr">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PHẦN THAM KHẢO (3/4)</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Các vấn đề kỹ thuật, rủi ro phát sinh và Đối sách thống nhất giữa 3 cứ điểm</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14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Tổng hợp 6 vấn đề kỹ thuật và phát sinh chi phí từ 17 cuộc họp liên kết ba cứ điểm, kèm phương án đối sách đã thống nhất sau DR4.</a:t>
            </a:r>
          </a:p>
        </p:txBody>
      </p:sp>
      <p:graphicFrame>
        <p:nvGraphicFramePr>
          <p:cNvPr id="7" name="Table 6"/>
          <p:cNvGraphicFramePr>
            <a:graphicFrameLocks noGrp="1"/>
          </p:cNvGraphicFramePr>
          <p:nvPr/>
        </p:nvGraphicFramePr>
        <p:xfrm>
          <a:off x="256032" y="1234440"/>
          <a:ext cx="11679631" cy="5257800"/>
        </p:xfrm>
        <a:graphic>
          <a:graphicData uri="http://schemas.openxmlformats.org/drawingml/2006/table">
            <a:tbl>
              <a:tblPr firstRow="1" bandRow="1">
                <a:tableStyleId>{5C22544A-7EE6-4342-B048-85BDC9FD1C3A}</a:tableStyleId>
              </a:tblPr>
              <a:tblGrid>
                <a:gridCol w="54864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gridCol w="4913071">
                  <a:extLst>
                    <a:ext uri="{9D8B030D-6E8A-4147-A177-3AD203B41FA5}">
                      <a16:colId xmlns:a16="http://schemas.microsoft.com/office/drawing/2014/main" val="20003"/>
                    </a:ext>
                  </a:extLst>
                </a:gridCol>
              </a:tblGrid>
              <a:tr h="751114">
                <a:tc>
                  <a:txBody>
                    <a:bodyPr/>
                    <a:lstStyle/>
                    <a:p>
                      <a:pPr algn="ctr">
                        <a:defRPr sz="1250" b="1">
                          <a:solidFill>
                            <a:srgbClr val="FFFFFF"/>
                          </a:solidFill>
                          <a:latin typeface="Times New Roman"/>
                        </a:defRPr>
                      </a:pPr>
                      <a:r>
                        <a:t>TT</a:t>
                      </a:r>
                    </a:p>
                  </a:txBody>
                  <a:tcPr marL="36576" marR="36576" marT="13716" marB="13716" anchor="ctr">
                    <a:solidFill>
                      <a:srgbClr val="1B365D"/>
                    </a:solidFill>
                  </a:tcPr>
                </a:tc>
                <a:tc>
                  <a:txBody>
                    <a:bodyPr/>
                    <a:lstStyle/>
                    <a:p>
                      <a:pPr algn="ctr">
                        <a:defRPr sz="1250" b="1">
                          <a:solidFill>
                            <a:srgbClr val="FFFFFF"/>
                          </a:solidFill>
                          <a:latin typeface="Times New Roman"/>
                        </a:defRPr>
                      </a:pPr>
                      <a:r>
                        <a:t>Vấn đề phát sinh</a:t>
                      </a:r>
                    </a:p>
                  </a:txBody>
                  <a:tcPr marL="36576" marR="36576" marT="13716" marB="13716" anchor="ctr">
                    <a:solidFill>
                      <a:srgbClr val="1B365D"/>
                    </a:solidFill>
                  </a:tcPr>
                </a:tc>
                <a:tc>
                  <a:txBody>
                    <a:bodyPr/>
                    <a:lstStyle/>
                    <a:p>
                      <a:pPr algn="ctr">
                        <a:defRPr sz="1250" b="1">
                          <a:solidFill>
                            <a:srgbClr val="FFFFFF"/>
                          </a:solidFill>
                          <a:latin typeface="Times New Roman"/>
                        </a:defRPr>
                      </a:pPr>
                      <a:r>
                        <a:t>Chi tiết rủi ro thực tế</a:t>
                      </a:r>
                    </a:p>
                  </a:txBody>
                  <a:tcPr marL="36576" marR="36576" marT="13716" marB="13716" anchor="ctr">
                    <a:solidFill>
                      <a:srgbClr val="1B365D"/>
                    </a:solidFill>
                  </a:tcPr>
                </a:tc>
                <a:tc>
                  <a:txBody>
                    <a:bodyPr/>
                    <a:lstStyle/>
                    <a:p>
                      <a:pPr algn="ctr">
                        <a:defRPr sz="1250" b="1">
                          <a:solidFill>
                            <a:srgbClr val="FFFFFF"/>
                          </a:solidFill>
                          <a:latin typeface="Times New Roman"/>
                        </a:defRPr>
                      </a:pPr>
                      <a:r>
                        <a:t>Đối sách kỹ thuật đã thống nhất</a:t>
                      </a:r>
                    </a:p>
                  </a:txBody>
                  <a:tcPr marL="36576" marR="36576" marT="13716" marB="13716" anchor="ctr">
                    <a:solidFill>
                      <a:srgbClr val="1B365D"/>
                    </a:solidFill>
                  </a:tcPr>
                </a:tc>
                <a:extLst>
                  <a:ext uri="{0D108BD9-81ED-4DB2-BD59-A6C34878D82A}">
                    <a16:rowId xmlns:a16="http://schemas.microsoft.com/office/drawing/2014/main" val="10000"/>
                  </a:ext>
                </a:extLst>
              </a:tr>
              <a:tr h="751114">
                <a:tc>
                  <a:txBody>
                    <a:bodyPr/>
                    <a:lstStyle/>
                    <a:p>
                      <a:pPr algn="ctr">
                        <a:defRPr sz="1200" b="1">
                          <a:solidFill>
                            <a:srgbClr val="1E242B"/>
                          </a:solidFill>
                          <a:latin typeface="Times New Roman"/>
                        </a:defRPr>
                      </a:pPr>
                      <a:r>
                        <a:t>1</a:t>
                      </a:r>
                    </a:p>
                  </a:txBody>
                  <a:tcPr marL="36576" marR="36576" marT="13716" marB="13716" anchor="ctr">
                    <a:solidFill>
                      <a:srgbClr val="E8EEF5"/>
                    </a:solidFill>
                  </a:tcPr>
                </a:tc>
                <a:tc>
                  <a:txBody>
                    <a:bodyPr/>
                    <a:lstStyle/>
                    <a:p>
                      <a:pPr algn="l">
                        <a:defRPr sz="1200">
                          <a:solidFill>
                            <a:srgbClr val="1E242B"/>
                          </a:solidFill>
                          <a:latin typeface="Times New Roman"/>
                        </a:defRPr>
                      </a:pPr>
                      <a:r>
                        <a:t>Chi phí Robot No.23 &amp; No.24 quá cao (754 tr VNĐ)</a:t>
                      </a:r>
                    </a:p>
                  </a:txBody>
                  <a:tcPr marL="36576" marR="36576" marT="13716" marB="13716" anchor="ctr">
                    <a:solidFill>
                      <a:srgbClr val="E8EEF5"/>
                    </a:solidFill>
                  </a:tcPr>
                </a:tc>
                <a:tc>
                  <a:txBody>
                    <a:bodyPr/>
                    <a:lstStyle/>
                    <a:p>
                      <a:pPr algn="l">
                        <a:defRPr sz="1200">
                          <a:solidFill>
                            <a:srgbClr val="1E242B"/>
                          </a:solidFill>
                          <a:latin typeface="Times New Roman"/>
                        </a:defRPr>
                      </a:pPr>
                      <a:r>
                        <a:t>Robot đặt bản thảo No.23 (650tr) và Robot USB/U201 No.24 (104tr) thu hồi vốn lâu (&gt;6 năm).</a:t>
                      </a:r>
                    </a:p>
                  </a:txBody>
                  <a:tcPr marL="36576" marR="36576" marT="13716" marB="13716" anchor="ctr">
                    <a:solidFill>
                      <a:srgbClr val="E8EEF5"/>
                    </a:solidFill>
                  </a:tcPr>
                </a:tc>
                <a:tc>
                  <a:txBody>
                    <a:bodyPr/>
                    <a:lstStyle/>
                    <a:p>
                      <a:pPr algn="l">
                        <a:defRPr sz="1200">
                          <a:solidFill>
                            <a:srgbClr val="1E242B"/>
                          </a:solidFill>
                          <a:latin typeface="Times New Roman"/>
                        </a:defRPr>
                      </a:pPr>
                      <a:r>
                        <a:t>Hủy 2 Robot; chuyển sang dùng khay nạp DP kéo quét liên tục (No.25) và đọc log Host PC (JP No.3, No.6) với chi phí thiết bị 0 đồng.</a:t>
                      </a:r>
                    </a:p>
                  </a:txBody>
                  <a:tcPr marL="36576" marR="36576" marT="13716" marB="13716" anchor="ctr">
                    <a:solidFill>
                      <a:srgbClr val="E8EEF5"/>
                    </a:solidFill>
                  </a:tcPr>
                </a:tc>
                <a:extLst>
                  <a:ext uri="{0D108BD9-81ED-4DB2-BD59-A6C34878D82A}">
                    <a16:rowId xmlns:a16="http://schemas.microsoft.com/office/drawing/2014/main" val="10001"/>
                  </a:ext>
                </a:extLst>
              </a:tr>
              <a:tr h="751114">
                <a:tc>
                  <a:txBody>
                    <a:bodyPr/>
                    <a:lstStyle/>
                    <a:p>
                      <a:pPr algn="ctr">
                        <a:defRPr sz="1200" b="1">
                          <a:solidFill>
                            <a:srgbClr val="1E242B"/>
                          </a:solidFill>
                          <a:latin typeface="Times New Roman"/>
                        </a:defRPr>
                      </a:pPr>
                      <a:r>
                        <a:t>2</a:t>
                      </a:r>
                    </a:p>
                  </a:txBody>
                  <a:tcPr marL="36576" marR="36576" marT="13716" marB="13716" anchor="ctr">
                    <a:solidFill>
                      <a:srgbClr val="FEF7E6"/>
                    </a:solidFill>
                  </a:tcPr>
                </a:tc>
                <a:tc>
                  <a:txBody>
                    <a:bodyPr/>
                    <a:lstStyle/>
                    <a:p>
                      <a:pPr algn="l">
                        <a:defRPr sz="1200">
                          <a:solidFill>
                            <a:srgbClr val="1E242B"/>
                          </a:solidFill>
                          <a:latin typeface="Times New Roman"/>
                        </a:defRPr>
                      </a:pPr>
                      <a:r>
                        <a:t>Raspberry Pi của Athena bị chai pin &amp; rớt mạng Wi-Fi</a:t>
                      </a:r>
                    </a:p>
                  </a:txBody>
                  <a:tcPr marL="36576" marR="36576" marT="13716" marB="13716" anchor="ctr">
                    <a:solidFill>
                      <a:srgbClr val="FEF7E6"/>
                    </a:solidFill>
                  </a:tcPr>
                </a:tc>
                <a:tc>
                  <a:txBody>
                    <a:bodyPr/>
                    <a:lstStyle/>
                    <a:p>
                      <a:pPr algn="l">
                        <a:defRPr sz="1200">
                          <a:solidFill>
                            <a:srgbClr val="1E242B"/>
                          </a:solidFill>
                          <a:latin typeface="Times New Roman"/>
                        </a:defRPr>
                      </a:pPr>
                      <a:r>
                        <a:t>Athena dùng Pin sạc dự phòng cho AGV bị chai pin và rớt Wi-Fi 2~3 lần/tuần, không hợp với sản lượng 16.000 máy/tháng.</a:t>
                      </a:r>
                    </a:p>
                  </a:txBody>
                  <a:tcPr marL="36576" marR="36576" marT="13716" marB="13716" anchor="ctr">
                    <a:solidFill>
                      <a:srgbClr val="FEF7E6"/>
                    </a:solidFill>
                  </a:tcPr>
                </a:tc>
                <a:tc>
                  <a:txBody>
                    <a:bodyPr/>
                    <a:lstStyle/>
                    <a:p>
                      <a:pPr algn="l">
                        <a:defRPr sz="1200">
                          <a:solidFill>
                            <a:srgbClr val="1E242B"/>
                          </a:solidFill>
                          <a:latin typeface="Times New Roman"/>
                        </a:defRPr>
                      </a:pPr>
                      <a:r>
                        <a:t>Thống nhất chuyển sang Spica Mini PC: Cấp nguồn điện AC cố định, dùng mạng dây LAN/VLAN (1 bộ điều khiển 4 máy trong Cell).</a:t>
                      </a:r>
                    </a:p>
                  </a:txBody>
                  <a:tcPr marL="36576" marR="36576" marT="13716" marB="13716" anchor="ctr">
                    <a:solidFill>
                      <a:srgbClr val="FEF7E6"/>
                    </a:solidFill>
                  </a:tcPr>
                </a:tc>
                <a:extLst>
                  <a:ext uri="{0D108BD9-81ED-4DB2-BD59-A6C34878D82A}">
                    <a16:rowId xmlns:a16="http://schemas.microsoft.com/office/drawing/2014/main" val="10002"/>
                  </a:ext>
                </a:extLst>
              </a:tr>
              <a:tr h="751114">
                <a:tc>
                  <a:txBody>
                    <a:bodyPr/>
                    <a:lstStyle/>
                    <a:p>
                      <a:pPr algn="ctr">
                        <a:defRPr sz="1200" b="1">
                          <a:solidFill>
                            <a:srgbClr val="1E242B"/>
                          </a:solidFill>
                          <a:latin typeface="Times New Roman"/>
                        </a:defRPr>
                      </a:pPr>
                      <a:r>
                        <a:t>3</a:t>
                      </a:r>
                    </a:p>
                  </a:txBody>
                  <a:tcPr marL="36576" marR="36576" marT="13716" marB="13716" anchor="ctr">
                    <a:solidFill>
                      <a:srgbClr val="FFFFFF"/>
                    </a:solidFill>
                  </a:tcPr>
                </a:tc>
                <a:tc>
                  <a:txBody>
                    <a:bodyPr/>
                    <a:lstStyle/>
                    <a:p>
                      <a:pPr algn="l">
                        <a:defRPr sz="1200">
                          <a:solidFill>
                            <a:srgbClr val="1E242B"/>
                          </a:solidFill>
                          <a:latin typeface="Times New Roman"/>
                        </a:defRPr>
                      </a:pPr>
                      <a:r>
                        <a:t>Sai lệch khi quét qua khay DP so với mặt kính ISU</a:t>
                      </a:r>
                    </a:p>
                  </a:txBody>
                  <a:tcPr marL="36576" marR="36576" marT="13716" marB="13716" anchor="ctr">
                    <a:solidFill>
                      <a:srgbClr val="FFFFFF"/>
                    </a:solidFill>
                  </a:tcPr>
                </a:tc>
                <a:tc>
                  <a:txBody>
                    <a:bodyPr/>
                    <a:lstStyle/>
                    <a:p>
                      <a:pPr algn="l">
                        <a:defRPr sz="1200">
                          <a:solidFill>
                            <a:srgbClr val="1E242B"/>
                          </a:solidFill>
                          <a:latin typeface="Times New Roman"/>
                        </a:defRPr>
                      </a:pPr>
                      <a:r>
                        <a:t>Kéo giấy liên tục qua khay DP (No.25) có thể bị lệch hoặc rung so với đặt cố định trên kính phẳng ISU.</a:t>
                      </a:r>
                    </a:p>
                  </a:txBody>
                  <a:tcPr marL="36576" marR="36576" marT="13716" marB="13716" anchor="ctr">
                    <a:solidFill>
                      <a:srgbClr val="FFFFFF"/>
                    </a:solidFill>
                  </a:tcPr>
                </a:tc>
                <a:tc>
                  <a:txBody>
                    <a:bodyPr/>
                    <a:lstStyle/>
                    <a:p>
                      <a:pPr algn="l">
                        <a:defRPr sz="1200">
                          <a:solidFill>
                            <a:srgbClr val="1E242B"/>
                          </a:solidFill>
                          <a:latin typeface="Times New Roman"/>
                        </a:defRPr>
                      </a:pPr>
                      <a:r>
                        <a:t>Đang chạy thực nghiệm so sánh dữ liệu; xây dựng thuật toán bù hình học trên phần mềm PC; chỉ áp dụng đại trà khi Cpk ≥ 1,33.</a:t>
                      </a:r>
                    </a:p>
                  </a:txBody>
                  <a:tcPr marL="36576" marR="36576" marT="13716" marB="13716" anchor="ctr">
                    <a:solidFill>
                      <a:srgbClr val="FFFFFF"/>
                    </a:solidFill>
                  </a:tcPr>
                </a:tc>
                <a:extLst>
                  <a:ext uri="{0D108BD9-81ED-4DB2-BD59-A6C34878D82A}">
                    <a16:rowId xmlns:a16="http://schemas.microsoft.com/office/drawing/2014/main" val="10003"/>
                  </a:ext>
                </a:extLst>
              </a:tr>
              <a:tr h="751114">
                <a:tc>
                  <a:txBody>
                    <a:bodyPr/>
                    <a:lstStyle/>
                    <a:p>
                      <a:pPr algn="ctr">
                        <a:defRPr sz="1200" b="1">
                          <a:solidFill>
                            <a:srgbClr val="1E242B"/>
                          </a:solidFill>
                          <a:latin typeface="Times New Roman"/>
                        </a:defRPr>
                      </a:pPr>
                      <a:r>
                        <a:t>4</a:t>
                      </a:r>
                    </a:p>
                  </a:txBody>
                  <a:tcPr marL="36576" marR="36576" marT="13716" marB="13716" anchor="ctr">
                    <a:solidFill>
                      <a:srgbClr val="EAF7EE"/>
                    </a:solidFill>
                  </a:tcPr>
                </a:tc>
                <a:tc>
                  <a:txBody>
                    <a:bodyPr/>
                    <a:lstStyle/>
                    <a:p>
                      <a:pPr algn="l">
                        <a:defRPr sz="1200">
                          <a:solidFill>
                            <a:srgbClr val="1E242B"/>
                          </a:solidFill>
                          <a:latin typeface="Times New Roman"/>
                        </a:defRPr>
                      </a:pPr>
                      <a:r>
                        <a:t>Quy định an toàn bắt buộc đo chịu áp khi đóng kín nắp máy</a:t>
                      </a:r>
                    </a:p>
                  </a:txBody>
                  <a:tcPr marL="36576" marR="36576" marT="13716" marB="13716" anchor="ctr">
                    <a:solidFill>
                      <a:srgbClr val="EAF7EE"/>
                    </a:solidFill>
                  </a:tcPr>
                </a:tc>
                <a:tc>
                  <a:txBody>
                    <a:bodyPr/>
                    <a:lstStyle/>
                    <a:p>
                      <a:pPr algn="l">
                        <a:defRPr sz="1200">
                          <a:solidFill>
                            <a:srgbClr val="1E242B"/>
                          </a:solidFill>
                          <a:latin typeface="Times New Roman"/>
                        </a:defRPr>
                      </a:pPr>
                      <a:r>
                        <a:t>DR4 quy định bắt buộc đo chịu áp khi đã đóng kín vỏ để phát hiện kẹt dập dây điện; nhưng K3 đang mở nắp kiểm tra FAN.</a:t>
                      </a:r>
                    </a:p>
                  </a:txBody>
                  <a:tcPr marL="36576" marR="36576" marT="13716" marB="13716" anchor="ctr">
                    <a:solidFill>
                      <a:srgbClr val="EAF7EE"/>
                    </a:solidFill>
                  </a:tcPr>
                </a:tc>
                <a:tc>
                  <a:txBody>
                    <a:bodyPr/>
                    <a:lstStyle/>
                    <a:p>
                      <a:pPr algn="l">
                        <a:defRPr sz="1200">
                          <a:solidFill>
                            <a:srgbClr val="1E242B"/>
                          </a:solidFill>
                          <a:latin typeface="Times New Roman"/>
                        </a:defRPr>
                      </a:pPr>
                      <a:r>
                        <a:t>Tách riêng kiểm tra FAN bằng tín hiệu phần mềm; chuyển nguyên công lắp 6 tấm vỏ ngoài về cuối chuyền Lắp ráp (No.33).</a:t>
                      </a:r>
                    </a:p>
                  </a:txBody>
                  <a:tcPr marL="36576" marR="36576" marT="13716" marB="13716" anchor="ctr">
                    <a:solidFill>
                      <a:srgbClr val="EAF7EE"/>
                    </a:solidFill>
                  </a:tcPr>
                </a:tc>
                <a:extLst>
                  <a:ext uri="{0D108BD9-81ED-4DB2-BD59-A6C34878D82A}">
                    <a16:rowId xmlns:a16="http://schemas.microsoft.com/office/drawing/2014/main" val="10004"/>
                  </a:ext>
                </a:extLst>
              </a:tr>
              <a:tr h="751114">
                <a:tc>
                  <a:txBody>
                    <a:bodyPr/>
                    <a:lstStyle/>
                    <a:p>
                      <a:pPr algn="ctr">
                        <a:defRPr sz="1200" b="1">
                          <a:solidFill>
                            <a:srgbClr val="1E242B"/>
                          </a:solidFill>
                          <a:latin typeface="Times New Roman"/>
                        </a:defRPr>
                      </a:pPr>
                      <a:r>
                        <a:t>5</a:t>
                      </a:r>
                    </a:p>
                  </a:txBody>
                  <a:tcPr marL="36576" marR="36576" marT="13716" marB="13716" anchor="ctr">
                    <a:solidFill>
                      <a:srgbClr val="FEF7E6"/>
                    </a:solidFill>
                  </a:tcPr>
                </a:tc>
                <a:tc>
                  <a:txBody>
                    <a:bodyPr/>
                    <a:lstStyle/>
                    <a:p>
                      <a:pPr algn="l">
                        <a:defRPr sz="1200">
                          <a:solidFill>
                            <a:srgbClr val="1E242B"/>
                          </a:solidFill>
                          <a:latin typeface="Times New Roman"/>
                        </a:defRPr>
                      </a:pPr>
                      <a:r>
                        <a:t>Lỗi lệch Transfer Belt tại VN (1~2 máy/tháng)</a:t>
                      </a:r>
                    </a:p>
                  </a:txBody>
                  <a:tcPr marL="36576" marR="36576" marT="13716" marB="13716" anchor="ctr">
                    <a:solidFill>
                      <a:srgbClr val="FEF7E6"/>
                    </a:solidFill>
                  </a:tcPr>
                </a:tc>
                <a:tc>
                  <a:txBody>
                    <a:bodyPr/>
                    <a:lstStyle/>
                    <a:p>
                      <a:pPr algn="l">
                        <a:defRPr sz="1200">
                          <a:solidFill>
                            <a:srgbClr val="1E242B"/>
                          </a:solidFill>
                          <a:latin typeface="Times New Roman"/>
                        </a:defRPr>
                      </a:pPr>
                      <a:r>
                        <a:t>Nhà máy CN không bị, nhưng VN vẫn có 1~2 máy lỗi/tháng do dung sai linh kiện; đổi cơ cấu gạt mực dễ lật lưỡi gạt.</a:t>
                      </a:r>
                    </a:p>
                  </a:txBody>
                  <a:tcPr marL="36576" marR="36576" marT="13716" marB="13716" anchor="ctr">
                    <a:solidFill>
                      <a:srgbClr val="FEF7E6"/>
                    </a:solidFill>
                  </a:tcPr>
                </a:tc>
                <a:tc>
                  <a:txBody>
                    <a:bodyPr/>
                    <a:lstStyle/>
                    <a:p>
                      <a:pPr algn="l">
                        <a:defRPr sz="1200">
                          <a:solidFill>
                            <a:srgbClr val="1E242B"/>
                          </a:solidFill>
                          <a:latin typeface="Times New Roman"/>
                        </a:defRPr>
                      </a:pPr>
                      <a:r>
                        <a:t>Thiết kế đã đổi Puli góc vát 35° và đổi vật liệu Belt; VN tiếp tục đo kiểm đến khi Cpk ≥ 1,33; bổ sung chu trình cấp mực U930.</a:t>
                      </a:r>
                    </a:p>
                  </a:txBody>
                  <a:tcPr marL="36576" marR="36576" marT="13716" marB="13716" anchor="ctr">
                    <a:solidFill>
                      <a:srgbClr val="FEF7E6"/>
                    </a:solidFill>
                  </a:tcPr>
                </a:tc>
                <a:extLst>
                  <a:ext uri="{0D108BD9-81ED-4DB2-BD59-A6C34878D82A}">
                    <a16:rowId xmlns:a16="http://schemas.microsoft.com/office/drawing/2014/main" val="10005"/>
                  </a:ext>
                </a:extLst>
              </a:tr>
              <a:tr h="751116">
                <a:tc>
                  <a:txBody>
                    <a:bodyPr/>
                    <a:lstStyle/>
                    <a:p>
                      <a:pPr algn="ctr">
                        <a:defRPr sz="1200" b="1">
                          <a:solidFill>
                            <a:srgbClr val="1E242B"/>
                          </a:solidFill>
                          <a:latin typeface="Times New Roman"/>
                        </a:defRPr>
                      </a:pPr>
                      <a:r>
                        <a:t>6</a:t>
                      </a:r>
                    </a:p>
                  </a:txBody>
                  <a:tcPr marL="36576" marR="36576" marT="13716" marB="13716" anchor="ctr">
                    <a:solidFill>
                      <a:srgbClr val="F7F9FC"/>
                    </a:solidFill>
                  </a:tcPr>
                </a:tc>
                <a:tc>
                  <a:txBody>
                    <a:bodyPr/>
                    <a:lstStyle/>
                    <a:p>
                      <a:pPr algn="l">
                        <a:defRPr sz="1200">
                          <a:solidFill>
                            <a:srgbClr val="1E242B"/>
                          </a:solidFill>
                          <a:latin typeface="Times New Roman"/>
                        </a:defRPr>
                      </a:pPr>
                      <a:r>
                        <a:t>Phát sinh bước mới U413 (+89s Color / +52s Mono)</a:t>
                      </a:r>
                    </a:p>
                  </a:txBody>
                  <a:tcPr marL="36576" marR="36576" marT="13716" marB="13716" anchor="ctr">
                    <a:solidFill>
                      <a:srgbClr val="F7F9FC"/>
                    </a:solidFill>
                  </a:tcPr>
                </a:tc>
                <a:tc>
                  <a:txBody>
                    <a:bodyPr/>
                    <a:lstStyle/>
                    <a:p>
                      <a:pPr algn="l">
                        <a:defRPr sz="1200">
                          <a:solidFill>
                            <a:srgbClr val="1E242B"/>
                          </a:solidFill>
                          <a:latin typeface="Times New Roman"/>
                        </a:defRPr>
                      </a:pPr>
                      <a:r>
                        <a:t>Để nâng cao chất lượng ảnh, thiết kế bổ sung bước bù bước tia quét U413 làm phát sinh thêm 89s nếu làm thủ công.</a:t>
                      </a:r>
                    </a:p>
                  </a:txBody>
                  <a:tcPr marL="36576" marR="36576" marT="13716" marB="13716" anchor="ctr">
                    <a:solidFill>
                      <a:srgbClr val="F7F9FC"/>
                    </a:solidFill>
                  </a:tcPr>
                </a:tc>
                <a:tc>
                  <a:txBody>
                    <a:bodyPr/>
                    <a:lstStyle/>
                    <a:p>
                      <a:pPr algn="l">
                        <a:defRPr sz="1200">
                          <a:solidFill>
                            <a:srgbClr val="1E242B"/>
                          </a:solidFill>
                          <a:latin typeface="Times New Roman"/>
                        </a:defRPr>
                      </a:pPr>
                      <a:r>
                        <a:t>Xem xét phần mềm tự động nạp dữ liệu LSU bỏ chỉnh tay trên line (~225-250 vạn JPY), hoặc tích hợp tự động vào chu trình in trạm A-2.</a:t>
                      </a:r>
                    </a:p>
                  </a:txBody>
                  <a:tcPr marL="36576" marR="36576" marT="13716" marB="13716" anchor="ctr">
                    <a:solidFill>
                      <a:srgbClr val="F7F9FC"/>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PHẦN THAM KHẢO (4/4)</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Bảng tra cứu đầy đủ 38 đề án cải tiến của 3 cứ điểm (No.1 ~ No.38)</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15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Bảng tra cứu đầy đủ 38 đề án cải tiến của ba cứ điểm được trích xuất từ tài liệu tổng hợp chung IrisEXP改善提案まとめ.xlsx.</a:t>
            </a:r>
          </a:p>
        </p:txBody>
      </p:sp>
      <p:graphicFrame>
        <p:nvGraphicFramePr>
          <p:cNvPr id="7" name="Table 6"/>
          <p:cNvGraphicFramePr>
            <a:graphicFrameLocks noGrp="1"/>
          </p:cNvGraphicFramePr>
          <p:nvPr/>
        </p:nvGraphicFramePr>
        <p:xfrm>
          <a:off x="256032" y="1234440"/>
          <a:ext cx="5669280" cy="5257800"/>
        </p:xfrm>
        <a:graphic>
          <a:graphicData uri="http://schemas.openxmlformats.org/drawingml/2006/table">
            <a:tbl>
              <a:tblPr firstRow="1" bandRow="1">
                <a:tableStyleId>{5C22544A-7EE6-4342-B048-85BDC9FD1C3A}</a:tableStyleId>
              </a:tblPr>
              <a:tblGrid>
                <a:gridCol w="6400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477981">
                <a:tc>
                  <a:txBody>
                    <a:bodyPr/>
                    <a:lstStyle/>
                    <a:p>
                      <a:pPr algn="ctr">
                        <a:defRPr sz="1250" b="1">
                          <a:solidFill>
                            <a:srgbClr val="FFFFFF"/>
                          </a:solidFill>
                          <a:latin typeface="Times New Roman"/>
                        </a:defRPr>
                      </a:pPr>
                      <a:r>
                        <a:t>Mã</a:t>
                      </a:r>
                    </a:p>
                  </a:txBody>
                  <a:tcPr marL="36576" marR="36576" marT="13716" marB="13716" anchor="ctr">
                    <a:solidFill>
                      <a:srgbClr val="1B365D"/>
                    </a:solidFill>
                  </a:tcPr>
                </a:tc>
                <a:tc>
                  <a:txBody>
                    <a:bodyPr/>
                    <a:lstStyle/>
                    <a:p>
                      <a:pPr algn="ctr">
                        <a:defRPr sz="1250" b="1">
                          <a:solidFill>
                            <a:srgbClr val="FFFFFF"/>
                          </a:solidFill>
                          <a:latin typeface="Times New Roman"/>
                        </a:defRPr>
                      </a:pPr>
                      <a:r>
                        <a:t>Cứ điểm</a:t>
                      </a:r>
                    </a:p>
                  </a:txBody>
                  <a:tcPr marL="36576" marR="36576" marT="13716" marB="13716" anchor="ctr">
                    <a:solidFill>
                      <a:srgbClr val="1B365D"/>
                    </a:solidFill>
                  </a:tcPr>
                </a:tc>
                <a:tc>
                  <a:txBody>
                    <a:bodyPr/>
                    <a:lstStyle/>
                    <a:p>
                      <a:pPr algn="ctr">
                        <a:defRPr sz="1250" b="1">
                          <a:solidFill>
                            <a:srgbClr val="FFFFFF"/>
                          </a:solidFill>
                          <a:latin typeface="Times New Roman"/>
                        </a:defRPr>
                      </a:pPr>
                      <a:r>
                        <a:t>Nội dung đề án (No.1 ~ No.19)</a:t>
                      </a:r>
                    </a:p>
                  </a:txBody>
                  <a:tcPr marL="36576" marR="36576" marT="13716" marB="13716" anchor="ctr">
                    <a:solidFill>
                      <a:srgbClr val="1B365D"/>
                    </a:solidFill>
                  </a:tcPr>
                </a:tc>
                <a:tc>
                  <a:txBody>
                    <a:bodyPr/>
                    <a:lstStyle/>
                    <a:p>
                      <a:pPr algn="ctr">
                        <a:defRPr sz="1250" b="1">
                          <a:solidFill>
                            <a:srgbClr val="FFFFFF"/>
                          </a:solidFill>
                          <a:latin typeface="Times New Roman"/>
                        </a:defRPr>
                      </a:pPr>
                      <a:r>
                        <a:t>Trạng thái</a:t>
                      </a:r>
                    </a:p>
                  </a:txBody>
                  <a:tcPr marL="36576" marR="36576" marT="13716" marB="13716" anchor="ctr">
                    <a:solidFill>
                      <a:srgbClr val="1B365D"/>
                    </a:solidFill>
                  </a:tcPr>
                </a:tc>
                <a:extLst>
                  <a:ext uri="{0D108BD9-81ED-4DB2-BD59-A6C34878D82A}">
                    <a16:rowId xmlns:a16="http://schemas.microsoft.com/office/drawing/2014/main" val="10000"/>
                  </a:ext>
                </a:extLst>
              </a:tr>
              <a:tr h="477981">
                <a:tc>
                  <a:txBody>
                    <a:bodyPr/>
                    <a:lstStyle/>
                    <a:p>
                      <a:pPr algn="ctr">
                        <a:defRPr sz="1200" b="1">
                          <a:solidFill>
                            <a:srgbClr val="1E242B"/>
                          </a:solidFill>
                          <a:latin typeface="Times New Roman"/>
                        </a:defRPr>
                      </a:pPr>
                      <a:r>
                        <a:t>No.1</a:t>
                      </a:r>
                    </a:p>
                  </a:txBody>
                  <a:tcPr marL="36576" marR="36576" marT="13716" marB="13716" anchor="ctr">
                    <a:solidFill>
                      <a:srgbClr val="E8EEF5"/>
                    </a:solidFill>
                  </a:tcPr>
                </a:tc>
                <a:tc>
                  <a:txBody>
                    <a:bodyPr/>
                    <a:lstStyle/>
                    <a:p>
                      <a:pPr algn="ctr">
                        <a:defRPr sz="1200">
                          <a:solidFill>
                            <a:srgbClr val="1E242B"/>
                          </a:solidFill>
                          <a:latin typeface="Times New Roman"/>
                        </a:defRPr>
                      </a:pPr>
                      <a:r>
                        <a:t>Nhật Bản</a:t>
                      </a:r>
                    </a:p>
                  </a:txBody>
                  <a:tcPr marL="36576" marR="36576" marT="13716" marB="13716" anchor="ctr">
                    <a:solidFill>
                      <a:srgbClr val="E8EEF5"/>
                    </a:solidFill>
                  </a:tcPr>
                </a:tc>
                <a:tc>
                  <a:txBody>
                    <a:bodyPr/>
                    <a:lstStyle/>
                    <a:p>
                      <a:pPr algn="l">
                        <a:defRPr sz="1200">
                          <a:solidFill>
                            <a:srgbClr val="1E242B"/>
                          </a:solidFill>
                          <a:latin typeface="Times New Roman"/>
                        </a:defRPr>
                      </a:pPr>
                      <a:r>
                        <a:t>Chuyền lấy A-1 làm trọng tâm (4 người, 97s)</a:t>
                      </a:r>
                    </a:p>
                  </a:txBody>
                  <a:tcPr marL="36576" marR="36576" marT="13716" marB="13716" anchor="ctr">
                    <a:solidFill>
                      <a:srgbClr val="E8EEF5"/>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8EEF5"/>
                    </a:solidFill>
                  </a:tcPr>
                </a:tc>
                <a:extLst>
                  <a:ext uri="{0D108BD9-81ED-4DB2-BD59-A6C34878D82A}">
                    <a16:rowId xmlns:a16="http://schemas.microsoft.com/office/drawing/2014/main" val="10001"/>
                  </a:ext>
                </a:extLst>
              </a:tr>
              <a:tr h="477981">
                <a:tc>
                  <a:txBody>
                    <a:bodyPr/>
                    <a:lstStyle/>
                    <a:p>
                      <a:pPr algn="ctr">
                        <a:defRPr sz="1200" b="1">
                          <a:solidFill>
                            <a:srgbClr val="1E242B"/>
                          </a:solidFill>
                          <a:latin typeface="Times New Roman"/>
                        </a:defRPr>
                      </a:pPr>
                      <a:r>
                        <a:t>No.2</a:t>
                      </a:r>
                    </a:p>
                  </a:txBody>
                  <a:tcPr marL="36576" marR="36576" marT="13716" marB="13716" anchor="ctr">
                    <a:solidFill>
                      <a:srgbClr val="E8EEF5"/>
                    </a:solidFill>
                  </a:tcPr>
                </a:tc>
                <a:tc>
                  <a:txBody>
                    <a:bodyPr/>
                    <a:lstStyle/>
                    <a:p>
                      <a:pPr algn="ctr">
                        <a:defRPr sz="1200">
                          <a:solidFill>
                            <a:srgbClr val="1E242B"/>
                          </a:solidFill>
                          <a:latin typeface="Times New Roman"/>
                        </a:defRPr>
                      </a:pPr>
                      <a:r>
                        <a:t>Nhật Bản</a:t>
                      </a:r>
                    </a:p>
                  </a:txBody>
                  <a:tcPr marL="36576" marR="36576" marT="13716" marB="13716" anchor="ctr">
                    <a:solidFill>
                      <a:srgbClr val="E8EEF5"/>
                    </a:solidFill>
                  </a:tcPr>
                </a:tc>
                <a:tc>
                  <a:txBody>
                    <a:bodyPr/>
                    <a:lstStyle/>
                    <a:p>
                      <a:pPr algn="l">
                        <a:defRPr sz="1200">
                          <a:solidFill>
                            <a:srgbClr val="1E242B"/>
                          </a:solidFill>
                          <a:latin typeface="Times New Roman"/>
                        </a:defRPr>
                      </a:pPr>
                      <a:r>
                        <a:t>Bỏ bước cài đặt ngưỡng WTB U155 (-29s)</a:t>
                      </a:r>
                    </a:p>
                  </a:txBody>
                  <a:tcPr marL="36576" marR="36576" marT="13716" marB="13716" anchor="ctr">
                    <a:solidFill>
                      <a:srgbClr val="E8EEF5"/>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8EEF5"/>
                    </a:solidFill>
                  </a:tcPr>
                </a:tc>
                <a:extLst>
                  <a:ext uri="{0D108BD9-81ED-4DB2-BD59-A6C34878D82A}">
                    <a16:rowId xmlns:a16="http://schemas.microsoft.com/office/drawing/2014/main" val="10002"/>
                  </a:ext>
                </a:extLst>
              </a:tr>
              <a:tr h="477981">
                <a:tc>
                  <a:txBody>
                    <a:bodyPr/>
                    <a:lstStyle/>
                    <a:p>
                      <a:pPr algn="ctr">
                        <a:defRPr sz="1200" b="1">
                          <a:solidFill>
                            <a:srgbClr val="1E242B"/>
                          </a:solidFill>
                          <a:latin typeface="Times New Roman"/>
                        </a:defRPr>
                      </a:pPr>
                      <a:r>
                        <a:t>No.3</a:t>
                      </a:r>
                    </a:p>
                  </a:txBody>
                  <a:tcPr marL="36576" marR="36576" marT="13716" marB="13716" anchor="ctr">
                    <a:solidFill>
                      <a:srgbClr val="E8EEF5"/>
                    </a:solidFill>
                  </a:tcPr>
                </a:tc>
                <a:tc>
                  <a:txBody>
                    <a:bodyPr/>
                    <a:lstStyle/>
                    <a:p>
                      <a:pPr algn="ctr">
                        <a:defRPr sz="1200">
                          <a:solidFill>
                            <a:srgbClr val="1E242B"/>
                          </a:solidFill>
                          <a:latin typeface="Times New Roman"/>
                        </a:defRPr>
                      </a:pPr>
                      <a:r>
                        <a:t>Nhật Bản</a:t>
                      </a:r>
                    </a:p>
                  </a:txBody>
                  <a:tcPr marL="36576" marR="36576" marT="13716" marB="13716" anchor="ctr">
                    <a:solidFill>
                      <a:srgbClr val="E8EEF5"/>
                    </a:solidFill>
                  </a:tcPr>
                </a:tc>
                <a:tc>
                  <a:txBody>
                    <a:bodyPr/>
                    <a:lstStyle/>
                    <a:p>
                      <a:pPr algn="l">
                        <a:defRPr sz="1200">
                          <a:solidFill>
                            <a:srgbClr val="1E242B"/>
                          </a:solidFill>
                          <a:latin typeface="Times New Roman"/>
                        </a:defRPr>
                      </a:pPr>
                      <a:r>
                        <a:t>Bỏ kiểm tra Panel U201, đọc log Host PC</a:t>
                      </a:r>
                    </a:p>
                  </a:txBody>
                  <a:tcPr marL="36576" marR="36576" marT="13716" marB="13716" anchor="ctr">
                    <a:solidFill>
                      <a:srgbClr val="E8EEF5"/>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8EEF5"/>
                    </a:solidFill>
                  </a:tcPr>
                </a:tc>
                <a:extLst>
                  <a:ext uri="{0D108BD9-81ED-4DB2-BD59-A6C34878D82A}">
                    <a16:rowId xmlns:a16="http://schemas.microsoft.com/office/drawing/2014/main" val="10003"/>
                  </a:ext>
                </a:extLst>
              </a:tr>
              <a:tr h="477981">
                <a:tc>
                  <a:txBody>
                    <a:bodyPr/>
                    <a:lstStyle/>
                    <a:p>
                      <a:pPr algn="ctr">
                        <a:defRPr sz="1200" b="1">
                          <a:solidFill>
                            <a:srgbClr val="1E242B"/>
                          </a:solidFill>
                          <a:latin typeface="Times New Roman"/>
                        </a:defRPr>
                      </a:pPr>
                      <a:r>
                        <a:t>No.4</a:t>
                      </a:r>
                    </a:p>
                  </a:txBody>
                  <a:tcPr marL="36576" marR="36576" marT="13716" marB="13716" anchor="ctr">
                    <a:solidFill>
                      <a:srgbClr val="E8EEF5"/>
                    </a:solidFill>
                  </a:tcPr>
                </a:tc>
                <a:tc>
                  <a:txBody>
                    <a:bodyPr/>
                    <a:lstStyle/>
                    <a:p>
                      <a:pPr algn="ctr">
                        <a:defRPr sz="1200">
                          <a:solidFill>
                            <a:srgbClr val="1E242B"/>
                          </a:solidFill>
                          <a:latin typeface="Times New Roman"/>
                        </a:defRPr>
                      </a:pPr>
                      <a:r>
                        <a:t>Nhật Bản</a:t>
                      </a:r>
                    </a:p>
                  </a:txBody>
                  <a:tcPr marL="36576" marR="36576" marT="13716" marB="13716" anchor="ctr">
                    <a:solidFill>
                      <a:srgbClr val="E8EEF5"/>
                    </a:solidFill>
                  </a:tcPr>
                </a:tc>
                <a:tc>
                  <a:txBody>
                    <a:bodyPr/>
                    <a:lstStyle/>
                    <a:p>
                      <a:pPr algn="l">
                        <a:defRPr sz="1200">
                          <a:solidFill>
                            <a:srgbClr val="1E242B"/>
                          </a:solidFill>
                          <a:latin typeface="Times New Roman"/>
                        </a:defRPr>
                      </a:pPr>
                      <a:r>
                        <a:t>Tự động kiểm tra khổ giấy khay 1 &amp; 2</a:t>
                      </a:r>
                    </a:p>
                  </a:txBody>
                  <a:tcPr marL="36576" marR="36576" marT="13716" marB="13716" anchor="ctr">
                    <a:solidFill>
                      <a:srgbClr val="E8EEF5"/>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8EEF5"/>
                    </a:solidFill>
                  </a:tcPr>
                </a:tc>
                <a:extLst>
                  <a:ext uri="{0D108BD9-81ED-4DB2-BD59-A6C34878D82A}">
                    <a16:rowId xmlns:a16="http://schemas.microsoft.com/office/drawing/2014/main" val="10004"/>
                  </a:ext>
                </a:extLst>
              </a:tr>
              <a:tr h="477981">
                <a:tc>
                  <a:txBody>
                    <a:bodyPr/>
                    <a:lstStyle/>
                    <a:p>
                      <a:pPr algn="ctr">
                        <a:defRPr sz="1200" b="1">
                          <a:solidFill>
                            <a:srgbClr val="1E242B"/>
                          </a:solidFill>
                          <a:latin typeface="Times New Roman"/>
                        </a:defRPr>
                      </a:pPr>
                      <a:r>
                        <a:t>No.5~7</a:t>
                      </a:r>
                    </a:p>
                  </a:txBody>
                  <a:tcPr marL="36576" marR="36576" marT="13716" marB="13716" anchor="ctr">
                    <a:solidFill>
                      <a:srgbClr val="E8EEF5"/>
                    </a:solidFill>
                  </a:tcPr>
                </a:tc>
                <a:tc>
                  <a:txBody>
                    <a:bodyPr/>
                    <a:lstStyle/>
                    <a:p>
                      <a:pPr algn="ctr">
                        <a:defRPr sz="1200">
                          <a:solidFill>
                            <a:srgbClr val="1E242B"/>
                          </a:solidFill>
                          <a:latin typeface="Times New Roman"/>
                        </a:defRPr>
                      </a:pPr>
                      <a:r>
                        <a:t>Nhật Bản</a:t>
                      </a:r>
                    </a:p>
                  </a:txBody>
                  <a:tcPr marL="36576" marR="36576" marT="13716" marB="13716" anchor="ctr">
                    <a:solidFill>
                      <a:srgbClr val="E8EEF5"/>
                    </a:solidFill>
                  </a:tcPr>
                </a:tc>
                <a:tc>
                  <a:txBody>
                    <a:bodyPr/>
                    <a:lstStyle/>
                    <a:p>
                      <a:pPr algn="l">
                        <a:defRPr sz="1200">
                          <a:solidFill>
                            <a:srgbClr val="1E242B"/>
                          </a:solidFill>
                          <a:latin typeface="Times New Roman"/>
                        </a:defRPr>
                      </a:pPr>
                      <a:r>
                        <a:t>Bỏ tạo JAM (No.5); Bỏ test USB (No.6); Tự nhận diện công tắc nắp &amp; đo chịu áp (No.7)</a:t>
                      </a:r>
                    </a:p>
                  </a:txBody>
                  <a:tcPr marL="36576" marR="36576" marT="13716" marB="13716" anchor="ctr">
                    <a:solidFill>
                      <a:srgbClr val="E8EEF5"/>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8EEF5"/>
                    </a:solidFill>
                  </a:tcPr>
                </a:tc>
                <a:extLst>
                  <a:ext uri="{0D108BD9-81ED-4DB2-BD59-A6C34878D82A}">
                    <a16:rowId xmlns:a16="http://schemas.microsoft.com/office/drawing/2014/main" val="10005"/>
                  </a:ext>
                </a:extLst>
              </a:tr>
              <a:tr h="477981">
                <a:tc>
                  <a:txBody>
                    <a:bodyPr/>
                    <a:lstStyle/>
                    <a:p>
                      <a:pPr algn="ctr">
                        <a:defRPr sz="1200" b="1">
                          <a:solidFill>
                            <a:srgbClr val="1E242B"/>
                          </a:solidFill>
                          <a:latin typeface="Times New Roman"/>
                        </a:defRPr>
                      </a:pPr>
                      <a:r>
                        <a:t>No.8~10</a:t>
                      </a:r>
                    </a:p>
                  </a:txBody>
                  <a:tcPr marL="36576" marR="36576" marT="13716" marB="13716" anchor="ctr">
                    <a:solidFill>
                      <a:srgbClr val="F7F9FC"/>
                    </a:solidFill>
                  </a:tcPr>
                </a:tc>
                <a:tc>
                  <a:txBody>
                    <a:bodyPr/>
                    <a:lstStyle/>
                    <a:p>
                      <a:pPr algn="ctr">
                        <a:defRPr sz="1200">
                          <a:solidFill>
                            <a:srgbClr val="1E242B"/>
                          </a:solidFill>
                          <a:latin typeface="Times New Roman"/>
                        </a:defRPr>
                      </a:pPr>
                      <a:r>
                        <a:t>Trung Quốc</a:t>
                      </a:r>
                    </a:p>
                  </a:txBody>
                  <a:tcPr marL="36576" marR="36576" marT="13716" marB="13716" anchor="ctr">
                    <a:solidFill>
                      <a:srgbClr val="F7F9FC"/>
                    </a:solidFill>
                  </a:tcPr>
                </a:tc>
                <a:tc>
                  <a:txBody>
                    <a:bodyPr/>
                    <a:lstStyle/>
                    <a:p>
                      <a:pPr algn="l">
                        <a:defRPr sz="1200">
                          <a:solidFill>
                            <a:srgbClr val="1E242B"/>
                          </a:solidFill>
                          <a:latin typeface="Times New Roman"/>
                        </a:defRPr>
                      </a:pPr>
                      <a:r>
                        <a:t>Xem xét bỏ đo Belt (No.8); Giảm test sấy (No.9); Tạm giữ Scanner soi chấm PPT (No.10)</a:t>
                      </a:r>
                    </a:p>
                  </a:txBody>
                  <a:tcPr marL="36576" marR="36576" marT="13716" marB="13716" anchor="ctr">
                    <a:solidFill>
                      <a:srgbClr val="F7F9FC"/>
                    </a:solidFill>
                  </a:tcPr>
                </a:tc>
                <a:tc>
                  <a:txBody>
                    <a:bodyPr/>
                    <a:lstStyle/>
                    <a:p>
                      <a:pPr algn="ctr">
                        <a:defRPr sz="1200">
                          <a:solidFill>
                            <a:srgbClr val="1E242B"/>
                          </a:solidFill>
                          <a:latin typeface="Times New Roman"/>
                        </a:defRPr>
                      </a:pPr>
                      <a:r>
                        <a:t>Chờ QA duyệt</a:t>
                      </a:r>
                    </a:p>
                  </a:txBody>
                  <a:tcPr marL="36576" marR="36576" marT="13716" marB="13716" anchor="ctr">
                    <a:solidFill>
                      <a:srgbClr val="F7F9FC"/>
                    </a:solidFill>
                  </a:tcPr>
                </a:tc>
                <a:extLst>
                  <a:ext uri="{0D108BD9-81ED-4DB2-BD59-A6C34878D82A}">
                    <a16:rowId xmlns:a16="http://schemas.microsoft.com/office/drawing/2014/main" val="10006"/>
                  </a:ext>
                </a:extLst>
              </a:tr>
              <a:tr h="477981">
                <a:tc>
                  <a:txBody>
                    <a:bodyPr/>
                    <a:lstStyle/>
                    <a:p>
                      <a:pPr algn="ctr">
                        <a:defRPr sz="1200" b="1">
                          <a:solidFill>
                            <a:srgbClr val="1E242B"/>
                          </a:solidFill>
                          <a:latin typeface="Times New Roman"/>
                        </a:defRPr>
                      </a:pPr>
                      <a:r>
                        <a:t>No.11</a:t>
                      </a:r>
                    </a:p>
                  </a:txBody>
                  <a:tcPr marL="36576" marR="36576" marT="13716" marB="13716" anchor="ctr">
                    <a:solidFill>
                      <a:srgbClr val="EAF7EE"/>
                    </a:solidFill>
                  </a:tcPr>
                </a:tc>
                <a:tc>
                  <a:txBody>
                    <a:bodyPr/>
                    <a:lstStyle/>
                    <a:p>
                      <a:pPr algn="ctr">
                        <a:defRPr sz="1200">
                          <a:solidFill>
                            <a:srgbClr val="1E242B"/>
                          </a:solidFill>
                          <a:latin typeface="Times New Roman"/>
                        </a:defRPr>
                      </a:pPr>
                      <a:r>
                        <a:t>Trung Quốc</a:t>
                      </a:r>
                    </a:p>
                  </a:txBody>
                  <a:tcPr marL="36576" marR="36576" marT="13716" marB="13716" anchor="ctr">
                    <a:solidFill>
                      <a:srgbClr val="EAF7EE"/>
                    </a:solidFill>
                  </a:tcPr>
                </a:tc>
                <a:tc>
                  <a:txBody>
                    <a:bodyPr/>
                    <a:lstStyle/>
                    <a:p>
                      <a:pPr algn="l">
                        <a:defRPr sz="1200">
                          <a:solidFill>
                            <a:srgbClr val="1E242B"/>
                          </a:solidFill>
                          <a:latin typeface="Times New Roman"/>
                        </a:defRPr>
                      </a:pPr>
                      <a:r>
                        <a:t>Gộp 2 tờ DC-1 và Gray thành 1 tờ duy nhất</a:t>
                      </a:r>
                    </a:p>
                  </a:txBody>
                  <a:tcPr marL="36576" marR="36576" marT="13716" marB="13716" anchor="ctr">
                    <a:solidFill>
                      <a:srgbClr val="EAF7EE"/>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AF7EE"/>
                    </a:solidFill>
                  </a:tcPr>
                </a:tc>
                <a:extLst>
                  <a:ext uri="{0D108BD9-81ED-4DB2-BD59-A6C34878D82A}">
                    <a16:rowId xmlns:a16="http://schemas.microsoft.com/office/drawing/2014/main" val="10007"/>
                  </a:ext>
                </a:extLst>
              </a:tr>
              <a:tr h="477981">
                <a:tc>
                  <a:txBody>
                    <a:bodyPr/>
                    <a:lstStyle/>
                    <a:p>
                      <a:pPr algn="ctr">
                        <a:defRPr sz="1200" b="1">
                          <a:solidFill>
                            <a:srgbClr val="1E242B"/>
                          </a:solidFill>
                          <a:latin typeface="Times New Roman"/>
                        </a:defRPr>
                      </a:pPr>
                      <a:r>
                        <a:t>No.12~13</a:t>
                      </a:r>
                    </a:p>
                  </a:txBody>
                  <a:tcPr marL="36576" marR="36576" marT="13716" marB="13716" anchor="ctr">
                    <a:solidFill>
                      <a:srgbClr val="F7F9FC"/>
                    </a:solidFill>
                  </a:tcPr>
                </a:tc>
                <a:tc>
                  <a:txBody>
                    <a:bodyPr/>
                    <a:lstStyle/>
                    <a:p>
                      <a:pPr algn="ctr">
                        <a:defRPr sz="1200">
                          <a:solidFill>
                            <a:srgbClr val="1E242B"/>
                          </a:solidFill>
                          <a:latin typeface="Times New Roman"/>
                        </a:defRPr>
                      </a:pPr>
                      <a:r>
                        <a:t>Trung Quốc</a:t>
                      </a:r>
                    </a:p>
                  </a:txBody>
                  <a:tcPr marL="36576" marR="36576" marT="13716" marB="13716" anchor="ctr">
                    <a:solidFill>
                      <a:srgbClr val="F7F9FC"/>
                    </a:solidFill>
                  </a:tcPr>
                </a:tc>
                <a:tc>
                  <a:txBody>
                    <a:bodyPr/>
                    <a:lstStyle/>
                    <a:p>
                      <a:pPr algn="l">
                        <a:defRPr sz="1200">
                          <a:solidFill>
                            <a:srgbClr val="1E242B"/>
                          </a:solidFill>
                          <a:latin typeface="Times New Roman"/>
                        </a:defRPr>
                      </a:pPr>
                      <a:r>
                        <a:t>Tự đo lề Gray (No.12); Giảm Print 17-&gt;9 tờ (No.13)</a:t>
                      </a:r>
                    </a:p>
                  </a:txBody>
                  <a:tcPr marL="36576" marR="36576" marT="13716" marB="13716" anchor="ctr">
                    <a:solidFill>
                      <a:srgbClr val="F7F9FC"/>
                    </a:solidFill>
                  </a:tcPr>
                </a:tc>
                <a:tc>
                  <a:txBody>
                    <a:bodyPr/>
                    <a:lstStyle/>
                    <a:p>
                      <a:pPr algn="ctr">
                        <a:defRPr sz="1200">
                          <a:solidFill>
                            <a:srgbClr val="1E242B"/>
                          </a:solidFill>
                          <a:latin typeface="Times New Roman"/>
                        </a:defRPr>
                      </a:pPr>
                      <a:r>
                        <a:t>Chờ QA duyệt</a:t>
                      </a:r>
                    </a:p>
                  </a:txBody>
                  <a:tcPr marL="36576" marR="36576" marT="13716" marB="13716" anchor="ctr">
                    <a:solidFill>
                      <a:srgbClr val="F7F9FC"/>
                    </a:solidFill>
                  </a:tcPr>
                </a:tc>
                <a:extLst>
                  <a:ext uri="{0D108BD9-81ED-4DB2-BD59-A6C34878D82A}">
                    <a16:rowId xmlns:a16="http://schemas.microsoft.com/office/drawing/2014/main" val="10008"/>
                  </a:ext>
                </a:extLst>
              </a:tr>
              <a:tr h="477981">
                <a:tc>
                  <a:txBody>
                    <a:bodyPr/>
                    <a:lstStyle/>
                    <a:p>
                      <a:pPr algn="ctr">
                        <a:defRPr sz="1200" b="1">
                          <a:solidFill>
                            <a:srgbClr val="1E242B"/>
                          </a:solidFill>
                          <a:latin typeface="Times New Roman"/>
                        </a:defRPr>
                      </a:pPr>
                      <a:r>
                        <a:t>No.14~17</a:t>
                      </a:r>
                    </a:p>
                  </a:txBody>
                  <a:tcPr marL="36576" marR="36576" marT="13716" marB="13716" anchor="ctr">
                    <a:solidFill>
                      <a:srgbClr val="FFFFFF"/>
                    </a:solidFill>
                  </a:tcPr>
                </a:tc>
                <a:tc>
                  <a:txBody>
                    <a:bodyPr/>
                    <a:lstStyle/>
                    <a:p>
                      <a:pPr algn="ctr">
                        <a:defRPr sz="1200">
                          <a:solidFill>
                            <a:srgbClr val="1E242B"/>
                          </a:solidFill>
                          <a:latin typeface="Times New Roman"/>
                        </a:defRPr>
                      </a:pPr>
                      <a:r>
                        <a:t>Trung Quốc</a:t>
                      </a:r>
                    </a:p>
                  </a:txBody>
                  <a:tcPr marL="36576" marR="36576" marT="13716" marB="13716" anchor="ctr">
                    <a:solidFill>
                      <a:srgbClr val="FFFFFF"/>
                    </a:solidFill>
                  </a:tcPr>
                </a:tc>
                <a:tc>
                  <a:txBody>
                    <a:bodyPr/>
                    <a:lstStyle/>
                    <a:p>
                      <a:pPr algn="l">
                        <a:defRPr sz="1200">
                          <a:solidFill>
                            <a:srgbClr val="1E242B"/>
                          </a:solidFill>
                          <a:latin typeface="Times New Roman"/>
                        </a:defRPr>
                      </a:pPr>
                      <a:r>
                        <a:t>Vào Maintenance mạng (No.14); Macro in (No.15); Đo tốc độ FAN (No.16); Quét SITC-2 (No.17)</a:t>
                      </a:r>
                    </a:p>
                  </a:txBody>
                  <a:tcPr marL="36576" marR="36576" marT="13716" marB="13716" anchor="ctr">
                    <a:solidFill>
                      <a:srgbClr val="FFFFFF"/>
                    </a:solidFill>
                  </a:tcPr>
                </a:tc>
                <a:tc>
                  <a:txBody>
                    <a:bodyPr/>
                    <a:lstStyle/>
                    <a:p>
                      <a:pPr algn="ctr">
                        <a:defRPr sz="1200">
                          <a:solidFill>
                            <a:srgbClr val="1E242B"/>
                          </a:solidFill>
                          <a:latin typeface="Times New Roman"/>
                        </a:defRPr>
                      </a:pPr>
                      <a:r>
                        <a:t>Đang phối hợp</a:t>
                      </a:r>
                    </a:p>
                  </a:txBody>
                  <a:tcPr marL="36576" marR="36576" marT="13716" marB="13716" anchor="ctr">
                    <a:solidFill>
                      <a:srgbClr val="FFFFFF"/>
                    </a:solidFill>
                  </a:tcPr>
                </a:tc>
                <a:extLst>
                  <a:ext uri="{0D108BD9-81ED-4DB2-BD59-A6C34878D82A}">
                    <a16:rowId xmlns:a16="http://schemas.microsoft.com/office/drawing/2014/main" val="10009"/>
                  </a:ext>
                </a:extLst>
              </a:tr>
              <a:tr h="477990">
                <a:tc>
                  <a:txBody>
                    <a:bodyPr/>
                    <a:lstStyle/>
                    <a:p>
                      <a:pPr algn="ctr">
                        <a:defRPr sz="1200" b="1">
                          <a:solidFill>
                            <a:srgbClr val="1E242B"/>
                          </a:solidFill>
                          <a:latin typeface="Times New Roman"/>
                        </a:defRPr>
                      </a:pPr>
                      <a:r>
                        <a:t>No.18~19</a:t>
                      </a:r>
                    </a:p>
                  </a:txBody>
                  <a:tcPr marL="36576" marR="36576" marT="13716" marB="13716" anchor="ctr">
                    <a:solidFill>
                      <a:srgbClr val="EAF7EE"/>
                    </a:solidFill>
                  </a:tcPr>
                </a:tc>
                <a:tc>
                  <a:txBody>
                    <a:bodyPr/>
                    <a:lstStyle/>
                    <a:p>
                      <a:pPr algn="ctr">
                        <a:defRPr sz="1200">
                          <a:solidFill>
                            <a:srgbClr val="1E242B"/>
                          </a:solidFill>
                          <a:latin typeface="Times New Roman"/>
                        </a:defRPr>
                      </a:pPr>
                      <a:r>
                        <a:t>Việt Nam</a:t>
                      </a:r>
                    </a:p>
                  </a:txBody>
                  <a:tcPr marL="36576" marR="36576" marT="13716" marB="13716" anchor="ctr">
                    <a:solidFill>
                      <a:srgbClr val="EAF7EE"/>
                    </a:solidFill>
                  </a:tcPr>
                </a:tc>
                <a:tc>
                  <a:txBody>
                    <a:bodyPr/>
                    <a:lstStyle/>
                    <a:p>
                      <a:pPr algn="l">
                        <a:defRPr sz="1200">
                          <a:solidFill>
                            <a:srgbClr val="1E242B"/>
                          </a:solidFill>
                          <a:latin typeface="Times New Roman"/>
                        </a:defRPr>
                      </a:pPr>
                      <a:r>
                        <a:t>Nạp FW 4 máy (No.18); Tự đổi tiếng Anh (No.19)</a:t>
                      </a:r>
                    </a:p>
                  </a:txBody>
                  <a:tcPr marL="36576" marR="36576" marT="13716" marB="13716" anchor="ctr">
                    <a:solidFill>
                      <a:srgbClr val="EAF7EE"/>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AF7EE"/>
                    </a:solidFill>
                  </a:tcPr>
                </a:tc>
                <a:extLst>
                  <a:ext uri="{0D108BD9-81ED-4DB2-BD59-A6C34878D82A}">
                    <a16:rowId xmlns:a16="http://schemas.microsoft.com/office/drawing/2014/main" val="10010"/>
                  </a:ext>
                </a:extLst>
              </a:tr>
            </a:tbl>
          </a:graphicData>
        </a:graphic>
      </p:graphicFrame>
      <p:graphicFrame>
        <p:nvGraphicFramePr>
          <p:cNvPr id="8" name="Table 7"/>
          <p:cNvGraphicFramePr>
            <a:graphicFrameLocks noGrp="1"/>
          </p:cNvGraphicFramePr>
          <p:nvPr/>
        </p:nvGraphicFramePr>
        <p:xfrm>
          <a:off x="6172200" y="1234440"/>
          <a:ext cx="5763463" cy="5257800"/>
        </p:xfrm>
        <a:graphic>
          <a:graphicData uri="http://schemas.openxmlformats.org/drawingml/2006/table">
            <a:tbl>
              <a:tblPr firstRow="1" bandRow="1">
                <a:tableStyleId>{5C22544A-7EE6-4342-B048-85BDC9FD1C3A}</a:tableStyleId>
              </a:tblPr>
              <a:tblGrid>
                <a:gridCol w="6400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2654503">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477981">
                <a:tc>
                  <a:txBody>
                    <a:bodyPr/>
                    <a:lstStyle/>
                    <a:p>
                      <a:pPr algn="ctr">
                        <a:defRPr sz="1250" b="1">
                          <a:solidFill>
                            <a:srgbClr val="FFFFFF"/>
                          </a:solidFill>
                          <a:latin typeface="Times New Roman"/>
                        </a:defRPr>
                      </a:pPr>
                      <a:r>
                        <a:t>Mã</a:t>
                      </a:r>
                    </a:p>
                  </a:txBody>
                  <a:tcPr marL="36576" marR="36576" marT="13716" marB="13716" anchor="ctr">
                    <a:solidFill>
                      <a:srgbClr val="1B365D"/>
                    </a:solidFill>
                  </a:tcPr>
                </a:tc>
                <a:tc>
                  <a:txBody>
                    <a:bodyPr/>
                    <a:lstStyle/>
                    <a:p>
                      <a:pPr algn="ctr">
                        <a:defRPr sz="1250" b="1">
                          <a:solidFill>
                            <a:srgbClr val="FFFFFF"/>
                          </a:solidFill>
                          <a:latin typeface="Times New Roman"/>
                        </a:defRPr>
                      </a:pPr>
                      <a:r>
                        <a:t>Cứ điểm</a:t>
                      </a:r>
                    </a:p>
                  </a:txBody>
                  <a:tcPr marL="36576" marR="36576" marT="13716" marB="13716" anchor="ctr">
                    <a:solidFill>
                      <a:srgbClr val="1B365D"/>
                    </a:solidFill>
                  </a:tcPr>
                </a:tc>
                <a:tc>
                  <a:txBody>
                    <a:bodyPr/>
                    <a:lstStyle/>
                    <a:p>
                      <a:pPr algn="ctr">
                        <a:defRPr sz="1250" b="1">
                          <a:solidFill>
                            <a:srgbClr val="FFFFFF"/>
                          </a:solidFill>
                          <a:latin typeface="Times New Roman"/>
                        </a:defRPr>
                      </a:pPr>
                      <a:r>
                        <a:t>Nội dung đề án (No.20 ~ No.38)</a:t>
                      </a:r>
                    </a:p>
                  </a:txBody>
                  <a:tcPr marL="36576" marR="36576" marT="13716" marB="13716" anchor="ctr">
                    <a:solidFill>
                      <a:srgbClr val="1B365D"/>
                    </a:solidFill>
                  </a:tcPr>
                </a:tc>
                <a:tc>
                  <a:txBody>
                    <a:bodyPr/>
                    <a:lstStyle/>
                    <a:p>
                      <a:pPr algn="ctr">
                        <a:defRPr sz="1250" b="1">
                          <a:solidFill>
                            <a:srgbClr val="FFFFFF"/>
                          </a:solidFill>
                          <a:latin typeface="Times New Roman"/>
                        </a:defRPr>
                      </a:pPr>
                      <a:r>
                        <a:t>Trạng thái</a:t>
                      </a:r>
                    </a:p>
                  </a:txBody>
                  <a:tcPr marL="36576" marR="36576" marT="13716" marB="13716" anchor="ctr">
                    <a:solidFill>
                      <a:srgbClr val="1B365D"/>
                    </a:solidFill>
                  </a:tcPr>
                </a:tc>
                <a:extLst>
                  <a:ext uri="{0D108BD9-81ED-4DB2-BD59-A6C34878D82A}">
                    <a16:rowId xmlns:a16="http://schemas.microsoft.com/office/drawing/2014/main" val="10000"/>
                  </a:ext>
                </a:extLst>
              </a:tr>
              <a:tr h="477981">
                <a:tc>
                  <a:txBody>
                    <a:bodyPr/>
                    <a:lstStyle/>
                    <a:p>
                      <a:pPr algn="ctr">
                        <a:defRPr sz="1200" b="1">
                          <a:solidFill>
                            <a:srgbClr val="1E242B"/>
                          </a:solidFill>
                          <a:latin typeface="Times New Roman"/>
                        </a:defRPr>
                      </a:pPr>
                      <a:r>
                        <a:t>No.20~21</a:t>
                      </a:r>
                    </a:p>
                  </a:txBody>
                  <a:tcPr marL="36576" marR="36576" marT="13716" marB="13716" anchor="ctr">
                    <a:solidFill>
                      <a:srgbClr val="FFFFFF"/>
                    </a:solidFill>
                  </a:tcPr>
                </a:tc>
                <a:tc>
                  <a:txBody>
                    <a:bodyPr/>
                    <a:lstStyle/>
                    <a:p>
                      <a:pPr algn="ctr">
                        <a:defRPr sz="1200">
                          <a:solidFill>
                            <a:srgbClr val="1E242B"/>
                          </a:solidFill>
                          <a:latin typeface="Times New Roman"/>
                        </a:defRPr>
                      </a:pPr>
                      <a:r>
                        <a:t>Việt Nam</a:t>
                      </a:r>
                    </a:p>
                  </a:txBody>
                  <a:tcPr marL="36576" marR="36576" marT="13716" marB="13716" anchor="ctr">
                    <a:solidFill>
                      <a:srgbClr val="FFFFFF"/>
                    </a:solidFill>
                  </a:tcPr>
                </a:tc>
                <a:tc>
                  <a:txBody>
                    <a:bodyPr/>
                    <a:lstStyle/>
                    <a:p>
                      <a:pPr algn="l">
                        <a:defRPr sz="1200">
                          <a:solidFill>
                            <a:srgbClr val="1E242B"/>
                          </a:solidFill>
                          <a:latin typeface="Times New Roman"/>
                        </a:defRPr>
                      </a:pPr>
                      <a:r>
                        <a:t>Truyền log LAN (No.20); Gá nhanh Option (No.21)</a:t>
                      </a:r>
                    </a:p>
                  </a:txBody>
                  <a:tcPr marL="36576" marR="36576" marT="13716" marB="13716" anchor="ctr">
                    <a:solidFill>
                      <a:srgbClr val="FFFFFF"/>
                    </a:solidFill>
                  </a:tcPr>
                </a:tc>
                <a:tc>
                  <a:txBody>
                    <a:bodyPr/>
                    <a:lstStyle/>
                    <a:p>
                      <a:pPr algn="ctr">
                        <a:defRPr sz="1200">
                          <a:solidFill>
                            <a:srgbClr val="1E242B"/>
                          </a:solidFill>
                          <a:latin typeface="Times New Roman"/>
                        </a:defRPr>
                      </a:pPr>
                      <a:r>
                        <a:t>Đang chế tạo thử</a:t>
                      </a:r>
                    </a:p>
                  </a:txBody>
                  <a:tcPr marL="36576" marR="36576" marT="13716" marB="13716" anchor="ctr">
                    <a:solidFill>
                      <a:srgbClr val="FFFFFF"/>
                    </a:solidFill>
                  </a:tcPr>
                </a:tc>
                <a:extLst>
                  <a:ext uri="{0D108BD9-81ED-4DB2-BD59-A6C34878D82A}">
                    <a16:rowId xmlns:a16="http://schemas.microsoft.com/office/drawing/2014/main" val="10001"/>
                  </a:ext>
                </a:extLst>
              </a:tr>
              <a:tr h="477981">
                <a:tc>
                  <a:txBody>
                    <a:bodyPr/>
                    <a:lstStyle/>
                    <a:p>
                      <a:pPr algn="ctr">
                        <a:defRPr sz="1200" b="1">
                          <a:solidFill>
                            <a:srgbClr val="1E242B"/>
                          </a:solidFill>
                          <a:latin typeface="Times New Roman"/>
                        </a:defRPr>
                      </a:pPr>
                      <a:r>
                        <a:t>No.22</a:t>
                      </a:r>
                    </a:p>
                  </a:txBody>
                  <a:tcPr marL="36576" marR="36576" marT="13716" marB="13716" anchor="ctr">
                    <a:solidFill>
                      <a:srgbClr val="EAF7EE"/>
                    </a:solidFill>
                  </a:tcPr>
                </a:tc>
                <a:tc>
                  <a:txBody>
                    <a:bodyPr/>
                    <a:lstStyle/>
                    <a:p>
                      <a:pPr algn="ctr">
                        <a:defRPr sz="1200">
                          <a:solidFill>
                            <a:srgbClr val="1E242B"/>
                          </a:solidFill>
                          <a:latin typeface="Times New Roman"/>
                        </a:defRPr>
                      </a:pPr>
                      <a:r>
                        <a:t>Việt Nam</a:t>
                      </a:r>
                    </a:p>
                  </a:txBody>
                  <a:tcPr marL="36576" marR="36576" marT="13716" marB="13716" anchor="ctr">
                    <a:solidFill>
                      <a:srgbClr val="EAF7EE"/>
                    </a:solidFill>
                  </a:tcPr>
                </a:tc>
                <a:tc>
                  <a:txBody>
                    <a:bodyPr/>
                    <a:lstStyle/>
                    <a:p>
                      <a:pPr algn="l">
                        <a:defRPr sz="1200" b="1">
                          <a:solidFill>
                            <a:srgbClr val="1E6E3E"/>
                          </a:solidFill>
                          <a:latin typeface="Times New Roman"/>
                        </a:defRPr>
                      </a:pPr>
                      <a:r>
                        <a:t>Tự động kiểm tra an toàn điện (101,69 tr VNĐ)</a:t>
                      </a:r>
                    </a:p>
                  </a:txBody>
                  <a:tcPr marL="36576" marR="36576" marT="13716" marB="13716" anchor="ctr">
                    <a:solidFill>
                      <a:srgbClr val="EAF7EE"/>
                    </a:solidFill>
                  </a:tcPr>
                </a:tc>
                <a:tc>
                  <a:txBody>
                    <a:bodyPr/>
                    <a:lstStyle/>
                    <a:p>
                      <a:pPr algn="ctr">
                        <a:defRPr sz="1200">
                          <a:solidFill>
                            <a:srgbClr val="1E242B"/>
                          </a:solidFill>
                          <a:latin typeface="Times New Roman"/>
                        </a:defRPr>
                      </a:pPr>
                      <a:r>
                        <a:t>Duyệt Đợt 1</a:t>
                      </a:r>
                    </a:p>
                  </a:txBody>
                  <a:tcPr marL="36576" marR="36576" marT="13716" marB="13716" anchor="ctr">
                    <a:solidFill>
                      <a:srgbClr val="EAF7EE"/>
                    </a:solidFill>
                  </a:tcPr>
                </a:tc>
                <a:extLst>
                  <a:ext uri="{0D108BD9-81ED-4DB2-BD59-A6C34878D82A}">
                    <a16:rowId xmlns:a16="http://schemas.microsoft.com/office/drawing/2014/main" val="10002"/>
                  </a:ext>
                </a:extLst>
              </a:tr>
              <a:tr h="477981">
                <a:tc>
                  <a:txBody>
                    <a:bodyPr/>
                    <a:lstStyle/>
                    <a:p>
                      <a:pPr algn="ctr">
                        <a:defRPr sz="1200" b="1">
                          <a:solidFill>
                            <a:srgbClr val="1E242B"/>
                          </a:solidFill>
                          <a:latin typeface="Times New Roman"/>
                        </a:defRPr>
                      </a:pPr>
                      <a:r>
                        <a:t>No.23~24</a:t>
                      </a:r>
                    </a:p>
                  </a:txBody>
                  <a:tcPr marL="36576" marR="36576" marT="13716" marB="13716" anchor="ctr">
                    <a:solidFill>
                      <a:srgbClr val="EAF7EE"/>
                    </a:solidFill>
                  </a:tcPr>
                </a:tc>
                <a:tc>
                  <a:txBody>
                    <a:bodyPr/>
                    <a:lstStyle/>
                    <a:p>
                      <a:pPr algn="ctr">
                        <a:defRPr sz="1200">
                          <a:solidFill>
                            <a:srgbClr val="1E242B"/>
                          </a:solidFill>
                          <a:latin typeface="Times New Roman"/>
                        </a:defRPr>
                      </a:pPr>
                      <a:r>
                        <a:t>Việt Nam</a:t>
                      </a:r>
                    </a:p>
                  </a:txBody>
                  <a:tcPr marL="36576" marR="36576" marT="13716" marB="13716" anchor="ctr">
                    <a:solidFill>
                      <a:srgbClr val="EAF7EE"/>
                    </a:solidFill>
                  </a:tcPr>
                </a:tc>
                <a:tc>
                  <a:txBody>
                    <a:bodyPr/>
                    <a:lstStyle/>
                    <a:p>
                      <a:pPr algn="l">
                        <a:defRPr sz="1200">
                          <a:solidFill>
                            <a:srgbClr val="1E242B"/>
                          </a:solidFill>
                          <a:latin typeface="Times New Roman"/>
                        </a:defRPr>
                      </a:pPr>
                      <a:r>
                        <a:t>Hủy Robot 25k$ &amp; 4k$; thay bằng DP và Host PC</a:t>
                      </a:r>
                    </a:p>
                  </a:txBody>
                  <a:tcPr marL="36576" marR="36576" marT="13716" marB="13716" anchor="ctr">
                    <a:solidFill>
                      <a:srgbClr val="EAF7EE"/>
                    </a:solidFill>
                  </a:tcPr>
                </a:tc>
                <a:tc>
                  <a:txBody>
                    <a:bodyPr/>
                    <a:lstStyle/>
                    <a:p>
                      <a:pPr algn="ctr">
                        <a:defRPr sz="1200">
                          <a:solidFill>
                            <a:srgbClr val="1E242B"/>
                          </a:solidFill>
                          <a:latin typeface="Times New Roman"/>
                        </a:defRPr>
                      </a:pPr>
                      <a:r>
                        <a:t>Hủy 2 Robot</a:t>
                      </a:r>
                    </a:p>
                  </a:txBody>
                  <a:tcPr marL="36576" marR="36576" marT="13716" marB="13716" anchor="ctr">
                    <a:solidFill>
                      <a:srgbClr val="EAF7EE"/>
                    </a:solidFill>
                  </a:tcPr>
                </a:tc>
                <a:extLst>
                  <a:ext uri="{0D108BD9-81ED-4DB2-BD59-A6C34878D82A}">
                    <a16:rowId xmlns:a16="http://schemas.microsoft.com/office/drawing/2014/main" val="10003"/>
                  </a:ext>
                </a:extLst>
              </a:tr>
              <a:tr h="477981">
                <a:tc>
                  <a:txBody>
                    <a:bodyPr/>
                    <a:lstStyle/>
                    <a:p>
                      <a:pPr algn="ctr">
                        <a:defRPr sz="1200" b="1">
                          <a:solidFill>
                            <a:srgbClr val="1E242B"/>
                          </a:solidFill>
                          <a:latin typeface="Times New Roman"/>
                        </a:defRPr>
                      </a:pPr>
                      <a:r>
                        <a:t>No.25</a:t>
                      </a:r>
                    </a:p>
                  </a:txBody>
                  <a:tcPr marL="36576" marR="36576" marT="13716" marB="13716" anchor="ctr">
                    <a:solidFill>
                      <a:srgbClr val="EAF7EE"/>
                    </a:solidFill>
                  </a:tcPr>
                </a:tc>
                <a:tc>
                  <a:txBody>
                    <a:bodyPr/>
                    <a:lstStyle/>
                    <a:p>
                      <a:pPr algn="ctr">
                        <a:defRPr sz="1200">
                          <a:solidFill>
                            <a:srgbClr val="1E242B"/>
                          </a:solidFill>
                          <a:latin typeface="Times New Roman"/>
                        </a:defRPr>
                      </a:pPr>
                      <a:r>
                        <a:t>Việt Nam</a:t>
                      </a:r>
                    </a:p>
                  </a:txBody>
                  <a:tcPr marL="36576" marR="36576" marT="13716" marB="13716" anchor="ctr">
                    <a:solidFill>
                      <a:srgbClr val="EAF7EE"/>
                    </a:solidFill>
                  </a:tcPr>
                </a:tc>
                <a:tc>
                  <a:txBody>
                    <a:bodyPr/>
                    <a:lstStyle/>
                    <a:p>
                      <a:pPr algn="l">
                        <a:defRPr sz="1200">
                          <a:solidFill>
                            <a:srgbClr val="1E242B"/>
                          </a:solidFill>
                          <a:latin typeface="Times New Roman"/>
                        </a:defRPr>
                      </a:pPr>
                      <a:r>
                        <a:t>Lắp khay DP lên máy test để quét liên tục</a:t>
                      </a:r>
                    </a:p>
                  </a:txBody>
                  <a:tcPr marL="36576" marR="36576" marT="13716" marB="13716" anchor="ctr">
                    <a:solidFill>
                      <a:srgbClr val="EAF7EE"/>
                    </a:solidFill>
                  </a:tcPr>
                </a:tc>
                <a:tc>
                  <a:txBody>
                    <a:bodyPr/>
                    <a:lstStyle/>
                    <a:p>
                      <a:pPr algn="ctr">
                        <a:defRPr sz="1200">
                          <a:solidFill>
                            <a:srgbClr val="1E242B"/>
                          </a:solidFill>
                          <a:latin typeface="Times New Roman"/>
                        </a:defRPr>
                      </a:pPr>
                      <a:r>
                        <a:t>Đang kiểm chứng</a:t>
                      </a:r>
                    </a:p>
                  </a:txBody>
                  <a:tcPr marL="36576" marR="36576" marT="13716" marB="13716" anchor="ctr">
                    <a:solidFill>
                      <a:srgbClr val="EAF7EE"/>
                    </a:solidFill>
                  </a:tcPr>
                </a:tc>
                <a:extLst>
                  <a:ext uri="{0D108BD9-81ED-4DB2-BD59-A6C34878D82A}">
                    <a16:rowId xmlns:a16="http://schemas.microsoft.com/office/drawing/2014/main" val="10004"/>
                  </a:ext>
                </a:extLst>
              </a:tr>
              <a:tr h="477981">
                <a:tc>
                  <a:txBody>
                    <a:bodyPr/>
                    <a:lstStyle/>
                    <a:p>
                      <a:pPr algn="ctr">
                        <a:defRPr sz="1200" b="1">
                          <a:solidFill>
                            <a:srgbClr val="1E242B"/>
                          </a:solidFill>
                          <a:latin typeface="Times New Roman"/>
                        </a:defRPr>
                      </a:pPr>
                      <a:r>
                        <a:t>No.26</a:t>
                      </a:r>
                    </a:p>
                  </a:txBody>
                  <a:tcPr marL="36576" marR="36576" marT="13716" marB="13716" anchor="ctr">
                    <a:solidFill>
                      <a:srgbClr val="FFFFFF"/>
                    </a:solidFill>
                  </a:tcPr>
                </a:tc>
                <a:tc>
                  <a:txBody>
                    <a:bodyPr/>
                    <a:lstStyle/>
                    <a:p>
                      <a:pPr algn="ctr">
                        <a:defRPr sz="1200">
                          <a:solidFill>
                            <a:srgbClr val="1E242B"/>
                          </a:solidFill>
                          <a:latin typeface="Times New Roman"/>
                        </a:defRPr>
                      </a:pPr>
                      <a:r>
                        <a:t>Việt Nam</a:t>
                      </a:r>
                    </a:p>
                  </a:txBody>
                  <a:tcPr marL="36576" marR="36576" marT="13716" marB="13716" anchor="ctr">
                    <a:solidFill>
                      <a:srgbClr val="FFFFFF"/>
                    </a:solidFill>
                  </a:tcPr>
                </a:tc>
                <a:tc>
                  <a:txBody>
                    <a:bodyPr/>
                    <a:lstStyle/>
                    <a:p>
                      <a:pPr algn="l">
                        <a:defRPr sz="1200">
                          <a:solidFill>
                            <a:srgbClr val="1E242B"/>
                          </a:solidFill>
                          <a:latin typeface="Times New Roman"/>
                        </a:defRPr>
                      </a:pPr>
                      <a:r>
                        <a:t>AI phân tích tiếng kêu lạ &amp; nhiệt độ (~600 vạn)</a:t>
                      </a:r>
                    </a:p>
                  </a:txBody>
                  <a:tcPr marL="36576" marR="36576" marT="13716" marB="13716" anchor="ctr">
                    <a:solidFill>
                      <a:srgbClr val="FFFFFF"/>
                    </a:solidFill>
                  </a:tcPr>
                </a:tc>
                <a:tc>
                  <a:txBody>
                    <a:bodyPr/>
                    <a:lstStyle/>
                    <a:p>
                      <a:pPr algn="ctr">
                        <a:defRPr sz="1200">
                          <a:solidFill>
                            <a:srgbClr val="1E242B"/>
                          </a:solidFill>
                          <a:latin typeface="Times New Roman"/>
                        </a:defRPr>
                      </a:pPr>
                      <a:r>
                        <a:t>Nghiên cứu dài hạn</a:t>
                      </a:r>
                    </a:p>
                  </a:txBody>
                  <a:tcPr marL="36576" marR="36576" marT="13716" marB="13716" anchor="ctr">
                    <a:solidFill>
                      <a:srgbClr val="FFFFFF"/>
                    </a:solidFill>
                  </a:tcPr>
                </a:tc>
                <a:extLst>
                  <a:ext uri="{0D108BD9-81ED-4DB2-BD59-A6C34878D82A}">
                    <a16:rowId xmlns:a16="http://schemas.microsoft.com/office/drawing/2014/main" val="10005"/>
                  </a:ext>
                </a:extLst>
              </a:tr>
              <a:tr h="477981">
                <a:tc>
                  <a:txBody>
                    <a:bodyPr/>
                    <a:lstStyle/>
                    <a:p>
                      <a:pPr algn="ctr">
                        <a:defRPr sz="1200" b="1">
                          <a:solidFill>
                            <a:srgbClr val="1E242B"/>
                          </a:solidFill>
                          <a:latin typeface="Times New Roman"/>
                        </a:defRPr>
                      </a:pPr>
                      <a:r>
                        <a:t>No.27~28</a:t>
                      </a:r>
                    </a:p>
                  </a:txBody>
                  <a:tcPr marL="36576" marR="36576" marT="13716" marB="13716" anchor="ctr">
                    <a:solidFill>
                      <a:srgbClr val="EAF7EE"/>
                    </a:solidFill>
                  </a:tcPr>
                </a:tc>
                <a:tc>
                  <a:txBody>
                    <a:bodyPr/>
                    <a:lstStyle/>
                    <a:p>
                      <a:pPr algn="ctr">
                        <a:defRPr sz="1200">
                          <a:solidFill>
                            <a:srgbClr val="1E242B"/>
                          </a:solidFill>
                          <a:latin typeface="Times New Roman"/>
                        </a:defRPr>
                      </a:pPr>
                      <a:r>
                        <a:t>Việt Nam</a:t>
                      </a:r>
                    </a:p>
                  </a:txBody>
                  <a:tcPr marL="36576" marR="36576" marT="13716" marB="13716" anchor="ctr">
                    <a:solidFill>
                      <a:srgbClr val="EAF7EE"/>
                    </a:solidFill>
                  </a:tcPr>
                </a:tc>
                <a:tc>
                  <a:txBody>
                    <a:bodyPr/>
                    <a:lstStyle/>
                    <a:p>
                      <a:pPr algn="l">
                        <a:defRPr sz="1200">
                          <a:solidFill>
                            <a:srgbClr val="1E242B"/>
                          </a:solidFill>
                          <a:latin typeface="Times New Roman"/>
                        </a:defRPr>
                      </a:pPr>
                      <a:r>
                        <a:t>Camera HIKROBOT đo nồng độ &amp; lề (No.27); Xuất hàng qua mạng &amp; AI video (No.28)</a:t>
                      </a:r>
                    </a:p>
                  </a:txBody>
                  <a:tcPr marL="36576" marR="36576" marT="13716" marB="13716" anchor="ctr">
                    <a:solidFill>
                      <a:srgbClr val="EAF7EE"/>
                    </a:solidFill>
                  </a:tcPr>
                </a:tc>
                <a:tc>
                  <a:txBody>
                    <a:bodyPr/>
                    <a:lstStyle/>
                    <a:p>
                      <a:pPr algn="ctr">
                        <a:defRPr sz="1200" b="1">
                          <a:solidFill>
                            <a:srgbClr val="1E6E3E"/>
                          </a:solidFill>
                          <a:latin typeface="Times New Roman"/>
                        </a:defRPr>
                      </a:pPr>
                      <a:r>
                        <a:t>Đang lấy báo giá / Triển khai ngay</a:t>
                      </a:r>
                    </a:p>
                  </a:txBody>
                  <a:tcPr marL="36576" marR="36576" marT="13716" marB="13716" anchor="ctr">
                    <a:solidFill>
                      <a:srgbClr val="EAF7EE"/>
                    </a:solidFill>
                  </a:tcPr>
                </a:tc>
                <a:extLst>
                  <a:ext uri="{0D108BD9-81ED-4DB2-BD59-A6C34878D82A}">
                    <a16:rowId xmlns:a16="http://schemas.microsoft.com/office/drawing/2014/main" val="10006"/>
                  </a:ext>
                </a:extLst>
              </a:tr>
              <a:tr h="477981">
                <a:tc>
                  <a:txBody>
                    <a:bodyPr/>
                    <a:lstStyle/>
                    <a:p>
                      <a:pPr algn="ctr">
                        <a:defRPr sz="1200" b="1">
                          <a:solidFill>
                            <a:srgbClr val="1E242B"/>
                          </a:solidFill>
                          <a:latin typeface="Times New Roman"/>
                        </a:defRPr>
                      </a:pPr>
                      <a:r>
                        <a:t>No.29~30</a:t>
                      </a:r>
                    </a:p>
                  </a:txBody>
                  <a:tcPr marL="36576" marR="36576" marT="13716" marB="13716" anchor="ctr">
                    <a:solidFill>
                      <a:srgbClr val="EAF7EE"/>
                    </a:solidFill>
                  </a:tcPr>
                </a:tc>
                <a:tc>
                  <a:txBody>
                    <a:bodyPr/>
                    <a:lstStyle/>
                    <a:p>
                      <a:pPr algn="ctr">
                        <a:defRPr sz="1200">
                          <a:solidFill>
                            <a:srgbClr val="1E242B"/>
                          </a:solidFill>
                          <a:latin typeface="Times New Roman"/>
                        </a:defRPr>
                      </a:pPr>
                      <a:r>
                        <a:t>VN thêm</a:t>
                      </a:r>
                    </a:p>
                  </a:txBody>
                  <a:tcPr marL="36576" marR="36576" marT="13716" marB="13716" anchor="ctr">
                    <a:solidFill>
                      <a:srgbClr val="EAF7EE"/>
                    </a:solidFill>
                  </a:tcPr>
                </a:tc>
                <a:tc>
                  <a:txBody>
                    <a:bodyPr/>
                    <a:lstStyle/>
                    <a:p>
                      <a:pPr algn="l">
                        <a:defRPr sz="1200">
                          <a:solidFill>
                            <a:srgbClr val="1E242B"/>
                          </a:solidFill>
                          <a:latin typeface="Times New Roman"/>
                        </a:defRPr>
                      </a:pPr>
                      <a:r>
                        <a:t>Tự kiểm tra hộp mực (No.29); Bỏ WTB U155 (No.30)</a:t>
                      </a:r>
                    </a:p>
                  </a:txBody>
                  <a:tcPr marL="36576" marR="36576" marT="13716" marB="13716" anchor="ctr">
                    <a:solidFill>
                      <a:srgbClr val="EAF7EE"/>
                    </a:solidFill>
                  </a:tcPr>
                </a:tc>
                <a:tc>
                  <a:txBody>
                    <a:bodyPr/>
                    <a:lstStyle/>
                    <a:p>
                      <a:pPr algn="ctr">
                        <a:defRPr sz="1200">
                          <a:solidFill>
                            <a:srgbClr val="1E242B"/>
                          </a:solidFill>
                          <a:latin typeface="Times New Roman"/>
                        </a:defRPr>
                      </a:pPr>
                      <a:r>
                        <a:t>Đã duyệt xóa U155</a:t>
                      </a:r>
                    </a:p>
                  </a:txBody>
                  <a:tcPr marL="36576" marR="36576" marT="13716" marB="13716" anchor="ctr">
                    <a:solidFill>
                      <a:srgbClr val="EAF7EE"/>
                    </a:solidFill>
                  </a:tcPr>
                </a:tc>
                <a:extLst>
                  <a:ext uri="{0D108BD9-81ED-4DB2-BD59-A6C34878D82A}">
                    <a16:rowId xmlns:a16="http://schemas.microsoft.com/office/drawing/2014/main" val="10007"/>
                  </a:ext>
                </a:extLst>
              </a:tr>
              <a:tr h="477981">
                <a:tc>
                  <a:txBody>
                    <a:bodyPr/>
                    <a:lstStyle/>
                    <a:p>
                      <a:pPr algn="ctr">
                        <a:defRPr sz="1200" b="1">
                          <a:solidFill>
                            <a:srgbClr val="1E242B"/>
                          </a:solidFill>
                          <a:latin typeface="Times New Roman"/>
                        </a:defRPr>
                      </a:pPr>
                      <a:r>
                        <a:t>No.31~32</a:t>
                      </a:r>
                    </a:p>
                  </a:txBody>
                  <a:tcPr marL="36576" marR="36576" marT="13716" marB="13716" anchor="ctr">
                    <a:solidFill>
                      <a:srgbClr val="F7F9FC"/>
                    </a:solidFill>
                  </a:tcPr>
                </a:tc>
                <a:tc>
                  <a:txBody>
                    <a:bodyPr/>
                    <a:lstStyle/>
                    <a:p>
                      <a:pPr algn="ctr">
                        <a:defRPr sz="1200">
                          <a:solidFill>
                            <a:srgbClr val="1E242B"/>
                          </a:solidFill>
                          <a:latin typeface="Times New Roman"/>
                        </a:defRPr>
                      </a:pPr>
                      <a:r>
                        <a:t>VN thêm</a:t>
                      </a:r>
                    </a:p>
                  </a:txBody>
                  <a:tcPr marL="36576" marR="36576" marT="13716" marB="13716" anchor="ctr">
                    <a:solidFill>
                      <a:srgbClr val="F7F9FC"/>
                    </a:solidFill>
                  </a:tcPr>
                </a:tc>
                <a:tc>
                  <a:txBody>
                    <a:bodyPr/>
                    <a:lstStyle/>
                    <a:p>
                      <a:pPr algn="l">
                        <a:defRPr sz="1200">
                          <a:solidFill>
                            <a:srgbClr val="1E242B"/>
                          </a:solidFill>
                          <a:latin typeface="Times New Roman"/>
                        </a:defRPr>
                      </a:pPr>
                      <a:r>
                        <a:t>Hủy tờ RCG trước U950 (No.31); Rút Aging (No.32)</a:t>
                      </a:r>
                    </a:p>
                  </a:txBody>
                  <a:tcPr marL="36576" marR="36576" marT="13716" marB="13716" anchor="ctr">
                    <a:solidFill>
                      <a:srgbClr val="F7F9FC"/>
                    </a:solidFill>
                  </a:tcPr>
                </a:tc>
                <a:tc>
                  <a:txBody>
                    <a:bodyPr/>
                    <a:lstStyle/>
                    <a:p>
                      <a:pPr algn="ctr">
                        <a:defRPr sz="1200">
                          <a:solidFill>
                            <a:srgbClr val="1E242B"/>
                          </a:solidFill>
                          <a:latin typeface="Times New Roman"/>
                        </a:defRPr>
                      </a:pPr>
                      <a:r>
                        <a:t>Đang xác nhận JP</a:t>
                      </a:r>
                    </a:p>
                  </a:txBody>
                  <a:tcPr marL="36576" marR="36576" marT="13716" marB="13716" anchor="ctr">
                    <a:solidFill>
                      <a:srgbClr val="F7F9FC"/>
                    </a:solidFill>
                  </a:tcPr>
                </a:tc>
                <a:extLst>
                  <a:ext uri="{0D108BD9-81ED-4DB2-BD59-A6C34878D82A}">
                    <a16:rowId xmlns:a16="http://schemas.microsoft.com/office/drawing/2014/main" val="10008"/>
                  </a:ext>
                </a:extLst>
              </a:tr>
              <a:tr h="477981">
                <a:tc>
                  <a:txBody>
                    <a:bodyPr/>
                    <a:lstStyle/>
                    <a:p>
                      <a:pPr algn="ctr">
                        <a:defRPr sz="1200" b="1">
                          <a:solidFill>
                            <a:srgbClr val="1E242B"/>
                          </a:solidFill>
                          <a:latin typeface="Times New Roman"/>
                        </a:defRPr>
                      </a:pPr>
                      <a:r>
                        <a:t>No.33~34</a:t>
                      </a:r>
                    </a:p>
                  </a:txBody>
                  <a:tcPr marL="36576" marR="36576" marT="13716" marB="13716" anchor="ctr">
                    <a:solidFill>
                      <a:srgbClr val="EAF7EE"/>
                    </a:solidFill>
                  </a:tcPr>
                </a:tc>
                <a:tc>
                  <a:txBody>
                    <a:bodyPr/>
                    <a:lstStyle/>
                    <a:p>
                      <a:pPr algn="ctr">
                        <a:defRPr sz="1200">
                          <a:solidFill>
                            <a:srgbClr val="1E242B"/>
                          </a:solidFill>
                          <a:latin typeface="Times New Roman"/>
                        </a:defRPr>
                      </a:pPr>
                      <a:r>
                        <a:t>VN thêm</a:t>
                      </a:r>
                    </a:p>
                  </a:txBody>
                  <a:tcPr marL="36576" marR="36576" marT="13716" marB="13716" anchor="ctr">
                    <a:solidFill>
                      <a:srgbClr val="EAF7EE"/>
                    </a:solidFill>
                  </a:tcPr>
                </a:tc>
                <a:tc>
                  <a:txBody>
                    <a:bodyPr/>
                    <a:lstStyle/>
                    <a:p>
                      <a:pPr algn="l">
                        <a:defRPr sz="1200">
                          <a:solidFill>
                            <a:srgbClr val="1E242B"/>
                          </a:solidFill>
                          <a:latin typeface="Times New Roman"/>
                        </a:defRPr>
                      </a:pPr>
                      <a:r>
                        <a:t>Hủy tờ RCG Ledger (No.33); Hủy tờ LSU Skew (No.34)</a:t>
                      </a:r>
                    </a:p>
                  </a:txBody>
                  <a:tcPr marL="36576" marR="36576" marT="13716" marB="13716" anchor="ctr">
                    <a:solidFill>
                      <a:srgbClr val="EAF7EE"/>
                    </a:solidFill>
                  </a:tcPr>
                </a:tc>
                <a:tc>
                  <a:txBody>
                    <a:bodyPr/>
                    <a:lstStyle/>
                    <a:p>
                      <a:pPr algn="ctr">
                        <a:defRPr sz="1200">
                          <a:solidFill>
                            <a:srgbClr val="1E242B"/>
                          </a:solidFill>
                          <a:latin typeface="Times New Roman"/>
                        </a:defRPr>
                      </a:pPr>
                      <a:r>
                        <a:t>Chốt DR công đoạn</a:t>
                      </a:r>
                    </a:p>
                  </a:txBody>
                  <a:tcPr marL="36576" marR="36576" marT="13716" marB="13716" anchor="ctr">
                    <a:solidFill>
                      <a:srgbClr val="EAF7EE"/>
                    </a:solidFill>
                  </a:tcPr>
                </a:tc>
                <a:extLst>
                  <a:ext uri="{0D108BD9-81ED-4DB2-BD59-A6C34878D82A}">
                    <a16:rowId xmlns:a16="http://schemas.microsoft.com/office/drawing/2014/main" val="10009"/>
                  </a:ext>
                </a:extLst>
              </a:tr>
              <a:tr h="477990">
                <a:tc>
                  <a:txBody>
                    <a:bodyPr/>
                    <a:lstStyle/>
                    <a:p>
                      <a:pPr algn="ctr">
                        <a:defRPr sz="1200" b="1">
                          <a:solidFill>
                            <a:srgbClr val="1E242B"/>
                          </a:solidFill>
                          <a:latin typeface="Times New Roman"/>
                        </a:defRPr>
                      </a:pPr>
                      <a:r>
                        <a:t>No.35~38</a:t>
                      </a:r>
                    </a:p>
                  </a:txBody>
                  <a:tcPr marL="36576" marR="36576" marT="13716" marB="13716" anchor="ctr">
                    <a:solidFill>
                      <a:srgbClr val="F7F9FC"/>
                    </a:solidFill>
                  </a:tcPr>
                </a:tc>
                <a:tc>
                  <a:txBody>
                    <a:bodyPr/>
                    <a:lstStyle/>
                    <a:p>
                      <a:pPr algn="ctr">
                        <a:defRPr sz="1200">
                          <a:solidFill>
                            <a:srgbClr val="1E242B"/>
                          </a:solidFill>
                          <a:latin typeface="Times New Roman"/>
                        </a:defRPr>
                      </a:pPr>
                      <a:r>
                        <a:t>VN / CN</a:t>
                      </a:r>
                    </a:p>
                  </a:txBody>
                  <a:tcPr marL="36576" marR="36576" marT="13716" marB="13716" anchor="ctr">
                    <a:solidFill>
                      <a:srgbClr val="F7F9FC"/>
                    </a:solidFill>
                  </a:tcPr>
                </a:tc>
                <a:tc>
                  <a:txBody>
                    <a:bodyPr/>
                    <a:lstStyle/>
                    <a:p>
                      <a:pPr algn="l">
                        <a:defRPr sz="1200">
                          <a:solidFill>
                            <a:srgbClr val="1E242B"/>
                          </a:solidFill>
                          <a:latin typeface="Times New Roman"/>
                        </a:defRPr>
                      </a:pPr>
                      <a:r>
                        <a:t>Gộp lệnh U410 (No.35); Hủy tờ Mono (No.36); RCG Copy Check (No.37); AI WeChat (No.38)</a:t>
                      </a:r>
                    </a:p>
                  </a:txBody>
                  <a:tcPr marL="36576" marR="36576" marT="13716" marB="13716" anchor="ctr">
                    <a:solidFill>
                      <a:srgbClr val="F7F9FC"/>
                    </a:solidFill>
                  </a:tcPr>
                </a:tc>
                <a:tc>
                  <a:txBody>
                    <a:bodyPr/>
                    <a:lstStyle/>
                    <a:p>
                      <a:pPr algn="ctr">
                        <a:defRPr sz="1200">
                          <a:solidFill>
                            <a:srgbClr val="1E242B"/>
                          </a:solidFill>
                          <a:latin typeface="Times New Roman"/>
                        </a:defRPr>
                      </a:pPr>
                      <a:r>
                        <a:t>Đang phối hợp</a:t>
                      </a:r>
                    </a:p>
                  </a:txBody>
                  <a:tcPr marL="36576" marR="36576" marT="13716" marB="13716" anchor="ctr">
                    <a:solidFill>
                      <a:srgbClr val="F7F9FC"/>
                    </a:solidFill>
                  </a:tcPr>
                </a:tc>
                <a:extLst>
                  <a:ext uri="{0D108BD9-81ED-4DB2-BD59-A6C34878D82A}">
                    <a16:rowId xmlns:a16="http://schemas.microsoft.com/office/drawing/2014/main" val="10010"/>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TotalTime>
  <Words>7788</Words>
  <Application>Microsoft Office PowerPoint</Application>
  <PresentationFormat>Widescreen</PresentationFormat>
  <Paragraphs>571</Paragraphs>
  <Slides>15</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Bùi Đức Vinh(Bui Duc Vinh)</cp:lastModifiedBy>
  <cp:revision>2</cp:revision>
  <dcterms:created xsi:type="dcterms:W3CDTF">2013-01-27T09:14:16Z</dcterms:created>
  <dcterms:modified xsi:type="dcterms:W3CDTF">2026-10-29T06:40:39Z</dcterms:modified>
  <cp:category/>
</cp:coreProperties>
</file>